
<file path=[Content_Types].xml><?xml version="1.0" encoding="utf-8"?>
<Types xmlns="http://schemas.openxmlformats.org/package/2006/content-types">
  <Default Extension="rels" ContentType="application/vnd.openxmlformats-package.relationships+xml"/>
  <Default Extension="xml" ContentType="application/xml"/>
  <Default Extension="wav" ContentType="audio/x-wav"/>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Masters/slideMaster3.xml" ContentType="application/vnd.openxmlformats-officedocument.presentationml.slideMaster+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Masters/slideMaster4.xml" ContentType="application/vnd.openxmlformats-officedocument.presentationml.slideMaster+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Masters/slideMaster5.xml" ContentType="application/vnd.openxmlformats-officedocument.presentationml.slideMaster+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Masters/slideMaster6.xml" ContentType="application/vnd.openxmlformats-officedocument.presentationml.slideMaster+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Masters/slideMaster7.xml" ContentType="application/vnd.openxmlformats-officedocument.presentationml.slideMaster+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7.xml" ContentType="application/vnd.openxmlformats-officedocument.theme+xml"/>
  <Override PartName="/ppt/slideMasters/slideMaster8.xml" ContentType="application/vnd.openxmlformats-officedocument.presentationml.slideMaster+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8.xml" ContentType="application/vnd.openxmlformats-officedocument.theme+xml"/>
  <Override PartName="/ppt/slideMasters/slideMaster9.xml" ContentType="application/vnd.openxmlformats-officedocument.presentationml.slideMaster+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9.xml" ContentType="application/vnd.openxmlformats-officedocument.theme+xml"/>
  <Override PartName="/ppt/slideMasters/slideMaster10.xml" ContentType="application/vnd.openxmlformats-officedocument.presentationml.slideMaster+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10.xml" ContentType="application/vnd.openxmlformats-officedocument.theme+xml"/>
  <Override PartName="/ppt/slideMasters/slideMaster11.xml" ContentType="application/vnd.openxmlformats-officedocument.presentationml.slideMaster+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1.xml" ContentType="application/vnd.openxmlformats-officedocument.theme+xml"/>
  <Override PartName="/ppt/notesMasters/notesMaster1.xml" ContentType="application/vnd.openxmlformats-officedocument.presentationml.notesMaster+xml"/>
  <Override PartName="/ppt/theme/theme1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Slides/notesSlide1.xml" ContentType="application/vnd.openxmlformats-officedocument.presentationml.notes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Slides/notesSlide2.xml" ContentType="application/vnd.openxmlformats-officedocument.presentationml.notes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Slides/notesSlide3.xml" ContentType="application/vnd.openxmlformats-officedocument.presentationml.notes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notesSlides/notesSlide4.xml" ContentType="application/vnd.openxmlformats-officedocument.presentationml.notesSlide+xml"/>
  <Override PartName="/ppt/slides/slide202.xml" ContentType="application/vnd.openxmlformats-officedocument.presentationml.slide+xml"/>
  <Override PartName="/ppt/slides/slide203.xml" ContentType="application/vnd.openxmlformats-officedocument.presentationml.slide+xml"/>
  <Override PartName="/ppt/notesSlides/notesSlide5.xml" ContentType="application/vnd.openxmlformats-officedocument.presentationml.notes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notesSlides/notesSlide6.xml" ContentType="application/vnd.openxmlformats-officedocument.presentationml.notes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notesSlides/notesSlide7.xml" ContentType="application/vnd.openxmlformats-officedocument.presentationml.notes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notesSlides/notesSlide8.xml" ContentType="application/vnd.openxmlformats-officedocument.presentationml.notes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notesSlides/notesSlide9.xml" ContentType="application/vnd.openxmlformats-officedocument.presentationml.notes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notesSlides/notesSlide10.xml" ContentType="application/vnd.openxmlformats-officedocument.presentationml.notes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notesSlides/notesSlide11.xml" ContentType="application/vnd.openxmlformats-officedocument.presentationml.notes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notesSlides/notesSlide12.xml" ContentType="application/vnd.openxmlformats-officedocument.presentationml.notes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notesSlides/notesSlide13.xml" ContentType="application/vnd.openxmlformats-officedocument.presentationml.notes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notesSlides/notesSlide14.xml" ContentType="application/vnd.openxmlformats-officedocument.presentationml.notes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notesSlides/notesSlide15.xml" ContentType="application/vnd.openxmlformats-officedocument.presentationml.notes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notesSlides/notesSlide16.xml" ContentType="application/vnd.openxmlformats-officedocument.presentationml.notes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diagrams/layout1.xml" ContentType="application/vnd.openxmlformats-officedocument.drawingml.diagramLayout+xml"/>
  <Override PartName="/ppt/diagrams/data1.xml" ContentType="application/vnd.openxmlformats-officedocument.drawingml.diagramData+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slides/slide426.xml" ContentType="application/vnd.openxmlformats-officedocument.presentationml.slide+xml"/>
  <Override PartName="/ppt/diagrams/layout2.xml" ContentType="application/vnd.openxmlformats-officedocument.drawingml.diagramLayout+xml"/>
  <Override PartName="/ppt/diagrams/data2.xml" ContentType="application/vnd.openxmlformats-officedocument.drawingml.diagramData+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slides/slide427.xml" ContentType="application/vnd.openxmlformats-officedocument.presentationml.slide+xml"/>
  <Override PartName="/ppt/diagrams/layout3.xml" ContentType="application/vnd.openxmlformats-officedocument.drawingml.diagramLayout+xml"/>
  <Override PartName="/ppt/diagrams/data3.xml" ContentType="application/vnd.openxmlformats-officedocument.drawingml.diagramData+xml"/>
  <Override PartName="/ppt/diagrams/drawing3.xml" ContentType="application/vnd.ms-office.drawingml.diagramDrawing+xml"/>
  <Override PartName="/ppt/diagrams/colors3.xml" ContentType="application/vnd.openxmlformats-officedocument.drawingml.diagramColors+xml"/>
  <Override PartName="/ppt/diagrams/quickStyle3.xml" ContentType="application/vnd.openxmlformats-officedocument.drawingml.diagramStyle+xml"/>
  <Override PartName="/ppt/slides/slide428.xml" ContentType="application/vnd.openxmlformats-officedocument.presentationml.slide+xml"/>
  <Override PartName="/ppt/diagrams/layout4.xml" ContentType="application/vnd.openxmlformats-officedocument.drawingml.diagramLayout+xml"/>
  <Override PartName="/ppt/diagrams/data4.xml" ContentType="application/vnd.openxmlformats-officedocument.drawingml.diagramData+xml"/>
  <Override PartName="/ppt/diagrams/drawing4.xml" ContentType="application/vnd.ms-office.drawingml.diagramDrawing+xml"/>
  <Override PartName="/ppt/diagrams/colors4.xml" ContentType="application/vnd.openxmlformats-officedocument.drawingml.diagramColors+xml"/>
  <Override PartName="/ppt/diagrams/quickStyle4.xml" ContentType="application/vnd.openxmlformats-officedocument.drawingml.diagramStyl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diagrams/layout5.xml" ContentType="application/vnd.openxmlformats-officedocument.drawingml.diagramLayout+xml"/>
  <Override PartName="/ppt/diagrams/data5.xml" ContentType="application/vnd.openxmlformats-officedocument.drawingml.diagramData+xml"/>
  <Override PartName="/ppt/diagrams/drawing5.xml" ContentType="application/vnd.ms-office.drawingml.diagramDrawing+xml"/>
  <Override PartName="/ppt/diagrams/colors5.xml" ContentType="application/vnd.openxmlformats-officedocument.drawingml.diagramColors+xml"/>
  <Override PartName="/ppt/diagrams/quickStyle5.xml" ContentType="application/vnd.openxmlformats-officedocument.drawingml.diagramStyle+xml"/>
  <Override PartName="/ppt/slides/slide433.xml" ContentType="application/vnd.openxmlformats-officedocument.presentationml.slide+xml"/>
  <Override PartName="/ppt/diagrams/layout6.xml" ContentType="application/vnd.openxmlformats-officedocument.drawingml.diagramLayout+xml"/>
  <Override PartName="/ppt/diagrams/data6.xml" ContentType="application/vnd.openxmlformats-officedocument.drawingml.diagramData+xml"/>
  <Override PartName="/ppt/diagrams/drawing6.xml" ContentType="application/vnd.ms-office.drawingml.diagramDrawing+xml"/>
  <Override PartName="/ppt/diagrams/colors6.xml" ContentType="application/vnd.openxmlformats-officedocument.drawingml.diagramColors+xml"/>
  <Override PartName="/ppt/diagrams/quickStyle6.xml" ContentType="application/vnd.openxmlformats-officedocument.drawingml.diagramStyl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notesSlides/notesSlide17.xml" ContentType="application/vnd.openxmlformats-officedocument.presentationml.notes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notesSlides/notesSlide18.xml" ContentType="application/vnd.openxmlformats-officedocument.presentationml.notes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diagrams/layout7.xml" ContentType="application/vnd.openxmlformats-officedocument.drawingml.diagramLayout+xml"/>
  <Override PartName="/ppt/diagrams/data7.xml" ContentType="application/vnd.openxmlformats-officedocument.drawingml.diagramData+xml"/>
  <Override PartName="/ppt/diagrams/drawing7.xml" ContentType="application/vnd.ms-office.drawingml.diagramDrawing+xml"/>
  <Override PartName="/ppt/diagrams/colors7.xml" ContentType="application/vnd.openxmlformats-officedocument.drawingml.diagramColors+xml"/>
  <Override PartName="/ppt/diagrams/quickStyle7.xml" ContentType="application/vnd.openxmlformats-officedocument.drawingml.diagramStyl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diagrams/layout8.xml" ContentType="application/vnd.openxmlformats-officedocument.drawingml.diagramLayout+xml"/>
  <Override PartName="/ppt/diagrams/data8.xml" ContentType="application/vnd.openxmlformats-officedocument.drawingml.diagramData+xml"/>
  <Override PartName="/ppt/diagrams/drawing8.xml" ContentType="application/vnd.ms-office.drawingml.diagramDrawing+xml"/>
  <Override PartName="/ppt/diagrams/colors8.xml" ContentType="application/vnd.openxmlformats-officedocument.drawingml.diagramColors+xml"/>
  <Override PartName="/ppt/diagrams/quickStyle8.xml" ContentType="application/vnd.openxmlformats-officedocument.drawingml.diagramStyl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diagrams/layout9.xml" ContentType="application/vnd.openxmlformats-officedocument.drawingml.diagramLayout+xml"/>
  <Override PartName="/ppt/diagrams/data9.xml" ContentType="application/vnd.openxmlformats-officedocument.drawingml.diagramData+xml"/>
  <Override PartName="/ppt/diagrams/drawing9.xml" ContentType="application/vnd.ms-office.drawingml.diagramDrawing+xml"/>
  <Override PartName="/ppt/diagrams/colors9.xml" ContentType="application/vnd.openxmlformats-officedocument.drawingml.diagramColors+xml"/>
  <Override PartName="/ppt/diagrams/quickStyle9.xml" ContentType="application/vnd.openxmlformats-officedocument.drawingml.diagramStyl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notesSlides/notesSlide19.xml" ContentType="application/vnd.openxmlformats-officedocument.presentationml.notes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showSpecialPlsOnTitleSld="0">
  <p:sldMasterIdLst>
    <p:sldMasterId id="2147483922" r:id="rId1"/>
    <p:sldMasterId id="2147483923" r:id="rId2"/>
    <p:sldMasterId id="2147483924" r:id="rId3"/>
    <p:sldMasterId id="2147483925" r:id="rId4"/>
    <p:sldMasterId id="2147483926" r:id="rId5"/>
    <p:sldMasterId id="2147483927" r:id="rId6"/>
    <p:sldMasterId id="2147483928" r:id="rId7"/>
    <p:sldMasterId id="2147483929" r:id="rId8"/>
    <p:sldMasterId id="2147483930" r:id="rId9"/>
    <p:sldMasterId id="2147483931" r:id="rId10"/>
    <p:sldMasterId id="2147483932" r:id="rId11"/>
  </p:sldMasterIdLst>
  <p:notesMasterIdLst>
    <p:notesMasterId r:id="rId12"/>
  </p:notesMasterIdLst>
  <p:sldIdLst>
    <p:sldId id="1452" r:id="rId13"/>
    <p:sldId id="1453" r:id="rId14"/>
    <p:sldId id="1454" r:id="rId15"/>
    <p:sldId id="1455" r:id="rId16"/>
    <p:sldId id="1456" r:id="rId17"/>
    <p:sldId id="1457" r:id="rId18"/>
    <p:sldId id="1458" r:id="rId19"/>
    <p:sldId id="1459" r:id="rId20"/>
    <p:sldId id="1460" r:id="rId21"/>
    <p:sldId id="1461" r:id="rId22"/>
    <p:sldId id="1462" r:id="rId23"/>
    <p:sldId id="1463" r:id="rId24"/>
    <p:sldId id="1464" r:id="rId25"/>
    <p:sldId id="1465" r:id="rId26"/>
    <p:sldId id="1466" r:id="rId27"/>
    <p:sldId id="1467" r:id="rId28"/>
    <p:sldId id="1468" r:id="rId29"/>
    <p:sldId id="1469" r:id="rId30"/>
    <p:sldId id="1470" r:id="rId31"/>
    <p:sldId id="1471" r:id="rId32"/>
    <p:sldId id="1472" r:id="rId33"/>
    <p:sldId id="1473" r:id="rId34"/>
    <p:sldId id="1474" r:id="rId35"/>
    <p:sldId id="1475" r:id="rId36"/>
    <p:sldId id="1476" r:id="rId37"/>
    <p:sldId id="1477" r:id="rId38"/>
    <p:sldId id="1478" r:id="rId39"/>
    <p:sldId id="1479" r:id="rId40"/>
    <p:sldId id="1480" r:id="rId41"/>
    <p:sldId id="1481" r:id="rId42"/>
    <p:sldId id="1482" r:id="rId43"/>
    <p:sldId id="1483" r:id="rId44"/>
    <p:sldId id="1484" r:id="rId45"/>
    <p:sldId id="1485" r:id="rId46"/>
    <p:sldId id="1486" r:id="rId47"/>
    <p:sldId id="1487" r:id="rId48"/>
    <p:sldId id="1488" r:id="rId49"/>
    <p:sldId id="1489" r:id="rId50"/>
    <p:sldId id="1490" r:id="rId51"/>
    <p:sldId id="1491" r:id="rId52"/>
    <p:sldId id="1492" r:id="rId53"/>
    <p:sldId id="1493" r:id="rId54"/>
    <p:sldId id="1494" r:id="rId55"/>
    <p:sldId id="1495" r:id="rId56"/>
    <p:sldId id="1496" r:id="rId57"/>
    <p:sldId id="1497" r:id="rId58"/>
    <p:sldId id="1498" r:id="rId59"/>
    <p:sldId id="1499" r:id="rId60"/>
    <p:sldId id="1500" r:id="rId61"/>
    <p:sldId id="1501" r:id="rId62"/>
    <p:sldId id="1502" r:id="rId63"/>
    <p:sldId id="1503" r:id="rId64"/>
    <p:sldId id="1504" r:id="rId65"/>
    <p:sldId id="1505" r:id="rId66"/>
    <p:sldId id="1506" r:id="rId67"/>
    <p:sldId id="1507" r:id="rId68"/>
    <p:sldId id="1508" r:id="rId69"/>
    <p:sldId id="1509" r:id="rId70"/>
    <p:sldId id="1510" r:id="rId71"/>
    <p:sldId id="1511" r:id="rId72"/>
    <p:sldId id="1512" r:id="rId73"/>
    <p:sldId id="1513" r:id="rId74"/>
    <p:sldId id="1514" r:id="rId75"/>
    <p:sldId id="1515" r:id="rId76"/>
    <p:sldId id="1516" r:id="rId77"/>
    <p:sldId id="1517" r:id="rId78"/>
    <p:sldId id="1518" r:id="rId79"/>
    <p:sldId id="1519" r:id="rId80"/>
    <p:sldId id="1520" r:id="rId81"/>
    <p:sldId id="1521" r:id="rId82"/>
    <p:sldId id="1522" r:id="rId83"/>
    <p:sldId id="1523" r:id="rId84"/>
    <p:sldId id="1524" r:id="rId85"/>
    <p:sldId id="1525" r:id="rId86"/>
    <p:sldId id="1526" r:id="rId87"/>
    <p:sldId id="1527" r:id="rId88"/>
    <p:sldId id="1528" r:id="rId89"/>
    <p:sldId id="1529" r:id="rId90"/>
    <p:sldId id="1530" r:id="rId91"/>
    <p:sldId id="1531" r:id="rId92"/>
    <p:sldId id="1532" r:id="rId93"/>
    <p:sldId id="1533" r:id="rId94"/>
    <p:sldId id="1534" r:id="rId95"/>
    <p:sldId id="1535" r:id="rId96"/>
    <p:sldId id="1536" r:id="rId97"/>
    <p:sldId id="1537" r:id="rId98"/>
    <p:sldId id="1538" r:id="rId99"/>
    <p:sldId id="1539" r:id="rId100"/>
    <p:sldId id="1540" r:id="rId101"/>
    <p:sldId id="1541" r:id="rId102"/>
    <p:sldId id="1542" r:id="rId103"/>
    <p:sldId id="1543" r:id="rId104"/>
    <p:sldId id="1544" r:id="rId105"/>
    <p:sldId id="1545" r:id="rId106"/>
    <p:sldId id="1546" r:id="rId107"/>
    <p:sldId id="1547" r:id="rId108"/>
    <p:sldId id="1548" r:id="rId109"/>
    <p:sldId id="1549" r:id="rId110"/>
    <p:sldId id="1550" r:id="rId111"/>
    <p:sldId id="1551" r:id="rId112"/>
    <p:sldId id="1552" r:id="rId113"/>
    <p:sldId id="1553" r:id="rId114"/>
    <p:sldId id="1554" r:id="rId115"/>
    <p:sldId id="1555" r:id="rId116"/>
    <p:sldId id="1556" r:id="rId117"/>
    <p:sldId id="1557" r:id="rId118"/>
    <p:sldId id="1558" r:id="rId119"/>
    <p:sldId id="1559" r:id="rId120"/>
    <p:sldId id="1560" r:id="rId121"/>
    <p:sldId id="1561" r:id="rId122"/>
    <p:sldId id="1562" r:id="rId123"/>
    <p:sldId id="1563" r:id="rId124"/>
    <p:sldId id="1564" r:id="rId125"/>
    <p:sldId id="1565" r:id="rId126"/>
    <p:sldId id="1566" r:id="rId127"/>
    <p:sldId id="1567" r:id="rId128"/>
    <p:sldId id="1568" r:id="rId129"/>
    <p:sldId id="1569" r:id="rId130"/>
    <p:sldId id="1570" r:id="rId131"/>
    <p:sldId id="1571" r:id="rId132"/>
    <p:sldId id="1572" r:id="rId133"/>
    <p:sldId id="1573" r:id="rId134"/>
    <p:sldId id="1574" r:id="rId135"/>
    <p:sldId id="1575" r:id="rId136"/>
    <p:sldId id="1576" r:id="rId137"/>
    <p:sldId id="1577" r:id="rId138"/>
    <p:sldId id="1578" r:id="rId139"/>
    <p:sldId id="1579" r:id="rId140"/>
    <p:sldId id="1580" r:id="rId141"/>
    <p:sldId id="1581" r:id="rId142"/>
    <p:sldId id="1582" r:id="rId143"/>
    <p:sldId id="1583" r:id="rId144"/>
    <p:sldId id="1584" r:id="rId145"/>
    <p:sldId id="1585" r:id="rId146"/>
    <p:sldId id="1586" r:id="rId147"/>
    <p:sldId id="1587" r:id="rId148"/>
    <p:sldId id="1588" r:id="rId149"/>
    <p:sldId id="1589" r:id="rId150"/>
    <p:sldId id="1590" r:id="rId151"/>
    <p:sldId id="1591" r:id="rId152"/>
    <p:sldId id="1592" r:id="rId153"/>
    <p:sldId id="1593" r:id="rId154"/>
    <p:sldId id="1594" r:id="rId155"/>
    <p:sldId id="1595" r:id="rId156"/>
    <p:sldId id="1596" r:id="rId157"/>
    <p:sldId id="1597" r:id="rId158"/>
    <p:sldId id="1598" r:id="rId159"/>
    <p:sldId id="1599" r:id="rId160"/>
    <p:sldId id="1600" r:id="rId161"/>
    <p:sldId id="1601" r:id="rId162"/>
    <p:sldId id="1602" r:id="rId163"/>
    <p:sldId id="1603" r:id="rId164"/>
    <p:sldId id="1604" r:id="rId165"/>
    <p:sldId id="1605" r:id="rId166"/>
    <p:sldId id="1606" r:id="rId167"/>
    <p:sldId id="1607" r:id="rId168"/>
    <p:sldId id="1608" r:id="rId169"/>
    <p:sldId id="1609" r:id="rId170"/>
    <p:sldId id="1610" r:id="rId171"/>
    <p:sldId id="1611" r:id="rId172"/>
    <p:sldId id="1612" r:id="rId173"/>
    <p:sldId id="1613" r:id="rId174"/>
    <p:sldId id="1614" r:id="rId175"/>
    <p:sldId id="1615" r:id="rId176"/>
    <p:sldId id="1616" r:id="rId177"/>
    <p:sldId id="1617" r:id="rId178"/>
    <p:sldId id="1618" r:id="rId179"/>
    <p:sldId id="1619" r:id="rId180"/>
    <p:sldId id="1620" r:id="rId181"/>
    <p:sldId id="1621" r:id="rId182"/>
    <p:sldId id="1622" r:id="rId183"/>
    <p:sldId id="1623" r:id="rId184"/>
    <p:sldId id="1624" r:id="rId185"/>
    <p:sldId id="1625" r:id="rId186"/>
    <p:sldId id="1626" r:id="rId187"/>
    <p:sldId id="1627" r:id="rId188"/>
    <p:sldId id="1628" r:id="rId189"/>
    <p:sldId id="1629" r:id="rId190"/>
    <p:sldId id="1630" r:id="rId191"/>
    <p:sldId id="1631" r:id="rId192"/>
    <p:sldId id="1632" r:id="rId193"/>
    <p:sldId id="1633" r:id="rId194"/>
    <p:sldId id="1634" r:id="rId195"/>
    <p:sldId id="1635" r:id="rId196"/>
    <p:sldId id="1636" r:id="rId197"/>
    <p:sldId id="1637" r:id="rId198"/>
    <p:sldId id="1638" r:id="rId199"/>
    <p:sldId id="1639" r:id="rId200"/>
    <p:sldId id="1640" r:id="rId201"/>
    <p:sldId id="1641" r:id="rId202"/>
    <p:sldId id="1642" r:id="rId203"/>
    <p:sldId id="1643" r:id="rId204"/>
    <p:sldId id="1644" r:id="rId205"/>
    <p:sldId id="1645" r:id="rId206"/>
    <p:sldId id="1646" r:id="rId207"/>
    <p:sldId id="1647" r:id="rId208"/>
    <p:sldId id="1648" r:id="rId209"/>
    <p:sldId id="1649" r:id="rId210"/>
    <p:sldId id="1650" r:id="rId211"/>
    <p:sldId id="1651" r:id="rId212"/>
    <p:sldId id="1652" r:id="rId213"/>
    <p:sldId id="1653" r:id="rId214"/>
    <p:sldId id="1654" r:id="rId215"/>
    <p:sldId id="1655" r:id="rId216"/>
    <p:sldId id="1656" r:id="rId217"/>
    <p:sldId id="1657" r:id="rId218"/>
    <p:sldId id="1658" r:id="rId219"/>
    <p:sldId id="1659" r:id="rId220"/>
    <p:sldId id="1660" r:id="rId221"/>
    <p:sldId id="1661" r:id="rId222"/>
    <p:sldId id="1662" r:id="rId223"/>
    <p:sldId id="1663" r:id="rId224"/>
    <p:sldId id="1664" r:id="rId225"/>
    <p:sldId id="1665" r:id="rId226"/>
    <p:sldId id="1666" r:id="rId227"/>
    <p:sldId id="1667" r:id="rId228"/>
    <p:sldId id="1668" r:id="rId229"/>
    <p:sldId id="1669" r:id="rId230"/>
    <p:sldId id="1670" r:id="rId231"/>
    <p:sldId id="1671" r:id="rId232"/>
    <p:sldId id="1672" r:id="rId233"/>
    <p:sldId id="1673" r:id="rId234"/>
    <p:sldId id="1674" r:id="rId235"/>
    <p:sldId id="1675" r:id="rId236"/>
    <p:sldId id="1676" r:id="rId237"/>
    <p:sldId id="1677" r:id="rId238"/>
    <p:sldId id="1678" r:id="rId239"/>
    <p:sldId id="1679" r:id="rId240"/>
    <p:sldId id="1680" r:id="rId241"/>
    <p:sldId id="1681" r:id="rId242"/>
    <p:sldId id="1682" r:id="rId243"/>
    <p:sldId id="1683" r:id="rId244"/>
    <p:sldId id="1684" r:id="rId245"/>
    <p:sldId id="1685" r:id="rId246"/>
    <p:sldId id="1686" r:id="rId247"/>
    <p:sldId id="1687" r:id="rId248"/>
    <p:sldId id="1688" r:id="rId249"/>
    <p:sldId id="1689" r:id="rId250"/>
    <p:sldId id="1690" r:id="rId251"/>
    <p:sldId id="1691" r:id="rId252"/>
    <p:sldId id="1692" r:id="rId253"/>
    <p:sldId id="1693" r:id="rId254"/>
    <p:sldId id="1694" r:id="rId255"/>
    <p:sldId id="1695" r:id="rId256"/>
    <p:sldId id="1696" r:id="rId257"/>
    <p:sldId id="1697" r:id="rId258"/>
    <p:sldId id="1698" r:id="rId259"/>
    <p:sldId id="1699" r:id="rId260"/>
    <p:sldId id="1700" r:id="rId261"/>
    <p:sldId id="1701" r:id="rId262"/>
    <p:sldId id="1702" r:id="rId263"/>
    <p:sldId id="1703" r:id="rId264"/>
    <p:sldId id="1704" r:id="rId265"/>
    <p:sldId id="1705" r:id="rId266"/>
    <p:sldId id="1706" r:id="rId267"/>
    <p:sldId id="1707" r:id="rId268"/>
    <p:sldId id="1708" r:id="rId269"/>
    <p:sldId id="1709" r:id="rId270"/>
    <p:sldId id="1710" r:id="rId271"/>
    <p:sldId id="1711" r:id="rId272"/>
    <p:sldId id="1712" r:id="rId273"/>
    <p:sldId id="1713" r:id="rId274"/>
    <p:sldId id="1714" r:id="rId275"/>
    <p:sldId id="1715" r:id="rId276"/>
    <p:sldId id="1716" r:id="rId277"/>
    <p:sldId id="1717" r:id="rId278"/>
    <p:sldId id="1718" r:id="rId279"/>
    <p:sldId id="1719" r:id="rId280"/>
    <p:sldId id="1720" r:id="rId281"/>
    <p:sldId id="1721" r:id="rId282"/>
    <p:sldId id="1722" r:id="rId283"/>
    <p:sldId id="1723" r:id="rId284"/>
    <p:sldId id="1724" r:id="rId285"/>
    <p:sldId id="1725" r:id="rId286"/>
    <p:sldId id="1726" r:id="rId287"/>
    <p:sldId id="1727" r:id="rId288"/>
    <p:sldId id="1728" r:id="rId289"/>
    <p:sldId id="1729" r:id="rId290"/>
    <p:sldId id="1730" r:id="rId291"/>
    <p:sldId id="1731" r:id="rId292"/>
    <p:sldId id="1732" r:id="rId293"/>
    <p:sldId id="1733" r:id="rId294"/>
    <p:sldId id="1734" r:id="rId295"/>
    <p:sldId id="1735" r:id="rId296"/>
    <p:sldId id="1736" r:id="rId297"/>
    <p:sldId id="1737" r:id="rId298"/>
    <p:sldId id="1738" r:id="rId299"/>
    <p:sldId id="1739" r:id="rId300"/>
    <p:sldId id="1740" r:id="rId301"/>
    <p:sldId id="1741" r:id="rId302"/>
    <p:sldId id="1742" r:id="rId303"/>
    <p:sldId id="1743" r:id="rId304"/>
    <p:sldId id="1744" r:id="rId305"/>
    <p:sldId id="1745" r:id="rId306"/>
    <p:sldId id="1746" r:id="rId307"/>
    <p:sldId id="1747" r:id="rId308"/>
    <p:sldId id="1748" r:id="rId309"/>
    <p:sldId id="1749" r:id="rId310"/>
    <p:sldId id="1750" r:id="rId311"/>
    <p:sldId id="1751" r:id="rId312"/>
    <p:sldId id="1752" r:id="rId313"/>
    <p:sldId id="1753" r:id="rId314"/>
    <p:sldId id="1754" r:id="rId315"/>
    <p:sldId id="1755" r:id="rId316"/>
    <p:sldId id="1756" r:id="rId317"/>
    <p:sldId id="1757" r:id="rId318"/>
    <p:sldId id="1758" r:id="rId319"/>
    <p:sldId id="1759" r:id="rId320"/>
    <p:sldId id="1760" r:id="rId321"/>
    <p:sldId id="1761" r:id="rId322"/>
    <p:sldId id="1762" r:id="rId323"/>
    <p:sldId id="1763" r:id="rId324"/>
    <p:sldId id="1764" r:id="rId325"/>
    <p:sldId id="1765" r:id="rId326"/>
    <p:sldId id="1766" r:id="rId327"/>
    <p:sldId id="1767" r:id="rId328"/>
    <p:sldId id="1768" r:id="rId329"/>
    <p:sldId id="1769" r:id="rId330"/>
    <p:sldId id="1770" r:id="rId331"/>
    <p:sldId id="1771" r:id="rId332"/>
    <p:sldId id="1772" r:id="rId333"/>
    <p:sldId id="1773" r:id="rId334"/>
    <p:sldId id="1774" r:id="rId335"/>
    <p:sldId id="1775" r:id="rId336"/>
    <p:sldId id="1776" r:id="rId337"/>
    <p:sldId id="1777" r:id="rId338"/>
    <p:sldId id="1778" r:id="rId339"/>
    <p:sldId id="1779" r:id="rId340"/>
    <p:sldId id="1780" r:id="rId341"/>
    <p:sldId id="1781" r:id="rId342"/>
    <p:sldId id="1782" r:id="rId343"/>
    <p:sldId id="1783" r:id="rId344"/>
    <p:sldId id="1784" r:id="rId345"/>
    <p:sldId id="1785" r:id="rId346"/>
    <p:sldId id="1786" r:id="rId347"/>
    <p:sldId id="1787" r:id="rId348"/>
    <p:sldId id="1788" r:id="rId349"/>
    <p:sldId id="1789" r:id="rId350"/>
    <p:sldId id="1790" r:id="rId351"/>
    <p:sldId id="1791" r:id="rId352"/>
    <p:sldId id="1792" r:id="rId353"/>
    <p:sldId id="1793" r:id="rId354"/>
    <p:sldId id="1794" r:id="rId355"/>
    <p:sldId id="1795" r:id="rId356"/>
    <p:sldId id="1796" r:id="rId357"/>
    <p:sldId id="1797" r:id="rId358"/>
    <p:sldId id="1798" r:id="rId359"/>
    <p:sldId id="1799" r:id="rId360"/>
    <p:sldId id="1800" r:id="rId361"/>
    <p:sldId id="1801" r:id="rId362"/>
    <p:sldId id="1802" r:id="rId363"/>
    <p:sldId id="1803" r:id="rId364"/>
    <p:sldId id="1804" r:id="rId365"/>
    <p:sldId id="1805" r:id="rId366"/>
    <p:sldId id="1806" r:id="rId367"/>
    <p:sldId id="1807" r:id="rId368"/>
    <p:sldId id="1808" r:id="rId369"/>
    <p:sldId id="1809" r:id="rId370"/>
    <p:sldId id="1810" r:id="rId371"/>
    <p:sldId id="1811" r:id="rId372"/>
    <p:sldId id="1812" r:id="rId373"/>
    <p:sldId id="1813" r:id="rId374"/>
    <p:sldId id="1814" r:id="rId375"/>
    <p:sldId id="1815" r:id="rId376"/>
    <p:sldId id="1816" r:id="rId377"/>
    <p:sldId id="1817" r:id="rId378"/>
    <p:sldId id="1818" r:id="rId379"/>
    <p:sldId id="1819" r:id="rId380"/>
    <p:sldId id="1820" r:id="rId381"/>
    <p:sldId id="1821" r:id="rId382"/>
    <p:sldId id="1822" r:id="rId383"/>
    <p:sldId id="1823" r:id="rId384"/>
    <p:sldId id="1824" r:id="rId385"/>
    <p:sldId id="1825" r:id="rId386"/>
    <p:sldId id="1826" r:id="rId387"/>
    <p:sldId id="1827" r:id="rId388"/>
    <p:sldId id="1828" r:id="rId389"/>
    <p:sldId id="1829" r:id="rId390"/>
    <p:sldId id="1830" r:id="rId391"/>
    <p:sldId id="1831" r:id="rId392"/>
    <p:sldId id="1832" r:id="rId393"/>
    <p:sldId id="1833" r:id="rId394"/>
    <p:sldId id="1834" r:id="rId395"/>
    <p:sldId id="1835" r:id="rId396"/>
    <p:sldId id="1836" r:id="rId397"/>
    <p:sldId id="1837" r:id="rId398"/>
    <p:sldId id="1838" r:id="rId399"/>
    <p:sldId id="1839" r:id="rId400"/>
    <p:sldId id="1840" r:id="rId401"/>
    <p:sldId id="1841" r:id="rId402"/>
    <p:sldId id="1842" r:id="rId403"/>
    <p:sldId id="1843" r:id="rId404"/>
    <p:sldId id="1844" r:id="rId405"/>
    <p:sldId id="1845" r:id="rId406"/>
    <p:sldId id="1846" r:id="rId407"/>
    <p:sldId id="1847" r:id="rId408"/>
    <p:sldId id="1848" r:id="rId409"/>
    <p:sldId id="1849" r:id="rId410"/>
    <p:sldId id="1850" r:id="rId411"/>
    <p:sldId id="1851" r:id="rId412"/>
    <p:sldId id="1852" r:id="rId413"/>
    <p:sldId id="1853" r:id="rId414"/>
    <p:sldId id="1854" r:id="rId415"/>
    <p:sldId id="1855" r:id="rId416"/>
    <p:sldId id="1856" r:id="rId417"/>
    <p:sldId id="1857" r:id="rId418"/>
    <p:sldId id="1858" r:id="rId419"/>
    <p:sldId id="1859" r:id="rId420"/>
    <p:sldId id="1860" r:id="rId421"/>
    <p:sldId id="1861" r:id="rId422"/>
    <p:sldId id="1862" r:id="rId423"/>
    <p:sldId id="1863" r:id="rId424"/>
    <p:sldId id="1864" r:id="rId425"/>
    <p:sldId id="1865" r:id="rId426"/>
    <p:sldId id="1866" r:id="rId427"/>
    <p:sldId id="1867" r:id="rId428"/>
    <p:sldId id="1868" r:id="rId429"/>
    <p:sldId id="1869" r:id="rId430"/>
    <p:sldId id="1870" r:id="rId431"/>
    <p:sldId id="1871" r:id="rId432"/>
    <p:sldId id="1872" r:id="rId433"/>
    <p:sldId id="1873" r:id="rId434"/>
    <p:sldId id="1874" r:id="rId435"/>
    <p:sldId id="1875" r:id="rId436"/>
    <p:sldId id="1876" r:id="rId437"/>
    <p:sldId id="1877" r:id="rId438"/>
    <p:sldId id="1878" r:id="rId439"/>
    <p:sldId id="1879" r:id="rId440"/>
    <p:sldId id="1880" r:id="rId441"/>
    <p:sldId id="1881" r:id="rId442"/>
    <p:sldId id="1882" r:id="rId443"/>
    <p:sldId id="1883" r:id="rId444"/>
    <p:sldId id="1884" r:id="rId445"/>
    <p:sldId id="1885" r:id="rId446"/>
    <p:sldId id="1886" r:id="rId447"/>
    <p:sldId id="1887" r:id="rId448"/>
    <p:sldId id="1888" r:id="rId449"/>
    <p:sldId id="1889" r:id="rId450"/>
    <p:sldId id="1890" r:id="rId451"/>
    <p:sldId id="1891" r:id="rId452"/>
    <p:sldId id="1892" r:id="rId453"/>
    <p:sldId id="1893" r:id="rId454"/>
    <p:sldId id="1894" r:id="rId455"/>
    <p:sldId id="1895" r:id="rId456"/>
    <p:sldId id="1896" r:id="rId457"/>
    <p:sldId id="1897" r:id="rId458"/>
    <p:sldId id="1898" r:id="rId459"/>
    <p:sldId id="1899" r:id="rId460"/>
    <p:sldId id="1900" r:id="rId461"/>
    <p:sldId id="1901" r:id="rId462"/>
    <p:sldId id="1902" r:id="rId463"/>
    <p:sldId id="1903" r:id="rId464"/>
    <p:sldId id="1904" r:id="rId465"/>
    <p:sldId id="1905" r:id="rId466"/>
    <p:sldId id="1906" r:id="rId467"/>
    <p:sldId id="1907" r:id="rId468"/>
    <p:sldId id="1908" r:id="rId469"/>
    <p:sldId id="1909" r:id="rId470"/>
    <p:sldId id="1910" r:id="rId471"/>
    <p:sldId id="1911" r:id="rId472"/>
    <p:sldId id="1912" r:id="rId473"/>
    <p:sldId id="1913" r:id="rId474"/>
    <p:sldId id="1914" r:id="rId475"/>
    <p:sldId id="1915" r:id="rId476"/>
    <p:sldId id="1916" r:id="rId477"/>
    <p:sldId id="1917" r:id="rId478"/>
    <p:sldId id="1918" r:id="rId479"/>
    <p:sldId id="1919" r:id="rId480"/>
    <p:sldId id="1920" r:id="rId481"/>
    <p:sldId id="1921" r:id="rId482"/>
    <p:sldId id="1922" r:id="rId483"/>
    <p:sldId id="1923" r:id="rId484"/>
    <p:sldId id="1924" r:id="rId485"/>
    <p:sldId id="1925" r:id="rId486"/>
    <p:sldId id="1926" r:id="rId487"/>
    <p:sldId id="1927" r:id="rId488"/>
    <p:sldId id="1928" r:id="rId489"/>
    <p:sldId id="1929" r:id="rId490"/>
    <p:sldId id="1930" r:id="rId491"/>
    <p:sldId id="1931" r:id="rId492"/>
    <p:sldId id="1932" r:id="rId493"/>
    <p:sldId id="1933" r:id="rId494"/>
    <p:sldId id="1934" r:id="rId495"/>
    <p:sldId id="1935" r:id="rId496"/>
    <p:sldId id="1936" r:id="rId497"/>
    <p:sldId id="1937" r:id="rId498"/>
    <p:sldId id="1938" r:id="rId499"/>
    <p:sldId id="1939" r:id="rId500"/>
    <p:sldId id="1940" r:id="rId501"/>
    <p:sldId id="1941" r:id="rId502"/>
    <p:sldId id="1942" r:id="rId503"/>
    <p:sldId id="1943" r:id="rId504"/>
    <p:sldId id="1944" r:id="rId505"/>
    <p:sldId id="1945" r:id="rId506"/>
    <p:sldId id="1946" r:id="rId507"/>
    <p:sldId id="1947" r:id="rId508"/>
    <p:sldId id="1948" r:id="rId509"/>
    <p:sldId id="1949" r:id="rId510"/>
    <p:sldId id="1950" r:id="rId511"/>
    <p:sldId id="1951" r:id="rId512"/>
    <p:sldId id="1952" r:id="rId513"/>
    <p:sldId id="1953" r:id="rId514"/>
    <p:sldId id="1954" r:id="rId515"/>
    <p:sldId id="1955" r:id="rId516"/>
    <p:sldId id="1956" r:id="rId517"/>
    <p:sldId id="1957" r:id="rId518"/>
    <p:sldId id="1958" r:id="rId519"/>
    <p:sldId id="1959" r:id="rId520"/>
    <p:sldId id="1960" r:id="rId521"/>
    <p:sldId id="1961" r:id="rId522"/>
    <p:sldId id="1962" r:id="rId523"/>
    <p:sldId id="1963" r:id="rId524"/>
    <p:sldId id="1964" r:id="rId525"/>
    <p:sldId id="1965" r:id="rId526"/>
    <p:sldId id="1966" r:id="rId527"/>
    <p:sldId id="1967" r:id="rId528"/>
    <p:sldId id="1968" r:id="rId529"/>
    <p:sldId id="1969" r:id="rId530"/>
    <p:sldId id="1970" r:id="rId531"/>
    <p:sldId id="1971" r:id="rId532"/>
    <p:sldId id="1972" r:id="rId533"/>
    <p:sldId id="1973" r:id="rId534"/>
    <p:sldId id="1974" r:id="rId535"/>
    <p:sldId id="1975" r:id="rId536"/>
    <p:sldId id="1976" r:id="rId537"/>
    <p:sldId id="1977" r:id="rId538"/>
    <p:sldId id="1978" r:id="rId539"/>
    <p:sldId id="1979" r:id="rId540"/>
    <p:sldId id="1980" r:id="rId541"/>
    <p:sldId id="1981" r:id="rId542"/>
    <p:sldId id="1982" r:id="rId543"/>
    <p:sldId id="1983" r:id="rId544"/>
    <p:sldId id="1984" r:id="rId545"/>
    <p:sldId id="1985" r:id="rId546"/>
    <p:sldId id="1986" r:id="rId547"/>
    <p:sldId id="1987" r:id="rId548"/>
    <p:sldId id="1988" r:id="rId549"/>
    <p:sldId id="1989" r:id="rId550"/>
    <p:sldId id="1990" r:id="rId551"/>
    <p:sldId id="1991" r:id="rId552"/>
    <p:sldId id="1992" r:id="rId553"/>
    <p:sldId id="1993" r:id="rId554"/>
    <p:sldId id="1994" r:id="rId555"/>
    <p:sldId id="1995" r:id="rId556"/>
    <p:sldId id="1996" r:id="rId557"/>
    <p:sldId id="1997" r:id="rId558"/>
    <p:sldId id="1998" r:id="rId559"/>
    <p:sldId id="1999" r:id="rId560"/>
    <p:sldId id="2000" r:id="rId561"/>
    <p:sldId id="2001" r:id="rId562"/>
    <p:sldId id="2002" r:id="rId563"/>
    <p:sldId id="2003" r:id="rId564"/>
    <p:sldId id="2004" r:id="rId565"/>
    <p:sldId id="2005" r:id="rId566"/>
    <p:sldId id="2006" r:id="rId567"/>
    <p:sldId id="2007" r:id="rId568"/>
    <p:sldId id="2008" r:id="rId569"/>
    <p:sldId id="2009" r:id="rId570"/>
    <p:sldId id="2010" r:id="rId571"/>
    <p:sldId id="2011" r:id="rId572"/>
    <p:sldId id="2012" r:id="rId573"/>
    <p:sldId id="2013" r:id="rId574"/>
    <p:sldId id="2014" r:id="rId575"/>
    <p:sldId id="2015" r:id="rId576"/>
    <p:sldId id="2016" r:id="rId577"/>
    <p:sldId id="2017" r:id="rId578"/>
    <p:sldId id="2018" r:id="rId579"/>
    <p:sldId id="2019" r:id="rId580"/>
    <p:sldId id="2020" r:id="rId581"/>
    <p:sldId id="2021" r:id="rId582"/>
    <p:sldId id="2022" r:id="rId583"/>
    <p:sldId id="2023" r:id="rId584"/>
    <p:sldId id="2024" r:id="rId585"/>
    <p:sldId id="2025" r:id="rId586"/>
    <p:sldId id="2026" r:id="rId587"/>
    <p:sldId id="2027" r:id="rId588"/>
    <p:sldId id="2028" r:id="rId589"/>
    <p:sldId id="2029" r:id="rId590"/>
    <p:sldId id="2030" r:id="rId591"/>
    <p:sldId id="2031" r:id="rId592"/>
    <p:sldId id="2032" r:id="rId593"/>
    <p:sldId id="2033" r:id="rId594"/>
    <p:sldId id="2034" r:id="rId595"/>
    <p:sldId id="2035" r:id="rId596"/>
    <p:sldId id="2036" r:id="rId597"/>
    <p:sldId id="2037" r:id="rId598"/>
    <p:sldId id="2038" r:id="rId599"/>
    <p:sldId id="2039" r:id="rId600"/>
    <p:sldId id="2040" r:id="rId601"/>
    <p:sldId id="2041" r:id="rId602"/>
    <p:sldId id="2042" r:id="rId603"/>
    <p:sldId id="2043" r:id="rId604"/>
    <p:sldId id="2044" r:id="rId605"/>
    <p:sldId id="2045" r:id="rId606"/>
    <p:sldId id="2046" r:id="rId607"/>
    <p:sldId id="2047" r:id="rId608"/>
    <p:sldId id="2048" r:id="rId609"/>
    <p:sldId id="2049" r:id="rId610"/>
  </p:sldIdLst>
  <p:sldSz cy="6858000" cx="11430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0000FF"/>
    <a:srgbClr val="FF00FF"/>
    <a:srgbClr val="10016B"/>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62" autoAdjust="0"/>
    <p:restoredTop sz="91972" autoAdjust="0"/>
  </p:normalViewPr>
  <p:slideViewPr>
    <p:cSldViewPr>
      <p:cViewPr>
        <p:scale>
          <a:sx n="70" d="100"/>
          <a:sy n="70" d="100"/>
        </p:scale>
        <p:origin x="-792" y="-72"/>
      </p:cViewPr>
      <p:guideLst>
        <p:guide orient="horz" pos="2160"/>
        <p:guide pos="360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5" Type="http://schemas.openxmlformats.org/officeDocument/2006/relationships/slide" Target="slides/slide113.xml"/><Relationship Id="rId126" Type="http://schemas.openxmlformats.org/officeDocument/2006/relationships/slide" Target="slides/slide114.xml"/><Relationship Id="rId127" Type="http://schemas.openxmlformats.org/officeDocument/2006/relationships/slide" Target="slides/slide115.xml"/><Relationship Id="rId128" Type="http://schemas.openxmlformats.org/officeDocument/2006/relationships/slide" Target="slides/slide116.xml"/><Relationship Id="rId129" Type="http://schemas.openxmlformats.org/officeDocument/2006/relationships/slide" Target="slides/slide117.xml"/><Relationship Id="rId130" Type="http://schemas.openxmlformats.org/officeDocument/2006/relationships/slide" Target="slides/slide118.xml"/><Relationship Id="rId131" Type="http://schemas.openxmlformats.org/officeDocument/2006/relationships/slide" Target="slides/slide119.xml"/><Relationship Id="rId132" Type="http://schemas.openxmlformats.org/officeDocument/2006/relationships/slide" Target="slides/slide120.xml"/><Relationship Id="rId133" Type="http://schemas.openxmlformats.org/officeDocument/2006/relationships/slide" Target="slides/slide121.xml"/><Relationship Id="rId134" Type="http://schemas.openxmlformats.org/officeDocument/2006/relationships/slide" Target="slides/slide122.xml"/><Relationship Id="rId135" Type="http://schemas.openxmlformats.org/officeDocument/2006/relationships/slide" Target="slides/slide123.xml"/><Relationship Id="rId136" Type="http://schemas.openxmlformats.org/officeDocument/2006/relationships/slide" Target="slides/slide124.xml"/><Relationship Id="rId137" Type="http://schemas.openxmlformats.org/officeDocument/2006/relationships/slide" Target="slides/slide125.xml"/><Relationship Id="rId138" Type="http://schemas.openxmlformats.org/officeDocument/2006/relationships/slide" Target="slides/slide126.xml"/><Relationship Id="rId139" Type="http://schemas.openxmlformats.org/officeDocument/2006/relationships/slide" Target="slides/slide127.xml"/><Relationship Id="rId140" Type="http://schemas.openxmlformats.org/officeDocument/2006/relationships/slide" Target="slides/slide128.xml"/><Relationship Id="rId141" Type="http://schemas.openxmlformats.org/officeDocument/2006/relationships/slide" Target="slides/slide129.xml"/><Relationship Id="rId142" Type="http://schemas.openxmlformats.org/officeDocument/2006/relationships/slide" Target="slides/slide130.xml"/><Relationship Id="rId143" Type="http://schemas.openxmlformats.org/officeDocument/2006/relationships/slide" Target="slides/slide131.xml"/><Relationship Id="rId144" Type="http://schemas.openxmlformats.org/officeDocument/2006/relationships/slide" Target="slides/slide132.xml"/><Relationship Id="rId145" Type="http://schemas.openxmlformats.org/officeDocument/2006/relationships/slide" Target="slides/slide133.xml"/><Relationship Id="rId146" Type="http://schemas.openxmlformats.org/officeDocument/2006/relationships/slide" Target="slides/slide134.xml"/><Relationship Id="rId147" Type="http://schemas.openxmlformats.org/officeDocument/2006/relationships/slide" Target="slides/slide135.xml"/><Relationship Id="rId148" Type="http://schemas.openxmlformats.org/officeDocument/2006/relationships/slide" Target="slides/slide136.xml"/><Relationship Id="rId149" Type="http://schemas.openxmlformats.org/officeDocument/2006/relationships/slide" Target="slides/slide137.xml"/><Relationship Id="rId150" Type="http://schemas.openxmlformats.org/officeDocument/2006/relationships/slide" Target="slides/slide138.xml"/><Relationship Id="rId151" Type="http://schemas.openxmlformats.org/officeDocument/2006/relationships/slide" Target="slides/slide139.xml"/><Relationship Id="rId152" Type="http://schemas.openxmlformats.org/officeDocument/2006/relationships/slide" Target="slides/slide140.xml"/><Relationship Id="rId153" Type="http://schemas.openxmlformats.org/officeDocument/2006/relationships/slide" Target="slides/slide141.xml"/><Relationship Id="rId154" Type="http://schemas.openxmlformats.org/officeDocument/2006/relationships/slide" Target="slides/slide142.xml"/><Relationship Id="rId155" Type="http://schemas.openxmlformats.org/officeDocument/2006/relationships/slide" Target="slides/slide143.xml"/><Relationship Id="rId156" Type="http://schemas.openxmlformats.org/officeDocument/2006/relationships/slide" Target="slides/slide144.xml"/><Relationship Id="rId157" Type="http://schemas.openxmlformats.org/officeDocument/2006/relationships/slide" Target="slides/slide145.xml"/><Relationship Id="rId158" Type="http://schemas.openxmlformats.org/officeDocument/2006/relationships/slide" Target="slides/slide146.xml"/><Relationship Id="rId159" Type="http://schemas.openxmlformats.org/officeDocument/2006/relationships/slide" Target="slides/slide147.xml"/><Relationship Id="rId160" Type="http://schemas.openxmlformats.org/officeDocument/2006/relationships/slide" Target="slides/slide148.xml"/><Relationship Id="rId161" Type="http://schemas.openxmlformats.org/officeDocument/2006/relationships/slide" Target="slides/slide149.xml"/><Relationship Id="rId162" Type="http://schemas.openxmlformats.org/officeDocument/2006/relationships/slide" Target="slides/slide150.xml"/><Relationship Id="rId163" Type="http://schemas.openxmlformats.org/officeDocument/2006/relationships/slide" Target="slides/slide151.xml"/><Relationship Id="rId164" Type="http://schemas.openxmlformats.org/officeDocument/2006/relationships/slide" Target="slides/slide152.xml"/><Relationship Id="rId165" Type="http://schemas.openxmlformats.org/officeDocument/2006/relationships/slide" Target="slides/slide153.xml"/><Relationship Id="rId166" Type="http://schemas.openxmlformats.org/officeDocument/2006/relationships/slide" Target="slides/slide154.xml"/><Relationship Id="rId167" Type="http://schemas.openxmlformats.org/officeDocument/2006/relationships/slide" Target="slides/slide155.xml"/><Relationship Id="rId168" Type="http://schemas.openxmlformats.org/officeDocument/2006/relationships/slide" Target="slides/slide156.xml"/><Relationship Id="rId169" Type="http://schemas.openxmlformats.org/officeDocument/2006/relationships/slide" Target="slides/slide157.xml"/><Relationship Id="rId170" Type="http://schemas.openxmlformats.org/officeDocument/2006/relationships/slide" Target="slides/slide158.xml"/><Relationship Id="rId171" Type="http://schemas.openxmlformats.org/officeDocument/2006/relationships/slide" Target="slides/slide159.xml"/><Relationship Id="rId172" Type="http://schemas.openxmlformats.org/officeDocument/2006/relationships/slide" Target="slides/slide160.xml"/><Relationship Id="rId173" Type="http://schemas.openxmlformats.org/officeDocument/2006/relationships/slide" Target="slides/slide161.xml"/><Relationship Id="rId174" Type="http://schemas.openxmlformats.org/officeDocument/2006/relationships/slide" Target="slides/slide162.xml"/><Relationship Id="rId175" Type="http://schemas.openxmlformats.org/officeDocument/2006/relationships/slide" Target="slides/slide163.xml"/><Relationship Id="rId176" Type="http://schemas.openxmlformats.org/officeDocument/2006/relationships/slide" Target="slides/slide164.xml"/><Relationship Id="rId177" Type="http://schemas.openxmlformats.org/officeDocument/2006/relationships/slide" Target="slides/slide165.xml"/><Relationship Id="rId178" Type="http://schemas.openxmlformats.org/officeDocument/2006/relationships/slide" Target="slides/slide166.xml"/><Relationship Id="rId179" Type="http://schemas.openxmlformats.org/officeDocument/2006/relationships/slide" Target="slides/slide167.xml"/><Relationship Id="rId180" Type="http://schemas.openxmlformats.org/officeDocument/2006/relationships/slide" Target="slides/slide168.xml"/><Relationship Id="rId181" Type="http://schemas.openxmlformats.org/officeDocument/2006/relationships/slide" Target="slides/slide169.xml"/><Relationship Id="rId182" Type="http://schemas.openxmlformats.org/officeDocument/2006/relationships/slide" Target="slides/slide170.xml"/><Relationship Id="rId183" Type="http://schemas.openxmlformats.org/officeDocument/2006/relationships/slide" Target="slides/slide171.xml"/><Relationship Id="rId184" Type="http://schemas.openxmlformats.org/officeDocument/2006/relationships/slide" Target="slides/slide172.xml"/><Relationship Id="rId185" Type="http://schemas.openxmlformats.org/officeDocument/2006/relationships/slide" Target="slides/slide173.xml"/><Relationship Id="rId186" Type="http://schemas.openxmlformats.org/officeDocument/2006/relationships/slide" Target="slides/slide174.xml"/><Relationship Id="rId187" Type="http://schemas.openxmlformats.org/officeDocument/2006/relationships/slide" Target="slides/slide175.xml"/><Relationship Id="rId188" Type="http://schemas.openxmlformats.org/officeDocument/2006/relationships/slide" Target="slides/slide176.xml"/><Relationship Id="rId189" Type="http://schemas.openxmlformats.org/officeDocument/2006/relationships/slide" Target="slides/slide177.xml"/><Relationship Id="rId190" Type="http://schemas.openxmlformats.org/officeDocument/2006/relationships/slide" Target="slides/slide178.xml"/><Relationship Id="rId191" Type="http://schemas.openxmlformats.org/officeDocument/2006/relationships/slide" Target="slides/slide179.xml"/><Relationship Id="rId192" Type="http://schemas.openxmlformats.org/officeDocument/2006/relationships/slide" Target="slides/slide180.xml"/><Relationship Id="rId193" Type="http://schemas.openxmlformats.org/officeDocument/2006/relationships/slide" Target="slides/slide181.xml"/><Relationship Id="rId194" Type="http://schemas.openxmlformats.org/officeDocument/2006/relationships/slide" Target="slides/slide182.xml"/><Relationship Id="rId195" Type="http://schemas.openxmlformats.org/officeDocument/2006/relationships/slide" Target="slides/slide183.xml"/><Relationship Id="rId196" Type="http://schemas.openxmlformats.org/officeDocument/2006/relationships/slide" Target="slides/slide184.xml"/><Relationship Id="rId197" Type="http://schemas.openxmlformats.org/officeDocument/2006/relationships/slide" Target="slides/slide185.xml"/><Relationship Id="rId198" Type="http://schemas.openxmlformats.org/officeDocument/2006/relationships/slide" Target="slides/slide186.xml"/><Relationship Id="rId199" Type="http://schemas.openxmlformats.org/officeDocument/2006/relationships/slide" Target="slides/slide187.xml"/><Relationship Id="rId200" Type="http://schemas.openxmlformats.org/officeDocument/2006/relationships/slide" Target="slides/slide188.xml"/><Relationship Id="rId201" Type="http://schemas.openxmlformats.org/officeDocument/2006/relationships/slide" Target="slides/slide189.xml"/><Relationship Id="rId202" Type="http://schemas.openxmlformats.org/officeDocument/2006/relationships/slide" Target="slides/slide190.xml"/><Relationship Id="rId203" Type="http://schemas.openxmlformats.org/officeDocument/2006/relationships/slide" Target="slides/slide191.xml"/><Relationship Id="rId204" Type="http://schemas.openxmlformats.org/officeDocument/2006/relationships/slide" Target="slides/slide192.xml"/><Relationship Id="rId205" Type="http://schemas.openxmlformats.org/officeDocument/2006/relationships/slide" Target="slides/slide193.xml"/><Relationship Id="rId206" Type="http://schemas.openxmlformats.org/officeDocument/2006/relationships/slide" Target="slides/slide194.xml"/><Relationship Id="rId207" Type="http://schemas.openxmlformats.org/officeDocument/2006/relationships/slide" Target="slides/slide195.xml"/><Relationship Id="rId208" Type="http://schemas.openxmlformats.org/officeDocument/2006/relationships/slide" Target="slides/slide196.xml"/><Relationship Id="rId209" Type="http://schemas.openxmlformats.org/officeDocument/2006/relationships/slide" Target="slides/slide197.xml"/><Relationship Id="rId210" Type="http://schemas.openxmlformats.org/officeDocument/2006/relationships/slide" Target="slides/slide198.xml"/><Relationship Id="rId211" Type="http://schemas.openxmlformats.org/officeDocument/2006/relationships/slide" Target="slides/slide199.xml"/><Relationship Id="rId212" Type="http://schemas.openxmlformats.org/officeDocument/2006/relationships/slide" Target="slides/slide200.xml"/><Relationship Id="rId213" Type="http://schemas.openxmlformats.org/officeDocument/2006/relationships/slide" Target="slides/slide201.xml"/><Relationship Id="rId214" Type="http://schemas.openxmlformats.org/officeDocument/2006/relationships/slide" Target="slides/slide202.xml"/><Relationship Id="rId215" Type="http://schemas.openxmlformats.org/officeDocument/2006/relationships/slide" Target="slides/slide203.xml"/><Relationship Id="rId216" Type="http://schemas.openxmlformats.org/officeDocument/2006/relationships/slide" Target="slides/slide204.xml"/><Relationship Id="rId217" Type="http://schemas.openxmlformats.org/officeDocument/2006/relationships/slide" Target="slides/slide205.xml"/><Relationship Id="rId218" Type="http://schemas.openxmlformats.org/officeDocument/2006/relationships/slide" Target="slides/slide206.xml"/><Relationship Id="rId219" Type="http://schemas.openxmlformats.org/officeDocument/2006/relationships/slide" Target="slides/slide207.xml"/><Relationship Id="rId220" Type="http://schemas.openxmlformats.org/officeDocument/2006/relationships/slide" Target="slides/slide208.xml"/><Relationship Id="rId221" Type="http://schemas.openxmlformats.org/officeDocument/2006/relationships/slide" Target="slides/slide209.xml"/><Relationship Id="rId222" Type="http://schemas.openxmlformats.org/officeDocument/2006/relationships/slide" Target="slides/slide210.xml"/><Relationship Id="rId223" Type="http://schemas.openxmlformats.org/officeDocument/2006/relationships/slide" Target="slides/slide211.xml"/><Relationship Id="rId224" Type="http://schemas.openxmlformats.org/officeDocument/2006/relationships/slide" Target="slides/slide212.xml"/><Relationship Id="rId225" Type="http://schemas.openxmlformats.org/officeDocument/2006/relationships/slide" Target="slides/slide213.xml"/><Relationship Id="rId226" Type="http://schemas.openxmlformats.org/officeDocument/2006/relationships/slide" Target="slides/slide214.xml"/><Relationship Id="rId227" Type="http://schemas.openxmlformats.org/officeDocument/2006/relationships/slide" Target="slides/slide215.xml"/><Relationship Id="rId228" Type="http://schemas.openxmlformats.org/officeDocument/2006/relationships/slide" Target="slides/slide216.xml"/><Relationship Id="rId229" Type="http://schemas.openxmlformats.org/officeDocument/2006/relationships/slide" Target="slides/slide217.xml"/><Relationship Id="rId230" Type="http://schemas.openxmlformats.org/officeDocument/2006/relationships/slide" Target="slides/slide218.xml"/><Relationship Id="rId231" Type="http://schemas.openxmlformats.org/officeDocument/2006/relationships/slide" Target="slides/slide219.xml"/><Relationship Id="rId232" Type="http://schemas.openxmlformats.org/officeDocument/2006/relationships/slide" Target="slides/slide220.xml"/><Relationship Id="rId233" Type="http://schemas.openxmlformats.org/officeDocument/2006/relationships/slide" Target="slides/slide221.xml"/><Relationship Id="rId234" Type="http://schemas.openxmlformats.org/officeDocument/2006/relationships/slide" Target="slides/slide222.xml"/><Relationship Id="rId235" Type="http://schemas.openxmlformats.org/officeDocument/2006/relationships/slide" Target="slides/slide223.xml"/><Relationship Id="rId236" Type="http://schemas.openxmlformats.org/officeDocument/2006/relationships/slide" Target="slides/slide224.xml"/><Relationship Id="rId237" Type="http://schemas.openxmlformats.org/officeDocument/2006/relationships/slide" Target="slides/slide225.xml"/><Relationship Id="rId238" Type="http://schemas.openxmlformats.org/officeDocument/2006/relationships/slide" Target="slides/slide226.xml"/><Relationship Id="rId239" Type="http://schemas.openxmlformats.org/officeDocument/2006/relationships/slide" Target="slides/slide227.xml"/><Relationship Id="rId240" Type="http://schemas.openxmlformats.org/officeDocument/2006/relationships/slide" Target="slides/slide228.xml"/><Relationship Id="rId241" Type="http://schemas.openxmlformats.org/officeDocument/2006/relationships/slide" Target="slides/slide229.xml"/><Relationship Id="rId242" Type="http://schemas.openxmlformats.org/officeDocument/2006/relationships/slide" Target="slides/slide230.xml"/><Relationship Id="rId243" Type="http://schemas.openxmlformats.org/officeDocument/2006/relationships/slide" Target="slides/slide231.xml"/><Relationship Id="rId244" Type="http://schemas.openxmlformats.org/officeDocument/2006/relationships/slide" Target="slides/slide232.xml"/><Relationship Id="rId245" Type="http://schemas.openxmlformats.org/officeDocument/2006/relationships/slide" Target="slides/slide233.xml"/><Relationship Id="rId246" Type="http://schemas.openxmlformats.org/officeDocument/2006/relationships/slide" Target="slides/slide234.xml"/><Relationship Id="rId247" Type="http://schemas.openxmlformats.org/officeDocument/2006/relationships/slide" Target="slides/slide235.xml"/><Relationship Id="rId248" Type="http://schemas.openxmlformats.org/officeDocument/2006/relationships/slide" Target="slides/slide236.xml"/><Relationship Id="rId249" Type="http://schemas.openxmlformats.org/officeDocument/2006/relationships/slide" Target="slides/slide237.xml"/><Relationship Id="rId250" Type="http://schemas.openxmlformats.org/officeDocument/2006/relationships/slide" Target="slides/slide238.xml"/><Relationship Id="rId251" Type="http://schemas.openxmlformats.org/officeDocument/2006/relationships/slide" Target="slides/slide239.xml"/><Relationship Id="rId252" Type="http://schemas.openxmlformats.org/officeDocument/2006/relationships/slide" Target="slides/slide240.xml"/><Relationship Id="rId253" Type="http://schemas.openxmlformats.org/officeDocument/2006/relationships/slide" Target="slides/slide241.xml"/><Relationship Id="rId254" Type="http://schemas.openxmlformats.org/officeDocument/2006/relationships/slide" Target="slides/slide242.xml"/><Relationship Id="rId255" Type="http://schemas.openxmlformats.org/officeDocument/2006/relationships/slide" Target="slides/slide243.xml"/><Relationship Id="rId256" Type="http://schemas.openxmlformats.org/officeDocument/2006/relationships/slide" Target="slides/slide244.xml"/><Relationship Id="rId257" Type="http://schemas.openxmlformats.org/officeDocument/2006/relationships/slide" Target="slides/slide245.xml"/><Relationship Id="rId258" Type="http://schemas.openxmlformats.org/officeDocument/2006/relationships/slide" Target="slides/slide246.xml"/><Relationship Id="rId259" Type="http://schemas.openxmlformats.org/officeDocument/2006/relationships/slide" Target="slides/slide247.xml"/><Relationship Id="rId260" Type="http://schemas.openxmlformats.org/officeDocument/2006/relationships/slide" Target="slides/slide248.xml"/><Relationship Id="rId261" Type="http://schemas.openxmlformats.org/officeDocument/2006/relationships/slide" Target="slides/slide249.xml"/><Relationship Id="rId262" Type="http://schemas.openxmlformats.org/officeDocument/2006/relationships/slide" Target="slides/slide250.xml"/><Relationship Id="rId263" Type="http://schemas.openxmlformats.org/officeDocument/2006/relationships/slide" Target="slides/slide251.xml"/><Relationship Id="rId264" Type="http://schemas.openxmlformats.org/officeDocument/2006/relationships/slide" Target="slides/slide252.xml"/><Relationship Id="rId265" Type="http://schemas.openxmlformats.org/officeDocument/2006/relationships/slide" Target="slides/slide253.xml"/><Relationship Id="rId266" Type="http://schemas.openxmlformats.org/officeDocument/2006/relationships/slide" Target="slides/slide254.xml"/><Relationship Id="rId267" Type="http://schemas.openxmlformats.org/officeDocument/2006/relationships/slide" Target="slides/slide255.xml"/><Relationship Id="rId268" Type="http://schemas.openxmlformats.org/officeDocument/2006/relationships/slide" Target="slides/slide256.xml"/><Relationship Id="rId269" Type="http://schemas.openxmlformats.org/officeDocument/2006/relationships/slide" Target="slides/slide257.xml"/><Relationship Id="rId270" Type="http://schemas.openxmlformats.org/officeDocument/2006/relationships/slide" Target="slides/slide258.xml"/><Relationship Id="rId271" Type="http://schemas.openxmlformats.org/officeDocument/2006/relationships/slide" Target="slides/slide259.xml"/><Relationship Id="rId272" Type="http://schemas.openxmlformats.org/officeDocument/2006/relationships/slide" Target="slides/slide260.xml"/><Relationship Id="rId273" Type="http://schemas.openxmlformats.org/officeDocument/2006/relationships/slide" Target="slides/slide261.xml"/><Relationship Id="rId274" Type="http://schemas.openxmlformats.org/officeDocument/2006/relationships/slide" Target="slides/slide262.xml"/><Relationship Id="rId275" Type="http://schemas.openxmlformats.org/officeDocument/2006/relationships/slide" Target="slides/slide263.xml"/><Relationship Id="rId276" Type="http://schemas.openxmlformats.org/officeDocument/2006/relationships/slide" Target="slides/slide264.xml"/><Relationship Id="rId277" Type="http://schemas.openxmlformats.org/officeDocument/2006/relationships/slide" Target="slides/slide265.xml"/><Relationship Id="rId278" Type="http://schemas.openxmlformats.org/officeDocument/2006/relationships/slide" Target="slides/slide266.xml"/><Relationship Id="rId279" Type="http://schemas.openxmlformats.org/officeDocument/2006/relationships/slide" Target="slides/slide267.xml"/><Relationship Id="rId280" Type="http://schemas.openxmlformats.org/officeDocument/2006/relationships/slide" Target="slides/slide268.xml"/><Relationship Id="rId281" Type="http://schemas.openxmlformats.org/officeDocument/2006/relationships/slide" Target="slides/slide269.xml"/><Relationship Id="rId282" Type="http://schemas.openxmlformats.org/officeDocument/2006/relationships/slide" Target="slides/slide270.xml"/><Relationship Id="rId283" Type="http://schemas.openxmlformats.org/officeDocument/2006/relationships/slide" Target="slides/slide271.xml"/><Relationship Id="rId284" Type="http://schemas.openxmlformats.org/officeDocument/2006/relationships/slide" Target="slides/slide272.xml"/><Relationship Id="rId285" Type="http://schemas.openxmlformats.org/officeDocument/2006/relationships/slide" Target="slides/slide273.xml"/><Relationship Id="rId286" Type="http://schemas.openxmlformats.org/officeDocument/2006/relationships/slide" Target="slides/slide274.xml"/><Relationship Id="rId287" Type="http://schemas.openxmlformats.org/officeDocument/2006/relationships/slide" Target="slides/slide275.xml"/><Relationship Id="rId288" Type="http://schemas.openxmlformats.org/officeDocument/2006/relationships/slide" Target="slides/slide276.xml"/><Relationship Id="rId289" Type="http://schemas.openxmlformats.org/officeDocument/2006/relationships/slide" Target="slides/slide277.xml"/><Relationship Id="rId290" Type="http://schemas.openxmlformats.org/officeDocument/2006/relationships/slide" Target="slides/slide278.xml"/><Relationship Id="rId291" Type="http://schemas.openxmlformats.org/officeDocument/2006/relationships/slide" Target="slides/slide279.xml"/><Relationship Id="rId292" Type="http://schemas.openxmlformats.org/officeDocument/2006/relationships/slide" Target="slides/slide280.xml"/><Relationship Id="rId293" Type="http://schemas.openxmlformats.org/officeDocument/2006/relationships/slide" Target="slides/slide281.xml"/><Relationship Id="rId294" Type="http://schemas.openxmlformats.org/officeDocument/2006/relationships/slide" Target="slides/slide282.xml"/><Relationship Id="rId295" Type="http://schemas.openxmlformats.org/officeDocument/2006/relationships/slide" Target="slides/slide283.xml"/><Relationship Id="rId296" Type="http://schemas.openxmlformats.org/officeDocument/2006/relationships/slide" Target="slides/slide284.xml"/><Relationship Id="rId297" Type="http://schemas.openxmlformats.org/officeDocument/2006/relationships/slide" Target="slides/slide285.xml"/><Relationship Id="rId298" Type="http://schemas.openxmlformats.org/officeDocument/2006/relationships/slide" Target="slides/slide286.xml"/><Relationship Id="rId299" Type="http://schemas.openxmlformats.org/officeDocument/2006/relationships/slide" Target="slides/slide287.xml"/><Relationship Id="rId300" Type="http://schemas.openxmlformats.org/officeDocument/2006/relationships/slide" Target="slides/slide288.xml"/><Relationship Id="rId301" Type="http://schemas.openxmlformats.org/officeDocument/2006/relationships/slide" Target="slides/slide289.xml"/><Relationship Id="rId302" Type="http://schemas.openxmlformats.org/officeDocument/2006/relationships/slide" Target="slides/slide290.xml"/><Relationship Id="rId303" Type="http://schemas.openxmlformats.org/officeDocument/2006/relationships/slide" Target="slides/slide291.xml"/><Relationship Id="rId304" Type="http://schemas.openxmlformats.org/officeDocument/2006/relationships/slide" Target="slides/slide292.xml"/><Relationship Id="rId305" Type="http://schemas.openxmlformats.org/officeDocument/2006/relationships/slide" Target="slides/slide293.xml"/><Relationship Id="rId306" Type="http://schemas.openxmlformats.org/officeDocument/2006/relationships/slide" Target="slides/slide294.xml"/><Relationship Id="rId307" Type="http://schemas.openxmlformats.org/officeDocument/2006/relationships/slide" Target="slides/slide295.xml"/><Relationship Id="rId308" Type="http://schemas.openxmlformats.org/officeDocument/2006/relationships/slide" Target="slides/slide296.xml"/><Relationship Id="rId309" Type="http://schemas.openxmlformats.org/officeDocument/2006/relationships/slide" Target="slides/slide297.xml"/><Relationship Id="rId310" Type="http://schemas.openxmlformats.org/officeDocument/2006/relationships/slide" Target="slides/slide298.xml"/><Relationship Id="rId311" Type="http://schemas.openxmlformats.org/officeDocument/2006/relationships/slide" Target="slides/slide299.xml"/><Relationship Id="rId312" Type="http://schemas.openxmlformats.org/officeDocument/2006/relationships/slide" Target="slides/slide300.xml"/><Relationship Id="rId313" Type="http://schemas.openxmlformats.org/officeDocument/2006/relationships/slide" Target="slides/slide301.xml"/><Relationship Id="rId314" Type="http://schemas.openxmlformats.org/officeDocument/2006/relationships/slide" Target="slides/slide302.xml"/><Relationship Id="rId315" Type="http://schemas.openxmlformats.org/officeDocument/2006/relationships/slide" Target="slides/slide303.xml"/><Relationship Id="rId316" Type="http://schemas.openxmlformats.org/officeDocument/2006/relationships/slide" Target="slides/slide304.xml"/><Relationship Id="rId317" Type="http://schemas.openxmlformats.org/officeDocument/2006/relationships/slide" Target="slides/slide305.xml"/><Relationship Id="rId318" Type="http://schemas.openxmlformats.org/officeDocument/2006/relationships/slide" Target="slides/slide306.xml"/><Relationship Id="rId319" Type="http://schemas.openxmlformats.org/officeDocument/2006/relationships/slide" Target="slides/slide307.xml"/><Relationship Id="rId320" Type="http://schemas.openxmlformats.org/officeDocument/2006/relationships/slide" Target="slides/slide308.xml"/><Relationship Id="rId321" Type="http://schemas.openxmlformats.org/officeDocument/2006/relationships/slide" Target="slides/slide309.xml"/><Relationship Id="rId322" Type="http://schemas.openxmlformats.org/officeDocument/2006/relationships/slide" Target="slides/slide310.xml"/><Relationship Id="rId323" Type="http://schemas.openxmlformats.org/officeDocument/2006/relationships/slide" Target="slides/slide311.xml"/><Relationship Id="rId324" Type="http://schemas.openxmlformats.org/officeDocument/2006/relationships/slide" Target="slides/slide312.xml"/><Relationship Id="rId325" Type="http://schemas.openxmlformats.org/officeDocument/2006/relationships/slide" Target="slides/slide313.xml"/><Relationship Id="rId326" Type="http://schemas.openxmlformats.org/officeDocument/2006/relationships/slide" Target="slides/slide314.xml"/><Relationship Id="rId327" Type="http://schemas.openxmlformats.org/officeDocument/2006/relationships/slide" Target="slides/slide315.xml"/><Relationship Id="rId328" Type="http://schemas.openxmlformats.org/officeDocument/2006/relationships/slide" Target="slides/slide316.xml"/><Relationship Id="rId329" Type="http://schemas.openxmlformats.org/officeDocument/2006/relationships/slide" Target="slides/slide317.xml"/><Relationship Id="rId330" Type="http://schemas.openxmlformats.org/officeDocument/2006/relationships/slide" Target="slides/slide318.xml"/><Relationship Id="rId331" Type="http://schemas.openxmlformats.org/officeDocument/2006/relationships/slide" Target="slides/slide319.xml"/><Relationship Id="rId332" Type="http://schemas.openxmlformats.org/officeDocument/2006/relationships/slide" Target="slides/slide320.xml"/><Relationship Id="rId333" Type="http://schemas.openxmlformats.org/officeDocument/2006/relationships/slide" Target="slides/slide321.xml"/><Relationship Id="rId334" Type="http://schemas.openxmlformats.org/officeDocument/2006/relationships/slide" Target="slides/slide322.xml"/><Relationship Id="rId335" Type="http://schemas.openxmlformats.org/officeDocument/2006/relationships/slide" Target="slides/slide323.xml"/><Relationship Id="rId336" Type="http://schemas.openxmlformats.org/officeDocument/2006/relationships/slide" Target="slides/slide324.xml"/><Relationship Id="rId337" Type="http://schemas.openxmlformats.org/officeDocument/2006/relationships/slide" Target="slides/slide325.xml"/><Relationship Id="rId338" Type="http://schemas.openxmlformats.org/officeDocument/2006/relationships/slide" Target="slides/slide326.xml"/><Relationship Id="rId339" Type="http://schemas.openxmlformats.org/officeDocument/2006/relationships/slide" Target="slides/slide327.xml"/><Relationship Id="rId340" Type="http://schemas.openxmlformats.org/officeDocument/2006/relationships/slide" Target="slides/slide328.xml"/><Relationship Id="rId341" Type="http://schemas.openxmlformats.org/officeDocument/2006/relationships/slide" Target="slides/slide329.xml"/><Relationship Id="rId342" Type="http://schemas.openxmlformats.org/officeDocument/2006/relationships/slide" Target="slides/slide330.xml"/><Relationship Id="rId343" Type="http://schemas.openxmlformats.org/officeDocument/2006/relationships/slide" Target="slides/slide331.xml"/><Relationship Id="rId344" Type="http://schemas.openxmlformats.org/officeDocument/2006/relationships/slide" Target="slides/slide332.xml"/><Relationship Id="rId345" Type="http://schemas.openxmlformats.org/officeDocument/2006/relationships/slide" Target="slides/slide333.xml"/><Relationship Id="rId346" Type="http://schemas.openxmlformats.org/officeDocument/2006/relationships/slide" Target="slides/slide334.xml"/><Relationship Id="rId347" Type="http://schemas.openxmlformats.org/officeDocument/2006/relationships/slide" Target="slides/slide335.xml"/><Relationship Id="rId348" Type="http://schemas.openxmlformats.org/officeDocument/2006/relationships/slide" Target="slides/slide336.xml"/><Relationship Id="rId349" Type="http://schemas.openxmlformats.org/officeDocument/2006/relationships/slide" Target="slides/slide337.xml"/><Relationship Id="rId350" Type="http://schemas.openxmlformats.org/officeDocument/2006/relationships/slide" Target="slides/slide338.xml"/><Relationship Id="rId351" Type="http://schemas.openxmlformats.org/officeDocument/2006/relationships/slide" Target="slides/slide339.xml"/><Relationship Id="rId352" Type="http://schemas.openxmlformats.org/officeDocument/2006/relationships/slide" Target="slides/slide340.xml"/><Relationship Id="rId353" Type="http://schemas.openxmlformats.org/officeDocument/2006/relationships/slide" Target="slides/slide341.xml"/><Relationship Id="rId354" Type="http://schemas.openxmlformats.org/officeDocument/2006/relationships/slide" Target="slides/slide342.xml"/><Relationship Id="rId355" Type="http://schemas.openxmlformats.org/officeDocument/2006/relationships/slide" Target="slides/slide343.xml"/><Relationship Id="rId356" Type="http://schemas.openxmlformats.org/officeDocument/2006/relationships/slide" Target="slides/slide344.xml"/><Relationship Id="rId357" Type="http://schemas.openxmlformats.org/officeDocument/2006/relationships/slide" Target="slides/slide345.xml"/><Relationship Id="rId358" Type="http://schemas.openxmlformats.org/officeDocument/2006/relationships/slide" Target="slides/slide346.xml"/><Relationship Id="rId359" Type="http://schemas.openxmlformats.org/officeDocument/2006/relationships/slide" Target="slides/slide347.xml"/><Relationship Id="rId360" Type="http://schemas.openxmlformats.org/officeDocument/2006/relationships/slide" Target="slides/slide348.xml"/><Relationship Id="rId361" Type="http://schemas.openxmlformats.org/officeDocument/2006/relationships/slide" Target="slides/slide349.xml"/><Relationship Id="rId362" Type="http://schemas.openxmlformats.org/officeDocument/2006/relationships/slide" Target="slides/slide350.xml"/><Relationship Id="rId363" Type="http://schemas.openxmlformats.org/officeDocument/2006/relationships/slide" Target="slides/slide351.xml"/><Relationship Id="rId364" Type="http://schemas.openxmlformats.org/officeDocument/2006/relationships/slide" Target="slides/slide352.xml"/><Relationship Id="rId365" Type="http://schemas.openxmlformats.org/officeDocument/2006/relationships/slide" Target="slides/slide353.xml"/><Relationship Id="rId366" Type="http://schemas.openxmlformats.org/officeDocument/2006/relationships/slide" Target="slides/slide354.xml"/><Relationship Id="rId367" Type="http://schemas.openxmlformats.org/officeDocument/2006/relationships/slide" Target="slides/slide355.xml"/><Relationship Id="rId368" Type="http://schemas.openxmlformats.org/officeDocument/2006/relationships/slide" Target="slides/slide356.xml"/><Relationship Id="rId369" Type="http://schemas.openxmlformats.org/officeDocument/2006/relationships/slide" Target="slides/slide357.xml"/><Relationship Id="rId370" Type="http://schemas.openxmlformats.org/officeDocument/2006/relationships/slide" Target="slides/slide358.xml"/><Relationship Id="rId371" Type="http://schemas.openxmlformats.org/officeDocument/2006/relationships/slide" Target="slides/slide359.xml"/><Relationship Id="rId372" Type="http://schemas.openxmlformats.org/officeDocument/2006/relationships/slide" Target="slides/slide360.xml"/><Relationship Id="rId373" Type="http://schemas.openxmlformats.org/officeDocument/2006/relationships/slide" Target="slides/slide361.xml"/><Relationship Id="rId374" Type="http://schemas.openxmlformats.org/officeDocument/2006/relationships/slide" Target="slides/slide362.xml"/><Relationship Id="rId375" Type="http://schemas.openxmlformats.org/officeDocument/2006/relationships/slide" Target="slides/slide363.xml"/><Relationship Id="rId376" Type="http://schemas.openxmlformats.org/officeDocument/2006/relationships/slide" Target="slides/slide364.xml"/><Relationship Id="rId377" Type="http://schemas.openxmlformats.org/officeDocument/2006/relationships/slide" Target="slides/slide365.xml"/><Relationship Id="rId378" Type="http://schemas.openxmlformats.org/officeDocument/2006/relationships/slide" Target="slides/slide366.xml"/><Relationship Id="rId379" Type="http://schemas.openxmlformats.org/officeDocument/2006/relationships/slide" Target="slides/slide367.xml"/><Relationship Id="rId380" Type="http://schemas.openxmlformats.org/officeDocument/2006/relationships/slide" Target="slides/slide368.xml"/><Relationship Id="rId381" Type="http://schemas.openxmlformats.org/officeDocument/2006/relationships/slide" Target="slides/slide369.xml"/><Relationship Id="rId382" Type="http://schemas.openxmlformats.org/officeDocument/2006/relationships/slide" Target="slides/slide370.xml"/><Relationship Id="rId383" Type="http://schemas.openxmlformats.org/officeDocument/2006/relationships/slide" Target="slides/slide371.xml"/><Relationship Id="rId384" Type="http://schemas.openxmlformats.org/officeDocument/2006/relationships/slide" Target="slides/slide372.xml"/><Relationship Id="rId385" Type="http://schemas.openxmlformats.org/officeDocument/2006/relationships/slide" Target="slides/slide373.xml"/><Relationship Id="rId386" Type="http://schemas.openxmlformats.org/officeDocument/2006/relationships/slide" Target="slides/slide374.xml"/><Relationship Id="rId387" Type="http://schemas.openxmlformats.org/officeDocument/2006/relationships/slide" Target="slides/slide375.xml"/><Relationship Id="rId388" Type="http://schemas.openxmlformats.org/officeDocument/2006/relationships/slide" Target="slides/slide376.xml"/><Relationship Id="rId389" Type="http://schemas.openxmlformats.org/officeDocument/2006/relationships/slide" Target="slides/slide377.xml"/><Relationship Id="rId390" Type="http://schemas.openxmlformats.org/officeDocument/2006/relationships/slide" Target="slides/slide378.xml"/><Relationship Id="rId391" Type="http://schemas.openxmlformats.org/officeDocument/2006/relationships/slide" Target="slides/slide379.xml"/><Relationship Id="rId392" Type="http://schemas.openxmlformats.org/officeDocument/2006/relationships/slide" Target="slides/slide380.xml"/><Relationship Id="rId393" Type="http://schemas.openxmlformats.org/officeDocument/2006/relationships/slide" Target="slides/slide381.xml"/><Relationship Id="rId394" Type="http://schemas.openxmlformats.org/officeDocument/2006/relationships/slide" Target="slides/slide382.xml"/><Relationship Id="rId395" Type="http://schemas.openxmlformats.org/officeDocument/2006/relationships/slide" Target="slides/slide383.xml"/><Relationship Id="rId396" Type="http://schemas.openxmlformats.org/officeDocument/2006/relationships/slide" Target="slides/slide384.xml"/><Relationship Id="rId397" Type="http://schemas.openxmlformats.org/officeDocument/2006/relationships/slide" Target="slides/slide385.xml"/><Relationship Id="rId398" Type="http://schemas.openxmlformats.org/officeDocument/2006/relationships/slide" Target="slides/slide386.xml"/><Relationship Id="rId399" Type="http://schemas.openxmlformats.org/officeDocument/2006/relationships/slide" Target="slides/slide387.xml"/><Relationship Id="rId400" Type="http://schemas.openxmlformats.org/officeDocument/2006/relationships/slide" Target="slides/slide388.xml"/><Relationship Id="rId401" Type="http://schemas.openxmlformats.org/officeDocument/2006/relationships/slide" Target="slides/slide389.xml"/><Relationship Id="rId402" Type="http://schemas.openxmlformats.org/officeDocument/2006/relationships/slide" Target="slides/slide390.xml"/><Relationship Id="rId403" Type="http://schemas.openxmlformats.org/officeDocument/2006/relationships/slide" Target="slides/slide391.xml"/><Relationship Id="rId404" Type="http://schemas.openxmlformats.org/officeDocument/2006/relationships/slide" Target="slides/slide392.xml"/><Relationship Id="rId405" Type="http://schemas.openxmlformats.org/officeDocument/2006/relationships/slide" Target="slides/slide393.xml"/><Relationship Id="rId406" Type="http://schemas.openxmlformats.org/officeDocument/2006/relationships/slide" Target="slides/slide394.xml"/><Relationship Id="rId407" Type="http://schemas.openxmlformats.org/officeDocument/2006/relationships/slide" Target="slides/slide395.xml"/><Relationship Id="rId408" Type="http://schemas.openxmlformats.org/officeDocument/2006/relationships/slide" Target="slides/slide396.xml"/><Relationship Id="rId409" Type="http://schemas.openxmlformats.org/officeDocument/2006/relationships/slide" Target="slides/slide397.xml"/><Relationship Id="rId410" Type="http://schemas.openxmlformats.org/officeDocument/2006/relationships/slide" Target="slides/slide398.xml"/><Relationship Id="rId411" Type="http://schemas.openxmlformats.org/officeDocument/2006/relationships/slide" Target="slides/slide399.xml"/><Relationship Id="rId412" Type="http://schemas.openxmlformats.org/officeDocument/2006/relationships/slide" Target="slides/slide400.xml"/><Relationship Id="rId413" Type="http://schemas.openxmlformats.org/officeDocument/2006/relationships/slide" Target="slides/slide401.xml"/><Relationship Id="rId414" Type="http://schemas.openxmlformats.org/officeDocument/2006/relationships/slide" Target="slides/slide402.xml"/><Relationship Id="rId415" Type="http://schemas.openxmlformats.org/officeDocument/2006/relationships/slide" Target="slides/slide403.xml"/><Relationship Id="rId416" Type="http://schemas.openxmlformats.org/officeDocument/2006/relationships/slide" Target="slides/slide404.xml"/><Relationship Id="rId417" Type="http://schemas.openxmlformats.org/officeDocument/2006/relationships/slide" Target="slides/slide405.xml"/><Relationship Id="rId418" Type="http://schemas.openxmlformats.org/officeDocument/2006/relationships/slide" Target="slides/slide406.xml"/><Relationship Id="rId419" Type="http://schemas.openxmlformats.org/officeDocument/2006/relationships/slide" Target="slides/slide407.xml"/><Relationship Id="rId420" Type="http://schemas.openxmlformats.org/officeDocument/2006/relationships/slide" Target="slides/slide408.xml"/><Relationship Id="rId421" Type="http://schemas.openxmlformats.org/officeDocument/2006/relationships/slide" Target="slides/slide409.xml"/><Relationship Id="rId422" Type="http://schemas.openxmlformats.org/officeDocument/2006/relationships/slide" Target="slides/slide410.xml"/><Relationship Id="rId423" Type="http://schemas.openxmlformats.org/officeDocument/2006/relationships/slide" Target="slides/slide411.xml"/><Relationship Id="rId424" Type="http://schemas.openxmlformats.org/officeDocument/2006/relationships/slide" Target="slides/slide412.xml"/><Relationship Id="rId425" Type="http://schemas.openxmlformats.org/officeDocument/2006/relationships/slide" Target="slides/slide413.xml"/><Relationship Id="rId426" Type="http://schemas.openxmlformats.org/officeDocument/2006/relationships/slide" Target="slides/slide414.xml"/><Relationship Id="rId427" Type="http://schemas.openxmlformats.org/officeDocument/2006/relationships/slide" Target="slides/slide415.xml"/><Relationship Id="rId428" Type="http://schemas.openxmlformats.org/officeDocument/2006/relationships/slide" Target="slides/slide416.xml"/><Relationship Id="rId429" Type="http://schemas.openxmlformats.org/officeDocument/2006/relationships/slide" Target="slides/slide417.xml"/><Relationship Id="rId430" Type="http://schemas.openxmlformats.org/officeDocument/2006/relationships/slide" Target="slides/slide418.xml"/><Relationship Id="rId431" Type="http://schemas.openxmlformats.org/officeDocument/2006/relationships/slide" Target="slides/slide419.xml"/><Relationship Id="rId432" Type="http://schemas.openxmlformats.org/officeDocument/2006/relationships/slide" Target="slides/slide420.xml"/><Relationship Id="rId433" Type="http://schemas.openxmlformats.org/officeDocument/2006/relationships/slide" Target="slides/slide421.xml"/><Relationship Id="rId434" Type="http://schemas.openxmlformats.org/officeDocument/2006/relationships/slide" Target="slides/slide422.xml"/><Relationship Id="rId435" Type="http://schemas.openxmlformats.org/officeDocument/2006/relationships/slide" Target="slides/slide423.xml"/><Relationship Id="rId436" Type="http://schemas.openxmlformats.org/officeDocument/2006/relationships/slide" Target="slides/slide424.xml"/><Relationship Id="rId437" Type="http://schemas.openxmlformats.org/officeDocument/2006/relationships/slide" Target="slides/slide425.xml"/><Relationship Id="rId438" Type="http://schemas.openxmlformats.org/officeDocument/2006/relationships/slide" Target="slides/slide426.xml"/><Relationship Id="rId439" Type="http://schemas.openxmlformats.org/officeDocument/2006/relationships/slide" Target="slides/slide427.xml"/><Relationship Id="rId440" Type="http://schemas.openxmlformats.org/officeDocument/2006/relationships/slide" Target="slides/slide428.xml"/><Relationship Id="rId441" Type="http://schemas.openxmlformats.org/officeDocument/2006/relationships/slide" Target="slides/slide429.xml"/><Relationship Id="rId442" Type="http://schemas.openxmlformats.org/officeDocument/2006/relationships/slide" Target="slides/slide430.xml"/><Relationship Id="rId443" Type="http://schemas.openxmlformats.org/officeDocument/2006/relationships/slide" Target="slides/slide431.xml"/><Relationship Id="rId444" Type="http://schemas.openxmlformats.org/officeDocument/2006/relationships/slide" Target="slides/slide432.xml"/><Relationship Id="rId445" Type="http://schemas.openxmlformats.org/officeDocument/2006/relationships/slide" Target="slides/slide433.xml"/><Relationship Id="rId446" Type="http://schemas.openxmlformats.org/officeDocument/2006/relationships/slide" Target="slides/slide434.xml"/><Relationship Id="rId447" Type="http://schemas.openxmlformats.org/officeDocument/2006/relationships/slide" Target="slides/slide435.xml"/><Relationship Id="rId448" Type="http://schemas.openxmlformats.org/officeDocument/2006/relationships/slide" Target="slides/slide436.xml"/><Relationship Id="rId449" Type="http://schemas.openxmlformats.org/officeDocument/2006/relationships/slide" Target="slides/slide437.xml"/><Relationship Id="rId450" Type="http://schemas.openxmlformats.org/officeDocument/2006/relationships/slide" Target="slides/slide438.xml"/><Relationship Id="rId451" Type="http://schemas.openxmlformats.org/officeDocument/2006/relationships/slide" Target="slides/slide439.xml"/><Relationship Id="rId452" Type="http://schemas.openxmlformats.org/officeDocument/2006/relationships/slide" Target="slides/slide440.xml"/><Relationship Id="rId453" Type="http://schemas.openxmlformats.org/officeDocument/2006/relationships/slide" Target="slides/slide441.xml"/><Relationship Id="rId454" Type="http://schemas.openxmlformats.org/officeDocument/2006/relationships/slide" Target="slides/slide442.xml"/><Relationship Id="rId455" Type="http://schemas.openxmlformats.org/officeDocument/2006/relationships/slide" Target="slides/slide443.xml"/><Relationship Id="rId456" Type="http://schemas.openxmlformats.org/officeDocument/2006/relationships/slide" Target="slides/slide444.xml"/><Relationship Id="rId457" Type="http://schemas.openxmlformats.org/officeDocument/2006/relationships/slide" Target="slides/slide445.xml"/><Relationship Id="rId458" Type="http://schemas.openxmlformats.org/officeDocument/2006/relationships/slide" Target="slides/slide446.xml"/><Relationship Id="rId459" Type="http://schemas.openxmlformats.org/officeDocument/2006/relationships/slide" Target="slides/slide447.xml"/><Relationship Id="rId460" Type="http://schemas.openxmlformats.org/officeDocument/2006/relationships/slide" Target="slides/slide448.xml"/><Relationship Id="rId461" Type="http://schemas.openxmlformats.org/officeDocument/2006/relationships/slide" Target="slides/slide449.xml"/><Relationship Id="rId462" Type="http://schemas.openxmlformats.org/officeDocument/2006/relationships/slide" Target="slides/slide450.xml"/><Relationship Id="rId463" Type="http://schemas.openxmlformats.org/officeDocument/2006/relationships/slide" Target="slides/slide451.xml"/><Relationship Id="rId464" Type="http://schemas.openxmlformats.org/officeDocument/2006/relationships/slide" Target="slides/slide452.xml"/><Relationship Id="rId465" Type="http://schemas.openxmlformats.org/officeDocument/2006/relationships/slide" Target="slides/slide453.xml"/><Relationship Id="rId466" Type="http://schemas.openxmlformats.org/officeDocument/2006/relationships/slide" Target="slides/slide454.xml"/><Relationship Id="rId467" Type="http://schemas.openxmlformats.org/officeDocument/2006/relationships/slide" Target="slides/slide455.xml"/><Relationship Id="rId468" Type="http://schemas.openxmlformats.org/officeDocument/2006/relationships/slide" Target="slides/slide456.xml"/><Relationship Id="rId469" Type="http://schemas.openxmlformats.org/officeDocument/2006/relationships/slide" Target="slides/slide457.xml"/><Relationship Id="rId470" Type="http://schemas.openxmlformats.org/officeDocument/2006/relationships/slide" Target="slides/slide458.xml"/><Relationship Id="rId471" Type="http://schemas.openxmlformats.org/officeDocument/2006/relationships/slide" Target="slides/slide459.xml"/><Relationship Id="rId472" Type="http://schemas.openxmlformats.org/officeDocument/2006/relationships/slide" Target="slides/slide460.xml"/><Relationship Id="rId473" Type="http://schemas.openxmlformats.org/officeDocument/2006/relationships/slide" Target="slides/slide461.xml"/><Relationship Id="rId474" Type="http://schemas.openxmlformats.org/officeDocument/2006/relationships/slide" Target="slides/slide462.xml"/><Relationship Id="rId475" Type="http://schemas.openxmlformats.org/officeDocument/2006/relationships/slide" Target="slides/slide463.xml"/><Relationship Id="rId476" Type="http://schemas.openxmlformats.org/officeDocument/2006/relationships/slide" Target="slides/slide464.xml"/><Relationship Id="rId477" Type="http://schemas.openxmlformats.org/officeDocument/2006/relationships/slide" Target="slides/slide465.xml"/><Relationship Id="rId478" Type="http://schemas.openxmlformats.org/officeDocument/2006/relationships/slide" Target="slides/slide466.xml"/><Relationship Id="rId479" Type="http://schemas.openxmlformats.org/officeDocument/2006/relationships/slide" Target="slides/slide467.xml"/><Relationship Id="rId480" Type="http://schemas.openxmlformats.org/officeDocument/2006/relationships/slide" Target="slides/slide468.xml"/><Relationship Id="rId481" Type="http://schemas.openxmlformats.org/officeDocument/2006/relationships/slide" Target="slides/slide469.xml"/><Relationship Id="rId482" Type="http://schemas.openxmlformats.org/officeDocument/2006/relationships/slide" Target="slides/slide470.xml"/><Relationship Id="rId483" Type="http://schemas.openxmlformats.org/officeDocument/2006/relationships/slide" Target="slides/slide471.xml"/><Relationship Id="rId484" Type="http://schemas.openxmlformats.org/officeDocument/2006/relationships/slide" Target="slides/slide472.xml"/><Relationship Id="rId485" Type="http://schemas.openxmlformats.org/officeDocument/2006/relationships/slide" Target="slides/slide473.xml"/><Relationship Id="rId486" Type="http://schemas.openxmlformats.org/officeDocument/2006/relationships/slide" Target="slides/slide474.xml"/><Relationship Id="rId487" Type="http://schemas.openxmlformats.org/officeDocument/2006/relationships/slide" Target="slides/slide475.xml"/><Relationship Id="rId488" Type="http://schemas.openxmlformats.org/officeDocument/2006/relationships/slide" Target="slides/slide476.xml"/><Relationship Id="rId489" Type="http://schemas.openxmlformats.org/officeDocument/2006/relationships/slide" Target="slides/slide477.xml"/><Relationship Id="rId490" Type="http://schemas.openxmlformats.org/officeDocument/2006/relationships/slide" Target="slides/slide478.xml"/><Relationship Id="rId491" Type="http://schemas.openxmlformats.org/officeDocument/2006/relationships/slide" Target="slides/slide479.xml"/><Relationship Id="rId492" Type="http://schemas.openxmlformats.org/officeDocument/2006/relationships/slide" Target="slides/slide480.xml"/><Relationship Id="rId493" Type="http://schemas.openxmlformats.org/officeDocument/2006/relationships/slide" Target="slides/slide481.xml"/><Relationship Id="rId494" Type="http://schemas.openxmlformats.org/officeDocument/2006/relationships/slide" Target="slides/slide482.xml"/><Relationship Id="rId495" Type="http://schemas.openxmlformats.org/officeDocument/2006/relationships/slide" Target="slides/slide483.xml"/><Relationship Id="rId496" Type="http://schemas.openxmlformats.org/officeDocument/2006/relationships/slide" Target="slides/slide484.xml"/><Relationship Id="rId497" Type="http://schemas.openxmlformats.org/officeDocument/2006/relationships/slide" Target="slides/slide485.xml"/><Relationship Id="rId498" Type="http://schemas.openxmlformats.org/officeDocument/2006/relationships/slide" Target="slides/slide486.xml"/><Relationship Id="rId499" Type="http://schemas.openxmlformats.org/officeDocument/2006/relationships/slide" Target="slides/slide487.xml"/><Relationship Id="rId500" Type="http://schemas.openxmlformats.org/officeDocument/2006/relationships/slide" Target="slides/slide488.xml"/><Relationship Id="rId501" Type="http://schemas.openxmlformats.org/officeDocument/2006/relationships/slide" Target="slides/slide489.xml"/><Relationship Id="rId502" Type="http://schemas.openxmlformats.org/officeDocument/2006/relationships/slide" Target="slides/slide490.xml"/><Relationship Id="rId503" Type="http://schemas.openxmlformats.org/officeDocument/2006/relationships/slide" Target="slides/slide491.xml"/><Relationship Id="rId504" Type="http://schemas.openxmlformats.org/officeDocument/2006/relationships/slide" Target="slides/slide492.xml"/><Relationship Id="rId505" Type="http://schemas.openxmlformats.org/officeDocument/2006/relationships/slide" Target="slides/slide493.xml"/><Relationship Id="rId506" Type="http://schemas.openxmlformats.org/officeDocument/2006/relationships/slide" Target="slides/slide494.xml"/><Relationship Id="rId507" Type="http://schemas.openxmlformats.org/officeDocument/2006/relationships/slide" Target="slides/slide495.xml"/><Relationship Id="rId508" Type="http://schemas.openxmlformats.org/officeDocument/2006/relationships/slide" Target="slides/slide496.xml"/><Relationship Id="rId509" Type="http://schemas.openxmlformats.org/officeDocument/2006/relationships/slide" Target="slides/slide497.xml"/><Relationship Id="rId510" Type="http://schemas.openxmlformats.org/officeDocument/2006/relationships/slide" Target="slides/slide498.xml"/><Relationship Id="rId511" Type="http://schemas.openxmlformats.org/officeDocument/2006/relationships/slide" Target="slides/slide499.xml"/><Relationship Id="rId512" Type="http://schemas.openxmlformats.org/officeDocument/2006/relationships/slide" Target="slides/slide500.xml"/><Relationship Id="rId513" Type="http://schemas.openxmlformats.org/officeDocument/2006/relationships/slide" Target="slides/slide501.xml"/><Relationship Id="rId514" Type="http://schemas.openxmlformats.org/officeDocument/2006/relationships/slide" Target="slides/slide502.xml"/><Relationship Id="rId515" Type="http://schemas.openxmlformats.org/officeDocument/2006/relationships/slide" Target="slides/slide503.xml"/><Relationship Id="rId516" Type="http://schemas.openxmlformats.org/officeDocument/2006/relationships/slide" Target="slides/slide504.xml"/><Relationship Id="rId517" Type="http://schemas.openxmlformats.org/officeDocument/2006/relationships/slide" Target="slides/slide505.xml"/><Relationship Id="rId518" Type="http://schemas.openxmlformats.org/officeDocument/2006/relationships/slide" Target="slides/slide506.xml"/><Relationship Id="rId519" Type="http://schemas.openxmlformats.org/officeDocument/2006/relationships/slide" Target="slides/slide507.xml"/><Relationship Id="rId520" Type="http://schemas.openxmlformats.org/officeDocument/2006/relationships/slide" Target="slides/slide508.xml"/><Relationship Id="rId521" Type="http://schemas.openxmlformats.org/officeDocument/2006/relationships/slide" Target="slides/slide509.xml"/><Relationship Id="rId522" Type="http://schemas.openxmlformats.org/officeDocument/2006/relationships/slide" Target="slides/slide510.xml"/><Relationship Id="rId523" Type="http://schemas.openxmlformats.org/officeDocument/2006/relationships/slide" Target="slides/slide511.xml"/><Relationship Id="rId524" Type="http://schemas.openxmlformats.org/officeDocument/2006/relationships/slide" Target="slides/slide512.xml"/><Relationship Id="rId525" Type="http://schemas.openxmlformats.org/officeDocument/2006/relationships/slide" Target="slides/slide513.xml"/><Relationship Id="rId526" Type="http://schemas.openxmlformats.org/officeDocument/2006/relationships/slide" Target="slides/slide514.xml"/><Relationship Id="rId527" Type="http://schemas.openxmlformats.org/officeDocument/2006/relationships/slide" Target="slides/slide515.xml"/><Relationship Id="rId528" Type="http://schemas.openxmlformats.org/officeDocument/2006/relationships/slide" Target="slides/slide516.xml"/><Relationship Id="rId529" Type="http://schemas.openxmlformats.org/officeDocument/2006/relationships/slide" Target="slides/slide517.xml"/><Relationship Id="rId530" Type="http://schemas.openxmlformats.org/officeDocument/2006/relationships/slide" Target="slides/slide518.xml"/><Relationship Id="rId531" Type="http://schemas.openxmlformats.org/officeDocument/2006/relationships/slide" Target="slides/slide519.xml"/><Relationship Id="rId532" Type="http://schemas.openxmlformats.org/officeDocument/2006/relationships/slide" Target="slides/slide520.xml"/><Relationship Id="rId533" Type="http://schemas.openxmlformats.org/officeDocument/2006/relationships/slide" Target="slides/slide521.xml"/><Relationship Id="rId534" Type="http://schemas.openxmlformats.org/officeDocument/2006/relationships/slide" Target="slides/slide522.xml"/><Relationship Id="rId535" Type="http://schemas.openxmlformats.org/officeDocument/2006/relationships/slide" Target="slides/slide523.xml"/><Relationship Id="rId536" Type="http://schemas.openxmlformats.org/officeDocument/2006/relationships/slide" Target="slides/slide524.xml"/><Relationship Id="rId537" Type="http://schemas.openxmlformats.org/officeDocument/2006/relationships/slide" Target="slides/slide525.xml"/><Relationship Id="rId538" Type="http://schemas.openxmlformats.org/officeDocument/2006/relationships/slide" Target="slides/slide526.xml"/><Relationship Id="rId539" Type="http://schemas.openxmlformats.org/officeDocument/2006/relationships/slide" Target="slides/slide527.xml"/><Relationship Id="rId540" Type="http://schemas.openxmlformats.org/officeDocument/2006/relationships/slide" Target="slides/slide528.xml"/><Relationship Id="rId541" Type="http://schemas.openxmlformats.org/officeDocument/2006/relationships/slide" Target="slides/slide529.xml"/><Relationship Id="rId542" Type="http://schemas.openxmlformats.org/officeDocument/2006/relationships/slide" Target="slides/slide530.xml"/><Relationship Id="rId543" Type="http://schemas.openxmlformats.org/officeDocument/2006/relationships/slide" Target="slides/slide531.xml"/><Relationship Id="rId544" Type="http://schemas.openxmlformats.org/officeDocument/2006/relationships/slide" Target="slides/slide532.xml"/><Relationship Id="rId545" Type="http://schemas.openxmlformats.org/officeDocument/2006/relationships/slide" Target="slides/slide533.xml"/><Relationship Id="rId546" Type="http://schemas.openxmlformats.org/officeDocument/2006/relationships/slide" Target="slides/slide534.xml"/><Relationship Id="rId547" Type="http://schemas.openxmlformats.org/officeDocument/2006/relationships/slide" Target="slides/slide535.xml"/><Relationship Id="rId548" Type="http://schemas.openxmlformats.org/officeDocument/2006/relationships/slide" Target="slides/slide536.xml"/><Relationship Id="rId549" Type="http://schemas.openxmlformats.org/officeDocument/2006/relationships/slide" Target="slides/slide537.xml"/><Relationship Id="rId550" Type="http://schemas.openxmlformats.org/officeDocument/2006/relationships/slide" Target="slides/slide538.xml"/><Relationship Id="rId551" Type="http://schemas.openxmlformats.org/officeDocument/2006/relationships/slide" Target="slides/slide539.xml"/><Relationship Id="rId552" Type="http://schemas.openxmlformats.org/officeDocument/2006/relationships/slide" Target="slides/slide540.xml"/><Relationship Id="rId553" Type="http://schemas.openxmlformats.org/officeDocument/2006/relationships/slide" Target="slides/slide541.xml"/><Relationship Id="rId554" Type="http://schemas.openxmlformats.org/officeDocument/2006/relationships/slide" Target="slides/slide542.xml"/><Relationship Id="rId555" Type="http://schemas.openxmlformats.org/officeDocument/2006/relationships/slide" Target="slides/slide543.xml"/><Relationship Id="rId556" Type="http://schemas.openxmlformats.org/officeDocument/2006/relationships/slide" Target="slides/slide544.xml"/><Relationship Id="rId557" Type="http://schemas.openxmlformats.org/officeDocument/2006/relationships/slide" Target="slides/slide545.xml"/><Relationship Id="rId558" Type="http://schemas.openxmlformats.org/officeDocument/2006/relationships/slide" Target="slides/slide546.xml"/><Relationship Id="rId559" Type="http://schemas.openxmlformats.org/officeDocument/2006/relationships/slide" Target="slides/slide547.xml"/><Relationship Id="rId560" Type="http://schemas.openxmlformats.org/officeDocument/2006/relationships/slide" Target="slides/slide548.xml"/><Relationship Id="rId561" Type="http://schemas.openxmlformats.org/officeDocument/2006/relationships/slide" Target="slides/slide549.xml"/><Relationship Id="rId562" Type="http://schemas.openxmlformats.org/officeDocument/2006/relationships/slide" Target="slides/slide550.xml"/><Relationship Id="rId563" Type="http://schemas.openxmlformats.org/officeDocument/2006/relationships/slide" Target="slides/slide551.xml"/><Relationship Id="rId564" Type="http://schemas.openxmlformats.org/officeDocument/2006/relationships/slide" Target="slides/slide552.xml"/><Relationship Id="rId565" Type="http://schemas.openxmlformats.org/officeDocument/2006/relationships/slide" Target="slides/slide553.xml"/><Relationship Id="rId566" Type="http://schemas.openxmlformats.org/officeDocument/2006/relationships/slide" Target="slides/slide554.xml"/><Relationship Id="rId567" Type="http://schemas.openxmlformats.org/officeDocument/2006/relationships/slide" Target="slides/slide555.xml"/><Relationship Id="rId568" Type="http://schemas.openxmlformats.org/officeDocument/2006/relationships/slide" Target="slides/slide556.xml"/><Relationship Id="rId569" Type="http://schemas.openxmlformats.org/officeDocument/2006/relationships/slide" Target="slides/slide557.xml"/><Relationship Id="rId570" Type="http://schemas.openxmlformats.org/officeDocument/2006/relationships/slide" Target="slides/slide558.xml"/><Relationship Id="rId571" Type="http://schemas.openxmlformats.org/officeDocument/2006/relationships/slide" Target="slides/slide559.xml"/><Relationship Id="rId572" Type="http://schemas.openxmlformats.org/officeDocument/2006/relationships/slide" Target="slides/slide560.xml"/><Relationship Id="rId573" Type="http://schemas.openxmlformats.org/officeDocument/2006/relationships/slide" Target="slides/slide561.xml"/><Relationship Id="rId574" Type="http://schemas.openxmlformats.org/officeDocument/2006/relationships/slide" Target="slides/slide562.xml"/><Relationship Id="rId575" Type="http://schemas.openxmlformats.org/officeDocument/2006/relationships/slide" Target="slides/slide563.xml"/><Relationship Id="rId576" Type="http://schemas.openxmlformats.org/officeDocument/2006/relationships/slide" Target="slides/slide564.xml"/><Relationship Id="rId577" Type="http://schemas.openxmlformats.org/officeDocument/2006/relationships/slide" Target="slides/slide565.xml"/><Relationship Id="rId578" Type="http://schemas.openxmlformats.org/officeDocument/2006/relationships/slide" Target="slides/slide566.xml"/><Relationship Id="rId579" Type="http://schemas.openxmlformats.org/officeDocument/2006/relationships/slide" Target="slides/slide567.xml"/><Relationship Id="rId580" Type="http://schemas.openxmlformats.org/officeDocument/2006/relationships/slide" Target="slides/slide568.xml"/><Relationship Id="rId581" Type="http://schemas.openxmlformats.org/officeDocument/2006/relationships/slide" Target="slides/slide569.xml"/><Relationship Id="rId582" Type="http://schemas.openxmlformats.org/officeDocument/2006/relationships/slide" Target="slides/slide570.xml"/><Relationship Id="rId583" Type="http://schemas.openxmlformats.org/officeDocument/2006/relationships/slide" Target="slides/slide571.xml"/><Relationship Id="rId584" Type="http://schemas.openxmlformats.org/officeDocument/2006/relationships/slide" Target="slides/slide572.xml"/><Relationship Id="rId585" Type="http://schemas.openxmlformats.org/officeDocument/2006/relationships/slide" Target="slides/slide573.xml"/><Relationship Id="rId586" Type="http://schemas.openxmlformats.org/officeDocument/2006/relationships/slide" Target="slides/slide574.xml"/><Relationship Id="rId587" Type="http://schemas.openxmlformats.org/officeDocument/2006/relationships/slide" Target="slides/slide575.xml"/><Relationship Id="rId588" Type="http://schemas.openxmlformats.org/officeDocument/2006/relationships/slide" Target="slides/slide576.xml"/><Relationship Id="rId589" Type="http://schemas.openxmlformats.org/officeDocument/2006/relationships/slide" Target="slides/slide577.xml"/><Relationship Id="rId590" Type="http://schemas.openxmlformats.org/officeDocument/2006/relationships/slide" Target="slides/slide578.xml"/><Relationship Id="rId591" Type="http://schemas.openxmlformats.org/officeDocument/2006/relationships/slide" Target="slides/slide579.xml"/><Relationship Id="rId592" Type="http://schemas.openxmlformats.org/officeDocument/2006/relationships/slide" Target="slides/slide580.xml"/><Relationship Id="rId593" Type="http://schemas.openxmlformats.org/officeDocument/2006/relationships/slide" Target="slides/slide581.xml"/><Relationship Id="rId594" Type="http://schemas.openxmlformats.org/officeDocument/2006/relationships/slide" Target="slides/slide582.xml"/><Relationship Id="rId595" Type="http://schemas.openxmlformats.org/officeDocument/2006/relationships/slide" Target="slides/slide583.xml"/><Relationship Id="rId596" Type="http://schemas.openxmlformats.org/officeDocument/2006/relationships/slide" Target="slides/slide584.xml"/><Relationship Id="rId597" Type="http://schemas.openxmlformats.org/officeDocument/2006/relationships/slide" Target="slides/slide585.xml"/><Relationship Id="rId598" Type="http://schemas.openxmlformats.org/officeDocument/2006/relationships/slide" Target="slides/slide586.xml"/><Relationship Id="rId599" Type="http://schemas.openxmlformats.org/officeDocument/2006/relationships/slide" Target="slides/slide587.xml"/><Relationship Id="rId600" Type="http://schemas.openxmlformats.org/officeDocument/2006/relationships/slide" Target="slides/slide588.xml"/><Relationship Id="rId601" Type="http://schemas.openxmlformats.org/officeDocument/2006/relationships/slide" Target="slides/slide589.xml"/><Relationship Id="rId602" Type="http://schemas.openxmlformats.org/officeDocument/2006/relationships/slide" Target="slides/slide590.xml"/><Relationship Id="rId603" Type="http://schemas.openxmlformats.org/officeDocument/2006/relationships/slide" Target="slides/slide591.xml"/><Relationship Id="rId604" Type="http://schemas.openxmlformats.org/officeDocument/2006/relationships/slide" Target="slides/slide592.xml"/><Relationship Id="rId605" Type="http://schemas.openxmlformats.org/officeDocument/2006/relationships/slide" Target="slides/slide593.xml"/><Relationship Id="rId606" Type="http://schemas.openxmlformats.org/officeDocument/2006/relationships/slide" Target="slides/slide594.xml"/><Relationship Id="rId607" Type="http://schemas.openxmlformats.org/officeDocument/2006/relationships/slide" Target="slides/slide595.xml"/><Relationship Id="rId608" Type="http://schemas.openxmlformats.org/officeDocument/2006/relationships/slide" Target="slides/slide596.xml"/><Relationship Id="rId609" Type="http://schemas.openxmlformats.org/officeDocument/2006/relationships/slide" Target="slides/slide597.xml"/><Relationship Id="rId610" Type="http://schemas.openxmlformats.org/officeDocument/2006/relationships/slide" Target="slides/slide598.xml"/><Relationship Id="rId611" Type="http://schemas.openxmlformats.org/officeDocument/2006/relationships/tableStyles" Target="tableStyles.xml"/><Relationship Id="rId612" Type="http://schemas.openxmlformats.org/officeDocument/2006/relationships/presProps" Target="presProps.xml"/><Relationship Id="rId61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64A35A-09E8-4F7C-958F-2EA4D280655B}" type="doc">
      <dgm:prSet loTypeId="urn:microsoft.com/office/officeart/2005/8/layout/target3" loCatId="relationship" qsTypeId="urn:microsoft.com/office/officeart/2005/8/quickstyle/3d3" qsCatId="3D" csTypeId="urn:microsoft.com/office/officeart/2005/8/colors/accent1_4" csCatId="accent1" phldr="1"/>
      <dgm:spPr/>
      <dgm:t>
        <a:bodyPr/>
        <a:lstStyle/>
        <a:p>
          <a:endParaRPr lang="en-US"/>
        </a:p>
      </dgm:t>
    </dgm:pt>
    <dgm:pt modelId="{FD4B7E34-6E57-4998-934A-C88BD77599CE}">
      <dgm:prSet custT="1"/>
      <dgm:spPr>
        <a:solidFill>
          <a:srgbClr val="08E012"/>
        </a:solidFill>
        <a:ln w="76200">
          <a:solidFill>
            <a:srgbClr val="FFC000"/>
          </a:solidFill>
        </a:ln>
        <a:scene3d>
          <a:camera prst="orthographicFront">
            <a:rot lat="0" lon="0" rev="0"/>
          </a:camera>
          <a:lightRig rig="contrasting" dir="t">
            <a:rot lat="0" lon="0" rev="1200000"/>
          </a:lightRig>
        </a:scene3d>
        <a:sp3d>
          <a:bevelT prst="convex"/>
        </a:sp3d>
      </dgm:spPr>
      <dgm:t>
        <a:bodyPr/>
        <a:lstStyle/>
        <a:p>
          <a:pPr rtl="0"/>
          <a:r>
            <a:rPr lang="en-US" sz="5400" b="1" baseline="0" dirty="0" smtClean="0">
              <a:solidFill>
                <a:srgbClr val="FFFF00"/>
              </a:solidFill>
              <a:effectLst>
                <a:outerShdw blurRad="38100" dist="38100" dir="2700000" algn="tl">
                  <a:srgbClr val="000000">
                    <a:alpha val="43137"/>
                  </a:srgbClr>
                </a:outerShdw>
              </a:effectLst>
              <a:latin typeface="Algerian" pitchFamily="82" charset="0"/>
            </a:rPr>
            <a:t>PYELONEPHRITIS</a:t>
          </a:r>
          <a:endParaRPr lang="en-US" sz="5400" b="1" baseline="0" dirty="0">
            <a:solidFill>
              <a:srgbClr val="FFFF00"/>
            </a:solidFill>
            <a:effectLst>
              <a:outerShdw blurRad="38100" dist="38100" dir="2700000" algn="tl">
                <a:srgbClr val="000000">
                  <a:alpha val="43137"/>
                </a:srgbClr>
              </a:outerShdw>
            </a:effectLst>
            <a:latin typeface="Algerian" pitchFamily="82" charset="0"/>
          </a:endParaRPr>
        </a:p>
      </dgm:t>
    </dgm:pt>
    <dgm:pt modelId="{6CF34B95-70D8-45CF-9E6F-BB1E05C45131}" type="parTrans" cxnId="{C0D1CF27-0B16-481B-B13E-4128D24657F0}">
      <dgm:prSet/>
      <dgm:spPr/>
      <dgm:t>
        <a:bodyPr/>
        <a:lstStyle/>
        <a:p>
          <a:endParaRPr lang="en-US" b="1">
            <a:solidFill>
              <a:srgbClr val="FFFF00"/>
            </a:solidFill>
            <a:effectLst>
              <a:outerShdw blurRad="38100" dist="38100" dir="2700000" algn="tl">
                <a:srgbClr val="000000">
                  <a:alpha val="43137"/>
                </a:srgbClr>
              </a:outerShdw>
            </a:effectLst>
            <a:latin typeface="Algerian" pitchFamily="82" charset="0"/>
          </a:endParaRPr>
        </a:p>
      </dgm:t>
    </dgm:pt>
    <dgm:pt modelId="{5B63F82C-6AA3-4CDD-B195-BB25F285A357}" type="sibTrans" cxnId="{C0D1CF27-0B16-481B-B13E-4128D24657F0}">
      <dgm:prSet/>
      <dgm:spPr/>
      <dgm:t>
        <a:bodyPr/>
        <a:lstStyle/>
        <a:p>
          <a:endParaRPr lang="en-US" b="1">
            <a:solidFill>
              <a:srgbClr val="FFFF00"/>
            </a:solidFill>
            <a:effectLst>
              <a:outerShdw blurRad="38100" dist="38100" dir="2700000" algn="tl">
                <a:srgbClr val="000000">
                  <a:alpha val="43137"/>
                </a:srgbClr>
              </a:outerShdw>
            </a:effectLst>
            <a:latin typeface="Algerian" pitchFamily="82" charset="0"/>
          </a:endParaRPr>
        </a:p>
      </dgm:t>
    </dgm:pt>
    <dgm:pt modelId="{11C4B2FC-4EC8-4EFB-9064-DB4151CB302C}" type="pres">
      <dgm:prSet presAssocID="{7C64A35A-09E8-4F7C-958F-2EA4D280655B}" presName="Name0" presStyleCnt="0">
        <dgm:presLayoutVars>
          <dgm:chMax val="7"/>
          <dgm:dir/>
          <dgm:animLvl val="lvl"/>
          <dgm:resizeHandles val="exact"/>
        </dgm:presLayoutVars>
      </dgm:prSet>
      <dgm:spPr/>
      <dgm:t>
        <a:bodyPr/>
        <a:lstStyle/>
        <a:p>
          <a:endParaRPr lang="en-US"/>
        </a:p>
      </dgm:t>
    </dgm:pt>
    <dgm:pt modelId="{2FA4C183-203B-458B-B975-FEB04EC831A7}" type="pres">
      <dgm:prSet presAssocID="{FD4B7E34-6E57-4998-934A-C88BD77599CE}" presName="circle1" presStyleLbl="node1" presStyleIdx="0" presStyleCnt="1" custLinFactNeighborX="16000"/>
      <dgm:spPr/>
    </dgm:pt>
    <dgm:pt modelId="{1E7A9308-3C39-459D-A0CB-CB47EBBA04D9}" type="pres">
      <dgm:prSet presAssocID="{FD4B7E34-6E57-4998-934A-C88BD77599CE}" presName="space" presStyleCnt="0"/>
      <dgm:spPr/>
    </dgm:pt>
    <dgm:pt modelId="{23FD542A-F239-4BCC-A61E-51FE33CE5DB6}" type="pres">
      <dgm:prSet presAssocID="{FD4B7E34-6E57-4998-934A-C88BD77599CE}" presName="rect1" presStyleLbl="alignAcc1" presStyleIdx="0" presStyleCnt="1" custScaleX="100000" custLinFactNeighborX="6283"/>
      <dgm:spPr/>
      <dgm:t>
        <a:bodyPr/>
        <a:lstStyle/>
        <a:p>
          <a:endParaRPr lang="en-US"/>
        </a:p>
      </dgm:t>
    </dgm:pt>
    <dgm:pt modelId="{1D6A8937-8584-4BAC-BE54-194843FDC874}" type="pres">
      <dgm:prSet presAssocID="{FD4B7E34-6E57-4998-934A-C88BD77599CE}" presName="rect1ParTxNoCh" presStyleLbl="alignAcc1" presStyleIdx="0" presStyleCnt="1">
        <dgm:presLayoutVars>
          <dgm:chMax val="1"/>
          <dgm:bulletEnabled val="1"/>
        </dgm:presLayoutVars>
      </dgm:prSet>
      <dgm:spPr/>
      <dgm:t>
        <a:bodyPr/>
        <a:lstStyle/>
        <a:p>
          <a:endParaRPr lang="en-US"/>
        </a:p>
      </dgm:t>
    </dgm:pt>
  </dgm:ptLst>
  <dgm:cxnLst>
    <dgm:cxn modelId="{C0D1CF27-0B16-481B-B13E-4128D24657F0}" srcId="{7C64A35A-09E8-4F7C-958F-2EA4D280655B}" destId="{FD4B7E34-6E57-4998-934A-C88BD77599CE}" srcOrd="0" destOrd="0" parTransId="{6CF34B95-70D8-45CF-9E6F-BB1E05C45131}" sibTransId="{5B63F82C-6AA3-4CDD-B195-BB25F285A357}"/>
    <dgm:cxn modelId="{A9FFB9E5-B1F4-462D-A57B-DB863EF01AD8}" type="presOf" srcId="{7C64A35A-09E8-4F7C-958F-2EA4D280655B}" destId="{11C4B2FC-4EC8-4EFB-9064-DB4151CB302C}" srcOrd="0" destOrd="0" presId="urn:microsoft.com/office/officeart/2005/8/layout/target3"/>
    <dgm:cxn modelId="{DC04D1DD-98F6-4BF6-AB14-3B6B8E3EAEEE}" type="presOf" srcId="{FD4B7E34-6E57-4998-934A-C88BD77599CE}" destId="{1D6A8937-8584-4BAC-BE54-194843FDC874}" srcOrd="1" destOrd="0" presId="urn:microsoft.com/office/officeart/2005/8/layout/target3"/>
    <dgm:cxn modelId="{FD1FE9C8-EDC4-4358-B73F-D36344BD201D}" type="presOf" srcId="{FD4B7E34-6E57-4998-934A-C88BD77599CE}" destId="{23FD542A-F239-4BCC-A61E-51FE33CE5DB6}" srcOrd="0" destOrd="0" presId="urn:microsoft.com/office/officeart/2005/8/layout/target3"/>
    <dgm:cxn modelId="{DFA89381-7F34-4243-880C-2A08BC83BDD5}" type="presParOf" srcId="{11C4B2FC-4EC8-4EFB-9064-DB4151CB302C}" destId="{2FA4C183-203B-458B-B975-FEB04EC831A7}" srcOrd="0" destOrd="0" presId="urn:microsoft.com/office/officeart/2005/8/layout/target3"/>
    <dgm:cxn modelId="{C6F556D0-C2E9-422E-8B73-0B6DA9A01E5E}" type="presParOf" srcId="{11C4B2FC-4EC8-4EFB-9064-DB4151CB302C}" destId="{1E7A9308-3C39-459D-A0CB-CB47EBBA04D9}" srcOrd="1" destOrd="0" presId="urn:microsoft.com/office/officeart/2005/8/layout/target3"/>
    <dgm:cxn modelId="{F6B70159-AF63-4C2E-A3BF-E04ABD8167FD}" type="presParOf" srcId="{11C4B2FC-4EC8-4EFB-9064-DB4151CB302C}" destId="{23FD542A-F239-4BCC-A61E-51FE33CE5DB6}" srcOrd="2" destOrd="0" presId="urn:microsoft.com/office/officeart/2005/8/layout/target3"/>
    <dgm:cxn modelId="{F96B64B5-5EFA-48B7-AB07-2F30E331B261}" type="presParOf" srcId="{11C4B2FC-4EC8-4EFB-9064-DB4151CB302C}" destId="{1D6A8937-8584-4BAC-BE54-194843FDC874}" srcOrd="3" destOrd="0" presId="urn:microsoft.com/office/officeart/2005/8/layout/target3"/>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1C44CA-B8D1-4C16-A084-FFA1564BF272}" type="doc">
      <dgm:prSet loTypeId="urn:microsoft.com/office/officeart/2005/8/layout/target3" loCatId="relationship" qsTypeId="urn:microsoft.com/office/officeart/2005/8/quickstyle/simple1" qsCatId="simple" csTypeId="urn:microsoft.com/office/officeart/2005/8/colors/colorful5" csCatId="colorful" phldr="1"/>
      <dgm:spPr/>
      <dgm:t>
        <a:bodyPr/>
        <a:lstStyle/>
        <a:p>
          <a:endParaRPr lang="en-US"/>
        </a:p>
      </dgm:t>
    </dgm:pt>
    <dgm:pt modelId="{125D6887-64CB-4877-BD5E-BD9788A4491E}">
      <dgm:prSet/>
      <dgm:spPr>
        <a:solidFill>
          <a:schemeClr val="accent1">
            <a:lumMod val="75000"/>
          </a:schemeClr>
        </a:solidFill>
        <a:ln w="57150">
          <a:solidFill>
            <a:srgbClr val="FF00FF"/>
          </a:solidFill>
          <a:prstDash val="dash"/>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rtl="0"/>
          <a:r>
            <a:rPr lang="en-US" b="1" baseline="0" dirty="0" smtClean="0"/>
            <a:t>Diagram of normal &amp;amp; abnormal urinary flow</a:t>
          </a:r>
          <a:endParaRPr lang="en-US" b="1" baseline="0" dirty="0"/>
        </a:p>
      </dgm:t>
    </dgm:pt>
    <dgm:pt modelId="{33D637A3-09F1-41A2-BAF4-03D1D3419B58}" type="parTrans" cxnId="{90EEB9C9-9969-4B49-9D69-1DDB3A618179}">
      <dgm:prSet/>
      <dgm:spPr/>
      <dgm:t>
        <a:bodyPr/>
        <a:lstStyle/>
        <a:p>
          <a:endParaRPr lang="en-US"/>
        </a:p>
      </dgm:t>
    </dgm:pt>
    <dgm:pt modelId="{BCDB1A97-0236-40C8-96C3-E13CEA0DDD2E}" type="sibTrans" cxnId="{90EEB9C9-9969-4B49-9D69-1DDB3A618179}">
      <dgm:prSet/>
      <dgm:spPr/>
      <dgm:t>
        <a:bodyPr/>
        <a:lstStyle/>
        <a:p>
          <a:endParaRPr lang="en-US"/>
        </a:p>
      </dgm:t>
    </dgm:pt>
    <dgm:pt modelId="{F40F9308-D7BF-4272-9A2F-DCA8046BE588}" type="pres">
      <dgm:prSet presAssocID="{D11C44CA-B8D1-4C16-A084-FFA1564BF272}" presName="Name0" presStyleCnt="0">
        <dgm:presLayoutVars>
          <dgm:chMax val="7"/>
          <dgm:dir/>
          <dgm:animLvl val="lvl"/>
          <dgm:resizeHandles val="exact"/>
        </dgm:presLayoutVars>
      </dgm:prSet>
      <dgm:spPr/>
      <dgm:t>
        <a:bodyPr/>
        <a:lstStyle/>
        <a:p>
          <a:endParaRPr lang="en-US"/>
        </a:p>
      </dgm:t>
    </dgm:pt>
    <dgm:pt modelId="{E9BA4049-D292-4B1A-ACF2-549CC7DD58F2}" type="pres">
      <dgm:prSet presAssocID="{125D6887-64CB-4877-BD5E-BD9788A4491E}" presName="circle1" presStyleLbl="node1" presStyleIdx="0" presStyleCnt="1"/>
      <dgm:spPr/>
    </dgm:pt>
    <dgm:pt modelId="{6CC7C16E-535D-42B6-B3B7-3925F870D788}" type="pres">
      <dgm:prSet presAssocID="{125D6887-64CB-4877-BD5E-BD9788A4491E}" presName="space" presStyleCnt="0"/>
      <dgm:spPr/>
    </dgm:pt>
    <dgm:pt modelId="{02080B1F-B05B-4F36-ACC7-A417CCC8ABBE}" type="pres">
      <dgm:prSet presAssocID="{125D6887-64CB-4877-BD5E-BD9788A4491E}" presName="rect1" presStyleLbl="alignAcc1" presStyleIdx="0" presStyleCnt="1"/>
      <dgm:spPr/>
      <dgm:t>
        <a:bodyPr/>
        <a:lstStyle/>
        <a:p>
          <a:endParaRPr lang="en-US"/>
        </a:p>
      </dgm:t>
    </dgm:pt>
    <dgm:pt modelId="{67C711A9-3097-4E6A-B084-D3E33FA4CDF1}" type="pres">
      <dgm:prSet presAssocID="{125D6887-64CB-4877-BD5E-BD9788A4491E}" presName="rect1ParTxNoCh" presStyleLbl="alignAcc1" presStyleIdx="0" presStyleCnt="1">
        <dgm:presLayoutVars>
          <dgm:chMax val="1"/>
          <dgm:bulletEnabled val="1"/>
        </dgm:presLayoutVars>
      </dgm:prSet>
      <dgm:spPr/>
      <dgm:t>
        <a:bodyPr/>
        <a:lstStyle/>
        <a:p>
          <a:endParaRPr lang="en-US"/>
        </a:p>
      </dgm:t>
    </dgm:pt>
  </dgm:ptLst>
  <dgm:cxnLst>
    <dgm:cxn modelId="{90EEB9C9-9969-4B49-9D69-1DDB3A618179}" srcId="{D11C44CA-B8D1-4C16-A084-FFA1564BF272}" destId="{125D6887-64CB-4877-BD5E-BD9788A4491E}" srcOrd="0" destOrd="0" parTransId="{33D637A3-09F1-41A2-BAF4-03D1D3419B58}" sibTransId="{BCDB1A97-0236-40C8-96C3-E13CEA0DDD2E}"/>
    <dgm:cxn modelId="{0FB40BCD-8257-4156-B715-425D0CAD0308}" type="presOf" srcId="{125D6887-64CB-4877-BD5E-BD9788A4491E}" destId="{02080B1F-B05B-4F36-ACC7-A417CCC8ABBE}" srcOrd="0" destOrd="0" presId="urn:microsoft.com/office/officeart/2005/8/layout/target3"/>
    <dgm:cxn modelId="{9F5FA959-FDA3-4224-843E-828322A396F3}" type="presOf" srcId="{D11C44CA-B8D1-4C16-A084-FFA1564BF272}" destId="{F40F9308-D7BF-4272-9A2F-DCA8046BE588}" srcOrd="0" destOrd="0" presId="urn:microsoft.com/office/officeart/2005/8/layout/target3"/>
    <dgm:cxn modelId="{7114E1D9-3C59-4C83-8FBD-719E7CEE6B85}" type="presOf" srcId="{125D6887-64CB-4877-BD5E-BD9788A4491E}" destId="{67C711A9-3097-4E6A-B084-D3E33FA4CDF1}" srcOrd="1" destOrd="0" presId="urn:microsoft.com/office/officeart/2005/8/layout/target3"/>
    <dgm:cxn modelId="{80D47BB9-7FEA-411F-ADFA-EC15D72A2BF4}" type="presParOf" srcId="{F40F9308-D7BF-4272-9A2F-DCA8046BE588}" destId="{E9BA4049-D292-4B1A-ACF2-549CC7DD58F2}" srcOrd="0" destOrd="0" presId="urn:microsoft.com/office/officeart/2005/8/layout/target3"/>
    <dgm:cxn modelId="{C3EFA26C-85E2-40DB-BA1B-1B390DF2E7EE}" type="presParOf" srcId="{F40F9308-D7BF-4272-9A2F-DCA8046BE588}" destId="{6CC7C16E-535D-42B6-B3B7-3925F870D788}" srcOrd="1" destOrd="0" presId="urn:microsoft.com/office/officeart/2005/8/layout/target3"/>
    <dgm:cxn modelId="{417A839E-9492-49EB-9938-334EFF195DC6}" type="presParOf" srcId="{F40F9308-D7BF-4272-9A2F-DCA8046BE588}" destId="{02080B1F-B05B-4F36-ACC7-A417CCC8ABBE}" srcOrd="2" destOrd="0" presId="urn:microsoft.com/office/officeart/2005/8/layout/target3"/>
    <dgm:cxn modelId="{87B45EBD-39A5-4AA7-BA2C-0D08CEE0B9E0}" type="presParOf" srcId="{F40F9308-D7BF-4272-9A2F-DCA8046BE588}" destId="{67C711A9-3097-4E6A-B084-D3E33FA4CDF1}" srcOrd="3" destOrd="0" presId="urn:microsoft.com/office/officeart/2005/8/layout/target3"/>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439BE8-A57E-4943-8FF3-8484206823AB}"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en-US"/>
        </a:p>
      </dgm:t>
    </dgm:pt>
    <dgm:pt modelId="{E651B9B7-AB8C-4C81-BCD9-B73E7C421E16}">
      <dgm:prSet custT="1"/>
      <dgm:spPr>
        <a:ln w="57150">
          <a:solidFill>
            <a:srgbClr val="FF00FF"/>
          </a:solidFill>
          <a:prstDash val="lgDashDotDot"/>
        </a:ln>
      </dgm:spPr>
      <dgm:t>
        <a:bodyP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rtl="0"/>
          <a:r>
            <a:rPr lang="en-US" sz="8000" b="1" cap="none" spc="0" baseline="0" dirty="0" smtClean="0">
              <a:ln w="11430"/>
              <a:solidFill>
                <a:srgbClr val="00B050"/>
              </a:solidFill>
              <a:effectLst>
                <a:outerShdw blurRad="50800" dist="39000" dir="5460000" algn="tl">
                  <a:srgbClr val="000000">
                    <a:alpha val="38000"/>
                  </a:srgbClr>
                </a:outerShdw>
              </a:effectLst>
            </a:rPr>
            <a:t>Description</a:t>
          </a:r>
          <a:endParaRPr lang="en-US" sz="8000" b="1" cap="none" spc="0" baseline="0" dirty="0">
            <a:ln w="11430"/>
            <a:solidFill>
              <a:srgbClr val="00B050"/>
            </a:solidFill>
            <a:effectLst>
              <a:outerShdw blurRad="50800" dist="39000" dir="5460000" algn="tl">
                <a:srgbClr val="000000">
                  <a:alpha val="38000"/>
                </a:srgbClr>
              </a:outerShdw>
            </a:effectLst>
          </a:endParaRPr>
        </a:p>
      </dgm:t>
    </dgm:pt>
    <dgm:pt modelId="{6B2A14DD-D6B9-489B-8D14-EE27E04D7DC9}" type="parTrans" cxnId="{703EF3FD-B93C-4717-BAA0-06FFFCF2020B}">
      <dgm:prSet/>
      <dgm:spPr/>
      <dgm:t>
        <a:bodyPr/>
        <a:lstStyle/>
        <a:p>
          <a:endParaRPr lang="en-US"/>
        </a:p>
      </dgm:t>
    </dgm:pt>
    <dgm:pt modelId="{1900CE59-E20E-41A2-A248-98B8F6EFDC10}" type="sibTrans" cxnId="{703EF3FD-B93C-4717-BAA0-06FFFCF2020B}">
      <dgm:prSet/>
      <dgm:spPr/>
      <dgm:t>
        <a:bodyPr/>
        <a:lstStyle/>
        <a:p>
          <a:endParaRPr lang="en-US"/>
        </a:p>
      </dgm:t>
    </dgm:pt>
    <dgm:pt modelId="{A015B784-1B67-4727-9CA4-057C1EAF9312}" type="pres">
      <dgm:prSet presAssocID="{96439BE8-A57E-4943-8FF3-8484206823AB}" presName="linear" presStyleCnt="0">
        <dgm:presLayoutVars>
          <dgm:animLvl val="lvl"/>
          <dgm:resizeHandles val="exact"/>
        </dgm:presLayoutVars>
      </dgm:prSet>
      <dgm:spPr/>
      <dgm:t>
        <a:bodyPr/>
        <a:lstStyle/>
        <a:p>
          <a:endParaRPr lang="en-US"/>
        </a:p>
      </dgm:t>
    </dgm:pt>
    <dgm:pt modelId="{64A55C1C-5878-4404-B96A-B6FC2D971509}" type="pres">
      <dgm:prSet presAssocID="{E651B9B7-AB8C-4C81-BCD9-B73E7C421E16}" presName="parentText" presStyleLbl="node1" presStyleIdx="0" presStyleCnt="1">
        <dgm:presLayoutVars>
          <dgm:chMax val="0"/>
          <dgm:bulletEnabled val="1"/>
        </dgm:presLayoutVars>
      </dgm:prSet>
      <dgm:spPr/>
      <dgm:t>
        <a:bodyPr/>
        <a:lstStyle/>
        <a:p>
          <a:endParaRPr lang="en-US"/>
        </a:p>
      </dgm:t>
    </dgm:pt>
  </dgm:ptLst>
  <dgm:cxnLst>
    <dgm:cxn modelId="{DD42BF85-0303-4B67-997C-B40A6B6C9621}" type="presOf" srcId="{E651B9B7-AB8C-4C81-BCD9-B73E7C421E16}" destId="{64A55C1C-5878-4404-B96A-B6FC2D971509}" srcOrd="0" destOrd="0" presId="urn:microsoft.com/office/officeart/2005/8/layout/vList2"/>
    <dgm:cxn modelId="{7F6F9AAD-FE1C-451E-895A-26EA107BA598}" type="presOf" srcId="{96439BE8-A57E-4943-8FF3-8484206823AB}" destId="{A015B784-1B67-4727-9CA4-057C1EAF9312}" srcOrd="0" destOrd="0" presId="urn:microsoft.com/office/officeart/2005/8/layout/vList2"/>
    <dgm:cxn modelId="{703EF3FD-B93C-4717-BAA0-06FFFCF2020B}" srcId="{96439BE8-A57E-4943-8FF3-8484206823AB}" destId="{E651B9B7-AB8C-4C81-BCD9-B73E7C421E16}" srcOrd="0" destOrd="0" parTransId="{6B2A14DD-D6B9-489B-8D14-EE27E04D7DC9}" sibTransId="{1900CE59-E20E-41A2-A248-98B8F6EFDC10}"/>
    <dgm:cxn modelId="{CDE266AE-D9A0-4FDF-8B52-DB4C59772295}" type="presParOf" srcId="{A015B784-1B67-4727-9CA4-057C1EAF9312}" destId="{64A55C1C-5878-4404-B96A-B6FC2D971509}" srcOrd="0" destOrd="0" presId="urn:microsoft.com/office/officeart/2005/8/layout/vList2"/>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F0E769-F7E6-444C-BFAC-ACB90DF71A7E}"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5A240631-3EC1-42A3-ACB8-8F421EF4B8F9}">
      <dgm:prSet/>
      <dgm:spPr>
        <a:solidFill>
          <a:schemeClr val="accent1"/>
        </a:solidFill>
        <a:ln>
          <a:solidFill>
            <a:srgbClr val="FF00FF"/>
          </a:solidFill>
          <a:prstDash val="lgDashDotDot"/>
        </a:ln>
        <a:scene3d>
          <a:camera prst="orthographicFront"/>
          <a:lightRig rig="threePt" dir="t"/>
        </a:scene3d>
        <a:sp3d>
          <a:bevelT w="114300" prst="artDeco"/>
        </a:sp3d>
      </dgm:spPr>
      <dgm:t>
        <a:bodyPr/>
        <a:lstStyle/>
        <a:p>
          <a:pPr algn="ctr" rtl="0"/>
          <a:r>
            <a:rPr lang="en-US" b="1" baseline="0" dirty="0" smtClean="0">
              <a:solidFill>
                <a:srgbClr val="FFFF00"/>
              </a:solidFill>
            </a:rPr>
            <a:t>Predisposing  factors</a:t>
          </a:r>
          <a:endParaRPr lang="en-US" b="1" baseline="0" dirty="0">
            <a:solidFill>
              <a:srgbClr val="FFFF00"/>
            </a:solidFill>
          </a:endParaRPr>
        </a:p>
      </dgm:t>
    </dgm:pt>
    <dgm:pt modelId="{3D223C0D-725F-4AAD-8022-4EE4BBEEF510}" type="parTrans" cxnId="{840C3406-608A-4023-9A7A-89695B717FDD}">
      <dgm:prSet/>
      <dgm:spPr/>
      <dgm:t>
        <a:bodyPr/>
        <a:lstStyle/>
        <a:p>
          <a:endParaRPr lang="en-US">
            <a:solidFill>
              <a:srgbClr val="FFFF00"/>
            </a:solidFill>
          </a:endParaRPr>
        </a:p>
      </dgm:t>
    </dgm:pt>
    <dgm:pt modelId="{E07F2DC0-1C18-4BA6-BA59-FF858BCFF5C1}" type="sibTrans" cxnId="{840C3406-608A-4023-9A7A-89695B717FDD}">
      <dgm:prSet/>
      <dgm:spPr/>
      <dgm:t>
        <a:bodyPr/>
        <a:lstStyle/>
        <a:p>
          <a:endParaRPr lang="en-US">
            <a:solidFill>
              <a:srgbClr val="FFFF00"/>
            </a:solidFill>
          </a:endParaRPr>
        </a:p>
      </dgm:t>
    </dgm:pt>
    <dgm:pt modelId="{260C9ABD-7EF6-4C90-9651-C6D2D3DFBD5A}" type="pres">
      <dgm:prSet presAssocID="{74F0E769-F7E6-444C-BFAC-ACB90DF71A7E}" presName="linear" presStyleCnt="0">
        <dgm:presLayoutVars>
          <dgm:animLvl val="lvl"/>
          <dgm:resizeHandles val="exact"/>
        </dgm:presLayoutVars>
      </dgm:prSet>
      <dgm:spPr/>
      <dgm:t>
        <a:bodyPr/>
        <a:lstStyle/>
        <a:p>
          <a:endParaRPr lang="en-US"/>
        </a:p>
      </dgm:t>
    </dgm:pt>
    <dgm:pt modelId="{648371A8-0147-437E-BA97-0B8C1253C925}" type="pres">
      <dgm:prSet presAssocID="{5A240631-3EC1-42A3-ACB8-8F421EF4B8F9}" presName="parentText" presStyleLbl="node1" presStyleIdx="0" presStyleCnt="1">
        <dgm:presLayoutVars>
          <dgm:chMax val="0"/>
          <dgm:bulletEnabled val="1"/>
        </dgm:presLayoutVars>
      </dgm:prSet>
      <dgm:spPr/>
      <dgm:t>
        <a:bodyPr/>
        <a:lstStyle/>
        <a:p>
          <a:endParaRPr lang="en-US"/>
        </a:p>
      </dgm:t>
    </dgm:pt>
  </dgm:ptLst>
  <dgm:cxnLst>
    <dgm:cxn modelId="{7476CF91-215A-416C-988B-4B11EE5C3A5E}" type="presOf" srcId="{5A240631-3EC1-42A3-ACB8-8F421EF4B8F9}" destId="{648371A8-0147-437E-BA97-0B8C1253C925}" srcOrd="0" destOrd="0" presId="urn:microsoft.com/office/officeart/2005/8/layout/vList2"/>
    <dgm:cxn modelId="{840C3406-608A-4023-9A7A-89695B717FDD}" srcId="{74F0E769-F7E6-444C-BFAC-ACB90DF71A7E}" destId="{5A240631-3EC1-42A3-ACB8-8F421EF4B8F9}" srcOrd="0" destOrd="0" parTransId="{3D223C0D-725F-4AAD-8022-4EE4BBEEF510}" sibTransId="{E07F2DC0-1C18-4BA6-BA59-FF858BCFF5C1}"/>
    <dgm:cxn modelId="{3E8A4EAF-8FED-4B3D-8E65-274FF84D2704}" type="presOf" srcId="{74F0E769-F7E6-444C-BFAC-ACB90DF71A7E}" destId="{260C9ABD-7EF6-4C90-9651-C6D2D3DFBD5A}" srcOrd="0" destOrd="0" presId="urn:microsoft.com/office/officeart/2005/8/layout/vList2"/>
    <dgm:cxn modelId="{A3876E42-C208-4666-AD8B-B8B84AC222FF}" type="presParOf" srcId="{260C9ABD-7EF6-4C90-9651-C6D2D3DFBD5A}" destId="{648371A8-0147-437E-BA97-0B8C1253C925}" srcOrd="0" destOrd="0" presId="urn:microsoft.com/office/officeart/2005/8/layout/vList2"/>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AFE1F0-CF0B-41D3-9DD0-F322597FA7FD}" type="doc">
      <dgm:prSet loTypeId="urn:microsoft.com/office/officeart/2005/8/layout/vList2" loCatId="list" qsTypeId="urn:microsoft.com/office/officeart/2005/8/quickstyle/3d2" qsCatId="3D" csTypeId="urn:microsoft.com/office/officeart/2005/8/colors/accent1_2" csCatId="accent1"/>
      <dgm:spPr/>
      <dgm:t>
        <a:bodyPr/>
        <a:lstStyle/>
        <a:p>
          <a:endParaRPr lang="en-US"/>
        </a:p>
      </dgm:t>
    </dgm:pt>
    <dgm:pt modelId="{C32C0A71-D863-4818-A13D-78D59EE86393}">
      <dgm:prSet custT="1"/>
      <dgm:spPr/>
      <dgm:t>
        <a:bodyPr/>
        <a:lstStyle/>
        <a:p>
          <a:pPr algn="ctr" rtl="0"/>
          <a:r>
            <a:rPr lang="en-US" sz="3600" b="1" cap="none" spc="0" baseline="0" dirty="0" smtClean="0">
              <a:ln w="19050">
                <a:solidFill>
                  <a:schemeClr val="tx2">
                    <a:tint val="1000"/>
                  </a:schemeClr>
                </a:solidFill>
                <a:prstDash val="solid"/>
              </a:ln>
              <a:solidFill>
                <a:srgbClr val="FFFF00"/>
              </a:solidFill>
              <a:effectLst>
                <a:outerShdw blurRad="50000" dist="50800" dir="7500000" algn="tl">
                  <a:srgbClr val="000000">
                    <a:shade val="5000"/>
                    <a:alpha val="35000"/>
                  </a:srgbClr>
                </a:outerShdw>
              </a:effectLst>
            </a:rPr>
            <a:t>Diagnostic  factors</a:t>
          </a:r>
          <a:br>
            <a:rPr lang="en-US" sz="3600" b="1" cap="none" spc="0" baseline="0" dirty="0" smtClean="0">
              <a:ln w="19050">
                <a:solidFill>
                  <a:schemeClr val="tx2">
                    <a:tint val="1000"/>
                  </a:schemeClr>
                </a:solidFill>
                <a:prstDash val="solid"/>
              </a:ln>
              <a:solidFill>
                <a:srgbClr val="FFFF00"/>
              </a:solidFill>
              <a:effectLst>
                <a:outerShdw blurRad="50000" dist="50800" dir="7500000" algn="tl">
                  <a:srgbClr val="000000">
                    <a:shade val="5000"/>
                    <a:alpha val="35000"/>
                  </a:srgbClr>
                </a:outerShdw>
              </a:effectLst>
            </a:rPr>
          </a:br>
          <a:endParaRPr lang="en-US" sz="3600" b="1" cap="none" spc="0" baseline="0" dirty="0">
            <a:ln w="19050">
              <a:solidFill>
                <a:schemeClr val="tx2">
                  <a:tint val="1000"/>
                </a:schemeClr>
              </a:solidFill>
              <a:prstDash val="solid"/>
            </a:ln>
            <a:solidFill>
              <a:srgbClr val="FFFF00"/>
            </a:solidFill>
            <a:effectLst>
              <a:outerShdw blurRad="50000" dist="50800" dir="7500000" algn="tl">
                <a:srgbClr val="000000">
                  <a:shade val="5000"/>
                  <a:alpha val="35000"/>
                </a:srgbClr>
              </a:outerShdw>
            </a:effectLst>
          </a:endParaRPr>
        </a:p>
      </dgm:t>
    </dgm:pt>
    <dgm:pt modelId="{ECEE0342-A2B4-43BA-A33C-E55D2A165C30}" type="parTrans" cxnId="{0BBA8C68-65D6-4551-A087-9477648E0C80}">
      <dgm:prSet/>
      <dgm:spPr/>
      <dgm:t>
        <a:bodyPr/>
        <a:lstStyle/>
        <a:p>
          <a:endParaRPr lang="en-US">
            <a:solidFill>
              <a:srgbClr val="FFFF00"/>
            </a:solidFill>
          </a:endParaRPr>
        </a:p>
      </dgm:t>
    </dgm:pt>
    <dgm:pt modelId="{5A754AAE-B37E-4610-BF34-0C49E17D71A3}" type="sibTrans" cxnId="{0BBA8C68-65D6-4551-A087-9477648E0C80}">
      <dgm:prSet/>
      <dgm:spPr/>
      <dgm:t>
        <a:bodyPr/>
        <a:lstStyle/>
        <a:p>
          <a:endParaRPr lang="en-US">
            <a:solidFill>
              <a:srgbClr val="FFFF00"/>
            </a:solidFill>
          </a:endParaRPr>
        </a:p>
      </dgm:t>
    </dgm:pt>
    <dgm:pt modelId="{124C2C1D-0E5E-4A74-A653-3DCB65CAB4F1}" type="pres">
      <dgm:prSet presAssocID="{D8AFE1F0-CF0B-41D3-9DD0-F322597FA7FD}" presName="linear" presStyleCnt="0">
        <dgm:presLayoutVars>
          <dgm:animLvl val="lvl"/>
          <dgm:resizeHandles val="exact"/>
        </dgm:presLayoutVars>
      </dgm:prSet>
      <dgm:spPr/>
      <dgm:t>
        <a:bodyPr/>
        <a:lstStyle/>
        <a:p>
          <a:endParaRPr lang="en-US"/>
        </a:p>
      </dgm:t>
    </dgm:pt>
    <dgm:pt modelId="{C452A06B-61B7-4151-B733-6AC9D69F9F6C}" type="pres">
      <dgm:prSet presAssocID="{C32C0A71-D863-4818-A13D-78D59EE86393}" presName="parentText" presStyleLbl="node1" presStyleIdx="0" presStyleCnt="1" custLinFactNeighborY="-24085">
        <dgm:presLayoutVars>
          <dgm:chMax val="0"/>
          <dgm:bulletEnabled val="1"/>
        </dgm:presLayoutVars>
      </dgm:prSet>
      <dgm:spPr/>
      <dgm:t>
        <a:bodyPr/>
        <a:lstStyle/>
        <a:p>
          <a:endParaRPr lang="en-US"/>
        </a:p>
      </dgm:t>
    </dgm:pt>
  </dgm:ptLst>
  <dgm:cxnLst>
    <dgm:cxn modelId="{406ED8F5-DFB2-44E9-BEB3-B1119387E33E}" type="presOf" srcId="{D8AFE1F0-CF0B-41D3-9DD0-F322597FA7FD}" destId="{124C2C1D-0E5E-4A74-A653-3DCB65CAB4F1}" srcOrd="0" destOrd="0" presId="urn:microsoft.com/office/officeart/2005/8/layout/vList2"/>
    <dgm:cxn modelId="{0BBA8C68-65D6-4551-A087-9477648E0C80}" srcId="{D8AFE1F0-CF0B-41D3-9DD0-F322597FA7FD}" destId="{C32C0A71-D863-4818-A13D-78D59EE86393}" srcOrd="0" destOrd="0" parTransId="{ECEE0342-A2B4-43BA-A33C-E55D2A165C30}" sibTransId="{5A754AAE-B37E-4610-BF34-0C49E17D71A3}"/>
    <dgm:cxn modelId="{4EF46C17-360A-4EAD-AF17-D732B68047CE}" type="presOf" srcId="{C32C0A71-D863-4818-A13D-78D59EE86393}" destId="{C452A06B-61B7-4151-B733-6AC9D69F9F6C}" srcOrd="0" destOrd="0" presId="urn:microsoft.com/office/officeart/2005/8/layout/vList2"/>
    <dgm:cxn modelId="{F739AA56-476E-4F2C-AE79-04933D59726B}" type="presParOf" srcId="{124C2C1D-0E5E-4A74-A653-3DCB65CAB4F1}" destId="{C452A06B-61B7-4151-B733-6AC9D69F9F6C}" srcOrd="0" destOrd="0" presId="urn:microsoft.com/office/officeart/2005/8/layout/vList2"/>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4B2048-CA7C-4940-8C87-E69E898B995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5ACFCF95-BF46-4FDD-B29A-D7025D709B77}">
      <dgm:prSet/>
      <dgm:spPr>
        <a:ln w="76200">
          <a:solidFill>
            <a:srgbClr val="FF00FF"/>
          </a:solidFill>
        </a:ln>
        <a:scene3d>
          <a:camera prst="orthographicFront"/>
          <a:lightRig rig="threePt" dir="t"/>
        </a:scene3d>
        <a:sp3d>
          <a:bevelT w="165100" prst="coolSlant"/>
        </a:sp3d>
      </dgm:spPr>
      <dgm:t>
        <a:bodyPr/>
        <a:lstStyle/>
        <a:p>
          <a:pPr rtl="0"/>
          <a:r>
            <a:rPr lang="en-US" b="1" baseline="0" dirty="0" smtClean="0">
              <a:solidFill>
                <a:srgbClr val="FFFF00"/>
              </a:solidFill>
            </a:rPr>
            <a:t>Specific  Management</a:t>
          </a:r>
          <a:endParaRPr lang="en-US" b="1" baseline="0" dirty="0">
            <a:solidFill>
              <a:srgbClr val="FFFF00"/>
            </a:solidFill>
          </a:endParaRPr>
        </a:p>
      </dgm:t>
    </dgm:pt>
    <dgm:pt modelId="{876CD314-C4D6-4AF4-937E-9DD434A4EA89}" type="parTrans" cxnId="{759A5846-4235-4CDC-8959-FD48856C3619}">
      <dgm:prSet/>
      <dgm:spPr/>
      <dgm:t>
        <a:bodyPr/>
        <a:lstStyle/>
        <a:p>
          <a:endParaRPr lang="en-US"/>
        </a:p>
      </dgm:t>
    </dgm:pt>
    <dgm:pt modelId="{26DA8943-955D-46C7-9BA4-9576C29527F9}" type="sibTrans" cxnId="{759A5846-4235-4CDC-8959-FD48856C3619}">
      <dgm:prSet/>
      <dgm:spPr/>
      <dgm:t>
        <a:bodyPr/>
        <a:lstStyle/>
        <a:p>
          <a:endParaRPr lang="en-US"/>
        </a:p>
      </dgm:t>
    </dgm:pt>
    <dgm:pt modelId="{8CB35BB7-82B7-4449-812C-8457BFB85025}" type="pres">
      <dgm:prSet presAssocID="{E64B2048-CA7C-4940-8C87-E69E898B9958}" presName="Name0" presStyleCnt="0">
        <dgm:presLayoutVars>
          <dgm:dir/>
          <dgm:animLvl val="lvl"/>
          <dgm:resizeHandles val="exact"/>
        </dgm:presLayoutVars>
      </dgm:prSet>
      <dgm:spPr/>
      <dgm:t>
        <a:bodyPr/>
        <a:lstStyle/>
        <a:p>
          <a:endParaRPr lang="en-US"/>
        </a:p>
      </dgm:t>
    </dgm:pt>
    <dgm:pt modelId="{742FA0B9-4B9C-4421-BF67-4A3CE1FD2A2B}" type="pres">
      <dgm:prSet presAssocID="{5ACFCF95-BF46-4FDD-B29A-D7025D709B77}" presName="linNode" presStyleCnt="0"/>
      <dgm:spPr/>
    </dgm:pt>
    <dgm:pt modelId="{990AF01A-D297-4EE7-B6CE-582A9900F668}" type="pres">
      <dgm:prSet presAssocID="{5ACFCF95-BF46-4FDD-B29A-D7025D709B77}" presName="parentText" presStyleLbl="node1" presStyleIdx="0" presStyleCnt="1" custScaleX="257202">
        <dgm:presLayoutVars>
          <dgm:chMax val="1"/>
          <dgm:bulletEnabled val="1"/>
        </dgm:presLayoutVars>
      </dgm:prSet>
      <dgm:spPr/>
      <dgm:t>
        <a:bodyPr/>
        <a:lstStyle/>
        <a:p>
          <a:endParaRPr lang="en-US"/>
        </a:p>
      </dgm:t>
    </dgm:pt>
  </dgm:ptLst>
  <dgm:cxnLst>
    <dgm:cxn modelId="{759A5846-4235-4CDC-8959-FD48856C3619}" srcId="{E64B2048-CA7C-4940-8C87-E69E898B9958}" destId="{5ACFCF95-BF46-4FDD-B29A-D7025D709B77}" srcOrd="0" destOrd="0" parTransId="{876CD314-C4D6-4AF4-937E-9DD434A4EA89}" sibTransId="{26DA8943-955D-46C7-9BA4-9576C29527F9}"/>
    <dgm:cxn modelId="{3F8BA556-7623-422C-B56E-171704A6BE33}" type="presOf" srcId="{E64B2048-CA7C-4940-8C87-E69E898B9958}" destId="{8CB35BB7-82B7-4449-812C-8457BFB85025}" srcOrd="0" destOrd="0" presId="urn:microsoft.com/office/officeart/2005/8/layout/vList5"/>
    <dgm:cxn modelId="{EBD4B97C-1A59-4164-88B5-C187D6ED23C2}" type="presOf" srcId="{5ACFCF95-BF46-4FDD-B29A-D7025D709B77}" destId="{990AF01A-D297-4EE7-B6CE-582A9900F668}" srcOrd="0" destOrd="0" presId="urn:microsoft.com/office/officeart/2005/8/layout/vList5"/>
    <dgm:cxn modelId="{7EE7DB30-83C2-4A97-A151-A2747C8C70D2}" type="presParOf" srcId="{8CB35BB7-82B7-4449-812C-8457BFB85025}" destId="{742FA0B9-4B9C-4421-BF67-4A3CE1FD2A2B}" srcOrd="0" destOrd="0" presId="urn:microsoft.com/office/officeart/2005/8/layout/vList5"/>
    <dgm:cxn modelId="{BC12F265-7715-44F9-810D-5EE7FC323B31}" type="presParOf" srcId="{742FA0B9-4B9C-4421-BF67-4A3CE1FD2A2B}" destId="{990AF01A-D297-4EE7-B6CE-582A9900F668}" srcOrd="0" destOrd="0" presId="urn:microsoft.com/office/officeart/2005/8/layout/vList5"/>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9C93628-1B37-4237-A5D6-74E650FBB494}" type="doc">
      <dgm:prSet loTypeId="urn:microsoft.com/office/officeart/2005/8/layout/vList5" loCatId="list" qsTypeId="urn:microsoft.com/office/officeart/2005/8/quickstyle/simple1" qsCatId="simple" csTypeId="urn:microsoft.com/office/officeart/2005/8/colors/colorful2" csCatId="colorful" phldr="1"/>
      <dgm:spPr>
        <a:scene3d>
          <a:camera prst="perspectiveFront" fov="3300000">
            <a:rot lat="486000" lon="19530000" rev="174000"/>
          </a:camera>
          <a:lightRig rig="harsh" dir="t">
            <a:rot lat="0" lon="0" rev="3000000"/>
          </a:lightRig>
        </a:scene3d>
      </dgm:spPr>
      <dgm:t>
        <a:bodyPr/>
        <a:lstStyle/>
        <a:p>
          <a:endParaRPr lang="en-US"/>
        </a:p>
      </dgm:t>
    </dgm:pt>
    <dgm:pt modelId="{C54ABA36-D625-4E1B-A0EB-66C368FBEC3E}">
      <dgm:prSet custT="1"/>
      <dgm:spPr>
        <a:solidFill>
          <a:srgbClr val="00B0F0"/>
        </a:solidFill>
        <a:ln>
          <a:noFill/>
          <a:prstDash val="lgDashDotDot"/>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t>
        <a:bodyPr/>
        <a:lstStyle/>
        <a:p>
          <a:pPr rtl="0"/>
          <a:r>
            <a:rPr lang="en-US" sz="5400" b="1" dirty="0" smtClean="0">
              <a:solidFill>
                <a:srgbClr val="FFFF00"/>
              </a:solidFill>
              <a:effectLst>
                <a:outerShdw blurRad="38100" dist="38100" dir="2700000" algn="tl">
                  <a:srgbClr val="000000">
                    <a:alpha val="43137"/>
                  </a:srgbClr>
                </a:outerShdw>
              </a:effectLst>
              <a:latin typeface="Stencil" pitchFamily="82" charset="0"/>
            </a:rPr>
            <a:t>ABNORMAL  UTERINE  ACTION</a:t>
          </a:r>
          <a:endParaRPr lang="en-US" sz="5400" b="1" dirty="0">
            <a:solidFill>
              <a:srgbClr val="FFFF00"/>
            </a:solidFill>
            <a:effectLst>
              <a:outerShdw blurRad="38100" dist="38100" dir="2700000" algn="tl">
                <a:srgbClr val="000000">
                  <a:alpha val="43137"/>
                </a:srgbClr>
              </a:outerShdw>
            </a:effectLst>
            <a:latin typeface="Stencil" pitchFamily="82" charset="0"/>
          </a:endParaRPr>
        </a:p>
      </dgm:t>
    </dgm:pt>
    <dgm:pt modelId="{D8F4628A-1EC5-48DC-B9FB-4E245B39933C}" type="parTrans" cxnId="{805EEABF-DF16-4CD4-B5B6-1A1B7FFC4A6A}">
      <dgm:prSet/>
      <dgm:spPr/>
      <dgm:t>
        <a:bodyPr/>
        <a:lstStyle/>
        <a:p>
          <a:endParaRPr lang="en-US"/>
        </a:p>
      </dgm:t>
    </dgm:pt>
    <dgm:pt modelId="{ACE0C17C-FDF7-42B3-AC56-93329855FBDE}" type="sibTrans" cxnId="{805EEABF-DF16-4CD4-B5B6-1A1B7FFC4A6A}">
      <dgm:prSet/>
      <dgm:spPr/>
      <dgm:t>
        <a:bodyPr/>
        <a:lstStyle/>
        <a:p>
          <a:endParaRPr lang="en-US"/>
        </a:p>
      </dgm:t>
    </dgm:pt>
    <dgm:pt modelId="{273BE06C-81ED-4502-B016-D12378F77DC6}" type="pres">
      <dgm:prSet presAssocID="{E9C93628-1B37-4237-A5D6-74E650FBB494}" presName="Name0" presStyleCnt="0">
        <dgm:presLayoutVars>
          <dgm:dir/>
          <dgm:animLvl val="lvl"/>
          <dgm:resizeHandles val="exact"/>
        </dgm:presLayoutVars>
      </dgm:prSet>
      <dgm:spPr/>
      <dgm:t>
        <a:bodyPr/>
        <a:lstStyle/>
        <a:p>
          <a:endParaRPr lang="en-US"/>
        </a:p>
      </dgm:t>
    </dgm:pt>
    <dgm:pt modelId="{6B96DBCE-1E83-45A3-A596-F0BE8074E6D6}" type="pres">
      <dgm:prSet presAssocID="{C54ABA36-D625-4E1B-A0EB-66C368FBEC3E}" presName="linNode" presStyleCnt="0"/>
      <dgm:spPr>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t>
        <a:bodyPr/>
        <a:lstStyle/>
        <a:p>
          <a:endParaRPr lang="en-US"/>
        </a:p>
      </dgm:t>
    </dgm:pt>
    <dgm:pt modelId="{4F44254E-3332-40FE-B6E6-1EFF2EEDE7F4}" type="pres">
      <dgm:prSet presAssocID="{C54ABA36-D625-4E1B-A0EB-66C368FBEC3E}" presName="parentText" presStyleLbl="node1" presStyleIdx="0" presStyleCnt="1" custScaleX="257202" custLinFactNeighborX="43724" custLinFactNeighborY="-29950">
        <dgm:presLayoutVars>
          <dgm:chMax val="1"/>
          <dgm:bulletEnabled val="1"/>
        </dgm:presLayoutVars>
      </dgm:prSet>
      <dgm:spPr/>
      <dgm:t>
        <a:bodyPr/>
        <a:lstStyle/>
        <a:p>
          <a:endParaRPr lang="en-US"/>
        </a:p>
      </dgm:t>
    </dgm:pt>
  </dgm:ptLst>
  <dgm:cxnLst>
    <dgm:cxn modelId="{68015189-D65F-429A-BE16-F9F5AFE51ED5}" type="presOf" srcId="{C54ABA36-D625-4E1B-A0EB-66C368FBEC3E}" destId="{4F44254E-3332-40FE-B6E6-1EFF2EEDE7F4}" srcOrd="0" destOrd="0" presId="urn:microsoft.com/office/officeart/2005/8/layout/vList5"/>
    <dgm:cxn modelId="{805EEABF-DF16-4CD4-B5B6-1A1B7FFC4A6A}" srcId="{E9C93628-1B37-4237-A5D6-74E650FBB494}" destId="{C54ABA36-D625-4E1B-A0EB-66C368FBEC3E}" srcOrd="0" destOrd="0" parTransId="{D8F4628A-1EC5-48DC-B9FB-4E245B39933C}" sibTransId="{ACE0C17C-FDF7-42B3-AC56-93329855FBDE}"/>
    <dgm:cxn modelId="{7048A3A1-BC5D-4170-8479-F33EEAD1E3F6}" type="presOf" srcId="{E9C93628-1B37-4237-A5D6-74E650FBB494}" destId="{273BE06C-81ED-4502-B016-D12378F77DC6}" srcOrd="0" destOrd="0" presId="urn:microsoft.com/office/officeart/2005/8/layout/vList5"/>
    <dgm:cxn modelId="{D139DF74-543B-4810-99DE-49007D66A59F}" type="presParOf" srcId="{273BE06C-81ED-4502-B016-D12378F77DC6}" destId="{6B96DBCE-1E83-45A3-A596-F0BE8074E6D6}" srcOrd="0" destOrd="0" presId="urn:microsoft.com/office/officeart/2005/8/layout/vList5"/>
    <dgm:cxn modelId="{CF26227B-E185-44D4-8583-6796127425AE}" type="presParOf" srcId="{6B96DBCE-1E83-45A3-A596-F0BE8074E6D6}" destId="{4F44254E-3332-40FE-B6E6-1EFF2EEDE7F4}" srcOrd="0" destOrd="0" presId="urn:microsoft.com/office/officeart/2005/8/layout/vList5"/>
  </dgm:cxnLst>
  <dgm:bg>
    <a:noFill/>
  </dgm:bg>
  <dgm:whole/>
  <dgm:extLst>
    <a:ext uri="http://schemas.microsoft.com/office/drawing/2008/diagram">
      <dsp:dataModelExt xmlns:dsp="http://schemas.microsoft.com/office/drawing/2008/diagram" relId="rId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05695B3-35A3-47F3-97B2-429E927E751C}" type="doc">
      <dgm:prSet loTypeId="urn:microsoft.com/office/officeart/2005/8/layout/vList2" loCatId="list" qsTypeId="urn:microsoft.com/office/officeart/2005/8/quickstyle/3d7" qsCatId="3D" csTypeId="urn:microsoft.com/office/officeart/2005/8/colors/colorful5" csCatId="colorful" phldr="1"/>
      <dgm:spPr>
        <a:scene3d>
          <a:camera prst="isometricOffAxis2Left" zoom="91000"/>
          <a:lightRig rig="flood" dir="t">
            <a:rot lat="0" lon="0" rev="13800000"/>
          </a:lightRig>
        </a:scene3d>
      </dgm:spPr>
      <dgm:t>
        <a:bodyPr/>
        <a:lstStyle/>
        <a:p>
          <a:endParaRPr lang="en-US"/>
        </a:p>
      </dgm:t>
    </dgm:pt>
    <dgm:pt modelId="{6BE0CBC4-4837-4280-9339-C6BA7B676780}">
      <dgm:prSet custT="1"/>
      <dgm:spPr>
        <a:solidFill>
          <a:srgbClr val="0000FF"/>
        </a:solidFill>
        <a:ln>
          <a:noFill/>
        </a:ln>
        <a:effectLst>
          <a:outerShdw blurRad="184150" dist="241300" dir="11520000" sx="110000" sy="110000" algn="ctr">
            <a:srgbClr val="000000">
              <a:alpha val="18000"/>
            </a:srgbClr>
          </a:outerShdw>
        </a:effectLst>
        <a:sp3d extrusionH="107950" prstMaterial="plastic">
          <a:bevelT w="82550" h="63500" prst="divot"/>
          <a:bevelB/>
        </a:sp3d>
      </dgm:spPr>
      <dgm:t>
        <a:bodyPr/>
        <a:lstStyle/>
        <a:p>
          <a:pPr algn="ctr" rtl="0"/>
          <a:r>
            <a:rPr lang="en-US" sz="6600" b="1" baseline="0" dirty="0" smtClean="0">
              <a:solidFill>
                <a:schemeClr val="bg1">
                  <a:lumMod val="95000"/>
                </a:schemeClr>
              </a:solidFill>
              <a:latin typeface="Algerian" pitchFamily="82" charset="0"/>
            </a:rPr>
            <a:t>INDUCTION  OF  LABOUR</a:t>
          </a:r>
          <a:endParaRPr lang="en-US" sz="6600" b="1" baseline="0" dirty="0">
            <a:solidFill>
              <a:schemeClr val="bg1">
                <a:lumMod val="95000"/>
              </a:schemeClr>
            </a:solidFill>
            <a:latin typeface="Algerian" pitchFamily="82" charset="0"/>
          </a:endParaRPr>
        </a:p>
      </dgm:t>
    </dgm:pt>
    <dgm:pt modelId="{61A10535-C6D1-41B5-A686-E76F7237084F}" type="parTrans" cxnId="{CF107A4E-9126-4E2F-A2A3-6C38EB376EF2}">
      <dgm:prSet/>
      <dgm:spPr/>
      <dgm:t>
        <a:bodyPr/>
        <a:lstStyle/>
        <a:p>
          <a:pPr algn="ctr"/>
          <a:endParaRPr lang="en-US" sz="6000"/>
        </a:p>
      </dgm:t>
    </dgm:pt>
    <dgm:pt modelId="{062E20B3-286E-4547-AF72-41EFA457DE61}" type="sibTrans" cxnId="{CF107A4E-9126-4E2F-A2A3-6C38EB376EF2}">
      <dgm:prSet/>
      <dgm:spPr/>
      <dgm:t>
        <a:bodyPr/>
        <a:lstStyle/>
        <a:p>
          <a:pPr algn="ctr"/>
          <a:endParaRPr lang="en-US" sz="6000"/>
        </a:p>
      </dgm:t>
    </dgm:pt>
    <dgm:pt modelId="{8E047574-8C65-4B9C-AE4A-8CF6A27DF27A}" type="pres">
      <dgm:prSet presAssocID="{405695B3-35A3-47F3-97B2-429E927E751C}" presName="linear" presStyleCnt="0">
        <dgm:presLayoutVars>
          <dgm:animLvl val="lvl"/>
          <dgm:resizeHandles val="exact"/>
        </dgm:presLayoutVars>
      </dgm:prSet>
      <dgm:spPr/>
      <dgm:t>
        <a:bodyPr/>
        <a:lstStyle/>
        <a:p>
          <a:endParaRPr lang="en-US"/>
        </a:p>
      </dgm:t>
    </dgm:pt>
    <dgm:pt modelId="{B9B1C3AA-E2F0-4195-99B3-D5B0F549BA81}" type="pres">
      <dgm:prSet presAssocID="{6BE0CBC4-4837-4280-9339-C6BA7B676780}" presName="parentText" presStyleLbl="node1" presStyleIdx="0" presStyleCnt="1" custScaleY="463586" custLinFactNeighborX="-1563" custLinFactNeighborY="80453">
        <dgm:presLayoutVars>
          <dgm:chMax val="0"/>
          <dgm:bulletEnabled val="1"/>
        </dgm:presLayoutVars>
      </dgm:prSet>
      <dgm:spPr/>
      <dgm:t>
        <a:bodyPr/>
        <a:lstStyle/>
        <a:p>
          <a:endParaRPr lang="en-US"/>
        </a:p>
      </dgm:t>
    </dgm:pt>
  </dgm:ptLst>
  <dgm:cxnLst>
    <dgm:cxn modelId="{CF107A4E-9126-4E2F-A2A3-6C38EB376EF2}" srcId="{405695B3-35A3-47F3-97B2-429E927E751C}" destId="{6BE0CBC4-4837-4280-9339-C6BA7B676780}" srcOrd="0" destOrd="0" parTransId="{61A10535-C6D1-41B5-A686-E76F7237084F}" sibTransId="{062E20B3-286E-4547-AF72-41EFA457DE61}"/>
    <dgm:cxn modelId="{D1467624-5FF9-458F-82C1-E2C3E30EAE36}" type="presOf" srcId="{6BE0CBC4-4837-4280-9339-C6BA7B676780}" destId="{B9B1C3AA-E2F0-4195-99B3-D5B0F549BA81}" srcOrd="0" destOrd="0" presId="urn:microsoft.com/office/officeart/2005/8/layout/vList2"/>
    <dgm:cxn modelId="{34F13326-0810-4E10-B8F4-05EA71C5F471}" type="presOf" srcId="{405695B3-35A3-47F3-97B2-429E927E751C}" destId="{8E047574-8C65-4B9C-AE4A-8CF6A27DF27A}" srcOrd="0" destOrd="0" presId="urn:microsoft.com/office/officeart/2005/8/layout/vList2"/>
    <dgm:cxn modelId="{20BF4227-ADA5-415C-A8CA-FE073048C98E}" type="presParOf" srcId="{8E047574-8C65-4B9C-AE4A-8CF6A27DF27A}" destId="{B9B1C3AA-E2F0-4195-99B3-D5B0F549BA81}" srcOrd="0" destOrd="0" presId="urn:microsoft.com/office/officeart/2005/8/layout/vList2"/>
  </dgm:cxnLst>
  <dgm:bg>
    <a:noFill/>
  </dgm:bg>
  <dgm:whole/>
  <dgm:extLst>
    <a:ext uri="http://schemas.microsoft.com/office/drawing/2008/diagram">
      <dsp:dataModelExt xmlns:dsp="http://schemas.microsoft.com/office/drawing/2008/diagram" relId="rId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50BD2EE-5A0D-40DE-A1F6-DF4DA6A80A74}" type="doc">
      <dgm:prSet loTypeId="urn:microsoft.com/office/officeart/2005/8/layout/target3" loCatId="relationship" qsTypeId="urn:microsoft.com/office/officeart/2005/8/quickstyle/simple5" qsCatId="simple" csTypeId="urn:microsoft.com/office/officeart/2005/8/colors/accent2_2" csCatId="accent2" phldr="1"/>
      <dgm:spPr/>
      <dgm:t>
        <a:bodyPr/>
        <a:lstStyle/>
        <a:p>
          <a:endParaRPr lang="en-US"/>
        </a:p>
      </dgm:t>
    </dgm:pt>
    <dgm:pt modelId="{DF03899A-CBB1-4DC8-8DD7-BCAD8A2FB710}">
      <dgm:prSet custT="1"/>
      <dgm:spPr>
        <a:solidFill>
          <a:srgbClr val="00B0F0"/>
        </a:solidFill>
        <a:ln w="762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prst="slope"/>
        </a:sp3d>
      </dgm:spPr>
      <dgm:t>
        <a:bodyPr/>
        <a:lstStyle/>
        <a:p>
          <a:pPr rtl="0"/>
          <a:r>
            <a:rPr lang="en-US" sz="5400" b="1" dirty="0" smtClean="0">
              <a:solidFill>
                <a:srgbClr val="FFFF00"/>
              </a:solidFill>
              <a:latin typeface="Algerian" pitchFamily="82" charset="0"/>
            </a:rPr>
            <a:t>POSTPARTUM  HAEMORRHAGE</a:t>
          </a:r>
          <a:endParaRPr lang="en-US" sz="5400" b="1" dirty="0">
            <a:solidFill>
              <a:srgbClr val="FFFF00"/>
            </a:solidFill>
            <a:latin typeface="Algerian" pitchFamily="82" charset="0"/>
          </a:endParaRPr>
        </a:p>
      </dgm:t>
    </dgm:pt>
    <dgm:pt modelId="{969F50C8-46A2-4F2D-9E12-2C1894C9EBDE}" type="parTrans" cxnId="{22D08573-F4C3-467A-A53B-D91BA5D1B156}">
      <dgm:prSet/>
      <dgm:spPr/>
      <dgm:t>
        <a:bodyPr/>
        <a:lstStyle/>
        <a:p>
          <a:endParaRPr lang="en-US"/>
        </a:p>
      </dgm:t>
    </dgm:pt>
    <dgm:pt modelId="{E5622F0B-2CA6-42C1-B5EA-4D8BD1E7F9D8}" type="sibTrans" cxnId="{22D08573-F4C3-467A-A53B-D91BA5D1B156}">
      <dgm:prSet/>
      <dgm:spPr/>
      <dgm:t>
        <a:bodyPr/>
        <a:lstStyle/>
        <a:p>
          <a:endParaRPr lang="en-US"/>
        </a:p>
      </dgm:t>
    </dgm:pt>
    <dgm:pt modelId="{C301527B-034F-452A-8212-82876CB71492}" type="pres">
      <dgm:prSet presAssocID="{D50BD2EE-5A0D-40DE-A1F6-DF4DA6A80A74}" presName="Name0" presStyleCnt="0">
        <dgm:presLayoutVars>
          <dgm:chMax val="7"/>
          <dgm:dir/>
          <dgm:animLvl val="lvl"/>
          <dgm:resizeHandles val="exact"/>
        </dgm:presLayoutVars>
      </dgm:prSet>
      <dgm:spPr/>
      <dgm:t>
        <a:bodyPr/>
        <a:lstStyle/>
        <a:p>
          <a:endParaRPr lang="en-US"/>
        </a:p>
      </dgm:t>
    </dgm:pt>
    <dgm:pt modelId="{369C7BB0-6013-45C5-8604-446C9B094C88}" type="pres">
      <dgm:prSet presAssocID="{DF03899A-CBB1-4DC8-8DD7-BCAD8A2FB710}" presName="circle1" presStyleLbl="node1" presStyleIdx="0" presStyleCnt="1"/>
      <dgm:spPr/>
    </dgm:pt>
    <dgm:pt modelId="{CFF4E976-CEAA-46B0-8B3C-06B1AF50A66B}" type="pres">
      <dgm:prSet presAssocID="{DF03899A-CBB1-4DC8-8DD7-BCAD8A2FB710}" presName="space" presStyleCnt="0"/>
      <dgm:spPr/>
    </dgm:pt>
    <dgm:pt modelId="{288D2C60-907E-4C5F-A28C-605847C49584}" type="pres">
      <dgm:prSet presAssocID="{DF03899A-CBB1-4DC8-8DD7-BCAD8A2FB710}" presName="rect1" presStyleLbl="alignAcc1" presStyleIdx="0" presStyleCnt="1" custLinFactY="73913" custLinFactNeighborX="-3483" custLinFactNeighborY="100000"/>
      <dgm:spPr/>
      <dgm:t>
        <a:bodyPr/>
        <a:lstStyle/>
        <a:p>
          <a:endParaRPr lang="en-US"/>
        </a:p>
      </dgm:t>
    </dgm:pt>
    <dgm:pt modelId="{02715A92-01ED-41C0-B41F-EAEB185C81F6}" type="pres">
      <dgm:prSet presAssocID="{DF03899A-CBB1-4DC8-8DD7-BCAD8A2FB710}" presName="rect1ParTxNoCh" presStyleLbl="alignAcc1" presStyleIdx="0" presStyleCnt="1">
        <dgm:presLayoutVars>
          <dgm:chMax val="1"/>
          <dgm:bulletEnabled val="1"/>
        </dgm:presLayoutVars>
      </dgm:prSet>
      <dgm:spPr/>
      <dgm:t>
        <a:bodyPr/>
        <a:lstStyle/>
        <a:p>
          <a:endParaRPr lang="en-US"/>
        </a:p>
      </dgm:t>
    </dgm:pt>
  </dgm:ptLst>
  <dgm:cxnLst>
    <dgm:cxn modelId="{A7EE42FF-5D35-4AA2-9F03-701CB4961797}" type="presOf" srcId="{DF03899A-CBB1-4DC8-8DD7-BCAD8A2FB710}" destId="{288D2C60-907E-4C5F-A28C-605847C49584}" srcOrd="0" destOrd="0" presId="urn:microsoft.com/office/officeart/2005/8/layout/target3"/>
    <dgm:cxn modelId="{9CA43053-D47F-4840-A1E5-F8492C2A73F7}" type="presOf" srcId="{D50BD2EE-5A0D-40DE-A1F6-DF4DA6A80A74}" destId="{C301527B-034F-452A-8212-82876CB71492}" srcOrd="0" destOrd="0" presId="urn:microsoft.com/office/officeart/2005/8/layout/target3"/>
    <dgm:cxn modelId="{22D08573-F4C3-467A-A53B-D91BA5D1B156}" srcId="{D50BD2EE-5A0D-40DE-A1F6-DF4DA6A80A74}" destId="{DF03899A-CBB1-4DC8-8DD7-BCAD8A2FB710}" srcOrd="0" destOrd="0" parTransId="{969F50C8-46A2-4F2D-9E12-2C1894C9EBDE}" sibTransId="{E5622F0B-2CA6-42C1-B5EA-4D8BD1E7F9D8}"/>
    <dgm:cxn modelId="{8ED5E3A1-2F2D-4B2D-A3B7-845B3432CED2}" type="presOf" srcId="{DF03899A-CBB1-4DC8-8DD7-BCAD8A2FB710}" destId="{02715A92-01ED-41C0-B41F-EAEB185C81F6}" srcOrd="1" destOrd="0" presId="urn:microsoft.com/office/officeart/2005/8/layout/target3"/>
    <dgm:cxn modelId="{7E380A85-9258-496D-89CB-9864E6286C83}" type="presParOf" srcId="{C301527B-034F-452A-8212-82876CB71492}" destId="{369C7BB0-6013-45C5-8604-446C9B094C88}" srcOrd="0" destOrd="0" presId="urn:microsoft.com/office/officeart/2005/8/layout/target3"/>
    <dgm:cxn modelId="{9E8652CD-0D53-4B72-9FF2-DC87FD255B66}" type="presParOf" srcId="{C301527B-034F-452A-8212-82876CB71492}" destId="{CFF4E976-CEAA-46B0-8B3C-06B1AF50A66B}" srcOrd="1" destOrd="0" presId="urn:microsoft.com/office/officeart/2005/8/layout/target3"/>
    <dgm:cxn modelId="{BE8C02DB-0D34-471E-95D0-AB8D4DE7F588}" type="presParOf" srcId="{C301527B-034F-452A-8212-82876CB71492}" destId="{288D2C60-907E-4C5F-A28C-605847C49584}" srcOrd="2" destOrd="0" presId="urn:microsoft.com/office/officeart/2005/8/layout/target3"/>
    <dgm:cxn modelId="{7A5B8721-CB33-4A1B-917F-5901D3D0A3BA}" type="presParOf" srcId="{C301527B-034F-452A-8212-82876CB71492}" destId="{02715A92-01ED-41C0-B41F-EAEB185C81F6}" srcOrd="3" destOrd="0" presId="urn:microsoft.com/office/officeart/2005/8/layout/target3"/>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513" name=""/>
        <p:cNvGrpSpPr/>
        <p:nvPr/>
      </p:nvGrpSpPr>
      <p:grpSpPr>
        <a:xfrm>
          <a:off x="0" y="0"/>
          <a:ext cx="0" cy="0"/>
          <a:chOff x="0" y="0"/>
          <a:chExt cx="0" cy="0"/>
        </a:xfrm>
      </p:grpSpPr>
      <p:sp>
        <p:nvSpPr>
          <p:cNvPr id="1050925"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US"/>
          </a:p>
        </p:txBody>
      </p:sp>
      <p:sp>
        <p:nvSpPr>
          <p:cNvPr id="1050926"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436D30F7-84D4-4E82-8D77-652534720244}" type="datetimeFigureOut">
              <a:rPr lang="en-US" smtClean="0"/>
            </a:fld>
            <a:endParaRPr lang="en-US"/>
          </a:p>
        </p:txBody>
      </p:sp>
      <p:sp>
        <p:nvSpPr>
          <p:cNvPr id="1050927" name="Slide Image Placeholder 3"/>
          <p:cNvSpPr>
            <a:spLocks noChangeAspect="1" noRot="1" noGrp="1"/>
          </p:cNvSpPr>
          <p:nvPr>
            <p:ph type="sldImg" idx="2"/>
          </p:nvPr>
        </p:nvSpPr>
        <p:spPr>
          <a:xfrm>
            <a:off x="571500" y="685800"/>
            <a:ext cx="5715000" cy="3429000"/>
          </a:xfrm>
          <a:prstGeom prst="rect"/>
          <a:noFill/>
          <a:ln w="12700">
            <a:solidFill>
              <a:prstClr val="black"/>
            </a:solidFill>
          </a:ln>
        </p:spPr>
        <p:txBody>
          <a:bodyPr anchor="ctr" bIns="45720" lIns="91440" rIns="91440" rtlCol="0" tIns="45720" vert="horz"/>
          <a:p>
            <a:endParaRPr lang="en-US"/>
          </a:p>
        </p:txBody>
      </p:sp>
      <p:sp>
        <p:nvSpPr>
          <p:cNvPr id="1050928" name="Notes Placeholder 4"/>
          <p:cNvSpPr>
            <a:spLocks noGrp="1"/>
          </p:cNvSpPr>
          <p:nvPr>
            <p:ph type="body" sz="quarter" idx="3"/>
          </p:nvPr>
        </p:nvSpPr>
        <p:spPr>
          <a:xfrm>
            <a:off x="685800" y="4343400"/>
            <a:ext cx="5486400" cy="4114800"/>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929"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US"/>
          </a:p>
        </p:txBody>
      </p:sp>
      <p:sp>
        <p:nvSpPr>
          <p:cNvPr id="1050930"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AD8BDF61-BE7A-4E80-8D5C-EFE93BE21175}" type="slidenum">
              <a:rPr lang="en-US" smtClean="0"/>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96.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201.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203.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210.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21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22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248.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254.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264.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271.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385.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390.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417.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422.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455.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466.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55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776" name=""/>
        <p:cNvGrpSpPr/>
        <p:nvPr/>
      </p:nvGrpSpPr>
      <p:grpSpPr>
        <a:xfrm>
          <a:off x="0" y="0"/>
          <a:ext cx="0" cy="0"/>
          <a:chOff x="0" y="0"/>
          <a:chExt cx="0" cy="0"/>
        </a:xfrm>
      </p:grpSpPr>
      <p:sp>
        <p:nvSpPr>
          <p:cNvPr id="1048925" name="Slide Image Placeholder 1"/>
          <p:cNvSpPr>
            <a:spLocks noChangeAspect="1" noRot="1" noGrp="1"/>
          </p:cNvSpPr>
          <p:nvPr>
            <p:ph type="sldImg"/>
          </p:nvPr>
        </p:nvSpPr>
        <p:spPr>
          <a:xfrm>
            <a:off x="571500" y="685800"/>
            <a:ext cx="5715000" cy="3429000"/>
          </a:xfrm>
        </p:spPr>
      </p:sp>
      <p:sp>
        <p:nvSpPr>
          <p:cNvPr id="1048926" name="Notes Placeholder 2"/>
          <p:cNvSpPr>
            <a:spLocks noGrp="1"/>
          </p:cNvSpPr>
          <p:nvPr>
            <p:ph type="body" idx="1"/>
          </p:nvPr>
        </p:nvSpPr>
        <p:spPr/>
        <p:txBody>
          <a:bodyPr/>
          <a:p>
            <a:endParaRPr dirty="0" lang="en-US"/>
          </a:p>
        </p:txBody>
      </p:sp>
      <p:sp>
        <p:nvSpPr>
          <p:cNvPr id="1048927" name="Slide Number Placeholder 3"/>
          <p:cNvSpPr>
            <a:spLocks noGrp="1"/>
          </p:cNvSpPr>
          <p:nvPr>
            <p:ph type="sldNum" sz="quarter" idx="10"/>
          </p:nvPr>
        </p:nvSpPr>
        <p:spPr/>
        <p:txBody>
          <a:bodyPr/>
          <a:p>
            <a:fld id="{AD8BDF61-BE7A-4E80-8D5C-EFE93BE21175}"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803" name=""/>
        <p:cNvGrpSpPr/>
        <p:nvPr/>
      </p:nvGrpSpPr>
      <p:grpSpPr>
        <a:xfrm>
          <a:off x="0" y="0"/>
          <a:ext cx="0" cy="0"/>
          <a:chOff x="0" y="0"/>
          <a:chExt cx="0" cy="0"/>
        </a:xfrm>
      </p:grpSpPr>
      <p:sp>
        <p:nvSpPr>
          <p:cNvPr id="1048986" name="Slide Image Placeholder 1"/>
          <p:cNvSpPr>
            <a:spLocks noChangeAspect="1" noRot="1" noGrp="1"/>
          </p:cNvSpPr>
          <p:nvPr>
            <p:ph type="sldImg"/>
          </p:nvPr>
        </p:nvSpPr>
        <p:spPr>
          <a:xfrm>
            <a:off x="571500" y="685800"/>
            <a:ext cx="5715000" cy="3429000"/>
          </a:xfrm>
        </p:spPr>
      </p:sp>
      <p:sp>
        <p:nvSpPr>
          <p:cNvPr id="1048987" name="Notes Placeholder 2"/>
          <p:cNvSpPr>
            <a:spLocks noGrp="1"/>
          </p:cNvSpPr>
          <p:nvPr>
            <p:ph type="body" idx="1"/>
          </p:nvPr>
        </p:nvSpPr>
        <p:spPr/>
        <p:txBody>
          <a:bodyPr>
            <a:normAutofit/>
          </a:bodyPr>
          <a:p>
            <a:endParaRPr dirty="0" lang="en-US"/>
          </a:p>
        </p:txBody>
      </p:sp>
      <p:sp>
        <p:nvSpPr>
          <p:cNvPr id="1048988" name="Slide Number Placeholder 3"/>
          <p:cNvSpPr>
            <a:spLocks noGrp="1"/>
          </p:cNvSpPr>
          <p:nvPr>
            <p:ph type="sldNum" sz="quarter" idx="10"/>
          </p:nvPr>
        </p:nvSpPr>
        <p:spPr/>
        <p:txBody>
          <a:bodyPr/>
          <a:p>
            <a:fld id="{54BF57D5-D1BB-44E9-98D3-71EC2E5B4D8F}"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902" name=""/>
        <p:cNvGrpSpPr/>
        <p:nvPr/>
      </p:nvGrpSpPr>
      <p:grpSpPr>
        <a:xfrm>
          <a:off x="0" y="0"/>
          <a:ext cx="0" cy="0"/>
          <a:chOff x="0" y="0"/>
          <a:chExt cx="0" cy="0"/>
        </a:xfrm>
      </p:grpSpPr>
      <p:sp>
        <p:nvSpPr>
          <p:cNvPr id="1049169" name="Slide Image Placeholder 1"/>
          <p:cNvSpPr>
            <a:spLocks noChangeAspect="1" noRot="1" noGrp="1"/>
          </p:cNvSpPr>
          <p:nvPr>
            <p:ph type="sldImg"/>
          </p:nvPr>
        </p:nvSpPr>
        <p:spPr>
          <a:xfrm>
            <a:off x="571500" y="685800"/>
            <a:ext cx="5715000" cy="3429000"/>
          </a:xfrm>
        </p:spPr>
      </p:sp>
      <p:sp>
        <p:nvSpPr>
          <p:cNvPr id="1049170" name="Notes Placeholder 2"/>
          <p:cNvSpPr>
            <a:spLocks noGrp="1"/>
          </p:cNvSpPr>
          <p:nvPr>
            <p:ph type="body" idx="1"/>
          </p:nvPr>
        </p:nvSpPr>
        <p:spPr/>
        <p:txBody>
          <a:bodyPr>
            <a:normAutofit/>
          </a:bodyPr>
          <a:p>
            <a:r>
              <a:rPr b="1" dirty="0" lang="en-US" smtClean="0"/>
              <a:t>To observe or feel  the fluid trill depends on the amount</a:t>
            </a:r>
            <a:r>
              <a:rPr baseline="0" b="1" dirty="0" lang="en-US" smtClean="0"/>
              <a:t> of fluid.</a:t>
            </a:r>
            <a:endParaRPr b="1" dirty="0" lang="en-US"/>
          </a:p>
        </p:txBody>
      </p:sp>
      <p:sp>
        <p:nvSpPr>
          <p:cNvPr id="1049171" name="Slide Number Placeholder 3"/>
          <p:cNvSpPr>
            <a:spLocks noGrp="1"/>
          </p:cNvSpPr>
          <p:nvPr>
            <p:ph type="sldNum" sz="quarter" idx="10"/>
          </p:nvPr>
        </p:nvSpPr>
        <p:spPr/>
        <p:txBody>
          <a:bodyPr/>
          <a:p>
            <a:fld id="{FA4B62E1-02A2-4FD0-BA2A-F5805C706C11}"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909" name=""/>
        <p:cNvGrpSpPr/>
        <p:nvPr/>
      </p:nvGrpSpPr>
      <p:grpSpPr>
        <a:xfrm>
          <a:off x="0" y="0"/>
          <a:ext cx="0" cy="0"/>
          <a:chOff x="0" y="0"/>
          <a:chExt cx="0" cy="0"/>
        </a:xfrm>
      </p:grpSpPr>
      <p:sp>
        <p:nvSpPr>
          <p:cNvPr id="1049184" name="Slide Image Placeholder 1"/>
          <p:cNvSpPr>
            <a:spLocks noChangeAspect="1" noRot="1" noGrp="1"/>
          </p:cNvSpPr>
          <p:nvPr>
            <p:ph type="sldImg"/>
          </p:nvPr>
        </p:nvSpPr>
        <p:spPr>
          <a:xfrm>
            <a:off x="571500" y="685800"/>
            <a:ext cx="5715000" cy="3429000"/>
          </a:xfrm>
        </p:spPr>
      </p:sp>
      <p:sp>
        <p:nvSpPr>
          <p:cNvPr id="1049185" name="Notes Placeholder 2"/>
          <p:cNvSpPr>
            <a:spLocks noGrp="1"/>
          </p:cNvSpPr>
          <p:nvPr>
            <p:ph type="body" idx="1"/>
          </p:nvPr>
        </p:nvSpPr>
        <p:spPr/>
        <p:txBody>
          <a:bodyPr>
            <a:normAutofit/>
          </a:bodyPr>
          <a:p>
            <a:r>
              <a:rPr b="1" dirty="0" lang="en-US" smtClean="0"/>
              <a:t>Histology= study of tissues,    Cytology= to study of cells.</a:t>
            </a:r>
            <a:endParaRPr b="1" dirty="0" lang="en-US"/>
          </a:p>
        </p:txBody>
      </p:sp>
      <p:sp>
        <p:nvSpPr>
          <p:cNvPr id="1049186" name="Slide Number Placeholder 3"/>
          <p:cNvSpPr>
            <a:spLocks noGrp="1"/>
          </p:cNvSpPr>
          <p:nvPr>
            <p:ph type="sldNum" sz="quarter" idx="10"/>
          </p:nvPr>
        </p:nvSpPr>
        <p:spPr/>
        <p:txBody>
          <a:bodyPr/>
          <a:p>
            <a:fld id="{FA4B62E1-02A2-4FD0-BA2A-F5805C706C11}"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913" name=""/>
        <p:cNvGrpSpPr/>
        <p:nvPr/>
      </p:nvGrpSpPr>
      <p:grpSpPr>
        <a:xfrm>
          <a:off x="0" y="0"/>
          <a:ext cx="0" cy="0"/>
          <a:chOff x="0" y="0"/>
          <a:chExt cx="0" cy="0"/>
        </a:xfrm>
      </p:grpSpPr>
      <p:sp>
        <p:nvSpPr>
          <p:cNvPr id="1049192" name="Slide Image Placeholder 1"/>
          <p:cNvSpPr>
            <a:spLocks noChangeAspect="1" noRot="1" noGrp="1"/>
          </p:cNvSpPr>
          <p:nvPr>
            <p:ph type="sldImg"/>
          </p:nvPr>
        </p:nvSpPr>
        <p:spPr>
          <a:xfrm>
            <a:off x="571500" y="685800"/>
            <a:ext cx="5715000" cy="3429000"/>
          </a:xfrm>
        </p:spPr>
      </p:sp>
      <p:sp>
        <p:nvSpPr>
          <p:cNvPr id="1049193" name="Notes Placeholder 2"/>
          <p:cNvSpPr>
            <a:spLocks noGrp="1"/>
          </p:cNvSpPr>
          <p:nvPr>
            <p:ph type="body" idx="1"/>
          </p:nvPr>
        </p:nvSpPr>
        <p:spPr/>
        <p:txBody>
          <a:bodyPr>
            <a:normAutofit/>
          </a:bodyPr>
          <a:p>
            <a:r>
              <a:rPr b="1" dirty="0" lang="en-US" smtClean="0"/>
              <a:t>*Medical </a:t>
            </a:r>
            <a:r>
              <a:rPr baseline="0" b="1" dirty="0" lang="en-US" smtClean="0"/>
              <a:t> clinic , if a medical </a:t>
            </a:r>
            <a:r>
              <a:rPr baseline="0" b="1" dirty="0" lang="en-US" err="1" smtClean="0"/>
              <a:t>codtn</a:t>
            </a:r>
            <a:r>
              <a:rPr baseline="0" b="1" dirty="0" lang="en-US" smtClean="0"/>
              <a:t>  is suspected 2 </a:t>
            </a:r>
            <a:r>
              <a:rPr baseline="0" b="1" dirty="0" lang="en-US" err="1" smtClean="0"/>
              <a:t>ave</a:t>
            </a:r>
            <a:r>
              <a:rPr baseline="0" b="1" dirty="0" lang="en-US" smtClean="0"/>
              <a:t> contributed.</a:t>
            </a:r>
          </a:p>
          <a:p>
            <a:r>
              <a:rPr baseline="0" b="1" dirty="0" lang="en-US" smtClean="0"/>
              <a:t>**</a:t>
            </a:r>
            <a:r>
              <a:rPr baseline="0" b="1" dirty="0" lang="en-US" err="1" smtClean="0"/>
              <a:t>Peadiatric</a:t>
            </a:r>
            <a:r>
              <a:rPr baseline="0" b="1" dirty="0" lang="en-US" smtClean="0"/>
              <a:t> “     , 2 </a:t>
            </a:r>
            <a:r>
              <a:rPr baseline="0" b="1" dirty="0" lang="en-US" err="1" smtClean="0"/>
              <a:t>dx</a:t>
            </a:r>
            <a:r>
              <a:rPr baseline="0" b="1" dirty="0" lang="en-US" smtClean="0"/>
              <a:t> delayed milestone or any other abnormality.</a:t>
            </a:r>
            <a:endParaRPr b="1" dirty="0" lang="en-US"/>
          </a:p>
        </p:txBody>
      </p:sp>
      <p:sp>
        <p:nvSpPr>
          <p:cNvPr id="1049194" name="Slide Number Placeholder 3"/>
          <p:cNvSpPr>
            <a:spLocks noGrp="1"/>
          </p:cNvSpPr>
          <p:nvPr>
            <p:ph type="sldNum" sz="quarter" idx="10"/>
          </p:nvPr>
        </p:nvSpPr>
        <p:spPr/>
        <p:txBody>
          <a:bodyPr/>
          <a:p>
            <a:fld id="{FA4B62E1-02A2-4FD0-BA2A-F5805C706C11}"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922" name=""/>
        <p:cNvGrpSpPr/>
        <p:nvPr/>
      </p:nvGrpSpPr>
      <p:grpSpPr>
        <a:xfrm>
          <a:off x="0" y="0"/>
          <a:ext cx="0" cy="0"/>
          <a:chOff x="0" y="0"/>
          <a:chExt cx="0" cy="0"/>
        </a:xfrm>
      </p:grpSpPr>
      <p:sp>
        <p:nvSpPr>
          <p:cNvPr id="1049214" name="Slide Image Placeholder 1"/>
          <p:cNvSpPr>
            <a:spLocks noChangeAspect="1" noRot="1" noGrp="1"/>
          </p:cNvSpPr>
          <p:nvPr>
            <p:ph type="sldImg"/>
          </p:nvPr>
        </p:nvSpPr>
        <p:spPr/>
      </p:sp>
      <p:sp>
        <p:nvSpPr>
          <p:cNvPr id="1049215" name="Notes Placeholder 2"/>
          <p:cNvSpPr>
            <a:spLocks noGrp="1"/>
          </p:cNvSpPr>
          <p:nvPr>
            <p:ph type="body" idx="1"/>
          </p:nvPr>
        </p:nvSpPr>
        <p:spPr/>
        <p:txBody>
          <a:bodyPr/>
          <a:p>
            <a:r>
              <a:rPr b="0" dirty="0" sz="1200" i="0" kern="1200" lang="en-US" smtClean="0">
                <a:solidFill>
                  <a:schemeClr val="tx1"/>
                </a:solidFill>
                <a:effectLst/>
                <a:latin typeface="+mn-lt"/>
                <a:ea typeface="+mn-ea"/>
                <a:cs typeface="+mn-cs"/>
              </a:rPr>
              <a:t>In </a:t>
            </a:r>
            <a:r>
              <a:rPr b="1" dirty="0" sz="1200" i="0" kern="1200" lang="en-US" smtClean="0">
                <a:solidFill>
                  <a:schemeClr val="tx1"/>
                </a:solidFill>
                <a:effectLst/>
                <a:latin typeface="+mn-lt"/>
                <a:ea typeface="+mn-ea"/>
                <a:cs typeface="+mn-cs"/>
              </a:rPr>
              <a:t>Potter syndrome</a:t>
            </a:r>
            <a:r>
              <a:rPr b="0" dirty="0" sz="1200" i="0" kern="1200" lang="en-US" smtClean="0">
                <a:solidFill>
                  <a:schemeClr val="tx1"/>
                </a:solidFill>
                <a:effectLst/>
                <a:latin typeface="+mn-lt"/>
                <a:ea typeface="+mn-ea"/>
                <a:cs typeface="+mn-cs"/>
              </a:rPr>
              <a:t>, the primary problem is kidney failure. Neonate presents with: 1. widely separated eyes</a:t>
            </a:r>
            <a:r>
              <a:rPr baseline="0" b="0" dirty="0" sz="1200" i="0" kern="1200" lang="en-US" smtClean="0">
                <a:solidFill>
                  <a:schemeClr val="tx1"/>
                </a:solidFill>
                <a:effectLst/>
                <a:latin typeface="+mn-lt"/>
                <a:ea typeface="+mn-ea"/>
                <a:cs typeface="+mn-cs"/>
              </a:rPr>
              <a:t> with </a:t>
            </a:r>
            <a:r>
              <a:rPr baseline="0" b="0" dirty="0" sz="1200" i="0" kern="1200" lang="en-US" err="1" smtClean="0">
                <a:solidFill>
                  <a:schemeClr val="tx1"/>
                </a:solidFill>
                <a:effectLst/>
                <a:latin typeface="+mn-lt"/>
                <a:ea typeface="+mn-ea"/>
                <a:cs typeface="+mn-cs"/>
              </a:rPr>
              <a:t>epicanthal</a:t>
            </a:r>
            <a:r>
              <a:rPr baseline="0" b="0" dirty="0" sz="1200" i="0" kern="1200" lang="en-US" smtClean="0">
                <a:solidFill>
                  <a:schemeClr val="tx1"/>
                </a:solidFill>
                <a:effectLst/>
                <a:latin typeface="+mn-lt"/>
                <a:ea typeface="+mn-ea"/>
                <a:cs typeface="+mn-cs"/>
              </a:rPr>
              <a:t> folds, absence of urine output and difficulty in breathing.</a:t>
            </a:r>
            <a:endParaRPr dirty="0" lang="en-US"/>
          </a:p>
        </p:txBody>
      </p:sp>
      <p:sp>
        <p:nvSpPr>
          <p:cNvPr id="1049216" name="Slide Number Placeholder 3"/>
          <p:cNvSpPr>
            <a:spLocks noGrp="1"/>
          </p:cNvSpPr>
          <p:nvPr>
            <p:ph type="sldNum" sz="quarter" idx="10"/>
          </p:nvPr>
        </p:nvSpPr>
        <p:spPr/>
        <p:txBody>
          <a:bodyPr/>
          <a:p>
            <a:fld id="{AD8BDF61-BE7A-4E80-8D5C-EFE93BE21175}"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947" name=""/>
        <p:cNvGrpSpPr/>
        <p:nvPr/>
      </p:nvGrpSpPr>
      <p:grpSpPr>
        <a:xfrm>
          <a:off x="0" y="0"/>
          <a:ext cx="0" cy="0"/>
          <a:chOff x="0" y="0"/>
          <a:chExt cx="0" cy="0"/>
        </a:xfrm>
      </p:grpSpPr>
      <p:sp>
        <p:nvSpPr>
          <p:cNvPr id="1049263" name="Slide Image Placeholder 1"/>
          <p:cNvSpPr>
            <a:spLocks noChangeAspect="1" noRot="1" noGrp="1"/>
          </p:cNvSpPr>
          <p:nvPr>
            <p:ph type="sldImg"/>
          </p:nvPr>
        </p:nvSpPr>
        <p:spPr>
          <a:xfrm>
            <a:off x="571500" y="685800"/>
            <a:ext cx="5715000" cy="3429000"/>
          </a:xfrm>
        </p:spPr>
      </p:sp>
      <p:sp>
        <p:nvSpPr>
          <p:cNvPr id="1049264" name="Notes Placeholder 2"/>
          <p:cNvSpPr>
            <a:spLocks noGrp="1"/>
          </p:cNvSpPr>
          <p:nvPr>
            <p:ph type="body" idx="1"/>
          </p:nvPr>
        </p:nvSpPr>
        <p:spPr/>
        <p:txBody>
          <a:bodyPr>
            <a:normAutofit/>
          </a:bodyPr>
          <a:p>
            <a:endParaRPr dirty="0" lang="en-US"/>
          </a:p>
        </p:txBody>
      </p:sp>
      <p:sp>
        <p:nvSpPr>
          <p:cNvPr id="1049265" name="Slide Number Placeholder 3"/>
          <p:cNvSpPr>
            <a:spLocks noGrp="1"/>
          </p:cNvSpPr>
          <p:nvPr>
            <p:ph type="sldNum" sz="quarter" idx="10"/>
          </p:nvPr>
        </p:nvSpPr>
        <p:spPr/>
        <p:txBody>
          <a:bodyPr/>
          <a:p>
            <a:fld id="{AA369EA8-9C5C-44B6-A3AB-43BC4F98E35B}"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959" name=""/>
        <p:cNvGrpSpPr/>
        <p:nvPr/>
      </p:nvGrpSpPr>
      <p:grpSpPr>
        <a:xfrm>
          <a:off x="0" y="0"/>
          <a:ext cx="0" cy="0"/>
          <a:chOff x="0" y="0"/>
          <a:chExt cx="0" cy="0"/>
        </a:xfrm>
      </p:grpSpPr>
      <p:sp>
        <p:nvSpPr>
          <p:cNvPr id="1049289" name="Slide Image Placeholder 1"/>
          <p:cNvSpPr>
            <a:spLocks noChangeAspect="1" noRot="1" noGrp="1"/>
          </p:cNvSpPr>
          <p:nvPr>
            <p:ph type="sldImg"/>
          </p:nvPr>
        </p:nvSpPr>
        <p:spPr>
          <a:xfrm>
            <a:off x="571500" y="685800"/>
            <a:ext cx="5715000" cy="3429000"/>
          </a:xfrm>
        </p:spPr>
      </p:sp>
      <p:sp>
        <p:nvSpPr>
          <p:cNvPr id="1049290" name="Notes Placeholder 2"/>
          <p:cNvSpPr>
            <a:spLocks noGrp="1"/>
          </p:cNvSpPr>
          <p:nvPr>
            <p:ph type="body" idx="1"/>
          </p:nvPr>
        </p:nvSpPr>
        <p:spPr/>
        <p:txBody>
          <a:bodyPr>
            <a:normAutofit/>
          </a:bodyPr>
          <a:p>
            <a:r>
              <a:rPr b="1" dirty="0" lang="en-US" smtClean="0"/>
              <a:t>A=MCMA forked cords, B=MCMA, C= MCDA,D=DCDA fuses,</a:t>
            </a:r>
            <a:r>
              <a:rPr baseline="0" b="1" dirty="0" lang="en-US" smtClean="0"/>
              <a:t> E=separate DCDA ,F=SIAMESE twins on the abdomen.</a:t>
            </a:r>
            <a:endParaRPr b="1" dirty="0" lang="en-US"/>
          </a:p>
        </p:txBody>
      </p:sp>
      <p:sp>
        <p:nvSpPr>
          <p:cNvPr id="1049291" name="Slide Number Placeholder 3"/>
          <p:cNvSpPr>
            <a:spLocks noGrp="1"/>
          </p:cNvSpPr>
          <p:nvPr>
            <p:ph type="sldNum" sz="quarter" idx="10"/>
          </p:nvPr>
        </p:nvSpPr>
        <p:spPr/>
        <p:txBody>
          <a:bodyPr/>
          <a:p>
            <a:fld id="{AA369EA8-9C5C-44B6-A3AB-43BC4F98E35B}"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980" name=""/>
        <p:cNvGrpSpPr/>
        <p:nvPr/>
      </p:nvGrpSpPr>
      <p:grpSpPr>
        <a:xfrm>
          <a:off x="0" y="0"/>
          <a:ext cx="0" cy="0"/>
          <a:chOff x="0" y="0"/>
          <a:chExt cx="0" cy="0"/>
        </a:xfrm>
      </p:grpSpPr>
      <p:sp>
        <p:nvSpPr>
          <p:cNvPr id="1049333" name="Slide Image Placeholder 1"/>
          <p:cNvSpPr>
            <a:spLocks noChangeAspect="1" noRot="1" noGrp="1"/>
          </p:cNvSpPr>
          <p:nvPr>
            <p:ph type="sldImg"/>
          </p:nvPr>
        </p:nvSpPr>
        <p:spPr>
          <a:xfrm>
            <a:off x="571500" y="685800"/>
            <a:ext cx="5715000" cy="3429000"/>
          </a:xfrm>
        </p:spPr>
      </p:sp>
      <p:sp>
        <p:nvSpPr>
          <p:cNvPr id="1049334" name="Notes Placeholder 2"/>
          <p:cNvSpPr>
            <a:spLocks noGrp="1"/>
          </p:cNvSpPr>
          <p:nvPr>
            <p:ph type="body" idx="1"/>
          </p:nvPr>
        </p:nvSpPr>
        <p:spPr/>
        <p:txBody>
          <a:bodyPr>
            <a:normAutofit/>
          </a:bodyPr>
          <a:p>
            <a:r>
              <a:rPr dirty="0" lang="en-US" smtClean="0"/>
              <a:t>Prolonged L. seriously</a:t>
            </a:r>
            <a:r>
              <a:rPr baseline="0" dirty="0" lang="en-US" smtClean="0"/>
              <a:t> affect the fetuses state  and also the uterine tone </a:t>
            </a:r>
            <a:r>
              <a:rPr baseline="0" dirty="0" lang="en-US" err="1" smtClean="0"/>
              <a:t>postnatally</a:t>
            </a:r>
            <a:r>
              <a:rPr baseline="0" dirty="0" lang="en-US" smtClean="0"/>
              <a:t>.</a:t>
            </a:r>
            <a:endParaRPr dirty="0" lang="en-US"/>
          </a:p>
        </p:txBody>
      </p:sp>
      <p:sp>
        <p:nvSpPr>
          <p:cNvPr id="1049335" name="Slide Number Placeholder 3"/>
          <p:cNvSpPr>
            <a:spLocks noGrp="1"/>
          </p:cNvSpPr>
          <p:nvPr>
            <p:ph type="sldNum" sz="quarter" idx="10"/>
          </p:nvPr>
        </p:nvSpPr>
        <p:spPr/>
        <p:txBody>
          <a:bodyPr/>
          <a:p>
            <a:fld id="{AA369EA8-9C5C-44B6-A3AB-43BC4F98E35B}"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988" name=""/>
        <p:cNvGrpSpPr/>
        <p:nvPr/>
      </p:nvGrpSpPr>
      <p:grpSpPr>
        <a:xfrm>
          <a:off x="0" y="0"/>
          <a:ext cx="0" cy="0"/>
          <a:chOff x="0" y="0"/>
          <a:chExt cx="0" cy="0"/>
        </a:xfrm>
      </p:grpSpPr>
      <p:sp>
        <p:nvSpPr>
          <p:cNvPr id="1049348" name="Slide Image Placeholder 1"/>
          <p:cNvSpPr>
            <a:spLocks noChangeAspect="1" noRot="1" noGrp="1"/>
          </p:cNvSpPr>
          <p:nvPr>
            <p:ph type="sldImg"/>
          </p:nvPr>
        </p:nvSpPr>
        <p:spPr>
          <a:xfrm>
            <a:off x="571500" y="685800"/>
            <a:ext cx="5715000" cy="3429000"/>
          </a:xfrm>
        </p:spPr>
      </p:sp>
      <p:sp>
        <p:nvSpPr>
          <p:cNvPr id="1049349" name="Notes Placeholder 2"/>
          <p:cNvSpPr>
            <a:spLocks noGrp="1"/>
          </p:cNvSpPr>
          <p:nvPr>
            <p:ph type="body" idx="1"/>
          </p:nvPr>
        </p:nvSpPr>
        <p:spPr/>
        <p:txBody>
          <a:bodyPr>
            <a:normAutofit/>
          </a:bodyPr>
          <a:p>
            <a:r>
              <a:rPr dirty="0" lang="en-US" smtClean="0"/>
              <a:t>Basically the shorter the duration the better the prognosis.</a:t>
            </a:r>
            <a:endParaRPr dirty="0" lang="en-US"/>
          </a:p>
        </p:txBody>
      </p:sp>
      <p:sp>
        <p:nvSpPr>
          <p:cNvPr id="1049350" name="Slide Number Placeholder 3"/>
          <p:cNvSpPr>
            <a:spLocks noGrp="1"/>
          </p:cNvSpPr>
          <p:nvPr>
            <p:ph type="sldNum" sz="quarter" idx="10"/>
          </p:nvPr>
        </p:nvSpPr>
        <p:spPr/>
        <p:txBody>
          <a:bodyPr/>
          <a:p>
            <a:fld id="{AA369EA8-9C5C-44B6-A3AB-43BC4F98E35B}"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000" name=""/>
        <p:cNvGrpSpPr/>
        <p:nvPr/>
      </p:nvGrpSpPr>
      <p:grpSpPr>
        <a:xfrm>
          <a:off x="0" y="0"/>
          <a:ext cx="0" cy="0"/>
          <a:chOff x="0" y="0"/>
          <a:chExt cx="0" cy="0"/>
        </a:xfrm>
      </p:grpSpPr>
      <p:sp>
        <p:nvSpPr>
          <p:cNvPr id="1049374" name="Slide Image Placeholder 1"/>
          <p:cNvSpPr>
            <a:spLocks noChangeAspect="1" noRot="1" noGrp="1"/>
          </p:cNvSpPr>
          <p:nvPr>
            <p:ph type="sldImg"/>
          </p:nvPr>
        </p:nvSpPr>
        <p:spPr>
          <a:xfrm>
            <a:off x="571500" y="685800"/>
            <a:ext cx="5715000" cy="3429000"/>
          </a:xfrm>
        </p:spPr>
      </p:sp>
      <p:sp>
        <p:nvSpPr>
          <p:cNvPr id="1049375" name="Notes Placeholder 2"/>
          <p:cNvSpPr>
            <a:spLocks noGrp="1"/>
          </p:cNvSpPr>
          <p:nvPr>
            <p:ph type="body" idx="1"/>
          </p:nvPr>
        </p:nvSpPr>
        <p:spPr/>
        <p:txBody>
          <a:bodyPr>
            <a:normAutofit/>
          </a:bodyPr>
          <a:p>
            <a:r>
              <a:rPr dirty="0" lang="en-US" smtClean="0"/>
              <a:t>NB </a:t>
            </a:r>
            <a:r>
              <a:rPr b="1" dirty="0" lang="en-US" smtClean="0"/>
              <a:t>: Not all </a:t>
            </a:r>
            <a:r>
              <a:rPr b="1" dirty="0" lang="en-US" err="1" smtClean="0"/>
              <a:t>diachorionic</a:t>
            </a:r>
            <a:r>
              <a:rPr b="1" dirty="0" lang="en-US" smtClean="0"/>
              <a:t> pregnancy </a:t>
            </a:r>
            <a:r>
              <a:rPr baseline="0" b="1" dirty="0" lang="en-US" smtClean="0"/>
              <a:t>  indicates </a:t>
            </a:r>
            <a:r>
              <a:rPr b="1" dirty="0" lang="en-US" err="1" smtClean="0"/>
              <a:t>diazyggosity</a:t>
            </a:r>
            <a:r>
              <a:rPr b="1" dirty="0" lang="en-US" smtClean="0"/>
              <a:t>.</a:t>
            </a:r>
          </a:p>
          <a:p>
            <a:r>
              <a:rPr baseline="0" b="1" dirty="0" lang="en-US" smtClean="0"/>
              <a:t>       </a:t>
            </a:r>
            <a:r>
              <a:rPr baseline="0" b="1" dirty="0" lang="en-US" err="1" smtClean="0"/>
              <a:t>Monochorionic</a:t>
            </a:r>
            <a:r>
              <a:rPr baseline="0" b="1" dirty="0" lang="en-US" smtClean="0"/>
              <a:t> pregnancy always indicates </a:t>
            </a:r>
            <a:r>
              <a:rPr baseline="0" b="1" dirty="0" lang="en-US" err="1" smtClean="0"/>
              <a:t>monozygosity</a:t>
            </a:r>
            <a:endParaRPr b="1" dirty="0" lang="en-US"/>
          </a:p>
        </p:txBody>
      </p:sp>
      <p:sp>
        <p:nvSpPr>
          <p:cNvPr id="1049376" name="Slide Number Placeholder 3"/>
          <p:cNvSpPr>
            <a:spLocks noGrp="1"/>
          </p:cNvSpPr>
          <p:nvPr>
            <p:ph type="sldNum" sz="quarter" idx="10"/>
          </p:nvPr>
        </p:nvSpPr>
        <p:spPr/>
        <p:txBody>
          <a:bodyPr/>
          <a:p>
            <a:fld id="{AA369EA8-9C5C-44B6-A3AB-43BC4F98E35B}"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010" name=""/>
        <p:cNvGrpSpPr/>
        <p:nvPr/>
      </p:nvGrpSpPr>
      <p:grpSpPr>
        <a:xfrm>
          <a:off x="0" y="0"/>
          <a:ext cx="0" cy="0"/>
          <a:chOff x="0" y="0"/>
          <a:chExt cx="0" cy="0"/>
        </a:xfrm>
      </p:grpSpPr>
      <p:sp>
        <p:nvSpPr>
          <p:cNvPr id="1049397" name="Slide Image Placeholder 1"/>
          <p:cNvSpPr>
            <a:spLocks noChangeAspect="1" noRot="1" noGrp="1"/>
          </p:cNvSpPr>
          <p:nvPr>
            <p:ph type="sldImg"/>
          </p:nvPr>
        </p:nvSpPr>
        <p:spPr/>
      </p:sp>
      <p:sp>
        <p:nvSpPr>
          <p:cNvPr id="1049398" name="Notes Placeholder 2"/>
          <p:cNvSpPr>
            <a:spLocks noGrp="1"/>
          </p:cNvSpPr>
          <p:nvPr>
            <p:ph type="body" idx="1"/>
          </p:nvPr>
        </p:nvSpPr>
        <p:spPr/>
        <p:txBody>
          <a:bodyPr/>
          <a:p>
            <a:endParaRPr dirty="0" lang="en-US"/>
          </a:p>
        </p:txBody>
      </p:sp>
      <p:sp>
        <p:nvSpPr>
          <p:cNvPr id="1049399" name="Slide Number Placeholder 3"/>
          <p:cNvSpPr>
            <a:spLocks noGrp="1"/>
          </p:cNvSpPr>
          <p:nvPr>
            <p:ph type="sldNum" sz="quarter" idx="10"/>
          </p:nvPr>
        </p:nvSpPr>
        <p:spPr/>
        <p:txBody>
          <a:bodyPr/>
          <a:p>
            <a:fld id="{AD8BDF61-BE7A-4E80-8D5C-EFE93BE21175}"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155" name=""/>
        <p:cNvGrpSpPr/>
        <p:nvPr/>
      </p:nvGrpSpPr>
      <p:grpSpPr>
        <a:xfrm>
          <a:off x="0" y="0"/>
          <a:ext cx="0" cy="0"/>
          <a:chOff x="0" y="0"/>
          <a:chExt cx="0" cy="0"/>
        </a:xfrm>
      </p:grpSpPr>
      <p:sp>
        <p:nvSpPr>
          <p:cNvPr id="1049718" name="Slide Image Placeholder 1"/>
          <p:cNvSpPr>
            <a:spLocks noChangeAspect="1" noRot="1" noGrp="1"/>
          </p:cNvSpPr>
          <p:nvPr>
            <p:ph type="sldImg"/>
          </p:nvPr>
        </p:nvSpPr>
        <p:spPr>
          <a:xfrm>
            <a:off x="571500" y="685800"/>
            <a:ext cx="5715000" cy="3429000"/>
          </a:xfrm>
        </p:spPr>
      </p:sp>
      <p:sp>
        <p:nvSpPr>
          <p:cNvPr id="1049719" name="Notes Placeholder 2"/>
          <p:cNvSpPr>
            <a:spLocks noGrp="1"/>
          </p:cNvSpPr>
          <p:nvPr>
            <p:ph type="body" idx="1"/>
          </p:nvPr>
        </p:nvSpPr>
        <p:spPr/>
        <p:txBody>
          <a:bodyPr>
            <a:normAutofit/>
          </a:bodyPr>
          <a:p>
            <a:pPr>
              <a:buFont typeface="Arial" pitchFamily="34" charset="0"/>
              <a:buChar char="•"/>
            </a:pPr>
            <a:r>
              <a:rPr b="1" dirty="0" lang="en-US" smtClean="0"/>
              <a:t>95% of CDP results from RHD.</a:t>
            </a:r>
          </a:p>
          <a:p>
            <a:pPr>
              <a:buFont typeface="Arial" pitchFamily="34" charset="0"/>
              <a:buChar char="•"/>
            </a:pPr>
            <a:r>
              <a:rPr b="1" dirty="0" lang="en-US" smtClean="0"/>
              <a:t>Kenyan study in KNH  showed</a:t>
            </a:r>
            <a:r>
              <a:rPr baseline="0" b="1" dirty="0" lang="en-US" smtClean="0"/>
              <a:t> that  86% of  CDP – from RHD</a:t>
            </a:r>
            <a:endParaRPr b="1" dirty="0" lang="en-US"/>
          </a:p>
        </p:txBody>
      </p:sp>
      <p:sp>
        <p:nvSpPr>
          <p:cNvPr id="1049720" name="Slide Number Placeholder 3"/>
          <p:cNvSpPr>
            <a:spLocks noGrp="1"/>
          </p:cNvSpPr>
          <p:nvPr>
            <p:ph type="sldNum" sz="quarter" idx="10"/>
          </p:nvPr>
        </p:nvSpPr>
        <p:spPr/>
        <p:txBody>
          <a:bodyPr/>
          <a:p>
            <a:fld id="{A40C5BE9-6FDC-40E7-9196-A6FB1E65F67A}" type="slidenum">
              <a:rPr lang="en-US" smtClean="0"/>
            </a:fld>
            <a:endParaRPr dirty="0"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162" name=""/>
        <p:cNvGrpSpPr/>
        <p:nvPr/>
      </p:nvGrpSpPr>
      <p:grpSpPr>
        <a:xfrm>
          <a:off x="0" y="0"/>
          <a:ext cx="0" cy="0"/>
          <a:chOff x="0" y="0"/>
          <a:chExt cx="0" cy="0"/>
        </a:xfrm>
      </p:grpSpPr>
      <p:sp>
        <p:nvSpPr>
          <p:cNvPr id="1049733" name="Slide Image Placeholder 1"/>
          <p:cNvSpPr>
            <a:spLocks noChangeAspect="1" noRot="1" noGrp="1"/>
          </p:cNvSpPr>
          <p:nvPr>
            <p:ph type="sldImg"/>
          </p:nvPr>
        </p:nvSpPr>
        <p:spPr>
          <a:xfrm>
            <a:off x="571500" y="685800"/>
            <a:ext cx="5715000" cy="3429000"/>
          </a:xfrm>
        </p:spPr>
      </p:sp>
      <p:sp>
        <p:nvSpPr>
          <p:cNvPr id="1049734" name="Notes Placeholder 2"/>
          <p:cNvSpPr>
            <a:spLocks noGrp="1"/>
          </p:cNvSpPr>
          <p:nvPr>
            <p:ph type="body" idx="1"/>
          </p:nvPr>
        </p:nvSpPr>
        <p:spPr/>
        <p:txBody>
          <a:bodyPr>
            <a:normAutofit/>
          </a:bodyPr>
          <a:p>
            <a:pPr>
              <a:buFont typeface="Arial" pitchFamily="34" charset="0"/>
              <a:buChar char="•"/>
            </a:pPr>
            <a:r>
              <a:rPr b="1" dirty="0" lang="en-US" smtClean="0"/>
              <a:t>Echocardiography, outlines the interior structures = a confirmatory test.</a:t>
            </a:r>
          </a:p>
          <a:p>
            <a:pPr>
              <a:buFont typeface="Arial" pitchFamily="34" charset="0"/>
              <a:buChar char="•"/>
            </a:pPr>
            <a:r>
              <a:rPr b="1" dirty="0" lang="en-US" smtClean="0"/>
              <a:t>C hest X-Ray in early preg. Shield</a:t>
            </a:r>
            <a:r>
              <a:rPr baseline="0" b="1" dirty="0" lang="en-US" smtClean="0"/>
              <a:t> the pelvis &amp; abdomen</a:t>
            </a:r>
            <a:endParaRPr b="1" dirty="0" lang="en-US"/>
          </a:p>
        </p:txBody>
      </p:sp>
      <p:sp>
        <p:nvSpPr>
          <p:cNvPr id="1049735" name="Slide Number Placeholder 3"/>
          <p:cNvSpPr>
            <a:spLocks noGrp="1"/>
          </p:cNvSpPr>
          <p:nvPr>
            <p:ph type="sldNum" sz="quarter" idx="10"/>
          </p:nvPr>
        </p:nvSpPr>
        <p:spPr/>
        <p:txBody>
          <a:bodyPr/>
          <a:p>
            <a:fld id="{A40C5BE9-6FDC-40E7-9196-A6FB1E65F67A}" type="slidenum">
              <a:rPr lang="en-US" smtClean="0"/>
            </a:fld>
            <a:endParaRPr dirty="0"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191" name=""/>
        <p:cNvGrpSpPr/>
        <p:nvPr/>
      </p:nvGrpSpPr>
      <p:grpSpPr>
        <a:xfrm>
          <a:off x="0" y="0"/>
          <a:ext cx="0" cy="0"/>
          <a:chOff x="0" y="0"/>
          <a:chExt cx="0" cy="0"/>
        </a:xfrm>
      </p:grpSpPr>
      <p:sp>
        <p:nvSpPr>
          <p:cNvPr id="1049797" name="Slide Image Placeholder 1"/>
          <p:cNvSpPr>
            <a:spLocks noChangeAspect="1" noRot="1" noGrp="1"/>
          </p:cNvSpPr>
          <p:nvPr>
            <p:ph type="sldImg"/>
          </p:nvPr>
        </p:nvSpPr>
        <p:spPr>
          <a:xfrm>
            <a:off x="571500" y="685800"/>
            <a:ext cx="5715000" cy="3429000"/>
          </a:xfrm>
        </p:spPr>
      </p:sp>
      <p:sp>
        <p:nvSpPr>
          <p:cNvPr id="1049798" name="Notes Placeholder 2"/>
          <p:cNvSpPr>
            <a:spLocks noGrp="1"/>
          </p:cNvSpPr>
          <p:nvPr>
            <p:ph type="body" idx="1"/>
          </p:nvPr>
        </p:nvSpPr>
        <p:spPr/>
        <p:txBody>
          <a:bodyPr>
            <a:normAutofit/>
          </a:bodyPr>
          <a:p>
            <a:pPr>
              <a:buFont typeface="Arial" pitchFamily="34" charset="0"/>
              <a:buChar char="•"/>
            </a:pPr>
            <a:r>
              <a:rPr b="1" dirty="0" lang="en-US" smtClean="0"/>
              <a:t>Progesterone only examples  are, microlut pill, Depo noristerat injection</a:t>
            </a:r>
            <a:r>
              <a:rPr baseline="0" b="1" dirty="0" lang="en-US" smtClean="0"/>
              <a:t> &amp; Norplant.</a:t>
            </a:r>
            <a:endParaRPr b="1" dirty="0" lang="en-US"/>
          </a:p>
        </p:txBody>
      </p:sp>
      <p:sp>
        <p:nvSpPr>
          <p:cNvPr id="1049799" name="Slide Number Placeholder 3"/>
          <p:cNvSpPr>
            <a:spLocks noGrp="1"/>
          </p:cNvSpPr>
          <p:nvPr>
            <p:ph type="sldNum" sz="quarter" idx="10"/>
          </p:nvPr>
        </p:nvSpPr>
        <p:spPr/>
        <p:txBody>
          <a:bodyPr/>
          <a:p>
            <a:fld id="{A40C5BE9-6FDC-40E7-9196-A6FB1E65F67A}" type="slidenum">
              <a:rPr lang="en-US" smtClean="0"/>
            </a:fld>
            <a:endParaRPr dirty="0"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198" name=""/>
        <p:cNvGrpSpPr/>
        <p:nvPr/>
      </p:nvGrpSpPr>
      <p:grpSpPr>
        <a:xfrm>
          <a:off x="0" y="0"/>
          <a:ext cx="0" cy="0"/>
          <a:chOff x="0" y="0"/>
          <a:chExt cx="0" cy="0"/>
        </a:xfrm>
      </p:grpSpPr>
      <p:sp>
        <p:nvSpPr>
          <p:cNvPr id="1049812" name="Slide Image Placeholder 1"/>
          <p:cNvSpPr>
            <a:spLocks noChangeAspect="1" noRot="1" noGrp="1"/>
          </p:cNvSpPr>
          <p:nvPr>
            <p:ph type="sldImg"/>
          </p:nvPr>
        </p:nvSpPr>
        <p:spPr>
          <a:xfrm>
            <a:off x="571500" y="685800"/>
            <a:ext cx="5715000" cy="3429000"/>
          </a:xfrm>
        </p:spPr>
      </p:sp>
      <p:sp>
        <p:nvSpPr>
          <p:cNvPr id="1049813" name="Notes Placeholder 2"/>
          <p:cNvSpPr>
            <a:spLocks noGrp="1"/>
          </p:cNvSpPr>
          <p:nvPr>
            <p:ph type="body" idx="1"/>
          </p:nvPr>
        </p:nvSpPr>
        <p:spPr/>
        <p:txBody>
          <a:bodyPr>
            <a:normAutofit/>
          </a:bodyPr>
          <a:p>
            <a:pPr>
              <a:buFont typeface="Arial" pitchFamily="34" charset="0"/>
              <a:buChar char="•"/>
            </a:pPr>
            <a:r>
              <a:rPr b="1" dirty="0" lang="en-US" smtClean="0"/>
              <a:t>Congestion  at  the pulmonary  vasculation = to cyanosis</a:t>
            </a:r>
            <a:endParaRPr b="1" dirty="0" lang="en-US"/>
          </a:p>
        </p:txBody>
      </p:sp>
      <p:sp>
        <p:nvSpPr>
          <p:cNvPr id="1049814" name="Slide Number Placeholder 3"/>
          <p:cNvSpPr>
            <a:spLocks noGrp="1"/>
          </p:cNvSpPr>
          <p:nvPr>
            <p:ph type="sldNum" sz="quarter" idx="10"/>
          </p:nvPr>
        </p:nvSpPr>
        <p:spPr/>
        <p:txBody>
          <a:bodyPr/>
          <a:p>
            <a:fld id="{A40C5BE9-6FDC-40E7-9196-A6FB1E65F67A}" type="slidenum">
              <a:rPr lang="en-US" smtClean="0"/>
            </a:fld>
            <a:endParaRPr dirty="0"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233" name=""/>
        <p:cNvGrpSpPr/>
        <p:nvPr/>
      </p:nvGrpSpPr>
      <p:grpSpPr>
        <a:xfrm>
          <a:off x="0" y="0"/>
          <a:ext cx="0" cy="0"/>
          <a:chOff x="0" y="0"/>
          <a:chExt cx="0" cy="0"/>
        </a:xfrm>
      </p:grpSpPr>
      <p:sp>
        <p:nvSpPr>
          <p:cNvPr id="1049885" name="Slide Image Placeholder 1"/>
          <p:cNvSpPr>
            <a:spLocks noChangeAspect="1" noRot="1" noGrp="1"/>
          </p:cNvSpPr>
          <p:nvPr>
            <p:ph type="sldImg"/>
          </p:nvPr>
        </p:nvSpPr>
        <p:spPr>
          <a:xfrm>
            <a:off x="571500" y="685800"/>
            <a:ext cx="5715000" cy="3429000"/>
          </a:xfrm>
        </p:spPr>
      </p:sp>
      <p:sp>
        <p:nvSpPr>
          <p:cNvPr id="1049886" name="Notes Placeholder 2"/>
          <p:cNvSpPr>
            <a:spLocks noGrp="1"/>
          </p:cNvSpPr>
          <p:nvPr>
            <p:ph type="body" idx="1"/>
          </p:nvPr>
        </p:nvSpPr>
        <p:spPr/>
        <p:txBody>
          <a:bodyPr>
            <a:normAutofit/>
          </a:bodyPr>
          <a:p>
            <a:r>
              <a:rPr dirty="0" lang="en-US" smtClean="0"/>
              <a:t>Commonly used fluid to correct dehydration :Dextrose saline to alternate with </a:t>
            </a:r>
            <a:r>
              <a:rPr dirty="0" lang="en-US" err="1" smtClean="0"/>
              <a:t>hartman’s</a:t>
            </a:r>
            <a:r>
              <a:rPr dirty="0" lang="en-US" smtClean="0"/>
              <a:t> solution.</a:t>
            </a:r>
            <a:endParaRPr dirty="0" lang="en-US"/>
          </a:p>
        </p:txBody>
      </p:sp>
      <p:sp>
        <p:nvSpPr>
          <p:cNvPr id="1049887" name="Slide Number Placeholder 3"/>
          <p:cNvSpPr>
            <a:spLocks noGrp="1"/>
          </p:cNvSpPr>
          <p:nvPr>
            <p:ph type="sldNum" sz="quarter" idx="10"/>
          </p:nvPr>
        </p:nvSpPr>
        <p:spPr/>
        <p:txBody>
          <a:bodyPr/>
          <a:p>
            <a:fld id="{D52D01F6-8FCB-45C7-B8C6-008DAADC1380}"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246" name=""/>
        <p:cNvGrpSpPr/>
        <p:nvPr/>
      </p:nvGrpSpPr>
      <p:grpSpPr>
        <a:xfrm>
          <a:off x="0" y="0"/>
          <a:ext cx="0" cy="0"/>
          <a:chOff x="0" y="0"/>
          <a:chExt cx="0" cy="0"/>
        </a:xfrm>
      </p:grpSpPr>
      <p:sp>
        <p:nvSpPr>
          <p:cNvPr id="1049913" name="Slide Image Placeholder 1"/>
          <p:cNvSpPr>
            <a:spLocks noChangeAspect="1" noRot="1" noGrp="1"/>
          </p:cNvSpPr>
          <p:nvPr>
            <p:ph type="sldImg"/>
          </p:nvPr>
        </p:nvSpPr>
        <p:spPr>
          <a:xfrm>
            <a:off x="571500" y="685800"/>
            <a:ext cx="5715000" cy="3429000"/>
          </a:xfrm>
        </p:spPr>
      </p:sp>
      <p:sp>
        <p:nvSpPr>
          <p:cNvPr id="1049914" name="Notes Placeholder 2"/>
          <p:cNvSpPr>
            <a:spLocks noGrp="1"/>
          </p:cNvSpPr>
          <p:nvPr>
            <p:ph type="body" idx="1"/>
          </p:nvPr>
        </p:nvSpPr>
        <p:spPr/>
        <p:txBody>
          <a:bodyPr>
            <a:normAutofit/>
          </a:bodyPr>
          <a:p>
            <a:r>
              <a:rPr b="1" dirty="0" lang="en-US" smtClean="0"/>
              <a:t>AL &amp; QUININE </a:t>
            </a:r>
            <a:r>
              <a:rPr dirty="0" lang="en-US" smtClean="0"/>
              <a:t>are the </a:t>
            </a:r>
            <a:r>
              <a:rPr dirty="0" lang="en-US" err="1" smtClean="0"/>
              <a:t>antimalaria</a:t>
            </a:r>
            <a:r>
              <a:rPr dirty="0" lang="en-US" smtClean="0"/>
              <a:t> drugs that are safe for a breastfeeding mother</a:t>
            </a:r>
            <a:endParaRPr dirty="0" lang="en-US"/>
          </a:p>
        </p:txBody>
      </p:sp>
      <p:sp>
        <p:nvSpPr>
          <p:cNvPr id="1049915" name="Slide Number Placeholder 3"/>
          <p:cNvSpPr>
            <a:spLocks noGrp="1"/>
          </p:cNvSpPr>
          <p:nvPr>
            <p:ph type="sldNum" sz="quarter" idx="10"/>
          </p:nvPr>
        </p:nvSpPr>
        <p:spPr/>
        <p:txBody>
          <a:bodyPr/>
          <a:p>
            <a:fld id="{AD8BDF61-BE7A-4E80-8D5C-EFE93BE21175}"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356" name=""/>
        <p:cNvGrpSpPr/>
        <p:nvPr/>
      </p:nvGrpSpPr>
      <p:grpSpPr>
        <a:xfrm>
          <a:off x="0" y="0"/>
          <a:ext cx="0" cy="0"/>
          <a:chOff x="0" y="0"/>
          <a:chExt cx="0" cy="0"/>
        </a:xfrm>
      </p:grpSpPr>
      <p:sp>
        <p:nvSpPr>
          <p:cNvPr id="1050159" name="Slide Image Placeholder 1"/>
          <p:cNvSpPr>
            <a:spLocks noChangeAspect="1" noRot="1" noGrp="1"/>
          </p:cNvSpPr>
          <p:nvPr>
            <p:ph type="sldImg"/>
          </p:nvPr>
        </p:nvSpPr>
        <p:spPr>
          <a:xfrm>
            <a:off x="571500" y="685800"/>
            <a:ext cx="5715000" cy="3429000"/>
          </a:xfrm>
        </p:spPr>
      </p:sp>
      <p:sp>
        <p:nvSpPr>
          <p:cNvPr id="1050160" name="Notes Placeholder 2"/>
          <p:cNvSpPr>
            <a:spLocks noGrp="1"/>
          </p:cNvSpPr>
          <p:nvPr>
            <p:ph type="body" idx="1"/>
          </p:nvPr>
        </p:nvSpPr>
        <p:spPr/>
        <p:txBody>
          <a:bodyPr>
            <a:normAutofit/>
          </a:bodyPr>
          <a:p>
            <a:endParaRPr dirty="0" lang="en-US"/>
          </a:p>
        </p:txBody>
      </p:sp>
      <p:sp>
        <p:nvSpPr>
          <p:cNvPr id="1050161" name="Slide Number Placeholder 3"/>
          <p:cNvSpPr>
            <a:spLocks noGrp="1"/>
          </p:cNvSpPr>
          <p:nvPr>
            <p:ph type="sldNum" sz="quarter" idx="10"/>
          </p:nvPr>
        </p:nvSpPr>
        <p:spPr/>
        <p:txBody>
          <a:bodyPr/>
          <a:p>
            <a:fld id="{D55C6635-9473-4ED6-B348-F583F26E9EB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png"/><Relationship Id="rId3"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0.png"/><Relationship Id="rId3"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bg>
      <p:bgRef idx="1003">
        <a:schemeClr val="bg1"/>
      </p:bgRef>
    </p:bg>
    <p:spTree>
      <p:nvGrpSpPr>
        <p:cNvPr id="642" name=""/>
        <p:cNvGrpSpPr/>
        <p:nvPr/>
      </p:nvGrpSpPr>
      <p:grpSpPr>
        <a:xfrm>
          <a:off x="0" y="0"/>
          <a:ext cx="0" cy="0"/>
          <a:chOff x="0" y="0"/>
          <a:chExt cx="0" cy="0"/>
        </a:xfrm>
      </p:grpSpPr>
      <p:sp>
        <p:nvSpPr>
          <p:cNvPr id="1048614" name="Rectangle 11"/>
          <p:cNvSpPr/>
          <p:nvPr/>
        </p:nvSpPr>
        <p:spPr>
          <a:xfrm>
            <a:off x="0" y="0"/>
            <a:ext cx="11430000" cy="6858000"/>
          </a:xfrm>
          <a:prstGeom prst="rect"/>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useBgFill="1">
        <p:nvSpPr>
          <p:cNvPr id="1048615" name="Rounded Rectangle 12"/>
          <p:cNvSpPr/>
          <p:nvPr/>
        </p:nvSpPr>
        <p:spPr>
          <a:xfrm>
            <a:off x="81644" y="69764"/>
            <a:ext cx="11266716"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p>
            <a:pPr algn="ctr" eaLnBrk="1" hangingPunct="1" latinLnBrk="0"/>
            <a:endParaRPr kumimoji="0" lang="en-US"/>
          </a:p>
        </p:txBody>
      </p:sp>
      <p:sp>
        <p:nvSpPr>
          <p:cNvPr id="1048616" name="Subtitle 8"/>
          <p:cNvSpPr>
            <a:spLocks noGrp="1"/>
          </p:cNvSpPr>
          <p:nvPr>
            <p:ph type="subTitle" idx="1"/>
          </p:nvPr>
        </p:nvSpPr>
        <p:spPr>
          <a:xfrm>
            <a:off x="1619251" y="3200400"/>
            <a:ext cx="8001000" cy="1600200"/>
          </a:xfrm>
        </p:spPr>
        <p:txBody>
          <a:bodyPr/>
          <a:lstStyle>
            <a:lvl1pPr algn="ctr" indent="0" marL="0">
              <a:buNone/>
              <a:defRPr sz="2600">
                <a:solidFill>
                  <a:schemeClr val="tx2"/>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8617" name="Date Placeholder 27"/>
          <p:cNvSpPr>
            <a:spLocks noGrp="1"/>
          </p:cNvSpPr>
          <p:nvPr>
            <p:ph type="dt" sz="half" idx="10"/>
          </p:nvPr>
        </p:nvSpPr>
        <p:spPr/>
        <p:txBody>
          <a:bodyPr/>
          <a:p>
            <a:fld id="{024082EF-15F8-4BEC-8CB3-3F1F07BCECEB}" type="datetime1">
              <a:rPr lang="en-US" smtClean="0"/>
            </a:fld>
            <a:endParaRPr lang="en-US"/>
          </a:p>
        </p:txBody>
      </p:sp>
      <p:sp>
        <p:nvSpPr>
          <p:cNvPr id="1048618" name="Footer Placeholder 16"/>
          <p:cNvSpPr>
            <a:spLocks noGrp="1"/>
          </p:cNvSpPr>
          <p:nvPr>
            <p:ph type="ftr" sz="quarter" idx="11"/>
          </p:nvPr>
        </p:nvSpPr>
        <p:spPr/>
        <p:txBody>
          <a:bodyPr/>
          <a:p>
            <a:r>
              <a:rPr lang="en-US" smtClean="0"/>
              <a:t>@MUSOVYA2017</a:t>
            </a:r>
            <a:endParaRPr lang="en-US"/>
          </a:p>
        </p:txBody>
      </p:sp>
      <p:sp>
        <p:nvSpPr>
          <p:cNvPr id="1048619" name="Slide Number Placeholder 28"/>
          <p:cNvSpPr>
            <a:spLocks noGrp="1"/>
          </p:cNvSpPr>
          <p:nvPr>
            <p:ph type="sldNum" sz="quarter" idx="12"/>
          </p:nvPr>
        </p:nvSpPr>
        <p:spPr/>
        <p:txBody>
          <a:bodyPr bIns="0" lIns="0" rIns="0" tIns="0">
            <a:noAutofit/>
          </a:bodyPr>
          <a:lstStyle>
            <a:lvl1pPr>
              <a:defRPr sz="1400">
                <a:solidFill>
                  <a:srgbClr val="FFFFFF"/>
                </a:solidFill>
              </a:defRPr>
            </a:lvl1pPr>
          </a:lstStyle>
          <a:p>
            <a:fld id="{539D2A76-69E3-4600-8808-3C1A10934549}" type="slidenum">
              <a:rPr lang="en-US" smtClean="0"/>
            </a:fld>
            <a:endParaRPr lang="en-US"/>
          </a:p>
        </p:txBody>
      </p:sp>
      <p:sp>
        <p:nvSpPr>
          <p:cNvPr id="1048620" name="Rectangle 6"/>
          <p:cNvSpPr/>
          <p:nvPr/>
        </p:nvSpPr>
        <p:spPr>
          <a:xfrm>
            <a:off x="78673" y="1449311"/>
            <a:ext cx="11276921" cy="1527349"/>
          </a:xfrm>
          <a:prstGeom prst="rect"/>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21" name="Rectangle 9"/>
          <p:cNvSpPr/>
          <p:nvPr/>
        </p:nvSpPr>
        <p:spPr>
          <a:xfrm>
            <a:off x="78673" y="1396722"/>
            <a:ext cx="11276921" cy="120580"/>
          </a:xfrm>
          <a:prstGeom prst="rect"/>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22" name="Rectangle 10"/>
          <p:cNvSpPr/>
          <p:nvPr/>
        </p:nvSpPr>
        <p:spPr>
          <a:xfrm>
            <a:off x="78673" y="2976650"/>
            <a:ext cx="11276921" cy="110532"/>
          </a:xfrm>
          <a:prstGeom prst="rect"/>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23" name="Title 7"/>
          <p:cNvSpPr>
            <a:spLocks noGrp="1"/>
          </p:cNvSpPr>
          <p:nvPr>
            <p:ph type="ctrTitle"/>
          </p:nvPr>
        </p:nvSpPr>
        <p:spPr>
          <a:xfrm>
            <a:off x="571500" y="1505940"/>
            <a:ext cx="10287000" cy="1470025"/>
          </a:xfrm>
        </p:spPr>
        <p:txBody>
          <a:bodyPr anchor="ctr"/>
          <a:lstStyle>
            <a:lvl1pPr algn="ctr">
              <a:defRPr dirty="0" lang="en-US">
                <a:solidFill>
                  <a:srgbClr val="FFFFFF"/>
                </a:solidFill>
              </a:defRPr>
            </a:lvl1pPr>
          </a:lstStyle>
          <a:p>
            <a:r>
              <a:rPr kumimoji="0" lang="en-US" smtClean="0"/>
              <a:t>Click to edit Master title style</a:t>
            </a:r>
            <a:endParaRPr kumimoji="0" lang="en-US"/>
          </a:p>
        </p:txBody>
      </p:sp>
    </p:spTree>
  </p:cSld>
  <p:clrMapOvr>
    <a:overrideClrMapping accent1="accent1" accent2="accent2" accent3="accent3" accent4="accent4" accent5="accent5" accent6="accent6" bg1="lt1" bg2="lt2" tx1="dk1" tx2="dk2" hlink="hlink" folHlink="folHlink"/>
  </p:clrMapOvr>
  <p:transition xmlns:p14="http://schemas.microsoft.com/office/powerpoint/2010/main" spd="slow">
    <p:strips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44" name=""/>
        <p:cNvGrpSpPr/>
        <p:nvPr/>
      </p:nvGrpSpPr>
      <p:grpSpPr>
        <a:xfrm>
          <a:off x="0" y="0"/>
          <a:ext cx="0" cy="0"/>
          <a:chOff x="0" y="0"/>
          <a:chExt cx="0" cy="0"/>
        </a:xfrm>
      </p:grpSpPr>
      <p:sp>
        <p:nvSpPr>
          <p:cNvPr id="1048626" name="Title 1"/>
          <p:cNvSpPr>
            <a:spLocks noGrp="1"/>
          </p:cNvSpPr>
          <p:nvPr>
            <p:ph type="title"/>
          </p:nvPr>
        </p:nvSpPr>
        <p:spPr/>
        <p:txBody>
          <a:bodyPr/>
          <a:p>
            <a:r>
              <a:rPr kumimoji="0" lang="en-US" smtClean="0"/>
              <a:t>Click to edit Master title style</a:t>
            </a:r>
            <a:endParaRPr kumimoji="0" lang="en-US"/>
          </a:p>
        </p:txBody>
      </p:sp>
      <p:sp>
        <p:nvSpPr>
          <p:cNvPr id="1048627" name="Date Placeholder 3"/>
          <p:cNvSpPr>
            <a:spLocks noGrp="1"/>
          </p:cNvSpPr>
          <p:nvPr>
            <p:ph type="dt" sz="half" idx="10"/>
          </p:nvPr>
        </p:nvSpPr>
        <p:spPr/>
        <p:txBody>
          <a:bodyPr/>
          <a:p>
            <a:fld id="{B9DDF048-D4F6-4533-AD30-7AEE5C68162A}" type="datetime1">
              <a:rPr lang="en-US" smtClean="0"/>
            </a:fld>
            <a:endParaRPr lang="en-US"/>
          </a:p>
        </p:txBody>
      </p:sp>
      <p:sp>
        <p:nvSpPr>
          <p:cNvPr id="1048628" name="Footer Placeholder 4"/>
          <p:cNvSpPr>
            <a:spLocks noGrp="1"/>
          </p:cNvSpPr>
          <p:nvPr>
            <p:ph type="ftr" sz="quarter" idx="11"/>
          </p:nvPr>
        </p:nvSpPr>
        <p:spPr/>
        <p:txBody>
          <a:bodyPr/>
          <a:p>
            <a:r>
              <a:rPr lang="en-US" smtClean="0"/>
              <a:t>@MUSOVYA2017</a:t>
            </a:r>
            <a:endParaRPr lang="en-US"/>
          </a:p>
        </p:txBody>
      </p:sp>
      <p:sp>
        <p:nvSpPr>
          <p:cNvPr id="1048629" name="Slide Number Placeholder 5"/>
          <p:cNvSpPr>
            <a:spLocks noGrp="1"/>
          </p:cNvSpPr>
          <p:nvPr>
            <p:ph type="sldNum" sz="quarter" idx="12"/>
          </p:nvPr>
        </p:nvSpPr>
        <p:spPr/>
        <p:txBody>
          <a:bodyPr/>
          <a:p>
            <a:fld id="{539D2A76-69E3-4600-8808-3C1A10934549}" type="slidenum">
              <a:rPr lang="en-US" smtClean="0"/>
            </a:fld>
            <a:endParaRPr lang="en-US"/>
          </a:p>
        </p:txBody>
      </p:sp>
      <p:sp>
        <p:nvSpPr>
          <p:cNvPr id="1048630" name="Content Placeholder 7"/>
          <p:cNvSpPr>
            <a:spLocks noGrp="1"/>
          </p:cNvSpPr>
          <p:nvPr>
            <p:ph sz="quarter" idx="1"/>
          </p:nvPr>
        </p:nvSpPr>
        <p:spPr>
          <a:xfrm>
            <a:off x="1143000" y="1447800"/>
            <a:ext cx="9715500" cy="45720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spd="slow">
    <p:strips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bg>
      <p:bgRef idx="1003">
        <a:schemeClr val="bg1"/>
      </p:bgRef>
    </p:bg>
    <p:spTree>
      <p:nvGrpSpPr>
        <p:cNvPr id="1452" name=""/>
        <p:cNvGrpSpPr/>
        <p:nvPr/>
      </p:nvGrpSpPr>
      <p:grpSpPr>
        <a:xfrm>
          <a:off x="0" y="0"/>
          <a:ext cx="0" cy="0"/>
          <a:chOff x="0" y="0"/>
          <a:chExt cx="0" cy="0"/>
        </a:xfrm>
      </p:grpSpPr>
      <p:sp>
        <p:nvSpPr>
          <p:cNvPr id="1050549" name="Rectangle 10"/>
          <p:cNvSpPr/>
          <p:nvPr/>
        </p:nvSpPr>
        <p:spPr>
          <a:xfrm>
            <a:off x="0" y="0"/>
            <a:ext cx="11430000" cy="6858000"/>
          </a:xfrm>
          <a:prstGeom prst="rect"/>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useBgFill="1">
        <p:nvSpPr>
          <p:cNvPr id="1050550" name="Rounded Rectangle 9"/>
          <p:cNvSpPr/>
          <p:nvPr/>
        </p:nvSpPr>
        <p:spPr>
          <a:xfrm>
            <a:off x="81644" y="69764"/>
            <a:ext cx="11266716"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p>
            <a:pPr algn="ctr" eaLnBrk="1" hangingPunct="1" latinLnBrk="0"/>
            <a:endParaRPr kumimoji="0" lang="en-US"/>
          </a:p>
        </p:txBody>
      </p:sp>
      <p:sp>
        <p:nvSpPr>
          <p:cNvPr id="1050551" name="Title 1"/>
          <p:cNvSpPr>
            <a:spLocks noGrp="1"/>
          </p:cNvSpPr>
          <p:nvPr>
            <p:ph type="title"/>
          </p:nvPr>
        </p:nvSpPr>
        <p:spPr>
          <a:xfrm>
            <a:off x="902892" y="952508"/>
            <a:ext cx="9715500" cy="1362075"/>
          </a:xfrm>
        </p:spPr>
        <p:txBody>
          <a:bodyPr anchor="b" anchorCtr="0"/>
          <a:lstStyle>
            <a:lvl1pPr algn="l">
              <a:buNone/>
              <a:defRPr b="0" cap="none" sz="4000"/>
            </a:lvl1pPr>
          </a:lstStyle>
          <a:p>
            <a:r>
              <a:rPr kumimoji="0" lang="en-US" smtClean="0"/>
              <a:t>Click to edit Master title style</a:t>
            </a:r>
            <a:endParaRPr kumimoji="0" lang="en-US"/>
          </a:p>
        </p:txBody>
      </p:sp>
      <p:sp>
        <p:nvSpPr>
          <p:cNvPr id="1050552" name="Text Placeholder 2"/>
          <p:cNvSpPr>
            <a:spLocks noGrp="1"/>
          </p:cNvSpPr>
          <p:nvPr>
            <p:ph type="body" idx="1"/>
          </p:nvPr>
        </p:nvSpPr>
        <p:spPr>
          <a:xfrm>
            <a:off x="902892" y="2547946"/>
            <a:ext cx="9715500" cy="1338263"/>
          </a:xfrm>
        </p:spPr>
        <p:txBody>
          <a:bodyPr anchor="t" anchorCtr="0"/>
          <a:lstStyle>
            <a:lvl1pPr indent="0" marL="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553" name="Date Placeholder 3"/>
          <p:cNvSpPr>
            <a:spLocks noGrp="1"/>
          </p:cNvSpPr>
          <p:nvPr>
            <p:ph type="dt" sz="half" idx="10"/>
          </p:nvPr>
        </p:nvSpPr>
        <p:spPr/>
        <p:txBody>
          <a:bodyPr/>
          <a:p>
            <a:fld id="{6F967DDC-9616-447E-B052-95CA9D5FF946}" type="datetime1">
              <a:rPr lang="en-US" smtClean="0"/>
            </a:fld>
            <a:endParaRPr lang="en-US"/>
          </a:p>
        </p:txBody>
      </p:sp>
      <p:sp>
        <p:nvSpPr>
          <p:cNvPr id="1050554" name="Footer Placeholder 4"/>
          <p:cNvSpPr>
            <a:spLocks noGrp="1"/>
          </p:cNvSpPr>
          <p:nvPr>
            <p:ph type="ftr" sz="quarter" idx="11"/>
          </p:nvPr>
        </p:nvSpPr>
        <p:spPr>
          <a:xfrm>
            <a:off x="1000130" y="6172200"/>
            <a:ext cx="5000625" cy="457200"/>
          </a:xfrm>
        </p:spPr>
        <p:txBody>
          <a:bodyPr/>
          <a:p>
            <a:r>
              <a:rPr lang="en-US" smtClean="0"/>
              <a:t>@MUSOVYA2017</a:t>
            </a:r>
            <a:endParaRPr lang="en-US"/>
          </a:p>
        </p:txBody>
      </p:sp>
      <p:sp>
        <p:nvSpPr>
          <p:cNvPr id="1050555" name="Rectangle 6"/>
          <p:cNvSpPr/>
          <p:nvPr/>
        </p:nvSpPr>
        <p:spPr>
          <a:xfrm flipV="1">
            <a:off x="86773" y="2376831"/>
            <a:ext cx="11266894" cy="91440"/>
          </a:xfrm>
          <a:prstGeom prst="rect"/>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556" name="Rectangle 7"/>
          <p:cNvSpPr/>
          <p:nvPr/>
        </p:nvSpPr>
        <p:spPr>
          <a:xfrm>
            <a:off x="86441" y="2341485"/>
            <a:ext cx="11267226" cy="45719"/>
          </a:xfrm>
          <a:prstGeom prst="rect"/>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557" name="Rectangle 8"/>
          <p:cNvSpPr/>
          <p:nvPr/>
        </p:nvSpPr>
        <p:spPr>
          <a:xfrm>
            <a:off x="85391" y="2468880"/>
            <a:ext cx="11268276" cy="45720"/>
          </a:xfrm>
          <a:prstGeom prst="rect"/>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558" name="Slide Number Placeholder 5"/>
          <p:cNvSpPr>
            <a:spLocks noGrp="1"/>
          </p:cNvSpPr>
          <p:nvPr>
            <p:ph type="sldNum" sz="quarter" idx="12"/>
          </p:nvPr>
        </p:nvSpPr>
        <p:spPr>
          <a:xfrm>
            <a:off x="182880" y="6208776"/>
            <a:ext cx="571500" cy="457200"/>
          </a:xfrm>
        </p:spPr>
        <p:txBody>
          <a:bodyPr/>
          <a:p>
            <a:fld id="{539D2A76-69E3-4600-8808-3C1A10934549}" type="slidenum">
              <a:rPr lang="en-US" smtClean="0"/>
            </a:fld>
            <a:endParaRPr lang="en-US"/>
          </a:p>
        </p:txBody>
      </p:sp>
    </p:spTree>
  </p:cSld>
  <p:clrMapOvr>
    <a:overrideClrMapping accent1="accent1" accent2="accent2" accent3="accent3" accent4="accent4" accent5="accent5" accent6="accent6" bg1="lt1" bg2="lt2" tx1="dk1" tx2="dk2" hlink="hlink" folHlink="folHlink"/>
  </p:clrMapOvr>
  <p:transition xmlns:p14="http://schemas.microsoft.com/office/powerpoint/2010/main" spd="slow">
    <p:strips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46" name=""/>
        <p:cNvGrpSpPr/>
        <p:nvPr/>
      </p:nvGrpSpPr>
      <p:grpSpPr>
        <a:xfrm>
          <a:off x="0" y="0"/>
          <a:ext cx="0" cy="0"/>
          <a:chOff x="0" y="0"/>
          <a:chExt cx="0" cy="0"/>
        </a:xfrm>
      </p:grpSpPr>
      <p:sp>
        <p:nvSpPr>
          <p:cNvPr id="1048634" name="Title 1"/>
          <p:cNvSpPr>
            <a:spLocks noGrp="1"/>
          </p:cNvSpPr>
          <p:nvPr>
            <p:ph type="title"/>
          </p:nvPr>
        </p:nvSpPr>
        <p:spPr/>
        <p:txBody>
          <a:bodyPr/>
          <a:p>
            <a:r>
              <a:rPr kumimoji="0" lang="en-US" smtClean="0"/>
              <a:t>Click to edit Master title style</a:t>
            </a:r>
            <a:endParaRPr kumimoji="0" lang="en-US"/>
          </a:p>
        </p:txBody>
      </p:sp>
      <p:sp>
        <p:nvSpPr>
          <p:cNvPr id="1048635" name="Date Placeholder 4"/>
          <p:cNvSpPr>
            <a:spLocks noGrp="1"/>
          </p:cNvSpPr>
          <p:nvPr>
            <p:ph type="dt" sz="half" idx="10"/>
          </p:nvPr>
        </p:nvSpPr>
        <p:spPr/>
        <p:txBody>
          <a:bodyPr/>
          <a:p>
            <a:fld id="{C2AB8212-F859-456A-AA52-04776865FE79}" type="datetime1">
              <a:rPr lang="en-US" smtClean="0"/>
            </a:fld>
            <a:endParaRPr lang="en-US"/>
          </a:p>
        </p:txBody>
      </p:sp>
      <p:sp>
        <p:nvSpPr>
          <p:cNvPr id="1048636" name="Footer Placeholder 5"/>
          <p:cNvSpPr>
            <a:spLocks noGrp="1"/>
          </p:cNvSpPr>
          <p:nvPr>
            <p:ph type="ftr" sz="quarter" idx="11"/>
          </p:nvPr>
        </p:nvSpPr>
        <p:spPr/>
        <p:txBody>
          <a:bodyPr/>
          <a:p>
            <a:r>
              <a:rPr lang="en-US" smtClean="0"/>
              <a:t>@MUSOVYA2017</a:t>
            </a:r>
            <a:endParaRPr lang="en-US"/>
          </a:p>
        </p:txBody>
      </p:sp>
      <p:sp>
        <p:nvSpPr>
          <p:cNvPr id="1048637"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48638" name="Content Placeholder 8"/>
          <p:cNvSpPr>
            <a:spLocks noGrp="1"/>
          </p:cNvSpPr>
          <p:nvPr>
            <p:ph sz="quarter" idx="1"/>
          </p:nvPr>
        </p:nvSpPr>
        <p:spPr>
          <a:xfrm>
            <a:off x="1143000" y="1447800"/>
            <a:ext cx="4686300" cy="45720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39" name="Content Placeholder 10"/>
          <p:cNvSpPr>
            <a:spLocks noGrp="1"/>
          </p:cNvSpPr>
          <p:nvPr>
            <p:ph sz="quarter" idx="2"/>
          </p:nvPr>
        </p:nvSpPr>
        <p:spPr>
          <a:xfrm>
            <a:off x="6167440" y="1447800"/>
            <a:ext cx="4686300" cy="45720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spd="slow">
    <p:strips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47" name=""/>
        <p:cNvGrpSpPr/>
        <p:nvPr/>
      </p:nvGrpSpPr>
      <p:grpSpPr>
        <a:xfrm>
          <a:off x="0" y="0"/>
          <a:ext cx="0" cy="0"/>
          <a:chOff x="0" y="0"/>
          <a:chExt cx="0" cy="0"/>
        </a:xfrm>
      </p:grpSpPr>
      <p:sp>
        <p:nvSpPr>
          <p:cNvPr id="1050520" name="Title 1"/>
          <p:cNvSpPr>
            <a:spLocks noGrp="1"/>
          </p:cNvSpPr>
          <p:nvPr>
            <p:ph type="title"/>
          </p:nvPr>
        </p:nvSpPr>
        <p:spPr>
          <a:xfrm>
            <a:off x="1143000" y="273051"/>
            <a:ext cx="9715500" cy="1143000"/>
          </a:xfrm>
        </p:spPr>
        <p:txBody>
          <a:bodyPr anchor="b" anchorCtr="0"/>
          <a:p>
            <a:r>
              <a:rPr kumimoji="0" lang="en-US" smtClean="0"/>
              <a:t>Click to edit Master title style</a:t>
            </a:r>
            <a:endParaRPr kumimoji="0" lang="en-US"/>
          </a:p>
        </p:txBody>
      </p:sp>
      <p:sp>
        <p:nvSpPr>
          <p:cNvPr id="1050521" name="Text Placeholder 2"/>
          <p:cNvSpPr>
            <a:spLocks noGrp="1"/>
          </p:cNvSpPr>
          <p:nvPr>
            <p:ph type="body" idx="1"/>
          </p:nvPr>
        </p:nvSpPr>
        <p:spPr>
          <a:xfrm>
            <a:off x="1143001" y="1447800"/>
            <a:ext cx="4667250" cy="762000"/>
          </a:xfrm>
          <a:noFill/>
          <a:ln w="12700" cap="sq" cmpd="sng" algn="ctr">
            <a:noFill/>
            <a:prstDash val="solid"/>
          </a:ln>
        </p:spPr>
        <p:txBody>
          <a:bodyPr anchor="b" anchorCtr="0" lIns="91440">
            <a:noAutofit/>
          </a:bodyPr>
          <a:lstStyle>
            <a:lvl1pPr indent="0" marL="0">
              <a:buNone/>
              <a:defRPr b="1" sz="2400">
                <a:solidFill>
                  <a:schemeClr val="accent1"/>
                </a:solidFill>
                <a:latin typeface="+mj-lt"/>
                <a:ea typeface="+mj-ea"/>
                <a:cs typeface="+mj-cs"/>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522" name="Text Placeholder 3"/>
          <p:cNvSpPr>
            <a:spLocks noGrp="1"/>
          </p:cNvSpPr>
          <p:nvPr>
            <p:ph type="body" sz="half" idx="3"/>
          </p:nvPr>
        </p:nvSpPr>
        <p:spPr>
          <a:xfrm>
            <a:off x="6191250" y="1447800"/>
            <a:ext cx="4667250" cy="762000"/>
          </a:xfrm>
          <a:noFill/>
          <a:ln w="12700" cap="sq" cmpd="sng" algn="ctr">
            <a:noFill/>
            <a:prstDash val="solid"/>
          </a:ln>
        </p:spPr>
        <p:txBody>
          <a:bodyPr anchor="b" anchorCtr="0" lIns="91440">
            <a:noAutofit/>
          </a:bodyPr>
          <a:lstStyle>
            <a:lvl1pPr indent="0" marL="0">
              <a:buNone/>
              <a:defRPr b="1" sz="2400">
                <a:solidFill>
                  <a:schemeClr val="accent1"/>
                </a:solidFill>
                <a:latin typeface="+mj-lt"/>
                <a:ea typeface="+mj-ea"/>
                <a:cs typeface="+mj-cs"/>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523" name="Date Placeholder 6"/>
          <p:cNvSpPr>
            <a:spLocks noGrp="1"/>
          </p:cNvSpPr>
          <p:nvPr>
            <p:ph type="dt" sz="half" idx="10"/>
          </p:nvPr>
        </p:nvSpPr>
        <p:spPr/>
        <p:txBody>
          <a:bodyPr/>
          <a:p>
            <a:fld id="{F676CEA7-992A-4608-A085-1A978C80DF53}" type="datetime1">
              <a:rPr lang="en-US" smtClean="0"/>
            </a:fld>
            <a:endParaRPr lang="en-US"/>
          </a:p>
        </p:txBody>
      </p:sp>
      <p:sp>
        <p:nvSpPr>
          <p:cNvPr id="1050524" name="Footer Placeholder 7"/>
          <p:cNvSpPr>
            <a:spLocks noGrp="1"/>
          </p:cNvSpPr>
          <p:nvPr>
            <p:ph type="ftr" sz="quarter" idx="11"/>
          </p:nvPr>
        </p:nvSpPr>
        <p:spPr/>
        <p:txBody>
          <a:bodyPr/>
          <a:p>
            <a:r>
              <a:rPr lang="en-US" smtClean="0"/>
              <a:t>@MUSOVYA2017</a:t>
            </a:r>
            <a:endParaRPr lang="en-US"/>
          </a:p>
        </p:txBody>
      </p:sp>
      <p:sp>
        <p:nvSpPr>
          <p:cNvPr id="1050525" name="Slide Number Placeholder 8"/>
          <p:cNvSpPr>
            <a:spLocks noGrp="1"/>
          </p:cNvSpPr>
          <p:nvPr>
            <p:ph type="sldNum" sz="quarter" idx="12"/>
          </p:nvPr>
        </p:nvSpPr>
        <p:spPr/>
        <p:txBody>
          <a:bodyPr/>
          <a:p>
            <a:fld id="{539D2A76-69E3-4600-8808-3C1A10934549}" type="slidenum">
              <a:rPr lang="en-US" smtClean="0"/>
            </a:fld>
            <a:endParaRPr lang="en-US"/>
          </a:p>
        </p:txBody>
      </p:sp>
      <p:sp>
        <p:nvSpPr>
          <p:cNvPr id="1050526" name="Content Placeholder 10"/>
          <p:cNvSpPr>
            <a:spLocks noGrp="1"/>
          </p:cNvSpPr>
          <p:nvPr>
            <p:ph sz="half" idx="2"/>
          </p:nvPr>
        </p:nvSpPr>
        <p:spPr>
          <a:xfrm>
            <a:off x="1143001" y="2247900"/>
            <a:ext cx="4667250" cy="38862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27" name="Content Placeholder 12"/>
          <p:cNvSpPr>
            <a:spLocks noGrp="1"/>
          </p:cNvSpPr>
          <p:nvPr>
            <p:ph sz="half" idx="4"/>
          </p:nvPr>
        </p:nvSpPr>
        <p:spPr>
          <a:xfrm>
            <a:off x="6191250" y="2247900"/>
            <a:ext cx="4667250" cy="38862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spd="slow">
    <p:strips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48" name=""/>
        <p:cNvGrpSpPr/>
        <p:nvPr/>
      </p:nvGrpSpPr>
      <p:grpSpPr>
        <a:xfrm>
          <a:off x="0" y="0"/>
          <a:ext cx="0" cy="0"/>
          <a:chOff x="0" y="0"/>
          <a:chExt cx="0" cy="0"/>
        </a:xfrm>
      </p:grpSpPr>
      <p:sp>
        <p:nvSpPr>
          <p:cNvPr id="1050528" name="Title 1"/>
          <p:cNvSpPr>
            <a:spLocks noGrp="1"/>
          </p:cNvSpPr>
          <p:nvPr>
            <p:ph type="title"/>
          </p:nvPr>
        </p:nvSpPr>
        <p:spPr/>
        <p:txBody>
          <a:bodyPr/>
          <a:p>
            <a:r>
              <a:rPr kumimoji="0" lang="en-US" smtClean="0"/>
              <a:t>Click to edit Master title style</a:t>
            </a:r>
            <a:endParaRPr kumimoji="0" lang="en-US"/>
          </a:p>
        </p:txBody>
      </p:sp>
      <p:sp>
        <p:nvSpPr>
          <p:cNvPr id="1050529" name="Date Placeholder 2"/>
          <p:cNvSpPr>
            <a:spLocks noGrp="1"/>
          </p:cNvSpPr>
          <p:nvPr>
            <p:ph type="dt" sz="half" idx="10"/>
          </p:nvPr>
        </p:nvSpPr>
        <p:spPr/>
        <p:txBody>
          <a:bodyPr/>
          <a:p>
            <a:fld id="{BBD9FA6F-438B-440D-958A-AB8078561902}" type="datetime1">
              <a:rPr lang="en-US" smtClean="0"/>
            </a:fld>
            <a:endParaRPr lang="en-US"/>
          </a:p>
        </p:txBody>
      </p:sp>
      <p:sp>
        <p:nvSpPr>
          <p:cNvPr id="1050530" name="Footer Placeholder 3"/>
          <p:cNvSpPr>
            <a:spLocks noGrp="1"/>
          </p:cNvSpPr>
          <p:nvPr>
            <p:ph type="ftr" sz="quarter" idx="11"/>
          </p:nvPr>
        </p:nvSpPr>
        <p:spPr/>
        <p:txBody>
          <a:bodyPr/>
          <a:p>
            <a:r>
              <a:rPr lang="en-US" smtClean="0"/>
              <a:t>@MUSOVYA2017</a:t>
            </a:r>
            <a:endParaRPr lang="en-US"/>
          </a:p>
        </p:txBody>
      </p:sp>
      <p:sp>
        <p:nvSpPr>
          <p:cNvPr id="1050531" name="Slide Number Placeholder 4"/>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50" name=""/>
        <p:cNvGrpSpPr/>
        <p:nvPr/>
      </p:nvGrpSpPr>
      <p:grpSpPr>
        <a:xfrm>
          <a:off x="0" y="0"/>
          <a:ext cx="0" cy="0"/>
          <a:chOff x="0" y="0"/>
          <a:chExt cx="0" cy="0"/>
        </a:xfrm>
      </p:grpSpPr>
      <p:sp>
        <p:nvSpPr>
          <p:cNvPr id="1050537" name="Date Placeholder 1"/>
          <p:cNvSpPr>
            <a:spLocks noGrp="1"/>
          </p:cNvSpPr>
          <p:nvPr>
            <p:ph type="dt" sz="half" idx="10"/>
          </p:nvPr>
        </p:nvSpPr>
        <p:spPr/>
        <p:txBody>
          <a:bodyPr/>
          <a:p>
            <a:fld id="{813AF1F5-4E17-48F7-BC7E-A062A473F877}" type="datetime1">
              <a:rPr lang="en-US" smtClean="0"/>
            </a:fld>
            <a:endParaRPr lang="en-US"/>
          </a:p>
        </p:txBody>
      </p:sp>
      <p:sp>
        <p:nvSpPr>
          <p:cNvPr id="1050538" name="Footer Placeholder 2"/>
          <p:cNvSpPr>
            <a:spLocks noGrp="1"/>
          </p:cNvSpPr>
          <p:nvPr>
            <p:ph type="ftr" sz="quarter" idx="11"/>
          </p:nvPr>
        </p:nvSpPr>
        <p:spPr/>
        <p:txBody>
          <a:bodyPr/>
          <a:p>
            <a:r>
              <a:rPr lang="en-US" smtClean="0"/>
              <a:t>@MUSOVYA2017</a:t>
            </a:r>
            <a:endParaRPr lang="en-US"/>
          </a:p>
        </p:txBody>
      </p:sp>
      <p:sp>
        <p:nvSpPr>
          <p:cNvPr id="1050539" name="Slide Number Placeholder 3"/>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54" name=""/>
        <p:cNvGrpSpPr/>
        <p:nvPr/>
      </p:nvGrpSpPr>
      <p:grpSpPr>
        <a:xfrm>
          <a:off x="0" y="0"/>
          <a:ext cx="0" cy="0"/>
          <a:chOff x="0" y="0"/>
          <a:chExt cx="0" cy="0"/>
        </a:xfrm>
      </p:grpSpPr>
      <p:sp>
        <p:nvSpPr>
          <p:cNvPr id="1050564" name="Rectangle 7"/>
          <p:cNvSpPr/>
          <p:nvPr/>
        </p:nvSpPr>
        <p:spPr>
          <a:xfrm>
            <a:off x="0" y="0"/>
            <a:ext cx="11430000" cy="6858000"/>
          </a:xfrm>
          <a:prstGeom prst="rect"/>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useBgFill="1">
        <p:nvSpPr>
          <p:cNvPr id="1050565" name="Rounded Rectangle 8"/>
          <p:cNvSpPr/>
          <p:nvPr/>
        </p:nvSpPr>
        <p:spPr>
          <a:xfrm>
            <a:off x="80014" y="69755"/>
            <a:ext cx="11266716"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p>
            <a:pPr algn="ctr" eaLnBrk="1" hangingPunct="1" latinLnBrk="0"/>
            <a:endParaRPr kumimoji="0" lang="en-US"/>
          </a:p>
        </p:txBody>
      </p:sp>
      <p:sp>
        <p:nvSpPr>
          <p:cNvPr id="1050566" name="Title 1"/>
          <p:cNvSpPr>
            <a:spLocks noGrp="1"/>
          </p:cNvSpPr>
          <p:nvPr>
            <p:ph type="title"/>
          </p:nvPr>
        </p:nvSpPr>
        <p:spPr>
          <a:xfrm>
            <a:off x="1143000" y="273051"/>
            <a:ext cx="9715500" cy="1143000"/>
          </a:xfrm>
        </p:spPr>
        <p:txBody>
          <a:bodyPr anchor="b" anchorCtr="0"/>
          <a:lstStyle>
            <a:lvl1pPr algn="l">
              <a:buNone/>
              <a:defRPr b="0" sz="4000"/>
            </a:lvl1pPr>
          </a:lstStyle>
          <a:p>
            <a:r>
              <a:rPr kumimoji="0" lang="en-US" smtClean="0"/>
              <a:t>Click to edit Master title style</a:t>
            </a:r>
            <a:endParaRPr kumimoji="0" lang="en-US"/>
          </a:p>
        </p:txBody>
      </p:sp>
      <p:sp>
        <p:nvSpPr>
          <p:cNvPr id="1050567" name="Text Placeholder 2"/>
          <p:cNvSpPr>
            <a:spLocks noGrp="1"/>
          </p:cNvSpPr>
          <p:nvPr>
            <p:ph type="body" idx="2"/>
          </p:nvPr>
        </p:nvSpPr>
        <p:spPr>
          <a:xfrm>
            <a:off x="1143000" y="1600200"/>
            <a:ext cx="2381250" cy="4495800"/>
          </a:xfrm>
        </p:spPr>
        <p:txBody>
          <a:bodyPr/>
          <a:lstStyle>
            <a:lvl1pPr indent="0" marL="0">
              <a:buNone/>
              <a:defRPr sz="18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50568" name="Date Placeholder 4"/>
          <p:cNvSpPr>
            <a:spLocks noGrp="1"/>
          </p:cNvSpPr>
          <p:nvPr>
            <p:ph type="dt" sz="half" idx="10"/>
          </p:nvPr>
        </p:nvSpPr>
        <p:spPr/>
        <p:txBody>
          <a:bodyPr/>
          <a:p>
            <a:fld id="{865A1901-1726-4F59-9563-BCACA2C27F18}" type="datetime1">
              <a:rPr lang="en-US" smtClean="0"/>
            </a:fld>
            <a:endParaRPr lang="en-US"/>
          </a:p>
        </p:txBody>
      </p:sp>
      <p:sp>
        <p:nvSpPr>
          <p:cNvPr id="1050569" name="Footer Placeholder 5"/>
          <p:cNvSpPr>
            <a:spLocks noGrp="1"/>
          </p:cNvSpPr>
          <p:nvPr>
            <p:ph type="ftr" sz="quarter" idx="11"/>
          </p:nvPr>
        </p:nvSpPr>
        <p:spPr/>
        <p:txBody>
          <a:bodyPr/>
          <a:p>
            <a:r>
              <a:rPr lang="en-US" smtClean="0"/>
              <a:t>@MUSOVYA2017</a:t>
            </a:r>
            <a:endParaRPr lang="en-US"/>
          </a:p>
        </p:txBody>
      </p:sp>
      <p:sp>
        <p:nvSpPr>
          <p:cNvPr id="1050570"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50571" name="Content Placeholder 10"/>
          <p:cNvSpPr>
            <a:spLocks noGrp="1"/>
          </p:cNvSpPr>
          <p:nvPr>
            <p:ph sz="quarter" idx="1"/>
          </p:nvPr>
        </p:nvSpPr>
        <p:spPr>
          <a:xfrm>
            <a:off x="3714750" y="1600200"/>
            <a:ext cx="7143750" cy="44958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spd="slow">
    <p:strips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51" name=""/>
        <p:cNvGrpSpPr/>
        <p:nvPr/>
      </p:nvGrpSpPr>
      <p:grpSpPr>
        <a:xfrm>
          <a:off x="0" y="0"/>
          <a:ext cx="0" cy="0"/>
          <a:chOff x="0" y="0"/>
          <a:chExt cx="0" cy="0"/>
        </a:xfrm>
      </p:grpSpPr>
      <p:sp>
        <p:nvSpPr>
          <p:cNvPr id="1050540" name="Title 1"/>
          <p:cNvSpPr>
            <a:spLocks noGrp="1"/>
          </p:cNvSpPr>
          <p:nvPr>
            <p:ph type="title"/>
          </p:nvPr>
        </p:nvSpPr>
        <p:spPr>
          <a:xfrm>
            <a:off x="1143000" y="4900551"/>
            <a:ext cx="9144000" cy="522288"/>
          </a:xfrm>
        </p:spPr>
        <p:txBody>
          <a:bodyPr anchor="ctr">
            <a:noAutofit/>
          </a:bodyPr>
          <a:lstStyle>
            <a:lvl1pPr algn="l">
              <a:buNone/>
              <a:defRPr b="0" sz="2800"/>
            </a:lvl1pPr>
          </a:lstStyle>
          <a:p>
            <a:r>
              <a:rPr kumimoji="0" lang="en-US" smtClean="0"/>
              <a:t>Click to edit Master title style</a:t>
            </a:r>
            <a:endParaRPr kumimoji="0" lang="en-US"/>
          </a:p>
        </p:txBody>
      </p:sp>
      <p:sp>
        <p:nvSpPr>
          <p:cNvPr id="1050541" name="Text Placeholder 3"/>
          <p:cNvSpPr>
            <a:spLocks noGrp="1"/>
          </p:cNvSpPr>
          <p:nvPr>
            <p:ph type="body" sz="half" idx="2"/>
          </p:nvPr>
        </p:nvSpPr>
        <p:spPr>
          <a:xfrm>
            <a:off x="1143000" y="5445825"/>
            <a:ext cx="9144000" cy="685800"/>
          </a:xfrm>
        </p:spPr>
        <p:txBody>
          <a:bodyPr/>
          <a:lstStyle>
            <a:lvl1pPr indent="0" marL="0">
              <a:buFontTx/>
              <a:buNone/>
              <a:defRPr sz="1600"/>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
        <p:nvSpPr>
          <p:cNvPr id="1050542" name="Date Placeholder 4"/>
          <p:cNvSpPr>
            <a:spLocks noGrp="1"/>
          </p:cNvSpPr>
          <p:nvPr>
            <p:ph type="dt" sz="half" idx="10"/>
          </p:nvPr>
        </p:nvSpPr>
        <p:spPr/>
        <p:txBody>
          <a:bodyPr/>
          <a:p>
            <a:fld id="{C55277C7-08F6-4936-937B-E659F46FBD24}" type="datetime1">
              <a:rPr lang="en-US" smtClean="0"/>
            </a:fld>
            <a:endParaRPr lang="en-US"/>
          </a:p>
        </p:txBody>
      </p:sp>
      <p:sp>
        <p:nvSpPr>
          <p:cNvPr id="1050543" name="Footer Placeholder 5"/>
          <p:cNvSpPr>
            <a:spLocks noGrp="1"/>
          </p:cNvSpPr>
          <p:nvPr>
            <p:ph type="ftr" sz="quarter" idx="11"/>
          </p:nvPr>
        </p:nvSpPr>
        <p:spPr>
          <a:xfrm>
            <a:off x="1143000" y="6172200"/>
            <a:ext cx="4857750" cy="457200"/>
          </a:xfrm>
        </p:spPr>
        <p:txBody>
          <a:bodyPr/>
          <a:p>
            <a:r>
              <a:rPr lang="en-US" smtClean="0"/>
              <a:t>@MUSOVYA2017</a:t>
            </a:r>
            <a:endParaRPr lang="en-US"/>
          </a:p>
        </p:txBody>
      </p:sp>
      <p:sp>
        <p:nvSpPr>
          <p:cNvPr id="1050544" name="Slide Number Placeholder 6"/>
          <p:cNvSpPr>
            <a:spLocks noGrp="1"/>
          </p:cNvSpPr>
          <p:nvPr>
            <p:ph type="sldNum" sz="quarter" idx="12"/>
          </p:nvPr>
        </p:nvSpPr>
        <p:spPr>
          <a:xfrm>
            <a:off x="182880" y="6208776"/>
            <a:ext cx="571500" cy="457200"/>
          </a:xfrm>
        </p:spPr>
        <p:txBody>
          <a:bodyPr/>
          <a:p>
            <a:fld id="{539D2A76-69E3-4600-8808-3C1A10934549}" type="slidenum">
              <a:rPr lang="en-US" smtClean="0"/>
            </a:fld>
            <a:endParaRPr lang="en-US"/>
          </a:p>
        </p:txBody>
      </p:sp>
      <p:sp>
        <p:nvSpPr>
          <p:cNvPr id="1050545" name="Rectangle 10"/>
          <p:cNvSpPr/>
          <p:nvPr/>
        </p:nvSpPr>
        <p:spPr>
          <a:xfrm flipV="1">
            <a:off x="85383" y="4683555"/>
            <a:ext cx="11258550" cy="91440"/>
          </a:xfrm>
          <a:prstGeom prst="rect"/>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546" name="Rectangle 11"/>
          <p:cNvSpPr/>
          <p:nvPr/>
        </p:nvSpPr>
        <p:spPr>
          <a:xfrm>
            <a:off x="85645" y="4650484"/>
            <a:ext cx="11258299" cy="45719"/>
          </a:xfrm>
          <a:prstGeom prst="rect"/>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547" name="Rectangle 12"/>
          <p:cNvSpPr/>
          <p:nvPr/>
        </p:nvSpPr>
        <p:spPr>
          <a:xfrm>
            <a:off x="85645" y="4773233"/>
            <a:ext cx="11258296" cy="48807"/>
          </a:xfrm>
          <a:prstGeom prst="rect"/>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548" name="Picture Placeholder 2"/>
          <p:cNvSpPr>
            <a:spLocks noGrp="1"/>
          </p:cNvSpPr>
          <p:nvPr>
            <p:ph type="pic" idx="1"/>
          </p:nvPr>
        </p:nvSpPr>
        <p:spPr>
          <a:xfrm>
            <a:off x="85394" y="66683"/>
            <a:ext cx="11252342" cy="4581525"/>
          </a:xfrm>
          <a:prstGeom prst="round2SameRect">
            <a:avLst>
              <a:gd name="adj1" fmla="val 7101"/>
              <a:gd name="adj2" fmla="val 0"/>
            </a:avLst>
          </a:prstGeom>
          <a:solidFill>
            <a:schemeClr val="bg2"/>
          </a:solidFill>
          <a:ln w="6350">
            <a:solidFill>
              <a:schemeClr val="tx1"/>
            </a:solidFill>
          </a:ln>
        </p:spPr>
        <p:txBody>
          <a:bodyPr/>
          <a:lstStyle>
            <a:lvl1pPr indent="0" marL="0">
              <a:buNone/>
              <a:defRPr sz="3200"/>
            </a:lvl1pPr>
          </a:lstStyle>
          <a:p>
            <a:r>
              <a:rPr kumimoji="0" lang="en-US" smtClean="0"/>
              <a:t>Click icon to add picture</a:t>
            </a:r>
            <a:endParaRPr dirty="0" kumimoji="0" lang="en-US"/>
          </a:p>
        </p:txBody>
      </p:sp>
    </p:spTree>
  </p:cSld>
  <p:clrMapOvr>
    <a:masterClrMapping/>
  </p:clrMapOvr>
  <p:transition xmlns:p14="http://schemas.microsoft.com/office/powerpoint/2010/main" spd="slow">
    <p:strips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53" name=""/>
        <p:cNvGrpSpPr/>
        <p:nvPr/>
      </p:nvGrpSpPr>
      <p:grpSpPr>
        <a:xfrm>
          <a:off x="0" y="0"/>
          <a:ext cx="0" cy="0"/>
          <a:chOff x="0" y="0"/>
          <a:chExt cx="0" cy="0"/>
        </a:xfrm>
      </p:grpSpPr>
      <p:sp>
        <p:nvSpPr>
          <p:cNvPr id="1050559" name="Title 1"/>
          <p:cNvSpPr>
            <a:spLocks noGrp="1"/>
          </p:cNvSpPr>
          <p:nvPr>
            <p:ph type="title"/>
          </p:nvPr>
        </p:nvSpPr>
        <p:spPr/>
        <p:txBody>
          <a:bodyPr/>
          <a:p>
            <a:r>
              <a:rPr kumimoji="0" lang="en-US" smtClean="0"/>
              <a:t>Click to edit Master title style</a:t>
            </a:r>
            <a:endParaRPr kumimoji="0" lang="en-US"/>
          </a:p>
        </p:txBody>
      </p:sp>
      <p:sp>
        <p:nvSpPr>
          <p:cNvPr id="1050560"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61" name="Date Placeholder 3"/>
          <p:cNvSpPr>
            <a:spLocks noGrp="1"/>
          </p:cNvSpPr>
          <p:nvPr>
            <p:ph type="dt" sz="half" idx="10"/>
          </p:nvPr>
        </p:nvSpPr>
        <p:spPr/>
        <p:txBody>
          <a:bodyPr/>
          <a:p>
            <a:fld id="{F5458F4B-E45D-430A-BBA3-C82A7B42E413}" type="datetime1">
              <a:rPr lang="en-US" smtClean="0"/>
            </a:fld>
            <a:endParaRPr lang="en-US"/>
          </a:p>
        </p:txBody>
      </p:sp>
      <p:sp>
        <p:nvSpPr>
          <p:cNvPr id="1050562" name="Footer Placeholder 4"/>
          <p:cNvSpPr>
            <a:spLocks noGrp="1"/>
          </p:cNvSpPr>
          <p:nvPr>
            <p:ph type="ftr" sz="quarter" idx="11"/>
          </p:nvPr>
        </p:nvSpPr>
        <p:spPr/>
        <p:txBody>
          <a:bodyPr/>
          <a:p>
            <a:r>
              <a:rPr lang="en-US" smtClean="0"/>
              <a:t>@MUSOVYA2017</a:t>
            </a:r>
            <a:endParaRPr lang="en-US"/>
          </a:p>
        </p:txBody>
      </p:sp>
      <p:sp>
        <p:nvSpPr>
          <p:cNvPr id="1050563"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49" name=""/>
        <p:cNvGrpSpPr/>
        <p:nvPr/>
      </p:nvGrpSpPr>
      <p:grpSpPr>
        <a:xfrm>
          <a:off x="0" y="0"/>
          <a:ext cx="0" cy="0"/>
          <a:chOff x="0" y="0"/>
          <a:chExt cx="0" cy="0"/>
        </a:xfrm>
      </p:grpSpPr>
      <p:sp>
        <p:nvSpPr>
          <p:cNvPr id="1050532" name="Vertical Title 1"/>
          <p:cNvSpPr>
            <a:spLocks noGrp="1"/>
          </p:cNvSpPr>
          <p:nvPr>
            <p:ph type="title" orient="vert"/>
          </p:nvPr>
        </p:nvSpPr>
        <p:spPr>
          <a:xfrm>
            <a:off x="8286750" y="274650"/>
            <a:ext cx="2514600" cy="5851525"/>
          </a:xfrm>
        </p:spPr>
        <p:txBody>
          <a:bodyPr vert="eaVert"/>
          <a:p>
            <a:r>
              <a:rPr kumimoji="0" lang="en-US" smtClean="0"/>
              <a:t>Click to edit Master title style</a:t>
            </a:r>
            <a:endParaRPr kumimoji="0" lang="en-US"/>
          </a:p>
        </p:txBody>
      </p:sp>
      <p:sp>
        <p:nvSpPr>
          <p:cNvPr id="1050533" name="Vertical Text Placeholder 2"/>
          <p:cNvSpPr>
            <a:spLocks noGrp="1"/>
          </p:cNvSpPr>
          <p:nvPr>
            <p:ph type="body" orient="vert" idx="1"/>
          </p:nvPr>
        </p:nvSpPr>
        <p:spPr>
          <a:xfrm>
            <a:off x="1143000" y="274649"/>
            <a:ext cx="695325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34" name="Date Placeholder 3"/>
          <p:cNvSpPr>
            <a:spLocks noGrp="1"/>
          </p:cNvSpPr>
          <p:nvPr>
            <p:ph type="dt" sz="half" idx="10"/>
          </p:nvPr>
        </p:nvSpPr>
        <p:spPr/>
        <p:txBody>
          <a:bodyPr/>
          <a:p>
            <a:fld id="{E29A8373-B2BB-4AEB-B550-E3080E31879B}" type="datetime1">
              <a:rPr lang="en-US" smtClean="0"/>
            </a:fld>
            <a:endParaRPr lang="en-US"/>
          </a:p>
        </p:txBody>
      </p:sp>
      <p:sp>
        <p:nvSpPr>
          <p:cNvPr id="1050535" name="Footer Placeholder 4"/>
          <p:cNvSpPr>
            <a:spLocks noGrp="1"/>
          </p:cNvSpPr>
          <p:nvPr>
            <p:ph type="ftr" sz="quarter" idx="11"/>
          </p:nvPr>
        </p:nvSpPr>
        <p:spPr/>
        <p:txBody>
          <a:bodyPr/>
          <a:p>
            <a:r>
              <a:rPr lang="en-US" smtClean="0"/>
              <a:t>@MUSOVYA2017</a:t>
            </a:r>
            <a:endParaRPr lang="en-US"/>
          </a:p>
        </p:txBody>
      </p:sp>
      <p:sp>
        <p:nvSpPr>
          <p:cNvPr id="1050536"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303" name=""/>
        <p:cNvGrpSpPr/>
        <p:nvPr/>
      </p:nvGrpSpPr>
      <p:grpSpPr>
        <a:xfrm>
          <a:off x="0" y="0"/>
          <a:ext cx="0" cy="0"/>
          <a:chOff x="0" y="0"/>
          <a:chExt cx="0" cy="0"/>
        </a:xfrm>
      </p:grpSpPr>
      <p:sp>
        <p:nvSpPr>
          <p:cNvPr id="1050048" name="Title 13"/>
          <p:cNvSpPr>
            <a:spLocks noGrp="1"/>
          </p:cNvSpPr>
          <p:nvPr>
            <p:ph type="ctrTitle"/>
          </p:nvPr>
        </p:nvSpPr>
        <p:spPr>
          <a:xfrm>
            <a:off x="1790701" y="359897"/>
            <a:ext cx="9258300" cy="1472184"/>
          </a:xfrm>
        </p:spPr>
        <p:txBody>
          <a:bodyPr anchor="b"/>
          <a:lstStyle>
            <a:lvl1pPr algn="l"/>
          </a:lstStyle>
          <a:p>
            <a:r>
              <a:rPr kumimoji="0" lang="en-US" smtClean="0"/>
              <a:t>Click to edit Master title style</a:t>
            </a:r>
            <a:endParaRPr kumimoji="0" lang="en-US"/>
          </a:p>
        </p:txBody>
      </p:sp>
      <p:sp>
        <p:nvSpPr>
          <p:cNvPr id="1050049" name="Subtitle 21"/>
          <p:cNvSpPr>
            <a:spLocks noGrp="1"/>
          </p:cNvSpPr>
          <p:nvPr>
            <p:ph type="subTitle" idx="1"/>
          </p:nvPr>
        </p:nvSpPr>
        <p:spPr>
          <a:xfrm>
            <a:off x="1790701" y="1850064"/>
            <a:ext cx="9258300" cy="1752600"/>
          </a:xfrm>
        </p:spPr>
        <p:txBody>
          <a:bodyPr tIns="0"/>
          <a:lstStyle>
            <a:lvl1pPr algn="l" indent="0" marL="27432">
              <a:buNone/>
              <a:defRPr sz="2600">
                <a:solidFill>
                  <a:schemeClr val="tx2">
                    <a:shade val="30000"/>
                    <a:satMod val="150000"/>
                  </a:schemeClr>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50050" name="Date Placeholder 6"/>
          <p:cNvSpPr>
            <a:spLocks noGrp="1"/>
          </p:cNvSpPr>
          <p:nvPr>
            <p:ph type="dt" sz="half" idx="10"/>
          </p:nvPr>
        </p:nvSpPr>
        <p:spPr/>
        <p:txBody>
          <a:bodyPr/>
          <a:p>
            <a:fld id="{7BCC2A8F-56D3-4EBB-A468-6EEB58E6EC37}" type="datetime1">
              <a:rPr lang="en-US" smtClean="0"/>
            </a:fld>
            <a:endParaRPr lang="en-US"/>
          </a:p>
        </p:txBody>
      </p:sp>
      <p:sp>
        <p:nvSpPr>
          <p:cNvPr id="1050051" name="Footer Placeholder 19"/>
          <p:cNvSpPr>
            <a:spLocks noGrp="1"/>
          </p:cNvSpPr>
          <p:nvPr>
            <p:ph type="ftr" sz="quarter" idx="11"/>
          </p:nvPr>
        </p:nvSpPr>
        <p:spPr/>
        <p:txBody>
          <a:bodyPr/>
          <a:p>
            <a:r>
              <a:rPr lang="en-US" smtClean="0"/>
              <a:t>@MUSOVYA2017</a:t>
            </a:r>
            <a:endParaRPr lang="en-US"/>
          </a:p>
        </p:txBody>
      </p:sp>
      <p:sp>
        <p:nvSpPr>
          <p:cNvPr id="1050052" name="Slide Number Placeholder 9"/>
          <p:cNvSpPr>
            <a:spLocks noGrp="1"/>
          </p:cNvSpPr>
          <p:nvPr>
            <p:ph type="sldNum" sz="quarter" idx="12"/>
          </p:nvPr>
        </p:nvSpPr>
        <p:spPr/>
        <p:txBody>
          <a:bodyPr/>
          <a:p>
            <a:fld id="{539D2A76-69E3-4600-8808-3C1A10934549}" type="slidenum">
              <a:rPr lang="en-US" smtClean="0"/>
            </a:fld>
            <a:endParaRPr lang="en-US"/>
          </a:p>
        </p:txBody>
      </p:sp>
      <p:sp>
        <p:nvSpPr>
          <p:cNvPr id="1050053" name="Oval 7"/>
          <p:cNvSpPr/>
          <p:nvPr/>
        </p:nvSpPr>
        <p:spPr>
          <a:xfrm>
            <a:off x="1151790" y="1413803"/>
            <a:ext cx="262891" cy="210312"/>
          </a:xfrm>
          <a:prstGeom prst="ellipse"/>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
        <p:nvSpPr>
          <p:cNvPr id="1050054" name="Oval 8"/>
          <p:cNvSpPr/>
          <p:nvPr/>
        </p:nvSpPr>
        <p:spPr>
          <a:xfrm>
            <a:off x="1446470" y="1345016"/>
            <a:ext cx="80009" cy="64008"/>
          </a:xfrm>
          <a:prstGeom prst="ellipse"/>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22" name=""/>
        <p:cNvGrpSpPr/>
        <p:nvPr/>
      </p:nvGrpSpPr>
      <p:grpSpPr>
        <a:xfrm>
          <a:off x="0" y="0"/>
          <a:ext cx="0" cy="0"/>
          <a:chOff x="0" y="0"/>
          <a:chExt cx="0" cy="0"/>
        </a:xfrm>
      </p:grpSpPr>
      <p:sp>
        <p:nvSpPr>
          <p:cNvPr id="1048586" name="Title 1"/>
          <p:cNvSpPr>
            <a:spLocks noGrp="1"/>
          </p:cNvSpPr>
          <p:nvPr>
            <p:ph type="title"/>
          </p:nvPr>
        </p:nvSpPr>
        <p:spPr/>
        <p:txBody>
          <a:bodyPr/>
          <a:p>
            <a:r>
              <a:rPr kumimoji="0" lang="en-US" smtClean="0"/>
              <a:t>Click to edit Master title style</a:t>
            </a:r>
            <a:endParaRPr kumimoji="0" lang="en-US"/>
          </a:p>
        </p:txBody>
      </p:sp>
      <p:sp>
        <p:nvSpPr>
          <p:cNvPr id="1048587"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588" name="Date Placeholder 3"/>
          <p:cNvSpPr>
            <a:spLocks noGrp="1"/>
          </p:cNvSpPr>
          <p:nvPr>
            <p:ph type="dt" sz="half" idx="10"/>
          </p:nvPr>
        </p:nvSpPr>
        <p:spPr/>
        <p:txBody>
          <a:bodyPr/>
          <a:p>
            <a:fld id="{B550B366-8B7B-4AD2-8F92-E06174F1FC9F}" type="datetime1">
              <a:rPr lang="en-US" smtClean="0"/>
            </a:fld>
            <a:endParaRPr lang="en-US"/>
          </a:p>
        </p:txBody>
      </p:sp>
      <p:sp>
        <p:nvSpPr>
          <p:cNvPr id="1048589" name="Footer Placeholder 4"/>
          <p:cNvSpPr>
            <a:spLocks noGrp="1"/>
          </p:cNvSpPr>
          <p:nvPr>
            <p:ph type="ftr" sz="quarter" idx="11"/>
          </p:nvPr>
        </p:nvSpPr>
        <p:spPr/>
        <p:txBody>
          <a:bodyPr/>
          <a:p>
            <a:r>
              <a:rPr lang="en-US" smtClean="0"/>
              <a:t>@MUSOVYA2017</a:t>
            </a:r>
            <a:endParaRPr lang="en-US"/>
          </a:p>
        </p:txBody>
      </p:sp>
      <p:sp>
        <p:nvSpPr>
          <p:cNvPr id="1048590"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470" name=""/>
        <p:cNvGrpSpPr/>
        <p:nvPr/>
      </p:nvGrpSpPr>
      <p:grpSpPr>
        <a:xfrm>
          <a:off x="0" y="0"/>
          <a:ext cx="0" cy="0"/>
          <a:chOff x="0" y="0"/>
          <a:chExt cx="0" cy="0"/>
        </a:xfrm>
      </p:grpSpPr>
      <p:sp>
        <p:nvSpPr>
          <p:cNvPr id="1050666" name="Rectangle 6"/>
          <p:cNvSpPr/>
          <p:nvPr/>
        </p:nvSpPr>
        <p:spPr>
          <a:xfrm>
            <a:off x="2853615" y="-53"/>
            <a:ext cx="8572500" cy="6858055"/>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667" name="Title 1"/>
          <p:cNvSpPr>
            <a:spLocks noGrp="1"/>
          </p:cNvSpPr>
          <p:nvPr>
            <p:ph type="title"/>
          </p:nvPr>
        </p:nvSpPr>
        <p:spPr>
          <a:xfrm>
            <a:off x="3222991" y="2600325"/>
            <a:ext cx="8001000" cy="2286000"/>
          </a:xfrm>
        </p:spPr>
        <p:txBody>
          <a:bodyPr anchor="t"/>
          <a:lstStyle>
            <a:lvl1pPr algn="l">
              <a:lnSpc>
                <a:spcPts val="4500"/>
              </a:lnSpc>
              <a:buNone/>
              <a:defRPr b="1" cap="all" sz="4000"/>
            </a:lvl1pPr>
          </a:lstStyle>
          <a:p>
            <a:r>
              <a:rPr kumimoji="0" lang="en-US" smtClean="0"/>
              <a:t>Click to edit Master title style</a:t>
            </a:r>
            <a:endParaRPr kumimoji="0" lang="en-US"/>
          </a:p>
        </p:txBody>
      </p:sp>
      <p:sp>
        <p:nvSpPr>
          <p:cNvPr id="1050668" name="Text Placeholder 2"/>
          <p:cNvSpPr>
            <a:spLocks noGrp="1"/>
          </p:cNvSpPr>
          <p:nvPr>
            <p:ph type="body" idx="1"/>
          </p:nvPr>
        </p:nvSpPr>
        <p:spPr>
          <a:xfrm>
            <a:off x="3222991" y="1066800"/>
            <a:ext cx="8001000" cy="1509712"/>
          </a:xfrm>
        </p:spPr>
        <p:txBody>
          <a:bodyPr anchor="b"/>
          <a:lstStyle>
            <a:lvl1pPr indent="0" marL="18288">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669" name="Date Placeholder 3"/>
          <p:cNvSpPr>
            <a:spLocks noGrp="1"/>
          </p:cNvSpPr>
          <p:nvPr>
            <p:ph type="dt" sz="half" idx="10"/>
          </p:nvPr>
        </p:nvSpPr>
        <p:spPr/>
        <p:txBody>
          <a:bodyPr/>
          <a:p>
            <a:fld id="{0BA3F0DC-5286-4145-A736-BC41A1C946A3}" type="datetime1">
              <a:rPr lang="en-US" smtClean="0"/>
            </a:fld>
            <a:endParaRPr lang="en-US"/>
          </a:p>
        </p:txBody>
      </p:sp>
      <p:sp>
        <p:nvSpPr>
          <p:cNvPr id="1050670" name="Footer Placeholder 4"/>
          <p:cNvSpPr>
            <a:spLocks noGrp="1"/>
          </p:cNvSpPr>
          <p:nvPr>
            <p:ph type="ftr" sz="quarter" idx="11"/>
          </p:nvPr>
        </p:nvSpPr>
        <p:spPr/>
        <p:txBody>
          <a:bodyPr/>
          <a:p>
            <a:r>
              <a:rPr lang="en-US" smtClean="0"/>
              <a:t>@MUSOVYA2017</a:t>
            </a:r>
            <a:endParaRPr lang="en-US"/>
          </a:p>
        </p:txBody>
      </p:sp>
      <p:sp>
        <p:nvSpPr>
          <p:cNvPr id="1050671" name="Slide Number Placeholder 5"/>
          <p:cNvSpPr>
            <a:spLocks noGrp="1"/>
          </p:cNvSpPr>
          <p:nvPr>
            <p:ph type="sldNum" sz="quarter" idx="12"/>
          </p:nvPr>
        </p:nvSpPr>
        <p:spPr/>
        <p:txBody>
          <a:bodyPr/>
          <a:p>
            <a:fld id="{539D2A76-69E3-4600-8808-3C1A10934549}" type="slidenum">
              <a:rPr lang="en-US" smtClean="0"/>
            </a:fld>
            <a:endParaRPr lang="en-US"/>
          </a:p>
        </p:txBody>
      </p:sp>
      <p:sp>
        <p:nvSpPr>
          <p:cNvPr id="1050672" name="Rectangle 9"/>
          <p:cNvSpPr/>
          <p:nvPr/>
        </p:nvSpPr>
        <p:spPr bwMode="invGray">
          <a:xfrm>
            <a:off x="2857501" y="5"/>
            <a:ext cx="95250"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673" name="Oval 7"/>
          <p:cNvSpPr/>
          <p:nvPr/>
        </p:nvSpPr>
        <p:spPr>
          <a:xfrm>
            <a:off x="2715401" y="2814656"/>
            <a:ext cx="262891" cy="210312"/>
          </a:xfrm>
          <a:prstGeom prst="ellipse"/>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
        <p:nvSpPr>
          <p:cNvPr id="1050674" name="Oval 8"/>
          <p:cNvSpPr/>
          <p:nvPr/>
        </p:nvSpPr>
        <p:spPr>
          <a:xfrm>
            <a:off x="3010080" y="2745871"/>
            <a:ext cx="80009" cy="64008"/>
          </a:xfrm>
          <a:prstGeom prst="ellipse"/>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51" name=""/>
        <p:cNvGrpSpPr/>
        <p:nvPr/>
      </p:nvGrpSpPr>
      <p:grpSpPr>
        <a:xfrm>
          <a:off x="0" y="0"/>
          <a:ext cx="0" cy="0"/>
          <a:chOff x="0" y="0"/>
          <a:chExt cx="0" cy="0"/>
        </a:xfrm>
      </p:grpSpPr>
      <p:sp>
        <p:nvSpPr>
          <p:cNvPr id="1048651" name="Title 1"/>
          <p:cNvSpPr>
            <a:spLocks noGrp="1"/>
          </p:cNvSpPr>
          <p:nvPr>
            <p:ph type="title"/>
          </p:nvPr>
        </p:nvSpPr>
        <p:spPr>
          <a:xfrm>
            <a:off x="1794509" y="274320"/>
            <a:ext cx="9372600" cy="1143000"/>
          </a:xfrm>
        </p:spPr>
        <p:txBody>
          <a:bodyPr/>
          <a:p>
            <a:r>
              <a:rPr kumimoji="0" lang="en-US" smtClean="0"/>
              <a:t>Click to edit Master title style</a:t>
            </a:r>
            <a:endParaRPr kumimoji="0" lang="en-US"/>
          </a:p>
        </p:txBody>
      </p:sp>
      <p:sp>
        <p:nvSpPr>
          <p:cNvPr id="1048652" name="Content Placeholder 2"/>
          <p:cNvSpPr>
            <a:spLocks noGrp="1"/>
          </p:cNvSpPr>
          <p:nvPr>
            <p:ph sz="half" idx="1"/>
          </p:nvPr>
        </p:nvSpPr>
        <p:spPr>
          <a:xfrm>
            <a:off x="1794509" y="1524000"/>
            <a:ext cx="4572000" cy="4663440"/>
          </a:xfrm>
        </p:spPr>
        <p:txBody>
          <a:bodyPr/>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53" name="Content Placeholder 3"/>
          <p:cNvSpPr>
            <a:spLocks noGrp="1"/>
          </p:cNvSpPr>
          <p:nvPr>
            <p:ph sz="half" idx="2"/>
          </p:nvPr>
        </p:nvSpPr>
        <p:spPr>
          <a:xfrm>
            <a:off x="6595109" y="1524000"/>
            <a:ext cx="4572000" cy="4663440"/>
          </a:xfrm>
        </p:spPr>
        <p:txBody>
          <a:bodyPr/>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54" name="Date Placeholder 4"/>
          <p:cNvSpPr>
            <a:spLocks noGrp="1"/>
          </p:cNvSpPr>
          <p:nvPr>
            <p:ph type="dt" sz="half" idx="10"/>
          </p:nvPr>
        </p:nvSpPr>
        <p:spPr/>
        <p:txBody>
          <a:bodyPr/>
          <a:p>
            <a:fld id="{38CA84B7-E239-4660-871B-2A290BB6FE2F}" type="datetime1">
              <a:rPr lang="en-US" smtClean="0"/>
            </a:fld>
            <a:endParaRPr lang="en-US"/>
          </a:p>
        </p:txBody>
      </p:sp>
      <p:sp>
        <p:nvSpPr>
          <p:cNvPr id="1048655" name="Footer Placeholder 5"/>
          <p:cNvSpPr>
            <a:spLocks noGrp="1"/>
          </p:cNvSpPr>
          <p:nvPr>
            <p:ph type="ftr" sz="quarter" idx="11"/>
          </p:nvPr>
        </p:nvSpPr>
        <p:spPr/>
        <p:txBody>
          <a:bodyPr/>
          <a:p>
            <a:r>
              <a:rPr lang="en-US" smtClean="0"/>
              <a:t>@MUSOVYA2017</a:t>
            </a:r>
            <a:endParaRPr lang="en-US"/>
          </a:p>
        </p:txBody>
      </p:sp>
      <p:sp>
        <p:nvSpPr>
          <p:cNvPr id="1048656"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66" name=""/>
        <p:cNvGrpSpPr/>
        <p:nvPr/>
      </p:nvGrpSpPr>
      <p:grpSpPr>
        <a:xfrm>
          <a:off x="0" y="0"/>
          <a:ext cx="0" cy="0"/>
          <a:chOff x="0" y="0"/>
          <a:chExt cx="0" cy="0"/>
        </a:xfrm>
      </p:grpSpPr>
      <p:sp>
        <p:nvSpPr>
          <p:cNvPr id="1050639" name="Title 1"/>
          <p:cNvSpPr>
            <a:spLocks noGrp="1"/>
          </p:cNvSpPr>
          <p:nvPr>
            <p:ph type="title"/>
          </p:nvPr>
        </p:nvSpPr>
        <p:spPr>
          <a:xfrm>
            <a:off x="571500" y="5160336"/>
            <a:ext cx="10287000" cy="1143000"/>
          </a:xfrm>
        </p:spPr>
        <p:txBody>
          <a:bodyPr anchor="ctr"/>
          <a:lstStyle>
            <a:lvl1pPr algn="ctr">
              <a:defRPr baseline="0" b="1" cap="none" sz="4500"/>
            </a:lvl1pPr>
          </a:lstStyle>
          <a:p>
            <a:r>
              <a:rPr kumimoji="0" lang="en-US" smtClean="0"/>
              <a:t>Click to edit Master title style</a:t>
            </a:r>
            <a:endParaRPr kumimoji="0" lang="en-US"/>
          </a:p>
        </p:txBody>
      </p:sp>
      <p:sp>
        <p:nvSpPr>
          <p:cNvPr id="1050640" name="Text Placeholder 2"/>
          <p:cNvSpPr>
            <a:spLocks noGrp="1"/>
          </p:cNvSpPr>
          <p:nvPr>
            <p:ph type="body" idx="1"/>
          </p:nvPr>
        </p:nvSpPr>
        <p:spPr>
          <a:xfrm>
            <a:off x="571501" y="328279"/>
            <a:ext cx="5029200" cy="640080"/>
          </a:xfrm>
          <a:solidFill>
            <a:schemeClr val="bg1"/>
          </a:solidFill>
          <a:ln w="10795">
            <a:solidFill>
              <a:schemeClr val="bg1"/>
            </a:solidFill>
            <a:miter lim="800000"/>
          </a:ln>
        </p:spPr>
        <p:txBody>
          <a:bodyPr anchor="ctr"/>
          <a:lstStyle>
            <a:lvl1pPr algn="l" indent="0" marL="64008">
              <a:lnSpc>
                <a:spcPct val="100000"/>
              </a:lnSpc>
              <a:spcBef>
                <a:spcPts val="100"/>
              </a:spcBef>
              <a:buNone/>
              <a:defRPr b="0" sz="1900">
                <a:solidFill>
                  <a:schemeClr val="tx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641" name="Text Placeholder 3"/>
          <p:cNvSpPr>
            <a:spLocks noGrp="1"/>
          </p:cNvSpPr>
          <p:nvPr>
            <p:ph type="body" sz="half" idx="3"/>
          </p:nvPr>
        </p:nvSpPr>
        <p:spPr>
          <a:xfrm>
            <a:off x="5829300" y="328279"/>
            <a:ext cx="5029200" cy="640080"/>
          </a:xfrm>
          <a:solidFill>
            <a:schemeClr val="bg1"/>
          </a:solidFill>
          <a:ln w="10795">
            <a:solidFill>
              <a:schemeClr val="bg1"/>
            </a:solidFill>
            <a:miter lim="800000"/>
          </a:ln>
        </p:spPr>
        <p:txBody>
          <a:bodyPr anchor="ctr"/>
          <a:lstStyle>
            <a:lvl1pPr algn="l" indent="0" marL="64008">
              <a:lnSpc>
                <a:spcPct val="100000"/>
              </a:lnSpc>
              <a:spcBef>
                <a:spcPts val="100"/>
              </a:spcBef>
              <a:buNone/>
              <a:defRPr b="0" sz="1900">
                <a:solidFill>
                  <a:schemeClr val="tx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642" name="Content Placeholder 4"/>
          <p:cNvSpPr>
            <a:spLocks noGrp="1"/>
          </p:cNvSpPr>
          <p:nvPr>
            <p:ph sz="quarter" idx="2"/>
          </p:nvPr>
        </p:nvSpPr>
        <p:spPr>
          <a:xfrm>
            <a:off x="571501" y="969336"/>
            <a:ext cx="5029200" cy="4114800"/>
          </a:xfrm>
          <a:ln w="10795">
            <a:solidFill>
              <a:schemeClr val="bg1"/>
            </a:solidFill>
            <a:prstDash val="dash"/>
            <a:miter lim="800000"/>
          </a:ln>
        </p:spPr>
        <p:txBody>
          <a:bodyPr/>
          <a:lstStyle>
            <a:lvl1pPr indent="-274320" marL="393192">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643" name="Content Placeholder 5"/>
          <p:cNvSpPr>
            <a:spLocks noGrp="1"/>
          </p:cNvSpPr>
          <p:nvPr>
            <p:ph sz="quarter" idx="4"/>
          </p:nvPr>
        </p:nvSpPr>
        <p:spPr>
          <a:xfrm>
            <a:off x="5829300" y="969336"/>
            <a:ext cx="5029200" cy="4114800"/>
          </a:xfrm>
          <a:ln w="10795">
            <a:solidFill>
              <a:schemeClr val="bg1"/>
            </a:solidFill>
            <a:prstDash val="dash"/>
            <a:miter lim="800000"/>
          </a:ln>
        </p:spPr>
        <p:txBody>
          <a:bodyPr/>
          <a:lstStyle>
            <a:lvl1pPr indent="-274320" marL="393192">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644" name="Date Placeholder 6"/>
          <p:cNvSpPr>
            <a:spLocks noGrp="1"/>
          </p:cNvSpPr>
          <p:nvPr>
            <p:ph type="dt" sz="half" idx="10"/>
          </p:nvPr>
        </p:nvSpPr>
        <p:spPr/>
        <p:txBody>
          <a:bodyPr/>
          <a:p>
            <a:fld id="{694B0229-630E-4633-9C05-B25EA9B58EFF}" type="datetime1">
              <a:rPr lang="en-US" smtClean="0"/>
            </a:fld>
            <a:endParaRPr lang="en-US"/>
          </a:p>
        </p:txBody>
      </p:sp>
      <p:sp>
        <p:nvSpPr>
          <p:cNvPr id="1050645" name="Footer Placeholder 7"/>
          <p:cNvSpPr>
            <a:spLocks noGrp="1"/>
          </p:cNvSpPr>
          <p:nvPr>
            <p:ph type="ftr" sz="quarter" idx="11"/>
          </p:nvPr>
        </p:nvSpPr>
        <p:spPr/>
        <p:txBody>
          <a:bodyPr/>
          <a:p>
            <a:r>
              <a:rPr lang="en-US" smtClean="0"/>
              <a:t>@MUSOVYA2017</a:t>
            </a:r>
            <a:endParaRPr lang="en-US"/>
          </a:p>
        </p:txBody>
      </p:sp>
      <p:sp>
        <p:nvSpPr>
          <p:cNvPr id="1050646" name="Slide Number Placeholder 8"/>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65" name=""/>
        <p:cNvGrpSpPr/>
        <p:nvPr/>
      </p:nvGrpSpPr>
      <p:grpSpPr>
        <a:xfrm>
          <a:off x="0" y="0"/>
          <a:ext cx="0" cy="0"/>
          <a:chOff x="0" y="0"/>
          <a:chExt cx="0" cy="0"/>
        </a:xfrm>
      </p:grpSpPr>
      <p:sp>
        <p:nvSpPr>
          <p:cNvPr id="1050635" name="Title 1"/>
          <p:cNvSpPr>
            <a:spLocks noGrp="1"/>
          </p:cNvSpPr>
          <p:nvPr>
            <p:ph type="title"/>
          </p:nvPr>
        </p:nvSpPr>
        <p:spPr>
          <a:xfrm>
            <a:off x="1794509" y="274320"/>
            <a:ext cx="9372600" cy="1143000"/>
          </a:xfrm>
        </p:spPr>
        <p:txBody>
          <a:bodyPr anchor="ctr"/>
          <a:p>
            <a:r>
              <a:rPr kumimoji="0" lang="en-US" smtClean="0"/>
              <a:t>Click to edit Master title style</a:t>
            </a:r>
            <a:endParaRPr kumimoji="0" lang="en-US"/>
          </a:p>
        </p:txBody>
      </p:sp>
      <p:sp>
        <p:nvSpPr>
          <p:cNvPr id="1050636" name="Date Placeholder 2"/>
          <p:cNvSpPr>
            <a:spLocks noGrp="1"/>
          </p:cNvSpPr>
          <p:nvPr>
            <p:ph type="dt" sz="half" idx="10"/>
          </p:nvPr>
        </p:nvSpPr>
        <p:spPr/>
        <p:txBody>
          <a:bodyPr/>
          <a:p>
            <a:fld id="{00C3CBEE-7EFF-4D48-B970-71124C93BBEB}" type="datetime1">
              <a:rPr lang="en-US" smtClean="0"/>
            </a:fld>
            <a:endParaRPr lang="en-US"/>
          </a:p>
        </p:txBody>
      </p:sp>
      <p:sp>
        <p:nvSpPr>
          <p:cNvPr id="1050637" name="Footer Placeholder 3"/>
          <p:cNvSpPr>
            <a:spLocks noGrp="1"/>
          </p:cNvSpPr>
          <p:nvPr>
            <p:ph type="ftr" sz="quarter" idx="11"/>
          </p:nvPr>
        </p:nvSpPr>
        <p:spPr/>
        <p:txBody>
          <a:bodyPr/>
          <a:p>
            <a:r>
              <a:rPr lang="en-US" smtClean="0"/>
              <a:t>@MUSOVYA2017</a:t>
            </a:r>
            <a:endParaRPr lang="en-US"/>
          </a:p>
        </p:txBody>
      </p:sp>
      <p:sp>
        <p:nvSpPr>
          <p:cNvPr id="1050638" name="Slide Number Placeholder 4"/>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69" name=""/>
        <p:cNvGrpSpPr/>
        <p:nvPr/>
      </p:nvGrpSpPr>
      <p:grpSpPr>
        <a:xfrm>
          <a:off x="0" y="0"/>
          <a:ext cx="0" cy="0"/>
          <a:chOff x="0" y="0"/>
          <a:chExt cx="0" cy="0"/>
        </a:xfrm>
      </p:grpSpPr>
      <p:sp>
        <p:nvSpPr>
          <p:cNvPr id="1050661" name="Rectangle 4"/>
          <p:cNvSpPr/>
          <p:nvPr/>
        </p:nvSpPr>
        <p:spPr>
          <a:xfrm>
            <a:off x="1268731" y="0"/>
            <a:ext cx="10161271" cy="6858000"/>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662" name="Date Placeholder 1"/>
          <p:cNvSpPr>
            <a:spLocks noGrp="1"/>
          </p:cNvSpPr>
          <p:nvPr>
            <p:ph type="dt" sz="half" idx="10"/>
          </p:nvPr>
        </p:nvSpPr>
        <p:spPr/>
        <p:txBody>
          <a:bodyPr/>
          <a:p>
            <a:fld id="{DCA753BA-5765-4E27-8321-AC6A0004C1BA}" type="datetime1">
              <a:rPr lang="en-US" smtClean="0"/>
            </a:fld>
            <a:endParaRPr lang="en-US"/>
          </a:p>
        </p:txBody>
      </p:sp>
      <p:sp>
        <p:nvSpPr>
          <p:cNvPr id="1050663" name="Footer Placeholder 2"/>
          <p:cNvSpPr>
            <a:spLocks noGrp="1"/>
          </p:cNvSpPr>
          <p:nvPr>
            <p:ph type="ftr" sz="quarter" idx="11"/>
          </p:nvPr>
        </p:nvSpPr>
        <p:spPr/>
        <p:txBody>
          <a:bodyPr/>
          <a:p>
            <a:r>
              <a:rPr lang="en-US" smtClean="0"/>
              <a:t>@MUSOVYA2017</a:t>
            </a:r>
            <a:endParaRPr lang="en-US"/>
          </a:p>
        </p:txBody>
      </p:sp>
      <p:sp>
        <p:nvSpPr>
          <p:cNvPr id="1050664" name="Slide Number Placeholder 3"/>
          <p:cNvSpPr>
            <a:spLocks noGrp="1"/>
          </p:cNvSpPr>
          <p:nvPr>
            <p:ph type="sldNum" sz="quarter" idx="12"/>
          </p:nvPr>
        </p:nvSpPr>
        <p:spPr/>
        <p:txBody>
          <a:bodyPr/>
          <a:p>
            <a:fld id="{539D2A76-69E3-4600-8808-3C1A10934549}" type="slidenum">
              <a:rPr lang="en-US" smtClean="0"/>
            </a:fld>
            <a:endParaRPr lang="en-US"/>
          </a:p>
        </p:txBody>
      </p:sp>
      <p:sp>
        <p:nvSpPr>
          <p:cNvPr id="1050665" name="Rectangle 5"/>
          <p:cNvSpPr/>
          <p:nvPr/>
        </p:nvSpPr>
        <p:spPr bwMode="invGray">
          <a:xfrm>
            <a:off x="1268730" y="-53"/>
            <a:ext cx="91441"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64" name=""/>
        <p:cNvGrpSpPr/>
        <p:nvPr/>
      </p:nvGrpSpPr>
      <p:grpSpPr>
        <a:xfrm>
          <a:off x="0" y="0"/>
          <a:ext cx="0" cy="0"/>
          <a:chOff x="0" y="0"/>
          <a:chExt cx="0" cy="0"/>
        </a:xfrm>
      </p:grpSpPr>
      <p:sp>
        <p:nvSpPr>
          <p:cNvPr id="1050629" name="Title 1"/>
          <p:cNvSpPr>
            <a:spLocks noGrp="1"/>
          </p:cNvSpPr>
          <p:nvPr>
            <p:ph type="title"/>
          </p:nvPr>
        </p:nvSpPr>
        <p:spPr>
          <a:xfrm>
            <a:off x="571501" y="216784"/>
            <a:ext cx="4762500" cy="1162051"/>
          </a:xfrm>
          <a:ln>
            <a:noFill/>
          </a:ln>
        </p:spPr>
        <p:txBody>
          <a:bodyPr anchor="b"/>
          <a:lstStyle>
            <a:lvl1pPr algn="l">
              <a:lnSpc>
                <a:spcPts val="2000"/>
              </a:lnSpc>
              <a:buNone/>
              <a:defRPr baseline="0" b="1" cap="all" sz="2200"/>
            </a:lvl1pPr>
          </a:lstStyle>
          <a:p>
            <a:r>
              <a:rPr kumimoji="0" lang="en-US" smtClean="0"/>
              <a:t>Click to edit Master title style</a:t>
            </a:r>
            <a:endParaRPr kumimoji="0" lang="en-US"/>
          </a:p>
        </p:txBody>
      </p:sp>
      <p:sp>
        <p:nvSpPr>
          <p:cNvPr id="1050630" name="Text Placeholder 2"/>
          <p:cNvSpPr>
            <a:spLocks noGrp="1"/>
          </p:cNvSpPr>
          <p:nvPr>
            <p:ph type="body" idx="2"/>
          </p:nvPr>
        </p:nvSpPr>
        <p:spPr>
          <a:xfrm>
            <a:off x="571501" y="1406966"/>
            <a:ext cx="4762500" cy="698500"/>
          </a:xfrm>
        </p:spPr>
        <p:txBody>
          <a:bodyPr/>
          <a:lstStyle>
            <a:lvl1pPr indent="0" marL="45720">
              <a:lnSpc>
                <a:spcPct val="100000"/>
              </a:lnSpc>
              <a:spcBef>
                <a:spcPts val="0"/>
              </a:spcBef>
              <a:buNone/>
              <a:defRPr sz="14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50631" name="Content Placeholder 3"/>
          <p:cNvSpPr>
            <a:spLocks noGrp="1"/>
          </p:cNvSpPr>
          <p:nvPr>
            <p:ph sz="half" idx="1"/>
          </p:nvPr>
        </p:nvSpPr>
        <p:spPr>
          <a:xfrm>
            <a:off x="571500" y="2133603"/>
            <a:ext cx="10191750" cy="3992563"/>
          </a:xfrm>
        </p:spPr>
        <p:txBody>
          <a:bodyPr/>
          <a:lstStyle>
            <a:lvl1pPr>
              <a:defRPr sz="3200"/>
            </a:lvl1pPr>
            <a:lvl2pPr>
              <a:defRPr sz="2800"/>
            </a:lvl2pPr>
            <a:lvl3pPr>
              <a:defRPr sz="2400"/>
            </a:lvl3pPr>
            <a:lvl4pPr>
              <a:defRPr sz="2000"/>
            </a:lvl4pPr>
            <a:lvl5pPr>
              <a:defRPr sz="20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632" name="Date Placeholder 4"/>
          <p:cNvSpPr>
            <a:spLocks noGrp="1"/>
          </p:cNvSpPr>
          <p:nvPr>
            <p:ph type="dt" sz="half" idx="10"/>
          </p:nvPr>
        </p:nvSpPr>
        <p:spPr/>
        <p:txBody>
          <a:bodyPr/>
          <a:p>
            <a:fld id="{83301C16-5A6C-4CBD-9EE3-F692516A8206}" type="datetime1">
              <a:rPr lang="en-US" smtClean="0"/>
            </a:fld>
            <a:endParaRPr lang="en-US"/>
          </a:p>
        </p:txBody>
      </p:sp>
      <p:sp>
        <p:nvSpPr>
          <p:cNvPr id="1050633" name="Footer Placeholder 5"/>
          <p:cNvSpPr>
            <a:spLocks noGrp="1"/>
          </p:cNvSpPr>
          <p:nvPr>
            <p:ph type="ftr" sz="quarter" idx="11"/>
          </p:nvPr>
        </p:nvSpPr>
        <p:spPr/>
        <p:txBody>
          <a:bodyPr/>
          <a:p>
            <a:r>
              <a:rPr lang="en-US" smtClean="0"/>
              <a:t>@MUSOVYA2017</a:t>
            </a:r>
            <a:endParaRPr lang="en-US"/>
          </a:p>
        </p:txBody>
      </p:sp>
      <p:sp>
        <p:nvSpPr>
          <p:cNvPr id="1050634"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68" name=""/>
        <p:cNvGrpSpPr/>
        <p:nvPr/>
      </p:nvGrpSpPr>
      <p:grpSpPr>
        <a:xfrm>
          <a:off x="0" y="0"/>
          <a:ext cx="0" cy="0"/>
          <a:chOff x="0" y="0"/>
          <a:chExt cx="0" cy="0"/>
        </a:xfrm>
      </p:grpSpPr>
      <p:sp>
        <p:nvSpPr>
          <p:cNvPr id="1050652" name="Title 1"/>
          <p:cNvSpPr>
            <a:spLocks noGrp="1"/>
          </p:cNvSpPr>
          <p:nvPr>
            <p:ph type="title"/>
          </p:nvPr>
        </p:nvSpPr>
        <p:spPr>
          <a:xfrm>
            <a:off x="7358621" y="1066800"/>
            <a:ext cx="3429000" cy="1981200"/>
          </a:xfrm>
        </p:spPr>
        <p:txBody>
          <a:bodyPr anchor="b">
            <a:noAutofit/>
          </a:bodyPr>
          <a:lstStyle>
            <a:lvl1pPr algn="l">
              <a:buNone/>
              <a:defRPr b="1" sz="2100">
                <a:effectLst/>
              </a:defRPr>
            </a:lvl1pPr>
          </a:lstStyle>
          <a:p>
            <a:r>
              <a:rPr kumimoji="0" lang="en-US" smtClean="0"/>
              <a:t>Click to edit Master title style</a:t>
            </a:r>
            <a:endParaRPr kumimoji="0" lang="en-US"/>
          </a:p>
        </p:txBody>
      </p:sp>
      <p:sp>
        <p:nvSpPr>
          <p:cNvPr id="1050653" name="Date Placeholder 4"/>
          <p:cNvSpPr>
            <a:spLocks noGrp="1"/>
          </p:cNvSpPr>
          <p:nvPr>
            <p:ph type="dt" sz="half" idx="10"/>
          </p:nvPr>
        </p:nvSpPr>
        <p:spPr/>
        <p:txBody>
          <a:bodyPr/>
          <a:p>
            <a:fld id="{57F64A09-CF01-4B9E-AB1B-4C6CDC19A8FB}" type="datetime1">
              <a:rPr lang="en-US" smtClean="0"/>
            </a:fld>
            <a:endParaRPr lang="en-US"/>
          </a:p>
        </p:txBody>
      </p:sp>
      <p:sp>
        <p:nvSpPr>
          <p:cNvPr id="1050654" name="Footer Placeholder 5"/>
          <p:cNvSpPr>
            <a:spLocks noGrp="1"/>
          </p:cNvSpPr>
          <p:nvPr>
            <p:ph type="ftr" sz="quarter" idx="11"/>
          </p:nvPr>
        </p:nvSpPr>
        <p:spPr/>
        <p:txBody>
          <a:bodyPr/>
          <a:p>
            <a:r>
              <a:rPr lang="en-US" smtClean="0"/>
              <a:t>@MUSOVYA2017</a:t>
            </a:r>
            <a:endParaRPr lang="en-US"/>
          </a:p>
        </p:txBody>
      </p:sp>
      <p:sp>
        <p:nvSpPr>
          <p:cNvPr id="1050655"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50656" name="Rectangle 7"/>
          <p:cNvSpPr/>
          <p:nvPr/>
        </p:nvSpPr>
        <p:spPr>
          <a:xfrm>
            <a:off x="952500" y="1066800"/>
            <a:ext cx="5715000" cy="4572000"/>
          </a:xfrm>
          <a:prstGeom prst="rect"/>
          <a:solidFill>
            <a:srgbClr val="FFFFFF"/>
          </a:solidFill>
          <a:ln w="88900" cap="sq">
            <a:solidFill>
              <a:srgbClr val="FFFFFF"/>
            </a:solidFill>
            <a:miter lim="800000"/>
          </a:ln>
          <a:effectLst>
            <a:outerShdw algn="tl" blurRad="55500" dir="5400000" dist="18500" rotWithShape="0">
              <a:srgbClr val="000000">
                <a:alpha val="35000"/>
              </a:srgbClr>
            </a:outerShdw>
          </a:effectLst>
          <a:scene3d>
            <a:camera prst="orthographicFront"/>
            <a:lightRig dir="t" rig="twoPt">
              <a:rot lat="0" lon="0" rev="7200000"/>
            </a:lightRig>
          </a:scene3d>
          <a:sp3d contourW="635">
            <a:bevelT w="25400" h="19050"/>
            <a:contourClr>
              <a:srgbClr val="969696"/>
            </a:contourClr>
          </a:sp3d>
        </p:spPr>
        <p:txBody>
          <a:bodyPr anchor="t" lIns="91440" rtlCol="0" tIns="274320">
            <a:normAutofit/>
          </a:bodyPr>
          <a:p>
            <a:pPr algn="l" eaLnBrk="1" hangingPunct="1" indent="-283464" latinLnBrk="0" marL="0" rtl="0">
              <a:lnSpc>
                <a:spcPts val="3000"/>
              </a:lnSpc>
              <a:spcBef>
                <a:spcPts val="600"/>
              </a:spcBef>
              <a:buClr>
                <a:schemeClr val="accent1"/>
              </a:buClr>
              <a:buSzPct val="80000"/>
              <a:buFont typeface="Wingdings 2"/>
              <a:buNone/>
            </a:pPr>
            <a:endParaRPr sz="3200" kern="1200" kumimoji="0" lang="en-US">
              <a:solidFill>
                <a:schemeClr val="tx1"/>
              </a:solidFill>
              <a:latin typeface="+mn-lt"/>
              <a:ea typeface="+mn-ea"/>
              <a:cs typeface="+mn-cs"/>
            </a:endParaRPr>
          </a:p>
        </p:txBody>
      </p:sp>
      <p:sp>
        <p:nvSpPr>
          <p:cNvPr id="1050657" name="Picture Placeholder 2"/>
          <p:cNvSpPr>
            <a:spLocks noGrp="1"/>
          </p:cNvSpPr>
          <p:nvPr>
            <p:ph type="pic" idx="1"/>
          </p:nvPr>
        </p:nvSpPr>
        <p:spPr>
          <a:xfrm>
            <a:off x="1047750" y="1143012"/>
            <a:ext cx="5524500" cy="3514531"/>
          </a:xfrm>
          <a:prstGeom prst="roundRect">
            <a:avLst>
              <a:gd name="adj" fmla="val 783"/>
            </a:avLst>
          </a:prstGeom>
          <a:solidFill>
            <a:schemeClr val="bg2"/>
          </a:solidFill>
          <a:ln w="127000">
            <a:noFill/>
            <a:miter lim="800000"/>
          </a:ln>
          <a:effectLst/>
        </p:spPr>
        <p:txBody>
          <a:bodyPr anchor="t" lIns="91440" tIns="274320"/>
          <a:lstStyle>
            <a:lvl1pPr indent="0">
              <a:buNone/>
              <a:defRPr sz="3200"/>
            </a:lvl1pPr>
          </a:lstStyle>
          <a:p>
            <a:pPr algn="l" eaLnBrk="1" hangingPunct="1" latinLnBrk="0" marL="0"/>
            <a:r>
              <a:rPr kumimoji="0" lang="en-US" smtClean="0"/>
              <a:t>Click icon to add picture</a:t>
            </a:r>
            <a:endParaRPr dirty="0" kumimoji="0" lang="en-US"/>
          </a:p>
        </p:txBody>
      </p:sp>
      <p:sp>
        <p:nvSpPr>
          <p:cNvPr id="1050658" name="Flowchart: Process 8"/>
          <p:cNvSpPr/>
          <p:nvPr/>
        </p:nvSpPr>
        <p:spPr>
          <a:xfrm rot="19468671">
            <a:off x="495906" y="954349"/>
            <a:ext cx="857250" cy="204311"/>
          </a:xfrm>
          <a:prstGeom prst="flowChartProcess"/>
          <a:solidFill>
            <a:srgbClr val="FBFBFB">
              <a:alpha val="45098"/>
            </a:srgbClr>
          </a:solidFill>
          <a:ln w="6350" cap="rnd" cmpd="sng" algn="ctr">
            <a:solidFill>
              <a:srgbClr val="FFFFFF">
                <a:alpha val="100000"/>
              </a:srgbClr>
            </a:solidFill>
            <a:prstDash val="solid"/>
          </a:ln>
          <a:effectLst>
            <a:outerShdw algn="tl" blurRad="25400" dir="3300000" dist="25400" rotWithShape="0" sx="96000" sy="9600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659" name="Flowchart: Process 9"/>
          <p:cNvSpPr/>
          <p:nvPr/>
        </p:nvSpPr>
        <p:spPr>
          <a:xfrm rot="2103354" flipH="1">
            <a:off x="6254587" y="936790"/>
            <a:ext cx="811529" cy="204311"/>
          </a:xfrm>
          <a:prstGeom prst="flowChartProcess"/>
          <a:solidFill>
            <a:srgbClr val="FBFBFB">
              <a:alpha val="45098"/>
            </a:srgbClr>
          </a:solidFill>
          <a:ln w="6350" cap="rnd" cmpd="sng" algn="ctr">
            <a:solidFill>
              <a:srgbClr val="FFFFFF">
                <a:alpha val="100000"/>
              </a:srgbClr>
            </a:solidFill>
            <a:prstDash val="solid"/>
          </a:ln>
          <a:effectLst>
            <a:outerShdw algn="tl" blurRad="25400" dir="3300000" dist="25400" rotWithShape="0" sx="96000" sy="9600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660" name="Text Placeholder 3"/>
          <p:cNvSpPr>
            <a:spLocks noGrp="1"/>
          </p:cNvSpPr>
          <p:nvPr>
            <p:ph type="body" sz="half" idx="2"/>
          </p:nvPr>
        </p:nvSpPr>
        <p:spPr>
          <a:xfrm>
            <a:off x="1047750" y="4800600"/>
            <a:ext cx="5524500" cy="762000"/>
          </a:xfrm>
        </p:spPr>
        <p:txBody>
          <a:bodyPr anchor="ctr"/>
          <a:lstStyle>
            <a:lvl1pPr algn="l" indent="0" marL="0">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Tree>
  </p:cSld>
  <p:clrMapOvr>
    <a:masterClrMapping/>
  </p:clrMapOvr>
  <p:transition xmlns:p14="http://schemas.microsoft.com/office/powerpoint/2010/main" spd="slow">
    <p:strips dir="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67" name=""/>
        <p:cNvGrpSpPr/>
        <p:nvPr/>
      </p:nvGrpSpPr>
      <p:grpSpPr>
        <a:xfrm>
          <a:off x="0" y="0"/>
          <a:ext cx="0" cy="0"/>
          <a:chOff x="0" y="0"/>
          <a:chExt cx="0" cy="0"/>
        </a:xfrm>
      </p:grpSpPr>
      <p:sp>
        <p:nvSpPr>
          <p:cNvPr id="1050647" name="Title 1"/>
          <p:cNvSpPr>
            <a:spLocks noGrp="1"/>
          </p:cNvSpPr>
          <p:nvPr>
            <p:ph type="title"/>
          </p:nvPr>
        </p:nvSpPr>
        <p:spPr/>
        <p:txBody>
          <a:bodyPr/>
          <a:p>
            <a:r>
              <a:rPr kumimoji="0" lang="en-US" smtClean="0"/>
              <a:t>Click to edit Master title style</a:t>
            </a:r>
            <a:endParaRPr kumimoji="0" lang="en-US"/>
          </a:p>
        </p:txBody>
      </p:sp>
      <p:sp>
        <p:nvSpPr>
          <p:cNvPr id="1050648"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649" name="Date Placeholder 3"/>
          <p:cNvSpPr>
            <a:spLocks noGrp="1"/>
          </p:cNvSpPr>
          <p:nvPr>
            <p:ph type="dt" sz="half" idx="10"/>
          </p:nvPr>
        </p:nvSpPr>
        <p:spPr/>
        <p:txBody>
          <a:bodyPr/>
          <a:p>
            <a:fld id="{5199F0F0-3A4B-4145-A58F-BAECD0D698F2}" type="datetime1">
              <a:rPr lang="en-US" smtClean="0"/>
            </a:fld>
            <a:endParaRPr lang="en-US"/>
          </a:p>
        </p:txBody>
      </p:sp>
      <p:sp>
        <p:nvSpPr>
          <p:cNvPr id="1050650" name="Footer Placeholder 4"/>
          <p:cNvSpPr>
            <a:spLocks noGrp="1"/>
          </p:cNvSpPr>
          <p:nvPr>
            <p:ph type="ftr" sz="quarter" idx="11"/>
          </p:nvPr>
        </p:nvSpPr>
        <p:spPr/>
        <p:txBody>
          <a:bodyPr/>
          <a:p>
            <a:r>
              <a:rPr lang="en-US" smtClean="0"/>
              <a:t>@MUSOVYA2017</a:t>
            </a:r>
            <a:endParaRPr lang="en-US"/>
          </a:p>
        </p:txBody>
      </p:sp>
      <p:sp>
        <p:nvSpPr>
          <p:cNvPr id="1050651"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71" name=""/>
        <p:cNvGrpSpPr/>
        <p:nvPr/>
      </p:nvGrpSpPr>
      <p:grpSpPr>
        <a:xfrm>
          <a:off x="0" y="0"/>
          <a:ext cx="0" cy="0"/>
          <a:chOff x="0" y="0"/>
          <a:chExt cx="0" cy="0"/>
        </a:xfrm>
      </p:grpSpPr>
      <p:sp>
        <p:nvSpPr>
          <p:cNvPr id="1050675" name="Vertical Title 1"/>
          <p:cNvSpPr>
            <a:spLocks noGrp="1"/>
          </p:cNvSpPr>
          <p:nvPr>
            <p:ph type="title" orient="vert"/>
          </p:nvPr>
        </p:nvSpPr>
        <p:spPr>
          <a:xfrm>
            <a:off x="8572500" y="274647"/>
            <a:ext cx="2286000" cy="5851525"/>
          </a:xfrm>
        </p:spPr>
        <p:txBody>
          <a:bodyPr vert="eaVert"/>
          <a:p>
            <a:r>
              <a:rPr kumimoji="0" lang="en-US" smtClean="0"/>
              <a:t>Click to edit Master title style</a:t>
            </a:r>
            <a:endParaRPr kumimoji="0" lang="en-US"/>
          </a:p>
        </p:txBody>
      </p:sp>
      <p:sp>
        <p:nvSpPr>
          <p:cNvPr id="1050676" name="Vertical Text Placeholder 2"/>
          <p:cNvSpPr>
            <a:spLocks noGrp="1"/>
          </p:cNvSpPr>
          <p:nvPr>
            <p:ph type="body" orient="vert" idx="1"/>
          </p:nvPr>
        </p:nvSpPr>
        <p:spPr>
          <a:xfrm>
            <a:off x="1428750" y="274649"/>
            <a:ext cx="695325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677" name="Date Placeholder 3"/>
          <p:cNvSpPr>
            <a:spLocks noGrp="1"/>
          </p:cNvSpPr>
          <p:nvPr>
            <p:ph type="dt" sz="half" idx="10"/>
          </p:nvPr>
        </p:nvSpPr>
        <p:spPr/>
        <p:txBody>
          <a:bodyPr/>
          <a:p>
            <a:fld id="{E145534B-B112-40F3-BD98-E8D5DE79F5FA}" type="datetime1">
              <a:rPr lang="en-US" smtClean="0"/>
            </a:fld>
            <a:endParaRPr lang="en-US"/>
          </a:p>
        </p:txBody>
      </p:sp>
      <p:sp>
        <p:nvSpPr>
          <p:cNvPr id="1050678" name="Footer Placeholder 4"/>
          <p:cNvSpPr>
            <a:spLocks noGrp="1"/>
          </p:cNvSpPr>
          <p:nvPr>
            <p:ph type="ftr" sz="quarter" idx="11"/>
          </p:nvPr>
        </p:nvSpPr>
        <p:spPr/>
        <p:txBody>
          <a:bodyPr/>
          <a:p>
            <a:r>
              <a:rPr lang="en-US" smtClean="0"/>
              <a:t>@MUSOVYA2017</a:t>
            </a:r>
            <a:endParaRPr lang="en-US"/>
          </a:p>
        </p:txBody>
      </p:sp>
      <p:sp>
        <p:nvSpPr>
          <p:cNvPr id="1050679"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677" name=""/>
        <p:cNvGrpSpPr/>
        <p:nvPr/>
      </p:nvGrpSpPr>
      <p:grpSpPr>
        <a:xfrm>
          <a:off x="0" y="0"/>
          <a:ext cx="0" cy="0"/>
          <a:chOff x="0" y="0"/>
          <a:chExt cx="0" cy="0"/>
        </a:xfrm>
      </p:grpSpPr>
      <p:sp>
        <p:nvSpPr>
          <p:cNvPr id="1048703" name="Title 7"/>
          <p:cNvSpPr>
            <a:spLocks noGrp="1"/>
          </p:cNvSpPr>
          <p:nvPr>
            <p:ph type="ctrTitle"/>
          </p:nvPr>
        </p:nvSpPr>
        <p:spPr>
          <a:xfrm>
            <a:off x="2857501" y="3124207"/>
            <a:ext cx="7715250" cy="1894363"/>
          </a:xfrm>
        </p:spPr>
        <p:txBody>
          <a:bodyPr/>
          <a:lstStyle>
            <a:lvl1pPr>
              <a:defRPr b="1"/>
            </a:lvl1pPr>
          </a:lstStyle>
          <a:p>
            <a:r>
              <a:rPr kumimoji="0" lang="en-US" smtClean="0"/>
              <a:t>Click to edit Master title style</a:t>
            </a:r>
            <a:endParaRPr kumimoji="0" lang="en-US"/>
          </a:p>
        </p:txBody>
      </p:sp>
      <p:sp>
        <p:nvSpPr>
          <p:cNvPr id="1048704" name="Subtitle 8"/>
          <p:cNvSpPr>
            <a:spLocks noGrp="1"/>
          </p:cNvSpPr>
          <p:nvPr>
            <p:ph type="subTitle" idx="1"/>
          </p:nvPr>
        </p:nvSpPr>
        <p:spPr>
          <a:xfrm>
            <a:off x="2857501" y="5003323"/>
            <a:ext cx="7715250" cy="1371600"/>
          </a:xfrm>
        </p:spPr>
        <p:txBody>
          <a:bodyPr/>
          <a:lstStyle>
            <a:lvl1pPr algn="l" indent="0" marL="0">
              <a:buNone/>
              <a:defRPr b="1" sz="1800">
                <a:solidFill>
                  <a:schemeClr val="tx2"/>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8705" name="Date Placeholder 27"/>
          <p:cNvSpPr>
            <a:spLocks noGrp="1"/>
          </p:cNvSpPr>
          <p:nvPr>
            <p:ph type="dt" sz="half" idx="10"/>
          </p:nvPr>
        </p:nvSpPr>
        <p:spPr bwMode="auto">
          <a:xfrm rot="5400000">
            <a:off x="9991526" y="1126472"/>
            <a:ext cx="2286000" cy="476250"/>
          </a:xfrm>
        </p:spPr>
        <p:txBody>
          <a:bodyPr/>
          <a:p>
            <a:fld id="{E1CE8370-2087-46CF-B816-CCD5EC21ED31}" type="datetime1">
              <a:rPr lang="en-US" smtClean="0"/>
            </a:fld>
            <a:endParaRPr lang="en-US"/>
          </a:p>
        </p:txBody>
      </p:sp>
      <p:sp>
        <p:nvSpPr>
          <p:cNvPr id="1048706" name="Footer Placeholder 16"/>
          <p:cNvSpPr>
            <a:spLocks noGrp="1"/>
          </p:cNvSpPr>
          <p:nvPr>
            <p:ph type="ftr" sz="quarter" idx="11"/>
          </p:nvPr>
        </p:nvSpPr>
        <p:spPr bwMode="auto">
          <a:xfrm rot="5400000">
            <a:off x="9303785" y="4133665"/>
            <a:ext cx="3657600" cy="480059"/>
          </a:xfrm>
        </p:spPr>
        <p:txBody>
          <a:bodyPr/>
          <a:p>
            <a:r>
              <a:rPr lang="en-US" smtClean="0"/>
              <a:t>@MUSOVYA2017</a:t>
            </a:r>
            <a:endParaRPr lang="en-US"/>
          </a:p>
        </p:txBody>
      </p:sp>
      <p:sp>
        <p:nvSpPr>
          <p:cNvPr id="1048707" name="Rectangle 9"/>
          <p:cNvSpPr/>
          <p:nvPr/>
        </p:nvSpPr>
        <p:spPr bwMode="auto">
          <a:xfrm>
            <a:off x="476250" y="0"/>
            <a:ext cx="762000" cy="6858000"/>
          </a:xfrm>
          <a:prstGeom prst="rect"/>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708" name="Rectangle 11"/>
          <p:cNvSpPr/>
          <p:nvPr/>
        </p:nvSpPr>
        <p:spPr bwMode="auto">
          <a:xfrm>
            <a:off x="345421" y="0"/>
            <a:ext cx="130830" cy="6858000"/>
          </a:xfrm>
          <a:prstGeom prst="rect"/>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709" name="Rectangle 13"/>
          <p:cNvSpPr/>
          <p:nvPr/>
        </p:nvSpPr>
        <p:spPr bwMode="auto">
          <a:xfrm>
            <a:off x="1238250" y="0"/>
            <a:ext cx="227341" cy="6858000"/>
          </a:xfrm>
          <a:prstGeom prst="rect"/>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710" name="Rectangle 18"/>
          <p:cNvSpPr/>
          <p:nvPr/>
        </p:nvSpPr>
        <p:spPr bwMode="auto">
          <a:xfrm>
            <a:off x="1426650" y="0"/>
            <a:ext cx="287850" cy="6858000"/>
          </a:xfrm>
          <a:prstGeom prst="rect"/>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711" name="Straight Connector 10"/>
          <p:cNvSpPr>
            <a:spLocks noChangeShapeType="1"/>
          </p:cNvSpPr>
          <p:nvPr/>
        </p:nvSpPr>
        <p:spPr bwMode="auto">
          <a:xfrm>
            <a:off x="132930" y="0"/>
            <a:ext cx="0" cy="6858000"/>
          </a:xfrm>
          <a:prstGeom prst="line"/>
          <a:noFill/>
          <a:ln w="57150" cap="flat" cmpd="sng" algn="ctr">
            <a:solidFill>
              <a:schemeClr val="accent1">
                <a:tint val="60000"/>
                <a:alpha val="73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712" name="Straight Connector 17"/>
          <p:cNvSpPr>
            <a:spLocks noChangeShapeType="1"/>
          </p:cNvSpPr>
          <p:nvPr/>
        </p:nvSpPr>
        <p:spPr bwMode="auto">
          <a:xfrm>
            <a:off x="1143000" y="0"/>
            <a:ext cx="0" cy="6858000"/>
          </a:xfrm>
          <a:prstGeom prst="line"/>
          <a:noFill/>
          <a:ln w="57150" cap="flat" cmpd="sng" algn="ctr">
            <a:solidFill>
              <a:schemeClr val="accent1">
                <a:tint val="20000"/>
                <a:alpha val="83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713" name="Straight Connector 19"/>
          <p:cNvSpPr>
            <a:spLocks noChangeShapeType="1"/>
          </p:cNvSpPr>
          <p:nvPr/>
        </p:nvSpPr>
        <p:spPr bwMode="auto">
          <a:xfrm>
            <a:off x="1067641" y="0"/>
            <a:ext cx="0" cy="6858000"/>
          </a:xfrm>
          <a:prstGeom prst="line"/>
          <a:noFill/>
          <a:ln w="57150" cap="flat" cmpd="sng"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714" name="Straight Connector 15"/>
          <p:cNvSpPr>
            <a:spLocks noChangeShapeType="1"/>
          </p:cNvSpPr>
          <p:nvPr/>
        </p:nvSpPr>
        <p:spPr bwMode="auto">
          <a:xfrm>
            <a:off x="2158300" y="0"/>
            <a:ext cx="0" cy="6858000"/>
          </a:xfrm>
          <a:prstGeom prst="line"/>
          <a:noFill/>
          <a:ln w="28575" cap="flat" cmpd="sng" algn="ctr">
            <a:solidFill>
              <a:schemeClr val="accent1">
                <a:tint val="60000"/>
                <a:alpha val="82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715" name="Straight Connector 14"/>
          <p:cNvSpPr>
            <a:spLocks noChangeShapeType="1"/>
          </p:cNvSpPr>
          <p:nvPr/>
        </p:nvSpPr>
        <p:spPr bwMode="auto">
          <a:xfrm>
            <a:off x="1333500" y="0"/>
            <a:ext cx="0" cy="6858000"/>
          </a:xfrm>
          <a:prstGeom prst="line"/>
          <a:noFill/>
          <a:ln w="9525" cap="flat" cmpd="sng"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716" name="Straight Connector 21"/>
          <p:cNvSpPr>
            <a:spLocks noChangeShapeType="1"/>
          </p:cNvSpPr>
          <p:nvPr/>
        </p:nvSpPr>
        <p:spPr bwMode="auto">
          <a:xfrm>
            <a:off x="11392321" y="0"/>
            <a:ext cx="0" cy="6858000"/>
          </a:xfrm>
          <a:prstGeom prst="line"/>
          <a:noFill/>
          <a:ln w="57150" cap="flat" cmpd="thickThin"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717" name="Rectangle 26"/>
          <p:cNvSpPr/>
          <p:nvPr/>
        </p:nvSpPr>
        <p:spPr bwMode="auto">
          <a:xfrm>
            <a:off x="1524001" y="0"/>
            <a:ext cx="95250" cy="6858000"/>
          </a:xfrm>
          <a:prstGeom prst="rect"/>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718" name="Oval 20"/>
          <p:cNvSpPr/>
          <p:nvPr/>
        </p:nvSpPr>
        <p:spPr bwMode="auto">
          <a:xfrm>
            <a:off x="762000" y="3429000"/>
            <a:ext cx="1619250" cy="1295400"/>
          </a:xfrm>
          <a:prstGeom prst="ellipse"/>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719" name="Oval 22"/>
          <p:cNvSpPr/>
          <p:nvPr/>
        </p:nvSpPr>
        <p:spPr bwMode="auto">
          <a:xfrm>
            <a:off x="1637041" y="4866752"/>
            <a:ext cx="801780" cy="641424"/>
          </a:xfrm>
          <a:prstGeom prst="ellipse"/>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720" name="Oval 23"/>
          <p:cNvSpPr/>
          <p:nvPr/>
        </p:nvSpPr>
        <p:spPr bwMode="auto">
          <a:xfrm>
            <a:off x="1363851" y="5500632"/>
            <a:ext cx="171450" cy="137160"/>
          </a:xfrm>
          <a:prstGeom prst="ellipse"/>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721" name="Oval 25"/>
          <p:cNvSpPr/>
          <p:nvPr/>
        </p:nvSpPr>
        <p:spPr bwMode="auto">
          <a:xfrm>
            <a:off x="2080259" y="5788152"/>
            <a:ext cx="342900" cy="274320"/>
          </a:xfrm>
          <a:prstGeom prst="ellipse"/>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722" name="Oval 24"/>
          <p:cNvSpPr/>
          <p:nvPr/>
        </p:nvSpPr>
        <p:spPr>
          <a:xfrm>
            <a:off x="2381250" y="4495800"/>
            <a:ext cx="457200" cy="365760"/>
          </a:xfrm>
          <a:prstGeom prst="ellipse"/>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723" name="Slide Number Placeholder 28"/>
          <p:cNvSpPr>
            <a:spLocks noGrp="1"/>
          </p:cNvSpPr>
          <p:nvPr>
            <p:ph type="sldNum" sz="quarter" idx="12"/>
          </p:nvPr>
        </p:nvSpPr>
        <p:spPr bwMode="auto">
          <a:xfrm>
            <a:off x="1656929" y="4928703"/>
            <a:ext cx="762000" cy="517524"/>
          </a:xfrm>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79" name=""/>
        <p:cNvGrpSpPr/>
        <p:nvPr/>
      </p:nvGrpSpPr>
      <p:grpSpPr>
        <a:xfrm>
          <a:off x="0" y="0"/>
          <a:ext cx="0" cy="0"/>
          <a:chOff x="0" y="0"/>
          <a:chExt cx="0" cy="0"/>
        </a:xfrm>
      </p:grpSpPr>
      <p:sp>
        <p:nvSpPr>
          <p:cNvPr id="1048725" name="Title 1"/>
          <p:cNvSpPr>
            <a:spLocks noGrp="1"/>
          </p:cNvSpPr>
          <p:nvPr>
            <p:ph type="title"/>
          </p:nvPr>
        </p:nvSpPr>
        <p:spPr/>
        <p:txBody>
          <a:bodyPr/>
          <a:p>
            <a:r>
              <a:rPr kumimoji="0" lang="en-US" smtClean="0"/>
              <a:t>Click to edit Master title style</a:t>
            </a:r>
            <a:endParaRPr kumimoji="0" lang="en-US"/>
          </a:p>
        </p:txBody>
      </p:sp>
      <p:sp>
        <p:nvSpPr>
          <p:cNvPr id="1048726" name="Content Placeholder 7"/>
          <p:cNvSpPr>
            <a:spLocks noGrp="1"/>
          </p:cNvSpPr>
          <p:nvPr>
            <p:ph sz="quarter" idx="1"/>
          </p:nvPr>
        </p:nvSpPr>
        <p:spPr>
          <a:xfrm>
            <a:off x="571501" y="1600200"/>
            <a:ext cx="9334500" cy="4873752"/>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727" name="Date Placeholder 6"/>
          <p:cNvSpPr>
            <a:spLocks noGrp="1"/>
          </p:cNvSpPr>
          <p:nvPr>
            <p:ph type="dt" sz="half" idx="14"/>
          </p:nvPr>
        </p:nvSpPr>
        <p:spPr/>
        <p:txBody>
          <a:bodyPr rtlCol="0"/>
          <a:p>
            <a:fld id="{26E5D2F5-7EC1-4E9F-B294-EB2FADA5EFC9}" type="datetime1">
              <a:rPr lang="en-US" smtClean="0"/>
            </a:fld>
            <a:endParaRPr lang="en-US"/>
          </a:p>
        </p:txBody>
      </p:sp>
      <p:sp>
        <p:nvSpPr>
          <p:cNvPr id="1048728" name="Slide Number Placeholder 8"/>
          <p:cNvSpPr>
            <a:spLocks noGrp="1"/>
          </p:cNvSpPr>
          <p:nvPr>
            <p:ph type="sldNum" sz="quarter" idx="15"/>
          </p:nvPr>
        </p:nvSpPr>
        <p:spPr/>
        <p:txBody>
          <a:bodyPr rtlCol="0"/>
          <a:p>
            <a:fld id="{539D2A76-69E3-4600-8808-3C1A10934549}" type="slidenum">
              <a:rPr lang="en-US" smtClean="0"/>
            </a:fld>
            <a:endParaRPr lang="en-US"/>
          </a:p>
        </p:txBody>
      </p:sp>
      <p:sp>
        <p:nvSpPr>
          <p:cNvPr id="1048729" name="Footer Placeholder 9"/>
          <p:cNvSpPr>
            <a:spLocks noGrp="1"/>
          </p:cNvSpPr>
          <p:nvPr>
            <p:ph type="ftr" sz="quarter" idx="16"/>
          </p:nvPr>
        </p:nvSpPr>
        <p:spPr/>
        <p:txBody>
          <a:bodyPr rtlCol="0"/>
          <a:p>
            <a:r>
              <a:rPr lang="en-US" smtClean="0"/>
              <a:t>@MUSOVYA2017</a:t>
            </a:r>
            <a:endParaRPr lang="en-US"/>
          </a:p>
        </p:txBody>
      </p:sp>
    </p:spTree>
  </p:cSld>
  <p:clrMapOvr>
    <a:masterClrMapping/>
  </p:clrMapOvr>
  <p:transition xmlns:p14="http://schemas.microsoft.com/office/powerpoint/2010/main" spd="slow">
    <p:strips dir="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427" name=""/>
        <p:cNvGrpSpPr/>
        <p:nvPr/>
      </p:nvGrpSpPr>
      <p:grpSpPr>
        <a:xfrm>
          <a:off x="0" y="0"/>
          <a:ext cx="0" cy="0"/>
          <a:chOff x="0" y="0"/>
          <a:chExt cx="0" cy="0"/>
        </a:xfrm>
      </p:grpSpPr>
      <p:sp>
        <p:nvSpPr>
          <p:cNvPr id="1050382" name="Title 1"/>
          <p:cNvSpPr>
            <a:spLocks noGrp="1"/>
          </p:cNvSpPr>
          <p:nvPr>
            <p:ph type="title"/>
          </p:nvPr>
        </p:nvSpPr>
        <p:spPr>
          <a:xfrm>
            <a:off x="2857501" y="2895605"/>
            <a:ext cx="7715250" cy="2053591"/>
          </a:xfrm>
        </p:spPr>
        <p:txBody>
          <a:bodyPr/>
          <a:lstStyle>
            <a:lvl1pPr algn="l">
              <a:buNone/>
              <a:defRPr baseline="0" b="1" cap="small" sz="3000"/>
            </a:lvl1pPr>
          </a:lstStyle>
          <a:p>
            <a:r>
              <a:rPr kumimoji="0" lang="en-US" smtClean="0"/>
              <a:t>Click to edit Master title style</a:t>
            </a:r>
            <a:endParaRPr kumimoji="0" lang="en-US"/>
          </a:p>
        </p:txBody>
      </p:sp>
      <p:sp>
        <p:nvSpPr>
          <p:cNvPr id="1050383" name="Text Placeholder 2"/>
          <p:cNvSpPr>
            <a:spLocks noGrp="1"/>
          </p:cNvSpPr>
          <p:nvPr>
            <p:ph type="body" idx="1"/>
          </p:nvPr>
        </p:nvSpPr>
        <p:spPr>
          <a:xfrm>
            <a:off x="2857501" y="5010151"/>
            <a:ext cx="7715250" cy="1371600"/>
          </a:xfrm>
        </p:spPr>
        <p:txBody>
          <a:bodyPr anchor="t"/>
          <a:lstStyle>
            <a:lvl1pPr indent="0" marL="0">
              <a:buNone/>
              <a:defRPr b="1" sz="1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384" name="Date Placeholder 3"/>
          <p:cNvSpPr>
            <a:spLocks noGrp="1"/>
          </p:cNvSpPr>
          <p:nvPr>
            <p:ph type="dt" sz="half" idx="10"/>
          </p:nvPr>
        </p:nvSpPr>
        <p:spPr bwMode="auto">
          <a:xfrm rot="5400000">
            <a:off x="9989820" y="1122807"/>
            <a:ext cx="2286000" cy="476250"/>
          </a:xfrm>
        </p:spPr>
        <p:txBody>
          <a:bodyPr/>
          <a:p>
            <a:fld id="{2C6EB9AA-8B84-4C80-BB42-A60FFDF2240B}" type="datetime1">
              <a:rPr lang="en-US" smtClean="0"/>
            </a:fld>
            <a:endParaRPr lang="en-US"/>
          </a:p>
        </p:txBody>
      </p:sp>
      <p:sp>
        <p:nvSpPr>
          <p:cNvPr id="1050385" name="Footer Placeholder 4"/>
          <p:cNvSpPr>
            <a:spLocks noGrp="1"/>
          </p:cNvSpPr>
          <p:nvPr>
            <p:ph type="ftr" sz="quarter" idx="11"/>
          </p:nvPr>
        </p:nvSpPr>
        <p:spPr bwMode="auto">
          <a:xfrm rot="5400000">
            <a:off x="9304020" y="4130804"/>
            <a:ext cx="3657600" cy="480059"/>
          </a:xfrm>
        </p:spPr>
        <p:txBody>
          <a:bodyPr/>
          <a:p>
            <a:r>
              <a:rPr lang="en-US" smtClean="0"/>
              <a:t>@MUSOVYA2017</a:t>
            </a:r>
            <a:endParaRPr lang="en-US"/>
          </a:p>
        </p:txBody>
      </p:sp>
      <p:sp>
        <p:nvSpPr>
          <p:cNvPr id="1050386" name="Rectangle 8"/>
          <p:cNvSpPr/>
          <p:nvPr/>
        </p:nvSpPr>
        <p:spPr bwMode="auto">
          <a:xfrm>
            <a:off x="476250" y="0"/>
            <a:ext cx="762000" cy="6858000"/>
          </a:xfrm>
          <a:prstGeom prst="rect"/>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87" name="Rectangle 9"/>
          <p:cNvSpPr/>
          <p:nvPr/>
        </p:nvSpPr>
        <p:spPr bwMode="auto">
          <a:xfrm>
            <a:off x="345421" y="0"/>
            <a:ext cx="130830" cy="6858000"/>
          </a:xfrm>
          <a:prstGeom prst="rect"/>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88" name="Rectangle 10"/>
          <p:cNvSpPr/>
          <p:nvPr/>
        </p:nvSpPr>
        <p:spPr bwMode="auto">
          <a:xfrm>
            <a:off x="1238250" y="0"/>
            <a:ext cx="227341" cy="6858000"/>
          </a:xfrm>
          <a:prstGeom prst="rect"/>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89" name="Rectangle 11"/>
          <p:cNvSpPr/>
          <p:nvPr/>
        </p:nvSpPr>
        <p:spPr bwMode="auto">
          <a:xfrm>
            <a:off x="1426650" y="0"/>
            <a:ext cx="287850" cy="6858000"/>
          </a:xfrm>
          <a:prstGeom prst="rect"/>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90" name="Straight Connector 12"/>
          <p:cNvSpPr>
            <a:spLocks noChangeShapeType="1"/>
          </p:cNvSpPr>
          <p:nvPr/>
        </p:nvSpPr>
        <p:spPr bwMode="auto">
          <a:xfrm>
            <a:off x="132930" y="0"/>
            <a:ext cx="0" cy="6858000"/>
          </a:xfrm>
          <a:prstGeom prst="line"/>
          <a:noFill/>
          <a:ln w="57150" cap="flat" cmpd="sng" algn="ctr">
            <a:solidFill>
              <a:schemeClr val="accent1">
                <a:tint val="60000"/>
                <a:alpha val="73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91" name="Straight Connector 13"/>
          <p:cNvSpPr>
            <a:spLocks noChangeShapeType="1"/>
          </p:cNvSpPr>
          <p:nvPr/>
        </p:nvSpPr>
        <p:spPr bwMode="auto">
          <a:xfrm>
            <a:off x="1143000" y="0"/>
            <a:ext cx="0" cy="6858000"/>
          </a:xfrm>
          <a:prstGeom prst="line"/>
          <a:noFill/>
          <a:ln w="57150" cap="flat" cmpd="sng" algn="ctr">
            <a:solidFill>
              <a:schemeClr val="accent1">
                <a:tint val="20000"/>
                <a:alpha val="83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92" name="Straight Connector 14"/>
          <p:cNvSpPr>
            <a:spLocks noChangeShapeType="1"/>
          </p:cNvSpPr>
          <p:nvPr/>
        </p:nvSpPr>
        <p:spPr bwMode="auto">
          <a:xfrm>
            <a:off x="1067641" y="0"/>
            <a:ext cx="0" cy="6858000"/>
          </a:xfrm>
          <a:prstGeom prst="line"/>
          <a:noFill/>
          <a:ln w="57150" cap="flat" cmpd="sng"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93" name="Straight Connector 15"/>
          <p:cNvSpPr>
            <a:spLocks noChangeShapeType="1"/>
          </p:cNvSpPr>
          <p:nvPr/>
        </p:nvSpPr>
        <p:spPr bwMode="auto">
          <a:xfrm>
            <a:off x="2158300" y="0"/>
            <a:ext cx="0" cy="6858000"/>
          </a:xfrm>
          <a:prstGeom prst="line"/>
          <a:noFill/>
          <a:ln w="28575" cap="flat" cmpd="sng" algn="ctr">
            <a:solidFill>
              <a:schemeClr val="accent1">
                <a:tint val="60000"/>
                <a:alpha val="82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94" name="Straight Connector 16"/>
          <p:cNvSpPr>
            <a:spLocks noChangeShapeType="1"/>
          </p:cNvSpPr>
          <p:nvPr/>
        </p:nvSpPr>
        <p:spPr bwMode="auto">
          <a:xfrm>
            <a:off x="1333500" y="0"/>
            <a:ext cx="0" cy="6858000"/>
          </a:xfrm>
          <a:prstGeom prst="line"/>
          <a:noFill/>
          <a:ln w="9525" cap="flat" cmpd="sng"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95" name="Rectangle 17"/>
          <p:cNvSpPr/>
          <p:nvPr/>
        </p:nvSpPr>
        <p:spPr bwMode="auto">
          <a:xfrm>
            <a:off x="1524001" y="0"/>
            <a:ext cx="95250" cy="6858000"/>
          </a:xfrm>
          <a:prstGeom prst="rect"/>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396" name="Oval 18"/>
          <p:cNvSpPr/>
          <p:nvPr/>
        </p:nvSpPr>
        <p:spPr bwMode="auto">
          <a:xfrm>
            <a:off x="762000" y="3429000"/>
            <a:ext cx="1619250" cy="1295400"/>
          </a:xfrm>
          <a:prstGeom prst="ellipse"/>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397" name="Oval 19"/>
          <p:cNvSpPr/>
          <p:nvPr/>
        </p:nvSpPr>
        <p:spPr bwMode="auto">
          <a:xfrm>
            <a:off x="1655882" y="4866752"/>
            <a:ext cx="801780" cy="641424"/>
          </a:xfrm>
          <a:prstGeom prst="ellipse"/>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398" name="Oval 20"/>
          <p:cNvSpPr/>
          <p:nvPr/>
        </p:nvSpPr>
        <p:spPr bwMode="auto">
          <a:xfrm>
            <a:off x="1363851" y="5500632"/>
            <a:ext cx="171450" cy="137160"/>
          </a:xfrm>
          <a:prstGeom prst="ellipse"/>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399" name="Oval 21"/>
          <p:cNvSpPr/>
          <p:nvPr/>
        </p:nvSpPr>
        <p:spPr bwMode="auto">
          <a:xfrm>
            <a:off x="2080259" y="5791200"/>
            <a:ext cx="342900" cy="274320"/>
          </a:xfrm>
          <a:prstGeom prst="ellipse"/>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400" name="Oval 22"/>
          <p:cNvSpPr/>
          <p:nvPr/>
        </p:nvSpPr>
        <p:spPr bwMode="auto">
          <a:xfrm>
            <a:off x="2348801" y="4479888"/>
            <a:ext cx="457200" cy="365760"/>
          </a:xfrm>
          <a:prstGeom prst="ellipse"/>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401" name="Straight Connector 25"/>
          <p:cNvSpPr>
            <a:spLocks noChangeShapeType="1"/>
          </p:cNvSpPr>
          <p:nvPr/>
        </p:nvSpPr>
        <p:spPr bwMode="auto">
          <a:xfrm>
            <a:off x="11372430" y="0"/>
            <a:ext cx="0" cy="6858000"/>
          </a:xfrm>
          <a:prstGeom prst="line"/>
          <a:noFill/>
          <a:ln w="57150" cap="flat" cmpd="thickThin"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402" name="Slide Number Placeholder 5"/>
          <p:cNvSpPr>
            <a:spLocks noGrp="1"/>
          </p:cNvSpPr>
          <p:nvPr>
            <p:ph type="sldNum" sz="quarter" idx="12"/>
          </p:nvPr>
        </p:nvSpPr>
        <p:spPr bwMode="auto">
          <a:xfrm>
            <a:off x="1675771" y="4928703"/>
            <a:ext cx="762000" cy="517524"/>
          </a:xfrm>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428" name=""/>
        <p:cNvGrpSpPr/>
        <p:nvPr/>
      </p:nvGrpSpPr>
      <p:grpSpPr>
        <a:xfrm>
          <a:off x="0" y="0"/>
          <a:ext cx="0" cy="0"/>
          <a:chOff x="0" y="0"/>
          <a:chExt cx="0" cy="0"/>
        </a:xfrm>
      </p:grpSpPr>
      <p:sp>
        <p:nvSpPr>
          <p:cNvPr id="1050403" name="Title 1"/>
          <p:cNvSpPr>
            <a:spLocks noGrp="1"/>
          </p:cNvSpPr>
          <p:nvPr>
            <p:ph type="title"/>
          </p:nvPr>
        </p:nvSpPr>
        <p:spPr/>
        <p:txBody>
          <a:bodyPr/>
          <a:p>
            <a:r>
              <a:rPr kumimoji="0" lang="en-US" smtClean="0"/>
              <a:t>Click to edit Master title style</a:t>
            </a:r>
            <a:endParaRPr kumimoji="0" lang="en-US"/>
          </a:p>
        </p:txBody>
      </p:sp>
      <p:sp>
        <p:nvSpPr>
          <p:cNvPr id="1050404" name="Date Placeholder 4"/>
          <p:cNvSpPr>
            <a:spLocks noGrp="1"/>
          </p:cNvSpPr>
          <p:nvPr>
            <p:ph type="dt" sz="half" idx="10"/>
          </p:nvPr>
        </p:nvSpPr>
        <p:spPr/>
        <p:txBody>
          <a:bodyPr/>
          <a:p>
            <a:fld id="{537E9476-6985-4725-9D3F-50B513EAFEAC}" type="datetime1">
              <a:rPr lang="en-US" smtClean="0"/>
            </a:fld>
            <a:endParaRPr lang="en-US"/>
          </a:p>
        </p:txBody>
      </p:sp>
      <p:sp>
        <p:nvSpPr>
          <p:cNvPr id="1050405" name="Footer Placeholder 5"/>
          <p:cNvSpPr>
            <a:spLocks noGrp="1"/>
          </p:cNvSpPr>
          <p:nvPr>
            <p:ph type="ftr" sz="quarter" idx="11"/>
          </p:nvPr>
        </p:nvSpPr>
        <p:spPr/>
        <p:txBody>
          <a:bodyPr/>
          <a:p>
            <a:r>
              <a:rPr lang="en-US" smtClean="0"/>
              <a:t>@MUSOVYA2017</a:t>
            </a:r>
            <a:endParaRPr lang="en-US"/>
          </a:p>
        </p:txBody>
      </p:sp>
      <p:sp>
        <p:nvSpPr>
          <p:cNvPr id="1050406"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50407" name="Content Placeholder 8"/>
          <p:cNvSpPr>
            <a:spLocks noGrp="1"/>
          </p:cNvSpPr>
          <p:nvPr>
            <p:ph sz="quarter" idx="1"/>
          </p:nvPr>
        </p:nvSpPr>
        <p:spPr>
          <a:xfrm>
            <a:off x="571500" y="1600200"/>
            <a:ext cx="4572000" cy="45720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08" name="Content Placeholder 10"/>
          <p:cNvSpPr>
            <a:spLocks noGrp="1"/>
          </p:cNvSpPr>
          <p:nvPr>
            <p:ph sz="quarter" idx="2"/>
          </p:nvPr>
        </p:nvSpPr>
        <p:spPr>
          <a:xfrm>
            <a:off x="5337809" y="1600200"/>
            <a:ext cx="4572000" cy="45720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spd="slow">
    <p:strips dir="ru"/>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30" name=""/>
        <p:cNvGrpSpPr/>
        <p:nvPr/>
      </p:nvGrpSpPr>
      <p:grpSpPr>
        <a:xfrm>
          <a:off x="0" y="0"/>
          <a:ext cx="0" cy="0"/>
          <a:chOff x="0" y="0"/>
          <a:chExt cx="0" cy="0"/>
        </a:xfrm>
      </p:grpSpPr>
      <p:sp>
        <p:nvSpPr>
          <p:cNvPr id="1050413" name="Title 1"/>
          <p:cNvSpPr>
            <a:spLocks noGrp="1"/>
          </p:cNvSpPr>
          <p:nvPr>
            <p:ph type="title"/>
          </p:nvPr>
        </p:nvSpPr>
        <p:spPr>
          <a:xfrm>
            <a:off x="571500" y="273051"/>
            <a:ext cx="9429750" cy="1143000"/>
          </a:xfrm>
        </p:spPr>
        <p:txBody>
          <a:bodyPr anchor="b"/>
          <a:p>
            <a:r>
              <a:rPr kumimoji="0" lang="en-US" smtClean="0"/>
              <a:t>Click to edit Master title style</a:t>
            </a:r>
            <a:endParaRPr kumimoji="0" lang="en-US"/>
          </a:p>
        </p:txBody>
      </p:sp>
      <p:sp>
        <p:nvSpPr>
          <p:cNvPr id="1050414" name="Date Placeholder 6"/>
          <p:cNvSpPr>
            <a:spLocks noGrp="1"/>
          </p:cNvSpPr>
          <p:nvPr>
            <p:ph type="dt" sz="half" idx="10"/>
          </p:nvPr>
        </p:nvSpPr>
        <p:spPr/>
        <p:txBody>
          <a:bodyPr/>
          <a:p>
            <a:fld id="{47728A22-8689-4B52-A47C-223F90307BEB}" type="datetime1">
              <a:rPr lang="en-US" smtClean="0"/>
            </a:fld>
            <a:endParaRPr lang="en-US"/>
          </a:p>
        </p:txBody>
      </p:sp>
      <p:sp>
        <p:nvSpPr>
          <p:cNvPr id="1050415" name="Footer Placeholder 7"/>
          <p:cNvSpPr>
            <a:spLocks noGrp="1"/>
          </p:cNvSpPr>
          <p:nvPr>
            <p:ph type="ftr" sz="quarter" idx="11"/>
          </p:nvPr>
        </p:nvSpPr>
        <p:spPr/>
        <p:txBody>
          <a:bodyPr/>
          <a:p>
            <a:r>
              <a:rPr lang="en-US" smtClean="0"/>
              <a:t>@MUSOVYA2017</a:t>
            </a:r>
            <a:endParaRPr lang="en-US"/>
          </a:p>
        </p:txBody>
      </p:sp>
      <p:sp>
        <p:nvSpPr>
          <p:cNvPr id="1050416" name="Slide Number Placeholder 8"/>
          <p:cNvSpPr>
            <a:spLocks noGrp="1"/>
          </p:cNvSpPr>
          <p:nvPr>
            <p:ph type="sldNum" sz="quarter" idx="12"/>
          </p:nvPr>
        </p:nvSpPr>
        <p:spPr/>
        <p:txBody>
          <a:bodyPr/>
          <a:p>
            <a:fld id="{539D2A76-69E3-4600-8808-3C1A10934549}" type="slidenum">
              <a:rPr lang="en-US" smtClean="0"/>
            </a:fld>
            <a:endParaRPr lang="en-US"/>
          </a:p>
        </p:txBody>
      </p:sp>
      <p:sp>
        <p:nvSpPr>
          <p:cNvPr id="1050417" name="Content Placeholder 10"/>
          <p:cNvSpPr>
            <a:spLocks noGrp="1"/>
          </p:cNvSpPr>
          <p:nvPr>
            <p:ph sz="quarter" idx="2"/>
          </p:nvPr>
        </p:nvSpPr>
        <p:spPr>
          <a:xfrm>
            <a:off x="571500" y="2362200"/>
            <a:ext cx="4572000" cy="38862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18" name="Content Placeholder 12"/>
          <p:cNvSpPr>
            <a:spLocks noGrp="1"/>
          </p:cNvSpPr>
          <p:nvPr>
            <p:ph sz="quarter" idx="4"/>
          </p:nvPr>
        </p:nvSpPr>
        <p:spPr>
          <a:xfrm>
            <a:off x="5464969" y="2362200"/>
            <a:ext cx="4572000" cy="38862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19" name="Text Placeholder 11"/>
          <p:cNvSpPr>
            <a:spLocks noGrp="1"/>
          </p:cNvSpPr>
          <p:nvPr>
            <p:ph type="body" sz="quarter" idx="1"/>
          </p:nvPr>
        </p:nvSpPr>
        <p:spPr>
          <a:xfrm>
            <a:off x="571500" y="1569720"/>
            <a:ext cx="4572000" cy="658368"/>
          </a:xfrm>
          <a:prstGeom prst="roundRect">
            <a:avLst>
              <a:gd name="adj" fmla="val 16667"/>
            </a:avLst>
          </a:prstGeom>
          <a:solidFill>
            <a:schemeClr val="accent1"/>
          </a:solidFill>
        </p:spPr>
        <p:txBody>
          <a:bodyPr anchor="ctr" rtlCol="0">
            <a:noAutofit/>
          </a:bodyPr>
          <a:lstStyle>
            <a:lvl1pPr indent="0" marL="0">
              <a:buFontTx/>
              <a:buNone/>
              <a:defRPr b="1" sz="2000">
                <a:solidFill>
                  <a:srgbClr val="FFFFFF"/>
                </a:solidFill>
              </a:defRPr>
            </a:lvl1pPr>
          </a:lstStyle>
          <a:p>
            <a:pPr eaLnBrk="1" hangingPunct="1" latinLnBrk="0" lvl="0"/>
            <a:r>
              <a:rPr kumimoji="0" lang="en-US" smtClean="0"/>
              <a:t>Click to edit Master text styles</a:t>
            </a:r>
          </a:p>
        </p:txBody>
      </p:sp>
      <p:sp>
        <p:nvSpPr>
          <p:cNvPr id="1050420" name="Text Placeholder 13"/>
          <p:cNvSpPr>
            <a:spLocks noGrp="1"/>
          </p:cNvSpPr>
          <p:nvPr>
            <p:ph type="body" sz="quarter" idx="3"/>
          </p:nvPr>
        </p:nvSpPr>
        <p:spPr>
          <a:xfrm>
            <a:off x="5429250" y="1569720"/>
            <a:ext cx="4572000" cy="658368"/>
          </a:xfrm>
          <a:prstGeom prst="roundRect">
            <a:avLst>
              <a:gd name="adj" fmla="val 16667"/>
            </a:avLst>
          </a:prstGeom>
          <a:solidFill>
            <a:schemeClr val="accent1"/>
          </a:solidFill>
        </p:spPr>
        <p:txBody>
          <a:bodyPr anchor="ctr" rtlCol="0">
            <a:noAutofit/>
          </a:bodyPr>
          <a:lstStyle>
            <a:lvl1pPr indent="0" marL="0">
              <a:buFontTx/>
              <a:buNone/>
              <a:defRPr b="1" sz="2000">
                <a:solidFill>
                  <a:srgbClr val="FFFFFF"/>
                </a:solidFill>
              </a:defRPr>
            </a:lvl1pPr>
          </a:lstStyle>
          <a:p>
            <a:pPr eaLnBrk="1" hangingPunct="1" latinLnBrk="0" lvl="0"/>
            <a:r>
              <a:rPr kumimoji="0" lang="en-US" smtClean="0"/>
              <a:t>Click to edit Master text styles</a:t>
            </a:r>
          </a:p>
        </p:txBody>
      </p:sp>
    </p:spTree>
  </p:cSld>
  <p:clrMapOvr>
    <a:masterClrMapping/>
  </p:clrMapOvr>
  <p:transition xmlns:p14="http://schemas.microsoft.com/office/powerpoint/2010/main" spd="slow">
    <p:strips dir="r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29" name=""/>
        <p:cNvGrpSpPr/>
        <p:nvPr/>
      </p:nvGrpSpPr>
      <p:grpSpPr>
        <a:xfrm>
          <a:off x="0" y="0"/>
          <a:ext cx="0" cy="0"/>
          <a:chOff x="0" y="0"/>
          <a:chExt cx="0" cy="0"/>
        </a:xfrm>
      </p:grpSpPr>
      <p:sp>
        <p:nvSpPr>
          <p:cNvPr id="1050409" name="Title 1"/>
          <p:cNvSpPr>
            <a:spLocks noGrp="1"/>
          </p:cNvSpPr>
          <p:nvPr>
            <p:ph type="title"/>
          </p:nvPr>
        </p:nvSpPr>
        <p:spPr/>
        <p:txBody>
          <a:bodyPr/>
          <a:p>
            <a:r>
              <a:rPr kumimoji="0" lang="en-US" smtClean="0"/>
              <a:t>Click to edit Master title style</a:t>
            </a:r>
            <a:endParaRPr kumimoji="0" lang="en-US"/>
          </a:p>
        </p:txBody>
      </p:sp>
      <p:sp>
        <p:nvSpPr>
          <p:cNvPr id="1050410" name="Date Placeholder 5"/>
          <p:cNvSpPr>
            <a:spLocks noGrp="1"/>
          </p:cNvSpPr>
          <p:nvPr>
            <p:ph type="dt" sz="half" idx="10"/>
          </p:nvPr>
        </p:nvSpPr>
        <p:spPr/>
        <p:txBody>
          <a:bodyPr rtlCol="0"/>
          <a:p>
            <a:fld id="{AD02E087-119B-4C22-BCA9-C8FA9C842AE3}" type="datetime1">
              <a:rPr lang="en-US" smtClean="0"/>
            </a:fld>
            <a:endParaRPr lang="en-US"/>
          </a:p>
        </p:txBody>
      </p:sp>
      <p:sp>
        <p:nvSpPr>
          <p:cNvPr id="1050411" name="Slide Number Placeholder 6"/>
          <p:cNvSpPr>
            <a:spLocks noGrp="1"/>
          </p:cNvSpPr>
          <p:nvPr>
            <p:ph type="sldNum" sz="quarter" idx="11"/>
          </p:nvPr>
        </p:nvSpPr>
        <p:spPr/>
        <p:txBody>
          <a:bodyPr rtlCol="0"/>
          <a:p>
            <a:fld id="{539D2A76-69E3-4600-8808-3C1A10934549}" type="slidenum">
              <a:rPr lang="en-US" smtClean="0"/>
            </a:fld>
            <a:endParaRPr lang="en-US"/>
          </a:p>
        </p:txBody>
      </p:sp>
      <p:sp>
        <p:nvSpPr>
          <p:cNvPr id="1050412" name="Footer Placeholder 7"/>
          <p:cNvSpPr>
            <a:spLocks noGrp="1"/>
          </p:cNvSpPr>
          <p:nvPr>
            <p:ph type="ftr" sz="quarter" idx="12"/>
          </p:nvPr>
        </p:nvSpPr>
        <p:spPr/>
        <p:txBody>
          <a:bodyPr rtlCol="0"/>
          <a:p>
            <a:r>
              <a:rPr lang="en-US" smtClean="0"/>
              <a:t>@MUSOVYA2017</a:t>
            </a:r>
            <a:endParaRPr lang="en-US"/>
          </a:p>
        </p:txBody>
      </p:sp>
    </p:spTree>
  </p:cSld>
  <p:clrMapOvr>
    <a:masterClrMapping/>
  </p:clrMapOvr>
  <p:transition xmlns:p14="http://schemas.microsoft.com/office/powerpoint/2010/main" spd="slow">
    <p:strips dir="r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24" name=""/>
        <p:cNvGrpSpPr/>
        <p:nvPr/>
      </p:nvGrpSpPr>
      <p:grpSpPr>
        <a:xfrm>
          <a:off x="0" y="0"/>
          <a:ext cx="0" cy="0"/>
          <a:chOff x="0" y="0"/>
          <a:chExt cx="0" cy="0"/>
        </a:xfrm>
      </p:grpSpPr>
      <p:sp>
        <p:nvSpPr>
          <p:cNvPr id="1050361" name="Date Placeholder 1"/>
          <p:cNvSpPr>
            <a:spLocks noGrp="1"/>
          </p:cNvSpPr>
          <p:nvPr>
            <p:ph type="dt" sz="half" idx="10"/>
          </p:nvPr>
        </p:nvSpPr>
        <p:spPr/>
        <p:txBody>
          <a:bodyPr/>
          <a:p>
            <a:fld id="{D2200639-6C08-4987-AA4B-DCEE55521CA2}" type="datetime1">
              <a:rPr lang="en-US" smtClean="0"/>
            </a:fld>
            <a:endParaRPr lang="en-US"/>
          </a:p>
        </p:txBody>
      </p:sp>
      <p:sp>
        <p:nvSpPr>
          <p:cNvPr id="1050362" name="Footer Placeholder 2"/>
          <p:cNvSpPr>
            <a:spLocks noGrp="1"/>
          </p:cNvSpPr>
          <p:nvPr>
            <p:ph type="ftr" sz="quarter" idx="11"/>
          </p:nvPr>
        </p:nvSpPr>
        <p:spPr/>
        <p:txBody>
          <a:bodyPr/>
          <a:p>
            <a:r>
              <a:rPr lang="en-US" smtClean="0"/>
              <a:t>@MUSOVYA2017</a:t>
            </a:r>
            <a:endParaRPr lang="en-US"/>
          </a:p>
        </p:txBody>
      </p:sp>
      <p:sp>
        <p:nvSpPr>
          <p:cNvPr id="1050363" name="Slide Number Placeholder 3"/>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25" name=""/>
        <p:cNvGrpSpPr/>
        <p:nvPr/>
      </p:nvGrpSpPr>
      <p:grpSpPr>
        <a:xfrm>
          <a:off x="0" y="0"/>
          <a:ext cx="0" cy="0"/>
          <a:chOff x="0" y="0"/>
          <a:chExt cx="0" cy="0"/>
        </a:xfrm>
      </p:grpSpPr>
      <p:sp>
        <p:nvSpPr>
          <p:cNvPr id="1050364" name="Straight Connector 9"/>
          <p:cNvSpPr>
            <a:spLocks noChangeShapeType="1"/>
          </p:cNvSpPr>
          <p:nvPr/>
        </p:nvSpPr>
        <p:spPr bwMode="auto">
          <a:xfrm>
            <a:off x="10953750" y="0"/>
            <a:ext cx="0" cy="6858000"/>
          </a:xfrm>
          <a:prstGeom prst="line"/>
          <a:noFill/>
          <a:ln w="38100" cap="flat" cmpd="sng" algn="ctr">
            <a:solidFill>
              <a:schemeClr val="accent1">
                <a:tint val="60000"/>
                <a:alpha val="93000"/>
              </a:schemeClr>
            </a:solidFill>
            <a:prstDash val="solid"/>
            <a:round/>
            <a:headEnd type="none" w="med" len="med"/>
            <a:tailEnd type="none" w="med" len="med"/>
          </a:ln>
          <a:effectLst/>
        </p:spPr>
        <p:txBody>
          <a:bodyPr anchor="t" bIns="45720" compatLnSpc="1" lIns="91440" rIns="91440" tIns="45720" vert="horz" wrap="square"/>
          <a:p>
            <a:endParaRPr dirty="0" kumimoji="0" lang="en-US"/>
          </a:p>
        </p:txBody>
      </p:sp>
      <p:sp>
        <p:nvSpPr>
          <p:cNvPr id="1050365" name="Title 1"/>
          <p:cNvSpPr>
            <a:spLocks noGrp="1"/>
          </p:cNvSpPr>
          <p:nvPr>
            <p:ph type="title"/>
          </p:nvPr>
        </p:nvSpPr>
        <p:spPr>
          <a:xfrm rot="5400000">
            <a:off x="5003485" y="3143250"/>
            <a:ext cx="6309360" cy="571500"/>
          </a:xfrm>
        </p:spPr>
        <p:txBody>
          <a:bodyPr anchor="b"/>
          <a:lstStyle>
            <a:lvl1pPr algn="l">
              <a:buNone/>
              <a:defRPr baseline="0" b="1" cap="small" sz="2000"/>
            </a:lvl1pPr>
          </a:lstStyle>
          <a:p>
            <a:r>
              <a:rPr kumimoji="0" lang="en-US" smtClean="0"/>
              <a:t>Click to edit Master title style</a:t>
            </a:r>
            <a:endParaRPr kumimoji="0" lang="en-US"/>
          </a:p>
        </p:txBody>
      </p:sp>
      <p:sp>
        <p:nvSpPr>
          <p:cNvPr id="1050366" name="Text Placeholder 2"/>
          <p:cNvSpPr>
            <a:spLocks noGrp="1"/>
          </p:cNvSpPr>
          <p:nvPr>
            <p:ph type="body" idx="2"/>
          </p:nvPr>
        </p:nvSpPr>
        <p:spPr>
          <a:xfrm>
            <a:off x="8515350" y="274320"/>
            <a:ext cx="1908809" cy="4983480"/>
          </a:xfrm>
        </p:spPr>
        <p:txBody>
          <a:bodyPr/>
          <a:lstStyle>
            <a:lvl1pPr indent="0" marL="0">
              <a:spcBef>
                <a:spcPts val="400"/>
              </a:spcBef>
              <a:spcAft>
                <a:spcPts val="1000"/>
              </a:spcAft>
              <a:buNone/>
              <a:defRPr sz="12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50367" name="Straight Connector 7"/>
          <p:cNvSpPr>
            <a:spLocks noChangeShapeType="1"/>
          </p:cNvSpPr>
          <p:nvPr/>
        </p:nvSpPr>
        <p:spPr bwMode="auto">
          <a:xfrm>
            <a:off x="7810500" y="0"/>
            <a:ext cx="0" cy="6858000"/>
          </a:xfrm>
          <a:prstGeom prst="line"/>
          <a:noFill/>
          <a:ln w="38100" cap="flat" cmpd="sng"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dirty="0" kumimoji="0" lang="en-US"/>
          </a:p>
        </p:txBody>
      </p:sp>
      <p:sp>
        <p:nvSpPr>
          <p:cNvPr id="1050368" name="Straight Connector 8"/>
          <p:cNvSpPr>
            <a:spLocks noChangeShapeType="1"/>
          </p:cNvSpPr>
          <p:nvPr/>
        </p:nvSpPr>
        <p:spPr bwMode="auto">
          <a:xfrm>
            <a:off x="7740370" y="0"/>
            <a:ext cx="0" cy="6858000"/>
          </a:xfrm>
          <a:prstGeom prst="line"/>
          <a:noFill/>
          <a:ln w="12700" cap="flat" cmpd="sng" algn="ctr">
            <a:solidFill>
              <a:schemeClr val="accent1"/>
            </a:solidFill>
            <a:prstDash val="solid"/>
            <a:round/>
            <a:headEnd type="none" w="med" len="med"/>
            <a:tailEnd type="none" w="med" len="med"/>
          </a:ln>
          <a:effectLst/>
        </p:spPr>
        <p:txBody>
          <a:bodyPr anchor="t" bIns="45720" compatLnSpc="1" lIns="91440" rIns="91440" tIns="45720" vert="horz" wrap="square"/>
          <a:p>
            <a:endParaRPr dirty="0" kumimoji="0" lang="en-US"/>
          </a:p>
        </p:txBody>
      </p:sp>
      <p:sp>
        <p:nvSpPr>
          <p:cNvPr id="1050369" name="Straight Connector 10"/>
          <p:cNvSpPr>
            <a:spLocks noChangeShapeType="1"/>
          </p:cNvSpPr>
          <p:nvPr/>
        </p:nvSpPr>
        <p:spPr bwMode="auto">
          <a:xfrm>
            <a:off x="11239500" y="0"/>
            <a:ext cx="0" cy="6858000"/>
          </a:xfrm>
          <a:prstGeom prst="line"/>
          <a:noFill/>
          <a:ln w="19050" cap="flat" cmpd="sng" algn="ctr">
            <a:solidFill>
              <a:schemeClr val="accent1"/>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70" name="Rectangle 11"/>
          <p:cNvSpPr/>
          <p:nvPr/>
        </p:nvSpPr>
        <p:spPr bwMode="auto">
          <a:xfrm>
            <a:off x="11049001" y="0"/>
            <a:ext cx="381000" cy="6858000"/>
          </a:xfrm>
          <a:prstGeom prst="rect"/>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71" name="Straight Connector 12"/>
          <p:cNvSpPr>
            <a:spLocks noChangeShapeType="1"/>
          </p:cNvSpPr>
          <p:nvPr/>
        </p:nvSpPr>
        <p:spPr bwMode="auto">
          <a:xfrm>
            <a:off x="11144250" y="0"/>
            <a:ext cx="0" cy="6858000"/>
          </a:xfrm>
          <a:prstGeom prst="line"/>
          <a:noFill/>
          <a:ln w="9525" cap="flat" cmpd="sng" algn="ctr">
            <a:solidFill>
              <a:schemeClr val="accent1"/>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72" name="Oval 13"/>
          <p:cNvSpPr/>
          <p:nvPr/>
        </p:nvSpPr>
        <p:spPr>
          <a:xfrm>
            <a:off x="10195559" y="5715000"/>
            <a:ext cx="685800" cy="548640"/>
          </a:xfrm>
          <a:prstGeom prst="ellipse"/>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373" name="Content Placeholder 17"/>
          <p:cNvSpPr>
            <a:spLocks noGrp="1"/>
          </p:cNvSpPr>
          <p:nvPr>
            <p:ph sz="quarter" idx="1"/>
          </p:nvPr>
        </p:nvSpPr>
        <p:spPr>
          <a:xfrm>
            <a:off x="381000" y="274320"/>
            <a:ext cx="7048500" cy="6327648"/>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374" name="Date Placeholder 20"/>
          <p:cNvSpPr>
            <a:spLocks noGrp="1"/>
          </p:cNvSpPr>
          <p:nvPr>
            <p:ph type="dt" sz="half" idx="14"/>
          </p:nvPr>
        </p:nvSpPr>
        <p:spPr/>
        <p:txBody>
          <a:bodyPr rtlCol="0"/>
          <a:p>
            <a:fld id="{BB946D95-27A7-490B-A1CA-547679B159CC}" type="datetime1">
              <a:rPr lang="en-US" smtClean="0"/>
            </a:fld>
            <a:endParaRPr lang="en-US"/>
          </a:p>
        </p:txBody>
      </p:sp>
      <p:sp>
        <p:nvSpPr>
          <p:cNvPr id="1050375" name="Slide Number Placeholder 21"/>
          <p:cNvSpPr>
            <a:spLocks noGrp="1"/>
          </p:cNvSpPr>
          <p:nvPr>
            <p:ph type="sldNum" sz="quarter" idx="15"/>
          </p:nvPr>
        </p:nvSpPr>
        <p:spPr/>
        <p:txBody>
          <a:bodyPr rtlCol="0"/>
          <a:p>
            <a:fld id="{539D2A76-69E3-4600-8808-3C1A10934549}" type="slidenum">
              <a:rPr lang="en-US" smtClean="0"/>
            </a:fld>
            <a:endParaRPr lang="en-US"/>
          </a:p>
        </p:txBody>
      </p:sp>
      <p:sp>
        <p:nvSpPr>
          <p:cNvPr id="1050376" name="Footer Placeholder 22"/>
          <p:cNvSpPr>
            <a:spLocks noGrp="1"/>
          </p:cNvSpPr>
          <p:nvPr>
            <p:ph type="ftr" sz="quarter" idx="16"/>
          </p:nvPr>
        </p:nvSpPr>
        <p:spPr/>
        <p:txBody>
          <a:bodyPr rtlCol="0"/>
          <a:p>
            <a:r>
              <a:rPr lang="en-US" smtClean="0"/>
              <a:t>@MUSOVYA2017</a:t>
            </a:r>
            <a:endParaRPr lang="en-US"/>
          </a:p>
        </p:txBody>
      </p:sp>
    </p:spTree>
  </p:cSld>
  <p:clrMapOvr>
    <a:masterClrMapping/>
  </p:clrMapOvr>
  <p:transition xmlns:p14="http://schemas.microsoft.com/office/powerpoint/2010/main" spd="slow">
    <p:strips dir="r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22" name=""/>
        <p:cNvGrpSpPr/>
        <p:nvPr/>
      </p:nvGrpSpPr>
      <p:grpSpPr>
        <a:xfrm>
          <a:off x="0" y="0"/>
          <a:ext cx="0" cy="0"/>
          <a:chOff x="0" y="0"/>
          <a:chExt cx="0" cy="0"/>
        </a:xfrm>
      </p:grpSpPr>
      <p:sp>
        <p:nvSpPr>
          <p:cNvPr id="1050343" name="Straight Connector 8"/>
          <p:cNvSpPr>
            <a:spLocks noChangeShapeType="1"/>
          </p:cNvSpPr>
          <p:nvPr/>
        </p:nvSpPr>
        <p:spPr bwMode="auto">
          <a:xfrm>
            <a:off x="10953750" y="0"/>
            <a:ext cx="0" cy="6858000"/>
          </a:xfrm>
          <a:prstGeom prst="line"/>
          <a:noFill/>
          <a:ln w="38100" cap="flat" cmpd="sng"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44" name="Oval 12"/>
          <p:cNvSpPr/>
          <p:nvPr/>
        </p:nvSpPr>
        <p:spPr>
          <a:xfrm>
            <a:off x="10195559" y="5715000"/>
            <a:ext cx="685800" cy="548640"/>
          </a:xfrm>
          <a:prstGeom prst="ellipse"/>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345" name="Title 1"/>
          <p:cNvSpPr>
            <a:spLocks noGrp="1"/>
          </p:cNvSpPr>
          <p:nvPr>
            <p:ph type="title"/>
          </p:nvPr>
        </p:nvSpPr>
        <p:spPr>
          <a:xfrm rot="5400000">
            <a:off x="4976337" y="3143250"/>
            <a:ext cx="6309360" cy="571500"/>
          </a:xfrm>
        </p:spPr>
        <p:txBody>
          <a:bodyPr anchor="b"/>
          <a:lstStyle>
            <a:lvl1pPr algn="l">
              <a:buNone/>
              <a:defRPr b="1" sz="2000"/>
            </a:lvl1pPr>
          </a:lstStyle>
          <a:p>
            <a:r>
              <a:rPr kumimoji="0" lang="en-US" smtClean="0"/>
              <a:t>Click to edit Master title style</a:t>
            </a:r>
            <a:endParaRPr kumimoji="0" lang="en-US"/>
          </a:p>
        </p:txBody>
      </p:sp>
      <p:sp>
        <p:nvSpPr>
          <p:cNvPr id="1050346" name="Picture Placeholder 2"/>
          <p:cNvSpPr>
            <a:spLocks noGrp="1"/>
          </p:cNvSpPr>
          <p:nvPr>
            <p:ph type="pic" idx="1"/>
          </p:nvPr>
        </p:nvSpPr>
        <p:spPr>
          <a:xfrm>
            <a:off x="1" y="0"/>
            <a:ext cx="771525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indent="0" marL="0">
              <a:buNone/>
              <a:defRPr sz="3200"/>
            </a:lvl1pPr>
          </a:lstStyle>
          <a:p>
            <a:pPr algn="ctr" eaLnBrk="1" hangingPunct="1" latinLnBrk="0">
              <a:buFontTx/>
              <a:buNone/>
            </a:pPr>
            <a:r>
              <a:rPr kumimoji="0" lang="en-US" smtClean="0"/>
              <a:t>Click icon to add picture</a:t>
            </a:r>
            <a:endParaRPr dirty="0" kumimoji="0" lang="en-US"/>
          </a:p>
        </p:txBody>
      </p:sp>
      <p:sp>
        <p:nvSpPr>
          <p:cNvPr id="1050347" name="Text Placeholder 3"/>
          <p:cNvSpPr>
            <a:spLocks noGrp="1"/>
          </p:cNvSpPr>
          <p:nvPr>
            <p:ph type="body" sz="half" idx="2"/>
          </p:nvPr>
        </p:nvSpPr>
        <p:spPr>
          <a:xfrm>
            <a:off x="8457249" y="264795"/>
            <a:ext cx="1905000" cy="4956048"/>
          </a:xfrm>
        </p:spPr>
        <p:txBody>
          <a:bodyPr anchor="t" anchorCtr="0" bIns="45720" compatLnSpc="1" forceAA="0" fromWordArt="0" horzOverflow="overflow" lIns="91440" numCol="1" rIns="91440" rot="0" rtlCol="0" spcCol="274320" spcFirstLastPara="0" tIns="45720" vert="horz" vertOverflow="overflow" wrap="square">
            <a:normAutofit/>
          </a:bodyPr>
          <a:lstStyle>
            <a:lvl1pPr indent="0" marL="0">
              <a:spcBef>
                <a:spcPts val="100"/>
              </a:spcBef>
              <a:spcAft>
                <a:spcPts val="400"/>
              </a:spcAft>
              <a:buFontTx/>
              <a:buNone/>
              <a:defRPr sz="1200"/>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
        <p:nvSpPr>
          <p:cNvPr id="1050348" name="Straight Connector 9"/>
          <p:cNvSpPr>
            <a:spLocks noChangeShapeType="1"/>
          </p:cNvSpPr>
          <p:nvPr/>
        </p:nvSpPr>
        <p:spPr bwMode="auto">
          <a:xfrm>
            <a:off x="11239500" y="0"/>
            <a:ext cx="0" cy="6858000"/>
          </a:xfrm>
          <a:prstGeom prst="line"/>
          <a:noFill/>
          <a:ln w="9525" cap="flat" cmpd="sng" algn="ctr">
            <a:solidFill>
              <a:schemeClr val="tx1"/>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49" name="Rectangle 10"/>
          <p:cNvSpPr/>
          <p:nvPr/>
        </p:nvSpPr>
        <p:spPr bwMode="auto">
          <a:xfrm>
            <a:off x="11049001" y="0"/>
            <a:ext cx="381000" cy="6858000"/>
          </a:xfrm>
          <a:prstGeom prst="rect"/>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50" name="Straight Connector 11"/>
          <p:cNvSpPr>
            <a:spLocks noChangeShapeType="1"/>
          </p:cNvSpPr>
          <p:nvPr/>
        </p:nvSpPr>
        <p:spPr bwMode="auto">
          <a:xfrm>
            <a:off x="11144250" y="0"/>
            <a:ext cx="0" cy="6858000"/>
          </a:xfrm>
          <a:prstGeom prst="line"/>
          <a:noFill/>
          <a:ln w="9525" cap="flat" cmpd="sng" algn="ctr">
            <a:solidFill>
              <a:schemeClr val="accent1"/>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351" name="Straight Connector 18"/>
          <p:cNvSpPr>
            <a:spLocks noChangeShapeType="1"/>
          </p:cNvSpPr>
          <p:nvPr/>
        </p:nvSpPr>
        <p:spPr bwMode="auto">
          <a:xfrm>
            <a:off x="7810500" y="0"/>
            <a:ext cx="0" cy="6858000"/>
          </a:xfrm>
          <a:prstGeom prst="line"/>
          <a:noFill/>
          <a:ln w="38100" cap="flat" cmpd="sng"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dirty="0" kumimoji="0" lang="en-US"/>
          </a:p>
        </p:txBody>
      </p:sp>
      <p:sp>
        <p:nvSpPr>
          <p:cNvPr id="1050352" name="Straight Connector 19"/>
          <p:cNvSpPr>
            <a:spLocks noChangeShapeType="1"/>
          </p:cNvSpPr>
          <p:nvPr/>
        </p:nvSpPr>
        <p:spPr bwMode="auto">
          <a:xfrm>
            <a:off x="7740370" y="0"/>
            <a:ext cx="0" cy="6858000"/>
          </a:xfrm>
          <a:prstGeom prst="line"/>
          <a:noFill/>
          <a:ln w="12700" cap="flat" cmpd="sng" algn="ctr">
            <a:solidFill>
              <a:schemeClr val="accent1"/>
            </a:solidFill>
            <a:prstDash val="solid"/>
            <a:round/>
            <a:headEnd type="none" w="med" len="med"/>
            <a:tailEnd type="none" w="med" len="med"/>
          </a:ln>
          <a:effectLst/>
        </p:spPr>
        <p:txBody>
          <a:bodyPr anchor="t" bIns="45720" compatLnSpc="1" lIns="91440" rIns="91440" tIns="45720" vert="horz" wrap="square"/>
          <a:p>
            <a:endParaRPr dirty="0" kumimoji="0" lang="en-US"/>
          </a:p>
        </p:txBody>
      </p:sp>
      <p:sp>
        <p:nvSpPr>
          <p:cNvPr id="1050353" name="Date Placeholder 16"/>
          <p:cNvSpPr>
            <a:spLocks noGrp="1"/>
          </p:cNvSpPr>
          <p:nvPr>
            <p:ph type="dt" sz="half" idx="10"/>
          </p:nvPr>
        </p:nvSpPr>
        <p:spPr/>
        <p:txBody>
          <a:bodyPr rtlCol="0"/>
          <a:p>
            <a:fld id="{683FDDA3-A734-45AF-8E66-7BDEC66462F7}" type="datetime1">
              <a:rPr lang="en-US" smtClean="0"/>
            </a:fld>
            <a:endParaRPr lang="en-US"/>
          </a:p>
        </p:txBody>
      </p:sp>
      <p:sp>
        <p:nvSpPr>
          <p:cNvPr id="1050354" name="Slide Number Placeholder 17"/>
          <p:cNvSpPr>
            <a:spLocks noGrp="1"/>
          </p:cNvSpPr>
          <p:nvPr>
            <p:ph type="sldNum" sz="quarter" idx="11"/>
          </p:nvPr>
        </p:nvSpPr>
        <p:spPr/>
        <p:txBody>
          <a:bodyPr rtlCol="0"/>
          <a:p>
            <a:fld id="{539D2A76-69E3-4600-8808-3C1A10934549}" type="slidenum">
              <a:rPr lang="en-US" smtClean="0"/>
            </a:fld>
            <a:endParaRPr lang="en-US"/>
          </a:p>
        </p:txBody>
      </p:sp>
      <p:sp>
        <p:nvSpPr>
          <p:cNvPr id="1050355" name="Footer Placeholder 20"/>
          <p:cNvSpPr>
            <a:spLocks noGrp="1"/>
          </p:cNvSpPr>
          <p:nvPr>
            <p:ph type="ftr" sz="quarter" idx="12"/>
          </p:nvPr>
        </p:nvSpPr>
        <p:spPr/>
        <p:txBody>
          <a:bodyPr rtlCol="0"/>
          <a:p>
            <a:r>
              <a:rPr lang="en-US" smtClean="0"/>
              <a:t>@MUSOVYA2017</a:t>
            </a:r>
            <a:endParaRPr lang="en-US"/>
          </a:p>
        </p:txBody>
      </p:sp>
    </p:spTree>
  </p:cSld>
  <p:clrMapOvr>
    <a:masterClrMapping/>
  </p:clrMapOvr>
  <p:transition xmlns:p14="http://schemas.microsoft.com/office/powerpoint/2010/main" spd="slow">
    <p:strips dir="r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26" name=""/>
        <p:cNvGrpSpPr/>
        <p:nvPr/>
      </p:nvGrpSpPr>
      <p:grpSpPr>
        <a:xfrm>
          <a:off x="0" y="0"/>
          <a:ext cx="0" cy="0"/>
          <a:chOff x="0" y="0"/>
          <a:chExt cx="0" cy="0"/>
        </a:xfrm>
      </p:grpSpPr>
      <p:sp>
        <p:nvSpPr>
          <p:cNvPr id="1050377" name="Title 1"/>
          <p:cNvSpPr>
            <a:spLocks noGrp="1"/>
          </p:cNvSpPr>
          <p:nvPr>
            <p:ph type="title"/>
          </p:nvPr>
        </p:nvSpPr>
        <p:spPr/>
        <p:txBody>
          <a:bodyPr/>
          <a:p>
            <a:r>
              <a:rPr kumimoji="0" lang="en-US" smtClean="0"/>
              <a:t>Click to edit Master title style</a:t>
            </a:r>
            <a:endParaRPr kumimoji="0" lang="en-US"/>
          </a:p>
        </p:txBody>
      </p:sp>
      <p:sp>
        <p:nvSpPr>
          <p:cNvPr id="1050378"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379" name="Date Placeholder 3"/>
          <p:cNvSpPr>
            <a:spLocks noGrp="1"/>
          </p:cNvSpPr>
          <p:nvPr>
            <p:ph type="dt" sz="half" idx="10"/>
          </p:nvPr>
        </p:nvSpPr>
        <p:spPr/>
        <p:txBody>
          <a:bodyPr/>
          <a:p>
            <a:fld id="{38A0D5A9-0D7F-4AB4-A3C9-7D34AAB922D9}" type="datetime1">
              <a:rPr lang="en-US" smtClean="0"/>
            </a:fld>
            <a:endParaRPr lang="en-US"/>
          </a:p>
        </p:txBody>
      </p:sp>
      <p:sp>
        <p:nvSpPr>
          <p:cNvPr id="1050380" name="Footer Placeholder 4"/>
          <p:cNvSpPr>
            <a:spLocks noGrp="1"/>
          </p:cNvSpPr>
          <p:nvPr>
            <p:ph type="ftr" sz="quarter" idx="11"/>
          </p:nvPr>
        </p:nvSpPr>
        <p:spPr/>
        <p:txBody>
          <a:bodyPr/>
          <a:p>
            <a:r>
              <a:rPr lang="en-US" smtClean="0"/>
              <a:t>@MUSOVYA2017</a:t>
            </a:r>
            <a:endParaRPr lang="en-US"/>
          </a:p>
        </p:txBody>
      </p:sp>
      <p:sp>
        <p:nvSpPr>
          <p:cNvPr id="1050381"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23" name=""/>
        <p:cNvGrpSpPr/>
        <p:nvPr/>
      </p:nvGrpSpPr>
      <p:grpSpPr>
        <a:xfrm>
          <a:off x="0" y="0"/>
          <a:ext cx="0" cy="0"/>
          <a:chOff x="0" y="0"/>
          <a:chExt cx="0" cy="0"/>
        </a:xfrm>
      </p:grpSpPr>
      <p:sp>
        <p:nvSpPr>
          <p:cNvPr id="1050356" name="Vertical Title 1"/>
          <p:cNvSpPr>
            <a:spLocks noGrp="1"/>
          </p:cNvSpPr>
          <p:nvPr>
            <p:ph type="title" orient="vert"/>
          </p:nvPr>
        </p:nvSpPr>
        <p:spPr>
          <a:xfrm>
            <a:off x="8286750" y="274647"/>
            <a:ext cx="2095500" cy="5851525"/>
          </a:xfrm>
        </p:spPr>
        <p:txBody>
          <a:bodyPr vert="eaVert"/>
          <a:p>
            <a:r>
              <a:rPr kumimoji="0" lang="en-US" smtClean="0"/>
              <a:t>Click to edit Master title style</a:t>
            </a:r>
            <a:endParaRPr kumimoji="0" lang="en-US"/>
          </a:p>
        </p:txBody>
      </p:sp>
      <p:sp>
        <p:nvSpPr>
          <p:cNvPr id="1050357" name="Vertical Text Placeholder 2"/>
          <p:cNvSpPr>
            <a:spLocks noGrp="1"/>
          </p:cNvSpPr>
          <p:nvPr>
            <p:ph type="body" orient="vert" idx="1"/>
          </p:nvPr>
        </p:nvSpPr>
        <p:spPr>
          <a:xfrm>
            <a:off x="571500" y="274647"/>
            <a:ext cx="752475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358" name="Date Placeholder 3"/>
          <p:cNvSpPr>
            <a:spLocks noGrp="1"/>
          </p:cNvSpPr>
          <p:nvPr>
            <p:ph type="dt" sz="half" idx="10"/>
          </p:nvPr>
        </p:nvSpPr>
        <p:spPr/>
        <p:txBody>
          <a:bodyPr/>
          <a:p>
            <a:fld id="{219E8F6B-D5AC-4C78-B8AB-06A6D6C97757}" type="datetime1">
              <a:rPr lang="en-US" smtClean="0"/>
            </a:fld>
            <a:endParaRPr lang="en-US"/>
          </a:p>
        </p:txBody>
      </p:sp>
      <p:sp>
        <p:nvSpPr>
          <p:cNvPr id="1050359" name="Footer Placeholder 4"/>
          <p:cNvSpPr>
            <a:spLocks noGrp="1"/>
          </p:cNvSpPr>
          <p:nvPr>
            <p:ph type="ftr" sz="quarter" idx="11"/>
          </p:nvPr>
        </p:nvSpPr>
        <p:spPr/>
        <p:txBody>
          <a:bodyPr/>
          <a:p>
            <a:r>
              <a:rPr lang="en-US" smtClean="0"/>
              <a:t>@MUSOVYA2017</a:t>
            </a:r>
            <a:endParaRPr lang="en-US"/>
          </a:p>
        </p:txBody>
      </p:sp>
      <p:sp>
        <p:nvSpPr>
          <p:cNvPr id="1050360"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760" name=""/>
        <p:cNvGrpSpPr/>
        <p:nvPr/>
      </p:nvGrpSpPr>
      <p:grpSpPr>
        <a:xfrm>
          <a:off x="0" y="0"/>
          <a:ext cx="0" cy="0"/>
          <a:chOff x="0" y="0"/>
          <a:chExt cx="0" cy="0"/>
        </a:xfrm>
      </p:grpSpPr>
      <p:sp>
        <p:nvSpPr>
          <p:cNvPr id="1048887" name="Title 8"/>
          <p:cNvSpPr>
            <a:spLocks noGrp="1"/>
          </p:cNvSpPr>
          <p:nvPr>
            <p:ph type="ctrTitle"/>
          </p:nvPr>
        </p:nvSpPr>
        <p:spPr>
          <a:xfrm>
            <a:off x="666750" y="1371600"/>
            <a:ext cx="9814559" cy="1828800"/>
          </a:xfrm>
          <a:ln>
            <a:noFill/>
          </a:ln>
        </p:spPr>
        <p:txBody>
          <a:bodyPr anchor="b" bIns="0" rIns="18288" tIns="0" vert="horz">
            <a:normAutofit/>
            <a:scene3d>
              <a:camera prst="orthographicFront"/>
              <a:lightRig dir="t" rig="freezing">
                <a:rot lat="0" lon="0" rev="5640000"/>
              </a:lightRig>
            </a:scene3d>
            <a:sp3d prstMaterial="flat">
              <a:bevelT w="38100" h="38100"/>
              <a:contourClr>
                <a:schemeClr val="tx2"/>
              </a:contourClr>
            </a:sp3d>
          </a:bodyPr>
          <a:lstStyle>
            <a:lvl1pPr algn="r" rtl="0">
              <a:spcBef>
                <a:spcPct val="0"/>
              </a:spcBef>
              <a:buNone/>
              <a:defRPr b="1" sz="5600">
                <a:ln>
                  <a:noFill/>
                </a:ln>
                <a:solidFill>
                  <a:schemeClr val="accent3">
                    <a:tint val="90000"/>
                    <a:satMod val="120000"/>
                  </a:schemeClr>
                </a:solidFill>
                <a:effectLst>
                  <a:outerShdw algn="tl" blurRad="38100" dir="5400000" dist="25400"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048888" name="Subtitle 16"/>
          <p:cNvSpPr>
            <a:spLocks noGrp="1"/>
          </p:cNvSpPr>
          <p:nvPr>
            <p:ph type="subTitle" idx="1"/>
          </p:nvPr>
        </p:nvSpPr>
        <p:spPr>
          <a:xfrm>
            <a:off x="666750" y="3228536"/>
            <a:ext cx="9818371" cy="1752600"/>
          </a:xfrm>
        </p:spPr>
        <p:txBody>
          <a:bodyPr lIns="0" rIns="18288"/>
          <a:lstStyle>
            <a:lvl1pPr algn="r" indent="0" marL="0" marR="45720">
              <a:buNone/>
              <a:defRPr>
                <a:solidFill>
                  <a:schemeClr val="tx1"/>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8889" name="Date Placeholder 29"/>
          <p:cNvSpPr>
            <a:spLocks noGrp="1"/>
          </p:cNvSpPr>
          <p:nvPr>
            <p:ph type="dt" sz="half" idx="10"/>
          </p:nvPr>
        </p:nvSpPr>
        <p:spPr/>
        <p:txBody>
          <a:bodyPr/>
          <a:p>
            <a:fld id="{EC8B9F84-D8C0-4A6F-BA0C-9646527A6F4A}" type="datetime1">
              <a:rPr lang="en-US" smtClean="0"/>
            </a:fld>
            <a:endParaRPr lang="en-US"/>
          </a:p>
        </p:txBody>
      </p:sp>
      <p:sp>
        <p:nvSpPr>
          <p:cNvPr id="1048890" name="Footer Placeholder 18"/>
          <p:cNvSpPr>
            <a:spLocks noGrp="1"/>
          </p:cNvSpPr>
          <p:nvPr>
            <p:ph type="ftr" sz="quarter" idx="11"/>
          </p:nvPr>
        </p:nvSpPr>
        <p:spPr/>
        <p:txBody>
          <a:bodyPr/>
          <a:p>
            <a:r>
              <a:rPr lang="en-US" smtClean="0"/>
              <a:t>@MUSOVYA2017</a:t>
            </a:r>
            <a:endParaRPr lang="en-US"/>
          </a:p>
        </p:txBody>
      </p:sp>
      <p:sp>
        <p:nvSpPr>
          <p:cNvPr id="1048891" name="Slide Number Placeholder 2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762" name=""/>
        <p:cNvGrpSpPr/>
        <p:nvPr/>
      </p:nvGrpSpPr>
      <p:grpSpPr>
        <a:xfrm>
          <a:off x="0" y="0"/>
          <a:ext cx="0" cy="0"/>
          <a:chOff x="0" y="0"/>
          <a:chExt cx="0" cy="0"/>
        </a:xfrm>
      </p:grpSpPr>
      <p:sp>
        <p:nvSpPr>
          <p:cNvPr id="1048893" name="Title 1"/>
          <p:cNvSpPr>
            <a:spLocks noGrp="1"/>
          </p:cNvSpPr>
          <p:nvPr>
            <p:ph type="title"/>
          </p:nvPr>
        </p:nvSpPr>
        <p:spPr/>
        <p:txBody>
          <a:bodyPr/>
          <a:p>
            <a:r>
              <a:rPr kumimoji="0" lang="en-US" smtClean="0"/>
              <a:t>Click to edit Master title style</a:t>
            </a:r>
            <a:endParaRPr kumimoji="0" lang="en-US"/>
          </a:p>
        </p:txBody>
      </p:sp>
      <p:sp>
        <p:nvSpPr>
          <p:cNvPr id="1048894"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895" name="Date Placeholder 3"/>
          <p:cNvSpPr>
            <a:spLocks noGrp="1"/>
          </p:cNvSpPr>
          <p:nvPr>
            <p:ph type="dt" sz="half" idx="10"/>
          </p:nvPr>
        </p:nvSpPr>
        <p:spPr/>
        <p:txBody>
          <a:bodyPr/>
          <a:p>
            <a:fld id="{0A9E1B96-6981-48D4-97C6-B5C50D8EAABB}" type="datetime1">
              <a:rPr lang="en-US" smtClean="0"/>
            </a:fld>
            <a:endParaRPr lang="en-US"/>
          </a:p>
        </p:txBody>
      </p:sp>
      <p:sp>
        <p:nvSpPr>
          <p:cNvPr id="1048896" name="Footer Placeholder 4"/>
          <p:cNvSpPr>
            <a:spLocks noGrp="1"/>
          </p:cNvSpPr>
          <p:nvPr>
            <p:ph type="ftr" sz="quarter" idx="11"/>
          </p:nvPr>
        </p:nvSpPr>
        <p:spPr/>
        <p:txBody>
          <a:bodyPr/>
          <a:p>
            <a:r>
              <a:rPr lang="en-US" smtClean="0"/>
              <a:t>@MUSOVYA2017</a:t>
            </a:r>
            <a:endParaRPr lang="en-US"/>
          </a:p>
        </p:txBody>
      </p:sp>
      <p:sp>
        <p:nvSpPr>
          <p:cNvPr id="1048897"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436" name=""/>
        <p:cNvGrpSpPr/>
        <p:nvPr/>
      </p:nvGrpSpPr>
      <p:grpSpPr>
        <a:xfrm>
          <a:off x="0" y="0"/>
          <a:ext cx="0" cy="0"/>
          <a:chOff x="0" y="0"/>
          <a:chExt cx="0" cy="0"/>
        </a:xfrm>
      </p:grpSpPr>
      <p:sp>
        <p:nvSpPr>
          <p:cNvPr id="1050453" name="Title 1"/>
          <p:cNvSpPr>
            <a:spLocks noGrp="1"/>
          </p:cNvSpPr>
          <p:nvPr>
            <p:ph type="title"/>
          </p:nvPr>
        </p:nvSpPr>
        <p:spPr>
          <a:xfrm>
            <a:off x="662941" y="1316736"/>
            <a:ext cx="9715500" cy="1362456"/>
          </a:xfrm>
          <a:ln>
            <a:noFill/>
          </a:ln>
        </p:spPr>
        <p:txBody>
          <a:bodyPr anchor="b" bIns="0" tIns="0" vert="horz">
            <a:noAutofit/>
            <a:scene3d>
              <a:camera prst="orthographicFront"/>
              <a:lightRig dir="t" rig="freezing">
                <a:rot lat="0" lon="0" rev="5640000"/>
              </a:lightRig>
            </a:scene3d>
            <a:sp3d prstMaterial="flat">
              <a:bevelT w="38100" h="38100"/>
            </a:sp3d>
          </a:bodyPr>
          <a:lstStyle>
            <a:lvl1pPr algn="l" rtl="0">
              <a:spcBef>
                <a:spcPct val="0"/>
              </a:spcBef>
              <a:buNone/>
              <a:defRPr baseline="0" b="1" cap="none" dirty="0" sz="5600" lang="en-US">
                <a:ln w="635">
                  <a:noFill/>
                </a:ln>
                <a:solidFill>
                  <a:schemeClr val="accent4">
                    <a:tint val="90000"/>
                    <a:satMod val="125000"/>
                  </a:schemeClr>
                </a:solidFill>
                <a:effectLst>
                  <a:outerShdw algn="tl" blurRad="38100" dir="5400000" dist="25400"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050454" name="Text Placeholder 2"/>
          <p:cNvSpPr>
            <a:spLocks noGrp="1"/>
          </p:cNvSpPr>
          <p:nvPr>
            <p:ph type="body" idx="1"/>
          </p:nvPr>
        </p:nvSpPr>
        <p:spPr>
          <a:xfrm>
            <a:off x="662941" y="2704665"/>
            <a:ext cx="9715500" cy="1509712"/>
          </a:xfrm>
        </p:spPr>
        <p:txBody>
          <a:bodyPr anchor="t" lIns="45720" rIns="45720"/>
          <a:lstStyle>
            <a:lvl1pPr indent="0" marL="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455" name="Date Placeholder 3"/>
          <p:cNvSpPr>
            <a:spLocks noGrp="1"/>
          </p:cNvSpPr>
          <p:nvPr>
            <p:ph type="dt" sz="half" idx="10"/>
          </p:nvPr>
        </p:nvSpPr>
        <p:spPr/>
        <p:txBody>
          <a:bodyPr/>
          <a:p>
            <a:fld id="{A30CD973-23DD-4F93-AC28-2835B4CD2CEB}" type="datetime1">
              <a:rPr lang="en-US" smtClean="0"/>
            </a:fld>
            <a:endParaRPr lang="en-US"/>
          </a:p>
        </p:txBody>
      </p:sp>
      <p:sp>
        <p:nvSpPr>
          <p:cNvPr id="1050456" name="Footer Placeholder 4"/>
          <p:cNvSpPr>
            <a:spLocks noGrp="1"/>
          </p:cNvSpPr>
          <p:nvPr>
            <p:ph type="ftr" sz="quarter" idx="11"/>
          </p:nvPr>
        </p:nvSpPr>
        <p:spPr/>
        <p:txBody>
          <a:bodyPr/>
          <a:p>
            <a:r>
              <a:rPr lang="en-US" smtClean="0"/>
              <a:t>@MUSOVYA2017</a:t>
            </a:r>
            <a:endParaRPr lang="en-US"/>
          </a:p>
        </p:txBody>
      </p:sp>
      <p:sp>
        <p:nvSpPr>
          <p:cNvPr id="1050457"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800" name=""/>
        <p:cNvGrpSpPr/>
        <p:nvPr/>
      </p:nvGrpSpPr>
      <p:grpSpPr>
        <a:xfrm>
          <a:off x="0" y="0"/>
          <a:ext cx="0" cy="0"/>
          <a:chOff x="0" y="0"/>
          <a:chExt cx="0" cy="0"/>
        </a:xfrm>
      </p:grpSpPr>
      <p:sp>
        <p:nvSpPr>
          <p:cNvPr id="1048977" name="Title 1"/>
          <p:cNvSpPr>
            <a:spLocks noGrp="1"/>
          </p:cNvSpPr>
          <p:nvPr>
            <p:ph type="title"/>
          </p:nvPr>
        </p:nvSpPr>
        <p:spPr>
          <a:xfrm>
            <a:off x="571500" y="704088"/>
            <a:ext cx="10287000" cy="1143000"/>
          </a:xfrm>
        </p:spPr>
        <p:txBody>
          <a:bodyPr/>
          <a:p>
            <a:r>
              <a:rPr kumimoji="0" lang="en-US" smtClean="0"/>
              <a:t>Click to edit Master title style</a:t>
            </a:r>
            <a:endParaRPr kumimoji="0" lang="en-US"/>
          </a:p>
        </p:txBody>
      </p:sp>
      <p:sp>
        <p:nvSpPr>
          <p:cNvPr id="1048978" name="Content Placeholder 2"/>
          <p:cNvSpPr>
            <a:spLocks noGrp="1"/>
          </p:cNvSpPr>
          <p:nvPr>
            <p:ph sz="half" idx="1"/>
          </p:nvPr>
        </p:nvSpPr>
        <p:spPr>
          <a:xfrm>
            <a:off x="571500" y="1920085"/>
            <a:ext cx="5048250" cy="4434840"/>
          </a:xfrm>
        </p:spPr>
        <p:txBody>
          <a:bodyPr/>
          <a:lstStyle>
            <a:lvl1pPr>
              <a:defRPr sz="26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79" name="Content Placeholder 3"/>
          <p:cNvSpPr>
            <a:spLocks noGrp="1"/>
          </p:cNvSpPr>
          <p:nvPr>
            <p:ph sz="half" idx="2"/>
          </p:nvPr>
        </p:nvSpPr>
        <p:spPr>
          <a:xfrm>
            <a:off x="5810250" y="1920085"/>
            <a:ext cx="5048250" cy="4434840"/>
          </a:xfrm>
        </p:spPr>
        <p:txBody>
          <a:bodyPr/>
          <a:lstStyle>
            <a:lvl1pPr>
              <a:defRPr sz="26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80" name="Date Placeholder 4"/>
          <p:cNvSpPr>
            <a:spLocks noGrp="1"/>
          </p:cNvSpPr>
          <p:nvPr>
            <p:ph type="dt" sz="half" idx="10"/>
          </p:nvPr>
        </p:nvSpPr>
        <p:spPr/>
        <p:txBody>
          <a:bodyPr/>
          <a:p>
            <a:fld id="{9769BAA2-A54B-4044-8AC8-DA79DB79349D}" type="datetime1">
              <a:rPr lang="en-US" smtClean="0"/>
            </a:fld>
            <a:endParaRPr lang="en-US"/>
          </a:p>
        </p:txBody>
      </p:sp>
      <p:sp>
        <p:nvSpPr>
          <p:cNvPr id="1048981" name="Footer Placeholder 5"/>
          <p:cNvSpPr>
            <a:spLocks noGrp="1"/>
          </p:cNvSpPr>
          <p:nvPr>
            <p:ph type="ftr" sz="quarter" idx="11"/>
          </p:nvPr>
        </p:nvSpPr>
        <p:spPr/>
        <p:txBody>
          <a:bodyPr/>
          <a:p>
            <a:r>
              <a:rPr lang="en-US" smtClean="0"/>
              <a:t>@MUSOVYA2017</a:t>
            </a:r>
            <a:endParaRPr lang="en-US"/>
          </a:p>
        </p:txBody>
      </p:sp>
      <p:sp>
        <p:nvSpPr>
          <p:cNvPr id="1048982"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33" name=""/>
        <p:cNvGrpSpPr/>
        <p:nvPr/>
      </p:nvGrpSpPr>
      <p:grpSpPr>
        <a:xfrm>
          <a:off x="0" y="0"/>
          <a:ext cx="0" cy="0"/>
          <a:chOff x="0" y="0"/>
          <a:chExt cx="0" cy="0"/>
        </a:xfrm>
      </p:grpSpPr>
      <p:sp>
        <p:nvSpPr>
          <p:cNvPr id="1050436" name="Title 1"/>
          <p:cNvSpPr>
            <a:spLocks noGrp="1"/>
          </p:cNvSpPr>
          <p:nvPr>
            <p:ph type="title"/>
          </p:nvPr>
        </p:nvSpPr>
        <p:spPr>
          <a:xfrm>
            <a:off x="571500" y="704088"/>
            <a:ext cx="10287000" cy="1143000"/>
          </a:xfrm>
        </p:spPr>
        <p:txBody>
          <a:bodyPr anchor="b" tIns="45720"/>
          <a:p>
            <a:r>
              <a:rPr kumimoji="0" lang="en-US" smtClean="0"/>
              <a:t>Click to edit Master title style</a:t>
            </a:r>
            <a:endParaRPr kumimoji="0" lang="en-US"/>
          </a:p>
        </p:txBody>
      </p:sp>
      <p:sp>
        <p:nvSpPr>
          <p:cNvPr id="1050437" name="Text Placeholder 2"/>
          <p:cNvSpPr>
            <a:spLocks noGrp="1"/>
          </p:cNvSpPr>
          <p:nvPr>
            <p:ph type="body" idx="1"/>
          </p:nvPr>
        </p:nvSpPr>
        <p:spPr>
          <a:xfrm>
            <a:off x="571504" y="1855248"/>
            <a:ext cx="5050234" cy="659352"/>
          </a:xfrm>
        </p:spPr>
        <p:txBody>
          <a:bodyPr anchor="ctr" bIns="0" lIns="45720" rIns="45720" tIns="0">
            <a:noAutofit/>
          </a:bodyPr>
          <a:lstStyle>
            <a:lvl1pPr indent="0" marL="0">
              <a:buNone/>
              <a:defRPr baseline="0" b="1" cap="none" sz="2400">
                <a:solidFill>
                  <a:schemeClr val="tx2"/>
                </a:solidFill>
                <a:effectLst/>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438" name="Text Placeholder 3"/>
          <p:cNvSpPr>
            <a:spLocks noGrp="1"/>
          </p:cNvSpPr>
          <p:nvPr>
            <p:ph type="body" sz="half" idx="3"/>
          </p:nvPr>
        </p:nvSpPr>
        <p:spPr>
          <a:xfrm>
            <a:off x="5806288" y="1859765"/>
            <a:ext cx="5052220" cy="654843"/>
          </a:xfrm>
        </p:spPr>
        <p:txBody>
          <a:bodyPr anchor="ctr" bIns="0" lIns="45720" rIns="45720" tIns="0"/>
          <a:lstStyle>
            <a:lvl1pPr indent="0" marL="0">
              <a:buNone/>
              <a:defRPr baseline="0" b="1" cap="none" sz="2400">
                <a:solidFill>
                  <a:schemeClr val="tx2"/>
                </a:solidFill>
                <a:effectLst/>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439" name="Content Placeholder 4"/>
          <p:cNvSpPr>
            <a:spLocks noGrp="1"/>
          </p:cNvSpPr>
          <p:nvPr>
            <p:ph sz="quarter" idx="2"/>
          </p:nvPr>
        </p:nvSpPr>
        <p:spPr>
          <a:xfrm>
            <a:off x="571504" y="2514601"/>
            <a:ext cx="5050234" cy="3845720"/>
          </a:xfrm>
        </p:spPr>
        <p:txBody>
          <a:bodyPr tIns="0"/>
          <a:lstStyle>
            <a:lvl1pPr>
              <a:defRPr sz="22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40" name="Content Placeholder 5"/>
          <p:cNvSpPr>
            <a:spLocks noGrp="1"/>
          </p:cNvSpPr>
          <p:nvPr>
            <p:ph sz="quarter" idx="4"/>
          </p:nvPr>
        </p:nvSpPr>
        <p:spPr>
          <a:xfrm>
            <a:off x="5806288" y="2514601"/>
            <a:ext cx="5052220" cy="3845720"/>
          </a:xfrm>
        </p:spPr>
        <p:txBody>
          <a:bodyPr tIns="0"/>
          <a:lstStyle>
            <a:lvl1pPr>
              <a:defRPr sz="22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41" name="Date Placeholder 6"/>
          <p:cNvSpPr>
            <a:spLocks noGrp="1"/>
          </p:cNvSpPr>
          <p:nvPr>
            <p:ph type="dt" sz="half" idx="10"/>
          </p:nvPr>
        </p:nvSpPr>
        <p:spPr/>
        <p:txBody>
          <a:bodyPr/>
          <a:p>
            <a:fld id="{25EC6949-8E37-49B9-99E3-05A50F232888}" type="datetime1">
              <a:rPr lang="en-US" smtClean="0"/>
            </a:fld>
            <a:endParaRPr lang="en-US"/>
          </a:p>
        </p:txBody>
      </p:sp>
      <p:sp>
        <p:nvSpPr>
          <p:cNvPr id="1050442" name="Footer Placeholder 7"/>
          <p:cNvSpPr>
            <a:spLocks noGrp="1"/>
          </p:cNvSpPr>
          <p:nvPr>
            <p:ph type="ftr" sz="quarter" idx="11"/>
          </p:nvPr>
        </p:nvSpPr>
        <p:spPr/>
        <p:txBody>
          <a:bodyPr/>
          <a:p>
            <a:r>
              <a:rPr lang="en-US" smtClean="0"/>
              <a:t>@MUSOVYA2017</a:t>
            </a:r>
            <a:endParaRPr lang="en-US"/>
          </a:p>
        </p:txBody>
      </p:sp>
      <p:sp>
        <p:nvSpPr>
          <p:cNvPr id="1050443" name="Slide Number Placeholder 8"/>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37" name=""/>
        <p:cNvGrpSpPr/>
        <p:nvPr/>
      </p:nvGrpSpPr>
      <p:grpSpPr>
        <a:xfrm>
          <a:off x="0" y="0"/>
          <a:ext cx="0" cy="0"/>
          <a:chOff x="0" y="0"/>
          <a:chExt cx="0" cy="0"/>
        </a:xfrm>
      </p:grpSpPr>
      <p:sp>
        <p:nvSpPr>
          <p:cNvPr id="1050458" name="Title 1"/>
          <p:cNvSpPr>
            <a:spLocks noGrp="1"/>
          </p:cNvSpPr>
          <p:nvPr>
            <p:ph type="title"/>
          </p:nvPr>
        </p:nvSpPr>
        <p:spPr>
          <a:xfrm>
            <a:off x="571501" y="704088"/>
            <a:ext cx="10382250" cy="1143000"/>
          </a:xfrm>
        </p:spPr>
        <p:txBody>
          <a:bodyPr anchor="b" bIns="0" tIns="45720" vert="horz">
            <a:normAutofit/>
            <a:scene3d>
              <a:camera prst="orthographicFront"/>
              <a:lightRig dir="t" rig="freezing">
                <a:rot lat="0" lon="0" rev="5640000"/>
              </a:lightRig>
            </a:scene3d>
            <a:sp3d prstMaterial="flat">
              <a:contourClr>
                <a:schemeClr val="tx2"/>
              </a:contourClr>
            </a:sp3d>
          </a:bodyPr>
          <a:lstStyle>
            <a:lvl1pPr algn="l" rtl="0">
              <a:spcBef>
                <a:spcPct val="0"/>
              </a:spcBef>
              <a:buNone/>
              <a:defRPr b="0" sz="500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1050459" name="Date Placeholder 2"/>
          <p:cNvSpPr>
            <a:spLocks noGrp="1"/>
          </p:cNvSpPr>
          <p:nvPr>
            <p:ph type="dt" sz="half" idx="10"/>
          </p:nvPr>
        </p:nvSpPr>
        <p:spPr/>
        <p:txBody>
          <a:bodyPr/>
          <a:p>
            <a:fld id="{00CC2CBD-63F9-4C0F-B018-2DE6B911A3C9}" type="datetime1">
              <a:rPr lang="en-US" smtClean="0"/>
            </a:fld>
            <a:endParaRPr lang="en-US"/>
          </a:p>
        </p:txBody>
      </p:sp>
      <p:sp>
        <p:nvSpPr>
          <p:cNvPr id="1050460" name="Footer Placeholder 3"/>
          <p:cNvSpPr>
            <a:spLocks noGrp="1"/>
          </p:cNvSpPr>
          <p:nvPr>
            <p:ph type="ftr" sz="quarter" idx="11"/>
          </p:nvPr>
        </p:nvSpPr>
        <p:spPr/>
        <p:txBody>
          <a:bodyPr/>
          <a:p>
            <a:r>
              <a:rPr lang="en-US" smtClean="0"/>
              <a:t>@MUSOVYA2017</a:t>
            </a:r>
            <a:endParaRPr lang="en-US"/>
          </a:p>
        </p:txBody>
      </p:sp>
      <p:sp>
        <p:nvSpPr>
          <p:cNvPr id="1050461" name="Slide Number Placeholder 4"/>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34" name=""/>
        <p:cNvGrpSpPr/>
        <p:nvPr/>
      </p:nvGrpSpPr>
      <p:grpSpPr>
        <a:xfrm>
          <a:off x="0" y="0"/>
          <a:ext cx="0" cy="0"/>
          <a:chOff x="0" y="0"/>
          <a:chExt cx="0" cy="0"/>
        </a:xfrm>
      </p:grpSpPr>
      <p:sp>
        <p:nvSpPr>
          <p:cNvPr id="1050444" name="Date Placeholder 1"/>
          <p:cNvSpPr>
            <a:spLocks noGrp="1"/>
          </p:cNvSpPr>
          <p:nvPr>
            <p:ph type="dt" sz="half" idx="10"/>
          </p:nvPr>
        </p:nvSpPr>
        <p:spPr/>
        <p:txBody>
          <a:bodyPr/>
          <a:p>
            <a:fld id="{0EF826E8-88AA-453D-8A91-AA3130D3411D}" type="datetime1">
              <a:rPr lang="en-US" smtClean="0"/>
            </a:fld>
            <a:endParaRPr lang="en-US"/>
          </a:p>
        </p:txBody>
      </p:sp>
      <p:sp>
        <p:nvSpPr>
          <p:cNvPr id="1050445" name="Footer Placeholder 2"/>
          <p:cNvSpPr>
            <a:spLocks noGrp="1"/>
          </p:cNvSpPr>
          <p:nvPr>
            <p:ph type="ftr" sz="quarter" idx="11"/>
          </p:nvPr>
        </p:nvSpPr>
        <p:spPr/>
        <p:txBody>
          <a:bodyPr/>
          <a:p>
            <a:r>
              <a:rPr lang="en-US" smtClean="0"/>
              <a:t>@MUSOVYA2017</a:t>
            </a:r>
            <a:endParaRPr lang="en-US"/>
          </a:p>
        </p:txBody>
      </p:sp>
      <p:sp>
        <p:nvSpPr>
          <p:cNvPr id="1050446" name="Slide Number Placeholder 3"/>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35" name=""/>
        <p:cNvGrpSpPr/>
        <p:nvPr/>
      </p:nvGrpSpPr>
      <p:grpSpPr>
        <a:xfrm>
          <a:off x="0" y="0"/>
          <a:ext cx="0" cy="0"/>
          <a:chOff x="0" y="0"/>
          <a:chExt cx="0" cy="0"/>
        </a:xfrm>
      </p:grpSpPr>
      <p:sp>
        <p:nvSpPr>
          <p:cNvPr id="1050447" name="Title 1"/>
          <p:cNvSpPr>
            <a:spLocks noGrp="1"/>
          </p:cNvSpPr>
          <p:nvPr>
            <p:ph type="title"/>
          </p:nvPr>
        </p:nvSpPr>
        <p:spPr>
          <a:xfrm>
            <a:off x="857250" y="514359"/>
            <a:ext cx="3429000" cy="1162051"/>
          </a:xfrm>
        </p:spPr>
        <p:txBody>
          <a:bodyPr anchor="b" lIns="0">
            <a:noAutofit/>
          </a:bodyPr>
          <a:lstStyle>
            <a:lvl1pPr algn="l" rtl="0">
              <a:spcBef>
                <a:spcPct val="0"/>
              </a:spcBef>
              <a:buNone/>
              <a:defRPr b="0" sz="260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1050448" name="Text Placeholder 2"/>
          <p:cNvSpPr>
            <a:spLocks noGrp="1"/>
          </p:cNvSpPr>
          <p:nvPr>
            <p:ph type="body" idx="2"/>
          </p:nvPr>
        </p:nvSpPr>
        <p:spPr>
          <a:xfrm>
            <a:off x="857250" y="1676400"/>
            <a:ext cx="3429000" cy="4572000"/>
          </a:xfrm>
        </p:spPr>
        <p:txBody>
          <a:bodyPr lIns="18288" rIns="18288"/>
          <a:lstStyle>
            <a:lvl1pPr algn="l" indent="0" marL="0">
              <a:buNone/>
              <a:defRPr sz="1400"/>
            </a:lvl1pPr>
            <a:lvl2pPr algn="l" indent="0">
              <a:buNone/>
              <a:defRPr sz="1200"/>
            </a:lvl2pPr>
            <a:lvl3pPr algn="l" indent="0">
              <a:buNone/>
              <a:defRPr sz="1000"/>
            </a:lvl3pPr>
            <a:lvl4pPr algn="l" indent="0">
              <a:buNone/>
              <a:defRPr sz="900"/>
            </a:lvl4pPr>
            <a:lvl5pPr algn="l" indent="0">
              <a:buNone/>
              <a:defRPr sz="900"/>
            </a:lvl5pPr>
          </a:lstStyle>
          <a:p>
            <a:pPr eaLnBrk="1" hangingPunct="1" latinLnBrk="0" lvl="0"/>
            <a:r>
              <a:rPr kumimoji="0" lang="en-US" smtClean="0"/>
              <a:t>Click to edit Master text styles</a:t>
            </a:r>
          </a:p>
        </p:txBody>
      </p:sp>
      <p:sp>
        <p:nvSpPr>
          <p:cNvPr id="1050449" name="Content Placeholder 3"/>
          <p:cNvSpPr>
            <a:spLocks noGrp="1"/>
          </p:cNvSpPr>
          <p:nvPr>
            <p:ph sz="half" idx="1"/>
          </p:nvPr>
        </p:nvSpPr>
        <p:spPr>
          <a:xfrm>
            <a:off x="4468819" y="1676400"/>
            <a:ext cx="6389690" cy="4572000"/>
          </a:xfrm>
        </p:spPr>
        <p:txBody>
          <a:bodyPr tIns="0"/>
          <a:lstStyle>
            <a:lvl1pPr>
              <a:defRPr sz="2800"/>
            </a:lvl1pPr>
            <a:lvl2pPr>
              <a:defRPr sz="2600"/>
            </a:lvl2pPr>
            <a:lvl3pPr>
              <a:defRPr sz="2400"/>
            </a:lvl3pPr>
            <a:lvl4pPr>
              <a:defRPr sz="20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50" name="Date Placeholder 4"/>
          <p:cNvSpPr>
            <a:spLocks noGrp="1"/>
          </p:cNvSpPr>
          <p:nvPr>
            <p:ph type="dt" sz="half" idx="10"/>
          </p:nvPr>
        </p:nvSpPr>
        <p:spPr/>
        <p:txBody>
          <a:bodyPr/>
          <a:p>
            <a:fld id="{879FAA27-7A36-4D9C-AE42-4AFEC1C8196F}" type="datetime1">
              <a:rPr lang="en-US" smtClean="0"/>
            </a:fld>
            <a:endParaRPr lang="en-US"/>
          </a:p>
        </p:txBody>
      </p:sp>
      <p:sp>
        <p:nvSpPr>
          <p:cNvPr id="1050451" name="Footer Placeholder 5"/>
          <p:cNvSpPr>
            <a:spLocks noGrp="1"/>
          </p:cNvSpPr>
          <p:nvPr>
            <p:ph type="ftr" sz="quarter" idx="11"/>
          </p:nvPr>
        </p:nvSpPr>
        <p:spPr/>
        <p:txBody>
          <a:bodyPr/>
          <a:p>
            <a:r>
              <a:rPr lang="en-US" smtClean="0"/>
              <a:t>@MUSOVYA2017</a:t>
            </a:r>
            <a:endParaRPr lang="en-US"/>
          </a:p>
        </p:txBody>
      </p:sp>
      <p:sp>
        <p:nvSpPr>
          <p:cNvPr id="1050452"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31" name=""/>
        <p:cNvGrpSpPr/>
        <p:nvPr/>
      </p:nvGrpSpPr>
      <p:grpSpPr>
        <a:xfrm>
          <a:off x="0" y="0"/>
          <a:ext cx="0" cy="0"/>
          <a:chOff x="0" y="0"/>
          <a:chExt cx="0" cy="0"/>
        </a:xfrm>
      </p:grpSpPr>
      <p:sp>
        <p:nvSpPr>
          <p:cNvPr id="1050421" name="Snip and Round Single Corner Rectangle 8"/>
          <p:cNvSpPr/>
          <p:nvPr/>
        </p:nvSpPr>
        <p:spPr>
          <a:xfrm rot="420000" flipV="1">
            <a:off x="3957192" y="1108077"/>
            <a:ext cx="6572250" cy="4114800"/>
          </a:xfrm>
          <a:prstGeom prst="snipRoundRect">
            <a:avLst>
              <a:gd name="adj1" fmla="val 0"/>
              <a:gd name="adj2" fmla="val 3646"/>
            </a:avLst>
          </a:prstGeom>
          <a:solidFill>
            <a:srgbClr val="FFFFFF"/>
          </a:solidFill>
          <a:ln w="3175" cap="rnd" cmpd="sng" algn="ctr">
            <a:solidFill>
              <a:srgbClr val="C0C0C0"/>
            </a:solidFill>
            <a:prstDash val="solid"/>
          </a:ln>
          <a:effectLst>
            <a:outerShdw algn="tl" blurRad="63500" dir="7500000" dist="38500" kx="100000" rotWithShape="0" sx="98500" sy="10008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dirty="0" kumimoji="0" lang="en-US"/>
          </a:p>
        </p:txBody>
      </p:sp>
      <p:sp>
        <p:nvSpPr>
          <p:cNvPr id="1050422" name="Right Triangle 11"/>
          <p:cNvSpPr/>
          <p:nvPr/>
        </p:nvSpPr>
        <p:spPr>
          <a:xfrm rot="420000" flipV="1">
            <a:off x="10005170" y="5359769"/>
            <a:ext cx="194309" cy="155448"/>
          </a:xfrm>
          <a:prstGeom prst="rtTriangle"/>
          <a:solidFill>
            <a:srgbClr val="FFFFFF"/>
          </a:solidFill>
          <a:ln w="12700" cap="flat" cmpd="sng" algn="ctr">
            <a:solidFill>
              <a:srgbClr val="FFFFFF"/>
            </a:solidFill>
            <a:prstDash val="solid"/>
            <a:bevel/>
          </a:ln>
          <a:effectLst>
            <a:outerShdw algn="tl" blurRad="19685" dir="12900000" dist="6350"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dirty="0" kumimoji="0" lang="en-US"/>
          </a:p>
        </p:txBody>
      </p:sp>
      <p:sp>
        <p:nvSpPr>
          <p:cNvPr id="1050423" name="Title 1"/>
          <p:cNvSpPr>
            <a:spLocks noGrp="1"/>
          </p:cNvSpPr>
          <p:nvPr>
            <p:ph type="title"/>
          </p:nvPr>
        </p:nvSpPr>
        <p:spPr>
          <a:xfrm>
            <a:off x="762000" y="1176999"/>
            <a:ext cx="2766059" cy="1582621"/>
          </a:xfrm>
        </p:spPr>
        <p:txBody>
          <a:bodyPr anchor="b" bIns="45720" lIns="45720" rIns="45720" tIns="45720" vert="horz"/>
          <a:lstStyle>
            <a:lvl1pPr algn="l">
              <a:buNone/>
              <a:defRPr b="1" sz="2000">
                <a:solidFill>
                  <a:schemeClr val="tx2"/>
                </a:solidFill>
              </a:defRPr>
            </a:lvl1pPr>
          </a:lstStyle>
          <a:p>
            <a:r>
              <a:rPr kumimoji="0" lang="en-US" smtClean="0"/>
              <a:t>Click to edit Master title style</a:t>
            </a:r>
            <a:endParaRPr kumimoji="0" lang="en-US"/>
          </a:p>
        </p:txBody>
      </p:sp>
      <p:sp>
        <p:nvSpPr>
          <p:cNvPr id="1050424" name="Text Placeholder 3"/>
          <p:cNvSpPr>
            <a:spLocks noGrp="1"/>
          </p:cNvSpPr>
          <p:nvPr>
            <p:ph type="body" sz="half" idx="2"/>
          </p:nvPr>
        </p:nvSpPr>
        <p:spPr>
          <a:xfrm>
            <a:off x="762001" y="2828785"/>
            <a:ext cx="2762250" cy="2179320"/>
          </a:xfrm>
        </p:spPr>
        <p:txBody>
          <a:bodyPr anchor="t" bIns="45720" lIns="64008" rIns="45720"/>
          <a:lstStyle>
            <a:lvl1pPr algn="l" indent="0" marL="0">
              <a:spcBef>
                <a:spcPts val="250"/>
              </a:spcBef>
              <a:buFontTx/>
              <a:buNone/>
              <a:defRPr sz="1300"/>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
        <p:nvSpPr>
          <p:cNvPr id="1050425" name="Date Placeholder 4"/>
          <p:cNvSpPr>
            <a:spLocks noGrp="1"/>
          </p:cNvSpPr>
          <p:nvPr>
            <p:ph type="dt" sz="half" idx="10"/>
          </p:nvPr>
        </p:nvSpPr>
        <p:spPr/>
        <p:txBody>
          <a:bodyPr/>
          <a:p>
            <a:fld id="{9539DE77-D405-44FB-8F89-D25E0B5DDD42}" type="datetime1">
              <a:rPr lang="en-US" smtClean="0"/>
            </a:fld>
            <a:endParaRPr lang="en-US"/>
          </a:p>
        </p:txBody>
      </p:sp>
      <p:sp>
        <p:nvSpPr>
          <p:cNvPr id="1050426" name="Footer Placeholder 5"/>
          <p:cNvSpPr>
            <a:spLocks noGrp="1"/>
          </p:cNvSpPr>
          <p:nvPr>
            <p:ph type="ftr" sz="quarter" idx="11"/>
          </p:nvPr>
        </p:nvSpPr>
        <p:spPr/>
        <p:txBody>
          <a:bodyPr/>
          <a:p>
            <a:r>
              <a:rPr lang="en-US" smtClean="0"/>
              <a:t>@MUSOVYA2017</a:t>
            </a:r>
            <a:endParaRPr lang="en-US"/>
          </a:p>
        </p:txBody>
      </p:sp>
      <p:sp>
        <p:nvSpPr>
          <p:cNvPr id="1050427" name="Slide Number Placeholder 6"/>
          <p:cNvSpPr>
            <a:spLocks noGrp="1"/>
          </p:cNvSpPr>
          <p:nvPr>
            <p:ph type="sldNum" sz="quarter" idx="12"/>
          </p:nvPr>
        </p:nvSpPr>
        <p:spPr>
          <a:xfrm>
            <a:off x="10096500" y="6356359"/>
            <a:ext cx="762000" cy="365125"/>
          </a:xfrm>
        </p:spPr>
        <p:txBody>
          <a:bodyPr/>
          <a:p>
            <a:fld id="{539D2A76-69E3-4600-8808-3C1A10934549}" type="slidenum">
              <a:rPr lang="en-US" smtClean="0"/>
            </a:fld>
            <a:endParaRPr lang="en-US"/>
          </a:p>
        </p:txBody>
      </p:sp>
      <p:sp>
        <p:nvSpPr>
          <p:cNvPr id="1050428" name="Picture Placeholder 2"/>
          <p:cNvSpPr>
            <a:spLocks noGrp="1"/>
          </p:cNvSpPr>
          <p:nvPr>
            <p:ph type="pic" idx="1"/>
          </p:nvPr>
        </p:nvSpPr>
        <p:spPr>
          <a:xfrm rot="420000">
            <a:off x="4357242" y="1199517"/>
            <a:ext cx="5772150" cy="3931920"/>
          </a:xfrm>
          <a:prstGeom prst="rect"/>
          <a:solidFill>
            <a:schemeClr val="bg2"/>
          </a:solidFill>
          <a:ln w="3000" cap="rnd">
            <a:solidFill>
              <a:srgbClr val="C0C0C0"/>
            </a:solidFill>
            <a:round/>
          </a:ln>
          <a:effectLst/>
        </p:spPr>
        <p:txBody>
          <a:bodyPr/>
          <a:lstStyle>
            <a:lvl1pPr indent="0" marL="0">
              <a:buNone/>
              <a:defRPr sz="3200"/>
            </a:lvl1pPr>
          </a:lstStyle>
          <a:p>
            <a:r>
              <a:rPr kumimoji="0" lang="en-US" smtClean="0"/>
              <a:t>Click icon to add picture</a:t>
            </a:r>
            <a:endParaRPr dirty="0" kumimoji="0" lang="en-US"/>
          </a:p>
        </p:txBody>
      </p:sp>
      <p:sp>
        <p:nvSpPr>
          <p:cNvPr id="1050429" name="Freeform 9"/>
          <p:cNvSpPr/>
          <p:nvPr/>
        </p:nvSpPr>
        <p:spPr bwMode="auto">
          <a:xfrm flipV="1">
            <a:off x="-11908" y="5816601"/>
            <a:ext cx="11453815" cy="1041400"/>
          </a:xfrm>
          <a:custGeom>
            <a:avLst>
              <a:gd name="A1" fmla="val 0"/>
              <a:gd name="A2" fmla="val 0"/>
              <a:gd name="A3" fmla="val 0"/>
              <a:gd name="A4" fmla="val 0"/>
              <a:gd name="A5" fmla="val 0"/>
              <a:gd name="A6" fmla="val 0"/>
              <a:gd name="A7" fmla="val 0"/>
              <a:gd name="A8" fmla="val 0"/>
            </a:av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nchor="t" bIns="45720" compatLnSpc="1" lIns="91440" rIns="91440" tIns="45720" vert="horz" wrap="square"/>
          <a:p>
            <a:pPr algn="l" eaLnBrk="1" hangingPunct="1" latinLnBrk="0" marL="0" rtl="0"/>
            <a:endParaRPr dirty="0" kumimoji="0" lang="en-US">
              <a:solidFill>
                <a:schemeClr val="tx1"/>
              </a:solidFill>
              <a:latin typeface="+mn-lt"/>
              <a:ea typeface="+mn-ea"/>
              <a:cs typeface="+mn-cs"/>
            </a:endParaRPr>
          </a:p>
        </p:txBody>
      </p:sp>
      <p:sp>
        <p:nvSpPr>
          <p:cNvPr id="1050430" name="Freeform 10"/>
          <p:cNvSpPr/>
          <p:nvPr/>
        </p:nvSpPr>
        <p:spPr bwMode="auto">
          <a:xfrm flipV="1">
            <a:off x="5476880" y="6219833"/>
            <a:ext cx="5953125" cy="638175"/>
          </a:xfrm>
          <a:custGeom>
            <a:avLst>
              <a:gd name="A1" fmla="val 0"/>
              <a:gd name="A2" fmla="val 0"/>
              <a:gd name="A3" fmla="val 0"/>
              <a:gd name="A4" fmla="val 0"/>
              <a:gd name="A5" fmla="val 0"/>
              <a:gd name="A6" fmla="val 0"/>
              <a:gd name="A7" fmla="val 0"/>
              <a:gd name="A8" fmla="val 0"/>
            </a:av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nchor="t" bIns="45720" compatLnSpc="1" lIns="91440" rIns="91440" tIns="45720" vert="horz" wrap="square"/>
          <a:p>
            <a:pPr algn="l" eaLnBrk="1" hangingPunct="1" latinLnBrk="0" marL="0" rtl="0"/>
            <a:endParaRPr dirty="0" kumimoji="0" lang="en-US">
              <a:solidFill>
                <a:schemeClr val="tx1"/>
              </a:solidFill>
              <a:latin typeface="+mn-lt"/>
              <a:ea typeface="+mn-ea"/>
              <a:cs typeface="+mn-cs"/>
            </a:endParaRPr>
          </a:p>
        </p:txBody>
      </p:sp>
    </p:spTree>
  </p:cSld>
  <p:clrMapOvr>
    <a:masterClrMapping/>
  </p:clrMapOvr>
  <p:transition xmlns:p14="http://schemas.microsoft.com/office/powerpoint/2010/main" spd="slow">
    <p:strips dir="ru"/>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38" name=""/>
        <p:cNvGrpSpPr/>
        <p:nvPr/>
      </p:nvGrpSpPr>
      <p:grpSpPr>
        <a:xfrm>
          <a:off x="0" y="0"/>
          <a:ext cx="0" cy="0"/>
          <a:chOff x="0" y="0"/>
          <a:chExt cx="0" cy="0"/>
        </a:xfrm>
      </p:grpSpPr>
      <p:sp>
        <p:nvSpPr>
          <p:cNvPr id="1050462" name="Title 1"/>
          <p:cNvSpPr>
            <a:spLocks noGrp="1"/>
          </p:cNvSpPr>
          <p:nvPr>
            <p:ph type="title"/>
          </p:nvPr>
        </p:nvSpPr>
        <p:spPr/>
        <p:txBody>
          <a:bodyPr/>
          <a:p>
            <a:r>
              <a:rPr kumimoji="0" lang="en-US" smtClean="0"/>
              <a:t>Click to edit Master title style</a:t>
            </a:r>
            <a:endParaRPr kumimoji="0" lang="en-US"/>
          </a:p>
        </p:txBody>
      </p:sp>
      <p:sp>
        <p:nvSpPr>
          <p:cNvPr id="1050463"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64" name="Date Placeholder 3"/>
          <p:cNvSpPr>
            <a:spLocks noGrp="1"/>
          </p:cNvSpPr>
          <p:nvPr>
            <p:ph type="dt" sz="half" idx="10"/>
          </p:nvPr>
        </p:nvSpPr>
        <p:spPr/>
        <p:txBody>
          <a:bodyPr/>
          <a:p>
            <a:fld id="{616D0F39-441D-4B4C-892E-E8929D4AD9F0}" type="datetime1">
              <a:rPr lang="en-US" smtClean="0"/>
            </a:fld>
            <a:endParaRPr lang="en-US"/>
          </a:p>
        </p:txBody>
      </p:sp>
      <p:sp>
        <p:nvSpPr>
          <p:cNvPr id="1050465" name="Footer Placeholder 4"/>
          <p:cNvSpPr>
            <a:spLocks noGrp="1"/>
          </p:cNvSpPr>
          <p:nvPr>
            <p:ph type="ftr" sz="quarter" idx="11"/>
          </p:nvPr>
        </p:nvSpPr>
        <p:spPr/>
        <p:txBody>
          <a:bodyPr/>
          <a:p>
            <a:r>
              <a:rPr lang="en-US" smtClean="0"/>
              <a:t>@MUSOVYA2017</a:t>
            </a:r>
            <a:endParaRPr lang="en-US"/>
          </a:p>
        </p:txBody>
      </p:sp>
      <p:sp>
        <p:nvSpPr>
          <p:cNvPr id="1050466"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32" name=""/>
        <p:cNvGrpSpPr/>
        <p:nvPr/>
      </p:nvGrpSpPr>
      <p:grpSpPr>
        <a:xfrm>
          <a:off x="0" y="0"/>
          <a:ext cx="0" cy="0"/>
          <a:chOff x="0" y="0"/>
          <a:chExt cx="0" cy="0"/>
        </a:xfrm>
      </p:grpSpPr>
      <p:sp>
        <p:nvSpPr>
          <p:cNvPr id="1050431" name="Vertical Title 1"/>
          <p:cNvSpPr>
            <a:spLocks noGrp="1"/>
          </p:cNvSpPr>
          <p:nvPr>
            <p:ph type="title" orient="vert"/>
          </p:nvPr>
        </p:nvSpPr>
        <p:spPr>
          <a:xfrm>
            <a:off x="8286750" y="914403"/>
            <a:ext cx="2571750" cy="5211763"/>
          </a:xfrm>
        </p:spPr>
        <p:txBody>
          <a:bodyPr vert="eaVert"/>
          <a:p>
            <a:r>
              <a:rPr kumimoji="0" lang="en-US" smtClean="0"/>
              <a:t>Click to edit Master title style</a:t>
            </a:r>
            <a:endParaRPr kumimoji="0" lang="en-US"/>
          </a:p>
        </p:txBody>
      </p:sp>
      <p:sp>
        <p:nvSpPr>
          <p:cNvPr id="1050432" name="Vertical Text Placeholder 2"/>
          <p:cNvSpPr>
            <a:spLocks noGrp="1"/>
          </p:cNvSpPr>
          <p:nvPr>
            <p:ph type="body" orient="vert" idx="1"/>
          </p:nvPr>
        </p:nvSpPr>
        <p:spPr>
          <a:xfrm>
            <a:off x="571500" y="914403"/>
            <a:ext cx="7524750" cy="5211763"/>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33" name="Date Placeholder 3"/>
          <p:cNvSpPr>
            <a:spLocks noGrp="1"/>
          </p:cNvSpPr>
          <p:nvPr>
            <p:ph type="dt" sz="half" idx="10"/>
          </p:nvPr>
        </p:nvSpPr>
        <p:spPr/>
        <p:txBody>
          <a:bodyPr/>
          <a:p>
            <a:fld id="{197D0E1E-BE0A-424C-9907-508DF25AE2C5}" type="datetime1">
              <a:rPr lang="en-US" smtClean="0"/>
            </a:fld>
            <a:endParaRPr lang="en-US"/>
          </a:p>
        </p:txBody>
      </p:sp>
      <p:sp>
        <p:nvSpPr>
          <p:cNvPr id="1050434" name="Footer Placeholder 4"/>
          <p:cNvSpPr>
            <a:spLocks noGrp="1"/>
          </p:cNvSpPr>
          <p:nvPr>
            <p:ph type="ftr" sz="quarter" idx="11"/>
          </p:nvPr>
        </p:nvSpPr>
        <p:spPr/>
        <p:txBody>
          <a:bodyPr/>
          <a:p>
            <a:r>
              <a:rPr lang="en-US" smtClean="0"/>
              <a:t>@MUSOVYA2017</a:t>
            </a:r>
            <a:endParaRPr lang="en-US"/>
          </a:p>
        </p:txBody>
      </p:sp>
      <p:sp>
        <p:nvSpPr>
          <p:cNvPr id="1050435"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833" name=""/>
        <p:cNvGrpSpPr/>
        <p:nvPr/>
      </p:nvGrpSpPr>
      <p:grpSpPr>
        <a:xfrm>
          <a:off x="0" y="0"/>
          <a:ext cx="0" cy="0"/>
          <a:chOff x="0" y="0"/>
          <a:chExt cx="0" cy="0"/>
        </a:xfrm>
      </p:grpSpPr>
      <p:sp>
        <p:nvSpPr>
          <p:cNvPr id="1049036" name="Right Triangle 9"/>
          <p:cNvSpPr/>
          <p:nvPr/>
        </p:nvSpPr>
        <p:spPr>
          <a:xfrm>
            <a:off x="3" y="4664147"/>
            <a:ext cx="11438860" cy="0"/>
          </a:xfrm>
          <a:prstGeom prst="rtTriangle"/>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037" name="Title 8"/>
          <p:cNvSpPr>
            <a:spLocks noGrp="1"/>
          </p:cNvSpPr>
          <p:nvPr>
            <p:ph type="ctrTitle"/>
          </p:nvPr>
        </p:nvSpPr>
        <p:spPr>
          <a:xfrm>
            <a:off x="857250" y="1752611"/>
            <a:ext cx="9715500" cy="1829761"/>
          </a:xfrm>
        </p:spPr>
        <p:txBody>
          <a:bodyPr anchor="b" vert="horz">
            <a:normAutofit/>
            <a:scene3d>
              <a:camera prst="orthographicFront"/>
              <a:lightRig dir="t" rig="soft"/>
            </a:scene3d>
            <a:sp3d prstMaterial="softEdge">
              <a:bevelT w="25400" h="25400"/>
            </a:sp3d>
          </a:bodyPr>
          <a:lstStyle>
            <a:lvl1pPr algn="r">
              <a:defRPr b="1" sz="4800">
                <a:solidFill>
                  <a:schemeClr val="tx2"/>
                </a:solidFill>
                <a:effectLst>
                  <a:outerShdw algn="tl" blurRad="31750" dir="5400000" dist="25400" rotWithShape="0">
                    <a:srgbClr val="000000">
                      <a:alpha val="25000"/>
                    </a:srgbClr>
                  </a:outerShdw>
                </a:effectLst>
              </a:defRPr>
            </a:lvl1pPr>
          </a:lstStyle>
          <a:p>
            <a:r>
              <a:rPr kumimoji="0" lang="en-US" smtClean="0"/>
              <a:t>Click to edit Master title style</a:t>
            </a:r>
            <a:endParaRPr kumimoji="0" lang="en-US"/>
          </a:p>
        </p:txBody>
      </p:sp>
      <p:sp>
        <p:nvSpPr>
          <p:cNvPr id="1049038" name="Subtitle 16"/>
          <p:cNvSpPr>
            <a:spLocks noGrp="1"/>
          </p:cNvSpPr>
          <p:nvPr>
            <p:ph type="subTitle" idx="1"/>
          </p:nvPr>
        </p:nvSpPr>
        <p:spPr>
          <a:xfrm>
            <a:off x="857250" y="3611607"/>
            <a:ext cx="9715500" cy="1199704"/>
          </a:xfrm>
        </p:spPr>
        <p:txBody>
          <a:bodyPr lIns="45720" rIns="45720"/>
          <a:lstStyle>
            <a:lvl1pPr algn="r" indent="0" marL="0" marR="64008">
              <a:buNone/>
              <a:defRPr>
                <a:solidFill>
                  <a:schemeClr val="tx2"/>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grpSp>
        <p:nvGrpSpPr>
          <p:cNvPr id="834" name="Group 1"/>
          <p:cNvGrpSpPr/>
          <p:nvPr/>
        </p:nvGrpSpPr>
        <p:grpSpPr>
          <a:xfrm>
            <a:off x="-4704" y="4953001"/>
            <a:ext cx="11434706" cy="1912088"/>
            <a:chOff x="-3765" y="4832896"/>
            <a:chExt cx="9147765" cy="2032192"/>
          </a:xfrm>
        </p:grpSpPr>
        <p:sp>
          <p:nvSpPr>
            <p:cNvPr id="1049039"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9040"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904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xmlns:r="http://schemas.openxmlformats.org/officeDocument/2006/relationships" r:embed="rId1" cstate="print">
                <a:alphaModFix amt="50000"/>
              </a:blip>
              <a:tile algn="t" flip="none" sx="50000" sy="50000" tx="0" ty="0"/>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gradFill>
              </a:fillOverlay>
            </a:effectLst>
          </p:spPr>
          <p:style>
            <a:lnRef idx="3">
              <a:schemeClr val="lt1"/>
            </a:lnRef>
            <a:fillRef idx="1">
              <a:schemeClr val="accent1"/>
            </a:fillRef>
            <a:effectRef idx="1">
              <a:schemeClr val="accent1"/>
            </a:effectRef>
            <a:fontRef idx="minor">
              <a:schemeClr val="lt1"/>
            </a:fontRef>
          </p:style>
          <p:txBody>
            <a:bodyPr anchor="ctr" bIns="45720" compatLnSpc="1" lIns="91440" rIns="91440" tIns="45720" vert="horz" wrap="square"/>
            <a:p>
              <a:pPr algn="ctr" eaLnBrk="1" hangingPunct="1" latinLnBrk="0"/>
              <a:endParaRPr kumimoji="0" lang="en-US"/>
            </a:p>
          </p:txBody>
        </p:sp>
        <p:cxnSp>
          <p:nvCxnSpPr>
            <p:cNvPr id="3145729" name="Straight Connector 11"/>
            <p:cNvCxnSpPr>
              <a:cxnSpLocks/>
            </p:cNvCxnSpPr>
            <p:nvPr/>
          </p:nvCxnSpPr>
          <p:spPr>
            <a:xfrm>
              <a:off x="-3765" y="4880373"/>
              <a:ext cx="9147765" cy="839943"/>
            </a:xfrm>
            <a:prstGeom prst="line"/>
            <a:noFill/>
            <a:ln w="12065" cap="flat" cmpd="sng" algn="ctr">
              <a:gradFill>
                <a:gsLst>
                  <a:gs pos="15000">
                    <a:schemeClr val="accent1">
                      <a:shade val="40000"/>
                      <a:satMod val="110000"/>
                    </a:schemeClr>
                  </a:gs>
                  <a:gs pos="45000">
                    <a:schemeClr val="accent1">
                      <a:tint val="7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049042" name="Date Placeholder 29"/>
          <p:cNvSpPr>
            <a:spLocks noGrp="1"/>
          </p:cNvSpPr>
          <p:nvPr>
            <p:ph type="dt" sz="half" idx="10"/>
          </p:nvPr>
        </p:nvSpPr>
        <p:spPr/>
        <p:txBody>
          <a:bodyPr/>
          <a:lstStyle>
            <a:lvl1pPr>
              <a:defRPr>
                <a:solidFill>
                  <a:srgbClr val="FFFFFF"/>
                </a:solidFill>
              </a:defRPr>
            </a:lvl1pPr>
          </a:lstStyle>
          <a:p>
            <a:fld id="{DF8189EB-7F00-4BCA-94A7-CCF2B5AA6FE3}" type="datetime1">
              <a:rPr lang="en-US" smtClean="0"/>
            </a:fld>
            <a:endParaRPr lang="en-US"/>
          </a:p>
        </p:txBody>
      </p:sp>
      <p:sp>
        <p:nvSpPr>
          <p:cNvPr id="1049043" name="Footer Placeholder 18"/>
          <p:cNvSpPr>
            <a:spLocks noGrp="1"/>
          </p:cNvSpPr>
          <p:nvPr>
            <p:ph type="ftr" sz="quarter" idx="11"/>
          </p:nvPr>
        </p:nvSpPr>
        <p:spPr/>
        <p:txBody>
          <a:bodyPr/>
          <a:lstStyle>
            <a:lvl1pPr>
              <a:defRPr>
                <a:solidFill>
                  <a:schemeClr val="accent1">
                    <a:tint val="20000"/>
                  </a:schemeClr>
                </a:solidFill>
              </a:defRPr>
            </a:lvl1pPr>
          </a:lstStyle>
          <a:p>
            <a:r>
              <a:rPr lang="en-US" smtClean="0"/>
              <a:t>@MUSOVYA2017</a:t>
            </a:r>
            <a:endParaRPr lang="en-US"/>
          </a:p>
        </p:txBody>
      </p:sp>
      <p:sp>
        <p:nvSpPr>
          <p:cNvPr id="1049044" name="Slide Number Placeholder 26"/>
          <p:cNvSpPr>
            <a:spLocks noGrp="1"/>
          </p:cNvSpPr>
          <p:nvPr>
            <p:ph type="sldNum" sz="quarter" idx="12"/>
          </p:nvPr>
        </p:nvSpPr>
        <p:spPr/>
        <p:txBody>
          <a:bodyPr/>
          <a:lstStyle>
            <a:lvl1pPr>
              <a:defRPr>
                <a:solidFill>
                  <a:srgbClr val="FFFFFF"/>
                </a:solidFill>
              </a:defRPr>
            </a:lvl1pPr>
          </a:lstStyle>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836" name=""/>
        <p:cNvGrpSpPr/>
        <p:nvPr/>
      </p:nvGrpSpPr>
      <p:grpSpPr>
        <a:xfrm>
          <a:off x="0" y="0"/>
          <a:ext cx="0" cy="0"/>
          <a:chOff x="0" y="0"/>
          <a:chExt cx="0" cy="0"/>
        </a:xfrm>
      </p:grpSpPr>
      <p:sp>
        <p:nvSpPr>
          <p:cNvPr id="1049046"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47" name="Date Placeholder 3"/>
          <p:cNvSpPr>
            <a:spLocks noGrp="1"/>
          </p:cNvSpPr>
          <p:nvPr>
            <p:ph type="dt" sz="half" idx="10"/>
          </p:nvPr>
        </p:nvSpPr>
        <p:spPr/>
        <p:txBody>
          <a:bodyPr/>
          <a:p>
            <a:fld id="{189EAAED-2C45-4B3D-9BB6-D0B90AB9A338}" type="datetime1">
              <a:rPr lang="en-US" smtClean="0"/>
            </a:fld>
            <a:endParaRPr lang="en-US"/>
          </a:p>
        </p:txBody>
      </p:sp>
      <p:sp>
        <p:nvSpPr>
          <p:cNvPr id="1049048" name="Footer Placeholder 4"/>
          <p:cNvSpPr>
            <a:spLocks noGrp="1"/>
          </p:cNvSpPr>
          <p:nvPr>
            <p:ph type="ftr" sz="quarter" idx="11"/>
          </p:nvPr>
        </p:nvSpPr>
        <p:spPr/>
        <p:txBody>
          <a:bodyPr/>
          <a:p>
            <a:r>
              <a:rPr lang="en-US" smtClean="0"/>
              <a:t>@MUSOVYA2017</a:t>
            </a:r>
            <a:endParaRPr lang="en-US"/>
          </a:p>
        </p:txBody>
      </p:sp>
      <p:sp>
        <p:nvSpPr>
          <p:cNvPr id="1049049" name="Slide Number Placeholder 5"/>
          <p:cNvSpPr>
            <a:spLocks noGrp="1"/>
          </p:cNvSpPr>
          <p:nvPr>
            <p:ph type="sldNum" sz="quarter" idx="12"/>
          </p:nvPr>
        </p:nvSpPr>
        <p:spPr/>
        <p:txBody>
          <a:bodyPr/>
          <a:p>
            <a:fld id="{539D2A76-69E3-4600-8808-3C1A10934549}" type="slidenum">
              <a:rPr lang="en-US" smtClean="0"/>
            </a:fld>
            <a:endParaRPr lang="en-US"/>
          </a:p>
        </p:txBody>
      </p:sp>
      <p:sp>
        <p:nvSpPr>
          <p:cNvPr id="1049050" name="Title 6"/>
          <p:cNvSpPr>
            <a:spLocks noGrp="1"/>
          </p:cNvSpPr>
          <p:nvPr>
            <p:ph type="title"/>
          </p:nvPr>
        </p:nvSpPr>
        <p:spPr/>
        <p:txBody>
          <a:bodyPr rtlCol="0"/>
          <a:p>
            <a:r>
              <a:rPr kumimoji="0" lang="en-US" smtClean="0"/>
              <a:t>Click to edit Master title style</a:t>
            </a:r>
            <a:endParaRPr kumimoji="0" lang="en-US"/>
          </a:p>
        </p:txBody>
      </p:sp>
    </p:spTree>
  </p:cSld>
  <p:clrMapOvr>
    <a:masterClrMapping/>
  </p:clrMapOvr>
  <p:transition xmlns:p14="http://schemas.microsoft.com/office/powerpoint/2010/main" spd="slow">
    <p:strips dir="ru"/>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490" name=""/>
        <p:cNvGrpSpPr/>
        <p:nvPr/>
      </p:nvGrpSpPr>
      <p:grpSpPr>
        <a:xfrm>
          <a:off x="0" y="0"/>
          <a:ext cx="0" cy="0"/>
          <a:chOff x="0" y="0"/>
          <a:chExt cx="0" cy="0"/>
        </a:xfrm>
      </p:grpSpPr>
      <p:sp>
        <p:nvSpPr>
          <p:cNvPr id="1050779" name="Title 1"/>
          <p:cNvSpPr>
            <a:spLocks noGrp="1"/>
          </p:cNvSpPr>
          <p:nvPr>
            <p:ph type="title"/>
          </p:nvPr>
        </p:nvSpPr>
        <p:spPr>
          <a:xfrm>
            <a:off x="902970" y="1059712"/>
            <a:ext cx="9715500" cy="1828800"/>
          </a:xfrm>
        </p:spPr>
        <p:txBody>
          <a:bodyPr anchor="b" vert="horz">
            <a:normAutofit/>
            <a:scene3d>
              <a:camera prst="orthographicFront"/>
              <a:lightRig dir="t" rig="soft"/>
            </a:scene3d>
            <a:sp3d prstMaterial="softEdge">
              <a:bevelT w="25400" h="25400"/>
            </a:sp3d>
          </a:bodyPr>
          <a:lstStyle>
            <a:lvl1pPr algn="r">
              <a:buNone/>
              <a:defRPr baseline="0" b="1" cap="none" sz="4800">
                <a:effectLst>
                  <a:outerShdw algn="tl" blurRad="31750" dir="5400000" dist="25400" rotWithShape="0">
                    <a:srgbClr val="000000">
                      <a:alpha val="25000"/>
                    </a:srgbClr>
                  </a:outerShdw>
                </a:effectLst>
              </a:defRPr>
            </a:lvl1pPr>
          </a:lstStyle>
          <a:p>
            <a:r>
              <a:rPr kumimoji="0" lang="en-US" smtClean="0"/>
              <a:t>Click to edit Master title style</a:t>
            </a:r>
            <a:endParaRPr kumimoji="0" lang="en-US"/>
          </a:p>
        </p:txBody>
      </p:sp>
      <p:sp>
        <p:nvSpPr>
          <p:cNvPr id="1050780" name="Text Placeholder 2"/>
          <p:cNvSpPr>
            <a:spLocks noGrp="1"/>
          </p:cNvSpPr>
          <p:nvPr>
            <p:ph type="body" idx="1"/>
          </p:nvPr>
        </p:nvSpPr>
        <p:spPr>
          <a:xfrm>
            <a:off x="4903392" y="2931712"/>
            <a:ext cx="5715000" cy="1454888"/>
          </a:xfrm>
        </p:spPr>
        <p:txBody>
          <a:bodyPr anchor="t" lIns="91440" rIns="91440"/>
          <a:lstStyle>
            <a:lvl1pPr algn="l" indent="0" marL="0">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781" name="Date Placeholder 3"/>
          <p:cNvSpPr>
            <a:spLocks noGrp="1"/>
          </p:cNvSpPr>
          <p:nvPr>
            <p:ph type="dt" sz="half" idx="10"/>
          </p:nvPr>
        </p:nvSpPr>
        <p:spPr/>
        <p:txBody>
          <a:bodyPr/>
          <a:p>
            <a:fld id="{7BC0E1BD-99B8-499B-8D75-FD8B8772E219}" type="datetime1">
              <a:rPr lang="en-US" smtClean="0"/>
            </a:fld>
            <a:endParaRPr lang="en-US"/>
          </a:p>
        </p:txBody>
      </p:sp>
      <p:sp>
        <p:nvSpPr>
          <p:cNvPr id="1050782" name="Footer Placeholder 4"/>
          <p:cNvSpPr>
            <a:spLocks noGrp="1"/>
          </p:cNvSpPr>
          <p:nvPr>
            <p:ph type="ftr" sz="quarter" idx="11"/>
          </p:nvPr>
        </p:nvSpPr>
        <p:spPr/>
        <p:txBody>
          <a:bodyPr/>
          <a:p>
            <a:r>
              <a:rPr lang="en-US" smtClean="0"/>
              <a:t>@MUSOVYA2017</a:t>
            </a:r>
            <a:endParaRPr lang="en-US"/>
          </a:p>
        </p:txBody>
      </p:sp>
      <p:sp>
        <p:nvSpPr>
          <p:cNvPr id="1050783" name="Slide Number Placeholder 5"/>
          <p:cNvSpPr>
            <a:spLocks noGrp="1"/>
          </p:cNvSpPr>
          <p:nvPr>
            <p:ph type="sldNum" sz="quarter" idx="12"/>
          </p:nvPr>
        </p:nvSpPr>
        <p:spPr/>
        <p:txBody>
          <a:bodyPr/>
          <a:p>
            <a:fld id="{539D2A76-69E3-4600-8808-3C1A10934549}" type="slidenum">
              <a:rPr lang="en-US" smtClean="0"/>
            </a:fld>
            <a:endParaRPr lang="en-US"/>
          </a:p>
        </p:txBody>
      </p:sp>
      <p:sp>
        <p:nvSpPr>
          <p:cNvPr id="1050784" name="Chevron 6"/>
          <p:cNvSpPr/>
          <p:nvPr/>
        </p:nvSpPr>
        <p:spPr>
          <a:xfrm>
            <a:off x="4545850" y="3005472"/>
            <a:ext cx="22860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r="5400000" dist="254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p>
            <a:pPr algn="l" eaLnBrk="1" hangingPunct="1" latinLnBrk="0"/>
            <a:endParaRPr kumimoji="0" lang="en-US"/>
          </a:p>
        </p:txBody>
      </p:sp>
      <p:sp>
        <p:nvSpPr>
          <p:cNvPr id="1050785" name="Chevron 7"/>
          <p:cNvSpPr/>
          <p:nvPr/>
        </p:nvSpPr>
        <p:spPr>
          <a:xfrm>
            <a:off x="4312830" y="3005472"/>
            <a:ext cx="22860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r="5400000" dist="254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p>
            <a:pPr algn="l"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484" name=""/>
        <p:cNvGrpSpPr/>
        <p:nvPr/>
      </p:nvGrpSpPr>
      <p:grpSpPr>
        <a:xfrm>
          <a:off x="0" y="0"/>
          <a:ext cx="0" cy="0"/>
          <a:chOff x="0" y="0"/>
          <a:chExt cx="0" cy="0"/>
        </a:xfrm>
      </p:grpSpPr>
      <p:sp>
        <p:nvSpPr>
          <p:cNvPr id="1050748" name="Content Placeholder 2"/>
          <p:cNvSpPr>
            <a:spLocks noGrp="1"/>
          </p:cNvSpPr>
          <p:nvPr>
            <p:ph sz="half" idx="1"/>
          </p:nvPr>
        </p:nvSpPr>
        <p:spPr>
          <a:xfrm>
            <a:off x="571500" y="1481336"/>
            <a:ext cx="5048250" cy="4525963"/>
          </a:xfrm>
        </p:spPr>
        <p:txBody>
          <a:bodyPr/>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749" name="Content Placeholder 3"/>
          <p:cNvSpPr>
            <a:spLocks noGrp="1"/>
          </p:cNvSpPr>
          <p:nvPr>
            <p:ph sz="half" idx="2"/>
          </p:nvPr>
        </p:nvSpPr>
        <p:spPr>
          <a:xfrm>
            <a:off x="5810250" y="1481336"/>
            <a:ext cx="5048250" cy="4525963"/>
          </a:xfrm>
        </p:spPr>
        <p:txBody>
          <a:bodyPr/>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750" name="Date Placeholder 4"/>
          <p:cNvSpPr>
            <a:spLocks noGrp="1"/>
          </p:cNvSpPr>
          <p:nvPr>
            <p:ph type="dt" sz="half" idx="10"/>
          </p:nvPr>
        </p:nvSpPr>
        <p:spPr/>
        <p:txBody>
          <a:bodyPr/>
          <a:p>
            <a:fld id="{64838AC8-98BA-42BE-B31E-23AB104D7643}" type="datetime1">
              <a:rPr lang="en-US" smtClean="0"/>
            </a:fld>
            <a:endParaRPr lang="en-US"/>
          </a:p>
        </p:txBody>
      </p:sp>
      <p:sp>
        <p:nvSpPr>
          <p:cNvPr id="1050751" name="Footer Placeholder 5"/>
          <p:cNvSpPr>
            <a:spLocks noGrp="1"/>
          </p:cNvSpPr>
          <p:nvPr>
            <p:ph type="ftr" sz="quarter" idx="11"/>
          </p:nvPr>
        </p:nvSpPr>
        <p:spPr/>
        <p:txBody>
          <a:bodyPr/>
          <a:p>
            <a:r>
              <a:rPr lang="en-US" smtClean="0"/>
              <a:t>@MUSOVYA2017</a:t>
            </a:r>
            <a:endParaRPr lang="en-US"/>
          </a:p>
        </p:txBody>
      </p:sp>
      <p:sp>
        <p:nvSpPr>
          <p:cNvPr id="1050752"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50753" name="Title 7"/>
          <p:cNvSpPr>
            <a:spLocks noGrp="1"/>
          </p:cNvSpPr>
          <p:nvPr>
            <p:ph type="title"/>
          </p:nvPr>
        </p:nvSpPr>
        <p:spPr/>
        <p:txBody>
          <a:bodyPr rtlCol="0"/>
          <a:p>
            <a:r>
              <a:rPr kumimoji="0" lang="en-US" smtClean="0"/>
              <a:t>Click to edit Master title style</a:t>
            </a:r>
            <a:endParaRPr kumimoji="0" lang="en-US"/>
          </a:p>
        </p:txBody>
      </p:sp>
    </p:spTree>
  </p:cSld>
  <p:clrMapOvr>
    <a:masterClrMapping/>
  </p:clrMapOvr>
  <p:transition xmlns:p14="http://schemas.microsoft.com/office/powerpoint/2010/main" spd="slow">
    <p:strips dir="ru"/>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86" name=""/>
        <p:cNvGrpSpPr/>
        <p:nvPr/>
      </p:nvGrpSpPr>
      <p:grpSpPr>
        <a:xfrm>
          <a:off x="0" y="0"/>
          <a:ext cx="0" cy="0"/>
          <a:chOff x="0" y="0"/>
          <a:chExt cx="0" cy="0"/>
        </a:xfrm>
      </p:grpSpPr>
      <p:sp>
        <p:nvSpPr>
          <p:cNvPr id="1050757" name="Title 1"/>
          <p:cNvSpPr>
            <a:spLocks noGrp="1"/>
          </p:cNvSpPr>
          <p:nvPr>
            <p:ph type="title"/>
          </p:nvPr>
        </p:nvSpPr>
        <p:spPr>
          <a:xfrm>
            <a:off x="571500" y="273051"/>
            <a:ext cx="10287000" cy="1143000"/>
          </a:xfrm>
        </p:spPr>
        <p:txBody>
          <a:bodyPr anchor="ctr"/>
          <a:p>
            <a:r>
              <a:rPr kumimoji="0" lang="en-US" smtClean="0"/>
              <a:t>Click to edit Master title style</a:t>
            </a:r>
            <a:endParaRPr kumimoji="0" lang="en-US"/>
          </a:p>
        </p:txBody>
      </p:sp>
      <p:sp>
        <p:nvSpPr>
          <p:cNvPr id="1050758" name="Text Placeholder 2"/>
          <p:cNvSpPr>
            <a:spLocks noGrp="1"/>
          </p:cNvSpPr>
          <p:nvPr>
            <p:ph type="body" idx="1"/>
          </p:nvPr>
        </p:nvSpPr>
        <p:spPr>
          <a:xfrm>
            <a:off x="571504" y="5410200"/>
            <a:ext cx="5050234" cy="762000"/>
          </a:xfrm>
          <a:solidFill>
            <a:schemeClr val="accent1"/>
          </a:solidFill>
          <a:ln w="9652">
            <a:solidFill>
              <a:schemeClr val="accent1"/>
            </a:solidFill>
            <a:miter lim="800000"/>
          </a:ln>
        </p:spPr>
        <p:txBody>
          <a:bodyPr anchor="ctr" lIns="182880"/>
          <a:lstStyle>
            <a:lvl1pPr indent="0" marL="0">
              <a:buNone/>
              <a:defRPr b="0" sz="2400">
                <a:solidFill>
                  <a:schemeClr val="bg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759" name="Text Placeholder 3"/>
          <p:cNvSpPr>
            <a:spLocks noGrp="1"/>
          </p:cNvSpPr>
          <p:nvPr>
            <p:ph type="body" sz="half" idx="3"/>
          </p:nvPr>
        </p:nvSpPr>
        <p:spPr>
          <a:xfrm>
            <a:off x="5806288" y="5410200"/>
            <a:ext cx="5052220" cy="762000"/>
          </a:xfrm>
          <a:solidFill>
            <a:schemeClr val="accent1"/>
          </a:solidFill>
          <a:ln w="9652">
            <a:solidFill>
              <a:schemeClr val="accent1"/>
            </a:solidFill>
            <a:miter lim="800000"/>
          </a:ln>
        </p:spPr>
        <p:txBody>
          <a:bodyPr anchor="ctr" lIns="182880"/>
          <a:lstStyle>
            <a:lvl1pPr indent="0" marL="0">
              <a:buNone/>
              <a:defRPr b="0" sz="2400">
                <a:solidFill>
                  <a:schemeClr val="bg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760" name="Content Placeholder 4"/>
          <p:cNvSpPr>
            <a:spLocks noGrp="1"/>
          </p:cNvSpPr>
          <p:nvPr>
            <p:ph sz="quarter" idx="2"/>
          </p:nvPr>
        </p:nvSpPr>
        <p:spPr>
          <a:xfrm>
            <a:off x="571504" y="1444303"/>
            <a:ext cx="5050234"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761" name="Content Placeholder 5"/>
          <p:cNvSpPr>
            <a:spLocks noGrp="1"/>
          </p:cNvSpPr>
          <p:nvPr>
            <p:ph sz="quarter" idx="4"/>
          </p:nvPr>
        </p:nvSpPr>
        <p:spPr>
          <a:xfrm>
            <a:off x="5806288" y="1444303"/>
            <a:ext cx="5052220"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762" name="Date Placeholder 6"/>
          <p:cNvSpPr>
            <a:spLocks noGrp="1"/>
          </p:cNvSpPr>
          <p:nvPr>
            <p:ph type="dt" sz="half" idx="10"/>
          </p:nvPr>
        </p:nvSpPr>
        <p:spPr/>
        <p:txBody>
          <a:bodyPr/>
          <a:p>
            <a:fld id="{D353B53A-38ED-418C-BC9D-36CDB3D5B266}" type="datetime1">
              <a:rPr lang="en-US" smtClean="0"/>
            </a:fld>
            <a:endParaRPr lang="en-US"/>
          </a:p>
        </p:txBody>
      </p:sp>
      <p:sp>
        <p:nvSpPr>
          <p:cNvPr id="1050763" name="Footer Placeholder 7"/>
          <p:cNvSpPr>
            <a:spLocks noGrp="1"/>
          </p:cNvSpPr>
          <p:nvPr>
            <p:ph type="ftr" sz="quarter" idx="11"/>
          </p:nvPr>
        </p:nvSpPr>
        <p:spPr/>
        <p:txBody>
          <a:bodyPr/>
          <a:p>
            <a:r>
              <a:rPr lang="en-US" smtClean="0"/>
              <a:t>@MUSOVYA2017</a:t>
            </a:r>
            <a:endParaRPr lang="en-US"/>
          </a:p>
        </p:txBody>
      </p:sp>
      <p:sp>
        <p:nvSpPr>
          <p:cNvPr id="1050764" name="Slide Number Placeholder 8"/>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88" name=""/>
        <p:cNvGrpSpPr/>
        <p:nvPr/>
      </p:nvGrpSpPr>
      <p:grpSpPr>
        <a:xfrm>
          <a:off x="0" y="0"/>
          <a:ext cx="0" cy="0"/>
          <a:chOff x="0" y="0"/>
          <a:chExt cx="0" cy="0"/>
        </a:xfrm>
      </p:grpSpPr>
      <p:sp>
        <p:nvSpPr>
          <p:cNvPr id="1050770" name="Date Placeholder 2"/>
          <p:cNvSpPr>
            <a:spLocks noGrp="1"/>
          </p:cNvSpPr>
          <p:nvPr>
            <p:ph type="dt" sz="half" idx="10"/>
          </p:nvPr>
        </p:nvSpPr>
        <p:spPr/>
        <p:txBody>
          <a:bodyPr/>
          <a:p>
            <a:fld id="{E718D823-9067-46F8-8895-A9A58D35B407}" type="datetime1">
              <a:rPr lang="en-US" smtClean="0"/>
            </a:fld>
            <a:endParaRPr lang="en-US"/>
          </a:p>
        </p:txBody>
      </p:sp>
      <p:sp>
        <p:nvSpPr>
          <p:cNvPr id="1050771" name="Footer Placeholder 3"/>
          <p:cNvSpPr>
            <a:spLocks noGrp="1"/>
          </p:cNvSpPr>
          <p:nvPr>
            <p:ph type="ftr" sz="quarter" idx="11"/>
          </p:nvPr>
        </p:nvSpPr>
        <p:spPr/>
        <p:txBody>
          <a:bodyPr/>
          <a:p>
            <a:r>
              <a:rPr lang="en-US" smtClean="0"/>
              <a:t>@MUSOVYA2017</a:t>
            </a:r>
            <a:endParaRPr lang="en-US"/>
          </a:p>
        </p:txBody>
      </p:sp>
      <p:sp>
        <p:nvSpPr>
          <p:cNvPr id="1050772" name="Slide Number Placeholder 4"/>
          <p:cNvSpPr>
            <a:spLocks noGrp="1"/>
          </p:cNvSpPr>
          <p:nvPr>
            <p:ph type="sldNum" sz="quarter" idx="12"/>
          </p:nvPr>
        </p:nvSpPr>
        <p:spPr/>
        <p:txBody>
          <a:bodyPr/>
          <a:p>
            <a:fld id="{539D2A76-69E3-4600-8808-3C1A10934549}" type="slidenum">
              <a:rPr lang="en-US" smtClean="0"/>
            </a:fld>
            <a:endParaRPr lang="en-US"/>
          </a:p>
        </p:txBody>
      </p:sp>
      <p:sp>
        <p:nvSpPr>
          <p:cNvPr id="1050773" name="Title 5"/>
          <p:cNvSpPr>
            <a:spLocks noGrp="1"/>
          </p:cNvSpPr>
          <p:nvPr>
            <p:ph type="title"/>
          </p:nvPr>
        </p:nvSpPr>
        <p:spPr/>
        <p:txBody>
          <a:bodyPr rtlCol="0"/>
          <a:p>
            <a:r>
              <a:rPr kumimoji="0" lang="en-US" smtClean="0"/>
              <a:t>Click to edit Master title style</a:t>
            </a:r>
            <a:endParaRPr kumimoji="0" lang="en-US"/>
          </a:p>
        </p:txBody>
      </p:sp>
    </p:spTree>
  </p:cSld>
  <p:clrMapOvr>
    <a:masterClrMapping/>
  </p:clrMapOvr>
  <p:transition xmlns:p14="http://schemas.microsoft.com/office/powerpoint/2010/main" spd="slow">
    <p:strips dir="ru"/>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85" name=""/>
        <p:cNvGrpSpPr/>
        <p:nvPr/>
      </p:nvGrpSpPr>
      <p:grpSpPr>
        <a:xfrm>
          <a:off x="0" y="0"/>
          <a:ext cx="0" cy="0"/>
          <a:chOff x="0" y="0"/>
          <a:chExt cx="0" cy="0"/>
        </a:xfrm>
      </p:grpSpPr>
      <p:sp>
        <p:nvSpPr>
          <p:cNvPr id="1050754" name="Date Placeholder 1"/>
          <p:cNvSpPr>
            <a:spLocks noGrp="1"/>
          </p:cNvSpPr>
          <p:nvPr>
            <p:ph type="dt" sz="half" idx="10"/>
          </p:nvPr>
        </p:nvSpPr>
        <p:spPr/>
        <p:txBody>
          <a:bodyPr/>
          <a:p>
            <a:fld id="{5B5D826A-0BB5-4640-955A-595A9C1C5E35}" type="datetime1">
              <a:rPr lang="en-US" smtClean="0"/>
            </a:fld>
            <a:endParaRPr lang="en-US"/>
          </a:p>
        </p:txBody>
      </p:sp>
      <p:sp>
        <p:nvSpPr>
          <p:cNvPr id="1050755" name="Footer Placeholder 2"/>
          <p:cNvSpPr>
            <a:spLocks noGrp="1"/>
          </p:cNvSpPr>
          <p:nvPr>
            <p:ph type="ftr" sz="quarter" idx="11"/>
          </p:nvPr>
        </p:nvSpPr>
        <p:spPr/>
        <p:txBody>
          <a:bodyPr/>
          <a:p>
            <a:r>
              <a:rPr lang="en-US" smtClean="0"/>
              <a:t>@MUSOVYA2017</a:t>
            </a:r>
            <a:endParaRPr lang="en-US"/>
          </a:p>
        </p:txBody>
      </p:sp>
      <p:sp>
        <p:nvSpPr>
          <p:cNvPr id="1050756" name="Slide Number Placeholder 3"/>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91" name=""/>
        <p:cNvGrpSpPr/>
        <p:nvPr/>
      </p:nvGrpSpPr>
      <p:grpSpPr>
        <a:xfrm>
          <a:off x="0" y="0"/>
          <a:ext cx="0" cy="0"/>
          <a:chOff x="0" y="0"/>
          <a:chExt cx="0" cy="0"/>
        </a:xfrm>
      </p:grpSpPr>
      <p:sp>
        <p:nvSpPr>
          <p:cNvPr id="1050786" name="Title 1"/>
          <p:cNvSpPr>
            <a:spLocks noGrp="1"/>
          </p:cNvSpPr>
          <p:nvPr>
            <p:ph type="title"/>
          </p:nvPr>
        </p:nvSpPr>
        <p:spPr>
          <a:xfrm>
            <a:off x="1143000" y="4876800"/>
            <a:ext cx="9352221" cy="457200"/>
          </a:xfrm>
        </p:spPr>
        <p:txBody>
          <a:bodyPr anchor="t" vert="horz">
            <a:noAutofit/>
            <a:sp3d prstMaterial="softEdge">
              <a:bevelT w="0" h="0"/>
            </a:sp3d>
          </a:bodyPr>
          <a:lstStyle>
            <a:lvl1pPr algn="r">
              <a:buNone/>
              <a:defRPr b="0" sz="2500">
                <a:solidFill>
                  <a:schemeClr val="accent1"/>
                </a:solidFill>
                <a:effectLst/>
              </a:defRPr>
            </a:lvl1pPr>
          </a:lstStyle>
          <a:p>
            <a:r>
              <a:rPr kumimoji="0" lang="en-US" smtClean="0"/>
              <a:t>Click to edit Master title style</a:t>
            </a:r>
            <a:endParaRPr kumimoji="0" lang="en-US"/>
          </a:p>
        </p:txBody>
      </p:sp>
      <p:sp>
        <p:nvSpPr>
          <p:cNvPr id="1050787" name="Text Placeholder 2"/>
          <p:cNvSpPr>
            <a:spLocks noGrp="1"/>
          </p:cNvSpPr>
          <p:nvPr>
            <p:ph type="body" idx="2"/>
          </p:nvPr>
        </p:nvSpPr>
        <p:spPr>
          <a:xfrm>
            <a:off x="5524500" y="5355103"/>
            <a:ext cx="4968240" cy="914400"/>
          </a:xfrm>
        </p:spPr>
        <p:txBody>
          <a:bodyPr/>
          <a:lstStyle>
            <a:lvl1pPr algn="r" indent="0" marL="0">
              <a:buNone/>
              <a:defRPr sz="16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50788" name="Content Placeholder 3"/>
          <p:cNvSpPr>
            <a:spLocks noGrp="1"/>
          </p:cNvSpPr>
          <p:nvPr>
            <p:ph sz="half" idx="1"/>
          </p:nvPr>
        </p:nvSpPr>
        <p:spPr>
          <a:xfrm>
            <a:off x="1143000" y="274320"/>
            <a:ext cx="9349741" cy="4572000"/>
          </a:xfrm>
        </p:spPr>
        <p:txBody>
          <a:bodyPr/>
          <a:lstStyle>
            <a:lvl1pPr>
              <a:defRPr sz="3200"/>
            </a:lvl1pPr>
            <a:lvl2pPr>
              <a:defRPr sz="2800"/>
            </a:lvl2pPr>
            <a:lvl3pPr>
              <a:defRPr sz="2400"/>
            </a:lvl3pPr>
            <a:lvl4pPr>
              <a:defRPr sz="2000"/>
            </a:lvl4pPr>
            <a:lvl5pPr>
              <a:defRPr sz="20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789" name="Date Placeholder 4"/>
          <p:cNvSpPr>
            <a:spLocks noGrp="1"/>
          </p:cNvSpPr>
          <p:nvPr>
            <p:ph type="dt" sz="half" idx="10"/>
          </p:nvPr>
        </p:nvSpPr>
        <p:spPr>
          <a:xfrm>
            <a:off x="8408791" y="6407944"/>
            <a:ext cx="2400300" cy="365760"/>
          </a:xfrm>
        </p:spPr>
        <p:txBody>
          <a:bodyPr/>
          <a:p>
            <a:fld id="{81FE6D56-6ACA-4345-859F-FE0C1527BEBF}" type="datetime1">
              <a:rPr lang="en-US" smtClean="0"/>
            </a:fld>
            <a:endParaRPr lang="en-US"/>
          </a:p>
        </p:txBody>
      </p:sp>
      <p:sp>
        <p:nvSpPr>
          <p:cNvPr id="1050790" name="Footer Placeholder 5"/>
          <p:cNvSpPr>
            <a:spLocks noGrp="1"/>
          </p:cNvSpPr>
          <p:nvPr>
            <p:ph type="ftr" sz="quarter" idx="11"/>
          </p:nvPr>
        </p:nvSpPr>
        <p:spPr/>
        <p:txBody>
          <a:bodyPr/>
          <a:p>
            <a:r>
              <a:rPr lang="en-US" smtClean="0"/>
              <a:t>@MUSOVYA2017</a:t>
            </a:r>
            <a:endParaRPr lang="en-US"/>
          </a:p>
        </p:txBody>
      </p:sp>
      <p:sp>
        <p:nvSpPr>
          <p:cNvPr id="1050791"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83" name=""/>
        <p:cNvGrpSpPr/>
        <p:nvPr/>
      </p:nvGrpSpPr>
      <p:grpSpPr>
        <a:xfrm>
          <a:off x="0" y="0"/>
          <a:ext cx="0" cy="0"/>
          <a:chOff x="0" y="0"/>
          <a:chExt cx="0" cy="0"/>
        </a:xfrm>
      </p:grpSpPr>
      <p:sp>
        <p:nvSpPr>
          <p:cNvPr id="1050737" name="Text Placeholder 3"/>
          <p:cNvSpPr>
            <a:spLocks noGrp="1"/>
          </p:cNvSpPr>
          <p:nvPr>
            <p:ph type="body" sz="half" idx="2"/>
          </p:nvPr>
        </p:nvSpPr>
        <p:spPr>
          <a:xfrm>
            <a:off x="1426541" y="5443404"/>
            <a:ext cx="8953500" cy="648232"/>
          </a:xfrm>
          <a:noFill/>
        </p:spPr>
        <p:txBody>
          <a:bodyPr anchor="t" lIns="91440" rIns="91440" tIns="0"/>
          <a:lstStyle>
            <a:lvl1pPr algn="r" indent="0" marL="0" marR="18288">
              <a:buNone/>
              <a:defRPr sz="1400"/>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
        <p:nvSpPr>
          <p:cNvPr id="1050738" name="Picture Placeholder 2"/>
          <p:cNvSpPr>
            <a:spLocks noGrp="1"/>
          </p:cNvSpPr>
          <p:nvPr>
            <p:ph type="pic" idx="1"/>
          </p:nvPr>
        </p:nvSpPr>
        <p:spPr>
          <a:xfrm>
            <a:off x="285750" y="189968"/>
            <a:ext cx="10858500" cy="4389120"/>
          </a:xfrm>
          <a:prstGeom prst="rect"/>
          <a:solidFill>
            <a:schemeClr val="bg2"/>
          </a:solidFill>
          <a:ln>
            <a:solidFill>
              <a:schemeClr val="bg1"/>
            </a:solidFill>
          </a:ln>
          <a:effectLst>
            <a:innerShdw blurRad="95250">
              <a:srgbClr val="000000"/>
            </a:innerShdw>
          </a:effectLst>
        </p:spPr>
        <p:txBody>
          <a:bodyPr/>
          <a:lstStyle>
            <a:lvl1pPr indent="0" marL="0">
              <a:buNone/>
              <a:defRPr sz="3200"/>
            </a:lvl1pPr>
          </a:lstStyle>
          <a:p>
            <a:r>
              <a:rPr kumimoji="0" lang="en-US" smtClean="0"/>
              <a:t>Click icon to add picture</a:t>
            </a:r>
            <a:endParaRPr dirty="0" kumimoji="0" lang="en-US"/>
          </a:p>
        </p:txBody>
      </p:sp>
      <p:sp>
        <p:nvSpPr>
          <p:cNvPr id="1050739" name="Date Placeholder 4"/>
          <p:cNvSpPr>
            <a:spLocks noGrp="1"/>
          </p:cNvSpPr>
          <p:nvPr>
            <p:ph type="dt" sz="half" idx="10"/>
          </p:nvPr>
        </p:nvSpPr>
        <p:spPr/>
        <p:txBody>
          <a:bodyPr/>
          <a:lstStyle>
            <a:lvl1pPr>
              <a:defRPr>
                <a:solidFill>
                  <a:schemeClr val="tx1"/>
                </a:solidFill>
              </a:defRPr>
            </a:lvl1pPr>
          </a:lstStyle>
          <a:p>
            <a:fld id="{3527314C-6848-4E9E-AB87-CA1565E1CCAE}" type="datetime1">
              <a:rPr lang="en-US" smtClean="0"/>
            </a:fld>
            <a:endParaRPr lang="en-US"/>
          </a:p>
        </p:txBody>
      </p:sp>
      <p:sp>
        <p:nvSpPr>
          <p:cNvPr id="1050740" name="Footer Placeholder 5"/>
          <p:cNvSpPr>
            <a:spLocks noGrp="1"/>
          </p:cNvSpPr>
          <p:nvPr>
            <p:ph type="ftr" sz="quarter" idx="11"/>
          </p:nvPr>
        </p:nvSpPr>
        <p:spPr>
          <a:xfrm>
            <a:off x="5475099" y="6407953"/>
            <a:ext cx="2938351" cy="365125"/>
          </a:xfrm>
        </p:spPr>
        <p:txBody>
          <a:bodyPr/>
          <a:lstStyle>
            <a:lvl1pPr>
              <a:defRPr>
                <a:solidFill>
                  <a:schemeClr val="tx1"/>
                </a:solidFill>
              </a:defRPr>
            </a:lvl1pPr>
          </a:lstStyle>
          <a:p>
            <a:r>
              <a:rPr lang="en-US" smtClean="0"/>
              <a:t>@MUSOVYA2017</a:t>
            </a:r>
            <a:endParaRPr lang="en-US"/>
          </a:p>
        </p:txBody>
      </p:sp>
      <p:sp>
        <p:nvSpPr>
          <p:cNvPr id="1050741" name="Slide Number Placeholder 6"/>
          <p:cNvSpPr>
            <a:spLocks noGrp="1"/>
          </p:cNvSpPr>
          <p:nvPr>
            <p:ph type="sldNum" sz="quarter" idx="12"/>
          </p:nvPr>
        </p:nvSpPr>
        <p:spPr/>
        <p:txBody>
          <a:bodyPr/>
          <a:lstStyle>
            <a:lvl1pPr>
              <a:defRPr>
                <a:solidFill>
                  <a:schemeClr val="tx1"/>
                </a:solidFill>
              </a:defRPr>
            </a:lvl1pPr>
          </a:lstStyle>
          <a:p>
            <a:fld id="{539D2A76-69E3-4600-8808-3C1A10934549}" type="slidenum">
              <a:rPr lang="en-US" smtClean="0"/>
            </a:fld>
            <a:endParaRPr lang="en-US"/>
          </a:p>
        </p:txBody>
      </p:sp>
      <p:sp>
        <p:nvSpPr>
          <p:cNvPr id="1050742" name="Title 1"/>
          <p:cNvSpPr>
            <a:spLocks noGrp="1"/>
          </p:cNvSpPr>
          <p:nvPr>
            <p:ph type="title"/>
          </p:nvPr>
        </p:nvSpPr>
        <p:spPr>
          <a:xfrm>
            <a:off x="285750" y="4865124"/>
            <a:ext cx="10094291" cy="562672"/>
          </a:xfrm>
          <a:noFill/>
        </p:spPr>
        <p:txBody>
          <a:bodyPr anchor="t">
            <a:sp3d prstMaterial="softEdge"/>
          </a:bodyPr>
          <a:lstStyle>
            <a:lvl1pPr algn="r" marR="0">
              <a:buNone/>
              <a:defRPr b="0" sz="3000">
                <a:solidFill>
                  <a:schemeClr val="accent1"/>
                </a:solidFill>
                <a:effectLst>
                  <a:outerShdw algn="t" blurRad="50800" dir="5400000" dist="25000" rotWithShape="0">
                    <a:prstClr val="black">
                      <a:alpha val="45000"/>
                    </a:prstClr>
                  </a:outerShdw>
                </a:effectLst>
              </a:defRPr>
            </a:lvl1pPr>
          </a:lstStyle>
          <a:p>
            <a:r>
              <a:rPr kumimoji="0" lang="en-US" smtClean="0"/>
              <a:t>Click to edit Master title style</a:t>
            </a:r>
            <a:endParaRPr kumimoji="0" lang="en-US"/>
          </a:p>
        </p:txBody>
      </p:sp>
      <p:sp>
        <p:nvSpPr>
          <p:cNvPr id="1050743" name="Freeform 7"/>
          <p:cNvSpPr/>
          <p:nvPr/>
        </p:nvSpPr>
        <p:spPr bwMode="auto">
          <a:xfrm>
            <a:off x="895554" y="5002001"/>
            <a:ext cx="4752504" cy="1443111"/>
          </a:xfrm>
          <a:custGeom>
            <a:avLst>
              <a:gd name="A1" fmla="val 0"/>
              <a:gd name="A2" fmla="val 0"/>
              <a:gd name="A3" fmla="val 0"/>
              <a:gd name="A4" fmla="val 0"/>
              <a:gd name="A5" fmla="val 0"/>
              <a:gd name="A6" fmla="val 0"/>
              <a:gd name="A7" fmla="val 0"/>
              <a:gd name="A8" fmla="val 0"/>
            </a:av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744" name="Freeform 8"/>
          <p:cNvSpPr/>
          <p:nvPr/>
        </p:nvSpPr>
        <p:spPr bwMode="auto">
          <a:xfrm>
            <a:off x="-66946" y="5785023"/>
            <a:ext cx="4752504" cy="838200"/>
          </a:xfrm>
          <a:custGeom>
            <a:avLst>
              <a:gd name="A1" fmla="val 0"/>
              <a:gd name="A2" fmla="val 0"/>
              <a:gd name="A3" fmla="val 0"/>
              <a:gd name="A4" fmla="val 0"/>
              <a:gd name="A5" fmla="val 0"/>
              <a:gd name="A6" fmla="val 0"/>
              <a:gd name="A7" fmla="val 0"/>
              <a:gd name="A8" fmla="val 0"/>
            </a:av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50745" name="Right Triangle 9"/>
          <p:cNvSpPr/>
          <p:nvPr/>
        </p:nvSpPr>
        <p:spPr bwMode="auto">
          <a:xfrm>
            <a:off x="-7552" y="5791256"/>
            <a:ext cx="4252895" cy="1080868"/>
          </a:xfrm>
          <a:prstGeom prst="rtTriangle"/>
          <a:blipFill>
            <a:blip xmlns:r="http://schemas.openxmlformats.org/officeDocument/2006/relationships" r:embed="rId1" cstate="print">
              <a:alphaModFix amt="50000"/>
            </a:blip>
            <a:tile algn="t" flip="none" sx="50000" sy="50000" tx="0" ty="0"/>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gradFill>
            </a:fillOverlay>
          </a:effectLst>
        </p:spPr>
        <p:style>
          <a:lnRef idx="3">
            <a:schemeClr val="lt1"/>
          </a:lnRef>
          <a:fillRef idx="1">
            <a:schemeClr val="accent1"/>
          </a:fillRef>
          <a:effectRef idx="1">
            <a:schemeClr val="accent1"/>
          </a:effectRef>
          <a:fontRef idx="minor">
            <a:schemeClr val="lt1"/>
          </a:fontRef>
        </p:style>
        <p:txBody>
          <a:bodyPr anchor="ctr" bIns="45720" compatLnSpc="1" lIns="91440" rIns="91440" tIns="45720" vert="horz" wrap="square"/>
          <a:p>
            <a:pPr algn="ctr" eaLnBrk="1" hangingPunct="1" latinLnBrk="0"/>
            <a:endParaRPr kumimoji="0" lang="en-US"/>
          </a:p>
        </p:txBody>
      </p:sp>
      <p:cxnSp>
        <p:nvCxnSpPr>
          <p:cNvPr id="3145731" name="Straight Connector 10"/>
          <p:cNvCxnSpPr>
            <a:cxnSpLocks/>
          </p:cNvCxnSpPr>
          <p:nvPr/>
        </p:nvCxnSpPr>
        <p:spPr>
          <a:xfrm>
            <a:off x="-11545" y="5787748"/>
            <a:ext cx="4256885" cy="1084383"/>
          </a:xfrm>
          <a:prstGeom prst="line"/>
          <a:noFill/>
          <a:ln w="12065" cap="flat" cmpd="sng" algn="ctr">
            <a:gradFill>
              <a:gsLst>
                <a:gs pos="15000">
                  <a:schemeClr val="accent1">
                    <a:shade val="40000"/>
                    <a:satMod val="110000"/>
                  </a:schemeClr>
                </a:gs>
                <a:gs pos="45000">
                  <a:schemeClr val="accent1">
                    <a:tint val="7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050746" name="Chevron 11"/>
          <p:cNvSpPr/>
          <p:nvPr/>
        </p:nvSpPr>
        <p:spPr>
          <a:xfrm>
            <a:off x="10830141" y="4988440"/>
            <a:ext cx="22860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r="5400000" dist="254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p>
            <a:pPr algn="l" eaLnBrk="1" hangingPunct="1" latinLnBrk="0"/>
            <a:endParaRPr kumimoji="0" lang="en-US"/>
          </a:p>
        </p:txBody>
      </p:sp>
      <p:sp>
        <p:nvSpPr>
          <p:cNvPr id="1050747" name="Chevron 12"/>
          <p:cNvSpPr/>
          <p:nvPr/>
        </p:nvSpPr>
        <p:spPr>
          <a:xfrm>
            <a:off x="10597121" y="4988440"/>
            <a:ext cx="22860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r="5400000" dist="254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p>
            <a:pPr algn="l"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87" name=""/>
        <p:cNvGrpSpPr/>
        <p:nvPr/>
      </p:nvGrpSpPr>
      <p:grpSpPr>
        <a:xfrm>
          <a:off x="0" y="0"/>
          <a:ext cx="0" cy="0"/>
          <a:chOff x="0" y="0"/>
          <a:chExt cx="0" cy="0"/>
        </a:xfrm>
      </p:grpSpPr>
      <p:sp>
        <p:nvSpPr>
          <p:cNvPr id="1050765" name="Title 1"/>
          <p:cNvSpPr>
            <a:spLocks noGrp="1"/>
          </p:cNvSpPr>
          <p:nvPr>
            <p:ph type="title"/>
          </p:nvPr>
        </p:nvSpPr>
        <p:spPr/>
        <p:txBody>
          <a:bodyPr/>
          <a:p>
            <a:r>
              <a:rPr kumimoji="0" lang="en-US" smtClean="0"/>
              <a:t>Click to edit Master title style</a:t>
            </a:r>
            <a:endParaRPr kumimoji="0" lang="en-US"/>
          </a:p>
        </p:txBody>
      </p:sp>
      <p:sp>
        <p:nvSpPr>
          <p:cNvPr id="1050766" name="Vertical Text Placeholder 2"/>
          <p:cNvSpPr>
            <a:spLocks noGrp="1"/>
          </p:cNvSpPr>
          <p:nvPr>
            <p:ph type="body" orient="vert" idx="1"/>
          </p:nvPr>
        </p:nvSpPr>
        <p:spPr>
          <a:xfrm>
            <a:off x="571500" y="1481333"/>
            <a:ext cx="10287000" cy="4386071"/>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767" name="Date Placeholder 3"/>
          <p:cNvSpPr>
            <a:spLocks noGrp="1"/>
          </p:cNvSpPr>
          <p:nvPr>
            <p:ph type="dt" sz="half" idx="10"/>
          </p:nvPr>
        </p:nvSpPr>
        <p:spPr/>
        <p:txBody>
          <a:bodyPr/>
          <a:p>
            <a:fld id="{ADBC66A4-ACE6-45B8-B2C8-1705C493FF40}" type="datetime1">
              <a:rPr lang="en-US" smtClean="0"/>
            </a:fld>
            <a:endParaRPr lang="en-US"/>
          </a:p>
        </p:txBody>
      </p:sp>
      <p:sp>
        <p:nvSpPr>
          <p:cNvPr id="1050768" name="Footer Placeholder 4"/>
          <p:cNvSpPr>
            <a:spLocks noGrp="1"/>
          </p:cNvSpPr>
          <p:nvPr>
            <p:ph type="ftr" sz="quarter" idx="11"/>
          </p:nvPr>
        </p:nvSpPr>
        <p:spPr/>
        <p:txBody>
          <a:bodyPr/>
          <a:p>
            <a:r>
              <a:rPr lang="en-US" smtClean="0"/>
              <a:t>@MUSOVYA2017</a:t>
            </a:r>
            <a:endParaRPr lang="en-US"/>
          </a:p>
        </p:txBody>
      </p:sp>
      <p:sp>
        <p:nvSpPr>
          <p:cNvPr id="1050769"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89" name=""/>
        <p:cNvGrpSpPr/>
        <p:nvPr/>
      </p:nvGrpSpPr>
      <p:grpSpPr>
        <a:xfrm>
          <a:off x="0" y="0"/>
          <a:ext cx="0" cy="0"/>
          <a:chOff x="0" y="0"/>
          <a:chExt cx="0" cy="0"/>
        </a:xfrm>
      </p:grpSpPr>
      <p:sp>
        <p:nvSpPr>
          <p:cNvPr id="1050774" name="Vertical Title 1"/>
          <p:cNvSpPr>
            <a:spLocks noGrp="1"/>
          </p:cNvSpPr>
          <p:nvPr>
            <p:ph type="title" orient="vert"/>
          </p:nvPr>
        </p:nvSpPr>
        <p:spPr>
          <a:xfrm>
            <a:off x="8555023" y="274649"/>
            <a:ext cx="2221840" cy="5592761"/>
          </a:xfrm>
        </p:spPr>
        <p:txBody>
          <a:bodyPr vert="eaVert"/>
          <a:p>
            <a:r>
              <a:rPr kumimoji="0" lang="en-US" smtClean="0"/>
              <a:t>Click to edit Master title style</a:t>
            </a:r>
            <a:endParaRPr kumimoji="0" lang="en-US"/>
          </a:p>
        </p:txBody>
      </p:sp>
      <p:sp>
        <p:nvSpPr>
          <p:cNvPr id="1050775" name="Vertical Text Placeholder 2"/>
          <p:cNvSpPr>
            <a:spLocks noGrp="1"/>
          </p:cNvSpPr>
          <p:nvPr>
            <p:ph type="body" orient="vert" idx="1"/>
          </p:nvPr>
        </p:nvSpPr>
        <p:spPr>
          <a:xfrm>
            <a:off x="571501" y="274641"/>
            <a:ext cx="7905750" cy="5592760"/>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776" name="Date Placeholder 3"/>
          <p:cNvSpPr>
            <a:spLocks noGrp="1"/>
          </p:cNvSpPr>
          <p:nvPr>
            <p:ph type="dt" sz="half" idx="10"/>
          </p:nvPr>
        </p:nvSpPr>
        <p:spPr/>
        <p:txBody>
          <a:bodyPr/>
          <a:p>
            <a:fld id="{77A12171-E582-4F31-836C-224EB9BA0712}" type="datetime1">
              <a:rPr lang="en-US" smtClean="0"/>
            </a:fld>
            <a:endParaRPr lang="en-US"/>
          </a:p>
        </p:txBody>
      </p:sp>
      <p:sp>
        <p:nvSpPr>
          <p:cNvPr id="1050777" name="Footer Placeholder 4"/>
          <p:cNvSpPr>
            <a:spLocks noGrp="1"/>
          </p:cNvSpPr>
          <p:nvPr>
            <p:ph type="ftr" sz="quarter" idx="11"/>
          </p:nvPr>
        </p:nvSpPr>
        <p:spPr/>
        <p:txBody>
          <a:bodyPr/>
          <a:p>
            <a:r>
              <a:rPr lang="en-US" smtClean="0"/>
              <a:t>@MUSOVYA2017</a:t>
            </a:r>
            <a:endParaRPr lang="en-US"/>
          </a:p>
        </p:txBody>
      </p:sp>
      <p:sp>
        <p:nvSpPr>
          <p:cNvPr id="1050778"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showMasterSp="0">
  <p:cSld name="Title Slide">
    <p:spTree>
      <p:nvGrpSpPr>
        <p:cNvPr id="1001" name=""/>
        <p:cNvGrpSpPr/>
        <p:nvPr/>
      </p:nvGrpSpPr>
      <p:grpSpPr>
        <a:xfrm>
          <a:off x="0" y="0"/>
          <a:ext cx="0" cy="0"/>
          <a:chOff x="0" y="0"/>
          <a:chExt cx="0" cy="0"/>
        </a:xfrm>
      </p:grpSpPr>
      <p:pic>
        <p:nvPicPr>
          <p:cNvPr id="2097163" name="Picture 5"/>
          <p:cNvPicPr>
            <a:picLocks noChangeAspect="1"/>
          </p:cNvPicPr>
          <p:nvPr/>
        </p:nvPicPr>
        <p:blipFill rotWithShape="1">
          <a:blip xmlns:r="http://schemas.openxmlformats.org/officeDocument/2006/relationships" r:embed="rId1" cstate="email"/>
          <a:srcRect/>
          <a:stretch>
            <a:fillRect/>
          </a:stretch>
        </p:blipFill>
        <p:spPr>
          <a:xfrm>
            <a:off x="54437" y="1"/>
            <a:ext cx="11375572" cy="6879771"/>
          </a:xfrm>
          <a:prstGeom prst="rect"/>
        </p:spPr>
      </p:pic>
      <p:sp>
        <p:nvSpPr>
          <p:cNvPr id="1049377" name="Title 1"/>
          <p:cNvSpPr>
            <a:spLocks noGrp="1"/>
          </p:cNvSpPr>
          <p:nvPr>
            <p:ph type="ctrTitle" hasCustomPrompt="1"/>
          </p:nvPr>
        </p:nvSpPr>
        <p:spPr>
          <a:xfrm>
            <a:off x="3238502" y="2286009"/>
            <a:ext cx="7725279" cy="1470025"/>
          </a:xfrm>
        </p:spPr>
        <p:txBody>
          <a:bodyPr anchor="t"/>
          <a:lstStyle>
            <a:lvl1pPr algn="r">
              <a:defRPr baseline="0" b="1" cap="small">
                <a:solidFill>
                  <a:srgbClr val="003300"/>
                </a:solidFill>
              </a:defRPr>
            </a:lvl1pPr>
          </a:lstStyle>
          <a:p>
            <a:r>
              <a:rPr dirty="0" lang="en-US" smtClean="0"/>
              <a:t>Click to edit master title style</a:t>
            </a:r>
            <a:endParaRPr dirty="0" lang="en-US"/>
          </a:p>
        </p:txBody>
      </p:sp>
      <p:sp>
        <p:nvSpPr>
          <p:cNvPr id="1049378" name="Subtitle 2"/>
          <p:cNvSpPr>
            <a:spLocks noGrp="1"/>
          </p:cNvSpPr>
          <p:nvPr>
            <p:ph type="subTitle" idx="1"/>
          </p:nvPr>
        </p:nvSpPr>
        <p:spPr>
          <a:xfrm>
            <a:off x="4953000" y="4038600"/>
            <a:ext cx="5965659" cy="990600"/>
          </a:xfrm>
        </p:spPr>
        <p:txBody>
          <a:bodyPr>
            <a:normAutofit/>
          </a:bodyPr>
          <a:lstStyle>
            <a:lvl1pPr algn="r" indent="0" marL="0">
              <a:buNone/>
              <a:defRPr b="0" sz="2000">
                <a:solidFill>
                  <a:schemeClr val="tx1"/>
                </a:solidFill>
                <a:latin typeface="Georgia" pitchFamily="18" charset="0"/>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dirty="0" lang="en-US"/>
          </a:p>
        </p:txBody>
      </p:sp>
      <p:pic>
        <p:nvPicPr>
          <p:cNvPr id="2097164" name="Picture 6"/>
          <p:cNvPicPr>
            <a:picLocks noChangeAspect="1"/>
          </p:cNvPicPr>
          <p:nvPr/>
        </p:nvPicPr>
        <p:blipFill rotWithShape="1">
          <a:blip xmlns:r="http://schemas.openxmlformats.org/officeDocument/2006/relationships" r:embed="rId2" cstate="email"/>
          <a:srcRect/>
          <a:stretch>
            <a:fillRect/>
          </a:stretch>
        </p:blipFill>
        <p:spPr>
          <a:xfrm>
            <a:off x="6" y="1251"/>
            <a:ext cx="4652023" cy="6858000"/>
          </a:xfrm>
          <a:prstGeom prst="rect"/>
        </p:spPr>
      </p:pic>
      <p:sp>
        <p:nvSpPr>
          <p:cNvPr id="1049379" name="Picture Placeholder 9"/>
          <p:cNvSpPr>
            <a:spLocks noGrp="1"/>
          </p:cNvSpPr>
          <p:nvPr>
            <p:ph type="pic" sz="quarter" idx="13" hasCustomPrompt="1"/>
          </p:nvPr>
        </p:nvSpPr>
        <p:spPr>
          <a:xfrm>
            <a:off x="8572500" y="5105400"/>
            <a:ext cx="2286000" cy="990600"/>
          </a:xfrm>
        </p:spPr>
        <p:txBody>
          <a:bodyPr>
            <a:normAutofit/>
          </a:bodyPr>
          <a:lstStyle>
            <a:lvl1pPr algn="ctr" indent="0" marL="0">
              <a:buNone/>
              <a:defRPr baseline="0" sz="2000"/>
            </a:lvl1pPr>
          </a:lstStyle>
          <a:p>
            <a:r>
              <a:rPr dirty="0" lang="en-US" smtClean="0"/>
              <a:t>Company Logo</a:t>
            </a:r>
            <a:endParaRPr dirty="0" lang="en-US"/>
          </a:p>
        </p:txBody>
      </p:sp>
    </p:spTree>
  </p:cSld>
  <p:clrMapOvr>
    <a:masterClrMapping/>
  </p:clrMapOvr>
  <p:transition xmlns:p14="http://schemas.microsoft.com/office/powerpoint/2010/main" spd="slow">
    <p:strips dir="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afterEffect" presetClass="entr" presetID="22" presetSubtype="4">
                                  <p:stCondLst>
                                    <p:cond delay="0"/>
                                  </p:stCondLst>
                                  <p:childTnLst>
                                    <p:set>
                                      <p:cBhvr>
                                        <p:cTn dur="1" fill="hold" id="6">
                                          <p:stCondLst>
                                            <p:cond delay="0"/>
                                          </p:stCondLst>
                                        </p:cTn>
                                        <p:tgtEl>
                                          <p:spTgt spid="2097164"/>
                                        </p:tgtEl>
                                        <p:attrNameLst>
                                          <p:attrName>style.visibility</p:attrName>
                                        </p:attrNameLst>
                                      </p:cBhvr>
                                      <p:to>
                                        <p:strVal val="visible"/>
                                      </p:to>
                                    </p:set>
                                    <p:animEffect transition="in" filter="wipe(down)">
                                      <p:cBhvr>
                                        <p:cTn dur="500" id="7"/>
                                        <p:tgtEl>
                                          <p:spTgt spid="2097164"/>
                                        </p:tgtEl>
                                      </p:cBhvr>
                                    </p:animEffect>
                                  </p:childTnLst>
                                </p:cTn>
                              </p:par>
                            </p:childTnLst>
                          </p:cTn>
                        </p:par>
                        <p:par>
                          <p:cTn fill="hold" id="8">
                            <p:stCondLst>
                              <p:cond delay="500"/>
                            </p:stCondLst>
                            <p:childTnLst>
                              <p:par>
                                <p:cTn fill="hold" grpId="0" id="9" nodeType="afterEffect" presetClass="entr" presetID="10" presetSubtype="0">
                                  <p:stCondLst>
                                    <p:cond delay="0"/>
                                  </p:stCondLst>
                                  <p:childTnLst>
                                    <p:set>
                                      <p:cBhvr>
                                        <p:cTn dur="1" fill="hold" id="10">
                                          <p:stCondLst>
                                            <p:cond delay="0"/>
                                          </p:stCondLst>
                                        </p:cTn>
                                        <p:tgtEl>
                                          <p:spTgt spid="1049379"/>
                                        </p:tgtEl>
                                        <p:attrNameLst>
                                          <p:attrName>style.visibility</p:attrName>
                                        </p:attrNameLst>
                                      </p:cBhvr>
                                      <p:to>
                                        <p:strVal val="visible"/>
                                      </p:to>
                                    </p:set>
                                    <p:animEffect transition="in" filter="fade">
                                      <p:cBhvr>
                                        <p:cTn dur="500" id="11"/>
                                        <p:tgtEl>
                                          <p:spTgt spid="1049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379" grpId="0"/>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showMasterSp="0">
  <p:cSld name="Section Header">
    <p:spTree>
      <p:nvGrpSpPr>
        <p:cNvPr id="1474" name=""/>
        <p:cNvGrpSpPr/>
        <p:nvPr/>
      </p:nvGrpSpPr>
      <p:grpSpPr>
        <a:xfrm>
          <a:off x="0" y="0"/>
          <a:ext cx="0" cy="0"/>
          <a:chOff x="0" y="0"/>
          <a:chExt cx="0" cy="0"/>
        </a:xfrm>
      </p:grpSpPr>
      <p:pic>
        <p:nvPicPr>
          <p:cNvPr id="2097171" name="Picture 6"/>
          <p:cNvPicPr>
            <a:picLocks noChangeAspect="1"/>
          </p:cNvPicPr>
          <p:nvPr/>
        </p:nvPicPr>
        <p:blipFill rotWithShape="1">
          <a:blip xmlns:r="http://schemas.openxmlformats.org/officeDocument/2006/relationships" r:embed="rId1" cstate="email"/>
          <a:srcRect/>
          <a:stretch>
            <a:fillRect/>
          </a:stretch>
        </p:blipFill>
        <p:spPr>
          <a:xfrm>
            <a:off x="54437" y="1"/>
            <a:ext cx="11375572" cy="6879771"/>
          </a:xfrm>
          <a:prstGeom prst="rect"/>
        </p:spPr>
      </p:pic>
      <p:pic>
        <p:nvPicPr>
          <p:cNvPr id="2097172" name="Picture 7"/>
          <p:cNvPicPr>
            <a:picLocks noChangeAspect="1"/>
          </p:cNvPicPr>
          <p:nvPr/>
        </p:nvPicPr>
        <p:blipFill rotWithShape="1">
          <a:blip xmlns:r="http://schemas.openxmlformats.org/officeDocument/2006/relationships" r:embed="rId2" cstate="email"/>
          <a:srcRect/>
          <a:stretch>
            <a:fillRect/>
          </a:stretch>
        </p:blipFill>
        <p:spPr>
          <a:xfrm rot="5400000">
            <a:off x="4303736" y="-4323441"/>
            <a:ext cx="2819400" cy="11466290"/>
          </a:xfrm>
          <a:prstGeom prst="rect"/>
        </p:spPr>
      </p:pic>
      <p:sp>
        <p:nvSpPr>
          <p:cNvPr id="1050689" name="Title 1"/>
          <p:cNvSpPr>
            <a:spLocks noGrp="1"/>
          </p:cNvSpPr>
          <p:nvPr>
            <p:ph type="title" hasCustomPrompt="1"/>
          </p:nvPr>
        </p:nvSpPr>
        <p:spPr>
          <a:xfrm>
            <a:off x="5715000" y="3048008"/>
            <a:ext cx="5429250" cy="1362075"/>
          </a:xfrm>
        </p:spPr>
        <p:txBody>
          <a:bodyPr anchor="b" anchorCtr="0"/>
          <a:lstStyle>
            <a:lvl1pPr algn="l">
              <a:defRPr baseline="0" b="1" cap="small" sz="4000">
                <a:solidFill>
                  <a:srgbClr val="003300"/>
                </a:solidFill>
              </a:defRPr>
            </a:lvl1pPr>
          </a:lstStyle>
          <a:p>
            <a:r>
              <a:rPr dirty="0" lang="en-US" smtClean="0"/>
              <a:t>Click to edit master title style</a:t>
            </a:r>
            <a:endParaRPr dirty="0" lang="en-US"/>
          </a:p>
        </p:txBody>
      </p:sp>
      <p:sp>
        <p:nvSpPr>
          <p:cNvPr id="1050690" name="Date Placeholder 3"/>
          <p:cNvSpPr>
            <a:spLocks noGrp="1"/>
          </p:cNvSpPr>
          <p:nvPr>
            <p:ph type="dt" sz="half" idx="10"/>
          </p:nvPr>
        </p:nvSpPr>
        <p:spPr/>
        <p:txBody>
          <a:bodyPr/>
          <a:p>
            <a:fld id="{D63D7782-024A-429C-BC4C-98FF1768E87F}" type="datetime1">
              <a:rPr lang="en-US" smtClean="0"/>
            </a:fld>
            <a:endParaRPr lang="en-US"/>
          </a:p>
        </p:txBody>
      </p:sp>
      <p:sp>
        <p:nvSpPr>
          <p:cNvPr id="1050691" name="Footer Placeholder 4"/>
          <p:cNvSpPr>
            <a:spLocks noGrp="1"/>
          </p:cNvSpPr>
          <p:nvPr>
            <p:ph type="ftr" sz="quarter" idx="11"/>
          </p:nvPr>
        </p:nvSpPr>
        <p:spPr/>
        <p:txBody>
          <a:bodyPr/>
          <a:p>
            <a:r>
              <a:rPr lang="en-US" smtClean="0"/>
              <a:t>@MUSOVYA2017</a:t>
            </a:r>
            <a:endParaRPr lang="en-US"/>
          </a:p>
        </p:txBody>
      </p:sp>
      <p:sp>
        <p:nvSpPr>
          <p:cNvPr id="1050692" name="Slide Number Placeholder 5"/>
          <p:cNvSpPr>
            <a:spLocks noGrp="1"/>
          </p:cNvSpPr>
          <p:nvPr>
            <p:ph type="sldNum" sz="quarter" idx="12"/>
          </p:nvPr>
        </p:nvSpPr>
        <p:spPr/>
        <p:txBody>
          <a:bodyPr/>
          <a:p>
            <a:fld id="{539D2A76-69E3-4600-8808-3C1A10934549}" type="slidenum">
              <a:rPr lang="en-US" smtClean="0"/>
            </a:fld>
            <a:endParaRPr lang="en-US"/>
          </a:p>
        </p:txBody>
      </p:sp>
      <p:sp>
        <p:nvSpPr>
          <p:cNvPr id="1050693" name="Picture Placeholder 9"/>
          <p:cNvSpPr>
            <a:spLocks noGrp="1"/>
          </p:cNvSpPr>
          <p:nvPr>
            <p:ph type="pic" sz="quarter" idx="13" hasCustomPrompt="1"/>
          </p:nvPr>
        </p:nvSpPr>
        <p:spPr>
          <a:xfrm>
            <a:off x="8477250" y="5334000"/>
            <a:ext cx="2667000" cy="990600"/>
          </a:xfrm>
        </p:spPr>
        <p:txBody>
          <a:bodyPr>
            <a:normAutofit/>
          </a:bodyPr>
          <a:lstStyle>
            <a:lvl1pPr algn="ctr" indent="0" marL="0">
              <a:buNone/>
              <a:defRPr sz="1800"/>
            </a:lvl1pPr>
          </a:lstStyle>
          <a:p>
            <a:r>
              <a:rPr dirty="0" lang="en-US" smtClean="0"/>
              <a:t>Company Logo</a:t>
            </a:r>
            <a:endParaRPr dirty="0" lang="en-US"/>
          </a:p>
        </p:txBody>
      </p:sp>
    </p:spTree>
  </p:cSld>
  <p:clrMapOvr>
    <a:masterClrMapping/>
  </p:clrMapOvr>
  <p:transition xmlns:p14="http://schemas.microsoft.com/office/powerpoint/2010/main" spd="slow">
    <p:strips dir="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afterEffect" presetClass="entr" presetID="22" presetSubtype="8">
                                  <p:stCondLst>
                                    <p:cond delay="0"/>
                                  </p:stCondLst>
                                  <p:childTnLst>
                                    <p:set>
                                      <p:cBhvr>
                                        <p:cTn dur="1" fill="hold" id="6">
                                          <p:stCondLst>
                                            <p:cond delay="0"/>
                                          </p:stCondLst>
                                        </p:cTn>
                                        <p:tgtEl>
                                          <p:spTgt spid="2097172"/>
                                        </p:tgtEl>
                                        <p:attrNameLst>
                                          <p:attrName>style.visibility</p:attrName>
                                        </p:attrNameLst>
                                      </p:cBhvr>
                                      <p:to>
                                        <p:strVal val="visible"/>
                                      </p:to>
                                    </p:set>
                                    <p:animEffect transition="in" filter="wipe(left)">
                                      <p:cBhvr>
                                        <p:cTn dur="500" id="7"/>
                                        <p:tgtEl>
                                          <p:spTgt spid="2097172"/>
                                        </p:tgtEl>
                                      </p:cBhvr>
                                    </p:animEffect>
                                  </p:childTnLst>
                                </p:cTn>
                              </p:par>
                            </p:childTnLst>
                          </p:cTn>
                        </p:par>
                        <p:par>
                          <p:cTn fill="hold" id="8">
                            <p:stCondLst>
                              <p:cond delay="500"/>
                            </p:stCondLst>
                            <p:childTnLst>
                              <p:par>
                                <p:cTn fill="hold" grpId="0" id="9" nodeType="afterEffect" presetClass="entr" presetID="10" presetSubtype="0">
                                  <p:stCondLst>
                                    <p:cond delay="0"/>
                                  </p:stCondLst>
                                  <p:childTnLst>
                                    <p:set>
                                      <p:cBhvr>
                                        <p:cTn dur="1" fill="hold" id="10">
                                          <p:stCondLst>
                                            <p:cond delay="0"/>
                                          </p:stCondLst>
                                        </p:cTn>
                                        <p:tgtEl>
                                          <p:spTgt spid="1050693"/>
                                        </p:tgtEl>
                                        <p:attrNameLst>
                                          <p:attrName>style.visibility</p:attrName>
                                        </p:attrNameLst>
                                      </p:cBhvr>
                                      <p:to>
                                        <p:strVal val="visible"/>
                                      </p:to>
                                    </p:set>
                                    <p:animEffect transition="in" filter="fade">
                                      <p:cBhvr>
                                        <p:cTn dur="500" id="11"/>
                                        <p:tgtEl>
                                          <p:spTgt spid="1050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693" grpId="0"/>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nd Content">
    <p:bg>
      <p:bgPr>
        <a:blipFill rotWithShape="1" dpi="0">
          <a:blip xmlns:r="http://schemas.openxmlformats.org/officeDocument/2006/relationships" r:embed="rId1" cstate="email">
            <a:lum/>
          </a:blip>
          <a:srcRect/>
          <a:stretch>
            <a:fillRect/>
          </a:stretch>
        </a:blipFill>
      </p:bgPr>
    </p:bg>
    <p:spTree>
      <p:nvGrpSpPr>
        <p:cNvPr id="890" name=""/>
        <p:cNvGrpSpPr/>
        <p:nvPr/>
      </p:nvGrpSpPr>
      <p:grpSpPr>
        <a:xfrm>
          <a:off x="0" y="0"/>
          <a:ext cx="0" cy="0"/>
          <a:chOff x="0" y="0"/>
          <a:chExt cx="0" cy="0"/>
        </a:xfrm>
      </p:grpSpPr>
      <p:sp>
        <p:nvSpPr>
          <p:cNvPr id="1049139" name="Title 1"/>
          <p:cNvSpPr>
            <a:spLocks noGrp="1"/>
          </p:cNvSpPr>
          <p:nvPr>
            <p:ph type="title" hasCustomPrompt="1"/>
          </p:nvPr>
        </p:nvSpPr>
        <p:spPr>
          <a:xfrm>
            <a:off x="952501" y="269632"/>
            <a:ext cx="10096500" cy="1143000"/>
          </a:xfrm>
        </p:spPr>
        <p:txBody>
          <a:bodyPr anchor="ctr" anchorCtr="0"/>
          <a:lstStyle>
            <a:lvl1pPr algn="l">
              <a:defRPr dirty="0" lang="en-US"/>
            </a:lvl1pPr>
          </a:lstStyle>
          <a:p>
            <a:r>
              <a:rPr dirty="0" lang="en-US" smtClean="0"/>
              <a:t>Click To Edit Master Title Style</a:t>
            </a:r>
            <a:endParaRPr dirty="0" lang="en-US"/>
          </a:p>
        </p:txBody>
      </p:sp>
      <p:sp>
        <p:nvSpPr>
          <p:cNvPr id="1049140" name="Content Placeholder 2"/>
          <p:cNvSpPr>
            <a:spLocks noGrp="1"/>
          </p:cNvSpPr>
          <p:nvPr>
            <p:ph idx="1"/>
          </p:nvPr>
        </p:nvSpPr>
        <p:spPr>
          <a:xfrm>
            <a:off x="952501" y="1596421"/>
            <a:ext cx="100965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9141" name="Date Placeholder 3"/>
          <p:cNvSpPr>
            <a:spLocks noGrp="1"/>
          </p:cNvSpPr>
          <p:nvPr>
            <p:ph type="dt" sz="half" idx="10"/>
          </p:nvPr>
        </p:nvSpPr>
        <p:spPr/>
        <p:txBody>
          <a:bodyPr/>
          <a:p>
            <a:fld id="{5FE01F59-379E-4145-B954-2741D3EA3535}" type="datetime1">
              <a:rPr lang="en-US" smtClean="0"/>
            </a:fld>
            <a:endParaRPr lang="en-US"/>
          </a:p>
        </p:txBody>
      </p:sp>
      <p:sp>
        <p:nvSpPr>
          <p:cNvPr id="1049142" name="Footer Placeholder 4"/>
          <p:cNvSpPr>
            <a:spLocks noGrp="1"/>
          </p:cNvSpPr>
          <p:nvPr>
            <p:ph type="ftr" sz="quarter" idx="11"/>
          </p:nvPr>
        </p:nvSpPr>
        <p:spPr/>
        <p:txBody>
          <a:bodyPr/>
          <a:p>
            <a:r>
              <a:rPr lang="en-US" smtClean="0"/>
              <a:t>@MUSOVYA2017</a:t>
            </a:r>
            <a:endParaRPr lang="en-US"/>
          </a:p>
        </p:txBody>
      </p:sp>
      <p:sp>
        <p:nvSpPr>
          <p:cNvPr id="1049143" name="Slide Number Placeholder 5"/>
          <p:cNvSpPr>
            <a:spLocks noGrp="1"/>
          </p:cNvSpPr>
          <p:nvPr>
            <p:ph type="sldNum" sz="quarter" idx="12"/>
          </p:nvPr>
        </p:nvSpPr>
        <p:spPr>
          <a:xfrm>
            <a:off x="8382000" y="6356359"/>
            <a:ext cx="2667000" cy="365125"/>
          </a:xfrm>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472" name=""/>
        <p:cNvGrpSpPr/>
        <p:nvPr/>
      </p:nvGrpSpPr>
      <p:grpSpPr>
        <a:xfrm>
          <a:off x="0" y="0"/>
          <a:ext cx="0" cy="0"/>
          <a:chOff x="0" y="0"/>
          <a:chExt cx="0" cy="0"/>
        </a:xfrm>
      </p:grpSpPr>
      <p:sp>
        <p:nvSpPr>
          <p:cNvPr id="1050680" name="Title 1"/>
          <p:cNvSpPr>
            <a:spLocks noGrp="1"/>
          </p:cNvSpPr>
          <p:nvPr>
            <p:ph type="title"/>
          </p:nvPr>
        </p:nvSpPr>
        <p:spPr/>
        <p:txBody>
          <a:bodyPr/>
          <a:p>
            <a:r>
              <a:rPr lang="en-US" smtClean="0"/>
              <a:t>Click to edit Master title style</a:t>
            </a:r>
            <a:endParaRPr lang="en-US"/>
          </a:p>
        </p:txBody>
      </p:sp>
      <p:sp>
        <p:nvSpPr>
          <p:cNvPr id="1050681" name="Content Placeholder 2"/>
          <p:cNvSpPr>
            <a:spLocks noGrp="1"/>
          </p:cNvSpPr>
          <p:nvPr>
            <p:ph sz="half" idx="1"/>
          </p:nvPr>
        </p:nvSpPr>
        <p:spPr>
          <a:xfrm>
            <a:off x="857250" y="1600206"/>
            <a:ext cx="50482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682" name="Content Placeholder 3"/>
          <p:cNvSpPr>
            <a:spLocks noGrp="1"/>
          </p:cNvSpPr>
          <p:nvPr>
            <p:ph sz="half" idx="2"/>
          </p:nvPr>
        </p:nvSpPr>
        <p:spPr>
          <a:xfrm>
            <a:off x="6096000" y="1600206"/>
            <a:ext cx="50482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683" name="Date Placeholder 4"/>
          <p:cNvSpPr>
            <a:spLocks noGrp="1"/>
          </p:cNvSpPr>
          <p:nvPr>
            <p:ph type="dt" sz="half" idx="10"/>
          </p:nvPr>
        </p:nvSpPr>
        <p:spPr/>
        <p:txBody>
          <a:bodyPr/>
          <a:p>
            <a:fld id="{2242A281-D0F9-4FDB-89A1-442852581903}" type="datetime1">
              <a:rPr lang="en-US" smtClean="0"/>
            </a:fld>
            <a:endParaRPr lang="en-US"/>
          </a:p>
        </p:txBody>
      </p:sp>
      <p:sp>
        <p:nvSpPr>
          <p:cNvPr id="1050684" name="Footer Placeholder 5"/>
          <p:cNvSpPr>
            <a:spLocks noGrp="1"/>
          </p:cNvSpPr>
          <p:nvPr>
            <p:ph type="ftr" sz="quarter" idx="11"/>
          </p:nvPr>
        </p:nvSpPr>
        <p:spPr/>
        <p:txBody>
          <a:bodyPr/>
          <a:p>
            <a:r>
              <a:rPr lang="en-US" smtClean="0"/>
              <a:t>@MUSOVYA2017</a:t>
            </a:r>
            <a:endParaRPr lang="en-US"/>
          </a:p>
        </p:txBody>
      </p:sp>
      <p:sp>
        <p:nvSpPr>
          <p:cNvPr id="1050685"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79" name=""/>
        <p:cNvGrpSpPr/>
        <p:nvPr/>
      </p:nvGrpSpPr>
      <p:grpSpPr>
        <a:xfrm>
          <a:off x="0" y="0"/>
          <a:ext cx="0" cy="0"/>
          <a:chOff x="0" y="0"/>
          <a:chExt cx="0" cy="0"/>
        </a:xfrm>
      </p:grpSpPr>
      <p:sp>
        <p:nvSpPr>
          <p:cNvPr id="1050715" name="Title 1"/>
          <p:cNvSpPr>
            <a:spLocks noGrp="1"/>
          </p:cNvSpPr>
          <p:nvPr>
            <p:ph type="title"/>
          </p:nvPr>
        </p:nvSpPr>
        <p:spPr/>
        <p:txBody>
          <a:bodyPr/>
          <a:p>
            <a:r>
              <a:rPr lang="en-US" smtClean="0"/>
              <a:t>Click to edit Master title style</a:t>
            </a:r>
            <a:endParaRPr lang="en-US"/>
          </a:p>
        </p:txBody>
      </p:sp>
      <p:sp>
        <p:nvSpPr>
          <p:cNvPr id="1050716" name="Text Placeholder 2"/>
          <p:cNvSpPr>
            <a:spLocks noGrp="1"/>
          </p:cNvSpPr>
          <p:nvPr>
            <p:ph type="body" idx="1"/>
          </p:nvPr>
        </p:nvSpPr>
        <p:spPr>
          <a:xfrm>
            <a:off x="857254" y="1535117"/>
            <a:ext cx="5050234" cy="639763"/>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50717" name="Content Placeholder 3"/>
          <p:cNvSpPr>
            <a:spLocks noGrp="1"/>
          </p:cNvSpPr>
          <p:nvPr>
            <p:ph sz="half" idx="2"/>
          </p:nvPr>
        </p:nvSpPr>
        <p:spPr>
          <a:xfrm>
            <a:off x="857254" y="2174875"/>
            <a:ext cx="505023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718" name="Text Placeholder 4"/>
          <p:cNvSpPr>
            <a:spLocks noGrp="1"/>
          </p:cNvSpPr>
          <p:nvPr>
            <p:ph type="body" sz="quarter" idx="3"/>
          </p:nvPr>
        </p:nvSpPr>
        <p:spPr>
          <a:xfrm>
            <a:off x="6092038" y="1535117"/>
            <a:ext cx="5052220" cy="639763"/>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50719" name="Content Placeholder 5"/>
          <p:cNvSpPr>
            <a:spLocks noGrp="1"/>
          </p:cNvSpPr>
          <p:nvPr>
            <p:ph sz="quarter" idx="4"/>
          </p:nvPr>
        </p:nvSpPr>
        <p:spPr>
          <a:xfrm>
            <a:off x="6092038" y="2174875"/>
            <a:ext cx="50522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720" name="Date Placeholder 6"/>
          <p:cNvSpPr>
            <a:spLocks noGrp="1"/>
          </p:cNvSpPr>
          <p:nvPr>
            <p:ph type="dt" sz="half" idx="10"/>
          </p:nvPr>
        </p:nvSpPr>
        <p:spPr/>
        <p:txBody>
          <a:bodyPr/>
          <a:p>
            <a:fld id="{CD88B8EF-CE34-4ED9-B7F7-1E21990F205A}" type="datetime1">
              <a:rPr lang="en-US" smtClean="0"/>
            </a:fld>
            <a:endParaRPr lang="en-US"/>
          </a:p>
        </p:txBody>
      </p:sp>
      <p:sp>
        <p:nvSpPr>
          <p:cNvPr id="1050721" name="Footer Placeholder 7"/>
          <p:cNvSpPr>
            <a:spLocks noGrp="1"/>
          </p:cNvSpPr>
          <p:nvPr>
            <p:ph type="ftr" sz="quarter" idx="11"/>
          </p:nvPr>
        </p:nvSpPr>
        <p:spPr/>
        <p:txBody>
          <a:bodyPr/>
          <a:p>
            <a:r>
              <a:rPr lang="en-US" smtClean="0"/>
              <a:t>@MUSOVYA2017</a:t>
            </a:r>
            <a:endParaRPr lang="en-US"/>
          </a:p>
        </p:txBody>
      </p:sp>
      <p:sp>
        <p:nvSpPr>
          <p:cNvPr id="1050722" name="Slide Number Placeholder 8"/>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78" name=""/>
        <p:cNvGrpSpPr/>
        <p:nvPr/>
      </p:nvGrpSpPr>
      <p:grpSpPr>
        <a:xfrm>
          <a:off x="0" y="0"/>
          <a:ext cx="0" cy="0"/>
          <a:chOff x="0" y="0"/>
          <a:chExt cx="0" cy="0"/>
        </a:xfrm>
      </p:grpSpPr>
      <p:sp>
        <p:nvSpPr>
          <p:cNvPr id="1050709" name="Title 1"/>
          <p:cNvSpPr>
            <a:spLocks noGrp="1"/>
          </p:cNvSpPr>
          <p:nvPr>
            <p:ph type="title"/>
          </p:nvPr>
        </p:nvSpPr>
        <p:spPr>
          <a:xfrm>
            <a:off x="857260" y="273056"/>
            <a:ext cx="3760392" cy="1162051"/>
          </a:xfrm>
        </p:spPr>
        <p:txBody>
          <a:bodyPr anchor="b"/>
          <a:lstStyle>
            <a:lvl1pPr algn="l">
              <a:defRPr b="1" sz="2000"/>
            </a:lvl1pPr>
          </a:lstStyle>
          <a:p>
            <a:r>
              <a:rPr lang="en-US" smtClean="0"/>
              <a:t>Click to edit Master title style</a:t>
            </a:r>
            <a:endParaRPr lang="en-US"/>
          </a:p>
        </p:txBody>
      </p:sp>
      <p:sp>
        <p:nvSpPr>
          <p:cNvPr id="1050710" name="Content Placeholder 2"/>
          <p:cNvSpPr>
            <a:spLocks noGrp="1"/>
          </p:cNvSpPr>
          <p:nvPr>
            <p:ph idx="1"/>
          </p:nvPr>
        </p:nvSpPr>
        <p:spPr>
          <a:xfrm>
            <a:off x="4754569" y="273060"/>
            <a:ext cx="638969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711" name="Text Placeholder 3"/>
          <p:cNvSpPr>
            <a:spLocks noGrp="1"/>
          </p:cNvSpPr>
          <p:nvPr>
            <p:ph type="body" sz="half" idx="2"/>
          </p:nvPr>
        </p:nvSpPr>
        <p:spPr>
          <a:xfrm>
            <a:off x="857260" y="1435103"/>
            <a:ext cx="3760392"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50712" name="Date Placeholder 4"/>
          <p:cNvSpPr>
            <a:spLocks noGrp="1"/>
          </p:cNvSpPr>
          <p:nvPr>
            <p:ph type="dt" sz="half" idx="10"/>
          </p:nvPr>
        </p:nvSpPr>
        <p:spPr/>
        <p:txBody>
          <a:bodyPr/>
          <a:p>
            <a:fld id="{1E7A23F7-0F8E-49D9-86E9-3091D9726505}" type="datetime1">
              <a:rPr lang="en-US" smtClean="0"/>
            </a:fld>
            <a:endParaRPr lang="en-US"/>
          </a:p>
        </p:txBody>
      </p:sp>
      <p:sp>
        <p:nvSpPr>
          <p:cNvPr id="1050713" name="Footer Placeholder 5"/>
          <p:cNvSpPr>
            <a:spLocks noGrp="1"/>
          </p:cNvSpPr>
          <p:nvPr>
            <p:ph type="ftr" sz="quarter" idx="11"/>
          </p:nvPr>
        </p:nvSpPr>
        <p:spPr/>
        <p:txBody>
          <a:bodyPr/>
          <a:p>
            <a:r>
              <a:rPr lang="en-US" smtClean="0"/>
              <a:t>@MUSOVYA2017</a:t>
            </a:r>
            <a:endParaRPr lang="en-US"/>
          </a:p>
        </p:txBody>
      </p:sp>
      <p:sp>
        <p:nvSpPr>
          <p:cNvPr id="1050714"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75" name=""/>
        <p:cNvGrpSpPr/>
        <p:nvPr/>
      </p:nvGrpSpPr>
      <p:grpSpPr>
        <a:xfrm>
          <a:off x="0" y="0"/>
          <a:ext cx="0" cy="0"/>
          <a:chOff x="0" y="0"/>
          <a:chExt cx="0" cy="0"/>
        </a:xfrm>
      </p:grpSpPr>
      <p:sp>
        <p:nvSpPr>
          <p:cNvPr id="1050694" name="Title 1"/>
          <p:cNvSpPr>
            <a:spLocks noGrp="1"/>
          </p:cNvSpPr>
          <p:nvPr>
            <p:ph type="title"/>
          </p:nvPr>
        </p:nvSpPr>
        <p:spPr>
          <a:xfrm>
            <a:off x="2240360" y="4800608"/>
            <a:ext cx="6858000" cy="566739"/>
          </a:xfrm>
        </p:spPr>
        <p:txBody>
          <a:bodyPr anchor="b"/>
          <a:lstStyle>
            <a:lvl1pPr algn="l">
              <a:defRPr b="1" sz="2000"/>
            </a:lvl1pPr>
          </a:lstStyle>
          <a:p>
            <a:r>
              <a:rPr lang="en-US" smtClean="0"/>
              <a:t>Click to edit Master title style</a:t>
            </a:r>
            <a:endParaRPr lang="en-US"/>
          </a:p>
        </p:txBody>
      </p:sp>
      <p:sp>
        <p:nvSpPr>
          <p:cNvPr id="1050695" name="Picture Placeholder 2"/>
          <p:cNvSpPr>
            <a:spLocks noGrp="1"/>
          </p:cNvSpPr>
          <p:nvPr>
            <p:ph type="pic" idx="1"/>
          </p:nvPr>
        </p:nvSpPr>
        <p:spPr>
          <a:xfrm>
            <a:off x="2240360" y="612775"/>
            <a:ext cx="68580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smtClean="0"/>
              <a:t>Click icon to add picture</a:t>
            </a:r>
            <a:endParaRPr dirty="0" lang="en-US"/>
          </a:p>
        </p:txBody>
      </p:sp>
      <p:sp>
        <p:nvSpPr>
          <p:cNvPr id="1050696" name="Text Placeholder 3"/>
          <p:cNvSpPr>
            <a:spLocks noGrp="1"/>
          </p:cNvSpPr>
          <p:nvPr>
            <p:ph type="body" sz="half" idx="2"/>
          </p:nvPr>
        </p:nvSpPr>
        <p:spPr>
          <a:xfrm>
            <a:off x="2240360" y="5367346"/>
            <a:ext cx="6858000" cy="8048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50697" name="Date Placeholder 4"/>
          <p:cNvSpPr>
            <a:spLocks noGrp="1"/>
          </p:cNvSpPr>
          <p:nvPr>
            <p:ph type="dt" sz="half" idx="10"/>
          </p:nvPr>
        </p:nvSpPr>
        <p:spPr/>
        <p:txBody>
          <a:bodyPr/>
          <a:p>
            <a:fld id="{A45364CE-6C7D-424B-9A89-EFC9DC6F7A38}" type="datetime1">
              <a:rPr lang="en-US" smtClean="0"/>
            </a:fld>
            <a:endParaRPr lang="en-US"/>
          </a:p>
        </p:txBody>
      </p:sp>
      <p:sp>
        <p:nvSpPr>
          <p:cNvPr id="1050698" name="Footer Placeholder 5"/>
          <p:cNvSpPr>
            <a:spLocks noGrp="1"/>
          </p:cNvSpPr>
          <p:nvPr>
            <p:ph type="ftr" sz="quarter" idx="11"/>
          </p:nvPr>
        </p:nvSpPr>
        <p:spPr/>
        <p:txBody>
          <a:bodyPr/>
          <a:p>
            <a:r>
              <a:rPr lang="en-US" smtClean="0"/>
              <a:t>@MUSOVYA2017</a:t>
            </a:r>
            <a:endParaRPr lang="en-US"/>
          </a:p>
        </p:txBody>
      </p:sp>
      <p:sp>
        <p:nvSpPr>
          <p:cNvPr id="1050699"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82" name=""/>
        <p:cNvGrpSpPr/>
        <p:nvPr/>
      </p:nvGrpSpPr>
      <p:grpSpPr>
        <a:xfrm>
          <a:off x="0" y="0"/>
          <a:ext cx="0" cy="0"/>
          <a:chOff x="0" y="0"/>
          <a:chExt cx="0" cy="0"/>
        </a:xfrm>
      </p:grpSpPr>
      <p:sp>
        <p:nvSpPr>
          <p:cNvPr id="1050732" name="Title 1"/>
          <p:cNvSpPr>
            <a:spLocks noGrp="1"/>
          </p:cNvSpPr>
          <p:nvPr>
            <p:ph type="title"/>
          </p:nvPr>
        </p:nvSpPr>
        <p:spPr/>
        <p:txBody>
          <a:bodyPr/>
          <a:p>
            <a:r>
              <a:rPr lang="en-US" smtClean="0"/>
              <a:t>Click to edit Master title style</a:t>
            </a:r>
            <a:endParaRPr lang="en-US"/>
          </a:p>
        </p:txBody>
      </p:sp>
      <p:sp>
        <p:nvSpPr>
          <p:cNvPr id="1050733"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734" name="Date Placeholder 3"/>
          <p:cNvSpPr>
            <a:spLocks noGrp="1"/>
          </p:cNvSpPr>
          <p:nvPr>
            <p:ph type="dt" sz="half" idx="10"/>
          </p:nvPr>
        </p:nvSpPr>
        <p:spPr/>
        <p:txBody>
          <a:bodyPr/>
          <a:p>
            <a:fld id="{DBB29664-6648-4B5C-B5C0-496166F8A474}" type="datetime1">
              <a:rPr lang="en-US" smtClean="0"/>
            </a:fld>
            <a:endParaRPr lang="en-US"/>
          </a:p>
        </p:txBody>
      </p:sp>
      <p:sp>
        <p:nvSpPr>
          <p:cNvPr id="1050735" name="Footer Placeholder 4"/>
          <p:cNvSpPr>
            <a:spLocks noGrp="1"/>
          </p:cNvSpPr>
          <p:nvPr>
            <p:ph type="ftr" sz="quarter" idx="11"/>
          </p:nvPr>
        </p:nvSpPr>
        <p:spPr/>
        <p:txBody>
          <a:bodyPr/>
          <a:p>
            <a:r>
              <a:rPr lang="en-US" smtClean="0"/>
              <a:t>@MUSOVYA2017</a:t>
            </a:r>
            <a:endParaRPr lang="en-US"/>
          </a:p>
        </p:txBody>
      </p:sp>
      <p:sp>
        <p:nvSpPr>
          <p:cNvPr id="1050736"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76" name=""/>
        <p:cNvGrpSpPr/>
        <p:nvPr/>
      </p:nvGrpSpPr>
      <p:grpSpPr>
        <a:xfrm>
          <a:off x="0" y="0"/>
          <a:ext cx="0" cy="0"/>
          <a:chOff x="0" y="0"/>
          <a:chExt cx="0" cy="0"/>
        </a:xfrm>
      </p:grpSpPr>
      <p:sp>
        <p:nvSpPr>
          <p:cNvPr id="1050700" name="Vertical Title 1"/>
          <p:cNvSpPr>
            <a:spLocks noGrp="1"/>
          </p:cNvSpPr>
          <p:nvPr>
            <p:ph type="title" orient="vert"/>
          </p:nvPr>
        </p:nvSpPr>
        <p:spPr>
          <a:xfrm>
            <a:off x="8477251" y="274647"/>
            <a:ext cx="2571750" cy="5851525"/>
          </a:xfrm>
        </p:spPr>
        <p:txBody>
          <a:bodyPr vert="eaVert"/>
          <a:p>
            <a:r>
              <a:rPr lang="en-US" smtClean="0"/>
              <a:t>Click to edit Master title style</a:t>
            </a:r>
            <a:endParaRPr lang="en-US"/>
          </a:p>
        </p:txBody>
      </p:sp>
      <p:sp>
        <p:nvSpPr>
          <p:cNvPr id="1050701" name="Vertical Text Placeholder 2"/>
          <p:cNvSpPr>
            <a:spLocks noGrp="1"/>
          </p:cNvSpPr>
          <p:nvPr>
            <p:ph type="body" orient="vert" idx="1"/>
          </p:nvPr>
        </p:nvSpPr>
        <p:spPr>
          <a:xfrm>
            <a:off x="952500" y="274647"/>
            <a:ext cx="733425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702" name="Date Placeholder 3"/>
          <p:cNvSpPr>
            <a:spLocks noGrp="1"/>
          </p:cNvSpPr>
          <p:nvPr>
            <p:ph type="dt" sz="half" idx="10"/>
          </p:nvPr>
        </p:nvSpPr>
        <p:spPr/>
        <p:txBody>
          <a:bodyPr/>
          <a:p>
            <a:fld id="{43272CDC-013C-4530-B352-070531F76F7D}" type="datetime1">
              <a:rPr lang="en-US" smtClean="0"/>
            </a:fld>
            <a:endParaRPr lang="en-US"/>
          </a:p>
        </p:txBody>
      </p:sp>
      <p:sp>
        <p:nvSpPr>
          <p:cNvPr id="1050703" name="Footer Placeholder 4"/>
          <p:cNvSpPr>
            <a:spLocks noGrp="1"/>
          </p:cNvSpPr>
          <p:nvPr>
            <p:ph type="ftr" sz="quarter" idx="11"/>
          </p:nvPr>
        </p:nvSpPr>
        <p:spPr/>
        <p:txBody>
          <a:bodyPr/>
          <a:p>
            <a:r>
              <a:rPr lang="en-US" smtClean="0"/>
              <a:t>@MUSOVYA2017</a:t>
            </a:r>
            <a:endParaRPr lang="en-US"/>
          </a:p>
        </p:txBody>
      </p:sp>
      <p:sp>
        <p:nvSpPr>
          <p:cNvPr id="1050704"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480" name=""/>
        <p:cNvGrpSpPr/>
        <p:nvPr/>
      </p:nvGrpSpPr>
      <p:grpSpPr>
        <a:xfrm>
          <a:off x="0" y="0"/>
          <a:ext cx="0" cy="0"/>
          <a:chOff x="0" y="0"/>
          <a:chExt cx="0" cy="0"/>
        </a:xfrm>
      </p:grpSpPr>
      <p:sp>
        <p:nvSpPr>
          <p:cNvPr id="1050723" name="Title 1"/>
          <p:cNvSpPr>
            <a:spLocks noGrp="1"/>
          </p:cNvSpPr>
          <p:nvPr>
            <p:ph type="title"/>
          </p:nvPr>
        </p:nvSpPr>
        <p:spPr>
          <a:xfrm>
            <a:off x="857259" y="355600"/>
            <a:ext cx="10243344" cy="1143000"/>
          </a:xfrm>
        </p:spPr>
        <p:txBody>
          <a:bodyPr/>
          <a:p>
            <a:r>
              <a:rPr lang="en-US" smtClean="0"/>
              <a:t>Click to edit Master title style</a:t>
            </a:r>
            <a:endParaRPr lang="en-US"/>
          </a:p>
        </p:txBody>
      </p:sp>
      <p:sp>
        <p:nvSpPr>
          <p:cNvPr id="1050724" name="Content Placeholder 2"/>
          <p:cNvSpPr>
            <a:spLocks noGrp="1"/>
          </p:cNvSpPr>
          <p:nvPr>
            <p:ph sz="half" idx="1"/>
          </p:nvPr>
        </p:nvSpPr>
        <p:spPr>
          <a:xfrm>
            <a:off x="841380" y="1497016"/>
            <a:ext cx="4968875" cy="4759325"/>
          </a:xfrm>
        </p:spPr>
        <p:txBody>
          <a:bodyPr/>
          <a:lstStyle>
            <a:lvl4pPr>
              <a:defRPr baseline="0"/>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50725" name="Text Placeholder 3"/>
          <p:cNvSpPr>
            <a:spLocks noGrp="1"/>
          </p:cNvSpPr>
          <p:nvPr>
            <p:ph type="body" sz="half" idx="2"/>
          </p:nvPr>
        </p:nvSpPr>
        <p:spPr>
          <a:xfrm>
            <a:off x="6172200" y="1497016"/>
            <a:ext cx="4972050" cy="4759325"/>
          </a:xfrm>
        </p:spPr>
        <p:txBody>
          <a:bodyPr/>
          <a:lstStyle>
            <a:lvl4pPr>
              <a:defRPr baseline="0"/>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50726" name="Date Placeholder 3"/>
          <p:cNvSpPr>
            <a:spLocks noGrp="1"/>
          </p:cNvSpPr>
          <p:nvPr>
            <p:ph type="dt" sz="half" idx="10"/>
          </p:nvPr>
        </p:nvSpPr>
        <p:spPr>
          <a:xfrm>
            <a:off x="952500" y="6356359"/>
            <a:ext cx="2667000" cy="365125"/>
          </a:xfrm>
        </p:spPr>
        <p:txBody>
          <a:bodyPr/>
          <a:p>
            <a:fld id="{FEA9B72B-4ABC-428C-AF6A-EA7FEF1C928A}" type="datetime1">
              <a:rPr lang="en-US" smtClean="0"/>
            </a:fld>
            <a:endParaRPr lang="en-US"/>
          </a:p>
        </p:txBody>
      </p:sp>
      <p:sp>
        <p:nvSpPr>
          <p:cNvPr id="1050727" name="Footer Placeholder 4"/>
          <p:cNvSpPr>
            <a:spLocks noGrp="1"/>
          </p:cNvSpPr>
          <p:nvPr>
            <p:ph type="ftr" sz="quarter" idx="11"/>
          </p:nvPr>
        </p:nvSpPr>
        <p:spPr>
          <a:xfrm>
            <a:off x="4191001" y="6356359"/>
            <a:ext cx="3619500" cy="365125"/>
          </a:xfrm>
        </p:spPr>
        <p:txBody>
          <a:bodyPr/>
          <a:p>
            <a:r>
              <a:rPr lang="en-US" smtClean="0"/>
              <a:t>@MUSOVYA2017</a:t>
            </a:r>
            <a:endParaRPr lang="en-US"/>
          </a:p>
        </p:txBody>
      </p:sp>
      <p:sp>
        <p:nvSpPr>
          <p:cNvPr id="1050728" name="Slide Number Placeholder 5"/>
          <p:cNvSpPr>
            <a:spLocks noGrp="1"/>
          </p:cNvSpPr>
          <p:nvPr>
            <p:ph type="sldNum" sz="quarter" idx="12"/>
          </p:nvPr>
        </p:nvSpPr>
        <p:spPr>
          <a:xfrm>
            <a:off x="8382000" y="6356359"/>
            <a:ext cx="2667000" cy="365125"/>
          </a:xfrm>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77" name=""/>
        <p:cNvGrpSpPr/>
        <p:nvPr/>
      </p:nvGrpSpPr>
      <p:grpSpPr>
        <a:xfrm>
          <a:off x="0" y="0"/>
          <a:ext cx="0" cy="0"/>
          <a:chOff x="0" y="0"/>
          <a:chExt cx="0" cy="0"/>
        </a:xfrm>
      </p:grpSpPr>
      <p:sp>
        <p:nvSpPr>
          <p:cNvPr id="1050705" name="Title 1"/>
          <p:cNvSpPr>
            <a:spLocks noGrp="1"/>
          </p:cNvSpPr>
          <p:nvPr>
            <p:ph type="title"/>
          </p:nvPr>
        </p:nvSpPr>
        <p:spPr/>
        <p:txBody>
          <a:bodyPr/>
          <a:p>
            <a:r>
              <a:rPr lang="en-US" smtClean="0"/>
              <a:t>Click to edit Master title style</a:t>
            </a:r>
            <a:endParaRPr lang="en-US"/>
          </a:p>
        </p:txBody>
      </p:sp>
      <p:sp>
        <p:nvSpPr>
          <p:cNvPr id="1050706" name="Date Placeholder 2"/>
          <p:cNvSpPr>
            <a:spLocks noGrp="1"/>
          </p:cNvSpPr>
          <p:nvPr>
            <p:ph type="dt" sz="half" idx="10"/>
          </p:nvPr>
        </p:nvSpPr>
        <p:spPr/>
        <p:txBody>
          <a:bodyPr/>
          <a:p>
            <a:fld id="{164E30C7-FA9B-4F69-BFE7-FCC8FB5315E8}" type="datetime1">
              <a:rPr lang="en-US" smtClean="0"/>
            </a:fld>
            <a:endParaRPr lang="en-US"/>
          </a:p>
        </p:txBody>
      </p:sp>
      <p:sp>
        <p:nvSpPr>
          <p:cNvPr id="1050707" name="Footer Placeholder 3"/>
          <p:cNvSpPr>
            <a:spLocks noGrp="1"/>
          </p:cNvSpPr>
          <p:nvPr>
            <p:ph type="ftr" sz="quarter" idx="11"/>
          </p:nvPr>
        </p:nvSpPr>
        <p:spPr/>
        <p:txBody>
          <a:bodyPr/>
          <a:p>
            <a:r>
              <a:rPr lang="en-US" smtClean="0"/>
              <a:t>@MUSOVYA2017</a:t>
            </a:r>
            <a:endParaRPr lang="en-US"/>
          </a:p>
        </p:txBody>
      </p:sp>
      <p:sp>
        <p:nvSpPr>
          <p:cNvPr id="1050708" name="Slide Number Placeholder 4"/>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81" name=""/>
        <p:cNvGrpSpPr/>
        <p:nvPr/>
      </p:nvGrpSpPr>
      <p:grpSpPr>
        <a:xfrm>
          <a:off x="0" y="0"/>
          <a:ext cx="0" cy="0"/>
          <a:chOff x="0" y="0"/>
          <a:chExt cx="0" cy="0"/>
        </a:xfrm>
      </p:grpSpPr>
      <p:sp>
        <p:nvSpPr>
          <p:cNvPr id="1050729" name="Date Placeholder 1"/>
          <p:cNvSpPr>
            <a:spLocks noGrp="1"/>
          </p:cNvSpPr>
          <p:nvPr>
            <p:ph type="dt" sz="half" idx="10"/>
          </p:nvPr>
        </p:nvSpPr>
        <p:spPr/>
        <p:txBody>
          <a:bodyPr/>
          <a:p>
            <a:fld id="{B48623A9-394C-4E97-A9B8-60959378E7E1}" type="datetime1">
              <a:rPr lang="en-US" smtClean="0"/>
            </a:fld>
            <a:endParaRPr lang="en-US"/>
          </a:p>
        </p:txBody>
      </p:sp>
      <p:sp>
        <p:nvSpPr>
          <p:cNvPr id="1050730" name="Footer Placeholder 2"/>
          <p:cNvSpPr>
            <a:spLocks noGrp="1"/>
          </p:cNvSpPr>
          <p:nvPr>
            <p:ph type="ftr" sz="quarter" idx="11"/>
          </p:nvPr>
        </p:nvSpPr>
        <p:spPr/>
        <p:txBody>
          <a:bodyPr/>
          <a:p>
            <a:r>
              <a:rPr lang="en-US" smtClean="0"/>
              <a:t>@MUSOVYA2017</a:t>
            </a:r>
            <a:endParaRPr lang="en-US"/>
          </a:p>
        </p:txBody>
      </p:sp>
      <p:sp>
        <p:nvSpPr>
          <p:cNvPr id="1050731" name="Slide Number Placeholder 3"/>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showMasterSp="0">
  <p:cSld name="Background Only">
    <p:spTree>
      <p:nvGrpSpPr>
        <p:cNvPr id="1473" name=""/>
        <p:cNvGrpSpPr/>
        <p:nvPr/>
      </p:nvGrpSpPr>
      <p:grpSpPr>
        <a:xfrm>
          <a:off x="0" y="0"/>
          <a:ext cx="0" cy="0"/>
          <a:chOff x="0" y="0"/>
          <a:chExt cx="0" cy="0"/>
        </a:xfrm>
      </p:grpSpPr>
      <p:pic>
        <p:nvPicPr>
          <p:cNvPr id="2097170" name="Picture 1"/>
          <p:cNvPicPr>
            <a:picLocks noChangeAspect="1"/>
          </p:cNvPicPr>
          <p:nvPr/>
        </p:nvPicPr>
        <p:blipFill rotWithShape="1">
          <a:blip xmlns:r="http://schemas.openxmlformats.org/officeDocument/2006/relationships" r:embed="rId1" cstate="email"/>
          <a:srcRect/>
          <a:stretch>
            <a:fillRect/>
          </a:stretch>
        </p:blipFill>
        <p:spPr>
          <a:xfrm>
            <a:off x="54437" y="1"/>
            <a:ext cx="11375572" cy="6879771"/>
          </a:xfrm>
          <a:prstGeom prst="rect"/>
        </p:spPr>
      </p:pic>
      <p:sp>
        <p:nvSpPr>
          <p:cNvPr id="1050686" name="Date Placeholder 3"/>
          <p:cNvSpPr>
            <a:spLocks noGrp="1"/>
          </p:cNvSpPr>
          <p:nvPr>
            <p:ph type="dt" sz="half" idx="10"/>
          </p:nvPr>
        </p:nvSpPr>
        <p:spPr>
          <a:xfrm>
            <a:off x="952500" y="6356359"/>
            <a:ext cx="2667000" cy="365125"/>
          </a:xfrm>
        </p:spPr>
        <p:txBody>
          <a:bodyPr/>
          <a:p>
            <a:fld id="{B35AD3C4-EEE6-4E12-8A80-5033C1B19EB5}" type="datetime1">
              <a:rPr lang="en-US" smtClean="0"/>
            </a:fld>
            <a:endParaRPr lang="en-US"/>
          </a:p>
        </p:txBody>
      </p:sp>
      <p:sp>
        <p:nvSpPr>
          <p:cNvPr id="1050687" name="Footer Placeholder 4"/>
          <p:cNvSpPr>
            <a:spLocks noGrp="1"/>
          </p:cNvSpPr>
          <p:nvPr>
            <p:ph type="ftr" sz="quarter" idx="11"/>
          </p:nvPr>
        </p:nvSpPr>
        <p:spPr>
          <a:xfrm>
            <a:off x="4191001" y="6356359"/>
            <a:ext cx="3619500" cy="365125"/>
          </a:xfrm>
        </p:spPr>
        <p:txBody>
          <a:bodyPr/>
          <a:p>
            <a:r>
              <a:rPr lang="en-US" smtClean="0"/>
              <a:t>@MUSOVYA2017</a:t>
            </a:r>
            <a:endParaRPr lang="en-US"/>
          </a:p>
        </p:txBody>
      </p:sp>
      <p:sp>
        <p:nvSpPr>
          <p:cNvPr id="1050688" name="Slide Number Placeholder 5"/>
          <p:cNvSpPr>
            <a:spLocks noGrp="1"/>
          </p:cNvSpPr>
          <p:nvPr>
            <p:ph type="sldNum" sz="quarter" idx="12"/>
          </p:nvPr>
        </p:nvSpPr>
        <p:spPr>
          <a:xfrm>
            <a:off x="8382000" y="6356359"/>
            <a:ext cx="2667000" cy="365125"/>
          </a:xfrm>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cSld name="1_Title Slide">
    <p:spTree>
      <p:nvGrpSpPr>
        <p:cNvPr id="888" name=""/>
        <p:cNvGrpSpPr/>
        <p:nvPr/>
      </p:nvGrpSpPr>
      <p:grpSpPr>
        <a:xfrm>
          <a:off x="0" y="0"/>
          <a:ext cx="0" cy="0"/>
          <a:chOff x="0" y="0"/>
          <a:chExt cx="0" cy="0"/>
        </a:xfrm>
      </p:grpSpPr>
      <p:sp>
        <p:nvSpPr>
          <p:cNvPr id="1049132" name="Title 8"/>
          <p:cNvSpPr>
            <a:spLocks noGrp="1"/>
          </p:cNvSpPr>
          <p:nvPr>
            <p:ph type="ctrTitle"/>
          </p:nvPr>
        </p:nvSpPr>
        <p:spPr>
          <a:xfrm>
            <a:off x="857250" y="1752611"/>
            <a:ext cx="9715500" cy="1829761"/>
          </a:xfrm>
        </p:spPr>
        <p:txBody>
          <a:bodyPr anchor="b" vert="horz">
            <a:normAutofit/>
            <a:scene3d>
              <a:camera prst="orthographicFront"/>
              <a:lightRig dir="t" rig="soft"/>
            </a:scene3d>
            <a:sp3d prstMaterial="softEdge">
              <a:bevelT w="25400" h="25400"/>
            </a:sp3d>
          </a:bodyPr>
          <a:lstStyle>
            <a:lvl1pPr algn="r">
              <a:defRPr b="1" sz="4800">
                <a:solidFill>
                  <a:schemeClr val="tx2"/>
                </a:solidFill>
                <a:effectLst>
                  <a:outerShdw algn="tl" blurRad="31750" dir="5400000" dist="25400" rotWithShape="0">
                    <a:srgbClr val="000000">
                      <a:alpha val="25000"/>
                    </a:srgbClr>
                  </a:outerShdw>
                </a:effectLst>
              </a:defRPr>
            </a:lvl1pPr>
          </a:lstStyle>
          <a:p>
            <a:r>
              <a:rPr kumimoji="0" lang="en-US" smtClean="0"/>
              <a:t>Click to edit Master title style</a:t>
            </a:r>
            <a:endParaRPr kumimoji="0" lang="en-US"/>
          </a:p>
        </p:txBody>
      </p:sp>
      <p:sp>
        <p:nvSpPr>
          <p:cNvPr id="1049133" name="Subtitle 16"/>
          <p:cNvSpPr>
            <a:spLocks noGrp="1"/>
          </p:cNvSpPr>
          <p:nvPr>
            <p:ph type="subTitle" idx="1"/>
          </p:nvPr>
        </p:nvSpPr>
        <p:spPr>
          <a:xfrm>
            <a:off x="857250" y="3611607"/>
            <a:ext cx="9715500" cy="1199704"/>
          </a:xfrm>
        </p:spPr>
        <p:txBody>
          <a:bodyPr lIns="45720" rIns="45720"/>
          <a:lstStyle>
            <a:lvl1pPr algn="r" indent="0" marL="0" marR="64008">
              <a:buNone/>
              <a:defRPr>
                <a:solidFill>
                  <a:schemeClr val="tx2"/>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9134" name="Date Placeholder 29"/>
          <p:cNvSpPr>
            <a:spLocks noGrp="1"/>
          </p:cNvSpPr>
          <p:nvPr>
            <p:ph type="dt" sz="half" idx="10"/>
          </p:nvPr>
        </p:nvSpPr>
        <p:spPr/>
        <p:txBody>
          <a:bodyPr/>
          <a:lstStyle>
            <a:lvl1pPr>
              <a:defRPr>
                <a:solidFill>
                  <a:srgbClr val="FFFFFF"/>
                </a:solidFill>
              </a:defRPr>
            </a:lvl1pPr>
          </a:lstStyle>
          <a:p>
            <a:fld id="{35408DA4-8142-44C2-8E70-43143EFB0C0E}" type="datetime1">
              <a:rPr lang="en-US" smtClean="0"/>
            </a:fld>
            <a:endParaRPr lang="en-US"/>
          </a:p>
        </p:txBody>
      </p:sp>
      <p:sp>
        <p:nvSpPr>
          <p:cNvPr id="1049135" name="Footer Placeholder 18"/>
          <p:cNvSpPr>
            <a:spLocks noGrp="1"/>
          </p:cNvSpPr>
          <p:nvPr>
            <p:ph type="ftr" sz="quarter" idx="11"/>
          </p:nvPr>
        </p:nvSpPr>
        <p:spPr/>
        <p:txBody>
          <a:bodyPr/>
          <a:lstStyle>
            <a:lvl1pPr>
              <a:defRPr>
                <a:solidFill>
                  <a:schemeClr val="accent1">
                    <a:tint val="20000"/>
                  </a:schemeClr>
                </a:solidFill>
              </a:defRPr>
            </a:lvl1pPr>
          </a:lstStyle>
          <a:p>
            <a:r>
              <a:rPr lang="en-US" smtClean="0"/>
              <a:t>@MUSOVYA2017</a:t>
            </a:r>
            <a:endParaRPr lang="en-US"/>
          </a:p>
        </p:txBody>
      </p:sp>
      <p:sp>
        <p:nvSpPr>
          <p:cNvPr id="1049136" name="Slide Number Placeholder 26"/>
          <p:cNvSpPr>
            <a:spLocks noGrp="1"/>
          </p:cNvSpPr>
          <p:nvPr>
            <p:ph type="sldNum" sz="quarter" idx="12"/>
          </p:nvPr>
        </p:nvSpPr>
        <p:spPr/>
        <p:txBody>
          <a:bodyPr/>
          <a:lstStyle>
            <a:lvl1pPr>
              <a:defRPr>
                <a:solidFill>
                  <a:srgbClr val="FFFFFF"/>
                </a:solidFill>
              </a:defRPr>
            </a:lvl1pPr>
          </a:lstStyle>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942" name=""/>
        <p:cNvGrpSpPr/>
        <p:nvPr/>
      </p:nvGrpSpPr>
      <p:grpSpPr>
        <a:xfrm>
          <a:off x="0" y="0"/>
          <a:ext cx="0" cy="0"/>
          <a:chOff x="0" y="0"/>
          <a:chExt cx="0" cy="0"/>
        </a:xfrm>
      </p:grpSpPr>
      <p:sp>
        <p:nvSpPr>
          <p:cNvPr id="1049247" name="Title 13"/>
          <p:cNvSpPr>
            <a:spLocks noGrp="1"/>
          </p:cNvSpPr>
          <p:nvPr>
            <p:ph type="ctrTitle"/>
          </p:nvPr>
        </p:nvSpPr>
        <p:spPr>
          <a:xfrm>
            <a:off x="1790701" y="359897"/>
            <a:ext cx="9258300" cy="1472184"/>
          </a:xfrm>
        </p:spPr>
        <p:txBody>
          <a:bodyPr anchor="b"/>
          <a:lstStyle>
            <a:lvl1pPr algn="l"/>
          </a:lstStyle>
          <a:p>
            <a:r>
              <a:rPr kumimoji="0" lang="en-US" smtClean="0"/>
              <a:t>Click to edit Master title style</a:t>
            </a:r>
            <a:endParaRPr kumimoji="0" lang="en-US"/>
          </a:p>
        </p:txBody>
      </p:sp>
      <p:sp>
        <p:nvSpPr>
          <p:cNvPr id="1049248" name="Subtitle 21"/>
          <p:cNvSpPr>
            <a:spLocks noGrp="1"/>
          </p:cNvSpPr>
          <p:nvPr>
            <p:ph type="subTitle" idx="1"/>
          </p:nvPr>
        </p:nvSpPr>
        <p:spPr>
          <a:xfrm>
            <a:off x="1790701" y="1850064"/>
            <a:ext cx="9258300" cy="1752600"/>
          </a:xfrm>
        </p:spPr>
        <p:txBody>
          <a:bodyPr tIns="0"/>
          <a:lstStyle>
            <a:lvl1pPr algn="l" indent="0" marL="27432">
              <a:buNone/>
              <a:defRPr sz="2600">
                <a:solidFill>
                  <a:schemeClr val="tx2">
                    <a:shade val="30000"/>
                    <a:satMod val="150000"/>
                  </a:schemeClr>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9249" name="Date Placeholder 6"/>
          <p:cNvSpPr>
            <a:spLocks noGrp="1"/>
          </p:cNvSpPr>
          <p:nvPr>
            <p:ph type="dt" sz="half" idx="10"/>
          </p:nvPr>
        </p:nvSpPr>
        <p:spPr/>
        <p:txBody>
          <a:bodyPr/>
          <a:p>
            <a:fld id="{05C7A3B0-A3D6-41E3-8A9E-A60D7C5FB13B}" type="datetime1">
              <a:rPr lang="en-US" smtClean="0"/>
            </a:fld>
            <a:endParaRPr lang="en-US"/>
          </a:p>
        </p:txBody>
      </p:sp>
      <p:sp>
        <p:nvSpPr>
          <p:cNvPr id="1049250" name="Footer Placeholder 19"/>
          <p:cNvSpPr>
            <a:spLocks noGrp="1"/>
          </p:cNvSpPr>
          <p:nvPr>
            <p:ph type="ftr" sz="quarter" idx="11"/>
          </p:nvPr>
        </p:nvSpPr>
        <p:spPr/>
        <p:txBody>
          <a:bodyPr/>
          <a:p>
            <a:r>
              <a:rPr lang="en-US" smtClean="0"/>
              <a:t>@MUSOVYA2017</a:t>
            </a:r>
            <a:endParaRPr lang="en-US"/>
          </a:p>
        </p:txBody>
      </p:sp>
      <p:sp>
        <p:nvSpPr>
          <p:cNvPr id="1049251" name="Slide Number Placeholder 9"/>
          <p:cNvSpPr>
            <a:spLocks noGrp="1"/>
          </p:cNvSpPr>
          <p:nvPr>
            <p:ph type="sldNum" sz="quarter" idx="12"/>
          </p:nvPr>
        </p:nvSpPr>
        <p:spPr/>
        <p:txBody>
          <a:bodyPr/>
          <a:p>
            <a:fld id="{539D2A76-69E3-4600-8808-3C1A10934549}" type="slidenum">
              <a:rPr lang="en-US" smtClean="0"/>
            </a:fld>
            <a:endParaRPr lang="en-US"/>
          </a:p>
        </p:txBody>
      </p:sp>
      <p:sp>
        <p:nvSpPr>
          <p:cNvPr id="1049252" name="Oval 7"/>
          <p:cNvSpPr/>
          <p:nvPr/>
        </p:nvSpPr>
        <p:spPr>
          <a:xfrm>
            <a:off x="1151790" y="1413803"/>
            <a:ext cx="262891" cy="210312"/>
          </a:xfrm>
          <a:prstGeom prst="ellipse"/>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
        <p:nvSpPr>
          <p:cNvPr id="1049253" name="Oval 8"/>
          <p:cNvSpPr/>
          <p:nvPr/>
        </p:nvSpPr>
        <p:spPr>
          <a:xfrm>
            <a:off x="1446470" y="1345016"/>
            <a:ext cx="80009" cy="64008"/>
          </a:xfrm>
          <a:prstGeom prst="ellipse"/>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944" name=""/>
        <p:cNvGrpSpPr/>
        <p:nvPr/>
      </p:nvGrpSpPr>
      <p:grpSpPr>
        <a:xfrm>
          <a:off x="0" y="0"/>
          <a:ext cx="0" cy="0"/>
          <a:chOff x="0" y="0"/>
          <a:chExt cx="0" cy="0"/>
        </a:xfrm>
      </p:grpSpPr>
      <p:sp>
        <p:nvSpPr>
          <p:cNvPr id="1049255" name="Title 1"/>
          <p:cNvSpPr>
            <a:spLocks noGrp="1"/>
          </p:cNvSpPr>
          <p:nvPr>
            <p:ph type="title"/>
          </p:nvPr>
        </p:nvSpPr>
        <p:spPr/>
        <p:txBody>
          <a:bodyPr/>
          <a:p>
            <a:r>
              <a:rPr kumimoji="0" lang="en-US" smtClean="0"/>
              <a:t>Click to edit Master title style</a:t>
            </a:r>
            <a:endParaRPr kumimoji="0" lang="en-US"/>
          </a:p>
        </p:txBody>
      </p:sp>
      <p:sp>
        <p:nvSpPr>
          <p:cNvPr id="1049256"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257" name="Date Placeholder 3"/>
          <p:cNvSpPr>
            <a:spLocks noGrp="1"/>
          </p:cNvSpPr>
          <p:nvPr>
            <p:ph type="dt" sz="half" idx="10"/>
          </p:nvPr>
        </p:nvSpPr>
        <p:spPr/>
        <p:txBody>
          <a:bodyPr/>
          <a:p>
            <a:fld id="{3419B54D-F45F-4D79-A8FD-09F7056BB71D}" type="datetime1">
              <a:rPr lang="en-US" smtClean="0"/>
            </a:fld>
            <a:endParaRPr lang="en-US"/>
          </a:p>
        </p:txBody>
      </p:sp>
      <p:sp>
        <p:nvSpPr>
          <p:cNvPr id="1049258" name="Footer Placeholder 4"/>
          <p:cNvSpPr>
            <a:spLocks noGrp="1"/>
          </p:cNvSpPr>
          <p:nvPr>
            <p:ph type="ftr" sz="quarter" idx="11"/>
          </p:nvPr>
        </p:nvSpPr>
        <p:spPr/>
        <p:txBody>
          <a:bodyPr/>
          <a:p>
            <a:r>
              <a:rPr lang="en-US" smtClean="0"/>
              <a:t>@MUSOVYA2017</a:t>
            </a:r>
            <a:endParaRPr lang="en-US"/>
          </a:p>
        </p:txBody>
      </p:sp>
      <p:sp>
        <p:nvSpPr>
          <p:cNvPr id="1049259"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showMasterSp="0" type="secHead">
  <p:cSld name="Section Header">
    <p:spTree>
      <p:nvGrpSpPr>
        <p:cNvPr id="1461" name=""/>
        <p:cNvGrpSpPr/>
        <p:nvPr/>
      </p:nvGrpSpPr>
      <p:grpSpPr>
        <a:xfrm>
          <a:off x="0" y="0"/>
          <a:ext cx="0" cy="0"/>
          <a:chOff x="0" y="0"/>
          <a:chExt cx="0" cy="0"/>
        </a:xfrm>
      </p:grpSpPr>
      <p:sp>
        <p:nvSpPr>
          <p:cNvPr id="1050610" name="Rectangle 6"/>
          <p:cNvSpPr/>
          <p:nvPr/>
        </p:nvSpPr>
        <p:spPr>
          <a:xfrm>
            <a:off x="2853615" y="-53"/>
            <a:ext cx="8572500" cy="6858055"/>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611" name="Title 1"/>
          <p:cNvSpPr>
            <a:spLocks noGrp="1"/>
          </p:cNvSpPr>
          <p:nvPr>
            <p:ph type="title"/>
          </p:nvPr>
        </p:nvSpPr>
        <p:spPr>
          <a:xfrm>
            <a:off x="3222991" y="2600325"/>
            <a:ext cx="8001000" cy="2286000"/>
          </a:xfrm>
        </p:spPr>
        <p:txBody>
          <a:bodyPr anchor="t"/>
          <a:lstStyle>
            <a:lvl1pPr algn="l">
              <a:lnSpc>
                <a:spcPts val="4500"/>
              </a:lnSpc>
              <a:buNone/>
              <a:defRPr b="1" cap="all" sz="4000"/>
            </a:lvl1pPr>
          </a:lstStyle>
          <a:p>
            <a:r>
              <a:rPr kumimoji="0" lang="en-US" smtClean="0"/>
              <a:t>Click to edit Master title style</a:t>
            </a:r>
            <a:endParaRPr kumimoji="0" lang="en-US"/>
          </a:p>
        </p:txBody>
      </p:sp>
      <p:sp>
        <p:nvSpPr>
          <p:cNvPr id="1050612" name="Text Placeholder 2"/>
          <p:cNvSpPr>
            <a:spLocks noGrp="1"/>
          </p:cNvSpPr>
          <p:nvPr>
            <p:ph type="body" idx="1"/>
          </p:nvPr>
        </p:nvSpPr>
        <p:spPr>
          <a:xfrm>
            <a:off x="3222991" y="1066800"/>
            <a:ext cx="8001000" cy="1509712"/>
          </a:xfrm>
        </p:spPr>
        <p:txBody>
          <a:bodyPr anchor="b"/>
          <a:lstStyle>
            <a:lvl1pPr indent="0" marL="18288">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613" name="Date Placeholder 3"/>
          <p:cNvSpPr>
            <a:spLocks noGrp="1"/>
          </p:cNvSpPr>
          <p:nvPr>
            <p:ph type="dt" sz="half" idx="10"/>
          </p:nvPr>
        </p:nvSpPr>
        <p:spPr/>
        <p:txBody>
          <a:bodyPr/>
          <a:p>
            <a:fld id="{93806307-D757-499D-9FEF-8952685D56B5}" type="datetime1">
              <a:rPr lang="en-US" smtClean="0"/>
            </a:fld>
            <a:endParaRPr lang="en-US"/>
          </a:p>
        </p:txBody>
      </p:sp>
      <p:sp>
        <p:nvSpPr>
          <p:cNvPr id="1050614" name="Footer Placeholder 4"/>
          <p:cNvSpPr>
            <a:spLocks noGrp="1"/>
          </p:cNvSpPr>
          <p:nvPr>
            <p:ph type="ftr" sz="quarter" idx="11"/>
          </p:nvPr>
        </p:nvSpPr>
        <p:spPr/>
        <p:txBody>
          <a:bodyPr/>
          <a:p>
            <a:r>
              <a:rPr lang="en-US" smtClean="0"/>
              <a:t>@MUSOVYA2017</a:t>
            </a:r>
            <a:endParaRPr lang="en-US"/>
          </a:p>
        </p:txBody>
      </p:sp>
      <p:sp>
        <p:nvSpPr>
          <p:cNvPr id="1050615" name="Slide Number Placeholder 5"/>
          <p:cNvSpPr>
            <a:spLocks noGrp="1"/>
          </p:cNvSpPr>
          <p:nvPr>
            <p:ph type="sldNum" sz="quarter" idx="12"/>
          </p:nvPr>
        </p:nvSpPr>
        <p:spPr/>
        <p:txBody>
          <a:bodyPr/>
          <a:p>
            <a:fld id="{539D2A76-69E3-4600-8808-3C1A10934549}" type="slidenum">
              <a:rPr lang="en-US" smtClean="0"/>
            </a:fld>
            <a:endParaRPr lang="en-US"/>
          </a:p>
        </p:txBody>
      </p:sp>
      <p:sp>
        <p:nvSpPr>
          <p:cNvPr id="1050616" name="Rectangle 9"/>
          <p:cNvSpPr/>
          <p:nvPr/>
        </p:nvSpPr>
        <p:spPr bwMode="invGray">
          <a:xfrm>
            <a:off x="2857501" y="5"/>
            <a:ext cx="95250"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617" name="Oval 7"/>
          <p:cNvSpPr/>
          <p:nvPr/>
        </p:nvSpPr>
        <p:spPr>
          <a:xfrm>
            <a:off x="2715401" y="2814656"/>
            <a:ext cx="262891" cy="210312"/>
          </a:xfrm>
          <a:prstGeom prst="ellipse"/>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
        <p:nvSpPr>
          <p:cNvPr id="1050618" name="Oval 8"/>
          <p:cNvSpPr/>
          <p:nvPr/>
        </p:nvSpPr>
        <p:spPr>
          <a:xfrm>
            <a:off x="3010080" y="2745871"/>
            <a:ext cx="80009" cy="64008"/>
          </a:xfrm>
          <a:prstGeom prst="ellipse"/>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458" name=""/>
        <p:cNvGrpSpPr/>
        <p:nvPr/>
      </p:nvGrpSpPr>
      <p:grpSpPr>
        <a:xfrm>
          <a:off x="0" y="0"/>
          <a:ext cx="0" cy="0"/>
          <a:chOff x="0" y="0"/>
          <a:chExt cx="0" cy="0"/>
        </a:xfrm>
      </p:grpSpPr>
      <p:sp>
        <p:nvSpPr>
          <p:cNvPr id="1050587" name="Title 1"/>
          <p:cNvSpPr>
            <a:spLocks noGrp="1"/>
          </p:cNvSpPr>
          <p:nvPr>
            <p:ph type="title"/>
          </p:nvPr>
        </p:nvSpPr>
        <p:spPr>
          <a:xfrm>
            <a:off x="1794509" y="274320"/>
            <a:ext cx="9372600" cy="1143000"/>
          </a:xfrm>
        </p:spPr>
        <p:txBody>
          <a:bodyPr/>
          <a:p>
            <a:r>
              <a:rPr kumimoji="0" lang="en-US" smtClean="0"/>
              <a:t>Click to edit Master title style</a:t>
            </a:r>
            <a:endParaRPr kumimoji="0" lang="en-US"/>
          </a:p>
        </p:txBody>
      </p:sp>
      <p:sp>
        <p:nvSpPr>
          <p:cNvPr id="1050588" name="Content Placeholder 2"/>
          <p:cNvSpPr>
            <a:spLocks noGrp="1"/>
          </p:cNvSpPr>
          <p:nvPr>
            <p:ph sz="half" idx="1"/>
          </p:nvPr>
        </p:nvSpPr>
        <p:spPr>
          <a:xfrm>
            <a:off x="1794509" y="1524000"/>
            <a:ext cx="4572000" cy="4663440"/>
          </a:xfrm>
        </p:spPr>
        <p:txBody>
          <a:bodyPr/>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89" name="Content Placeholder 3"/>
          <p:cNvSpPr>
            <a:spLocks noGrp="1"/>
          </p:cNvSpPr>
          <p:nvPr>
            <p:ph sz="half" idx="2"/>
          </p:nvPr>
        </p:nvSpPr>
        <p:spPr>
          <a:xfrm>
            <a:off x="6595109" y="1524000"/>
            <a:ext cx="4572000" cy="4663440"/>
          </a:xfrm>
        </p:spPr>
        <p:txBody>
          <a:bodyPr/>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90" name="Date Placeholder 4"/>
          <p:cNvSpPr>
            <a:spLocks noGrp="1"/>
          </p:cNvSpPr>
          <p:nvPr>
            <p:ph type="dt" sz="half" idx="10"/>
          </p:nvPr>
        </p:nvSpPr>
        <p:spPr/>
        <p:txBody>
          <a:bodyPr/>
          <a:p>
            <a:fld id="{B880B55E-2A5C-4295-9D0B-F69C4C207388}" type="datetime1">
              <a:rPr lang="en-US" smtClean="0"/>
            </a:fld>
            <a:endParaRPr lang="en-US"/>
          </a:p>
        </p:txBody>
      </p:sp>
      <p:sp>
        <p:nvSpPr>
          <p:cNvPr id="1050591" name="Footer Placeholder 5"/>
          <p:cNvSpPr>
            <a:spLocks noGrp="1"/>
          </p:cNvSpPr>
          <p:nvPr>
            <p:ph type="ftr" sz="quarter" idx="11"/>
          </p:nvPr>
        </p:nvSpPr>
        <p:spPr/>
        <p:txBody>
          <a:bodyPr/>
          <a:p>
            <a:r>
              <a:rPr lang="en-US" smtClean="0"/>
              <a:t>@MUSOVYA2017</a:t>
            </a:r>
            <a:endParaRPr lang="en-US"/>
          </a:p>
        </p:txBody>
      </p:sp>
      <p:sp>
        <p:nvSpPr>
          <p:cNvPr id="1050592"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showMasterSp="0" type="twoTxTwoObj">
  <p:cSld name="Comparison">
    <p:spTree>
      <p:nvGrpSpPr>
        <p:cNvPr id="1459" name=""/>
        <p:cNvGrpSpPr/>
        <p:nvPr/>
      </p:nvGrpSpPr>
      <p:grpSpPr>
        <a:xfrm>
          <a:off x="0" y="0"/>
          <a:ext cx="0" cy="0"/>
          <a:chOff x="0" y="0"/>
          <a:chExt cx="0" cy="0"/>
        </a:xfrm>
      </p:grpSpPr>
      <p:sp>
        <p:nvSpPr>
          <p:cNvPr id="1050593" name="Title 1"/>
          <p:cNvSpPr>
            <a:spLocks noGrp="1"/>
          </p:cNvSpPr>
          <p:nvPr>
            <p:ph type="title"/>
          </p:nvPr>
        </p:nvSpPr>
        <p:spPr>
          <a:xfrm>
            <a:off x="571500" y="5160336"/>
            <a:ext cx="10287000" cy="1143000"/>
          </a:xfrm>
        </p:spPr>
        <p:txBody>
          <a:bodyPr anchor="ctr"/>
          <a:lstStyle>
            <a:lvl1pPr algn="ctr">
              <a:defRPr baseline="0" b="1" cap="none" sz="4500"/>
            </a:lvl1pPr>
          </a:lstStyle>
          <a:p>
            <a:r>
              <a:rPr kumimoji="0" lang="en-US" smtClean="0"/>
              <a:t>Click to edit Master title style</a:t>
            </a:r>
            <a:endParaRPr kumimoji="0" lang="en-US"/>
          </a:p>
        </p:txBody>
      </p:sp>
      <p:sp>
        <p:nvSpPr>
          <p:cNvPr id="1050594" name="Text Placeholder 2"/>
          <p:cNvSpPr>
            <a:spLocks noGrp="1"/>
          </p:cNvSpPr>
          <p:nvPr>
            <p:ph type="body" idx="1"/>
          </p:nvPr>
        </p:nvSpPr>
        <p:spPr>
          <a:xfrm>
            <a:off x="571501" y="328279"/>
            <a:ext cx="5029200" cy="640080"/>
          </a:xfrm>
          <a:solidFill>
            <a:schemeClr val="bg1"/>
          </a:solidFill>
          <a:ln w="10795">
            <a:solidFill>
              <a:schemeClr val="bg1"/>
            </a:solidFill>
            <a:miter lim="800000"/>
          </a:ln>
        </p:spPr>
        <p:txBody>
          <a:bodyPr anchor="ctr"/>
          <a:lstStyle>
            <a:lvl1pPr algn="l" indent="0" marL="64008">
              <a:lnSpc>
                <a:spcPct val="100000"/>
              </a:lnSpc>
              <a:spcBef>
                <a:spcPts val="100"/>
              </a:spcBef>
              <a:buNone/>
              <a:defRPr b="0" sz="1900">
                <a:solidFill>
                  <a:schemeClr val="tx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595" name="Text Placeholder 3"/>
          <p:cNvSpPr>
            <a:spLocks noGrp="1"/>
          </p:cNvSpPr>
          <p:nvPr>
            <p:ph type="body" sz="half" idx="3"/>
          </p:nvPr>
        </p:nvSpPr>
        <p:spPr>
          <a:xfrm>
            <a:off x="5829300" y="328279"/>
            <a:ext cx="5029200" cy="640080"/>
          </a:xfrm>
          <a:solidFill>
            <a:schemeClr val="bg1"/>
          </a:solidFill>
          <a:ln w="10795">
            <a:solidFill>
              <a:schemeClr val="bg1"/>
            </a:solidFill>
            <a:miter lim="800000"/>
          </a:ln>
        </p:spPr>
        <p:txBody>
          <a:bodyPr anchor="ctr"/>
          <a:lstStyle>
            <a:lvl1pPr algn="l" indent="0" marL="64008">
              <a:lnSpc>
                <a:spcPct val="100000"/>
              </a:lnSpc>
              <a:spcBef>
                <a:spcPts val="100"/>
              </a:spcBef>
              <a:buNone/>
              <a:defRPr b="0" sz="1900">
                <a:solidFill>
                  <a:schemeClr val="tx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596" name="Content Placeholder 4"/>
          <p:cNvSpPr>
            <a:spLocks noGrp="1"/>
          </p:cNvSpPr>
          <p:nvPr>
            <p:ph sz="quarter" idx="2"/>
          </p:nvPr>
        </p:nvSpPr>
        <p:spPr>
          <a:xfrm>
            <a:off x="571501" y="969336"/>
            <a:ext cx="5029200" cy="4114800"/>
          </a:xfrm>
          <a:ln w="10795">
            <a:solidFill>
              <a:schemeClr val="bg1"/>
            </a:solidFill>
            <a:prstDash val="dash"/>
            <a:miter lim="800000"/>
          </a:ln>
        </p:spPr>
        <p:txBody>
          <a:bodyPr/>
          <a:lstStyle>
            <a:lvl1pPr indent="-274320" marL="393192">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97" name="Content Placeholder 5"/>
          <p:cNvSpPr>
            <a:spLocks noGrp="1"/>
          </p:cNvSpPr>
          <p:nvPr>
            <p:ph sz="quarter" idx="4"/>
          </p:nvPr>
        </p:nvSpPr>
        <p:spPr>
          <a:xfrm>
            <a:off x="5829300" y="969336"/>
            <a:ext cx="5029200" cy="4114800"/>
          </a:xfrm>
          <a:ln w="10795">
            <a:solidFill>
              <a:schemeClr val="bg1"/>
            </a:solidFill>
            <a:prstDash val="dash"/>
            <a:miter lim="800000"/>
          </a:ln>
        </p:spPr>
        <p:txBody>
          <a:bodyPr/>
          <a:lstStyle>
            <a:lvl1pPr indent="-274320" marL="393192">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98" name="Date Placeholder 6"/>
          <p:cNvSpPr>
            <a:spLocks noGrp="1"/>
          </p:cNvSpPr>
          <p:nvPr>
            <p:ph type="dt" sz="half" idx="10"/>
          </p:nvPr>
        </p:nvSpPr>
        <p:spPr/>
        <p:txBody>
          <a:bodyPr/>
          <a:p>
            <a:fld id="{E71B229B-7477-4353-8D58-FA29C1AC45F6}" type="datetime1">
              <a:rPr lang="en-US" smtClean="0"/>
            </a:fld>
            <a:endParaRPr lang="en-US"/>
          </a:p>
        </p:txBody>
      </p:sp>
      <p:sp>
        <p:nvSpPr>
          <p:cNvPr id="1050599" name="Footer Placeholder 7"/>
          <p:cNvSpPr>
            <a:spLocks noGrp="1"/>
          </p:cNvSpPr>
          <p:nvPr>
            <p:ph type="ftr" sz="quarter" idx="11"/>
          </p:nvPr>
        </p:nvSpPr>
        <p:spPr/>
        <p:txBody>
          <a:bodyPr/>
          <a:p>
            <a:r>
              <a:rPr lang="en-US" smtClean="0"/>
              <a:t>@MUSOVYA2017</a:t>
            </a:r>
            <a:endParaRPr lang="en-US"/>
          </a:p>
        </p:txBody>
      </p:sp>
      <p:sp>
        <p:nvSpPr>
          <p:cNvPr id="1050600" name="Slide Number Placeholder 8"/>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57" name=""/>
        <p:cNvGrpSpPr/>
        <p:nvPr/>
      </p:nvGrpSpPr>
      <p:grpSpPr>
        <a:xfrm>
          <a:off x="0" y="0"/>
          <a:ext cx="0" cy="0"/>
          <a:chOff x="0" y="0"/>
          <a:chExt cx="0" cy="0"/>
        </a:xfrm>
      </p:grpSpPr>
      <p:sp>
        <p:nvSpPr>
          <p:cNvPr id="1050583" name="Title 1"/>
          <p:cNvSpPr>
            <a:spLocks noGrp="1"/>
          </p:cNvSpPr>
          <p:nvPr>
            <p:ph type="title"/>
          </p:nvPr>
        </p:nvSpPr>
        <p:spPr>
          <a:xfrm>
            <a:off x="1794509" y="274320"/>
            <a:ext cx="9372600" cy="1143000"/>
          </a:xfrm>
        </p:spPr>
        <p:txBody>
          <a:bodyPr anchor="ctr"/>
          <a:p>
            <a:r>
              <a:rPr kumimoji="0" lang="en-US" smtClean="0"/>
              <a:t>Click to edit Master title style</a:t>
            </a:r>
            <a:endParaRPr kumimoji="0" lang="en-US"/>
          </a:p>
        </p:txBody>
      </p:sp>
      <p:sp>
        <p:nvSpPr>
          <p:cNvPr id="1050584" name="Date Placeholder 2"/>
          <p:cNvSpPr>
            <a:spLocks noGrp="1"/>
          </p:cNvSpPr>
          <p:nvPr>
            <p:ph type="dt" sz="half" idx="10"/>
          </p:nvPr>
        </p:nvSpPr>
        <p:spPr/>
        <p:txBody>
          <a:bodyPr/>
          <a:p>
            <a:fld id="{7075AE55-7A5F-4292-8BFC-F684F164C6C2}" type="datetime1">
              <a:rPr lang="en-US" smtClean="0"/>
            </a:fld>
            <a:endParaRPr lang="en-US"/>
          </a:p>
        </p:txBody>
      </p:sp>
      <p:sp>
        <p:nvSpPr>
          <p:cNvPr id="1050585" name="Footer Placeholder 3"/>
          <p:cNvSpPr>
            <a:spLocks noGrp="1"/>
          </p:cNvSpPr>
          <p:nvPr>
            <p:ph type="ftr" sz="quarter" idx="11"/>
          </p:nvPr>
        </p:nvSpPr>
        <p:spPr/>
        <p:txBody>
          <a:bodyPr/>
          <a:p>
            <a:r>
              <a:rPr lang="en-US" smtClean="0"/>
              <a:t>@MUSOVYA2017</a:t>
            </a:r>
            <a:endParaRPr lang="en-US"/>
          </a:p>
        </p:txBody>
      </p:sp>
      <p:sp>
        <p:nvSpPr>
          <p:cNvPr id="1050586" name="Slide Number Placeholder 4"/>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1463" name=""/>
        <p:cNvGrpSpPr/>
        <p:nvPr/>
      </p:nvGrpSpPr>
      <p:grpSpPr>
        <a:xfrm>
          <a:off x="0" y="0"/>
          <a:ext cx="0" cy="0"/>
          <a:chOff x="0" y="0"/>
          <a:chExt cx="0" cy="0"/>
        </a:xfrm>
      </p:grpSpPr>
      <p:sp>
        <p:nvSpPr>
          <p:cNvPr id="1050624" name="Rectangle 4"/>
          <p:cNvSpPr/>
          <p:nvPr/>
        </p:nvSpPr>
        <p:spPr>
          <a:xfrm>
            <a:off x="1268731" y="0"/>
            <a:ext cx="10161271" cy="6858000"/>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625" name="Date Placeholder 1"/>
          <p:cNvSpPr>
            <a:spLocks noGrp="1"/>
          </p:cNvSpPr>
          <p:nvPr>
            <p:ph type="dt" sz="half" idx="10"/>
          </p:nvPr>
        </p:nvSpPr>
        <p:spPr/>
        <p:txBody>
          <a:bodyPr/>
          <a:p>
            <a:fld id="{C9F2E969-E789-4618-B5EF-CDDFA821F44E}" type="datetime1">
              <a:rPr lang="en-US" smtClean="0"/>
            </a:fld>
            <a:endParaRPr lang="en-US"/>
          </a:p>
        </p:txBody>
      </p:sp>
      <p:sp>
        <p:nvSpPr>
          <p:cNvPr id="1050626" name="Footer Placeholder 2"/>
          <p:cNvSpPr>
            <a:spLocks noGrp="1"/>
          </p:cNvSpPr>
          <p:nvPr>
            <p:ph type="ftr" sz="quarter" idx="11"/>
          </p:nvPr>
        </p:nvSpPr>
        <p:spPr/>
        <p:txBody>
          <a:bodyPr/>
          <a:p>
            <a:r>
              <a:rPr lang="en-US" smtClean="0"/>
              <a:t>@MUSOVYA2017</a:t>
            </a:r>
            <a:endParaRPr lang="en-US"/>
          </a:p>
        </p:txBody>
      </p:sp>
      <p:sp>
        <p:nvSpPr>
          <p:cNvPr id="1050627" name="Slide Number Placeholder 3"/>
          <p:cNvSpPr>
            <a:spLocks noGrp="1"/>
          </p:cNvSpPr>
          <p:nvPr>
            <p:ph type="sldNum" sz="quarter" idx="12"/>
          </p:nvPr>
        </p:nvSpPr>
        <p:spPr/>
        <p:txBody>
          <a:bodyPr/>
          <a:p>
            <a:fld id="{539D2A76-69E3-4600-8808-3C1A10934549}" type="slidenum">
              <a:rPr lang="en-US" smtClean="0"/>
            </a:fld>
            <a:endParaRPr lang="en-US"/>
          </a:p>
        </p:txBody>
      </p:sp>
      <p:sp>
        <p:nvSpPr>
          <p:cNvPr id="1050628" name="Rectangle 5"/>
          <p:cNvSpPr/>
          <p:nvPr/>
        </p:nvSpPr>
        <p:spPr bwMode="invGray">
          <a:xfrm>
            <a:off x="1268730" y="-53"/>
            <a:ext cx="91441"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showMasterSp="0" type="objTx">
  <p:cSld name="Content with Caption">
    <p:spTree>
      <p:nvGrpSpPr>
        <p:cNvPr id="1455" name=""/>
        <p:cNvGrpSpPr/>
        <p:nvPr/>
      </p:nvGrpSpPr>
      <p:grpSpPr>
        <a:xfrm>
          <a:off x="0" y="0"/>
          <a:ext cx="0" cy="0"/>
          <a:chOff x="0" y="0"/>
          <a:chExt cx="0" cy="0"/>
        </a:xfrm>
      </p:grpSpPr>
      <p:sp>
        <p:nvSpPr>
          <p:cNvPr id="1050572" name="Title 1"/>
          <p:cNvSpPr>
            <a:spLocks noGrp="1"/>
          </p:cNvSpPr>
          <p:nvPr>
            <p:ph type="title"/>
          </p:nvPr>
        </p:nvSpPr>
        <p:spPr>
          <a:xfrm>
            <a:off x="571501" y="216784"/>
            <a:ext cx="4762500" cy="1162051"/>
          </a:xfrm>
          <a:ln>
            <a:noFill/>
          </a:ln>
        </p:spPr>
        <p:txBody>
          <a:bodyPr anchor="b"/>
          <a:lstStyle>
            <a:lvl1pPr algn="l">
              <a:lnSpc>
                <a:spcPts val="2000"/>
              </a:lnSpc>
              <a:buNone/>
              <a:defRPr baseline="0" b="1" cap="all" sz="2200"/>
            </a:lvl1pPr>
          </a:lstStyle>
          <a:p>
            <a:r>
              <a:rPr kumimoji="0" lang="en-US" smtClean="0"/>
              <a:t>Click to edit Master title style</a:t>
            </a:r>
            <a:endParaRPr kumimoji="0" lang="en-US"/>
          </a:p>
        </p:txBody>
      </p:sp>
      <p:sp>
        <p:nvSpPr>
          <p:cNvPr id="1050573" name="Text Placeholder 2"/>
          <p:cNvSpPr>
            <a:spLocks noGrp="1"/>
          </p:cNvSpPr>
          <p:nvPr>
            <p:ph type="body" idx="2"/>
          </p:nvPr>
        </p:nvSpPr>
        <p:spPr>
          <a:xfrm>
            <a:off x="571501" y="1406966"/>
            <a:ext cx="4762500" cy="698500"/>
          </a:xfrm>
        </p:spPr>
        <p:txBody>
          <a:bodyPr/>
          <a:lstStyle>
            <a:lvl1pPr indent="0" marL="45720">
              <a:lnSpc>
                <a:spcPct val="100000"/>
              </a:lnSpc>
              <a:spcBef>
                <a:spcPts val="0"/>
              </a:spcBef>
              <a:buNone/>
              <a:defRPr sz="14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50574" name="Content Placeholder 3"/>
          <p:cNvSpPr>
            <a:spLocks noGrp="1"/>
          </p:cNvSpPr>
          <p:nvPr>
            <p:ph sz="half" idx="1"/>
          </p:nvPr>
        </p:nvSpPr>
        <p:spPr>
          <a:xfrm>
            <a:off x="571500" y="2133603"/>
            <a:ext cx="10191750" cy="3992563"/>
          </a:xfrm>
        </p:spPr>
        <p:txBody>
          <a:bodyPr/>
          <a:lstStyle>
            <a:lvl1pPr>
              <a:defRPr sz="3200"/>
            </a:lvl1pPr>
            <a:lvl2pPr>
              <a:defRPr sz="2800"/>
            </a:lvl2pPr>
            <a:lvl3pPr>
              <a:defRPr sz="2400"/>
            </a:lvl3pPr>
            <a:lvl4pPr>
              <a:defRPr sz="2000"/>
            </a:lvl4pPr>
            <a:lvl5pPr>
              <a:defRPr sz="20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75" name="Date Placeholder 4"/>
          <p:cNvSpPr>
            <a:spLocks noGrp="1"/>
          </p:cNvSpPr>
          <p:nvPr>
            <p:ph type="dt" sz="half" idx="10"/>
          </p:nvPr>
        </p:nvSpPr>
        <p:spPr/>
        <p:txBody>
          <a:bodyPr/>
          <a:p>
            <a:fld id="{A199E7AE-99D2-4242-A01C-A6FB32CE6E4C}" type="datetime1">
              <a:rPr lang="en-US" smtClean="0"/>
            </a:fld>
            <a:endParaRPr lang="en-US"/>
          </a:p>
        </p:txBody>
      </p:sp>
      <p:sp>
        <p:nvSpPr>
          <p:cNvPr id="1050576" name="Footer Placeholder 5"/>
          <p:cNvSpPr>
            <a:spLocks noGrp="1"/>
          </p:cNvSpPr>
          <p:nvPr>
            <p:ph type="ftr" sz="quarter" idx="11"/>
          </p:nvPr>
        </p:nvSpPr>
        <p:spPr/>
        <p:txBody>
          <a:bodyPr/>
          <a:p>
            <a:r>
              <a:rPr lang="en-US" smtClean="0"/>
              <a:t>@MUSOVYA2017</a:t>
            </a:r>
            <a:endParaRPr lang="en-US"/>
          </a:p>
        </p:txBody>
      </p:sp>
      <p:sp>
        <p:nvSpPr>
          <p:cNvPr id="1050577"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1460" name=""/>
        <p:cNvGrpSpPr/>
        <p:nvPr/>
      </p:nvGrpSpPr>
      <p:grpSpPr>
        <a:xfrm>
          <a:off x="0" y="0"/>
          <a:ext cx="0" cy="0"/>
          <a:chOff x="0" y="0"/>
          <a:chExt cx="0" cy="0"/>
        </a:xfrm>
      </p:grpSpPr>
      <p:sp>
        <p:nvSpPr>
          <p:cNvPr id="1050601" name="Title 1"/>
          <p:cNvSpPr>
            <a:spLocks noGrp="1"/>
          </p:cNvSpPr>
          <p:nvPr>
            <p:ph type="title"/>
          </p:nvPr>
        </p:nvSpPr>
        <p:spPr>
          <a:xfrm>
            <a:off x="7358621" y="1066800"/>
            <a:ext cx="3429000" cy="1981200"/>
          </a:xfrm>
        </p:spPr>
        <p:txBody>
          <a:bodyPr anchor="b">
            <a:noAutofit/>
          </a:bodyPr>
          <a:lstStyle>
            <a:lvl1pPr algn="l">
              <a:buNone/>
              <a:defRPr b="1" sz="2100">
                <a:effectLst/>
              </a:defRPr>
            </a:lvl1pPr>
          </a:lstStyle>
          <a:p>
            <a:r>
              <a:rPr kumimoji="0" lang="en-US" smtClean="0"/>
              <a:t>Click to edit Master title style</a:t>
            </a:r>
            <a:endParaRPr kumimoji="0" lang="en-US"/>
          </a:p>
        </p:txBody>
      </p:sp>
      <p:sp>
        <p:nvSpPr>
          <p:cNvPr id="1050602" name="Date Placeholder 4"/>
          <p:cNvSpPr>
            <a:spLocks noGrp="1"/>
          </p:cNvSpPr>
          <p:nvPr>
            <p:ph type="dt" sz="half" idx="10"/>
          </p:nvPr>
        </p:nvSpPr>
        <p:spPr/>
        <p:txBody>
          <a:bodyPr/>
          <a:p>
            <a:fld id="{5C941F15-02DA-41DA-B9C0-E17F880A7F43}" type="datetime1">
              <a:rPr lang="en-US" smtClean="0"/>
            </a:fld>
            <a:endParaRPr lang="en-US"/>
          </a:p>
        </p:txBody>
      </p:sp>
      <p:sp>
        <p:nvSpPr>
          <p:cNvPr id="1050603" name="Footer Placeholder 5"/>
          <p:cNvSpPr>
            <a:spLocks noGrp="1"/>
          </p:cNvSpPr>
          <p:nvPr>
            <p:ph type="ftr" sz="quarter" idx="11"/>
          </p:nvPr>
        </p:nvSpPr>
        <p:spPr/>
        <p:txBody>
          <a:bodyPr/>
          <a:p>
            <a:r>
              <a:rPr lang="en-US" smtClean="0"/>
              <a:t>@MUSOVYA2017</a:t>
            </a:r>
            <a:endParaRPr lang="en-US"/>
          </a:p>
        </p:txBody>
      </p:sp>
      <p:sp>
        <p:nvSpPr>
          <p:cNvPr id="1050604"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50605" name="Rectangle 7"/>
          <p:cNvSpPr/>
          <p:nvPr/>
        </p:nvSpPr>
        <p:spPr>
          <a:xfrm>
            <a:off x="952500" y="1066800"/>
            <a:ext cx="5715000" cy="4572000"/>
          </a:xfrm>
          <a:prstGeom prst="rect"/>
          <a:solidFill>
            <a:srgbClr val="FFFFFF"/>
          </a:solidFill>
          <a:ln w="88900" cap="sq">
            <a:solidFill>
              <a:srgbClr val="FFFFFF"/>
            </a:solidFill>
            <a:miter lim="800000"/>
          </a:ln>
          <a:effectLst>
            <a:outerShdw algn="tl" blurRad="55500" dir="5400000" dist="18500" rotWithShape="0">
              <a:srgbClr val="000000">
                <a:alpha val="35000"/>
              </a:srgbClr>
            </a:outerShdw>
          </a:effectLst>
          <a:scene3d>
            <a:camera prst="orthographicFront"/>
            <a:lightRig dir="t" rig="twoPt">
              <a:rot lat="0" lon="0" rev="7200000"/>
            </a:lightRig>
          </a:scene3d>
          <a:sp3d contourW="635">
            <a:bevelT w="25400" h="19050"/>
            <a:contourClr>
              <a:srgbClr val="969696"/>
            </a:contourClr>
          </a:sp3d>
        </p:spPr>
        <p:txBody>
          <a:bodyPr anchor="t" lIns="91440" rtlCol="0" tIns="274320">
            <a:normAutofit/>
          </a:bodyPr>
          <a:p>
            <a:pPr algn="l" eaLnBrk="1" hangingPunct="1" indent="-283464" latinLnBrk="0" marL="0" rtl="0">
              <a:lnSpc>
                <a:spcPts val="3000"/>
              </a:lnSpc>
              <a:spcBef>
                <a:spcPts val="600"/>
              </a:spcBef>
              <a:buClr>
                <a:schemeClr val="accent1"/>
              </a:buClr>
              <a:buSzPct val="80000"/>
              <a:buFont typeface="Wingdings 2"/>
              <a:buNone/>
            </a:pPr>
            <a:endParaRPr sz="3200" kern="1200" kumimoji="0" lang="en-US">
              <a:solidFill>
                <a:schemeClr val="tx1"/>
              </a:solidFill>
              <a:latin typeface="+mn-lt"/>
              <a:ea typeface="+mn-ea"/>
              <a:cs typeface="+mn-cs"/>
            </a:endParaRPr>
          </a:p>
        </p:txBody>
      </p:sp>
      <p:sp>
        <p:nvSpPr>
          <p:cNvPr id="1050606" name="Picture Placeholder 2"/>
          <p:cNvSpPr>
            <a:spLocks noGrp="1"/>
          </p:cNvSpPr>
          <p:nvPr>
            <p:ph type="pic" idx="1"/>
          </p:nvPr>
        </p:nvSpPr>
        <p:spPr>
          <a:xfrm>
            <a:off x="1047750" y="1143012"/>
            <a:ext cx="5524500" cy="3514531"/>
          </a:xfrm>
          <a:prstGeom prst="roundRect">
            <a:avLst>
              <a:gd name="adj" fmla="val 783"/>
            </a:avLst>
          </a:prstGeom>
          <a:solidFill>
            <a:schemeClr val="bg2"/>
          </a:solidFill>
          <a:ln w="127000">
            <a:noFill/>
            <a:miter lim="800000"/>
          </a:ln>
          <a:effectLst/>
        </p:spPr>
        <p:txBody>
          <a:bodyPr anchor="t" lIns="91440" tIns="274320"/>
          <a:lstStyle>
            <a:lvl1pPr indent="0">
              <a:buNone/>
              <a:defRPr sz="3200"/>
            </a:lvl1pPr>
          </a:lstStyle>
          <a:p>
            <a:pPr algn="l" eaLnBrk="1" hangingPunct="1" latinLnBrk="0" marL="0"/>
            <a:r>
              <a:rPr kumimoji="0" lang="en-US" smtClean="0"/>
              <a:t>Click icon to add picture</a:t>
            </a:r>
            <a:endParaRPr dirty="0" kumimoji="0" lang="en-US"/>
          </a:p>
        </p:txBody>
      </p:sp>
      <p:sp>
        <p:nvSpPr>
          <p:cNvPr id="1050607" name="Flowchart: Process 8"/>
          <p:cNvSpPr/>
          <p:nvPr/>
        </p:nvSpPr>
        <p:spPr>
          <a:xfrm rot="19468671">
            <a:off x="495906" y="954349"/>
            <a:ext cx="857250" cy="204311"/>
          </a:xfrm>
          <a:prstGeom prst="flowChartProcess"/>
          <a:solidFill>
            <a:srgbClr val="FBFBFB">
              <a:alpha val="45098"/>
            </a:srgbClr>
          </a:solidFill>
          <a:ln w="6350" cap="rnd" cmpd="sng" algn="ctr">
            <a:solidFill>
              <a:srgbClr val="FFFFFF">
                <a:alpha val="100000"/>
              </a:srgbClr>
            </a:solidFill>
            <a:prstDash val="solid"/>
          </a:ln>
          <a:effectLst>
            <a:outerShdw algn="tl" blurRad="25400" dir="3300000" dist="25400" rotWithShape="0" sx="96000" sy="9600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608" name="Flowchart: Process 9"/>
          <p:cNvSpPr/>
          <p:nvPr/>
        </p:nvSpPr>
        <p:spPr>
          <a:xfrm rot="2103354" flipH="1">
            <a:off x="6254587" y="936790"/>
            <a:ext cx="811529" cy="204311"/>
          </a:xfrm>
          <a:prstGeom prst="flowChartProcess"/>
          <a:solidFill>
            <a:srgbClr val="FBFBFB">
              <a:alpha val="45098"/>
            </a:srgbClr>
          </a:solidFill>
          <a:ln w="6350" cap="rnd" cmpd="sng" algn="ctr">
            <a:solidFill>
              <a:srgbClr val="FFFFFF">
                <a:alpha val="100000"/>
              </a:srgbClr>
            </a:solidFill>
            <a:prstDash val="solid"/>
          </a:ln>
          <a:effectLst>
            <a:outerShdw algn="tl" blurRad="25400" dir="3300000" dist="25400" rotWithShape="0" sx="96000" sy="9600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609" name="Text Placeholder 3"/>
          <p:cNvSpPr>
            <a:spLocks noGrp="1"/>
          </p:cNvSpPr>
          <p:nvPr>
            <p:ph type="body" sz="half" idx="2"/>
          </p:nvPr>
        </p:nvSpPr>
        <p:spPr>
          <a:xfrm>
            <a:off x="1047750" y="4800600"/>
            <a:ext cx="5524500" cy="762000"/>
          </a:xfrm>
        </p:spPr>
        <p:txBody>
          <a:bodyPr anchor="ctr"/>
          <a:lstStyle>
            <a:lvl1pPr algn="l" indent="0" marL="0">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Tree>
  </p:cSld>
  <p:clrMapOvr>
    <a:masterClrMapping/>
  </p:clrMapOvr>
  <p:transition xmlns:p14="http://schemas.microsoft.com/office/powerpoint/2010/main" spd="slow">
    <p:strips dir="ru"/>
  </p:transition>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56" name=""/>
        <p:cNvGrpSpPr/>
        <p:nvPr/>
      </p:nvGrpSpPr>
      <p:grpSpPr>
        <a:xfrm>
          <a:off x="0" y="0"/>
          <a:ext cx="0" cy="0"/>
          <a:chOff x="0" y="0"/>
          <a:chExt cx="0" cy="0"/>
        </a:xfrm>
      </p:grpSpPr>
      <p:sp>
        <p:nvSpPr>
          <p:cNvPr id="1050578" name="Title 1"/>
          <p:cNvSpPr>
            <a:spLocks noGrp="1"/>
          </p:cNvSpPr>
          <p:nvPr>
            <p:ph type="title"/>
          </p:nvPr>
        </p:nvSpPr>
        <p:spPr/>
        <p:txBody>
          <a:bodyPr/>
          <a:p>
            <a:r>
              <a:rPr kumimoji="0" lang="en-US" smtClean="0"/>
              <a:t>Click to edit Master title style</a:t>
            </a:r>
            <a:endParaRPr kumimoji="0" lang="en-US"/>
          </a:p>
        </p:txBody>
      </p:sp>
      <p:sp>
        <p:nvSpPr>
          <p:cNvPr id="1050579"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80" name="Date Placeholder 3"/>
          <p:cNvSpPr>
            <a:spLocks noGrp="1"/>
          </p:cNvSpPr>
          <p:nvPr>
            <p:ph type="dt" sz="half" idx="10"/>
          </p:nvPr>
        </p:nvSpPr>
        <p:spPr/>
        <p:txBody>
          <a:bodyPr/>
          <a:p>
            <a:fld id="{057EA745-1D84-4695-ABD1-433FBDE99774}" type="datetime1">
              <a:rPr lang="en-US" smtClean="0"/>
            </a:fld>
            <a:endParaRPr lang="en-US"/>
          </a:p>
        </p:txBody>
      </p:sp>
      <p:sp>
        <p:nvSpPr>
          <p:cNvPr id="1050581" name="Footer Placeholder 4"/>
          <p:cNvSpPr>
            <a:spLocks noGrp="1"/>
          </p:cNvSpPr>
          <p:nvPr>
            <p:ph type="ftr" sz="quarter" idx="11"/>
          </p:nvPr>
        </p:nvSpPr>
        <p:spPr/>
        <p:txBody>
          <a:bodyPr/>
          <a:p>
            <a:r>
              <a:rPr lang="en-US" smtClean="0"/>
              <a:t>@MUSOVYA2017</a:t>
            </a:r>
            <a:endParaRPr lang="en-US"/>
          </a:p>
        </p:txBody>
      </p:sp>
      <p:sp>
        <p:nvSpPr>
          <p:cNvPr id="1050582"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62" name=""/>
        <p:cNvGrpSpPr/>
        <p:nvPr/>
      </p:nvGrpSpPr>
      <p:grpSpPr>
        <a:xfrm>
          <a:off x="0" y="0"/>
          <a:ext cx="0" cy="0"/>
          <a:chOff x="0" y="0"/>
          <a:chExt cx="0" cy="0"/>
        </a:xfrm>
      </p:grpSpPr>
      <p:sp>
        <p:nvSpPr>
          <p:cNvPr id="1050619" name="Vertical Title 1"/>
          <p:cNvSpPr>
            <a:spLocks noGrp="1"/>
          </p:cNvSpPr>
          <p:nvPr>
            <p:ph type="title" orient="vert"/>
          </p:nvPr>
        </p:nvSpPr>
        <p:spPr>
          <a:xfrm>
            <a:off x="8572500" y="274647"/>
            <a:ext cx="2286000" cy="5851525"/>
          </a:xfrm>
        </p:spPr>
        <p:txBody>
          <a:bodyPr vert="eaVert"/>
          <a:p>
            <a:r>
              <a:rPr kumimoji="0" lang="en-US" smtClean="0"/>
              <a:t>Click to edit Master title style</a:t>
            </a:r>
            <a:endParaRPr kumimoji="0" lang="en-US"/>
          </a:p>
        </p:txBody>
      </p:sp>
      <p:sp>
        <p:nvSpPr>
          <p:cNvPr id="1050620" name="Vertical Text Placeholder 2"/>
          <p:cNvSpPr>
            <a:spLocks noGrp="1"/>
          </p:cNvSpPr>
          <p:nvPr>
            <p:ph type="body" orient="vert" idx="1"/>
          </p:nvPr>
        </p:nvSpPr>
        <p:spPr>
          <a:xfrm>
            <a:off x="1428750" y="274649"/>
            <a:ext cx="695325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621" name="Date Placeholder 3"/>
          <p:cNvSpPr>
            <a:spLocks noGrp="1"/>
          </p:cNvSpPr>
          <p:nvPr>
            <p:ph type="dt" sz="half" idx="10"/>
          </p:nvPr>
        </p:nvSpPr>
        <p:spPr/>
        <p:txBody>
          <a:bodyPr/>
          <a:p>
            <a:fld id="{B84D1B91-3481-4829-BE0B-6CCAC89F531B}" type="datetime1">
              <a:rPr lang="en-US" smtClean="0"/>
            </a:fld>
            <a:endParaRPr lang="en-US"/>
          </a:p>
        </p:txBody>
      </p:sp>
      <p:sp>
        <p:nvSpPr>
          <p:cNvPr id="1050622" name="Footer Placeholder 4"/>
          <p:cNvSpPr>
            <a:spLocks noGrp="1"/>
          </p:cNvSpPr>
          <p:nvPr>
            <p:ph type="ftr" sz="quarter" idx="11"/>
          </p:nvPr>
        </p:nvSpPr>
        <p:spPr/>
        <p:txBody>
          <a:bodyPr/>
          <a:p>
            <a:r>
              <a:rPr lang="en-US" smtClean="0"/>
              <a:t>@MUSOVYA2017</a:t>
            </a:r>
            <a:endParaRPr lang="en-US"/>
          </a:p>
        </p:txBody>
      </p:sp>
      <p:sp>
        <p:nvSpPr>
          <p:cNvPr id="1050623"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1030" name=""/>
        <p:cNvGrpSpPr/>
        <p:nvPr/>
      </p:nvGrpSpPr>
      <p:grpSpPr>
        <a:xfrm>
          <a:off x="0" y="0"/>
          <a:ext cx="0" cy="0"/>
          <a:chOff x="0" y="0"/>
          <a:chExt cx="0" cy="0"/>
        </a:xfrm>
      </p:grpSpPr>
      <p:sp>
        <p:nvSpPr>
          <p:cNvPr id="1049424" name="Rectangle 6"/>
          <p:cNvSpPr/>
          <p:nvPr/>
        </p:nvSpPr>
        <p:spPr bwMode="white">
          <a:xfrm>
            <a:off x="0" y="5971032"/>
            <a:ext cx="11430000" cy="886968"/>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425" name="Rectangle 9"/>
          <p:cNvSpPr/>
          <p:nvPr/>
        </p:nvSpPr>
        <p:spPr>
          <a:xfrm>
            <a:off x="-11429" y="6053328"/>
            <a:ext cx="2811779" cy="713232"/>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426" name="Rectangle 10"/>
          <p:cNvSpPr/>
          <p:nvPr/>
        </p:nvSpPr>
        <p:spPr>
          <a:xfrm>
            <a:off x="2948941" y="6044184"/>
            <a:ext cx="8481059" cy="713232"/>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427" name="Title 7"/>
          <p:cNvSpPr>
            <a:spLocks noGrp="1"/>
          </p:cNvSpPr>
          <p:nvPr>
            <p:ph type="ctrTitle"/>
          </p:nvPr>
        </p:nvSpPr>
        <p:spPr>
          <a:xfrm>
            <a:off x="2952750" y="4038600"/>
            <a:ext cx="8096250" cy="1828800"/>
          </a:xfrm>
        </p:spPr>
        <p:txBody>
          <a:bodyPr anchor="b"/>
          <a:lstStyle>
            <a:lvl1pPr>
              <a:defRPr baseline="0" cap="all"/>
            </a:lvl1pPr>
          </a:lstStyle>
          <a:p>
            <a:r>
              <a:rPr kumimoji="0" lang="en-US" smtClean="0"/>
              <a:t>Click to edit Master title style</a:t>
            </a:r>
            <a:endParaRPr kumimoji="0" lang="en-US"/>
          </a:p>
        </p:txBody>
      </p:sp>
      <p:sp>
        <p:nvSpPr>
          <p:cNvPr id="1049428" name="Subtitle 8"/>
          <p:cNvSpPr>
            <a:spLocks noGrp="1"/>
          </p:cNvSpPr>
          <p:nvPr>
            <p:ph type="subTitle" idx="1"/>
          </p:nvPr>
        </p:nvSpPr>
        <p:spPr>
          <a:xfrm>
            <a:off x="2952750" y="6050037"/>
            <a:ext cx="8382000" cy="685800"/>
          </a:xfrm>
        </p:spPr>
        <p:txBody>
          <a:bodyPr anchor="ctr">
            <a:normAutofit/>
          </a:bodyPr>
          <a:lstStyle>
            <a:lvl1pPr algn="l" indent="0" marL="0">
              <a:buNone/>
              <a:defRPr sz="2600">
                <a:solidFill>
                  <a:srgbClr val="FFFFFF"/>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9429" name="Date Placeholder 27"/>
          <p:cNvSpPr>
            <a:spLocks noGrp="1"/>
          </p:cNvSpPr>
          <p:nvPr>
            <p:ph type="dt" sz="half" idx="10"/>
          </p:nvPr>
        </p:nvSpPr>
        <p:spPr>
          <a:xfrm>
            <a:off x="95250" y="6068699"/>
            <a:ext cx="2571750" cy="685800"/>
          </a:xfrm>
        </p:spPr>
        <p:txBody>
          <a:bodyPr>
            <a:noAutofit/>
          </a:bodyPr>
          <a:lstStyle>
            <a:lvl1pPr algn="ctr">
              <a:defRPr sz="2000">
                <a:solidFill>
                  <a:srgbClr val="FFFFFF"/>
                </a:solidFill>
              </a:defRPr>
            </a:lvl1pPr>
          </a:lstStyle>
          <a:p>
            <a:fld id="{726211DE-6791-4A0A-96D7-D88B0800C109}" type="datetime1">
              <a:rPr lang="en-US" smtClean="0"/>
            </a:fld>
            <a:endParaRPr lang="en-US"/>
          </a:p>
        </p:txBody>
      </p:sp>
      <p:sp>
        <p:nvSpPr>
          <p:cNvPr id="1049430" name="Footer Placeholder 16"/>
          <p:cNvSpPr>
            <a:spLocks noGrp="1"/>
          </p:cNvSpPr>
          <p:nvPr>
            <p:ph type="ftr" sz="quarter" idx="11"/>
          </p:nvPr>
        </p:nvSpPr>
        <p:spPr>
          <a:xfrm>
            <a:off x="2606743" y="236547"/>
            <a:ext cx="7334250" cy="365125"/>
          </a:xfrm>
        </p:spPr>
        <p:txBody>
          <a:bodyPr/>
          <a:lstStyle>
            <a:lvl1pPr algn="r">
              <a:defRPr>
                <a:solidFill>
                  <a:schemeClr val="tx2"/>
                </a:solidFill>
              </a:defRPr>
            </a:lvl1pPr>
          </a:lstStyle>
          <a:p>
            <a:r>
              <a:rPr lang="en-US" smtClean="0"/>
              <a:t>@MUSOVYA2017</a:t>
            </a:r>
            <a:endParaRPr lang="en-US"/>
          </a:p>
        </p:txBody>
      </p:sp>
      <p:sp>
        <p:nvSpPr>
          <p:cNvPr id="1049431" name="Slide Number Placeholder 28"/>
          <p:cNvSpPr>
            <a:spLocks noGrp="1"/>
          </p:cNvSpPr>
          <p:nvPr>
            <p:ph type="sldNum" sz="quarter" idx="12"/>
          </p:nvPr>
        </p:nvSpPr>
        <p:spPr>
          <a:xfrm>
            <a:off x="10001250" y="228600"/>
            <a:ext cx="1047750" cy="381000"/>
          </a:xfrm>
        </p:spPr>
        <p:txBody>
          <a:bodyPr/>
          <a:lstStyle>
            <a:lvl1pPr>
              <a:defRPr>
                <a:solidFill>
                  <a:schemeClr val="tx2"/>
                </a:solidFill>
              </a:defRPr>
            </a:lvl1pPr>
          </a:lstStyle>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032" name=""/>
        <p:cNvGrpSpPr/>
        <p:nvPr/>
      </p:nvGrpSpPr>
      <p:grpSpPr>
        <a:xfrm>
          <a:off x="0" y="0"/>
          <a:ext cx="0" cy="0"/>
          <a:chOff x="0" y="0"/>
          <a:chExt cx="0" cy="0"/>
        </a:xfrm>
      </p:grpSpPr>
      <p:sp>
        <p:nvSpPr>
          <p:cNvPr id="1049433" name="Title 1"/>
          <p:cNvSpPr>
            <a:spLocks noGrp="1"/>
          </p:cNvSpPr>
          <p:nvPr>
            <p:ph type="title"/>
          </p:nvPr>
        </p:nvSpPr>
        <p:spPr>
          <a:xfrm>
            <a:off x="765809" y="228600"/>
            <a:ext cx="10191750" cy="990600"/>
          </a:xfrm>
        </p:spPr>
        <p:txBody>
          <a:bodyPr/>
          <a:p>
            <a:r>
              <a:rPr kumimoji="0" lang="en-US" smtClean="0"/>
              <a:t>Click to edit Master title style</a:t>
            </a:r>
            <a:endParaRPr kumimoji="0" lang="en-US"/>
          </a:p>
        </p:txBody>
      </p:sp>
      <p:sp>
        <p:nvSpPr>
          <p:cNvPr id="1049434" name="Date Placeholder 3"/>
          <p:cNvSpPr>
            <a:spLocks noGrp="1"/>
          </p:cNvSpPr>
          <p:nvPr>
            <p:ph type="dt" sz="half" idx="10"/>
          </p:nvPr>
        </p:nvSpPr>
        <p:spPr/>
        <p:txBody>
          <a:bodyPr/>
          <a:p>
            <a:fld id="{F71D0071-DEB1-4C82-A35C-7866F21E4220}" type="datetime1">
              <a:rPr lang="en-US" smtClean="0"/>
            </a:fld>
            <a:endParaRPr lang="en-US"/>
          </a:p>
        </p:txBody>
      </p:sp>
      <p:sp>
        <p:nvSpPr>
          <p:cNvPr id="1049435" name="Footer Placeholder 4"/>
          <p:cNvSpPr>
            <a:spLocks noGrp="1"/>
          </p:cNvSpPr>
          <p:nvPr>
            <p:ph type="ftr" sz="quarter" idx="11"/>
          </p:nvPr>
        </p:nvSpPr>
        <p:spPr/>
        <p:txBody>
          <a:bodyPr/>
          <a:p>
            <a:r>
              <a:rPr lang="en-US" smtClean="0"/>
              <a:t>@MUSOVYA2017</a:t>
            </a:r>
            <a:endParaRPr lang="en-US"/>
          </a:p>
        </p:txBody>
      </p:sp>
      <p:sp>
        <p:nvSpPr>
          <p:cNvPr id="1049436" name="Slide Number Placeholder 5"/>
          <p:cNvSpPr>
            <a:spLocks noGrp="1"/>
          </p:cNvSpPr>
          <p:nvPr>
            <p:ph type="sldNum" sz="quarter" idx="12"/>
          </p:nvPr>
        </p:nvSpPr>
        <p:spPr/>
        <p:txBody>
          <a:bodyPr/>
          <a:lstStyle>
            <a:lvl1pPr>
              <a:defRPr>
                <a:solidFill>
                  <a:srgbClr val="FFFFFF"/>
                </a:solidFill>
              </a:defRPr>
            </a:lvl1pPr>
          </a:lstStyle>
          <a:p>
            <a:fld id="{539D2A76-69E3-4600-8808-3C1A10934549}" type="slidenum">
              <a:rPr lang="en-US" smtClean="0"/>
            </a:fld>
            <a:endParaRPr lang="en-US"/>
          </a:p>
        </p:txBody>
      </p:sp>
      <p:sp>
        <p:nvSpPr>
          <p:cNvPr id="1049437" name="Content Placeholder 7"/>
          <p:cNvSpPr>
            <a:spLocks noGrp="1"/>
          </p:cNvSpPr>
          <p:nvPr>
            <p:ph sz="quarter" idx="1"/>
          </p:nvPr>
        </p:nvSpPr>
        <p:spPr>
          <a:xfrm>
            <a:off x="765809" y="1600200"/>
            <a:ext cx="10191750" cy="44958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spd="slow">
    <p:strips dir="ru"/>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showMasterSp="0" type="secHead">
  <p:cSld name="Section Header">
    <p:spTree>
      <p:nvGrpSpPr>
        <p:cNvPr id="1415" name=""/>
        <p:cNvGrpSpPr/>
        <p:nvPr/>
      </p:nvGrpSpPr>
      <p:grpSpPr>
        <a:xfrm>
          <a:off x="0" y="0"/>
          <a:ext cx="0" cy="0"/>
          <a:chOff x="0" y="0"/>
          <a:chExt cx="0" cy="0"/>
        </a:xfrm>
      </p:grpSpPr>
      <p:sp>
        <p:nvSpPr>
          <p:cNvPr id="1050298" name="Text Placeholder 2"/>
          <p:cNvSpPr>
            <a:spLocks noGrp="1"/>
          </p:cNvSpPr>
          <p:nvPr>
            <p:ph type="body" idx="1"/>
          </p:nvPr>
        </p:nvSpPr>
        <p:spPr>
          <a:xfrm>
            <a:off x="1714509" y="2743209"/>
            <a:ext cx="8903892" cy="1673225"/>
          </a:xfrm>
        </p:spPr>
        <p:txBody>
          <a:bodyPr anchor="t"/>
          <a:lstStyle>
            <a:lvl1pPr indent="0" marL="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299" name="Rectangle 6"/>
          <p:cNvSpPr/>
          <p:nvPr/>
        </p:nvSpPr>
        <p:spPr bwMode="white">
          <a:xfrm>
            <a:off x="0" y="1524000"/>
            <a:ext cx="11430000" cy="1143000"/>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00" name="Rectangle 7"/>
          <p:cNvSpPr/>
          <p:nvPr/>
        </p:nvSpPr>
        <p:spPr>
          <a:xfrm>
            <a:off x="0" y="1600200"/>
            <a:ext cx="1619250" cy="990600"/>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01" name="Rectangle 8"/>
          <p:cNvSpPr/>
          <p:nvPr/>
        </p:nvSpPr>
        <p:spPr>
          <a:xfrm>
            <a:off x="1714500" y="1600200"/>
            <a:ext cx="9715500" cy="990600"/>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02" name="Title 1"/>
          <p:cNvSpPr>
            <a:spLocks noGrp="1"/>
          </p:cNvSpPr>
          <p:nvPr>
            <p:ph type="title"/>
          </p:nvPr>
        </p:nvSpPr>
        <p:spPr>
          <a:xfrm>
            <a:off x="1714500" y="1600200"/>
            <a:ext cx="9525000" cy="990600"/>
          </a:xfrm>
        </p:spPr>
        <p:txBody>
          <a:bodyPr/>
          <a:lstStyle>
            <a:lvl1pPr algn="l">
              <a:buNone/>
              <a:defRPr b="0" cap="none" sz="4400">
                <a:solidFill>
                  <a:srgbClr val="FFFFFF"/>
                </a:solidFill>
              </a:defRPr>
            </a:lvl1pPr>
          </a:lstStyle>
          <a:p>
            <a:r>
              <a:rPr kumimoji="0" lang="en-US" smtClean="0"/>
              <a:t>Click to edit Master title style</a:t>
            </a:r>
            <a:endParaRPr kumimoji="0" lang="en-US"/>
          </a:p>
        </p:txBody>
      </p:sp>
      <p:sp>
        <p:nvSpPr>
          <p:cNvPr id="1050303" name="Date Placeholder 11"/>
          <p:cNvSpPr>
            <a:spLocks noGrp="1"/>
          </p:cNvSpPr>
          <p:nvPr>
            <p:ph type="dt" sz="half" idx="10"/>
          </p:nvPr>
        </p:nvSpPr>
        <p:spPr/>
        <p:txBody>
          <a:bodyPr/>
          <a:p>
            <a:fld id="{6D96A2B6-AC3B-402A-BFEB-C70433FD6ED0}" type="datetime1">
              <a:rPr lang="en-US" smtClean="0"/>
            </a:fld>
            <a:endParaRPr lang="en-US"/>
          </a:p>
        </p:txBody>
      </p:sp>
      <p:sp>
        <p:nvSpPr>
          <p:cNvPr id="1050304" name="Slide Number Placeholder 12"/>
          <p:cNvSpPr>
            <a:spLocks noGrp="1"/>
          </p:cNvSpPr>
          <p:nvPr>
            <p:ph type="sldNum" sz="quarter" idx="11"/>
          </p:nvPr>
        </p:nvSpPr>
        <p:spPr>
          <a:xfrm>
            <a:off x="0" y="1752601"/>
            <a:ext cx="1619250" cy="701676"/>
          </a:xfrm>
        </p:spPr>
        <p:txBody>
          <a:bodyPr>
            <a:noAutofit/>
          </a:bodyPr>
          <a:lstStyle>
            <a:lvl1pPr>
              <a:defRPr sz="2400">
                <a:solidFill>
                  <a:srgbClr val="FFFFFF"/>
                </a:solidFill>
              </a:defRPr>
            </a:lvl1pPr>
          </a:lstStyle>
          <a:p>
            <a:fld id="{539D2A76-69E3-4600-8808-3C1A10934549}" type="slidenum">
              <a:rPr lang="en-US" smtClean="0"/>
            </a:fld>
            <a:endParaRPr lang="en-US"/>
          </a:p>
        </p:txBody>
      </p:sp>
      <p:sp>
        <p:nvSpPr>
          <p:cNvPr id="1050305" name="Footer Placeholder 13"/>
          <p:cNvSpPr>
            <a:spLocks noGrp="1"/>
          </p:cNvSpPr>
          <p:nvPr>
            <p:ph type="ftr" sz="quarter" idx="12"/>
          </p:nvPr>
        </p:nvSpPr>
        <p:spPr/>
        <p:txBody>
          <a:bodyPr/>
          <a:p>
            <a:r>
              <a:rPr lang="en-US" smtClean="0"/>
              <a:t>@MUSOVYA2017</a:t>
            </a:r>
            <a:endParaRPr lang="en-US"/>
          </a:p>
        </p:txBody>
      </p:sp>
    </p:spTree>
  </p:cSld>
  <p:clrMapOvr>
    <a:masterClrMapping/>
  </p:clrMapOvr>
  <p:transition xmlns:p14="http://schemas.microsoft.com/office/powerpoint/2010/main" spd="slow">
    <p:strips dir="ru"/>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416" name=""/>
        <p:cNvGrpSpPr/>
        <p:nvPr/>
      </p:nvGrpSpPr>
      <p:grpSpPr>
        <a:xfrm>
          <a:off x="0" y="0"/>
          <a:ext cx="0" cy="0"/>
          <a:chOff x="0" y="0"/>
          <a:chExt cx="0" cy="0"/>
        </a:xfrm>
      </p:grpSpPr>
      <p:sp>
        <p:nvSpPr>
          <p:cNvPr id="1050306" name="Title 1"/>
          <p:cNvSpPr>
            <a:spLocks noGrp="1"/>
          </p:cNvSpPr>
          <p:nvPr>
            <p:ph type="title"/>
          </p:nvPr>
        </p:nvSpPr>
        <p:spPr/>
        <p:txBody>
          <a:bodyPr/>
          <a:p>
            <a:r>
              <a:rPr kumimoji="0" lang="en-US" smtClean="0"/>
              <a:t>Click to edit Master title style</a:t>
            </a:r>
            <a:endParaRPr kumimoji="0" lang="en-US"/>
          </a:p>
        </p:txBody>
      </p:sp>
      <p:sp>
        <p:nvSpPr>
          <p:cNvPr id="1050307" name="Content Placeholder 8"/>
          <p:cNvSpPr>
            <a:spLocks noGrp="1"/>
          </p:cNvSpPr>
          <p:nvPr>
            <p:ph sz="quarter" idx="1"/>
          </p:nvPr>
        </p:nvSpPr>
        <p:spPr>
          <a:xfrm>
            <a:off x="762000" y="1589567"/>
            <a:ext cx="4857750" cy="45720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308" name="Content Placeholder 10"/>
          <p:cNvSpPr>
            <a:spLocks noGrp="1"/>
          </p:cNvSpPr>
          <p:nvPr>
            <p:ph sz="quarter" idx="2"/>
          </p:nvPr>
        </p:nvSpPr>
        <p:spPr>
          <a:xfrm>
            <a:off x="6056127" y="1589567"/>
            <a:ext cx="4857750" cy="45720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309" name="Date Placeholder 7"/>
          <p:cNvSpPr>
            <a:spLocks noGrp="1"/>
          </p:cNvSpPr>
          <p:nvPr>
            <p:ph type="dt" sz="half" idx="15"/>
          </p:nvPr>
        </p:nvSpPr>
        <p:spPr/>
        <p:txBody>
          <a:bodyPr rtlCol="0"/>
          <a:p>
            <a:fld id="{6FB5150E-CA52-434A-83AC-9C900B4F990F}" type="datetime1">
              <a:rPr lang="en-US" smtClean="0"/>
            </a:fld>
            <a:endParaRPr lang="en-US"/>
          </a:p>
        </p:txBody>
      </p:sp>
      <p:sp>
        <p:nvSpPr>
          <p:cNvPr id="1050310" name="Slide Number Placeholder 9"/>
          <p:cNvSpPr>
            <a:spLocks noGrp="1"/>
          </p:cNvSpPr>
          <p:nvPr>
            <p:ph type="sldNum" sz="quarter" idx="16"/>
          </p:nvPr>
        </p:nvSpPr>
        <p:spPr/>
        <p:txBody>
          <a:bodyPr rtlCol="0"/>
          <a:p>
            <a:fld id="{539D2A76-69E3-4600-8808-3C1A10934549}" type="slidenum">
              <a:rPr lang="en-US" smtClean="0"/>
            </a:fld>
            <a:endParaRPr lang="en-US"/>
          </a:p>
        </p:txBody>
      </p:sp>
      <p:sp>
        <p:nvSpPr>
          <p:cNvPr id="1050311" name="Footer Placeholder 11"/>
          <p:cNvSpPr>
            <a:spLocks noGrp="1"/>
          </p:cNvSpPr>
          <p:nvPr>
            <p:ph type="ftr" sz="quarter" idx="17"/>
          </p:nvPr>
        </p:nvSpPr>
        <p:spPr/>
        <p:txBody>
          <a:bodyPr rtlCol="0"/>
          <a:p>
            <a:r>
              <a:rPr lang="en-US" smtClean="0"/>
              <a:t>@MUSOVYA2017</a:t>
            </a:r>
            <a:endParaRPr lang="en-US"/>
          </a:p>
        </p:txBody>
      </p:sp>
    </p:spTree>
  </p:cSld>
  <p:clrMapOvr>
    <a:masterClrMapping/>
  </p:clrMapOvr>
  <p:transition xmlns:p14="http://schemas.microsoft.com/office/powerpoint/2010/main" spd="slow">
    <p:strips dir="ru"/>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17" name=""/>
        <p:cNvGrpSpPr/>
        <p:nvPr/>
      </p:nvGrpSpPr>
      <p:grpSpPr>
        <a:xfrm>
          <a:off x="0" y="0"/>
          <a:ext cx="0" cy="0"/>
          <a:chOff x="0" y="0"/>
          <a:chExt cx="0" cy="0"/>
        </a:xfrm>
      </p:grpSpPr>
      <p:sp>
        <p:nvSpPr>
          <p:cNvPr id="1050312" name="Title 1"/>
          <p:cNvSpPr>
            <a:spLocks noGrp="1"/>
          </p:cNvSpPr>
          <p:nvPr>
            <p:ph type="title"/>
          </p:nvPr>
        </p:nvSpPr>
        <p:spPr>
          <a:xfrm>
            <a:off x="666750" y="273058"/>
            <a:ext cx="10191750" cy="869951"/>
          </a:xfrm>
        </p:spPr>
        <p:txBody>
          <a:bodyPr anchor="ctr"/>
          <a:p>
            <a:r>
              <a:rPr kumimoji="0" lang="en-US" smtClean="0"/>
              <a:t>Click to edit Master title style</a:t>
            </a:r>
            <a:endParaRPr kumimoji="0" lang="en-US"/>
          </a:p>
        </p:txBody>
      </p:sp>
      <p:sp>
        <p:nvSpPr>
          <p:cNvPr id="1050313" name="Content Placeholder 10"/>
          <p:cNvSpPr>
            <a:spLocks noGrp="1"/>
          </p:cNvSpPr>
          <p:nvPr>
            <p:ph sz="quarter" idx="2"/>
          </p:nvPr>
        </p:nvSpPr>
        <p:spPr>
          <a:xfrm>
            <a:off x="762000" y="2438400"/>
            <a:ext cx="4857750" cy="35814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314" name="Content Placeholder 12"/>
          <p:cNvSpPr>
            <a:spLocks noGrp="1"/>
          </p:cNvSpPr>
          <p:nvPr>
            <p:ph sz="quarter" idx="4"/>
          </p:nvPr>
        </p:nvSpPr>
        <p:spPr>
          <a:xfrm>
            <a:off x="6000750" y="2438400"/>
            <a:ext cx="4857750" cy="35814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315" name="Date Placeholder 9"/>
          <p:cNvSpPr>
            <a:spLocks noGrp="1"/>
          </p:cNvSpPr>
          <p:nvPr>
            <p:ph type="dt" sz="half" idx="15"/>
          </p:nvPr>
        </p:nvSpPr>
        <p:spPr/>
        <p:txBody>
          <a:bodyPr rtlCol="0"/>
          <a:p>
            <a:fld id="{7AED631F-34C6-454B-B7BC-A2F903818B98}" type="datetime1">
              <a:rPr lang="en-US" smtClean="0"/>
            </a:fld>
            <a:endParaRPr lang="en-US"/>
          </a:p>
        </p:txBody>
      </p:sp>
      <p:sp>
        <p:nvSpPr>
          <p:cNvPr id="1050316" name="Slide Number Placeholder 11"/>
          <p:cNvSpPr>
            <a:spLocks noGrp="1"/>
          </p:cNvSpPr>
          <p:nvPr>
            <p:ph type="sldNum" sz="quarter" idx="16"/>
          </p:nvPr>
        </p:nvSpPr>
        <p:spPr/>
        <p:txBody>
          <a:bodyPr rtlCol="0"/>
          <a:p>
            <a:fld id="{539D2A76-69E3-4600-8808-3C1A10934549}" type="slidenum">
              <a:rPr lang="en-US" smtClean="0"/>
            </a:fld>
            <a:endParaRPr lang="en-US"/>
          </a:p>
        </p:txBody>
      </p:sp>
      <p:sp>
        <p:nvSpPr>
          <p:cNvPr id="1050317" name="Footer Placeholder 13"/>
          <p:cNvSpPr>
            <a:spLocks noGrp="1"/>
          </p:cNvSpPr>
          <p:nvPr>
            <p:ph type="ftr" sz="quarter" idx="17"/>
          </p:nvPr>
        </p:nvSpPr>
        <p:spPr/>
        <p:txBody>
          <a:bodyPr rtlCol="0"/>
          <a:p>
            <a:r>
              <a:rPr lang="en-US" smtClean="0"/>
              <a:t>@MUSOVYA2017</a:t>
            </a:r>
            <a:endParaRPr lang="en-US"/>
          </a:p>
        </p:txBody>
      </p:sp>
      <p:sp>
        <p:nvSpPr>
          <p:cNvPr id="1050318" name="Text Placeholder 15"/>
          <p:cNvSpPr>
            <a:spLocks noGrp="1"/>
          </p:cNvSpPr>
          <p:nvPr>
            <p:ph type="body" sz="quarter" idx="1"/>
          </p:nvPr>
        </p:nvSpPr>
        <p:spPr>
          <a:xfrm>
            <a:off x="762000" y="1752600"/>
            <a:ext cx="4857750" cy="640080"/>
          </a:xfrm>
          <a:solidFill>
            <a:schemeClr val="accent2"/>
          </a:solidFill>
        </p:spPr>
        <p:txBody>
          <a:bodyPr anchor="ctr" rtlCol="0"/>
          <a:lstStyle>
            <a:lvl1pPr indent="0" marL="0">
              <a:buFontTx/>
              <a:buNone/>
              <a:defRPr b="1" sz="2000">
                <a:solidFill>
                  <a:srgbClr val="FFFFFF"/>
                </a:solidFill>
              </a:defRPr>
            </a:lvl1pPr>
          </a:lstStyle>
          <a:p>
            <a:pPr eaLnBrk="1" hangingPunct="1" latinLnBrk="0" lvl="0"/>
            <a:r>
              <a:rPr kumimoji="0" lang="en-US" smtClean="0"/>
              <a:t>Click to edit Master text styles</a:t>
            </a:r>
          </a:p>
        </p:txBody>
      </p:sp>
      <p:sp>
        <p:nvSpPr>
          <p:cNvPr id="1050319" name="Text Placeholder 14"/>
          <p:cNvSpPr>
            <a:spLocks noGrp="1"/>
          </p:cNvSpPr>
          <p:nvPr>
            <p:ph type="body" sz="quarter" idx="3"/>
          </p:nvPr>
        </p:nvSpPr>
        <p:spPr>
          <a:xfrm>
            <a:off x="6000750" y="1752600"/>
            <a:ext cx="4857750" cy="640080"/>
          </a:xfrm>
          <a:solidFill>
            <a:schemeClr val="accent4"/>
          </a:solidFill>
        </p:spPr>
        <p:txBody>
          <a:bodyPr anchor="ctr" rtlCol="0"/>
          <a:lstStyle>
            <a:lvl1pPr indent="0" marL="0">
              <a:buFontTx/>
              <a:buNone/>
              <a:defRPr b="1" sz="2000">
                <a:solidFill>
                  <a:srgbClr val="FFFFFF"/>
                </a:solidFill>
              </a:defRPr>
            </a:lvl1pPr>
          </a:lstStyle>
          <a:p>
            <a:pPr eaLnBrk="1" hangingPunct="1" latinLnBrk="0" lvl="0"/>
            <a:r>
              <a:rPr kumimoji="0" lang="en-US" smtClean="0"/>
              <a:t>Click to edit Master text styles</a:t>
            </a:r>
          </a:p>
        </p:txBody>
      </p:sp>
    </p:spTree>
  </p:cSld>
  <p:clrMapOvr>
    <a:masterClrMapping/>
  </p:clrMapOvr>
  <p:transition xmlns:p14="http://schemas.microsoft.com/office/powerpoint/2010/main" spd="slow">
    <p:strips dir="ru"/>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20" name=""/>
        <p:cNvGrpSpPr/>
        <p:nvPr/>
      </p:nvGrpSpPr>
      <p:grpSpPr>
        <a:xfrm>
          <a:off x="0" y="0"/>
          <a:ext cx="0" cy="0"/>
          <a:chOff x="0" y="0"/>
          <a:chExt cx="0" cy="0"/>
        </a:xfrm>
      </p:grpSpPr>
      <p:sp>
        <p:nvSpPr>
          <p:cNvPr id="1050329" name="Title 1"/>
          <p:cNvSpPr>
            <a:spLocks noGrp="1"/>
          </p:cNvSpPr>
          <p:nvPr>
            <p:ph type="title"/>
          </p:nvPr>
        </p:nvSpPr>
        <p:spPr/>
        <p:txBody>
          <a:bodyPr/>
          <a:p>
            <a:r>
              <a:rPr kumimoji="0" lang="en-US" smtClean="0"/>
              <a:t>Click to edit Master title style</a:t>
            </a:r>
            <a:endParaRPr kumimoji="0" lang="en-US"/>
          </a:p>
        </p:txBody>
      </p:sp>
      <p:sp>
        <p:nvSpPr>
          <p:cNvPr id="1050330" name="Date Placeholder 2"/>
          <p:cNvSpPr>
            <a:spLocks noGrp="1"/>
          </p:cNvSpPr>
          <p:nvPr>
            <p:ph type="dt" sz="half" idx="10"/>
          </p:nvPr>
        </p:nvSpPr>
        <p:spPr/>
        <p:txBody>
          <a:bodyPr/>
          <a:p>
            <a:fld id="{5F029753-004C-4572-A685-E698046AB10E}" type="datetime1">
              <a:rPr lang="en-US" smtClean="0"/>
            </a:fld>
            <a:endParaRPr lang="en-US"/>
          </a:p>
        </p:txBody>
      </p:sp>
      <p:sp>
        <p:nvSpPr>
          <p:cNvPr id="1050331" name="Footer Placeholder 3"/>
          <p:cNvSpPr>
            <a:spLocks noGrp="1"/>
          </p:cNvSpPr>
          <p:nvPr>
            <p:ph type="ftr" sz="quarter" idx="11"/>
          </p:nvPr>
        </p:nvSpPr>
        <p:spPr/>
        <p:txBody>
          <a:bodyPr/>
          <a:p>
            <a:r>
              <a:rPr lang="en-US" smtClean="0"/>
              <a:t>@MUSOVYA2017</a:t>
            </a:r>
            <a:endParaRPr lang="en-US"/>
          </a:p>
        </p:txBody>
      </p:sp>
      <p:sp>
        <p:nvSpPr>
          <p:cNvPr id="1050332" name="Slide Number Placeholder 4"/>
          <p:cNvSpPr>
            <a:spLocks noGrp="1"/>
          </p:cNvSpPr>
          <p:nvPr>
            <p:ph type="sldNum" sz="quarter" idx="12"/>
          </p:nvPr>
        </p:nvSpPr>
        <p:spPr/>
        <p:txBody>
          <a:bodyPr/>
          <a:lstStyle>
            <a:lvl1pPr>
              <a:defRPr>
                <a:solidFill>
                  <a:srgbClr val="FFFFFF"/>
                </a:solidFill>
              </a:defRPr>
            </a:lvl1pPr>
          </a:lstStyle>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1418" name=""/>
        <p:cNvGrpSpPr/>
        <p:nvPr/>
      </p:nvGrpSpPr>
      <p:grpSpPr>
        <a:xfrm>
          <a:off x="0" y="0"/>
          <a:ext cx="0" cy="0"/>
          <a:chOff x="0" y="0"/>
          <a:chExt cx="0" cy="0"/>
        </a:xfrm>
      </p:grpSpPr>
      <p:sp>
        <p:nvSpPr>
          <p:cNvPr id="1050320" name="Date Placeholder 1"/>
          <p:cNvSpPr>
            <a:spLocks noGrp="1"/>
          </p:cNvSpPr>
          <p:nvPr>
            <p:ph type="dt" sz="half" idx="10"/>
          </p:nvPr>
        </p:nvSpPr>
        <p:spPr/>
        <p:txBody>
          <a:bodyPr/>
          <a:p>
            <a:fld id="{FD1537DD-C247-4EB6-B6D9-5E332FFF517E}" type="datetime1">
              <a:rPr lang="en-US" smtClean="0"/>
            </a:fld>
            <a:endParaRPr lang="en-US"/>
          </a:p>
        </p:txBody>
      </p:sp>
      <p:sp>
        <p:nvSpPr>
          <p:cNvPr id="1050321" name="Footer Placeholder 2"/>
          <p:cNvSpPr>
            <a:spLocks noGrp="1"/>
          </p:cNvSpPr>
          <p:nvPr>
            <p:ph type="ftr" sz="quarter" idx="11"/>
          </p:nvPr>
        </p:nvSpPr>
        <p:spPr/>
        <p:txBody>
          <a:bodyPr/>
          <a:p>
            <a:r>
              <a:rPr lang="en-US" smtClean="0"/>
              <a:t>@MUSOVYA2017</a:t>
            </a:r>
            <a:endParaRPr lang="en-US"/>
          </a:p>
        </p:txBody>
      </p:sp>
      <p:sp>
        <p:nvSpPr>
          <p:cNvPr id="1050322" name="Slide Number Placeholder 3"/>
          <p:cNvSpPr>
            <a:spLocks noGrp="1"/>
          </p:cNvSpPr>
          <p:nvPr>
            <p:ph type="sldNum" sz="quarter" idx="12"/>
          </p:nvPr>
        </p:nvSpPr>
        <p:spPr>
          <a:xfrm>
            <a:off x="0" y="6248400"/>
            <a:ext cx="666750" cy="381000"/>
          </a:xfrm>
        </p:spPr>
        <p:txBody>
          <a:bodyPr/>
          <a:lstStyle>
            <a:lvl1pPr>
              <a:defRPr>
                <a:solidFill>
                  <a:schemeClr val="tx2"/>
                </a:solidFill>
              </a:defRPr>
            </a:lvl1pPr>
          </a:lstStyle>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19" name=""/>
        <p:cNvGrpSpPr/>
        <p:nvPr/>
      </p:nvGrpSpPr>
      <p:grpSpPr>
        <a:xfrm>
          <a:off x="0" y="0"/>
          <a:ext cx="0" cy="0"/>
          <a:chOff x="0" y="0"/>
          <a:chExt cx="0" cy="0"/>
        </a:xfrm>
      </p:grpSpPr>
      <p:sp>
        <p:nvSpPr>
          <p:cNvPr id="1050323" name="Title 1"/>
          <p:cNvSpPr>
            <a:spLocks noGrp="1"/>
          </p:cNvSpPr>
          <p:nvPr>
            <p:ph type="title"/>
          </p:nvPr>
        </p:nvSpPr>
        <p:spPr>
          <a:xfrm>
            <a:off x="762000" y="273058"/>
            <a:ext cx="10096500" cy="869951"/>
          </a:xfrm>
        </p:spPr>
        <p:txBody>
          <a:bodyPr anchor="ctr"/>
          <a:lstStyle>
            <a:lvl1pPr algn="l">
              <a:buNone/>
              <a:defRPr b="0" sz="4400"/>
            </a:lvl1pPr>
          </a:lstStyle>
          <a:p>
            <a:r>
              <a:rPr kumimoji="0" lang="en-US" smtClean="0"/>
              <a:t>Click to edit Master title style</a:t>
            </a:r>
            <a:endParaRPr kumimoji="0" lang="en-US"/>
          </a:p>
        </p:txBody>
      </p:sp>
      <p:sp>
        <p:nvSpPr>
          <p:cNvPr id="1050324" name="Date Placeholder 4"/>
          <p:cNvSpPr>
            <a:spLocks noGrp="1"/>
          </p:cNvSpPr>
          <p:nvPr>
            <p:ph type="dt" sz="half" idx="10"/>
          </p:nvPr>
        </p:nvSpPr>
        <p:spPr/>
        <p:txBody>
          <a:bodyPr/>
          <a:p>
            <a:fld id="{2DE30CF8-D1FE-4C66-8F27-680093A41E93}" type="datetime1">
              <a:rPr lang="en-US" smtClean="0"/>
            </a:fld>
            <a:endParaRPr lang="en-US"/>
          </a:p>
        </p:txBody>
      </p:sp>
      <p:sp>
        <p:nvSpPr>
          <p:cNvPr id="1050325" name="Footer Placeholder 5"/>
          <p:cNvSpPr>
            <a:spLocks noGrp="1"/>
          </p:cNvSpPr>
          <p:nvPr>
            <p:ph type="ftr" sz="quarter" idx="11"/>
          </p:nvPr>
        </p:nvSpPr>
        <p:spPr/>
        <p:txBody>
          <a:bodyPr/>
          <a:p>
            <a:r>
              <a:rPr lang="en-US" smtClean="0"/>
              <a:t>@MUSOVYA2017</a:t>
            </a:r>
            <a:endParaRPr lang="en-US"/>
          </a:p>
        </p:txBody>
      </p:sp>
      <p:sp>
        <p:nvSpPr>
          <p:cNvPr id="1050326" name="Slide Number Placeholder 6"/>
          <p:cNvSpPr>
            <a:spLocks noGrp="1"/>
          </p:cNvSpPr>
          <p:nvPr>
            <p:ph type="sldNum" sz="quarter" idx="12"/>
          </p:nvPr>
        </p:nvSpPr>
        <p:spPr/>
        <p:txBody>
          <a:bodyPr/>
          <a:lstStyle>
            <a:lvl1pPr>
              <a:defRPr>
                <a:solidFill>
                  <a:srgbClr val="FFFFFF"/>
                </a:solidFill>
              </a:defRPr>
            </a:lvl1pPr>
          </a:lstStyle>
          <a:p>
            <a:fld id="{539D2A76-69E3-4600-8808-3C1A10934549}" type="slidenum">
              <a:rPr lang="en-US" smtClean="0"/>
            </a:fld>
            <a:endParaRPr lang="en-US"/>
          </a:p>
        </p:txBody>
      </p:sp>
      <p:sp>
        <p:nvSpPr>
          <p:cNvPr id="1050327" name="Text Placeholder 2"/>
          <p:cNvSpPr>
            <a:spLocks noGrp="1"/>
          </p:cNvSpPr>
          <p:nvPr>
            <p:ph type="body" idx="2"/>
          </p:nvPr>
        </p:nvSpPr>
        <p:spPr>
          <a:xfrm>
            <a:off x="762000" y="1752600"/>
            <a:ext cx="200025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bIns="91440" lIns="137160" rIns="137160" tIns="182880"/>
          <a:lstStyle>
            <a:lvl1pPr indent="0" marL="0">
              <a:spcAft>
                <a:spcPts val="1000"/>
              </a:spcAft>
              <a:buNone/>
              <a:defRPr sz="18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50328" name="Content Placeholder 8"/>
          <p:cNvSpPr>
            <a:spLocks noGrp="1"/>
          </p:cNvSpPr>
          <p:nvPr>
            <p:ph sz="quarter" idx="1"/>
          </p:nvPr>
        </p:nvSpPr>
        <p:spPr>
          <a:xfrm>
            <a:off x="2952751" y="1752600"/>
            <a:ext cx="8001000" cy="44196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spd="slow">
    <p:strips dir="ru"/>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1421" name=""/>
        <p:cNvGrpSpPr/>
        <p:nvPr/>
      </p:nvGrpSpPr>
      <p:grpSpPr>
        <a:xfrm>
          <a:off x="0" y="0"/>
          <a:ext cx="0" cy="0"/>
          <a:chOff x="0" y="0"/>
          <a:chExt cx="0" cy="0"/>
        </a:xfrm>
      </p:grpSpPr>
      <p:sp>
        <p:nvSpPr>
          <p:cNvPr id="1050333" name="Text Placeholder 3"/>
          <p:cNvSpPr>
            <a:spLocks noGrp="1"/>
          </p:cNvSpPr>
          <p:nvPr>
            <p:ph type="body" sz="half" idx="2"/>
          </p:nvPr>
        </p:nvSpPr>
        <p:spPr>
          <a:xfrm>
            <a:off x="2000250" y="5486400"/>
            <a:ext cx="9144000" cy="685800"/>
          </a:xfrm>
        </p:spPr>
        <p:txBody>
          <a:bodyPr/>
          <a:lstStyle>
            <a:lvl1pPr indent="0" marL="0">
              <a:buFontTx/>
              <a:buNone/>
              <a:defRPr sz="1700"/>
            </a:lvl1pPr>
            <a:lvl2pPr>
              <a:buFontTx/>
              <a:buNone/>
              <a:defRPr sz="1200"/>
            </a:lvl2pPr>
            <a:lvl3pPr>
              <a:buFontTx/>
              <a:buNone/>
              <a:defRPr sz="1000"/>
            </a:lvl3pPr>
            <a:lvl4pPr>
              <a:buFontTx/>
              <a:buNone/>
              <a:defRPr sz="900"/>
            </a:lvl4pPr>
            <a:lvl5pPr>
              <a:buFontTx/>
              <a:buNone/>
              <a:defRPr sz="900"/>
            </a:lvl5pPr>
          </a:lstStyle>
          <a:p>
            <a:pPr eaLnBrk="1" hangingPunct="1" latinLnBrk="0" lvl="0"/>
            <a:r>
              <a:rPr kumimoji="0" lang="en-US" smtClean="0"/>
              <a:t>Click to edit Master text styles</a:t>
            </a:r>
          </a:p>
        </p:txBody>
      </p:sp>
      <p:sp>
        <p:nvSpPr>
          <p:cNvPr id="1050334" name="Rectangle 7"/>
          <p:cNvSpPr/>
          <p:nvPr/>
        </p:nvSpPr>
        <p:spPr bwMode="white">
          <a:xfrm>
            <a:off x="-11429" y="4572000"/>
            <a:ext cx="11430000" cy="886968"/>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35" name="Rectangle 8"/>
          <p:cNvSpPr/>
          <p:nvPr/>
        </p:nvSpPr>
        <p:spPr>
          <a:xfrm>
            <a:off x="-11430" y="4663440"/>
            <a:ext cx="1828800" cy="713232"/>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36" name="Rectangle 9"/>
          <p:cNvSpPr/>
          <p:nvPr/>
        </p:nvSpPr>
        <p:spPr>
          <a:xfrm>
            <a:off x="1931671" y="4654296"/>
            <a:ext cx="9498329" cy="713232"/>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37" name="Title 1"/>
          <p:cNvSpPr>
            <a:spLocks noGrp="1"/>
          </p:cNvSpPr>
          <p:nvPr>
            <p:ph type="title"/>
          </p:nvPr>
        </p:nvSpPr>
        <p:spPr>
          <a:xfrm>
            <a:off x="2000250" y="4648200"/>
            <a:ext cx="9144000" cy="685800"/>
          </a:xfrm>
        </p:spPr>
        <p:txBody>
          <a:bodyPr anchor="ctr"/>
          <a:lstStyle>
            <a:lvl1pPr algn="l">
              <a:buNone/>
              <a:defRPr b="0" sz="2800">
                <a:solidFill>
                  <a:srgbClr val="FFFFFF"/>
                </a:solidFill>
              </a:defRPr>
            </a:lvl1pPr>
          </a:lstStyle>
          <a:p>
            <a:r>
              <a:rPr kumimoji="0" lang="en-US" smtClean="0"/>
              <a:t>Click to edit Master title style</a:t>
            </a:r>
            <a:endParaRPr kumimoji="0" lang="en-US"/>
          </a:p>
        </p:txBody>
      </p:sp>
      <p:sp>
        <p:nvSpPr>
          <p:cNvPr id="1050338" name="Rectangle 10"/>
          <p:cNvSpPr/>
          <p:nvPr/>
        </p:nvSpPr>
        <p:spPr bwMode="white">
          <a:xfrm>
            <a:off x="1809752" y="0"/>
            <a:ext cx="125730" cy="6867144"/>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339" name="Date Placeholder 11"/>
          <p:cNvSpPr>
            <a:spLocks noGrp="1"/>
          </p:cNvSpPr>
          <p:nvPr>
            <p:ph type="dt" sz="half" idx="10"/>
          </p:nvPr>
        </p:nvSpPr>
        <p:spPr>
          <a:xfrm>
            <a:off x="7810500" y="6248409"/>
            <a:ext cx="3333750" cy="365125"/>
          </a:xfrm>
        </p:spPr>
        <p:txBody>
          <a:bodyPr rtlCol="0"/>
          <a:p>
            <a:fld id="{14F457B6-38C7-4F0C-ACAB-3931F3222D38}" type="datetime1">
              <a:rPr lang="en-US" smtClean="0"/>
            </a:fld>
            <a:endParaRPr lang="en-US"/>
          </a:p>
        </p:txBody>
      </p:sp>
      <p:sp>
        <p:nvSpPr>
          <p:cNvPr id="1050340" name="Slide Number Placeholder 12"/>
          <p:cNvSpPr>
            <a:spLocks noGrp="1"/>
          </p:cNvSpPr>
          <p:nvPr>
            <p:ph type="sldNum" sz="quarter" idx="11"/>
          </p:nvPr>
        </p:nvSpPr>
        <p:spPr>
          <a:xfrm>
            <a:off x="1" y="4667255"/>
            <a:ext cx="1809750" cy="663579"/>
          </a:xfrm>
        </p:spPr>
        <p:txBody>
          <a:bodyPr rtlCol="0"/>
          <a:lstStyle>
            <a:lvl1pPr>
              <a:defRPr sz="2800"/>
            </a:lvl1pPr>
          </a:lstStyle>
          <a:p>
            <a:fld id="{539D2A76-69E3-4600-8808-3C1A10934549}" type="slidenum">
              <a:rPr lang="en-US" smtClean="0"/>
            </a:fld>
            <a:endParaRPr lang="en-US"/>
          </a:p>
        </p:txBody>
      </p:sp>
      <p:sp>
        <p:nvSpPr>
          <p:cNvPr id="1050341" name="Footer Placeholder 13"/>
          <p:cNvSpPr>
            <a:spLocks noGrp="1"/>
          </p:cNvSpPr>
          <p:nvPr>
            <p:ph type="ftr" sz="quarter" idx="12"/>
          </p:nvPr>
        </p:nvSpPr>
        <p:spPr>
          <a:xfrm>
            <a:off x="2000250" y="6248215"/>
            <a:ext cx="5715000" cy="365125"/>
          </a:xfrm>
        </p:spPr>
        <p:txBody>
          <a:bodyPr rtlCol="0"/>
          <a:p>
            <a:r>
              <a:rPr lang="en-US" smtClean="0"/>
              <a:t>@MUSOVYA2017</a:t>
            </a:r>
            <a:endParaRPr lang="en-US"/>
          </a:p>
        </p:txBody>
      </p:sp>
      <p:sp>
        <p:nvSpPr>
          <p:cNvPr id="1050342" name="Picture Placeholder 2"/>
          <p:cNvSpPr>
            <a:spLocks noGrp="1"/>
          </p:cNvSpPr>
          <p:nvPr>
            <p:ph type="pic" idx="1"/>
          </p:nvPr>
        </p:nvSpPr>
        <p:spPr>
          <a:xfrm>
            <a:off x="1950720" y="0"/>
            <a:ext cx="9479280" cy="4568952"/>
          </a:xfrm>
          <a:solidFill>
            <a:schemeClr val="accent1">
              <a:tint val="40000"/>
            </a:schemeClr>
          </a:solidFill>
          <a:ln>
            <a:noFill/>
          </a:ln>
        </p:spPr>
        <p:txBody>
          <a:bodyPr/>
          <a:lstStyle>
            <a:lvl1pPr indent="0" marL="0">
              <a:buNone/>
              <a:defRPr sz="3200"/>
            </a:lvl1pPr>
          </a:lstStyle>
          <a:p>
            <a:r>
              <a:rPr kumimoji="0" lang="en-US" smtClean="0"/>
              <a:t>Click icon to add picture</a:t>
            </a:r>
            <a:endParaRPr dirty="0" kumimoji="0" lang="en-US"/>
          </a:p>
        </p:txBody>
      </p:sp>
    </p:spTree>
  </p:cSld>
  <p:clrMapOvr>
    <a:masterClrMapping/>
  </p:clrMapOvr>
  <p:transition xmlns:p14="http://schemas.microsoft.com/office/powerpoint/2010/main" spd="slow">
    <p:strips dir="ru"/>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14" name=""/>
        <p:cNvGrpSpPr/>
        <p:nvPr/>
      </p:nvGrpSpPr>
      <p:grpSpPr>
        <a:xfrm>
          <a:off x="0" y="0"/>
          <a:ext cx="0" cy="0"/>
          <a:chOff x="0" y="0"/>
          <a:chExt cx="0" cy="0"/>
        </a:xfrm>
      </p:grpSpPr>
      <p:sp>
        <p:nvSpPr>
          <p:cNvPr id="1050293" name="Title 1"/>
          <p:cNvSpPr>
            <a:spLocks noGrp="1"/>
          </p:cNvSpPr>
          <p:nvPr>
            <p:ph type="title"/>
          </p:nvPr>
        </p:nvSpPr>
        <p:spPr/>
        <p:txBody>
          <a:bodyPr/>
          <a:p>
            <a:r>
              <a:rPr kumimoji="0" lang="en-US" smtClean="0"/>
              <a:t>Click to edit Master title style</a:t>
            </a:r>
            <a:endParaRPr kumimoji="0" lang="en-US"/>
          </a:p>
        </p:txBody>
      </p:sp>
      <p:sp>
        <p:nvSpPr>
          <p:cNvPr id="1050294"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295" name="Date Placeholder 3"/>
          <p:cNvSpPr>
            <a:spLocks noGrp="1"/>
          </p:cNvSpPr>
          <p:nvPr>
            <p:ph type="dt" sz="half" idx="10"/>
          </p:nvPr>
        </p:nvSpPr>
        <p:spPr/>
        <p:txBody>
          <a:bodyPr/>
          <a:p>
            <a:fld id="{C91248CA-7EBF-4E2B-B0C6-8778DBF5A58C}" type="datetime1">
              <a:rPr lang="en-US" smtClean="0"/>
            </a:fld>
            <a:endParaRPr lang="en-US"/>
          </a:p>
        </p:txBody>
      </p:sp>
      <p:sp>
        <p:nvSpPr>
          <p:cNvPr id="1050296" name="Footer Placeholder 4"/>
          <p:cNvSpPr>
            <a:spLocks noGrp="1"/>
          </p:cNvSpPr>
          <p:nvPr>
            <p:ph type="ftr" sz="quarter" idx="11"/>
          </p:nvPr>
        </p:nvSpPr>
        <p:spPr/>
        <p:txBody>
          <a:bodyPr/>
          <a:p>
            <a:r>
              <a:rPr lang="en-US" smtClean="0"/>
              <a:t>@MUSOVYA2017</a:t>
            </a:r>
            <a:endParaRPr lang="en-US"/>
          </a:p>
        </p:txBody>
      </p:sp>
      <p:sp>
        <p:nvSpPr>
          <p:cNvPr id="1050297"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1413" name=""/>
        <p:cNvGrpSpPr/>
        <p:nvPr/>
      </p:nvGrpSpPr>
      <p:grpSpPr>
        <a:xfrm>
          <a:off x="0" y="0"/>
          <a:ext cx="0" cy="0"/>
          <a:chOff x="0" y="0"/>
          <a:chExt cx="0" cy="0"/>
        </a:xfrm>
      </p:grpSpPr>
      <p:sp>
        <p:nvSpPr>
          <p:cNvPr id="1050285" name="Vertical Title 1"/>
          <p:cNvSpPr>
            <a:spLocks noGrp="1"/>
          </p:cNvSpPr>
          <p:nvPr>
            <p:ph type="title" orient="vert"/>
          </p:nvPr>
        </p:nvSpPr>
        <p:spPr>
          <a:xfrm>
            <a:off x="8191500" y="609608"/>
            <a:ext cx="2571750" cy="5516563"/>
          </a:xfrm>
        </p:spPr>
        <p:txBody>
          <a:bodyPr vert="eaVert"/>
          <a:p>
            <a:r>
              <a:rPr kumimoji="0" lang="en-US" smtClean="0"/>
              <a:t>Click to edit Master title style</a:t>
            </a:r>
            <a:endParaRPr kumimoji="0" lang="en-US"/>
          </a:p>
        </p:txBody>
      </p:sp>
      <p:sp>
        <p:nvSpPr>
          <p:cNvPr id="1050286" name="Vertical Text Placeholder 2"/>
          <p:cNvSpPr>
            <a:spLocks noGrp="1"/>
          </p:cNvSpPr>
          <p:nvPr>
            <p:ph type="body" orient="vert" idx="1"/>
          </p:nvPr>
        </p:nvSpPr>
        <p:spPr>
          <a:xfrm>
            <a:off x="571500" y="609603"/>
            <a:ext cx="6953250" cy="5516564"/>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287" name="Date Placeholder 3"/>
          <p:cNvSpPr>
            <a:spLocks noGrp="1"/>
          </p:cNvSpPr>
          <p:nvPr>
            <p:ph type="dt" sz="half" idx="10"/>
          </p:nvPr>
        </p:nvSpPr>
        <p:spPr>
          <a:xfrm>
            <a:off x="8191500" y="6248411"/>
            <a:ext cx="2762250" cy="365125"/>
          </a:xfrm>
        </p:spPr>
        <p:txBody>
          <a:bodyPr/>
          <a:p>
            <a:fld id="{FBA385E2-AD4A-4AA4-B6E3-607D9503782E}" type="datetime1">
              <a:rPr lang="en-US" smtClean="0"/>
            </a:fld>
            <a:endParaRPr lang="en-US"/>
          </a:p>
        </p:txBody>
      </p:sp>
      <p:sp>
        <p:nvSpPr>
          <p:cNvPr id="1050288" name="Footer Placeholder 4"/>
          <p:cNvSpPr>
            <a:spLocks noGrp="1"/>
          </p:cNvSpPr>
          <p:nvPr>
            <p:ph type="ftr" sz="quarter" idx="11"/>
          </p:nvPr>
        </p:nvSpPr>
        <p:spPr>
          <a:xfrm>
            <a:off x="571509" y="6248215"/>
            <a:ext cx="6966853" cy="365125"/>
          </a:xfrm>
        </p:spPr>
        <p:txBody>
          <a:bodyPr/>
          <a:p>
            <a:r>
              <a:rPr lang="en-US" smtClean="0"/>
              <a:t>@MUSOVYA2017</a:t>
            </a:r>
            <a:endParaRPr lang="en-US"/>
          </a:p>
        </p:txBody>
      </p:sp>
      <p:sp>
        <p:nvSpPr>
          <p:cNvPr id="1050289" name="Rectangle 6"/>
          <p:cNvSpPr/>
          <p:nvPr/>
        </p:nvSpPr>
        <p:spPr bwMode="white">
          <a:xfrm>
            <a:off x="7620399" y="0"/>
            <a:ext cx="400050" cy="6858000"/>
          </a:xfrm>
          <a:prstGeom prst="rect"/>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50290" name="Rectangle 7"/>
          <p:cNvSpPr/>
          <p:nvPr/>
        </p:nvSpPr>
        <p:spPr>
          <a:xfrm>
            <a:off x="7677549" y="609600"/>
            <a:ext cx="285750" cy="6248400"/>
          </a:xfrm>
          <a:prstGeom prst="rect"/>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50291" name="Rectangle 8"/>
          <p:cNvSpPr/>
          <p:nvPr/>
        </p:nvSpPr>
        <p:spPr>
          <a:xfrm>
            <a:off x="7677549" y="0"/>
            <a:ext cx="285750" cy="533400"/>
          </a:xfrm>
          <a:prstGeom prst="rect"/>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50292" name="Slide Number Placeholder 5"/>
          <p:cNvSpPr>
            <a:spLocks noGrp="1"/>
          </p:cNvSpPr>
          <p:nvPr>
            <p:ph type="sldNum" sz="quarter" idx="12"/>
          </p:nvPr>
        </p:nvSpPr>
        <p:spPr>
          <a:xfrm rot="5400000">
            <a:off x="7553724" y="113906"/>
            <a:ext cx="533400" cy="305595"/>
          </a:xfrm>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111" name=""/>
        <p:cNvGrpSpPr/>
        <p:nvPr/>
      </p:nvGrpSpPr>
      <p:grpSpPr>
        <a:xfrm>
          <a:off x="0" y="0"/>
          <a:ext cx="0" cy="0"/>
          <a:chOff x="0" y="0"/>
          <a:chExt cx="0" cy="0"/>
        </a:xfrm>
      </p:grpSpPr>
      <p:sp>
        <p:nvSpPr>
          <p:cNvPr id="1049604" name="Title 13"/>
          <p:cNvSpPr>
            <a:spLocks noGrp="1"/>
          </p:cNvSpPr>
          <p:nvPr>
            <p:ph type="ctrTitle"/>
          </p:nvPr>
        </p:nvSpPr>
        <p:spPr>
          <a:xfrm>
            <a:off x="1790701" y="359897"/>
            <a:ext cx="9258300" cy="1472184"/>
          </a:xfrm>
        </p:spPr>
        <p:txBody>
          <a:bodyPr anchor="b"/>
          <a:lstStyle>
            <a:lvl1pPr algn="l"/>
          </a:lstStyle>
          <a:p>
            <a:r>
              <a:rPr kumimoji="0" lang="en-US" smtClean="0"/>
              <a:t>Click to edit Master title style</a:t>
            </a:r>
            <a:endParaRPr kumimoji="0" lang="en-US"/>
          </a:p>
        </p:txBody>
      </p:sp>
      <p:sp>
        <p:nvSpPr>
          <p:cNvPr id="1049605" name="Subtitle 21"/>
          <p:cNvSpPr>
            <a:spLocks noGrp="1"/>
          </p:cNvSpPr>
          <p:nvPr>
            <p:ph type="subTitle" idx="1"/>
          </p:nvPr>
        </p:nvSpPr>
        <p:spPr>
          <a:xfrm>
            <a:off x="1790701" y="1850064"/>
            <a:ext cx="9258300" cy="1752600"/>
          </a:xfrm>
        </p:spPr>
        <p:txBody>
          <a:bodyPr tIns="0"/>
          <a:lstStyle>
            <a:lvl1pPr algn="l" indent="0" marL="27432">
              <a:buNone/>
              <a:defRPr sz="2600">
                <a:solidFill>
                  <a:schemeClr val="tx2">
                    <a:shade val="30000"/>
                    <a:satMod val="150000"/>
                  </a:schemeClr>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9606" name="Date Placeholder 6"/>
          <p:cNvSpPr>
            <a:spLocks noGrp="1"/>
          </p:cNvSpPr>
          <p:nvPr>
            <p:ph type="dt" sz="half" idx="10"/>
          </p:nvPr>
        </p:nvSpPr>
        <p:spPr/>
        <p:txBody>
          <a:bodyPr/>
          <a:p>
            <a:fld id="{3842E6C7-BFCE-4947-B6ED-A0AEBE39C6FE}" type="datetime1">
              <a:rPr lang="en-US" smtClean="0"/>
            </a:fld>
            <a:endParaRPr lang="en-US"/>
          </a:p>
        </p:txBody>
      </p:sp>
      <p:sp>
        <p:nvSpPr>
          <p:cNvPr id="1049607" name="Footer Placeholder 19"/>
          <p:cNvSpPr>
            <a:spLocks noGrp="1"/>
          </p:cNvSpPr>
          <p:nvPr>
            <p:ph type="ftr" sz="quarter" idx="11"/>
          </p:nvPr>
        </p:nvSpPr>
        <p:spPr/>
        <p:txBody>
          <a:bodyPr/>
          <a:p>
            <a:r>
              <a:rPr lang="en-US" smtClean="0"/>
              <a:t>@MUSOVYA2017</a:t>
            </a:r>
            <a:endParaRPr lang="en-US"/>
          </a:p>
        </p:txBody>
      </p:sp>
      <p:sp>
        <p:nvSpPr>
          <p:cNvPr id="1049608" name="Slide Number Placeholder 9"/>
          <p:cNvSpPr>
            <a:spLocks noGrp="1"/>
          </p:cNvSpPr>
          <p:nvPr>
            <p:ph type="sldNum" sz="quarter" idx="12"/>
          </p:nvPr>
        </p:nvSpPr>
        <p:spPr/>
        <p:txBody>
          <a:bodyPr/>
          <a:p>
            <a:fld id="{539D2A76-69E3-4600-8808-3C1A10934549}" type="slidenum">
              <a:rPr lang="en-US" smtClean="0"/>
            </a:fld>
            <a:endParaRPr lang="en-US"/>
          </a:p>
        </p:txBody>
      </p:sp>
      <p:sp>
        <p:nvSpPr>
          <p:cNvPr id="1049609" name="Oval 7"/>
          <p:cNvSpPr/>
          <p:nvPr/>
        </p:nvSpPr>
        <p:spPr>
          <a:xfrm>
            <a:off x="1151790" y="1413803"/>
            <a:ext cx="262891" cy="210312"/>
          </a:xfrm>
          <a:prstGeom prst="ellipse"/>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
        <p:nvSpPr>
          <p:cNvPr id="1049610" name="Oval 8"/>
          <p:cNvSpPr/>
          <p:nvPr/>
        </p:nvSpPr>
        <p:spPr>
          <a:xfrm>
            <a:off x="1446470" y="1345016"/>
            <a:ext cx="80009" cy="64008"/>
          </a:xfrm>
          <a:prstGeom prst="ellipse"/>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113" name=""/>
        <p:cNvGrpSpPr/>
        <p:nvPr/>
      </p:nvGrpSpPr>
      <p:grpSpPr>
        <a:xfrm>
          <a:off x="0" y="0"/>
          <a:ext cx="0" cy="0"/>
          <a:chOff x="0" y="0"/>
          <a:chExt cx="0" cy="0"/>
        </a:xfrm>
      </p:grpSpPr>
      <p:sp>
        <p:nvSpPr>
          <p:cNvPr id="1049612" name="Title 1"/>
          <p:cNvSpPr>
            <a:spLocks noGrp="1"/>
          </p:cNvSpPr>
          <p:nvPr>
            <p:ph type="title"/>
          </p:nvPr>
        </p:nvSpPr>
        <p:spPr/>
        <p:txBody>
          <a:bodyPr/>
          <a:p>
            <a:r>
              <a:rPr kumimoji="0" lang="en-US" smtClean="0"/>
              <a:t>Click to edit Master title style</a:t>
            </a:r>
            <a:endParaRPr kumimoji="0" lang="en-US"/>
          </a:p>
        </p:txBody>
      </p:sp>
      <p:sp>
        <p:nvSpPr>
          <p:cNvPr id="1049613"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614" name="Date Placeholder 3"/>
          <p:cNvSpPr>
            <a:spLocks noGrp="1"/>
          </p:cNvSpPr>
          <p:nvPr>
            <p:ph type="dt" sz="half" idx="10"/>
          </p:nvPr>
        </p:nvSpPr>
        <p:spPr/>
        <p:txBody>
          <a:bodyPr/>
          <a:p>
            <a:fld id="{C82235C8-F10E-43D4-BF4B-09E349475D5A}" type="datetime1">
              <a:rPr lang="en-US" smtClean="0"/>
            </a:fld>
            <a:endParaRPr lang="en-US"/>
          </a:p>
        </p:txBody>
      </p:sp>
      <p:sp>
        <p:nvSpPr>
          <p:cNvPr id="1049615" name="Footer Placeholder 4"/>
          <p:cNvSpPr>
            <a:spLocks noGrp="1"/>
          </p:cNvSpPr>
          <p:nvPr>
            <p:ph type="ftr" sz="quarter" idx="11"/>
          </p:nvPr>
        </p:nvSpPr>
        <p:spPr/>
        <p:txBody>
          <a:bodyPr/>
          <a:p>
            <a:r>
              <a:rPr lang="en-US" smtClean="0"/>
              <a:t>@MUSOVYA2017</a:t>
            </a:r>
            <a:endParaRPr lang="en-US"/>
          </a:p>
        </p:txBody>
      </p:sp>
      <p:sp>
        <p:nvSpPr>
          <p:cNvPr id="1049616"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440" name=""/>
        <p:cNvGrpSpPr/>
        <p:nvPr/>
      </p:nvGrpSpPr>
      <p:grpSpPr>
        <a:xfrm>
          <a:off x="0" y="0"/>
          <a:ext cx="0" cy="0"/>
          <a:chOff x="0" y="0"/>
          <a:chExt cx="0" cy="0"/>
        </a:xfrm>
      </p:grpSpPr>
      <p:sp>
        <p:nvSpPr>
          <p:cNvPr id="1050472" name="Rectangle 6"/>
          <p:cNvSpPr/>
          <p:nvPr/>
        </p:nvSpPr>
        <p:spPr>
          <a:xfrm>
            <a:off x="2853615" y="-53"/>
            <a:ext cx="8572500" cy="6858055"/>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473" name="Title 1"/>
          <p:cNvSpPr>
            <a:spLocks noGrp="1"/>
          </p:cNvSpPr>
          <p:nvPr>
            <p:ph type="title"/>
          </p:nvPr>
        </p:nvSpPr>
        <p:spPr>
          <a:xfrm>
            <a:off x="3222991" y="2600325"/>
            <a:ext cx="8001000" cy="2286000"/>
          </a:xfrm>
        </p:spPr>
        <p:txBody>
          <a:bodyPr anchor="t"/>
          <a:lstStyle>
            <a:lvl1pPr algn="l">
              <a:lnSpc>
                <a:spcPts val="4500"/>
              </a:lnSpc>
              <a:buNone/>
              <a:defRPr b="1" cap="all" sz="4000"/>
            </a:lvl1pPr>
          </a:lstStyle>
          <a:p>
            <a:r>
              <a:rPr kumimoji="0" lang="en-US" smtClean="0"/>
              <a:t>Click to edit Master title style</a:t>
            </a:r>
            <a:endParaRPr kumimoji="0" lang="en-US"/>
          </a:p>
        </p:txBody>
      </p:sp>
      <p:sp>
        <p:nvSpPr>
          <p:cNvPr id="1050474" name="Text Placeholder 2"/>
          <p:cNvSpPr>
            <a:spLocks noGrp="1"/>
          </p:cNvSpPr>
          <p:nvPr>
            <p:ph type="body" idx="1"/>
          </p:nvPr>
        </p:nvSpPr>
        <p:spPr>
          <a:xfrm>
            <a:off x="3222991" y="1066800"/>
            <a:ext cx="8001000" cy="1509712"/>
          </a:xfrm>
        </p:spPr>
        <p:txBody>
          <a:bodyPr anchor="b"/>
          <a:lstStyle>
            <a:lvl1pPr indent="0" marL="18288">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475" name="Date Placeholder 3"/>
          <p:cNvSpPr>
            <a:spLocks noGrp="1"/>
          </p:cNvSpPr>
          <p:nvPr>
            <p:ph type="dt" sz="half" idx="10"/>
          </p:nvPr>
        </p:nvSpPr>
        <p:spPr/>
        <p:txBody>
          <a:bodyPr/>
          <a:p>
            <a:fld id="{A87409D0-E84E-42D9-97A5-5C4904A98D68}" type="datetime1">
              <a:rPr lang="en-US" smtClean="0"/>
            </a:fld>
            <a:endParaRPr lang="en-US"/>
          </a:p>
        </p:txBody>
      </p:sp>
      <p:sp>
        <p:nvSpPr>
          <p:cNvPr id="1050476" name="Footer Placeholder 4"/>
          <p:cNvSpPr>
            <a:spLocks noGrp="1"/>
          </p:cNvSpPr>
          <p:nvPr>
            <p:ph type="ftr" sz="quarter" idx="11"/>
          </p:nvPr>
        </p:nvSpPr>
        <p:spPr/>
        <p:txBody>
          <a:bodyPr/>
          <a:p>
            <a:r>
              <a:rPr lang="en-US" smtClean="0"/>
              <a:t>@MUSOVYA2017</a:t>
            </a:r>
            <a:endParaRPr lang="en-US"/>
          </a:p>
        </p:txBody>
      </p:sp>
      <p:sp>
        <p:nvSpPr>
          <p:cNvPr id="1050477" name="Slide Number Placeholder 5"/>
          <p:cNvSpPr>
            <a:spLocks noGrp="1"/>
          </p:cNvSpPr>
          <p:nvPr>
            <p:ph type="sldNum" sz="quarter" idx="12"/>
          </p:nvPr>
        </p:nvSpPr>
        <p:spPr/>
        <p:txBody>
          <a:bodyPr/>
          <a:p>
            <a:fld id="{539D2A76-69E3-4600-8808-3C1A10934549}" type="slidenum">
              <a:rPr lang="en-US" smtClean="0"/>
            </a:fld>
            <a:endParaRPr lang="en-US"/>
          </a:p>
        </p:txBody>
      </p:sp>
      <p:sp>
        <p:nvSpPr>
          <p:cNvPr id="1050478" name="Rectangle 9"/>
          <p:cNvSpPr/>
          <p:nvPr/>
        </p:nvSpPr>
        <p:spPr bwMode="invGray">
          <a:xfrm>
            <a:off x="2857501" y="5"/>
            <a:ext cx="95250"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479" name="Oval 7"/>
          <p:cNvSpPr/>
          <p:nvPr/>
        </p:nvSpPr>
        <p:spPr>
          <a:xfrm>
            <a:off x="2715401" y="2814656"/>
            <a:ext cx="262891" cy="210312"/>
          </a:xfrm>
          <a:prstGeom prst="ellipse"/>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
        <p:nvSpPr>
          <p:cNvPr id="1050480" name="Oval 8"/>
          <p:cNvSpPr/>
          <p:nvPr/>
        </p:nvSpPr>
        <p:spPr>
          <a:xfrm>
            <a:off x="3010080" y="2745871"/>
            <a:ext cx="80009" cy="64008"/>
          </a:xfrm>
          <a:prstGeom prst="ellipse"/>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444" name=""/>
        <p:cNvGrpSpPr/>
        <p:nvPr/>
      </p:nvGrpSpPr>
      <p:grpSpPr>
        <a:xfrm>
          <a:off x="0" y="0"/>
          <a:ext cx="0" cy="0"/>
          <a:chOff x="0" y="0"/>
          <a:chExt cx="0" cy="0"/>
        </a:xfrm>
      </p:grpSpPr>
      <p:sp>
        <p:nvSpPr>
          <p:cNvPr id="1050500" name="Title 1"/>
          <p:cNvSpPr>
            <a:spLocks noGrp="1"/>
          </p:cNvSpPr>
          <p:nvPr>
            <p:ph type="title"/>
          </p:nvPr>
        </p:nvSpPr>
        <p:spPr>
          <a:xfrm>
            <a:off x="1794509" y="274320"/>
            <a:ext cx="9372600" cy="1143000"/>
          </a:xfrm>
        </p:spPr>
        <p:txBody>
          <a:bodyPr/>
          <a:p>
            <a:r>
              <a:rPr kumimoji="0" lang="en-US" smtClean="0"/>
              <a:t>Click to edit Master title style</a:t>
            </a:r>
            <a:endParaRPr kumimoji="0" lang="en-US"/>
          </a:p>
        </p:txBody>
      </p:sp>
      <p:sp>
        <p:nvSpPr>
          <p:cNvPr id="1050501" name="Content Placeholder 2"/>
          <p:cNvSpPr>
            <a:spLocks noGrp="1"/>
          </p:cNvSpPr>
          <p:nvPr>
            <p:ph sz="half" idx="1"/>
          </p:nvPr>
        </p:nvSpPr>
        <p:spPr>
          <a:xfrm>
            <a:off x="1794509" y="1524000"/>
            <a:ext cx="4572000" cy="4663440"/>
          </a:xfrm>
        </p:spPr>
        <p:txBody>
          <a:bodyPr/>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02" name="Content Placeholder 3"/>
          <p:cNvSpPr>
            <a:spLocks noGrp="1"/>
          </p:cNvSpPr>
          <p:nvPr>
            <p:ph sz="half" idx="2"/>
          </p:nvPr>
        </p:nvSpPr>
        <p:spPr>
          <a:xfrm>
            <a:off x="6595109" y="1524000"/>
            <a:ext cx="4572000" cy="4663440"/>
          </a:xfrm>
        </p:spPr>
        <p:txBody>
          <a:bodyPr/>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03" name="Date Placeholder 4"/>
          <p:cNvSpPr>
            <a:spLocks noGrp="1"/>
          </p:cNvSpPr>
          <p:nvPr>
            <p:ph type="dt" sz="half" idx="10"/>
          </p:nvPr>
        </p:nvSpPr>
        <p:spPr/>
        <p:txBody>
          <a:bodyPr/>
          <a:p>
            <a:fld id="{13AEC73B-03AC-4AF1-AE7B-68B4F01C2833}" type="datetime1">
              <a:rPr lang="en-US" smtClean="0"/>
            </a:fld>
            <a:endParaRPr lang="en-US"/>
          </a:p>
        </p:txBody>
      </p:sp>
      <p:sp>
        <p:nvSpPr>
          <p:cNvPr id="1050504" name="Footer Placeholder 5"/>
          <p:cNvSpPr>
            <a:spLocks noGrp="1"/>
          </p:cNvSpPr>
          <p:nvPr>
            <p:ph type="ftr" sz="quarter" idx="11"/>
          </p:nvPr>
        </p:nvSpPr>
        <p:spPr/>
        <p:txBody>
          <a:bodyPr/>
          <a:p>
            <a:r>
              <a:rPr lang="en-US" smtClean="0"/>
              <a:t>@MUSOVYA2017</a:t>
            </a:r>
            <a:endParaRPr lang="en-US"/>
          </a:p>
        </p:txBody>
      </p:sp>
      <p:sp>
        <p:nvSpPr>
          <p:cNvPr id="1050505"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46" name=""/>
        <p:cNvGrpSpPr/>
        <p:nvPr/>
      </p:nvGrpSpPr>
      <p:grpSpPr>
        <a:xfrm>
          <a:off x="0" y="0"/>
          <a:ext cx="0" cy="0"/>
          <a:chOff x="0" y="0"/>
          <a:chExt cx="0" cy="0"/>
        </a:xfrm>
      </p:grpSpPr>
      <p:sp>
        <p:nvSpPr>
          <p:cNvPr id="1050512" name="Title 1"/>
          <p:cNvSpPr>
            <a:spLocks noGrp="1"/>
          </p:cNvSpPr>
          <p:nvPr>
            <p:ph type="title"/>
          </p:nvPr>
        </p:nvSpPr>
        <p:spPr>
          <a:xfrm>
            <a:off x="571500" y="5160336"/>
            <a:ext cx="10287000" cy="1143000"/>
          </a:xfrm>
        </p:spPr>
        <p:txBody>
          <a:bodyPr anchor="ctr"/>
          <a:lstStyle>
            <a:lvl1pPr algn="ctr">
              <a:defRPr baseline="0" b="1" cap="none" sz="4500"/>
            </a:lvl1pPr>
          </a:lstStyle>
          <a:p>
            <a:r>
              <a:rPr kumimoji="0" lang="en-US" smtClean="0"/>
              <a:t>Click to edit Master title style</a:t>
            </a:r>
            <a:endParaRPr kumimoji="0" lang="en-US"/>
          </a:p>
        </p:txBody>
      </p:sp>
      <p:sp>
        <p:nvSpPr>
          <p:cNvPr id="1050513" name="Text Placeholder 2"/>
          <p:cNvSpPr>
            <a:spLocks noGrp="1"/>
          </p:cNvSpPr>
          <p:nvPr>
            <p:ph type="body" idx="1"/>
          </p:nvPr>
        </p:nvSpPr>
        <p:spPr>
          <a:xfrm>
            <a:off x="571501" y="328279"/>
            <a:ext cx="5029200" cy="640080"/>
          </a:xfrm>
          <a:solidFill>
            <a:schemeClr val="bg1"/>
          </a:solidFill>
          <a:ln w="10795">
            <a:solidFill>
              <a:schemeClr val="bg1"/>
            </a:solidFill>
            <a:miter lim="800000"/>
          </a:ln>
        </p:spPr>
        <p:txBody>
          <a:bodyPr anchor="ctr"/>
          <a:lstStyle>
            <a:lvl1pPr algn="l" indent="0" marL="64008">
              <a:lnSpc>
                <a:spcPct val="100000"/>
              </a:lnSpc>
              <a:spcBef>
                <a:spcPts val="100"/>
              </a:spcBef>
              <a:buNone/>
              <a:defRPr b="0" sz="1900">
                <a:solidFill>
                  <a:schemeClr val="tx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514" name="Text Placeholder 3"/>
          <p:cNvSpPr>
            <a:spLocks noGrp="1"/>
          </p:cNvSpPr>
          <p:nvPr>
            <p:ph type="body" sz="half" idx="3"/>
          </p:nvPr>
        </p:nvSpPr>
        <p:spPr>
          <a:xfrm>
            <a:off x="5829300" y="328279"/>
            <a:ext cx="5029200" cy="640080"/>
          </a:xfrm>
          <a:solidFill>
            <a:schemeClr val="bg1"/>
          </a:solidFill>
          <a:ln w="10795">
            <a:solidFill>
              <a:schemeClr val="bg1"/>
            </a:solidFill>
            <a:miter lim="800000"/>
          </a:ln>
        </p:spPr>
        <p:txBody>
          <a:bodyPr anchor="ctr"/>
          <a:lstStyle>
            <a:lvl1pPr algn="l" indent="0" marL="64008">
              <a:lnSpc>
                <a:spcPct val="100000"/>
              </a:lnSpc>
              <a:spcBef>
                <a:spcPts val="100"/>
              </a:spcBef>
              <a:buNone/>
              <a:defRPr b="0" sz="1900">
                <a:solidFill>
                  <a:schemeClr val="tx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515" name="Content Placeholder 4"/>
          <p:cNvSpPr>
            <a:spLocks noGrp="1"/>
          </p:cNvSpPr>
          <p:nvPr>
            <p:ph sz="quarter" idx="2"/>
          </p:nvPr>
        </p:nvSpPr>
        <p:spPr>
          <a:xfrm>
            <a:off x="571501" y="969336"/>
            <a:ext cx="5029200" cy="4114800"/>
          </a:xfrm>
          <a:ln w="10795">
            <a:solidFill>
              <a:schemeClr val="bg1"/>
            </a:solidFill>
            <a:prstDash val="dash"/>
            <a:miter lim="800000"/>
          </a:ln>
        </p:spPr>
        <p:txBody>
          <a:bodyPr/>
          <a:lstStyle>
            <a:lvl1pPr indent="-274320" marL="393192">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16" name="Content Placeholder 5"/>
          <p:cNvSpPr>
            <a:spLocks noGrp="1"/>
          </p:cNvSpPr>
          <p:nvPr>
            <p:ph sz="quarter" idx="4"/>
          </p:nvPr>
        </p:nvSpPr>
        <p:spPr>
          <a:xfrm>
            <a:off x="5829300" y="969336"/>
            <a:ext cx="5029200" cy="4114800"/>
          </a:xfrm>
          <a:ln w="10795">
            <a:solidFill>
              <a:schemeClr val="bg1"/>
            </a:solidFill>
            <a:prstDash val="dash"/>
            <a:miter lim="800000"/>
          </a:ln>
        </p:spPr>
        <p:txBody>
          <a:bodyPr/>
          <a:lstStyle>
            <a:lvl1pPr indent="-274320" marL="393192">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17" name="Date Placeholder 6"/>
          <p:cNvSpPr>
            <a:spLocks noGrp="1"/>
          </p:cNvSpPr>
          <p:nvPr>
            <p:ph type="dt" sz="half" idx="10"/>
          </p:nvPr>
        </p:nvSpPr>
        <p:spPr/>
        <p:txBody>
          <a:bodyPr/>
          <a:p>
            <a:fld id="{DD92A871-3D11-408E-8620-A384A6928597}" type="datetime1">
              <a:rPr lang="en-US" smtClean="0"/>
            </a:fld>
            <a:endParaRPr lang="en-US"/>
          </a:p>
        </p:txBody>
      </p:sp>
      <p:sp>
        <p:nvSpPr>
          <p:cNvPr id="1050518" name="Footer Placeholder 7"/>
          <p:cNvSpPr>
            <a:spLocks noGrp="1"/>
          </p:cNvSpPr>
          <p:nvPr>
            <p:ph type="ftr" sz="quarter" idx="11"/>
          </p:nvPr>
        </p:nvSpPr>
        <p:spPr/>
        <p:txBody>
          <a:bodyPr/>
          <a:p>
            <a:r>
              <a:rPr lang="en-US" smtClean="0"/>
              <a:t>@MUSOVYA2017</a:t>
            </a:r>
            <a:endParaRPr lang="en-US"/>
          </a:p>
        </p:txBody>
      </p:sp>
      <p:sp>
        <p:nvSpPr>
          <p:cNvPr id="1050519" name="Slide Number Placeholder 8"/>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148" name=""/>
        <p:cNvGrpSpPr/>
        <p:nvPr/>
      </p:nvGrpSpPr>
      <p:grpSpPr>
        <a:xfrm>
          <a:off x="0" y="0"/>
          <a:ext cx="0" cy="0"/>
          <a:chOff x="0" y="0"/>
          <a:chExt cx="0" cy="0"/>
        </a:xfrm>
      </p:grpSpPr>
      <p:sp>
        <p:nvSpPr>
          <p:cNvPr id="1049701" name="Title 1"/>
          <p:cNvSpPr>
            <a:spLocks noGrp="1"/>
          </p:cNvSpPr>
          <p:nvPr>
            <p:ph type="title"/>
          </p:nvPr>
        </p:nvSpPr>
        <p:spPr>
          <a:xfrm>
            <a:off x="1794509" y="274320"/>
            <a:ext cx="9372600" cy="1143000"/>
          </a:xfrm>
        </p:spPr>
        <p:txBody>
          <a:bodyPr anchor="ctr"/>
          <a:p>
            <a:r>
              <a:rPr kumimoji="0" lang="en-US" smtClean="0"/>
              <a:t>Click to edit Master title style</a:t>
            </a:r>
            <a:endParaRPr kumimoji="0" lang="en-US"/>
          </a:p>
        </p:txBody>
      </p:sp>
      <p:sp>
        <p:nvSpPr>
          <p:cNvPr id="1049702" name="Date Placeholder 2"/>
          <p:cNvSpPr>
            <a:spLocks noGrp="1"/>
          </p:cNvSpPr>
          <p:nvPr>
            <p:ph type="dt" sz="half" idx="10"/>
          </p:nvPr>
        </p:nvSpPr>
        <p:spPr/>
        <p:txBody>
          <a:bodyPr/>
          <a:p>
            <a:fld id="{1A98C68B-4D66-4FD8-AAD9-0E2BB8F71EBC}" type="datetime1">
              <a:rPr lang="en-US" smtClean="0"/>
            </a:fld>
            <a:endParaRPr lang="en-US"/>
          </a:p>
        </p:txBody>
      </p:sp>
      <p:sp>
        <p:nvSpPr>
          <p:cNvPr id="1049703" name="Footer Placeholder 3"/>
          <p:cNvSpPr>
            <a:spLocks noGrp="1"/>
          </p:cNvSpPr>
          <p:nvPr>
            <p:ph type="ftr" sz="quarter" idx="11"/>
          </p:nvPr>
        </p:nvSpPr>
        <p:spPr/>
        <p:txBody>
          <a:bodyPr/>
          <a:p>
            <a:r>
              <a:rPr lang="en-US" smtClean="0"/>
              <a:t>@MUSOVYA2017</a:t>
            </a:r>
            <a:endParaRPr lang="en-US"/>
          </a:p>
        </p:txBody>
      </p:sp>
      <p:sp>
        <p:nvSpPr>
          <p:cNvPr id="1049704" name="Slide Number Placeholder 4"/>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43" name=""/>
        <p:cNvGrpSpPr/>
        <p:nvPr/>
      </p:nvGrpSpPr>
      <p:grpSpPr>
        <a:xfrm>
          <a:off x="0" y="0"/>
          <a:ext cx="0" cy="0"/>
          <a:chOff x="0" y="0"/>
          <a:chExt cx="0" cy="0"/>
        </a:xfrm>
      </p:grpSpPr>
      <p:sp>
        <p:nvSpPr>
          <p:cNvPr id="1050495" name="Rectangle 4"/>
          <p:cNvSpPr/>
          <p:nvPr/>
        </p:nvSpPr>
        <p:spPr>
          <a:xfrm>
            <a:off x="1268731" y="0"/>
            <a:ext cx="10161271" cy="6858000"/>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496" name="Date Placeholder 1"/>
          <p:cNvSpPr>
            <a:spLocks noGrp="1"/>
          </p:cNvSpPr>
          <p:nvPr>
            <p:ph type="dt" sz="half" idx="10"/>
          </p:nvPr>
        </p:nvSpPr>
        <p:spPr/>
        <p:txBody>
          <a:bodyPr/>
          <a:p>
            <a:fld id="{99C339E7-60FC-467B-A76E-A31EFDFB781E}" type="datetime1">
              <a:rPr lang="en-US" smtClean="0"/>
            </a:fld>
            <a:endParaRPr lang="en-US"/>
          </a:p>
        </p:txBody>
      </p:sp>
      <p:sp>
        <p:nvSpPr>
          <p:cNvPr id="1050497" name="Footer Placeholder 2"/>
          <p:cNvSpPr>
            <a:spLocks noGrp="1"/>
          </p:cNvSpPr>
          <p:nvPr>
            <p:ph type="ftr" sz="quarter" idx="11"/>
          </p:nvPr>
        </p:nvSpPr>
        <p:spPr/>
        <p:txBody>
          <a:bodyPr/>
          <a:p>
            <a:r>
              <a:rPr lang="en-US" smtClean="0"/>
              <a:t>@MUSOVYA2017</a:t>
            </a:r>
            <a:endParaRPr lang="en-US"/>
          </a:p>
        </p:txBody>
      </p:sp>
      <p:sp>
        <p:nvSpPr>
          <p:cNvPr id="1050498" name="Slide Number Placeholder 3"/>
          <p:cNvSpPr>
            <a:spLocks noGrp="1"/>
          </p:cNvSpPr>
          <p:nvPr>
            <p:ph type="sldNum" sz="quarter" idx="12"/>
          </p:nvPr>
        </p:nvSpPr>
        <p:spPr/>
        <p:txBody>
          <a:bodyPr/>
          <a:p>
            <a:fld id="{539D2A76-69E3-4600-8808-3C1A10934549}" type="slidenum">
              <a:rPr lang="en-US" smtClean="0"/>
            </a:fld>
            <a:endParaRPr lang="en-US"/>
          </a:p>
        </p:txBody>
      </p:sp>
      <p:sp>
        <p:nvSpPr>
          <p:cNvPr id="1050499" name="Rectangle 5"/>
          <p:cNvSpPr/>
          <p:nvPr/>
        </p:nvSpPr>
        <p:spPr bwMode="invGray">
          <a:xfrm>
            <a:off x="1268730" y="-53"/>
            <a:ext cx="91441"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masterClrMapping/>
  </p:clrMapOvr>
  <p:transition xmlns:p14="http://schemas.microsoft.com/office/powerpoint/2010/main" spd="slow">
    <p:strips dir="ru"/>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45" name=""/>
        <p:cNvGrpSpPr/>
        <p:nvPr/>
      </p:nvGrpSpPr>
      <p:grpSpPr>
        <a:xfrm>
          <a:off x="0" y="0"/>
          <a:ext cx="0" cy="0"/>
          <a:chOff x="0" y="0"/>
          <a:chExt cx="0" cy="0"/>
        </a:xfrm>
      </p:grpSpPr>
      <p:sp>
        <p:nvSpPr>
          <p:cNvPr id="1050506" name="Title 1"/>
          <p:cNvSpPr>
            <a:spLocks noGrp="1"/>
          </p:cNvSpPr>
          <p:nvPr>
            <p:ph type="title"/>
          </p:nvPr>
        </p:nvSpPr>
        <p:spPr>
          <a:xfrm>
            <a:off x="571501" y="216784"/>
            <a:ext cx="4762500" cy="1162051"/>
          </a:xfrm>
          <a:ln>
            <a:noFill/>
          </a:ln>
        </p:spPr>
        <p:txBody>
          <a:bodyPr anchor="b"/>
          <a:lstStyle>
            <a:lvl1pPr algn="l">
              <a:lnSpc>
                <a:spcPts val="2000"/>
              </a:lnSpc>
              <a:buNone/>
              <a:defRPr baseline="0" b="1" cap="all" sz="2200"/>
            </a:lvl1pPr>
          </a:lstStyle>
          <a:p>
            <a:r>
              <a:rPr kumimoji="0" lang="en-US" smtClean="0"/>
              <a:t>Click to edit Master title style</a:t>
            </a:r>
            <a:endParaRPr kumimoji="0" lang="en-US"/>
          </a:p>
        </p:txBody>
      </p:sp>
      <p:sp>
        <p:nvSpPr>
          <p:cNvPr id="1050507" name="Text Placeholder 2"/>
          <p:cNvSpPr>
            <a:spLocks noGrp="1"/>
          </p:cNvSpPr>
          <p:nvPr>
            <p:ph type="body" idx="2"/>
          </p:nvPr>
        </p:nvSpPr>
        <p:spPr>
          <a:xfrm>
            <a:off x="571501" y="1406966"/>
            <a:ext cx="4762500" cy="698500"/>
          </a:xfrm>
        </p:spPr>
        <p:txBody>
          <a:bodyPr/>
          <a:lstStyle>
            <a:lvl1pPr indent="0" marL="45720">
              <a:lnSpc>
                <a:spcPct val="100000"/>
              </a:lnSpc>
              <a:spcBef>
                <a:spcPts val="0"/>
              </a:spcBef>
              <a:buNone/>
              <a:defRPr sz="14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50508" name="Content Placeholder 3"/>
          <p:cNvSpPr>
            <a:spLocks noGrp="1"/>
          </p:cNvSpPr>
          <p:nvPr>
            <p:ph sz="half" idx="1"/>
          </p:nvPr>
        </p:nvSpPr>
        <p:spPr>
          <a:xfrm>
            <a:off x="571500" y="2133603"/>
            <a:ext cx="10191750" cy="3992563"/>
          </a:xfrm>
        </p:spPr>
        <p:txBody>
          <a:bodyPr/>
          <a:lstStyle>
            <a:lvl1pPr>
              <a:defRPr sz="3200"/>
            </a:lvl1pPr>
            <a:lvl2pPr>
              <a:defRPr sz="2800"/>
            </a:lvl2pPr>
            <a:lvl3pPr>
              <a:defRPr sz="2400"/>
            </a:lvl3pPr>
            <a:lvl4pPr>
              <a:defRPr sz="2000"/>
            </a:lvl4pPr>
            <a:lvl5pPr>
              <a:defRPr sz="20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509" name="Date Placeholder 4"/>
          <p:cNvSpPr>
            <a:spLocks noGrp="1"/>
          </p:cNvSpPr>
          <p:nvPr>
            <p:ph type="dt" sz="half" idx="10"/>
          </p:nvPr>
        </p:nvSpPr>
        <p:spPr/>
        <p:txBody>
          <a:bodyPr/>
          <a:p>
            <a:fld id="{3BA08EC1-348B-49DA-BC2C-DCB0068E2F6B}" type="datetime1">
              <a:rPr lang="en-US" smtClean="0"/>
            </a:fld>
            <a:endParaRPr lang="en-US"/>
          </a:p>
        </p:txBody>
      </p:sp>
      <p:sp>
        <p:nvSpPr>
          <p:cNvPr id="1050510" name="Footer Placeholder 5"/>
          <p:cNvSpPr>
            <a:spLocks noGrp="1"/>
          </p:cNvSpPr>
          <p:nvPr>
            <p:ph type="ftr" sz="quarter" idx="11"/>
          </p:nvPr>
        </p:nvSpPr>
        <p:spPr/>
        <p:txBody>
          <a:bodyPr/>
          <a:p>
            <a:r>
              <a:rPr lang="en-US" smtClean="0"/>
              <a:t>@MUSOVYA2017</a:t>
            </a:r>
            <a:endParaRPr lang="en-US"/>
          </a:p>
        </p:txBody>
      </p:sp>
      <p:sp>
        <p:nvSpPr>
          <p:cNvPr id="1050511"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41" name=""/>
        <p:cNvGrpSpPr/>
        <p:nvPr/>
      </p:nvGrpSpPr>
      <p:grpSpPr>
        <a:xfrm>
          <a:off x="0" y="0"/>
          <a:ext cx="0" cy="0"/>
          <a:chOff x="0" y="0"/>
          <a:chExt cx="0" cy="0"/>
        </a:xfrm>
      </p:grpSpPr>
      <p:sp>
        <p:nvSpPr>
          <p:cNvPr id="1050481" name="Title 1"/>
          <p:cNvSpPr>
            <a:spLocks noGrp="1"/>
          </p:cNvSpPr>
          <p:nvPr>
            <p:ph type="title"/>
          </p:nvPr>
        </p:nvSpPr>
        <p:spPr>
          <a:xfrm>
            <a:off x="7358621" y="1066800"/>
            <a:ext cx="3429000" cy="1981200"/>
          </a:xfrm>
        </p:spPr>
        <p:txBody>
          <a:bodyPr anchor="b">
            <a:noAutofit/>
          </a:bodyPr>
          <a:lstStyle>
            <a:lvl1pPr algn="l">
              <a:buNone/>
              <a:defRPr b="1" sz="2100">
                <a:effectLst/>
              </a:defRPr>
            </a:lvl1pPr>
          </a:lstStyle>
          <a:p>
            <a:r>
              <a:rPr kumimoji="0" lang="en-US" smtClean="0"/>
              <a:t>Click to edit Master title style</a:t>
            </a:r>
            <a:endParaRPr kumimoji="0" lang="en-US"/>
          </a:p>
        </p:txBody>
      </p:sp>
      <p:sp>
        <p:nvSpPr>
          <p:cNvPr id="1050482" name="Date Placeholder 4"/>
          <p:cNvSpPr>
            <a:spLocks noGrp="1"/>
          </p:cNvSpPr>
          <p:nvPr>
            <p:ph type="dt" sz="half" idx="10"/>
          </p:nvPr>
        </p:nvSpPr>
        <p:spPr/>
        <p:txBody>
          <a:bodyPr/>
          <a:p>
            <a:fld id="{F98A47C6-693B-46D9-A463-98190B3C23D9}" type="datetime1">
              <a:rPr lang="en-US" smtClean="0"/>
            </a:fld>
            <a:endParaRPr lang="en-US"/>
          </a:p>
        </p:txBody>
      </p:sp>
      <p:sp>
        <p:nvSpPr>
          <p:cNvPr id="1050483" name="Footer Placeholder 5"/>
          <p:cNvSpPr>
            <a:spLocks noGrp="1"/>
          </p:cNvSpPr>
          <p:nvPr>
            <p:ph type="ftr" sz="quarter" idx="11"/>
          </p:nvPr>
        </p:nvSpPr>
        <p:spPr/>
        <p:txBody>
          <a:bodyPr/>
          <a:p>
            <a:r>
              <a:rPr lang="en-US" smtClean="0"/>
              <a:t>@MUSOVYA2017</a:t>
            </a:r>
            <a:endParaRPr lang="en-US"/>
          </a:p>
        </p:txBody>
      </p:sp>
      <p:sp>
        <p:nvSpPr>
          <p:cNvPr id="1050484"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50485" name="Rectangle 7"/>
          <p:cNvSpPr/>
          <p:nvPr/>
        </p:nvSpPr>
        <p:spPr>
          <a:xfrm>
            <a:off x="952500" y="1066800"/>
            <a:ext cx="5715000" cy="4572000"/>
          </a:xfrm>
          <a:prstGeom prst="rect"/>
          <a:solidFill>
            <a:srgbClr val="FFFFFF"/>
          </a:solidFill>
          <a:ln w="88900" cap="sq">
            <a:solidFill>
              <a:srgbClr val="FFFFFF"/>
            </a:solidFill>
            <a:miter lim="800000"/>
          </a:ln>
          <a:effectLst>
            <a:outerShdw algn="tl" blurRad="55500" dir="5400000" dist="18500" rotWithShape="0">
              <a:srgbClr val="000000">
                <a:alpha val="35000"/>
              </a:srgbClr>
            </a:outerShdw>
          </a:effectLst>
          <a:scene3d>
            <a:camera prst="orthographicFront"/>
            <a:lightRig dir="t" rig="twoPt">
              <a:rot lat="0" lon="0" rev="7200000"/>
            </a:lightRig>
          </a:scene3d>
          <a:sp3d contourW="635">
            <a:bevelT w="25400" h="19050"/>
            <a:contourClr>
              <a:srgbClr val="969696"/>
            </a:contourClr>
          </a:sp3d>
        </p:spPr>
        <p:txBody>
          <a:bodyPr anchor="t" lIns="91440" rtlCol="0" tIns="274320">
            <a:normAutofit/>
          </a:bodyPr>
          <a:p>
            <a:pPr algn="l" eaLnBrk="1" hangingPunct="1" indent="-283464" latinLnBrk="0" marL="0" rtl="0">
              <a:lnSpc>
                <a:spcPts val="3000"/>
              </a:lnSpc>
              <a:spcBef>
                <a:spcPts val="600"/>
              </a:spcBef>
              <a:buClr>
                <a:schemeClr val="accent1"/>
              </a:buClr>
              <a:buSzPct val="80000"/>
              <a:buFont typeface="Wingdings 2"/>
              <a:buNone/>
            </a:pPr>
            <a:endParaRPr sz="3200" kern="1200" kumimoji="0" lang="en-US">
              <a:solidFill>
                <a:schemeClr val="tx1"/>
              </a:solidFill>
              <a:latin typeface="+mn-lt"/>
              <a:ea typeface="+mn-ea"/>
              <a:cs typeface="+mn-cs"/>
            </a:endParaRPr>
          </a:p>
        </p:txBody>
      </p:sp>
      <p:sp>
        <p:nvSpPr>
          <p:cNvPr id="1050486" name="Picture Placeholder 2"/>
          <p:cNvSpPr>
            <a:spLocks noGrp="1"/>
          </p:cNvSpPr>
          <p:nvPr>
            <p:ph type="pic" idx="1"/>
          </p:nvPr>
        </p:nvSpPr>
        <p:spPr>
          <a:xfrm>
            <a:off x="1047750" y="1143012"/>
            <a:ext cx="5524500" cy="3514531"/>
          </a:xfrm>
          <a:prstGeom prst="roundRect">
            <a:avLst>
              <a:gd name="adj" fmla="val 783"/>
            </a:avLst>
          </a:prstGeom>
          <a:solidFill>
            <a:schemeClr val="bg2"/>
          </a:solidFill>
          <a:ln w="127000">
            <a:noFill/>
            <a:miter lim="800000"/>
          </a:ln>
          <a:effectLst/>
        </p:spPr>
        <p:txBody>
          <a:bodyPr anchor="t" lIns="91440" tIns="274320"/>
          <a:lstStyle>
            <a:lvl1pPr indent="0">
              <a:buNone/>
              <a:defRPr sz="3200"/>
            </a:lvl1pPr>
          </a:lstStyle>
          <a:p>
            <a:pPr algn="l" eaLnBrk="1" hangingPunct="1" latinLnBrk="0" marL="0"/>
            <a:r>
              <a:rPr kumimoji="0" lang="en-US" smtClean="0"/>
              <a:t>Click icon to add picture</a:t>
            </a:r>
            <a:endParaRPr dirty="0" kumimoji="0" lang="en-US"/>
          </a:p>
        </p:txBody>
      </p:sp>
      <p:sp>
        <p:nvSpPr>
          <p:cNvPr id="1050487" name="Flowchart: Process 8"/>
          <p:cNvSpPr/>
          <p:nvPr/>
        </p:nvSpPr>
        <p:spPr>
          <a:xfrm rot="19468671">
            <a:off x="495906" y="954349"/>
            <a:ext cx="857250" cy="204311"/>
          </a:xfrm>
          <a:prstGeom prst="flowChartProcess"/>
          <a:solidFill>
            <a:srgbClr val="FBFBFB">
              <a:alpha val="45098"/>
            </a:srgbClr>
          </a:solidFill>
          <a:ln w="6350" cap="rnd" cmpd="sng" algn="ctr">
            <a:solidFill>
              <a:srgbClr val="FFFFFF">
                <a:alpha val="100000"/>
              </a:srgbClr>
            </a:solidFill>
            <a:prstDash val="solid"/>
          </a:ln>
          <a:effectLst>
            <a:outerShdw algn="tl" blurRad="25400" dir="3300000" dist="25400" rotWithShape="0" sx="96000" sy="9600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488" name="Flowchart: Process 9"/>
          <p:cNvSpPr/>
          <p:nvPr/>
        </p:nvSpPr>
        <p:spPr>
          <a:xfrm rot="2103354" flipH="1">
            <a:off x="6254587" y="936790"/>
            <a:ext cx="811529" cy="204311"/>
          </a:xfrm>
          <a:prstGeom prst="flowChartProcess"/>
          <a:solidFill>
            <a:srgbClr val="FBFBFB">
              <a:alpha val="45098"/>
            </a:srgbClr>
          </a:solidFill>
          <a:ln w="6350" cap="rnd" cmpd="sng" algn="ctr">
            <a:solidFill>
              <a:srgbClr val="FFFFFF">
                <a:alpha val="100000"/>
              </a:srgbClr>
            </a:solidFill>
            <a:prstDash val="solid"/>
          </a:ln>
          <a:effectLst>
            <a:outerShdw algn="tl" blurRad="25400" dir="3300000" dist="25400" rotWithShape="0" sx="96000" sy="9600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50489" name="Text Placeholder 3"/>
          <p:cNvSpPr>
            <a:spLocks noGrp="1"/>
          </p:cNvSpPr>
          <p:nvPr>
            <p:ph type="body" sz="half" idx="2"/>
          </p:nvPr>
        </p:nvSpPr>
        <p:spPr>
          <a:xfrm>
            <a:off x="1047750" y="4800600"/>
            <a:ext cx="5524500" cy="762000"/>
          </a:xfrm>
        </p:spPr>
        <p:txBody>
          <a:bodyPr anchor="ctr"/>
          <a:lstStyle>
            <a:lvl1pPr algn="l" indent="0" marL="0">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Tree>
  </p:cSld>
  <p:clrMapOvr>
    <a:masterClrMapping/>
  </p:clrMapOvr>
  <p:transition xmlns:p14="http://schemas.microsoft.com/office/powerpoint/2010/main" spd="slow">
    <p:strips dir="ru"/>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39" name=""/>
        <p:cNvGrpSpPr/>
        <p:nvPr/>
      </p:nvGrpSpPr>
      <p:grpSpPr>
        <a:xfrm>
          <a:off x="0" y="0"/>
          <a:ext cx="0" cy="0"/>
          <a:chOff x="0" y="0"/>
          <a:chExt cx="0" cy="0"/>
        </a:xfrm>
      </p:grpSpPr>
      <p:sp>
        <p:nvSpPr>
          <p:cNvPr id="1050467" name="Title 1"/>
          <p:cNvSpPr>
            <a:spLocks noGrp="1"/>
          </p:cNvSpPr>
          <p:nvPr>
            <p:ph type="title"/>
          </p:nvPr>
        </p:nvSpPr>
        <p:spPr/>
        <p:txBody>
          <a:bodyPr/>
          <a:p>
            <a:r>
              <a:rPr kumimoji="0" lang="en-US" smtClean="0"/>
              <a:t>Click to edit Master title style</a:t>
            </a:r>
            <a:endParaRPr kumimoji="0" lang="en-US"/>
          </a:p>
        </p:txBody>
      </p:sp>
      <p:sp>
        <p:nvSpPr>
          <p:cNvPr id="1050468"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69" name="Date Placeholder 3"/>
          <p:cNvSpPr>
            <a:spLocks noGrp="1"/>
          </p:cNvSpPr>
          <p:nvPr>
            <p:ph type="dt" sz="half" idx="10"/>
          </p:nvPr>
        </p:nvSpPr>
        <p:spPr/>
        <p:txBody>
          <a:bodyPr/>
          <a:p>
            <a:fld id="{0AD590CC-B7C5-456D-9718-D79EE4C5EF49}" type="datetime1">
              <a:rPr lang="en-US" smtClean="0"/>
            </a:fld>
            <a:endParaRPr lang="en-US"/>
          </a:p>
        </p:txBody>
      </p:sp>
      <p:sp>
        <p:nvSpPr>
          <p:cNvPr id="1050470" name="Footer Placeholder 4"/>
          <p:cNvSpPr>
            <a:spLocks noGrp="1"/>
          </p:cNvSpPr>
          <p:nvPr>
            <p:ph type="ftr" sz="quarter" idx="11"/>
          </p:nvPr>
        </p:nvSpPr>
        <p:spPr/>
        <p:txBody>
          <a:bodyPr/>
          <a:p>
            <a:r>
              <a:rPr lang="en-US" smtClean="0"/>
              <a:t>@MUSOVYA2017</a:t>
            </a:r>
            <a:endParaRPr lang="en-US"/>
          </a:p>
        </p:txBody>
      </p:sp>
      <p:sp>
        <p:nvSpPr>
          <p:cNvPr id="1050471"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42" name=""/>
        <p:cNvGrpSpPr/>
        <p:nvPr/>
      </p:nvGrpSpPr>
      <p:grpSpPr>
        <a:xfrm>
          <a:off x="0" y="0"/>
          <a:ext cx="0" cy="0"/>
          <a:chOff x="0" y="0"/>
          <a:chExt cx="0" cy="0"/>
        </a:xfrm>
      </p:grpSpPr>
      <p:sp>
        <p:nvSpPr>
          <p:cNvPr id="1050490" name="Vertical Title 1"/>
          <p:cNvSpPr>
            <a:spLocks noGrp="1"/>
          </p:cNvSpPr>
          <p:nvPr>
            <p:ph type="title" orient="vert"/>
          </p:nvPr>
        </p:nvSpPr>
        <p:spPr>
          <a:xfrm>
            <a:off x="8572500" y="274647"/>
            <a:ext cx="2286000" cy="5851525"/>
          </a:xfrm>
        </p:spPr>
        <p:txBody>
          <a:bodyPr vert="eaVert"/>
          <a:p>
            <a:r>
              <a:rPr kumimoji="0" lang="en-US" smtClean="0"/>
              <a:t>Click to edit Master title style</a:t>
            </a:r>
            <a:endParaRPr kumimoji="0" lang="en-US"/>
          </a:p>
        </p:txBody>
      </p:sp>
      <p:sp>
        <p:nvSpPr>
          <p:cNvPr id="1050491" name="Vertical Text Placeholder 2"/>
          <p:cNvSpPr>
            <a:spLocks noGrp="1"/>
          </p:cNvSpPr>
          <p:nvPr>
            <p:ph type="body" orient="vert" idx="1"/>
          </p:nvPr>
        </p:nvSpPr>
        <p:spPr>
          <a:xfrm>
            <a:off x="1428750" y="274649"/>
            <a:ext cx="695325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492" name="Date Placeholder 3"/>
          <p:cNvSpPr>
            <a:spLocks noGrp="1"/>
          </p:cNvSpPr>
          <p:nvPr>
            <p:ph type="dt" sz="half" idx="10"/>
          </p:nvPr>
        </p:nvSpPr>
        <p:spPr/>
        <p:txBody>
          <a:bodyPr/>
          <a:p>
            <a:fld id="{5BDAEB88-D0C5-4982-83DA-9C9D5B519BFD}" type="datetime1">
              <a:rPr lang="en-US" smtClean="0"/>
            </a:fld>
            <a:endParaRPr lang="en-US"/>
          </a:p>
        </p:txBody>
      </p:sp>
      <p:sp>
        <p:nvSpPr>
          <p:cNvPr id="1050493" name="Footer Placeholder 4"/>
          <p:cNvSpPr>
            <a:spLocks noGrp="1"/>
          </p:cNvSpPr>
          <p:nvPr>
            <p:ph type="ftr" sz="quarter" idx="11"/>
          </p:nvPr>
        </p:nvSpPr>
        <p:spPr/>
        <p:txBody>
          <a:bodyPr/>
          <a:p>
            <a:r>
              <a:rPr lang="en-US" smtClean="0"/>
              <a:t>@MUSOVYA2017</a:t>
            </a:r>
            <a:endParaRPr lang="en-US"/>
          </a:p>
        </p:txBody>
      </p:sp>
      <p:sp>
        <p:nvSpPr>
          <p:cNvPr id="1050494"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spd="slow">
    <p:strips dir="ru"/>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showMasterPhAnim="0" showMasterSp="0" type="title">
  <p:cSld name="Title Slide">
    <p:spTree>
      <p:nvGrpSpPr>
        <p:cNvPr id="1508" name=""/>
        <p:cNvGrpSpPr/>
        <p:nvPr/>
      </p:nvGrpSpPr>
      <p:grpSpPr>
        <a:xfrm>
          <a:off x="0" y="0"/>
          <a:ext cx="0" cy="0"/>
          <a:chOff x="0" y="0"/>
          <a:chExt cx="0" cy="0"/>
        </a:xfrm>
      </p:grpSpPr>
      <p:grpSp>
        <p:nvGrpSpPr>
          <p:cNvPr id="1509" name="Group 2"/>
          <p:cNvGrpSpPr/>
          <p:nvPr/>
        </p:nvGrpSpPr>
        <p:grpSpPr bwMode="auto">
          <a:xfrm>
            <a:off x="0" y="0"/>
            <a:ext cx="11430000" cy="6934200"/>
            <a:chOff x="0" y="0"/>
            <a:chExt cx="5760" cy="4368"/>
          </a:xfrm>
        </p:grpSpPr>
        <p:sp>
          <p:nvSpPr>
            <p:cNvPr id="1050886" name="Freeform 3"/>
            <p:cNvSpPr/>
            <p:nvPr/>
          </p:nvSpPr>
          <p:spPr bwMode="hidden">
            <a:xfrm>
              <a:off x="0" y="2208"/>
              <a:ext cx="2515" cy="1970"/>
            </a:xfrm>
            <a:custGeom>
              <a:avLst/>
              <a:ahLst/>
              <a:cxnLst>
                <a:cxn ang="0">
                  <a:pos x="744" y="1669"/>
                </a:cxn>
                <a:cxn ang="0">
                  <a:pos x="852" y="1400"/>
                </a:cxn>
                <a:cxn ang="0">
                  <a:pos x="876" y="1171"/>
                </a:cxn>
                <a:cxn ang="0">
                  <a:pos x="979" y="1370"/>
                </a:cxn>
                <a:cxn ang="0">
                  <a:pos x="1231" y="1621"/>
                </a:cxn>
                <a:cxn ang="0">
                  <a:pos x="1471" y="1693"/>
                </a:cxn>
                <a:cxn ang="0">
                  <a:pos x="1819" y="1678"/>
                </a:cxn>
                <a:cxn ang="0">
                  <a:pos x="1893" y="1513"/>
                </a:cxn>
                <a:cxn ang="0">
                  <a:pos x="1874" y="1285"/>
                </a:cxn>
                <a:cxn ang="0">
                  <a:pos x="1783" y="967"/>
                </a:cxn>
                <a:cxn ang="0">
                  <a:pos x="1289" y="873"/>
                </a:cxn>
                <a:cxn ang="0">
                  <a:pos x="1549" y="745"/>
                </a:cxn>
                <a:cxn ang="0">
                  <a:pos x="1753" y="732"/>
                </a:cxn>
                <a:cxn ang="0">
                  <a:pos x="2107" y="618"/>
                </a:cxn>
                <a:cxn ang="0">
                  <a:pos x="2377" y="438"/>
                </a:cxn>
                <a:cxn ang="0">
                  <a:pos x="2420" y="343"/>
                </a:cxn>
                <a:cxn ang="0">
                  <a:pos x="2077" y="331"/>
                </a:cxn>
                <a:cxn ang="0">
                  <a:pos x="1951" y="301"/>
                </a:cxn>
                <a:cxn ang="0">
                  <a:pos x="1645" y="289"/>
                </a:cxn>
                <a:cxn ang="0">
                  <a:pos x="1297" y="408"/>
                </a:cxn>
                <a:cxn ang="0">
                  <a:pos x="1308" y="337"/>
                </a:cxn>
                <a:cxn ang="0">
                  <a:pos x="1453" y="168"/>
                </a:cxn>
                <a:cxn ang="0">
                  <a:pos x="1477" y="36"/>
                </a:cxn>
                <a:cxn ang="0">
                  <a:pos x="1417" y="24"/>
                </a:cxn>
                <a:cxn ang="0">
                  <a:pos x="1189" y="102"/>
                </a:cxn>
                <a:cxn ang="0">
                  <a:pos x="1026" y="144"/>
                </a:cxn>
                <a:cxn ang="0">
                  <a:pos x="889" y="331"/>
                </a:cxn>
                <a:cxn ang="0">
                  <a:pos x="726" y="480"/>
                </a:cxn>
                <a:cxn ang="0">
                  <a:pos x="643" y="540"/>
                </a:cxn>
                <a:cxn ang="0">
                  <a:pos x="600" y="516"/>
                </a:cxn>
                <a:cxn ang="0">
                  <a:pos x="552" y="486"/>
                </a:cxn>
                <a:cxn ang="0">
                  <a:pos x="528" y="462"/>
                </a:cxn>
                <a:cxn ang="0">
                  <a:pos x="474" y="426"/>
                </a:cxn>
                <a:cxn ang="0">
                  <a:pos x="415" y="390"/>
                </a:cxn>
                <a:cxn ang="0">
                  <a:pos x="366" y="366"/>
                </a:cxn>
                <a:cxn ang="0">
                  <a:pos x="192" y="234"/>
                </a:cxn>
                <a:cxn ang="0">
                  <a:pos x="570" y="564"/>
                </a:cxn>
                <a:cxn ang="0">
                  <a:pos x="444" y="732"/>
                </a:cxn>
                <a:cxn ang="0">
                  <a:pos x="318" y="787"/>
                </a:cxn>
                <a:cxn ang="0">
                  <a:pos x="127" y="853"/>
                </a:cxn>
                <a:cxn ang="0">
                  <a:pos x="0" y="1165"/>
                </a:cxn>
                <a:cxn ang="0">
                  <a:pos x="372" y="1015"/>
                </a:cxn>
                <a:cxn ang="0">
                  <a:pos x="222" y="1262"/>
                </a:cxn>
                <a:cxn ang="0">
                  <a:pos x="139" y="1459"/>
                </a:cxn>
                <a:cxn ang="0">
                  <a:pos x="102" y="1495"/>
                </a:cxn>
                <a:cxn ang="0">
                  <a:pos x="84" y="1519"/>
                </a:cxn>
                <a:cxn ang="0">
                  <a:pos x="96" y="1537"/>
                </a:cxn>
                <a:cxn ang="0">
                  <a:pos x="127" y="1567"/>
                </a:cxn>
                <a:cxn ang="0">
                  <a:pos x="145" y="1633"/>
                </a:cxn>
                <a:cxn ang="0">
                  <a:pos x="156" y="1693"/>
                </a:cxn>
                <a:cxn ang="0">
                  <a:pos x="162" y="1723"/>
                </a:cxn>
                <a:cxn ang="0">
                  <a:pos x="216" y="1802"/>
                </a:cxn>
                <a:cxn ang="0">
                  <a:pos x="228" y="1850"/>
                </a:cxn>
                <a:cxn ang="0">
                  <a:pos x="240" y="1904"/>
                </a:cxn>
                <a:cxn ang="0">
                  <a:pos x="246" y="1922"/>
                </a:cxn>
                <a:cxn ang="0">
                  <a:pos x="258" y="1970"/>
                </a:cxn>
                <a:cxn ang="0">
                  <a:pos x="462" y="1922"/>
                </a:cxn>
                <a:cxn ang="0">
                  <a:pos x="624" y="1778"/>
                </a:cxn>
              </a:cxnLst>
              <a:rect l="0" t="0" r="r" b="b"/>
              <a:pathLst>
                <a:path w="2515" h="1970">
                  <a:moveTo>
                    <a:pt x="624" y="1778"/>
                  </a:moveTo>
                  <a:lnTo>
                    <a:pt x="744" y="1669"/>
                  </a:lnTo>
                  <a:lnTo>
                    <a:pt x="834" y="1627"/>
                  </a:lnTo>
                  <a:lnTo>
                    <a:pt x="852" y="1400"/>
                  </a:lnTo>
                  <a:lnTo>
                    <a:pt x="834" y="1225"/>
                  </a:lnTo>
                  <a:lnTo>
                    <a:pt x="876" y="1171"/>
                  </a:lnTo>
                  <a:lnTo>
                    <a:pt x="901" y="1268"/>
                  </a:lnTo>
                  <a:lnTo>
                    <a:pt x="979" y="1370"/>
                  </a:lnTo>
                  <a:lnTo>
                    <a:pt x="1116" y="1519"/>
                  </a:lnTo>
                  <a:lnTo>
                    <a:pt x="1231" y="1621"/>
                  </a:lnTo>
                  <a:lnTo>
                    <a:pt x="1353" y="1632"/>
                  </a:lnTo>
                  <a:lnTo>
                    <a:pt x="1471" y="1693"/>
                  </a:lnTo>
                  <a:lnTo>
                    <a:pt x="1664" y="1659"/>
                  </a:lnTo>
                  <a:lnTo>
                    <a:pt x="1819" y="1678"/>
                  </a:lnTo>
                  <a:lnTo>
                    <a:pt x="1975" y="1632"/>
                  </a:lnTo>
                  <a:lnTo>
                    <a:pt x="1893" y="1513"/>
                  </a:lnTo>
                  <a:lnTo>
                    <a:pt x="1920" y="1385"/>
                  </a:lnTo>
                  <a:lnTo>
                    <a:pt x="1874" y="1285"/>
                  </a:lnTo>
                  <a:lnTo>
                    <a:pt x="1865" y="1129"/>
                  </a:lnTo>
                  <a:lnTo>
                    <a:pt x="1783" y="967"/>
                  </a:lnTo>
                  <a:lnTo>
                    <a:pt x="1527" y="891"/>
                  </a:lnTo>
                  <a:lnTo>
                    <a:pt x="1289" y="873"/>
                  </a:lnTo>
                  <a:lnTo>
                    <a:pt x="1393" y="781"/>
                  </a:lnTo>
                  <a:lnTo>
                    <a:pt x="1549" y="745"/>
                  </a:lnTo>
                  <a:lnTo>
                    <a:pt x="1620" y="738"/>
                  </a:lnTo>
                  <a:lnTo>
                    <a:pt x="1753" y="732"/>
                  </a:lnTo>
                  <a:lnTo>
                    <a:pt x="1933" y="720"/>
                  </a:lnTo>
                  <a:lnTo>
                    <a:pt x="2107" y="618"/>
                  </a:lnTo>
                  <a:lnTo>
                    <a:pt x="2227" y="516"/>
                  </a:lnTo>
                  <a:lnTo>
                    <a:pt x="2377" y="438"/>
                  </a:lnTo>
                  <a:lnTo>
                    <a:pt x="2515" y="337"/>
                  </a:lnTo>
                  <a:lnTo>
                    <a:pt x="2420" y="343"/>
                  </a:lnTo>
                  <a:lnTo>
                    <a:pt x="2191" y="343"/>
                  </a:lnTo>
                  <a:lnTo>
                    <a:pt x="2077" y="331"/>
                  </a:lnTo>
                  <a:lnTo>
                    <a:pt x="2053" y="301"/>
                  </a:lnTo>
                  <a:lnTo>
                    <a:pt x="1951" y="301"/>
                  </a:lnTo>
                  <a:lnTo>
                    <a:pt x="1795" y="259"/>
                  </a:lnTo>
                  <a:lnTo>
                    <a:pt x="1645" y="289"/>
                  </a:lnTo>
                  <a:lnTo>
                    <a:pt x="1447" y="372"/>
                  </a:lnTo>
                  <a:lnTo>
                    <a:pt x="1297" y="408"/>
                  </a:lnTo>
                  <a:lnTo>
                    <a:pt x="1153" y="414"/>
                  </a:lnTo>
                  <a:lnTo>
                    <a:pt x="1308" y="337"/>
                  </a:lnTo>
                  <a:lnTo>
                    <a:pt x="1465" y="198"/>
                  </a:lnTo>
                  <a:lnTo>
                    <a:pt x="1453" y="168"/>
                  </a:lnTo>
                  <a:lnTo>
                    <a:pt x="1465" y="102"/>
                  </a:lnTo>
                  <a:lnTo>
                    <a:pt x="1477" y="36"/>
                  </a:lnTo>
                  <a:lnTo>
                    <a:pt x="1453" y="0"/>
                  </a:lnTo>
                  <a:lnTo>
                    <a:pt x="1417" y="24"/>
                  </a:lnTo>
                  <a:lnTo>
                    <a:pt x="1356" y="42"/>
                  </a:lnTo>
                  <a:lnTo>
                    <a:pt x="1189" y="102"/>
                  </a:lnTo>
                  <a:lnTo>
                    <a:pt x="1098" y="144"/>
                  </a:lnTo>
                  <a:lnTo>
                    <a:pt x="1026" y="144"/>
                  </a:lnTo>
                  <a:lnTo>
                    <a:pt x="991" y="168"/>
                  </a:lnTo>
                  <a:lnTo>
                    <a:pt x="889" y="331"/>
                  </a:lnTo>
                  <a:lnTo>
                    <a:pt x="852" y="408"/>
                  </a:lnTo>
                  <a:lnTo>
                    <a:pt x="726" y="480"/>
                  </a:lnTo>
                  <a:lnTo>
                    <a:pt x="649" y="540"/>
                  </a:lnTo>
                  <a:lnTo>
                    <a:pt x="643" y="540"/>
                  </a:lnTo>
                  <a:lnTo>
                    <a:pt x="637" y="534"/>
                  </a:lnTo>
                  <a:lnTo>
                    <a:pt x="600" y="516"/>
                  </a:lnTo>
                  <a:lnTo>
                    <a:pt x="564" y="492"/>
                  </a:lnTo>
                  <a:lnTo>
                    <a:pt x="552" y="486"/>
                  </a:lnTo>
                  <a:lnTo>
                    <a:pt x="540" y="474"/>
                  </a:lnTo>
                  <a:lnTo>
                    <a:pt x="528" y="462"/>
                  </a:lnTo>
                  <a:lnTo>
                    <a:pt x="504" y="444"/>
                  </a:lnTo>
                  <a:lnTo>
                    <a:pt x="474" y="426"/>
                  </a:lnTo>
                  <a:lnTo>
                    <a:pt x="444" y="408"/>
                  </a:lnTo>
                  <a:lnTo>
                    <a:pt x="415" y="390"/>
                  </a:lnTo>
                  <a:lnTo>
                    <a:pt x="385" y="372"/>
                  </a:lnTo>
                  <a:lnTo>
                    <a:pt x="366" y="366"/>
                  </a:lnTo>
                  <a:lnTo>
                    <a:pt x="360" y="360"/>
                  </a:lnTo>
                  <a:lnTo>
                    <a:pt x="192" y="234"/>
                  </a:lnTo>
                  <a:lnTo>
                    <a:pt x="210" y="307"/>
                  </a:lnTo>
                  <a:lnTo>
                    <a:pt x="570" y="564"/>
                  </a:lnTo>
                  <a:lnTo>
                    <a:pt x="558" y="618"/>
                  </a:lnTo>
                  <a:lnTo>
                    <a:pt x="444" y="732"/>
                  </a:lnTo>
                  <a:lnTo>
                    <a:pt x="324" y="787"/>
                  </a:lnTo>
                  <a:lnTo>
                    <a:pt x="318" y="787"/>
                  </a:lnTo>
                  <a:lnTo>
                    <a:pt x="258" y="811"/>
                  </a:lnTo>
                  <a:lnTo>
                    <a:pt x="127" y="853"/>
                  </a:lnTo>
                  <a:lnTo>
                    <a:pt x="0" y="901"/>
                  </a:lnTo>
                  <a:lnTo>
                    <a:pt x="0" y="1165"/>
                  </a:lnTo>
                  <a:lnTo>
                    <a:pt x="78" y="1147"/>
                  </a:lnTo>
                  <a:lnTo>
                    <a:pt x="372" y="1015"/>
                  </a:lnTo>
                  <a:lnTo>
                    <a:pt x="336" y="1117"/>
                  </a:lnTo>
                  <a:lnTo>
                    <a:pt x="222" y="1262"/>
                  </a:lnTo>
                  <a:lnTo>
                    <a:pt x="145" y="1453"/>
                  </a:lnTo>
                  <a:lnTo>
                    <a:pt x="139" y="1459"/>
                  </a:lnTo>
                  <a:lnTo>
                    <a:pt x="133" y="1465"/>
                  </a:lnTo>
                  <a:lnTo>
                    <a:pt x="102" y="1495"/>
                  </a:lnTo>
                  <a:lnTo>
                    <a:pt x="90" y="1507"/>
                  </a:lnTo>
                  <a:lnTo>
                    <a:pt x="84" y="1519"/>
                  </a:lnTo>
                  <a:lnTo>
                    <a:pt x="84" y="1531"/>
                  </a:lnTo>
                  <a:lnTo>
                    <a:pt x="96" y="1537"/>
                  </a:lnTo>
                  <a:lnTo>
                    <a:pt x="114" y="1549"/>
                  </a:lnTo>
                  <a:lnTo>
                    <a:pt x="127" y="1567"/>
                  </a:lnTo>
                  <a:lnTo>
                    <a:pt x="139" y="1597"/>
                  </a:lnTo>
                  <a:lnTo>
                    <a:pt x="145" y="1633"/>
                  </a:lnTo>
                  <a:lnTo>
                    <a:pt x="150" y="1663"/>
                  </a:lnTo>
                  <a:lnTo>
                    <a:pt x="156" y="1693"/>
                  </a:lnTo>
                  <a:lnTo>
                    <a:pt x="162" y="1717"/>
                  </a:lnTo>
                  <a:lnTo>
                    <a:pt x="162" y="1723"/>
                  </a:lnTo>
                  <a:lnTo>
                    <a:pt x="216" y="1796"/>
                  </a:lnTo>
                  <a:lnTo>
                    <a:pt x="216" y="1802"/>
                  </a:lnTo>
                  <a:lnTo>
                    <a:pt x="222" y="1814"/>
                  </a:lnTo>
                  <a:lnTo>
                    <a:pt x="228" y="1850"/>
                  </a:lnTo>
                  <a:lnTo>
                    <a:pt x="234" y="1886"/>
                  </a:lnTo>
                  <a:lnTo>
                    <a:pt x="240" y="1904"/>
                  </a:lnTo>
                  <a:lnTo>
                    <a:pt x="240" y="1916"/>
                  </a:lnTo>
                  <a:lnTo>
                    <a:pt x="246" y="1922"/>
                  </a:lnTo>
                  <a:lnTo>
                    <a:pt x="252" y="1934"/>
                  </a:lnTo>
                  <a:lnTo>
                    <a:pt x="258" y="1970"/>
                  </a:lnTo>
                  <a:lnTo>
                    <a:pt x="438" y="1970"/>
                  </a:lnTo>
                  <a:lnTo>
                    <a:pt x="462" y="1922"/>
                  </a:lnTo>
                  <a:lnTo>
                    <a:pt x="624" y="1778"/>
                  </a:lnTo>
                  <a:lnTo>
                    <a:pt x="624" y="1778"/>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p>
              <a:endParaRPr lang="en-US"/>
            </a:p>
          </p:txBody>
        </p:sp>
        <p:sp>
          <p:nvSpPr>
            <p:cNvPr id="1050887" name="Freeform 4"/>
            <p:cNvSpPr/>
            <p:nvPr/>
          </p:nvSpPr>
          <p:spPr bwMode="hidden">
            <a:xfrm>
              <a:off x="0" y="2496"/>
              <a:ext cx="2112" cy="1604"/>
            </a:xfrm>
            <a:custGeom>
              <a:avLst/>
              <a:ahLst/>
              <a:cxnLst>
                <a:cxn ang="0">
                  <a:pos x="580" y="1043"/>
                </a:cxn>
                <a:cxn ang="0">
                  <a:pos x="544" y="683"/>
                </a:cxn>
                <a:cxn ang="0">
                  <a:pos x="670" y="395"/>
                </a:cxn>
                <a:cxn ang="0">
                  <a:pos x="927" y="587"/>
                </a:cxn>
                <a:cxn ang="0">
                  <a:pos x="1214" y="869"/>
                </a:cxn>
                <a:cxn ang="0">
                  <a:pos x="1483" y="1109"/>
                </a:cxn>
                <a:cxn ang="0">
                  <a:pos x="1800" y="1360"/>
                </a:cxn>
                <a:cxn ang="0">
                  <a:pos x="1883" y="1414"/>
                </a:cxn>
                <a:cxn ang="0">
                  <a:pos x="1836" y="1354"/>
                </a:cxn>
                <a:cxn ang="0">
                  <a:pos x="1411" y="1001"/>
                </a:cxn>
                <a:cxn ang="0">
                  <a:pos x="1088" y="683"/>
                </a:cxn>
                <a:cxn ang="0">
                  <a:pos x="723" y="329"/>
                </a:cxn>
                <a:cxn ang="0">
                  <a:pos x="999" y="311"/>
                </a:cxn>
                <a:cxn ang="0">
                  <a:pos x="1286" y="317"/>
                </a:cxn>
                <a:cxn ang="0">
                  <a:pos x="1614" y="269"/>
                </a:cxn>
                <a:cxn ang="0">
                  <a:pos x="2123" y="197"/>
                </a:cxn>
                <a:cxn ang="0">
                  <a:pos x="2075" y="173"/>
                </a:cxn>
                <a:cxn ang="0">
                  <a:pos x="1543" y="257"/>
                </a:cxn>
                <a:cxn ang="0">
                  <a:pos x="1208" y="275"/>
                </a:cxn>
                <a:cxn ang="0">
                  <a:pos x="759" y="257"/>
                </a:cxn>
                <a:cxn ang="0">
                  <a:pos x="819" y="227"/>
                </a:cxn>
                <a:cxn ang="0">
                  <a:pos x="1142" y="0"/>
                </a:cxn>
                <a:cxn ang="0">
                  <a:pos x="1088" y="30"/>
                </a:cxn>
                <a:cxn ang="0">
                  <a:pos x="1010" y="84"/>
                </a:cxn>
                <a:cxn ang="0">
                  <a:pos x="855" y="191"/>
                </a:cxn>
                <a:cxn ang="0">
                  <a:pos x="670" y="281"/>
                </a:cxn>
                <a:cxn ang="0">
                  <a:pos x="634" y="359"/>
                </a:cxn>
                <a:cxn ang="0">
                  <a:pos x="305" y="587"/>
                </a:cxn>
                <a:cxn ang="0">
                  <a:pos x="0" y="725"/>
                </a:cxn>
                <a:cxn ang="0">
                  <a:pos x="0" y="731"/>
                </a:cxn>
                <a:cxn ang="0">
                  <a:pos x="0" y="767"/>
                </a:cxn>
                <a:cxn ang="0">
                  <a:pos x="299" y="635"/>
                </a:cxn>
                <a:cxn ang="0">
                  <a:pos x="592" y="431"/>
                </a:cxn>
                <a:cxn ang="0">
                  <a:pos x="508" y="671"/>
                </a:cxn>
                <a:cxn ang="0">
                  <a:pos x="526" y="995"/>
                </a:cxn>
                <a:cxn ang="0">
                  <a:pos x="460" y="1168"/>
                </a:cxn>
                <a:cxn ang="0">
                  <a:pos x="329" y="1480"/>
                </a:cxn>
                <a:cxn ang="0">
                  <a:pos x="323" y="1696"/>
                </a:cxn>
                <a:cxn ang="0">
                  <a:pos x="329" y="1696"/>
                </a:cxn>
                <a:cxn ang="0">
                  <a:pos x="347" y="1552"/>
                </a:cxn>
                <a:cxn ang="0">
                  <a:pos x="580" y="1043"/>
                </a:cxn>
                <a:cxn ang="0">
                  <a:pos x="580" y="1043"/>
                </a:cxn>
              </a:cxnLst>
              <a:rect l="0" t="0" r="r" b="b"/>
              <a:pathLst>
                <a:path w="2123" h="1696">
                  <a:moveTo>
                    <a:pt x="580" y="1043"/>
                  </a:moveTo>
                  <a:lnTo>
                    <a:pt x="544" y="683"/>
                  </a:lnTo>
                  <a:lnTo>
                    <a:pt x="670" y="395"/>
                  </a:lnTo>
                  <a:lnTo>
                    <a:pt x="927" y="587"/>
                  </a:lnTo>
                  <a:lnTo>
                    <a:pt x="1214" y="869"/>
                  </a:lnTo>
                  <a:lnTo>
                    <a:pt x="1483" y="1109"/>
                  </a:lnTo>
                  <a:lnTo>
                    <a:pt x="1800" y="1360"/>
                  </a:lnTo>
                  <a:lnTo>
                    <a:pt x="1883" y="1414"/>
                  </a:lnTo>
                  <a:lnTo>
                    <a:pt x="1836" y="1354"/>
                  </a:lnTo>
                  <a:lnTo>
                    <a:pt x="1411" y="1001"/>
                  </a:lnTo>
                  <a:lnTo>
                    <a:pt x="1088" y="683"/>
                  </a:lnTo>
                  <a:lnTo>
                    <a:pt x="723" y="329"/>
                  </a:lnTo>
                  <a:lnTo>
                    <a:pt x="999" y="311"/>
                  </a:lnTo>
                  <a:lnTo>
                    <a:pt x="1286" y="317"/>
                  </a:lnTo>
                  <a:lnTo>
                    <a:pt x="1614" y="269"/>
                  </a:lnTo>
                  <a:lnTo>
                    <a:pt x="2123" y="197"/>
                  </a:lnTo>
                  <a:lnTo>
                    <a:pt x="2075" y="173"/>
                  </a:lnTo>
                  <a:lnTo>
                    <a:pt x="1543" y="257"/>
                  </a:lnTo>
                  <a:lnTo>
                    <a:pt x="1208" y="275"/>
                  </a:lnTo>
                  <a:lnTo>
                    <a:pt x="759" y="257"/>
                  </a:lnTo>
                  <a:lnTo>
                    <a:pt x="819" y="227"/>
                  </a:lnTo>
                  <a:lnTo>
                    <a:pt x="1142" y="0"/>
                  </a:lnTo>
                  <a:lnTo>
                    <a:pt x="1088" y="30"/>
                  </a:lnTo>
                  <a:lnTo>
                    <a:pt x="1010" y="84"/>
                  </a:lnTo>
                  <a:lnTo>
                    <a:pt x="855" y="191"/>
                  </a:lnTo>
                  <a:lnTo>
                    <a:pt x="670" y="281"/>
                  </a:lnTo>
                  <a:lnTo>
                    <a:pt x="634" y="359"/>
                  </a:lnTo>
                  <a:lnTo>
                    <a:pt x="305" y="587"/>
                  </a:lnTo>
                  <a:lnTo>
                    <a:pt x="0" y="725"/>
                  </a:lnTo>
                  <a:lnTo>
                    <a:pt x="0" y="731"/>
                  </a:lnTo>
                  <a:lnTo>
                    <a:pt x="0" y="767"/>
                  </a:lnTo>
                  <a:lnTo>
                    <a:pt x="299" y="635"/>
                  </a:lnTo>
                  <a:lnTo>
                    <a:pt x="592" y="431"/>
                  </a:lnTo>
                  <a:lnTo>
                    <a:pt x="508" y="671"/>
                  </a:lnTo>
                  <a:lnTo>
                    <a:pt x="526" y="995"/>
                  </a:lnTo>
                  <a:lnTo>
                    <a:pt x="460" y="1168"/>
                  </a:lnTo>
                  <a:lnTo>
                    <a:pt x="329" y="1480"/>
                  </a:lnTo>
                  <a:lnTo>
                    <a:pt x="323" y="1696"/>
                  </a:lnTo>
                  <a:lnTo>
                    <a:pt x="329" y="1696"/>
                  </a:lnTo>
                  <a:lnTo>
                    <a:pt x="347" y="1552"/>
                  </a:lnTo>
                  <a:lnTo>
                    <a:pt x="580" y="1043"/>
                  </a:lnTo>
                  <a:lnTo>
                    <a:pt x="580" y="1043"/>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888" name="Freeform 5"/>
            <p:cNvSpPr/>
            <p:nvPr/>
          </p:nvSpPr>
          <p:spPr bwMode="hidden">
            <a:xfrm>
              <a:off x="2092" y="3233"/>
              <a:ext cx="3668" cy="943"/>
            </a:xfrm>
            <a:custGeom>
              <a:avLst/>
              <a:ahLst/>
              <a:cxnLst>
                <a:cxn ang="0">
                  <a:pos x="3338" y="288"/>
                </a:cxn>
                <a:cxn ang="0">
                  <a:pos x="3194" y="258"/>
                </a:cxn>
                <a:cxn ang="0">
                  <a:pos x="2816" y="234"/>
                </a:cxn>
                <a:cxn ang="0">
                  <a:pos x="2330" y="306"/>
                </a:cxn>
                <a:cxn ang="0">
                  <a:pos x="2372" y="258"/>
                </a:cxn>
                <a:cxn ang="0">
                  <a:pos x="2624" y="132"/>
                </a:cxn>
                <a:cxn ang="0">
                  <a:pos x="2707" y="24"/>
                </a:cxn>
                <a:cxn ang="0">
                  <a:pos x="2642" y="12"/>
                </a:cxn>
                <a:cxn ang="0">
                  <a:pos x="2515" y="54"/>
                </a:cxn>
                <a:cxn ang="0">
                  <a:pos x="2324" y="66"/>
                </a:cxn>
                <a:cxn ang="0">
                  <a:pos x="2101" y="90"/>
                </a:cxn>
                <a:cxn ang="0">
                  <a:pos x="1855" y="228"/>
                </a:cxn>
                <a:cxn ang="0">
                  <a:pos x="1591" y="337"/>
                </a:cxn>
                <a:cxn ang="0">
                  <a:pos x="1459" y="379"/>
                </a:cxn>
                <a:cxn ang="0">
                  <a:pos x="1417" y="361"/>
                </a:cxn>
                <a:cxn ang="0">
                  <a:pos x="1363" y="331"/>
                </a:cxn>
                <a:cxn ang="0">
                  <a:pos x="1344" y="312"/>
                </a:cxn>
                <a:cxn ang="0">
                  <a:pos x="1290" y="288"/>
                </a:cxn>
                <a:cxn ang="0">
                  <a:pos x="1230" y="252"/>
                </a:cxn>
                <a:cxn ang="0">
                  <a:pos x="1119" y="227"/>
                </a:cxn>
                <a:cxn ang="0">
                  <a:pos x="1320" y="438"/>
                </a:cxn>
                <a:cxn ang="0">
                  <a:pos x="960" y="558"/>
                </a:cxn>
                <a:cxn ang="0">
                  <a:pos x="474" y="630"/>
                </a:cxn>
                <a:cxn ang="0">
                  <a:pos x="132" y="781"/>
                </a:cxn>
                <a:cxn ang="0">
                  <a:pos x="234" y="847"/>
                </a:cxn>
                <a:cxn ang="0">
                  <a:pos x="925" y="739"/>
                </a:cxn>
                <a:cxn ang="0">
                  <a:pos x="637" y="925"/>
                </a:cxn>
                <a:cxn ang="0">
                  <a:pos x="1405" y="943"/>
                </a:cxn>
                <a:cxn ang="0">
                  <a:pos x="1447" y="943"/>
                </a:cxn>
                <a:cxn ang="0">
                  <a:pos x="2888" y="859"/>
                </a:cxn>
                <a:cxn ang="0">
                  <a:pos x="2582" y="708"/>
                </a:cxn>
                <a:cxn ang="0">
                  <a:pos x="2299" y="606"/>
                </a:cxn>
                <a:cxn ang="0">
                  <a:pos x="2606" y="588"/>
                </a:cxn>
                <a:cxn ang="0">
                  <a:pos x="3001" y="582"/>
                </a:cxn>
                <a:cxn ang="0">
                  <a:pos x="3452" y="438"/>
                </a:cxn>
                <a:cxn ang="0">
                  <a:pos x="3668" y="312"/>
                </a:cxn>
                <a:cxn ang="0">
                  <a:pos x="3482" y="300"/>
                </a:cxn>
              </a:cxnLst>
              <a:rect l="0" t="0" r="r" b="b"/>
              <a:pathLst>
                <a:path w="3668" h="943">
                  <a:moveTo>
                    <a:pt x="3482" y="300"/>
                  </a:moveTo>
                  <a:lnTo>
                    <a:pt x="3338" y="288"/>
                  </a:lnTo>
                  <a:lnTo>
                    <a:pt x="3320" y="264"/>
                  </a:lnTo>
                  <a:lnTo>
                    <a:pt x="3194" y="258"/>
                  </a:lnTo>
                  <a:lnTo>
                    <a:pt x="3019" y="216"/>
                  </a:lnTo>
                  <a:lnTo>
                    <a:pt x="2816" y="234"/>
                  </a:lnTo>
                  <a:lnTo>
                    <a:pt x="2533" y="288"/>
                  </a:lnTo>
                  <a:lnTo>
                    <a:pt x="2330" y="306"/>
                  </a:lnTo>
                  <a:lnTo>
                    <a:pt x="2149" y="312"/>
                  </a:lnTo>
                  <a:lnTo>
                    <a:pt x="2372" y="258"/>
                  </a:lnTo>
                  <a:lnTo>
                    <a:pt x="2624" y="156"/>
                  </a:lnTo>
                  <a:lnTo>
                    <a:pt x="2624" y="132"/>
                  </a:lnTo>
                  <a:lnTo>
                    <a:pt x="2666" y="78"/>
                  </a:lnTo>
                  <a:lnTo>
                    <a:pt x="2707" y="24"/>
                  </a:lnTo>
                  <a:lnTo>
                    <a:pt x="2695" y="0"/>
                  </a:lnTo>
                  <a:lnTo>
                    <a:pt x="2642" y="12"/>
                  </a:lnTo>
                  <a:lnTo>
                    <a:pt x="2557" y="30"/>
                  </a:lnTo>
                  <a:lnTo>
                    <a:pt x="2515" y="54"/>
                  </a:lnTo>
                  <a:lnTo>
                    <a:pt x="2425" y="84"/>
                  </a:lnTo>
                  <a:lnTo>
                    <a:pt x="2324" y="66"/>
                  </a:lnTo>
                  <a:lnTo>
                    <a:pt x="2191" y="90"/>
                  </a:lnTo>
                  <a:lnTo>
                    <a:pt x="2101" y="90"/>
                  </a:lnTo>
                  <a:lnTo>
                    <a:pt x="2047" y="108"/>
                  </a:lnTo>
                  <a:lnTo>
                    <a:pt x="1855" y="228"/>
                  </a:lnTo>
                  <a:lnTo>
                    <a:pt x="1771" y="288"/>
                  </a:lnTo>
                  <a:lnTo>
                    <a:pt x="1591" y="337"/>
                  </a:lnTo>
                  <a:lnTo>
                    <a:pt x="1465" y="379"/>
                  </a:lnTo>
                  <a:lnTo>
                    <a:pt x="1459" y="379"/>
                  </a:lnTo>
                  <a:lnTo>
                    <a:pt x="1453" y="373"/>
                  </a:lnTo>
                  <a:lnTo>
                    <a:pt x="1417" y="361"/>
                  </a:lnTo>
                  <a:lnTo>
                    <a:pt x="1381" y="343"/>
                  </a:lnTo>
                  <a:lnTo>
                    <a:pt x="1363" y="331"/>
                  </a:lnTo>
                  <a:lnTo>
                    <a:pt x="1357" y="324"/>
                  </a:lnTo>
                  <a:lnTo>
                    <a:pt x="1344" y="312"/>
                  </a:lnTo>
                  <a:lnTo>
                    <a:pt x="1320" y="300"/>
                  </a:lnTo>
                  <a:lnTo>
                    <a:pt x="1290" y="288"/>
                  </a:lnTo>
                  <a:lnTo>
                    <a:pt x="1260" y="270"/>
                  </a:lnTo>
                  <a:lnTo>
                    <a:pt x="1230" y="252"/>
                  </a:lnTo>
                  <a:lnTo>
                    <a:pt x="1187" y="227"/>
                  </a:lnTo>
                  <a:lnTo>
                    <a:pt x="1119" y="227"/>
                  </a:lnTo>
                  <a:lnTo>
                    <a:pt x="1357" y="397"/>
                  </a:lnTo>
                  <a:lnTo>
                    <a:pt x="1320" y="438"/>
                  </a:lnTo>
                  <a:lnTo>
                    <a:pt x="1135" y="522"/>
                  </a:lnTo>
                  <a:lnTo>
                    <a:pt x="960" y="558"/>
                  </a:lnTo>
                  <a:lnTo>
                    <a:pt x="684" y="600"/>
                  </a:lnTo>
                  <a:lnTo>
                    <a:pt x="474" y="630"/>
                  </a:lnTo>
                  <a:lnTo>
                    <a:pt x="390" y="684"/>
                  </a:lnTo>
                  <a:lnTo>
                    <a:pt x="132" y="781"/>
                  </a:lnTo>
                  <a:lnTo>
                    <a:pt x="0" y="829"/>
                  </a:lnTo>
                  <a:lnTo>
                    <a:pt x="234" y="847"/>
                  </a:lnTo>
                  <a:lnTo>
                    <a:pt x="498" y="829"/>
                  </a:lnTo>
                  <a:lnTo>
                    <a:pt x="925" y="739"/>
                  </a:lnTo>
                  <a:lnTo>
                    <a:pt x="840" y="817"/>
                  </a:lnTo>
                  <a:lnTo>
                    <a:pt x="637" y="925"/>
                  </a:lnTo>
                  <a:lnTo>
                    <a:pt x="613" y="943"/>
                  </a:lnTo>
                  <a:lnTo>
                    <a:pt x="1405" y="943"/>
                  </a:lnTo>
                  <a:lnTo>
                    <a:pt x="1411" y="925"/>
                  </a:lnTo>
                  <a:lnTo>
                    <a:pt x="1447" y="943"/>
                  </a:lnTo>
                  <a:lnTo>
                    <a:pt x="2924" y="943"/>
                  </a:lnTo>
                  <a:lnTo>
                    <a:pt x="2888" y="859"/>
                  </a:lnTo>
                  <a:lnTo>
                    <a:pt x="2713" y="775"/>
                  </a:lnTo>
                  <a:lnTo>
                    <a:pt x="2582" y="708"/>
                  </a:lnTo>
                  <a:lnTo>
                    <a:pt x="2336" y="636"/>
                  </a:lnTo>
                  <a:lnTo>
                    <a:pt x="2299" y="606"/>
                  </a:lnTo>
                  <a:lnTo>
                    <a:pt x="2509" y="582"/>
                  </a:lnTo>
                  <a:lnTo>
                    <a:pt x="2606" y="588"/>
                  </a:lnTo>
                  <a:lnTo>
                    <a:pt x="2773" y="588"/>
                  </a:lnTo>
                  <a:lnTo>
                    <a:pt x="3001" y="582"/>
                  </a:lnTo>
                  <a:lnTo>
                    <a:pt x="3259" y="516"/>
                  </a:lnTo>
                  <a:lnTo>
                    <a:pt x="3452" y="438"/>
                  </a:lnTo>
                  <a:lnTo>
                    <a:pt x="3668" y="391"/>
                  </a:lnTo>
                  <a:lnTo>
                    <a:pt x="3668" y="312"/>
                  </a:lnTo>
                  <a:lnTo>
                    <a:pt x="3482" y="300"/>
                  </a:lnTo>
                  <a:lnTo>
                    <a:pt x="3482" y="300"/>
                  </a:lnTo>
                  <a:close/>
                </a:path>
              </a:pathLst>
            </a:custGeom>
            <a:gradFill rotWithShape="0">
              <a:gsLst>
                <a:gs pos="0">
                  <a:schemeClr val="bg2"/>
                </a:gs>
                <a:gs pos="100000">
                  <a:schemeClr val="bg1"/>
                </a:gs>
              </a:gsLst>
              <a:lin ang="5400000" scaled="1"/>
            </a:gradFill>
            <a:ln w="9525">
              <a:noFill/>
              <a:round/>
              <a:headEnd/>
              <a:tailEnd/>
            </a:ln>
          </p:spPr>
          <p:txBody>
            <a:bodyPr/>
            <a:p>
              <a:endParaRPr lang="en-US"/>
            </a:p>
          </p:txBody>
        </p:sp>
        <p:sp>
          <p:nvSpPr>
            <p:cNvPr id="1050889" name="Freeform 6"/>
            <p:cNvSpPr/>
            <p:nvPr/>
          </p:nvSpPr>
          <p:spPr bwMode="hidden">
            <a:xfrm>
              <a:off x="0" y="524"/>
              <a:ext cx="973" cy="1195"/>
            </a:xfrm>
            <a:custGeom>
              <a:avLst/>
              <a:ahLst/>
              <a:cxnLst>
                <a:cxn ang="0">
                  <a:pos x="323" y="1186"/>
                </a:cxn>
                <a:cxn ang="0">
                  <a:pos x="490" y="1192"/>
                </a:cxn>
                <a:cxn ang="0">
                  <a:pos x="580" y="1150"/>
                </a:cxn>
                <a:cxn ang="0">
                  <a:pos x="813" y="1085"/>
                </a:cxn>
                <a:cxn ang="0">
                  <a:pos x="933" y="1055"/>
                </a:cxn>
                <a:cxn ang="0">
                  <a:pos x="759" y="989"/>
                </a:cxn>
                <a:cxn ang="0">
                  <a:pos x="556" y="953"/>
                </a:cxn>
                <a:cxn ang="0">
                  <a:pos x="197" y="971"/>
                </a:cxn>
                <a:cxn ang="0">
                  <a:pos x="299" y="893"/>
                </a:cxn>
                <a:cxn ang="0">
                  <a:pos x="496" y="803"/>
                </a:cxn>
                <a:cxn ang="0">
                  <a:pos x="694" y="671"/>
                </a:cxn>
                <a:cxn ang="0">
                  <a:pos x="700" y="671"/>
                </a:cxn>
                <a:cxn ang="0">
                  <a:pos x="712" y="665"/>
                </a:cxn>
                <a:cxn ang="0">
                  <a:pos x="753" y="647"/>
                </a:cxn>
                <a:cxn ang="0">
                  <a:pos x="777" y="641"/>
                </a:cxn>
                <a:cxn ang="0">
                  <a:pos x="789" y="629"/>
                </a:cxn>
                <a:cxn ang="0">
                  <a:pos x="795" y="617"/>
                </a:cxn>
                <a:cxn ang="0">
                  <a:pos x="789" y="611"/>
                </a:cxn>
                <a:cxn ang="0">
                  <a:pos x="783" y="599"/>
                </a:cxn>
                <a:cxn ang="0">
                  <a:pos x="783" y="575"/>
                </a:cxn>
                <a:cxn ang="0">
                  <a:pos x="795" y="545"/>
                </a:cxn>
                <a:cxn ang="0">
                  <a:pos x="807" y="515"/>
                </a:cxn>
                <a:cxn ang="0">
                  <a:pos x="825" y="485"/>
                </a:cxn>
                <a:cxn ang="0">
                  <a:pos x="837" y="455"/>
                </a:cxn>
                <a:cxn ang="0">
                  <a:pos x="843" y="437"/>
                </a:cxn>
                <a:cxn ang="0">
                  <a:pos x="849" y="431"/>
                </a:cxn>
                <a:cxn ang="0">
                  <a:pos x="849" y="347"/>
                </a:cxn>
                <a:cxn ang="0">
                  <a:pos x="849" y="341"/>
                </a:cxn>
                <a:cxn ang="0">
                  <a:pos x="855" y="335"/>
                </a:cxn>
                <a:cxn ang="0">
                  <a:pos x="873" y="305"/>
                </a:cxn>
                <a:cxn ang="0">
                  <a:pos x="885" y="269"/>
                </a:cxn>
                <a:cxn ang="0">
                  <a:pos x="897" y="239"/>
                </a:cxn>
                <a:cxn ang="0">
                  <a:pos x="903" y="227"/>
                </a:cxn>
                <a:cxn ang="0">
                  <a:pos x="909" y="215"/>
                </a:cxn>
                <a:cxn ang="0">
                  <a:pos x="927" y="173"/>
                </a:cxn>
                <a:cxn ang="0">
                  <a:pos x="945" y="137"/>
                </a:cxn>
                <a:cxn ang="0">
                  <a:pos x="951" y="125"/>
                </a:cxn>
                <a:cxn ang="0">
                  <a:pos x="951" y="119"/>
                </a:cxn>
                <a:cxn ang="0">
                  <a:pos x="969" y="0"/>
                </a:cxn>
                <a:cxn ang="0">
                  <a:pos x="945" y="47"/>
                </a:cxn>
                <a:cxn ang="0">
                  <a:pos x="783" y="113"/>
                </a:cxn>
                <a:cxn ang="0">
                  <a:pos x="706" y="161"/>
                </a:cxn>
                <a:cxn ang="0">
                  <a:pos x="460" y="233"/>
                </a:cxn>
                <a:cxn ang="0">
                  <a:pos x="281" y="287"/>
                </a:cxn>
                <a:cxn ang="0">
                  <a:pos x="173" y="293"/>
                </a:cxn>
                <a:cxn ang="0">
                  <a:pos x="12" y="485"/>
                </a:cxn>
                <a:cxn ang="0">
                  <a:pos x="0" y="509"/>
                </a:cxn>
                <a:cxn ang="0">
                  <a:pos x="0" y="1186"/>
                </a:cxn>
                <a:cxn ang="0">
                  <a:pos x="96" y="1180"/>
                </a:cxn>
                <a:cxn ang="0">
                  <a:pos x="323" y="1186"/>
                </a:cxn>
                <a:cxn ang="0">
                  <a:pos x="323" y="1186"/>
                </a:cxn>
              </a:cxnLst>
              <a:rect l="0" t="0" r="r" b="b"/>
              <a:pathLst>
                <a:path w="969" h="1192">
                  <a:moveTo>
                    <a:pt x="323" y="1186"/>
                  </a:moveTo>
                  <a:lnTo>
                    <a:pt x="490" y="1192"/>
                  </a:lnTo>
                  <a:lnTo>
                    <a:pt x="580" y="1150"/>
                  </a:lnTo>
                  <a:lnTo>
                    <a:pt x="813" y="1085"/>
                  </a:lnTo>
                  <a:lnTo>
                    <a:pt x="933" y="1055"/>
                  </a:lnTo>
                  <a:lnTo>
                    <a:pt x="759" y="989"/>
                  </a:lnTo>
                  <a:lnTo>
                    <a:pt x="556" y="953"/>
                  </a:lnTo>
                  <a:lnTo>
                    <a:pt x="197" y="971"/>
                  </a:lnTo>
                  <a:lnTo>
                    <a:pt x="299" y="893"/>
                  </a:lnTo>
                  <a:lnTo>
                    <a:pt x="496" y="803"/>
                  </a:lnTo>
                  <a:lnTo>
                    <a:pt x="694" y="671"/>
                  </a:lnTo>
                  <a:lnTo>
                    <a:pt x="700" y="671"/>
                  </a:lnTo>
                  <a:lnTo>
                    <a:pt x="712" y="665"/>
                  </a:lnTo>
                  <a:lnTo>
                    <a:pt x="753" y="647"/>
                  </a:lnTo>
                  <a:lnTo>
                    <a:pt x="777" y="641"/>
                  </a:lnTo>
                  <a:lnTo>
                    <a:pt x="789" y="629"/>
                  </a:lnTo>
                  <a:lnTo>
                    <a:pt x="795" y="617"/>
                  </a:lnTo>
                  <a:lnTo>
                    <a:pt x="789" y="611"/>
                  </a:lnTo>
                  <a:lnTo>
                    <a:pt x="783" y="599"/>
                  </a:lnTo>
                  <a:lnTo>
                    <a:pt x="783" y="575"/>
                  </a:lnTo>
                  <a:lnTo>
                    <a:pt x="795" y="545"/>
                  </a:lnTo>
                  <a:lnTo>
                    <a:pt x="807" y="515"/>
                  </a:lnTo>
                  <a:lnTo>
                    <a:pt x="825" y="485"/>
                  </a:lnTo>
                  <a:lnTo>
                    <a:pt x="837" y="455"/>
                  </a:lnTo>
                  <a:lnTo>
                    <a:pt x="843" y="437"/>
                  </a:lnTo>
                  <a:lnTo>
                    <a:pt x="849" y="431"/>
                  </a:lnTo>
                  <a:lnTo>
                    <a:pt x="849" y="347"/>
                  </a:lnTo>
                  <a:lnTo>
                    <a:pt x="849" y="341"/>
                  </a:lnTo>
                  <a:lnTo>
                    <a:pt x="855" y="335"/>
                  </a:lnTo>
                  <a:lnTo>
                    <a:pt x="873" y="305"/>
                  </a:lnTo>
                  <a:lnTo>
                    <a:pt x="885" y="269"/>
                  </a:lnTo>
                  <a:lnTo>
                    <a:pt x="897" y="239"/>
                  </a:lnTo>
                  <a:lnTo>
                    <a:pt x="903" y="227"/>
                  </a:lnTo>
                  <a:lnTo>
                    <a:pt x="909" y="215"/>
                  </a:lnTo>
                  <a:lnTo>
                    <a:pt x="927" y="173"/>
                  </a:lnTo>
                  <a:lnTo>
                    <a:pt x="945" y="137"/>
                  </a:lnTo>
                  <a:lnTo>
                    <a:pt x="951" y="125"/>
                  </a:lnTo>
                  <a:lnTo>
                    <a:pt x="951" y="119"/>
                  </a:lnTo>
                  <a:lnTo>
                    <a:pt x="969" y="0"/>
                  </a:lnTo>
                  <a:lnTo>
                    <a:pt x="945" y="47"/>
                  </a:lnTo>
                  <a:lnTo>
                    <a:pt x="783" y="113"/>
                  </a:lnTo>
                  <a:lnTo>
                    <a:pt x="706" y="161"/>
                  </a:lnTo>
                  <a:lnTo>
                    <a:pt x="460" y="233"/>
                  </a:lnTo>
                  <a:lnTo>
                    <a:pt x="281" y="287"/>
                  </a:lnTo>
                  <a:lnTo>
                    <a:pt x="173" y="293"/>
                  </a:lnTo>
                  <a:lnTo>
                    <a:pt x="12" y="485"/>
                  </a:lnTo>
                  <a:lnTo>
                    <a:pt x="0" y="509"/>
                  </a:lnTo>
                  <a:lnTo>
                    <a:pt x="0" y="1186"/>
                  </a:lnTo>
                  <a:lnTo>
                    <a:pt x="96" y="1180"/>
                  </a:lnTo>
                  <a:lnTo>
                    <a:pt x="323" y="1186"/>
                  </a:lnTo>
                  <a:lnTo>
                    <a:pt x="323" y="1186"/>
                  </a:lnTo>
                  <a:close/>
                </a:path>
              </a:pathLst>
            </a:custGeom>
            <a:gradFill rotWithShape="0">
              <a:gsLst>
                <a:gs pos="0">
                  <a:schemeClr val="bg2"/>
                </a:gs>
                <a:gs pos="100000">
                  <a:schemeClr val="bg1"/>
                </a:gs>
              </a:gsLst>
              <a:lin ang="5400000" scaled="1"/>
            </a:gradFill>
            <a:ln w="9525">
              <a:noFill/>
              <a:round/>
              <a:headEnd/>
              <a:tailEnd/>
            </a:ln>
          </p:spPr>
          <p:txBody>
            <a:bodyPr/>
            <a:p>
              <a:endParaRPr lang="en-US"/>
            </a:p>
          </p:txBody>
        </p:sp>
        <p:sp>
          <p:nvSpPr>
            <p:cNvPr id="1050890" name="Freeform 7"/>
            <p:cNvSpPr/>
            <p:nvPr/>
          </p:nvSpPr>
          <p:spPr bwMode="hidden">
            <a:xfrm>
              <a:off x="3188" y="1"/>
              <a:ext cx="2570" cy="2266"/>
            </a:xfrm>
            <a:custGeom>
              <a:avLst/>
              <a:ahLst/>
              <a:cxnLst>
                <a:cxn ang="0">
                  <a:pos x="859" y="612"/>
                </a:cxn>
                <a:cxn ang="0">
                  <a:pos x="1087" y="853"/>
                </a:cxn>
                <a:cxn ang="0">
                  <a:pos x="961" y="913"/>
                </a:cxn>
                <a:cxn ang="0">
                  <a:pos x="786" y="883"/>
                </a:cxn>
                <a:cxn ang="0">
                  <a:pos x="450" y="931"/>
                </a:cxn>
                <a:cxn ang="0">
                  <a:pos x="150" y="1075"/>
                </a:cxn>
                <a:cxn ang="0">
                  <a:pos x="78" y="1165"/>
                </a:cxn>
                <a:cxn ang="0">
                  <a:pos x="361" y="1256"/>
                </a:cxn>
                <a:cxn ang="0">
                  <a:pos x="444" y="1316"/>
                </a:cxn>
                <a:cxn ang="0">
                  <a:pos x="697" y="1400"/>
                </a:cxn>
                <a:cxn ang="0">
                  <a:pos x="1026" y="1346"/>
                </a:cxn>
                <a:cxn ang="0">
                  <a:pos x="991" y="1412"/>
                </a:cxn>
                <a:cxn ang="0">
                  <a:pos x="804" y="1574"/>
                </a:cxn>
                <a:cxn ang="0">
                  <a:pos x="726" y="1718"/>
                </a:cxn>
                <a:cxn ang="0">
                  <a:pos x="768" y="1742"/>
                </a:cxn>
                <a:cxn ang="0">
                  <a:pos x="865" y="1693"/>
                </a:cxn>
                <a:cxn ang="0">
                  <a:pos x="991" y="1699"/>
                </a:cxn>
                <a:cxn ang="0">
                  <a:pos x="1135" y="1627"/>
                </a:cxn>
                <a:cxn ang="0">
                  <a:pos x="1183" y="1669"/>
                </a:cxn>
                <a:cxn ang="0">
                  <a:pos x="1399" y="1436"/>
                </a:cxn>
                <a:cxn ang="0">
                  <a:pos x="1615" y="1334"/>
                </a:cxn>
                <a:cxn ang="0">
                  <a:pos x="1645" y="1370"/>
                </a:cxn>
                <a:cxn ang="0">
                  <a:pos x="1681" y="1430"/>
                </a:cxn>
                <a:cxn ang="0">
                  <a:pos x="1699" y="1466"/>
                </a:cxn>
                <a:cxn ang="0">
                  <a:pos x="1747" y="1550"/>
                </a:cxn>
                <a:cxn ang="0">
                  <a:pos x="1772" y="1586"/>
                </a:cxn>
                <a:cxn ang="0">
                  <a:pos x="2124" y="2248"/>
                </a:cxn>
                <a:cxn ang="0">
                  <a:pos x="1693" y="1322"/>
                </a:cxn>
                <a:cxn ang="0">
                  <a:pos x="1861" y="1165"/>
                </a:cxn>
                <a:cxn ang="0">
                  <a:pos x="2173" y="1099"/>
                </a:cxn>
                <a:cxn ang="0">
                  <a:pos x="2390" y="1009"/>
                </a:cxn>
                <a:cxn ang="0">
                  <a:pos x="2570" y="805"/>
                </a:cxn>
                <a:cxn ang="0">
                  <a:pos x="2342" y="781"/>
                </a:cxn>
                <a:cxn ang="0">
                  <a:pos x="2114" y="763"/>
                </a:cxn>
                <a:cxn ang="0">
                  <a:pos x="2408" y="433"/>
                </a:cxn>
                <a:cxn ang="0">
                  <a:pos x="2426" y="421"/>
                </a:cxn>
                <a:cxn ang="0">
                  <a:pos x="2474" y="379"/>
                </a:cxn>
                <a:cxn ang="0">
                  <a:pos x="2492" y="355"/>
                </a:cxn>
                <a:cxn ang="0">
                  <a:pos x="2474" y="337"/>
                </a:cxn>
                <a:cxn ang="0">
                  <a:pos x="2474" y="271"/>
                </a:cxn>
                <a:cxn ang="0">
                  <a:pos x="2492" y="192"/>
                </a:cxn>
                <a:cxn ang="0">
                  <a:pos x="2504" y="132"/>
                </a:cxn>
                <a:cxn ang="0">
                  <a:pos x="2492" y="36"/>
                </a:cxn>
                <a:cxn ang="0">
                  <a:pos x="2492" y="24"/>
                </a:cxn>
                <a:cxn ang="0">
                  <a:pos x="2102" y="0"/>
                </a:cxn>
                <a:cxn ang="0">
                  <a:pos x="1909" y="90"/>
                </a:cxn>
                <a:cxn ang="0">
                  <a:pos x="1747" y="535"/>
                </a:cxn>
                <a:cxn ang="0">
                  <a:pos x="1711" y="469"/>
                </a:cxn>
                <a:cxn ang="0">
                  <a:pos x="1633" y="144"/>
                </a:cxn>
                <a:cxn ang="0">
                  <a:pos x="1579" y="0"/>
                </a:cxn>
                <a:cxn ang="0">
                  <a:pos x="738" y="186"/>
                </a:cxn>
                <a:cxn ang="0">
                  <a:pos x="756" y="463"/>
                </a:cxn>
              </a:cxnLst>
              <a:rect l="0" t="0" r="r" b="b"/>
              <a:pathLst>
                <a:path w="2570" h="2266">
                  <a:moveTo>
                    <a:pt x="756" y="463"/>
                  </a:moveTo>
                  <a:lnTo>
                    <a:pt x="859" y="612"/>
                  </a:lnTo>
                  <a:lnTo>
                    <a:pt x="937" y="720"/>
                  </a:lnTo>
                  <a:lnTo>
                    <a:pt x="1087" y="853"/>
                  </a:lnTo>
                  <a:lnTo>
                    <a:pt x="1105" y="907"/>
                  </a:lnTo>
                  <a:lnTo>
                    <a:pt x="961" y="913"/>
                  </a:lnTo>
                  <a:lnTo>
                    <a:pt x="895" y="901"/>
                  </a:lnTo>
                  <a:lnTo>
                    <a:pt x="786" y="883"/>
                  </a:lnTo>
                  <a:lnTo>
                    <a:pt x="637" y="859"/>
                  </a:lnTo>
                  <a:lnTo>
                    <a:pt x="450" y="931"/>
                  </a:lnTo>
                  <a:lnTo>
                    <a:pt x="306" y="1021"/>
                  </a:lnTo>
                  <a:lnTo>
                    <a:pt x="150" y="1075"/>
                  </a:lnTo>
                  <a:lnTo>
                    <a:pt x="0" y="1153"/>
                  </a:lnTo>
                  <a:lnTo>
                    <a:pt x="78" y="1165"/>
                  </a:lnTo>
                  <a:lnTo>
                    <a:pt x="264" y="1220"/>
                  </a:lnTo>
                  <a:lnTo>
                    <a:pt x="361" y="1256"/>
                  </a:lnTo>
                  <a:lnTo>
                    <a:pt x="367" y="1298"/>
                  </a:lnTo>
                  <a:lnTo>
                    <a:pt x="444" y="1316"/>
                  </a:lnTo>
                  <a:lnTo>
                    <a:pt x="558" y="1400"/>
                  </a:lnTo>
                  <a:lnTo>
                    <a:pt x="697" y="1400"/>
                  </a:lnTo>
                  <a:lnTo>
                    <a:pt x="895" y="1346"/>
                  </a:lnTo>
                  <a:lnTo>
                    <a:pt x="1026" y="1346"/>
                  </a:lnTo>
                  <a:lnTo>
                    <a:pt x="1147" y="1358"/>
                  </a:lnTo>
                  <a:lnTo>
                    <a:pt x="991" y="1412"/>
                  </a:lnTo>
                  <a:lnTo>
                    <a:pt x="804" y="1538"/>
                  </a:lnTo>
                  <a:lnTo>
                    <a:pt x="804" y="1574"/>
                  </a:lnTo>
                  <a:lnTo>
                    <a:pt x="762" y="1645"/>
                  </a:lnTo>
                  <a:lnTo>
                    <a:pt x="726" y="1718"/>
                  </a:lnTo>
                  <a:lnTo>
                    <a:pt x="732" y="1754"/>
                  </a:lnTo>
                  <a:lnTo>
                    <a:pt x="768" y="1742"/>
                  </a:lnTo>
                  <a:lnTo>
                    <a:pt x="829" y="1730"/>
                  </a:lnTo>
                  <a:lnTo>
                    <a:pt x="865" y="1693"/>
                  </a:lnTo>
                  <a:lnTo>
                    <a:pt x="925" y="1663"/>
                  </a:lnTo>
                  <a:lnTo>
                    <a:pt x="991" y="1699"/>
                  </a:lnTo>
                  <a:lnTo>
                    <a:pt x="1087" y="1675"/>
                  </a:lnTo>
                  <a:lnTo>
                    <a:pt x="1135" y="1627"/>
                  </a:lnTo>
                  <a:lnTo>
                    <a:pt x="1147" y="1687"/>
                  </a:lnTo>
                  <a:lnTo>
                    <a:pt x="1183" y="1669"/>
                  </a:lnTo>
                  <a:lnTo>
                    <a:pt x="1333" y="1514"/>
                  </a:lnTo>
                  <a:lnTo>
                    <a:pt x="1399" y="1436"/>
                  </a:lnTo>
                  <a:lnTo>
                    <a:pt x="1526" y="1382"/>
                  </a:lnTo>
                  <a:lnTo>
                    <a:pt x="1615" y="1334"/>
                  </a:lnTo>
                  <a:lnTo>
                    <a:pt x="1627" y="1346"/>
                  </a:lnTo>
                  <a:lnTo>
                    <a:pt x="1645" y="1370"/>
                  </a:lnTo>
                  <a:lnTo>
                    <a:pt x="1669" y="1400"/>
                  </a:lnTo>
                  <a:lnTo>
                    <a:pt x="1681" y="1430"/>
                  </a:lnTo>
                  <a:lnTo>
                    <a:pt x="1687" y="1448"/>
                  </a:lnTo>
                  <a:lnTo>
                    <a:pt x="1699" y="1466"/>
                  </a:lnTo>
                  <a:lnTo>
                    <a:pt x="1729" y="1520"/>
                  </a:lnTo>
                  <a:lnTo>
                    <a:pt x="1747" y="1550"/>
                  </a:lnTo>
                  <a:lnTo>
                    <a:pt x="1766" y="1574"/>
                  </a:lnTo>
                  <a:lnTo>
                    <a:pt x="1772" y="1586"/>
                  </a:lnTo>
                  <a:lnTo>
                    <a:pt x="1778" y="1592"/>
                  </a:lnTo>
                  <a:lnTo>
                    <a:pt x="2124" y="2248"/>
                  </a:lnTo>
                  <a:lnTo>
                    <a:pt x="2215" y="2266"/>
                  </a:lnTo>
                  <a:lnTo>
                    <a:pt x="1693" y="1322"/>
                  </a:lnTo>
                  <a:lnTo>
                    <a:pt x="1723" y="1262"/>
                  </a:lnTo>
                  <a:lnTo>
                    <a:pt x="1861" y="1165"/>
                  </a:lnTo>
                  <a:lnTo>
                    <a:pt x="1988" y="1129"/>
                  </a:lnTo>
                  <a:lnTo>
                    <a:pt x="2173" y="1099"/>
                  </a:lnTo>
                  <a:lnTo>
                    <a:pt x="2318" y="1075"/>
                  </a:lnTo>
                  <a:lnTo>
                    <a:pt x="2390" y="1009"/>
                  </a:lnTo>
                  <a:lnTo>
                    <a:pt x="2570" y="895"/>
                  </a:lnTo>
                  <a:lnTo>
                    <a:pt x="2570" y="805"/>
                  </a:lnTo>
                  <a:lnTo>
                    <a:pt x="2516" y="787"/>
                  </a:lnTo>
                  <a:lnTo>
                    <a:pt x="2342" y="781"/>
                  </a:lnTo>
                  <a:lnTo>
                    <a:pt x="2042" y="871"/>
                  </a:lnTo>
                  <a:lnTo>
                    <a:pt x="2114" y="763"/>
                  </a:lnTo>
                  <a:lnTo>
                    <a:pt x="2264" y="624"/>
                  </a:lnTo>
                  <a:lnTo>
                    <a:pt x="2408" y="433"/>
                  </a:lnTo>
                  <a:lnTo>
                    <a:pt x="2414" y="433"/>
                  </a:lnTo>
                  <a:lnTo>
                    <a:pt x="2426" y="421"/>
                  </a:lnTo>
                  <a:lnTo>
                    <a:pt x="2456" y="397"/>
                  </a:lnTo>
                  <a:lnTo>
                    <a:pt x="2474" y="379"/>
                  </a:lnTo>
                  <a:lnTo>
                    <a:pt x="2486" y="367"/>
                  </a:lnTo>
                  <a:lnTo>
                    <a:pt x="2492" y="355"/>
                  </a:lnTo>
                  <a:lnTo>
                    <a:pt x="2486" y="349"/>
                  </a:lnTo>
                  <a:lnTo>
                    <a:pt x="2474" y="337"/>
                  </a:lnTo>
                  <a:lnTo>
                    <a:pt x="2474" y="307"/>
                  </a:lnTo>
                  <a:lnTo>
                    <a:pt x="2474" y="271"/>
                  </a:lnTo>
                  <a:lnTo>
                    <a:pt x="2480" y="228"/>
                  </a:lnTo>
                  <a:lnTo>
                    <a:pt x="2492" y="192"/>
                  </a:lnTo>
                  <a:lnTo>
                    <a:pt x="2498" y="156"/>
                  </a:lnTo>
                  <a:lnTo>
                    <a:pt x="2504" y="132"/>
                  </a:lnTo>
                  <a:lnTo>
                    <a:pt x="2504" y="126"/>
                  </a:lnTo>
                  <a:lnTo>
                    <a:pt x="2492" y="36"/>
                  </a:lnTo>
                  <a:lnTo>
                    <a:pt x="2492" y="36"/>
                  </a:lnTo>
                  <a:lnTo>
                    <a:pt x="2492" y="24"/>
                  </a:lnTo>
                  <a:lnTo>
                    <a:pt x="2498" y="0"/>
                  </a:lnTo>
                  <a:lnTo>
                    <a:pt x="2102" y="0"/>
                  </a:lnTo>
                  <a:lnTo>
                    <a:pt x="2006" y="60"/>
                  </a:lnTo>
                  <a:lnTo>
                    <a:pt x="1909" y="90"/>
                  </a:lnTo>
                  <a:lnTo>
                    <a:pt x="1808" y="337"/>
                  </a:lnTo>
                  <a:lnTo>
                    <a:pt x="1747" y="535"/>
                  </a:lnTo>
                  <a:lnTo>
                    <a:pt x="1687" y="588"/>
                  </a:lnTo>
                  <a:lnTo>
                    <a:pt x="1711" y="469"/>
                  </a:lnTo>
                  <a:lnTo>
                    <a:pt x="1687" y="343"/>
                  </a:lnTo>
                  <a:lnTo>
                    <a:pt x="1633" y="144"/>
                  </a:lnTo>
                  <a:lnTo>
                    <a:pt x="1585" y="12"/>
                  </a:lnTo>
                  <a:lnTo>
                    <a:pt x="1579" y="0"/>
                  </a:lnTo>
                  <a:lnTo>
                    <a:pt x="786" y="0"/>
                  </a:lnTo>
                  <a:lnTo>
                    <a:pt x="738" y="186"/>
                  </a:lnTo>
                  <a:lnTo>
                    <a:pt x="756" y="463"/>
                  </a:lnTo>
                  <a:lnTo>
                    <a:pt x="756" y="463"/>
                  </a:lnTo>
                  <a:close/>
                </a:path>
              </a:pathLst>
            </a:custGeom>
            <a:gradFill rotWithShape="0">
              <a:gsLst>
                <a:gs pos="0">
                  <a:schemeClr val="bg2"/>
                </a:gs>
                <a:gs pos="100000">
                  <a:schemeClr val="bg1"/>
                </a:gs>
              </a:gsLst>
              <a:lin ang="5400000" scaled="1"/>
            </a:gradFill>
            <a:ln w="9525">
              <a:noFill/>
              <a:round/>
              <a:headEnd/>
              <a:tailEnd/>
            </a:ln>
          </p:spPr>
          <p:txBody>
            <a:bodyPr/>
            <a:p>
              <a:endParaRPr lang="en-US"/>
            </a:p>
          </p:txBody>
        </p:sp>
        <p:sp>
          <p:nvSpPr>
            <p:cNvPr id="1050891" name="Freeform 8"/>
            <p:cNvSpPr/>
            <p:nvPr/>
          </p:nvSpPr>
          <p:spPr bwMode="hidden">
            <a:xfrm>
              <a:off x="3525" y="1"/>
              <a:ext cx="2185" cy="1508"/>
            </a:xfrm>
            <a:custGeom>
              <a:avLst/>
              <a:ahLst/>
              <a:cxnLst>
                <a:cxn ang="0">
                  <a:pos x="1034" y="767"/>
                </a:cxn>
                <a:cxn ang="0">
                  <a:pos x="1190" y="1235"/>
                </a:cxn>
                <a:cxn ang="0">
                  <a:pos x="956" y="1193"/>
                </a:cxn>
                <a:cxn ang="0">
                  <a:pos x="723" y="1127"/>
                </a:cxn>
                <a:cxn ang="0">
                  <a:pos x="442" y="1109"/>
                </a:cxn>
                <a:cxn ang="0">
                  <a:pos x="0" y="1079"/>
                </a:cxn>
                <a:cxn ang="0">
                  <a:pos x="30" y="1115"/>
                </a:cxn>
                <a:cxn ang="0">
                  <a:pos x="496" y="1133"/>
                </a:cxn>
                <a:cxn ang="0">
                  <a:pos x="777" y="1187"/>
                </a:cxn>
                <a:cxn ang="0">
                  <a:pos x="1130" y="1301"/>
                </a:cxn>
                <a:cxn ang="0">
                  <a:pos x="1070" y="1319"/>
                </a:cxn>
                <a:cxn ang="0">
                  <a:pos x="711" y="1505"/>
                </a:cxn>
                <a:cxn ang="0">
                  <a:pos x="765" y="1481"/>
                </a:cxn>
                <a:cxn ang="0">
                  <a:pos x="861" y="1439"/>
                </a:cxn>
                <a:cxn ang="0">
                  <a:pos x="1022" y="1355"/>
                </a:cxn>
                <a:cxn ang="0">
                  <a:pos x="1214" y="1295"/>
                </a:cxn>
                <a:cxn ang="0">
                  <a:pos x="1267" y="1223"/>
                </a:cxn>
                <a:cxn ang="0">
                  <a:pos x="1632" y="1043"/>
                </a:cxn>
                <a:cxn ang="0">
                  <a:pos x="1931" y="953"/>
                </a:cxn>
                <a:cxn ang="0">
                  <a:pos x="2176" y="821"/>
                </a:cxn>
                <a:cxn ang="0">
                  <a:pos x="1961" y="911"/>
                </a:cxn>
                <a:cxn ang="0">
                  <a:pos x="1656" y="989"/>
                </a:cxn>
                <a:cxn ang="0">
                  <a:pos x="1339" y="1151"/>
                </a:cxn>
                <a:cxn ang="0">
                  <a:pos x="1501" y="905"/>
                </a:cxn>
                <a:cxn ang="0">
                  <a:pos x="1620" y="545"/>
                </a:cxn>
                <a:cxn ang="0">
                  <a:pos x="1740" y="372"/>
                </a:cxn>
                <a:cxn ang="0">
                  <a:pos x="1979" y="60"/>
                </a:cxn>
                <a:cxn ang="0">
                  <a:pos x="2003" y="0"/>
                </a:cxn>
                <a:cxn ang="0">
                  <a:pos x="1973" y="0"/>
                </a:cxn>
                <a:cxn ang="0">
                  <a:pos x="1596" y="480"/>
                </a:cxn>
                <a:cxn ang="0">
                  <a:pos x="1477" y="887"/>
                </a:cxn>
                <a:cxn ang="0">
                  <a:pos x="1255" y="1175"/>
                </a:cxn>
                <a:cxn ang="0">
                  <a:pos x="1130" y="905"/>
                </a:cxn>
                <a:cxn ang="0">
                  <a:pos x="1010" y="540"/>
                </a:cxn>
                <a:cxn ang="0">
                  <a:pos x="885" y="222"/>
                </a:cxn>
                <a:cxn ang="0">
                  <a:pos x="789" y="0"/>
                </a:cxn>
                <a:cxn ang="0">
                  <a:pos x="753" y="0"/>
                </a:cxn>
                <a:cxn ang="0">
                  <a:pos x="903" y="354"/>
                </a:cxn>
                <a:cxn ang="0">
                  <a:pos x="1034" y="767"/>
                </a:cxn>
                <a:cxn ang="0">
                  <a:pos x="1034" y="767"/>
                </a:cxn>
              </a:cxnLst>
              <a:rect l="0" t="0" r="r" b="b"/>
              <a:pathLst>
                <a:path w="2176" h="1505">
                  <a:moveTo>
                    <a:pt x="1034" y="767"/>
                  </a:moveTo>
                  <a:lnTo>
                    <a:pt x="1190" y="1235"/>
                  </a:lnTo>
                  <a:lnTo>
                    <a:pt x="956" y="1193"/>
                  </a:lnTo>
                  <a:lnTo>
                    <a:pt x="723" y="1127"/>
                  </a:lnTo>
                  <a:lnTo>
                    <a:pt x="442" y="1109"/>
                  </a:lnTo>
                  <a:lnTo>
                    <a:pt x="0" y="1079"/>
                  </a:lnTo>
                  <a:lnTo>
                    <a:pt x="30" y="1115"/>
                  </a:lnTo>
                  <a:lnTo>
                    <a:pt x="496" y="1133"/>
                  </a:lnTo>
                  <a:lnTo>
                    <a:pt x="777" y="1187"/>
                  </a:lnTo>
                  <a:lnTo>
                    <a:pt x="1130" y="1301"/>
                  </a:lnTo>
                  <a:lnTo>
                    <a:pt x="1070" y="1319"/>
                  </a:lnTo>
                  <a:lnTo>
                    <a:pt x="711" y="1505"/>
                  </a:lnTo>
                  <a:lnTo>
                    <a:pt x="765" y="1481"/>
                  </a:lnTo>
                  <a:lnTo>
                    <a:pt x="861" y="1439"/>
                  </a:lnTo>
                  <a:lnTo>
                    <a:pt x="1022" y="1355"/>
                  </a:lnTo>
                  <a:lnTo>
                    <a:pt x="1214" y="1295"/>
                  </a:lnTo>
                  <a:lnTo>
                    <a:pt x="1267" y="1223"/>
                  </a:lnTo>
                  <a:lnTo>
                    <a:pt x="1632" y="1043"/>
                  </a:lnTo>
                  <a:lnTo>
                    <a:pt x="1931" y="953"/>
                  </a:lnTo>
                  <a:lnTo>
                    <a:pt x="2176" y="821"/>
                  </a:lnTo>
                  <a:lnTo>
                    <a:pt x="1961" y="911"/>
                  </a:lnTo>
                  <a:lnTo>
                    <a:pt x="1656" y="989"/>
                  </a:lnTo>
                  <a:lnTo>
                    <a:pt x="1339" y="1151"/>
                  </a:lnTo>
                  <a:lnTo>
                    <a:pt x="1501" y="905"/>
                  </a:lnTo>
                  <a:lnTo>
                    <a:pt x="1620" y="545"/>
                  </a:lnTo>
                  <a:lnTo>
                    <a:pt x="1740" y="372"/>
                  </a:lnTo>
                  <a:lnTo>
                    <a:pt x="1979" y="60"/>
                  </a:lnTo>
                  <a:lnTo>
                    <a:pt x="2003" y="0"/>
                  </a:lnTo>
                  <a:lnTo>
                    <a:pt x="1973" y="0"/>
                  </a:lnTo>
                  <a:lnTo>
                    <a:pt x="1596" y="480"/>
                  </a:lnTo>
                  <a:lnTo>
                    <a:pt x="1477" y="887"/>
                  </a:lnTo>
                  <a:lnTo>
                    <a:pt x="1255" y="1175"/>
                  </a:lnTo>
                  <a:lnTo>
                    <a:pt x="1130" y="905"/>
                  </a:lnTo>
                  <a:lnTo>
                    <a:pt x="1010" y="540"/>
                  </a:lnTo>
                  <a:lnTo>
                    <a:pt x="885" y="222"/>
                  </a:lnTo>
                  <a:lnTo>
                    <a:pt x="789" y="0"/>
                  </a:lnTo>
                  <a:lnTo>
                    <a:pt x="753" y="0"/>
                  </a:lnTo>
                  <a:lnTo>
                    <a:pt x="903" y="354"/>
                  </a:lnTo>
                  <a:lnTo>
                    <a:pt x="1034" y="767"/>
                  </a:lnTo>
                  <a:lnTo>
                    <a:pt x="1034" y="767"/>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892" name="Freeform 9"/>
            <p:cNvSpPr/>
            <p:nvPr/>
          </p:nvSpPr>
          <p:spPr bwMode="hidden">
            <a:xfrm>
              <a:off x="0" y="649"/>
              <a:ext cx="816" cy="806"/>
            </a:xfrm>
            <a:custGeom>
              <a:avLst/>
              <a:ahLst/>
              <a:cxnLst>
                <a:cxn ang="0">
                  <a:pos x="161" y="564"/>
                </a:cxn>
                <a:cxn ang="0">
                  <a:pos x="329" y="438"/>
                </a:cxn>
                <a:cxn ang="0">
                  <a:pos x="646" y="216"/>
                </a:cxn>
                <a:cxn ang="0">
                  <a:pos x="813" y="0"/>
                </a:cxn>
                <a:cxn ang="0">
                  <a:pos x="676" y="150"/>
                </a:cxn>
                <a:cxn ang="0">
                  <a:pos x="144" y="504"/>
                </a:cxn>
                <a:cxn ang="0">
                  <a:pos x="0" y="732"/>
                </a:cxn>
                <a:cxn ang="0">
                  <a:pos x="0" y="804"/>
                </a:cxn>
                <a:cxn ang="0">
                  <a:pos x="161" y="564"/>
                </a:cxn>
                <a:cxn ang="0">
                  <a:pos x="161" y="564"/>
                </a:cxn>
              </a:cxnLst>
              <a:rect l="0" t="0" r="r" b="b"/>
              <a:pathLst>
                <a:path w="813" h="804">
                  <a:moveTo>
                    <a:pt x="161" y="564"/>
                  </a:moveTo>
                  <a:lnTo>
                    <a:pt x="329" y="438"/>
                  </a:lnTo>
                  <a:lnTo>
                    <a:pt x="646" y="216"/>
                  </a:lnTo>
                  <a:lnTo>
                    <a:pt x="813" y="0"/>
                  </a:lnTo>
                  <a:lnTo>
                    <a:pt x="676" y="150"/>
                  </a:lnTo>
                  <a:lnTo>
                    <a:pt x="144" y="504"/>
                  </a:lnTo>
                  <a:lnTo>
                    <a:pt x="0" y="732"/>
                  </a:lnTo>
                  <a:lnTo>
                    <a:pt x="0" y="804"/>
                  </a:lnTo>
                  <a:lnTo>
                    <a:pt x="161" y="564"/>
                  </a:lnTo>
                  <a:lnTo>
                    <a:pt x="161" y="564"/>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893" name="Freeform 10"/>
            <p:cNvSpPr/>
            <p:nvPr/>
          </p:nvSpPr>
          <p:spPr bwMode="hidden">
            <a:xfrm>
              <a:off x="0" y="1545"/>
              <a:ext cx="762" cy="107"/>
            </a:xfrm>
            <a:custGeom>
              <a:avLst/>
              <a:ahLst/>
              <a:cxnLst>
                <a:cxn ang="0">
                  <a:pos x="460" y="66"/>
                </a:cxn>
                <a:cxn ang="0">
                  <a:pos x="759" y="0"/>
                </a:cxn>
                <a:cxn ang="0">
                  <a:pos x="496" y="36"/>
                </a:cxn>
                <a:cxn ang="0">
                  <a:pos x="138" y="48"/>
                </a:cxn>
                <a:cxn ang="0">
                  <a:pos x="0" y="78"/>
                </a:cxn>
                <a:cxn ang="0">
                  <a:pos x="0" y="107"/>
                </a:cxn>
                <a:cxn ang="0">
                  <a:pos x="96" y="89"/>
                </a:cxn>
                <a:cxn ang="0">
                  <a:pos x="460" y="66"/>
                </a:cxn>
                <a:cxn ang="0">
                  <a:pos x="460" y="66"/>
                </a:cxn>
              </a:cxnLst>
              <a:rect l="0" t="0" r="r" b="b"/>
              <a:pathLst>
                <a:path w="759" h="107">
                  <a:moveTo>
                    <a:pt x="460" y="66"/>
                  </a:moveTo>
                  <a:lnTo>
                    <a:pt x="759" y="0"/>
                  </a:lnTo>
                  <a:lnTo>
                    <a:pt x="496" y="36"/>
                  </a:lnTo>
                  <a:lnTo>
                    <a:pt x="138" y="48"/>
                  </a:lnTo>
                  <a:lnTo>
                    <a:pt x="0" y="78"/>
                  </a:lnTo>
                  <a:lnTo>
                    <a:pt x="0" y="107"/>
                  </a:lnTo>
                  <a:lnTo>
                    <a:pt x="96" y="89"/>
                  </a:lnTo>
                  <a:lnTo>
                    <a:pt x="460" y="66"/>
                  </a:lnTo>
                  <a:lnTo>
                    <a:pt x="460" y="66"/>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894" name="Freeform 11"/>
            <p:cNvSpPr/>
            <p:nvPr/>
          </p:nvSpPr>
          <p:spPr bwMode="hidden">
            <a:xfrm>
              <a:off x="2314" y="3431"/>
              <a:ext cx="3182" cy="745"/>
            </a:xfrm>
            <a:custGeom>
              <a:avLst/>
              <a:ahLst/>
              <a:cxnLst>
                <a:cxn ang="0">
                  <a:pos x="1387" y="239"/>
                </a:cxn>
                <a:cxn ang="0">
                  <a:pos x="1734" y="233"/>
                </a:cxn>
                <a:cxn ang="0">
                  <a:pos x="2087" y="251"/>
                </a:cxn>
                <a:cxn ang="0">
                  <a:pos x="2505" y="233"/>
                </a:cxn>
                <a:cxn ang="0">
                  <a:pos x="3169" y="204"/>
                </a:cxn>
                <a:cxn ang="0">
                  <a:pos x="3115" y="186"/>
                </a:cxn>
                <a:cxn ang="0">
                  <a:pos x="2422" y="221"/>
                </a:cxn>
                <a:cxn ang="0">
                  <a:pos x="2003" y="221"/>
                </a:cxn>
                <a:cxn ang="0">
                  <a:pos x="1459" y="186"/>
                </a:cxn>
                <a:cxn ang="0">
                  <a:pos x="1543" y="168"/>
                </a:cxn>
                <a:cxn ang="0">
                  <a:pos x="2039" y="0"/>
                </a:cxn>
                <a:cxn ang="0">
                  <a:pos x="1961" y="24"/>
                </a:cxn>
                <a:cxn ang="0">
                  <a:pos x="1836" y="66"/>
                </a:cxn>
                <a:cxn ang="0">
                  <a:pos x="1602" y="138"/>
                </a:cxn>
                <a:cxn ang="0">
                  <a:pos x="1339" y="198"/>
                </a:cxn>
                <a:cxn ang="0">
                  <a:pos x="1268" y="251"/>
                </a:cxn>
                <a:cxn ang="0">
                  <a:pos x="765" y="413"/>
                </a:cxn>
                <a:cxn ang="0">
                  <a:pos x="335" y="503"/>
                </a:cxn>
                <a:cxn ang="0">
                  <a:pos x="0" y="617"/>
                </a:cxn>
                <a:cxn ang="0">
                  <a:pos x="299" y="539"/>
                </a:cxn>
                <a:cxn ang="0">
                  <a:pos x="735" y="449"/>
                </a:cxn>
                <a:cxn ang="0">
                  <a:pos x="1178" y="311"/>
                </a:cxn>
                <a:cxn ang="0">
                  <a:pos x="981" y="491"/>
                </a:cxn>
                <a:cxn ang="0">
                  <a:pos x="867" y="743"/>
                </a:cxn>
                <a:cxn ang="0">
                  <a:pos x="861" y="743"/>
                </a:cxn>
                <a:cxn ang="0">
                  <a:pos x="933" y="743"/>
                </a:cxn>
                <a:cxn ang="0">
                  <a:pos x="1022" y="497"/>
                </a:cxn>
                <a:cxn ang="0">
                  <a:pos x="1297" y="281"/>
                </a:cxn>
                <a:cxn ang="0">
                  <a:pos x="1531" y="449"/>
                </a:cxn>
                <a:cxn ang="0">
                  <a:pos x="1770" y="677"/>
                </a:cxn>
                <a:cxn ang="0">
                  <a:pos x="1854" y="743"/>
                </a:cxn>
                <a:cxn ang="0">
                  <a:pos x="1919" y="743"/>
                </a:cxn>
                <a:cxn ang="0">
                  <a:pos x="1692" y="527"/>
                </a:cxn>
                <a:cxn ang="0">
                  <a:pos x="1387" y="239"/>
                </a:cxn>
                <a:cxn ang="0">
                  <a:pos x="1387" y="239"/>
                </a:cxn>
              </a:cxnLst>
              <a:rect l="0" t="0" r="r" b="b"/>
              <a:pathLst>
                <a:path w="3169" h="743">
                  <a:moveTo>
                    <a:pt x="1387" y="239"/>
                  </a:moveTo>
                  <a:lnTo>
                    <a:pt x="1734" y="233"/>
                  </a:lnTo>
                  <a:lnTo>
                    <a:pt x="2087" y="251"/>
                  </a:lnTo>
                  <a:lnTo>
                    <a:pt x="2505" y="233"/>
                  </a:lnTo>
                  <a:lnTo>
                    <a:pt x="3169" y="204"/>
                  </a:lnTo>
                  <a:lnTo>
                    <a:pt x="3115" y="186"/>
                  </a:lnTo>
                  <a:lnTo>
                    <a:pt x="2422" y="221"/>
                  </a:lnTo>
                  <a:lnTo>
                    <a:pt x="2003" y="221"/>
                  </a:lnTo>
                  <a:lnTo>
                    <a:pt x="1459" y="186"/>
                  </a:lnTo>
                  <a:lnTo>
                    <a:pt x="1543" y="168"/>
                  </a:lnTo>
                  <a:lnTo>
                    <a:pt x="2039" y="0"/>
                  </a:lnTo>
                  <a:lnTo>
                    <a:pt x="1961" y="24"/>
                  </a:lnTo>
                  <a:lnTo>
                    <a:pt x="1836" y="66"/>
                  </a:lnTo>
                  <a:lnTo>
                    <a:pt x="1602" y="138"/>
                  </a:lnTo>
                  <a:lnTo>
                    <a:pt x="1339" y="198"/>
                  </a:lnTo>
                  <a:lnTo>
                    <a:pt x="1268" y="251"/>
                  </a:lnTo>
                  <a:lnTo>
                    <a:pt x="765" y="413"/>
                  </a:lnTo>
                  <a:lnTo>
                    <a:pt x="335" y="503"/>
                  </a:lnTo>
                  <a:lnTo>
                    <a:pt x="0" y="617"/>
                  </a:lnTo>
                  <a:lnTo>
                    <a:pt x="299" y="539"/>
                  </a:lnTo>
                  <a:lnTo>
                    <a:pt x="735" y="449"/>
                  </a:lnTo>
                  <a:lnTo>
                    <a:pt x="1178" y="311"/>
                  </a:lnTo>
                  <a:lnTo>
                    <a:pt x="981" y="491"/>
                  </a:lnTo>
                  <a:lnTo>
                    <a:pt x="867" y="743"/>
                  </a:lnTo>
                  <a:lnTo>
                    <a:pt x="861" y="743"/>
                  </a:lnTo>
                  <a:lnTo>
                    <a:pt x="933" y="743"/>
                  </a:lnTo>
                  <a:lnTo>
                    <a:pt x="1022" y="497"/>
                  </a:lnTo>
                  <a:lnTo>
                    <a:pt x="1297" y="281"/>
                  </a:lnTo>
                  <a:lnTo>
                    <a:pt x="1531" y="449"/>
                  </a:lnTo>
                  <a:lnTo>
                    <a:pt x="1770" y="677"/>
                  </a:lnTo>
                  <a:lnTo>
                    <a:pt x="1854" y="743"/>
                  </a:lnTo>
                  <a:lnTo>
                    <a:pt x="1919" y="743"/>
                  </a:lnTo>
                  <a:lnTo>
                    <a:pt x="1692" y="527"/>
                  </a:lnTo>
                  <a:lnTo>
                    <a:pt x="1387" y="239"/>
                  </a:lnTo>
                  <a:lnTo>
                    <a:pt x="1387" y="239"/>
                  </a:lnTo>
                  <a:close/>
                </a:path>
              </a:pathLst>
            </a:custGeom>
            <a:gradFill rotWithShape="0">
              <a:gsLst>
                <a:gs pos="0">
                  <a:schemeClr val="accent2"/>
                </a:gs>
                <a:gs pos="100000">
                  <a:schemeClr val="bg1"/>
                </a:gs>
              </a:gsLst>
              <a:lin ang="2700000" scaled="1"/>
            </a:gradFill>
            <a:ln w="9525">
              <a:noFill/>
              <a:round/>
              <a:headEnd/>
              <a:tailEnd/>
            </a:ln>
          </p:spPr>
          <p:txBody>
            <a:bodyPr/>
            <a:p>
              <a:endParaRPr lang="en-US"/>
            </a:p>
          </p:txBody>
        </p:sp>
        <p:sp>
          <p:nvSpPr>
            <p:cNvPr id="1050895" name="Rectangle 12"/>
            <p:cNvSpPr>
              <a:spLocks noChangeArrowheads="1"/>
            </p:cNvSpPr>
            <p:nvPr/>
          </p:nvSpPr>
          <p:spPr bwMode="hidden">
            <a:xfrm>
              <a:off x="192" y="127"/>
              <a:ext cx="1" cy="1"/>
            </a:xfrm>
            <a:prstGeom prst="rect"/>
            <a:solidFill>
              <a:srgbClr val="9A1E8D"/>
            </a:solidFill>
            <a:ln w="9525">
              <a:noFill/>
              <a:miter lim="800000"/>
              <a:headEnd/>
              <a:tailEnd/>
            </a:ln>
          </p:spPr>
          <p:txBody>
            <a:bodyPr/>
            <a:p>
              <a:endParaRPr lang="en-US"/>
            </a:p>
          </p:txBody>
        </p:sp>
        <p:sp>
          <p:nvSpPr>
            <p:cNvPr id="1050896" name="Rectangle 13"/>
            <p:cNvSpPr>
              <a:spLocks noChangeArrowheads="1"/>
            </p:cNvSpPr>
            <p:nvPr/>
          </p:nvSpPr>
          <p:spPr bwMode="hidden">
            <a:xfrm>
              <a:off x="204" y="131"/>
              <a:ext cx="1" cy="1"/>
            </a:xfrm>
            <a:prstGeom prst="rect"/>
            <a:solidFill>
              <a:srgbClr val="9A1E8D"/>
            </a:solidFill>
            <a:ln w="9525">
              <a:noFill/>
              <a:miter lim="800000"/>
              <a:headEnd/>
              <a:tailEnd/>
            </a:ln>
          </p:spPr>
          <p:txBody>
            <a:bodyPr/>
            <a:p>
              <a:endParaRPr lang="en-US"/>
            </a:p>
          </p:txBody>
        </p:sp>
        <p:sp>
          <p:nvSpPr>
            <p:cNvPr id="1050897" name="Freeform 14"/>
            <p:cNvSpPr/>
            <p:nvPr/>
          </p:nvSpPr>
          <p:spPr bwMode="hidden">
            <a:xfrm>
              <a:off x="0" y="4032"/>
              <a:ext cx="5760" cy="288"/>
            </a:xfrm>
            <a:custGeom>
              <a:av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p>
              <a:endParaRPr lang="en-US"/>
            </a:p>
          </p:txBody>
        </p:sp>
        <p:sp>
          <p:nvSpPr>
            <p:cNvPr id="1050898" name="Freeform 15"/>
            <p:cNvSpPr/>
            <p:nvPr/>
          </p:nvSpPr>
          <p:spPr bwMode="hidden">
            <a:xfrm>
              <a:off x="0" y="4032"/>
              <a:ext cx="5760" cy="336"/>
            </a:xfrm>
            <a:custGeom>
              <a:av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p>
              <a:endParaRPr lang="en-US"/>
            </a:p>
          </p:txBody>
        </p:sp>
        <p:sp>
          <p:nvSpPr>
            <p:cNvPr id="1050899" name="Freeform 16"/>
            <p:cNvSpPr/>
            <p:nvPr/>
          </p:nvSpPr>
          <p:spPr bwMode="hidden">
            <a:xfrm>
              <a:off x="0" y="0"/>
              <a:ext cx="5760" cy="288"/>
            </a:xfrm>
            <a:custGeom>
              <a:av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2">
                    <a:gamma/>
                    <a:shade val="56078"/>
                    <a:invGamma/>
                  </a:schemeClr>
                </a:gs>
                <a:gs pos="100000">
                  <a:schemeClr val="bg2"/>
                </a:gs>
              </a:gsLst>
              <a:lin ang="5400000" scaled="1"/>
            </a:gradFill>
            <a:ln w="9525">
              <a:noFill/>
              <a:round/>
              <a:headEnd/>
              <a:tailEnd/>
            </a:ln>
          </p:spPr>
          <p:txBody>
            <a:bodyPr/>
            <a:p>
              <a:endParaRPr lang="en-US"/>
            </a:p>
          </p:txBody>
        </p:sp>
        <p:sp>
          <p:nvSpPr>
            <p:cNvPr id="1050900" name="Freeform 17"/>
            <p:cNvSpPr/>
            <p:nvPr/>
          </p:nvSpPr>
          <p:spPr bwMode="hidden">
            <a:xfrm>
              <a:off x="509" y="229"/>
              <a:ext cx="3188" cy="2024"/>
            </a:xfrm>
            <a:custGeom>
              <a:avLst/>
              <a:ahLst/>
              <a:cxnLst>
                <a:cxn ang="0">
                  <a:pos x="871" y="1423"/>
                </a:cxn>
                <a:cxn ang="0">
                  <a:pos x="907" y="1393"/>
                </a:cxn>
                <a:cxn ang="0">
                  <a:pos x="991" y="1320"/>
                </a:cxn>
                <a:cxn ang="0">
                  <a:pos x="1033" y="1297"/>
                </a:cxn>
                <a:cxn ang="0">
                  <a:pos x="1086" y="1249"/>
                </a:cxn>
                <a:cxn ang="0">
                  <a:pos x="1123" y="1219"/>
                </a:cxn>
                <a:cxn ang="0">
                  <a:pos x="1057" y="1153"/>
                </a:cxn>
                <a:cxn ang="0">
                  <a:pos x="877" y="1021"/>
                </a:cxn>
                <a:cxn ang="0">
                  <a:pos x="655" y="907"/>
                </a:cxn>
                <a:cxn ang="0">
                  <a:pos x="655" y="846"/>
                </a:cxn>
                <a:cxn ang="0">
                  <a:pos x="643" y="708"/>
                </a:cxn>
                <a:cxn ang="0">
                  <a:pos x="552" y="642"/>
                </a:cxn>
                <a:cxn ang="0">
                  <a:pos x="510" y="570"/>
                </a:cxn>
                <a:cxn ang="0">
                  <a:pos x="637" y="564"/>
                </a:cxn>
                <a:cxn ang="0">
                  <a:pos x="763" y="570"/>
                </a:cxn>
                <a:cxn ang="0">
                  <a:pos x="1091" y="850"/>
                </a:cxn>
                <a:cxn ang="0">
                  <a:pos x="1009" y="566"/>
                </a:cxn>
                <a:cxn ang="0">
                  <a:pos x="1054" y="265"/>
                </a:cxn>
                <a:cxn ang="0">
                  <a:pos x="1249" y="0"/>
                </a:cxn>
                <a:cxn ang="0">
                  <a:pos x="1466" y="292"/>
                </a:cxn>
                <a:cxn ang="0">
                  <a:pos x="1475" y="548"/>
                </a:cxn>
                <a:cxn ang="0">
                  <a:pos x="1567" y="630"/>
                </a:cxn>
                <a:cxn ang="0">
                  <a:pos x="1795" y="365"/>
                </a:cxn>
                <a:cxn ang="0">
                  <a:pos x="2245" y="150"/>
                </a:cxn>
                <a:cxn ang="0">
                  <a:pos x="2618" y="180"/>
                </a:cxn>
                <a:cxn ang="0">
                  <a:pos x="3050" y="150"/>
                </a:cxn>
                <a:cxn ang="0">
                  <a:pos x="3140" y="210"/>
                </a:cxn>
                <a:cxn ang="0">
                  <a:pos x="2990" y="210"/>
                </a:cxn>
                <a:cxn ang="0">
                  <a:pos x="2834" y="377"/>
                </a:cxn>
                <a:cxn ang="0">
                  <a:pos x="2702" y="648"/>
                </a:cxn>
                <a:cxn ang="0">
                  <a:pos x="2582" y="828"/>
                </a:cxn>
                <a:cxn ang="0">
                  <a:pos x="2234" y="1009"/>
                </a:cxn>
                <a:cxn ang="0">
                  <a:pos x="1963" y="1075"/>
                </a:cxn>
                <a:cxn ang="0">
                  <a:pos x="2257" y="1111"/>
                </a:cxn>
                <a:cxn ang="0">
                  <a:pos x="2600" y="1207"/>
                </a:cxn>
                <a:cxn ang="0">
                  <a:pos x="2894" y="1441"/>
                </a:cxn>
                <a:cxn ang="0">
                  <a:pos x="3122" y="1555"/>
                </a:cxn>
                <a:cxn ang="0">
                  <a:pos x="3032" y="1585"/>
                </a:cxn>
                <a:cxn ang="0">
                  <a:pos x="3008" y="1591"/>
                </a:cxn>
                <a:cxn ang="0">
                  <a:pos x="2960" y="1597"/>
                </a:cxn>
                <a:cxn ang="0">
                  <a:pos x="2882" y="1609"/>
                </a:cxn>
                <a:cxn ang="0">
                  <a:pos x="2846" y="1609"/>
                </a:cxn>
                <a:cxn ang="0">
                  <a:pos x="2774" y="1615"/>
                </a:cxn>
                <a:cxn ang="0">
                  <a:pos x="2726" y="1621"/>
                </a:cxn>
                <a:cxn ang="0">
                  <a:pos x="2708" y="1621"/>
                </a:cxn>
                <a:cxn ang="0">
                  <a:pos x="2594" y="1657"/>
                </a:cxn>
                <a:cxn ang="0">
                  <a:pos x="2533" y="1663"/>
                </a:cxn>
                <a:cxn ang="0">
                  <a:pos x="2444" y="1675"/>
                </a:cxn>
                <a:cxn ang="0">
                  <a:pos x="2378" y="1687"/>
                </a:cxn>
                <a:cxn ang="0">
                  <a:pos x="2360" y="1705"/>
                </a:cxn>
                <a:cxn ang="0">
                  <a:pos x="2305" y="1687"/>
                </a:cxn>
                <a:cxn ang="0">
                  <a:pos x="2263" y="1663"/>
                </a:cxn>
                <a:cxn ang="0">
                  <a:pos x="2017" y="1585"/>
                </a:cxn>
                <a:cxn ang="0">
                  <a:pos x="1711" y="1453"/>
                </a:cxn>
                <a:cxn ang="0">
                  <a:pos x="1880" y="1844"/>
                </a:cxn>
                <a:cxn ang="0">
                  <a:pos x="1771" y="1922"/>
                </a:cxn>
                <a:cxn ang="0">
                  <a:pos x="1531" y="1753"/>
                </a:cxn>
                <a:cxn ang="0">
                  <a:pos x="1411" y="1477"/>
                </a:cxn>
                <a:cxn ang="0">
                  <a:pos x="1219" y="1291"/>
                </a:cxn>
                <a:cxn ang="0">
                  <a:pos x="127" y="2006"/>
                </a:cxn>
                <a:cxn ang="0">
                  <a:pos x="865" y="1429"/>
                </a:cxn>
              </a:cxnLst>
              <a:rect l="0" t="0" r="r" b="b"/>
              <a:pathLst>
                <a:path w="3188" h="2024">
                  <a:moveTo>
                    <a:pt x="865" y="1429"/>
                  </a:moveTo>
                  <a:lnTo>
                    <a:pt x="871" y="1423"/>
                  </a:lnTo>
                  <a:lnTo>
                    <a:pt x="889" y="1411"/>
                  </a:lnTo>
                  <a:lnTo>
                    <a:pt x="907" y="1393"/>
                  </a:lnTo>
                  <a:lnTo>
                    <a:pt x="937" y="1369"/>
                  </a:lnTo>
                  <a:lnTo>
                    <a:pt x="991" y="1320"/>
                  </a:lnTo>
                  <a:lnTo>
                    <a:pt x="1015" y="1309"/>
                  </a:lnTo>
                  <a:lnTo>
                    <a:pt x="1033" y="1297"/>
                  </a:lnTo>
                  <a:lnTo>
                    <a:pt x="1057" y="1279"/>
                  </a:lnTo>
                  <a:lnTo>
                    <a:pt x="1086" y="1249"/>
                  </a:lnTo>
                  <a:lnTo>
                    <a:pt x="1111" y="1225"/>
                  </a:lnTo>
                  <a:lnTo>
                    <a:pt x="1123" y="1219"/>
                  </a:lnTo>
                  <a:lnTo>
                    <a:pt x="1123" y="1213"/>
                  </a:lnTo>
                  <a:lnTo>
                    <a:pt x="1057" y="1153"/>
                  </a:lnTo>
                  <a:lnTo>
                    <a:pt x="979" y="1051"/>
                  </a:lnTo>
                  <a:lnTo>
                    <a:pt x="877" y="1021"/>
                  </a:lnTo>
                  <a:lnTo>
                    <a:pt x="685" y="931"/>
                  </a:lnTo>
                  <a:lnTo>
                    <a:pt x="655" y="907"/>
                  </a:lnTo>
                  <a:lnTo>
                    <a:pt x="721" y="876"/>
                  </a:lnTo>
                  <a:lnTo>
                    <a:pt x="655" y="846"/>
                  </a:lnTo>
                  <a:lnTo>
                    <a:pt x="612" y="774"/>
                  </a:lnTo>
                  <a:lnTo>
                    <a:pt x="643" y="708"/>
                  </a:lnTo>
                  <a:lnTo>
                    <a:pt x="600" y="660"/>
                  </a:lnTo>
                  <a:lnTo>
                    <a:pt x="552" y="642"/>
                  </a:lnTo>
                  <a:lnTo>
                    <a:pt x="528" y="594"/>
                  </a:lnTo>
                  <a:lnTo>
                    <a:pt x="510" y="570"/>
                  </a:lnTo>
                  <a:lnTo>
                    <a:pt x="552" y="552"/>
                  </a:lnTo>
                  <a:lnTo>
                    <a:pt x="637" y="564"/>
                  </a:lnTo>
                  <a:lnTo>
                    <a:pt x="721" y="576"/>
                  </a:lnTo>
                  <a:lnTo>
                    <a:pt x="763" y="570"/>
                  </a:lnTo>
                  <a:lnTo>
                    <a:pt x="931" y="696"/>
                  </a:lnTo>
                  <a:lnTo>
                    <a:pt x="1091" y="850"/>
                  </a:lnTo>
                  <a:lnTo>
                    <a:pt x="1073" y="685"/>
                  </a:lnTo>
                  <a:lnTo>
                    <a:pt x="1009" y="566"/>
                  </a:lnTo>
                  <a:lnTo>
                    <a:pt x="945" y="393"/>
                  </a:lnTo>
                  <a:lnTo>
                    <a:pt x="1054" y="265"/>
                  </a:lnTo>
                  <a:lnTo>
                    <a:pt x="1137" y="45"/>
                  </a:lnTo>
                  <a:lnTo>
                    <a:pt x="1249" y="0"/>
                  </a:lnTo>
                  <a:lnTo>
                    <a:pt x="1338" y="137"/>
                  </a:lnTo>
                  <a:lnTo>
                    <a:pt x="1466" y="292"/>
                  </a:lnTo>
                  <a:lnTo>
                    <a:pt x="1502" y="411"/>
                  </a:lnTo>
                  <a:lnTo>
                    <a:pt x="1475" y="548"/>
                  </a:lnTo>
                  <a:lnTo>
                    <a:pt x="1347" y="768"/>
                  </a:lnTo>
                  <a:lnTo>
                    <a:pt x="1567" y="630"/>
                  </a:lnTo>
                  <a:lnTo>
                    <a:pt x="1687" y="462"/>
                  </a:lnTo>
                  <a:lnTo>
                    <a:pt x="1795" y="365"/>
                  </a:lnTo>
                  <a:lnTo>
                    <a:pt x="1940" y="239"/>
                  </a:lnTo>
                  <a:lnTo>
                    <a:pt x="2245" y="150"/>
                  </a:lnTo>
                  <a:lnTo>
                    <a:pt x="2498" y="138"/>
                  </a:lnTo>
                  <a:lnTo>
                    <a:pt x="2618" y="180"/>
                  </a:lnTo>
                  <a:lnTo>
                    <a:pt x="2815" y="138"/>
                  </a:lnTo>
                  <a:lnTo>
                    <a:pt x="3050" y="150"/>
                  </a:lnTo>
                  <a:lnTo>
                    <a:pt x="3176" y="168"/>
                  </a:lnTo>
                  <a:lnTo>
                    <a:pt x="3140" y="210"/>
                  </a:lnTo>
                  <a:lnTo>
                    <a:pt x="3116" y="192"/>
                  </a:lnTo>
                  <a:lnTo>
                    <a:pt x="2990" y="210"/>
                  </a:lnTo>
                  <a:lnTo>
                    <a:pt x="2906" y="263"/>
                  </a:lnTo>
                  <a:lnTo>
                    <a:pt x="2834" y="377"/>
                  </a:lnTo>
                  <a:lnTo>
                    <a:pt x="2768" y="534"/>
                  </a:lnTo>
                  <a:lnTo>
                    <a:pt x="2702" y="648"/>
                  </a:lnTo>
                  <a:lnTo>
                    <a:pt x="2738" y="726"/>
                  </a:lnTo>
                  <a:lnTo>
                    <a:pt x="2582" y="828"/>
                  </a:lnTo>
                  <a:lnTo>
                    <a:pt x="2444" y="913"/>
                  </a:lnTo>
                  <a:lnTo>
                    <a:pt x="2234" y="1009"/>
                  </a:lnTo>
                  <a:lnTo>
                    <a:pt x="2096" y="1063"/>
                  </a:lnTo>
                  <a:lnTo>
                    <a:pt x="1963" y="1075"/>
                  </a:lnTo>
                  <a:lnTo>
                    <a:pt x="2035" y="1117"/>
                  </a:lnTo>
                  <a:lnTo>
                    <a:pt x="2257" y="1111"/>
                  </a:lnTo>
                  <a:lnTo>
                    <a:pt x="2545" y="1135"/>
                  </a:lnTo>
                  <a:lnTo>
                    <a:pt x="2600" y="1207"/>
                  </a:lnTo>
                  <a:lnTo>
                    <a:pt x="2726" y="1303"/>
                  </a:lnTo>
                  <a:lnTo>
                    <a:pt x="2894" y="1441"/>
                  </a:lnTo>
                  <a:lnTo>
                    <a:pt x="2984" y="1471"/>
                  </a:lnTo>
                  <a:lnTo>
                    <a:pt x="3122" y="1555"/>
                  </a:lnTo>
                  <a:lnTo>
                    <a:pt x="3188" y="1543"/>
                  </a:lnTo>
                  <a:lnTo>
                    <a:pt x="3032" y="1585"/>
                  </a:lnTo>
                  <a:lnTo>
                    <a:pt x="3026" y="1585"/>
                  </a:lnTo>
                  <a:lnTo>
                    <a:pt x="3008" y="1591"/>
                  </a:lnTo>
                  <a:lnTo>
                    <a:pt x="2984" y="1591"/>
                  </a:lnTo>
                  <a:lnTo>
                    <a:pt x="2960" y="1597"/>
                  </a:lnTo>
                  <a:lnTo>
                    <a:pt x="2906" y="1603"/>
                  </a:lnTo>
                  <a:lnTo>
                    <a:pt x="2882" y="1609"/>
                  </a:lnTo>
                  <a:lnTo>
                    <a:pt x="2864" y="1609"/>
                  </a:lnTo>
                  <a:lnTo>
                    <a:pt x="2846" y="1609"/>
                  </a:lnTo>
                  <a:lnTo>
                    <a:pt x="2828" y="1609"/>
                  </a:lnTo>
                  <a:lnTo>
                    <a:pt x="2774" y="1615"/>
                  </a:lnTo>
                  <a:lnTo>
                    <a:pt x="2750" y="1615"/>
                  </a:lnTo>
                  <a:lnTo>
                    <a:pt x="2726" y="1621"/>
                  </a:lnTo>
                  <a:lnTo>
                    <a:pt x="2714" y="1621"/>
                  </a:lnTo>
                  <a:lnTo>
                    <a:pt x="2708" y="1621"/>
                  </a:lnTo>
                  <a:lnTo>
                    <a:pt x="2606" y="1657"/>
                  </a:lnTo>
                  <a:lnTo>
                    <a:pt x="2594" y="1657"/>
                  </a:lnTo>
                  <a:lnTo>
                    <a:pt x="2569" y="1657"/>
                  </a:lnTo>
                  <a:lnTo>
                    <a:pt x="2533" y="1663"/>
                  </a:lnTo>
                  <a:lnTo>
                    <a:pt x="2486" y="1669"/>
                  </a:lnTo>
                  <a:lnTo>
                    <a:pt x="2444" y="1675"/>
                  </a:lnTo>
                  <a:lnTo>
                    <a:pt x="2408" y="1681"/>
                  </a:lnTo>
                  <a:lnTo>
                    <a:pt x="2378" y="1687"/>
                  </a:lnTo>
                  <a:lnTo>
                    <a:pt x="2366" y="1699"/>
                  </a:lnTo>
                  <a:lnTo>
                    <a:pt x="2360" y="1705"/>
                  </a:lnTo>
                  <a:lnTo>
                    <a:pt x="2342" y="1705"/>
                  </a:lnTo>
                  <a:lnTo>
                    <a:pt x="2305" y="1687"/>
                  </a:lnTo>
                  <a:lnTo>
                    <a:pt x="2275" y="1669"/>
                  </a:lnTo>
                  <a:lnTo>
                    <a:pt x="2263" y="1663"/>
                  </a:lnTo>
                  <a:lnTo>
                    <a:pt x="2257" y="1657"/>
                  </a:lnTo>
                  <a:lnTo>
                    <a:pt x="2017" y="1585"/>
                  </a:lnTo>
                  <a:lnTo>
                    <a:pt x="1844" y="1489"/>
                  </a:lnTo>
                  <a:lnTo>
                    <a:pt x="1711" y="1453"/>
                  </a:lnTo>
                  <a:lnTo>
                    <a:pt x="1856" y="1693"/>
                  </a:lnTo>
                  <a:lnTo>
                    <a:pt x="1880" y="1844"/>
                  </a:lnTo>
                  <a:lnTo>
                    <a:pt x="1856" y="1994"/>
                  </a:lnTo>
                  <a:lnTo>
                    <a:pt x="1771" y="1922"/>
                  </a:lnTo>
                  <a:lnTo>
                    <a:pt x="1616" y="1795"/>
                  </a:lnTo>
                  <a:lnTo>
                    <a:pt x="1531" y="1753"/>
                  </a:lnTo>
                  <a:lnTo>
                    <a:pt x="1483" y="1633"/>
                  </a:lnTo>
                  <a:lnTo>
                    <a:pt x="1411" y="1477"/>
                  </a:lnTo>
                  <a:lnTo>
                    <a:pt x="1358" y="1381"/>
                  </a:lnTo>
                  <a:lnTo>
                    <a:pt x="1219" y="1291"/>
                  </a:lnTo>
                  <a:lnTo>
                    <a:pt x="1147" y="1279"/>
                  </a:lnTo>
                  <a:lnTo>
                    <a:pt x="127" y="2006"/>
                  </a:lnTo>
                  <a:lnTo>
                    <a:pt x="0" y="2024"/>
                  </a:lnTo>
                  <a:lnTo>
                    <a:pt x="865" y="1429"/>
                  </a:lnTo>
                  <a:lnTo>
                    <a:pt x="865" y="1429"/>
                  </a:lnTo>
                  <a:close/>
                </a:path>
              </a:pathLst>
            </a:custGeom>
            <a:gradFill rotWithShape="0">
              <a:gsLst>
                <a:gs pos="0">
                  <a:schemeClr val="bg2"/>
                </a:gs>
                <a:gs pos="100000">
                  <a:schemeClr val="bg1"/>
                </a:gs>
              </a:gsLst>
              <a:lin ang="2700000" scaled="1"/>
            </a:gradFill>
            <a:ln w="9525">
              <a:noFill/>
              <a:round/>
              <a:headEnd/>
              <a:tailEnd/>
            </a:ln>
          </p:spPr>
          <p:txBody>
            <a:bodyPr/>
            <a:p>
              <a:endParaRPr lang="en-US"/>
            </a:p>
          </p:txBody>
        </p:sp>
        <p:sp>
          <p:nvSpPr>
            <p:cNvPr id="1050901" name="Freeform 18"/>
            <p:cNvSpPr/>
            <p:nvPr/>
          </p:nvSpPr>
          <p:spPr bwMode="hidden">
            <a:xfrm>
              <a:off x="1344" y="293"/>
              <a:ext cx="2144" cy="1787"/>
            </a:xfrm>
            <a:custGeom>
              <a:avLst/>
              <a:ahLst/>
              <a:cxnLst>
                <a:cxn ang="0">
                  <a:pos x="318" y="1078"/>
                </a:cxn>
                <a:cxn ang="0">
                  <a:pos x="217" y="928"/>
                </a:cxn>
                <a:cxn ang="0">
                  <a:pos x="102" y="808"/>
                </a:cxn>
                <a:cxn ang="0">
                  <a:pos x="36" y="742"/>
                </a:cxn>
                <a:cxn ang="0">
                  <a:pos x="0" y="700"/>
                </a:cxn>
                <a:cxn ang="0">
                  <a:pos x="270" y="958"/>
                </a:cxn>
                <a:cxn ang="0">
                  <a:pos x="294" y="1006"/>
                </a:cxn>
                <a:cxn ang="0">
                  <a:pos x="367" y="670"/>
                </a:cxn>
                <a:cxn ang="0">
                  <a:pos x="379" y="411"/>
                </a:cxn>
                <a:cxn ang="0">
                  <a:pos x="347" y="118"/>
                </a:cxn>
                <a:cxn ang="0">
                  <a:pos x="393" y="0"/>
                </a:cxn>
                <a:cxn ang="0">
                  <a:pos x="397" y="357"/>
                </a:cxn>
                <a:cxn ang="0">
                  <a:pos x="421" y="609"/>
                </a:cxn>
                <a:cxn ang="0">
                  <a:pos x="385" y="826"/>
                </a:cxn>
                <a:cxn ang="0">
                  <a:pos x="385" y="1036"/>
                </a:cxn>
                <a:cxn ang="0">
                  <a:pos x="877" y="784"/>
                </a:cxn>
                <a:cxn ang="0">
                  <a:pos x="1309" y="555"/>
                </a:cxn>
                <a:cxn ang="0">
                  <a:pos x="1802" y="249"/>
                </a:cxn>
                <a:cxn ang="0">
                  <a:pos x="2096" y="69"/>
                </a:cxn>
                <a:cxn ang="0">
                  <a:pos x="1814" y="279"/>
                </a:cxn>
                <a:cxn ang="0">
                  <a:pos x="1453" y="501"/>
                </a:cxn>
                <a:cxn ang="0">
                  <a:pos x="1123" y="700"/>
                </a:cxn>
                <a:cxn ang="0">
                  <a:pos x="739" y="898"/>
                </a:cxn>
                <a:cxn ang="0">
                  <a:pos x="463" y="1084"/>
                </a:cxn>
                <a:cxn ang="0">
                  <a:pos x="817" y="1193"/>
                </a:cxn>
                <a:cxn ang="0">
                  <a:pos x="1285" y="1187"/>
                </a:cxn>
                <a:cxn ang="0">
                  <a:pos x="1916" y="1396"/>
                </a:cxn>
                <a:cxn ang="0">
                  <a:pos x="2144" y="1420"/>
                </a:cxn>
                <a:cxn ang="0">
                  <a:pos x="1814" y="1408"/>
                </a:cxn>
                <a:cxn ang="0">
                  <a:pos x="1435" y="1288"/>
                </a:cxn>
                <a:cxn ang="0">
                  <a:pos x="1219" y="1229"/>
                </a:cxn>
                <a:cxn ang="0">
                  <a:pos x="799" y="1223"/>
                </a:cxn>
                <a:cxn ang="0">
                  <a:pos x="505" y="1145"/>
                </a:cxn>
                <a:cxn ang="0">
                  <a:pos x="733" y="1378"/>
                </a:cxn>
                <a:cxn ang="0">
                  <a:pos x="877" y="1619"/>
                </a:cxn>
                <a:cxn ang="0">
                  <a:pos x="1009" y="1787"/>
                </a:cxn>
                <a:cxn ang="0">
                  <a:pos x="817" y="1607"/>
                </a:cxn>
                <a:cxn ang="0">
                  <a:pos x="673" y="1372"/>
                </a:cxn>
                <a:cxn ang="0">
                  <a:pos x="415" y="1109"/>
                </a:cxn>
                <a:cxn ang="0">
                  <a:pos x="318" y="1078"/>
                </a:cxn>
                <a:cxn ang="0">
                  <a:pos x="318" y="1078"/>
                </a:cxn>
              </a:cxnLst>
              <a:rect l="0" t="0" r="r" b="b"/>
              <a:pathLst>
                <a:path w="2144" h="1787">
                  <a:moveTo>
                    <a:pt x="318" y="1078"/>
                  </a:moveTo>
                  <a:lnTo>
                    <a:pt x="217" y="928"/>
                  </a:lnTo>
                  <a:lnTo>
                    <a:pt x="102" y="808"/>
                  </a:lnTo>
                  <a:lnTo>
                    <a:pt x="36" y="742"/>
                  </a:lnTo>
                  <a:lnTo>
                    <a:pt x="0" y="700"/>
                  </a:lnTo>
                  <a:lnTo>
                    <a:pt x="270" y="958"/>
                  </a:lnTo>
                  <a:lnTo>
                    <a:pt x="294" y="1006"/>
                  </a:lnTo>
                  <a:lnTo>
                    <a:pt x="367" y="670"/>
                  </a:lnTo>
                  <a:lnTo>
                    <a:pt x="379" y="411"/>
                  </a:lnTo>
                  <a:lnTo>
                    <a:pt x="347" y="118"/>
                  </a:lnTo>
                  <a:lnTo>
                    <a:pt x="393" y="0"/>
                  </a:lnTo>
                  <a:lnTo>
                    <a:pt x="397" y="357"/>
                  </a:lnTo>
                  <a:lnTo>
                    <a:pt x="421" y="609"/>
                  </a:lnTo>
                  <a:lnTo>
                    <a:pt x="385" y="826"/>
                  </a:lnTo>
                  <a:lnTo>
                    <a:pt x="385" y="1036"/>
                  </a:lnTo>
                  <a:lnTo>
                    <a:pt x="877" y="784"/>
                  </a:lnTo>
                  <a:lnTo>
                    <a:pt x="1309" y="555"/>
                  </a:lnTo>
                  <a:lnTo>
                    <a:pt x="1802" y="249"/>
                  </a:lnTo>
                  <a:lnTo>
                    <a:pt x="2096" y="69"/>
                  </a:lnTo>
                  <a:lnTo>
                    <a:pt x="1814" y="279"/>
                  </a:lnTo>
                  <a:lnTo>
                    <a:pt x="1453" y="501"/>
                  </a:lnTo>
                  <a:lnTo>
                    <a:pt x="1123" y="700"/>
                  </a:lnTo>
                  <a:lnTo>
                    <a:pt x="739" y="898"/>
                  </a:lnTo>
                  <a:lnTo>
                    <a:pt x="463" y="1084"/>
                  </a:lnTo>
                  <a:lnTo>
                    <a:pt x="817" y="1193"/>
                  </a:lnTo>
                  <a:lnTo>
                    <a:pt x="1285" y="1187"/>
                  </a:lnTo>
                  <a:lnTo>
                    <a:pt x="1916" y="1396"/>
                  </a:lnTo>
                  <a:lnTo>
                    <a:pt x="2144" y="1420"/>
                  </a:lnTo>
                  <a:lnTo>
                    <a:pt x="1814" y="1408"/>
                  </a:lnTo>
                  <a:lnTo>
                    <a:pt x="1435" y="1288"/>
                  </a:lnTo>
                  <a:lnTo>
                    <a:pt x="1219" y="1229"/>
                  </a:lnTo>
                  <a:lnTo>
                    <a:pt x="799" y="1223"/>
                  </a:lnTo>
                  <a:lnTo>
                    <a:pt x="505" y="1145"/>
                  </a:lnTo>
                  <a:lnTo>
                    <a:pt x="733" y="1378"/>
                  </a:lnTo>
                  <a:lnTo>
                    <a:pt x="877" y="1619"/>
                  </a:lnTo>
                  <a:lnTo>
                    <a:pt x="1009" y="1787"/>
                  </a:lnTo>
                  <a:lnTo>
                    <a:pt x="817" y="1607"/>
                  </a:lnTo>
                  <a:lnTo>
                    <a:pt x="673" y="1372"/>
                  </a:lnTo>
                  <a:lnTo>
                    <a:pt x="415" y="1109"/>
                  </a:lnTo>
                  <a:lnTo>
                    <a:pt x="318" y="1078"/>
                  </a:lnTo>
                  <a:lnTo>
                    <a:pt x="318" y="1078"/>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902" name="Freeform 19"/>
            <p:cNvSpPr/>
            <p:nvPr/>
          </p:nvSpPr>
          <p:spPr bwMode="hidden">
            <a:xfrm>
              <a:off x="2932" y="1728"/>
              <a:ext cx="2828" cy="2366"/>
            </a:xfrm>
            <a:custGeom>
              <a:avLst/>
              <a:ahLst/>
              <a:cxnLst>
                <a:cxn ang="0">
                  <a:pos x="1814" y="606"/>
                </a:cxn>
                <a:cxn ang="0">
                  <a:pos x="1615" y="252"/>
                </a:cxn>
                <a:cxn ang="0">
                  <a:pos x="1345" y="132"/>
                </a:cxn>
                <a:cxn ang="0">
                  <a:pos x="1381" y="492"/>
                </a:cxn>
                <a:cxn ang="0">
                  <a:pos x="955" y="221"/>
                </a:cxn>
                <a:cxn ang="0">
                  <a:pos x="877" y="161"/>
                </a:cxn>
                <a:cxn ang="0">
                  <a:pos x="841" y="167"/>
                </a:cxn>
                <a:cxn ang="0">
                  <a:pos x="720" y="161"/>
                </a:cxn>
                <a:cxn ang="0">
                  <a:pos x="613" y="144"/>
                </a:cxn>
                <a:cxn ang="0">
                  <a:pos x="492" y="161"/>
                </a:cxn>
                <a:cxn ang="0">
                  <a:pos x="432" y="150"/>
                </a:cxn>
                <a:cxn ang="0">
                  <a:pos x="342" y="138"/>
                </a:cxn>
                <a:cxn ang="0">
                  <a:pos x="246" y="126"/>
                </a:cxn>
                <a:cxn ang="0">
                  <a:pos x="174" y="114"/>
                </a:cxn>
                <a:cxn ang="0">
                  <a:pos x="216" y="240"/>
                </a:cxn>
                <a:cxn ang="0">
                  <a:pos x="607" y="588"/>
                </a:cxn>
                <a:cxn ang="0">
                  <a:pos x="1177" y="817"/>
                </a:cxn>
                <a:cxn ang="0">
                  <a:pos x="972" y="871"/>
                </a:cxn>
                <a:cxn ang="0">
                  <a:pos x="492" y="1111"/>
                </a:cxn>
                <a:cxn ang="0">
                  <a:pos x="276" y="1441"/>
                </a:cxn>
                <a:cxn ang="0">
                  <a:pos x="42" y="1441"/>
                </a:cxn>
                <a:cxn ang="0">
                  <a:pos x="367" y="1585"/>
                </a:cxn>
                <a:cxn ang="0">
                  <a:pos x="949" y="1712"/>
                </a:cxn>
                <a:cxn ang="0">
                  <a:pos x="1519" y="1537"/>
                </a:cxn>
                <a:cxn ang="0">
                  <a:pos x="1735" y="1513"/>
                </a:cxn>
                <a:cxn ang="0">
                  <a:pos x="1723" y="1802"/>
                </a:cxn>
                <a:cxn ang="0">
                  <a:pos x="2042" y="2229"/>
                </a:cxn>
                <a:cxn ang="0">
                  <a:pos x="2191" y="2133"/>
                </a:cxn>
                <a:cxn ang="0">
                  <a:pos x="2270" y="1970"/>
                </a:cxn>
                <a:cxn ang="0">
                  <a:pos x="2233" y="1573"/>
                </a:cxn>
                <a:cxn ang="0">
                  <a:pos x="2294" y="1483"/>
                </a:cxn>
                <a:cxn ang="0">
                  <a:pos x="2588" y="1688"/>
                </a:cxn>
                <a:cxn ang="0">
                  <a:pos x="2695" y="1682"/>
                </a:cxn>
                <a:cxn ang="0">
                  <a:pos x="2588" y="1543"/>
                </a:cxn>
                <a:cxn ang="0">
                  <a:pos x="2510" y="1357"/>
                </a:cxn>
                <a:cxn ang="0">
                  <a:pos x="2354" y="1184"/>
                </a:cxn>
                <a:cxn ang="0">
                  <a:pos x="2102" y="931"/>
                </a:cxn>
                <a:cxn ang="0">
                  <a:pos x="2137" y="907"/>
                </a:cxn>
                <a:cxn ang="0">
                  <a:pos x="2215" y="871"/>
                </a:cxn>
                <a:cxn ang="0">
                  <a:pos x="2324" y="817"/>
                </a:cxn>
                <a:cxn ang="0">
                  <a:pos x="2372" y="787"/>
                </a:cxn>
                <a:cxn ang="0">
                  <a:pos x="2078" y="865"/>
                </a:cxn>
              </a:cxnLst>
              <a:rect l="0" t="0" r="r" b="b"/>
              <a:pathLst>
                <a:path w="2828" h="2366">
                  <a:moveTo>
                    <a:pt x="2006" y="835"/>
                  </a:moveTo>
                  <a:lnTo>
                    <a:pt x="1873" y="715"/>
                  </a:lnTo>
                  <a:lnTo>
                    <a:pt x="1814" y="606"/>
                  </a:lnTo>
                  <a:lnTo>
                    <a:pt x="1747" y="438"/>
                  </a:lnTo>
                  <a:lnTo>
                    <a:pt x="1699" y="312"/>
                  </a:lnTo>
                  <a:lnTo>
                    <a:pt x="1615" y="252"/>
                  </a:lnTo>
                  <a:lnTo>
                    <a:pt x="1453" y="84"/>
                  </a:lnTo>
                  <a:lnTo>
                    <a:pt x="1375" y="0"/>
                  </a:lnTo>
                  <a:lnTo>
                    <a:pt x="1345" y="132"/>
                  </a:lnTo>
                  <a:lnTo>
                    <a:pt x="1369" y="294"/>
                  </a:lnTo>
                  <a:lnTo>
                    <a:pt x="1513" y="558"/>
                  </a:lnTo>
                  <a:lnTo>
                    <a:pt x="1381" y="492"/>
                  </a:lnTo>
                  <a:lnTo>
                    <a:pt x="1201" y="360"/>
                  </a:lnTo>
                  <a:lnTo>
                    <a:pt x="961" y="227"/>
                  </a:lnTo>
                  <a:lnTo>
                    <a:pt x="955" y="221"/>
                  </a:lnTo>
                  <a:lnTo>
                    <a:pt x="949" y="215"/>
                  </a:lnTo>
                  <a:lnTo>
                    <a:pt x="913" y="185"/>
                  </a:lnTo>
                  <a:lnTo>
                    <a:pt x="877" y="161"/>
                  </a:lnTo>
                  <a:lnTo>
                    <a:pt x="859" y="156"/>
                  </a:lnTo>
                  <a:lnTo>
                    <a:pt x="853" y="161"/>
                  </a:lnTo>
                  <a:lnTo>
                    <a:pt x="841" y="167"/>
                  </a:lnTo>
                  <a:lnTo>
                    <a:pt x="810" y="173"/>
                  </a:lnTo>
                  <a:lnTo>
                    <a:pt x="768" y="167"/>
                  </a:lnTo>
                  <a:lnTo>
                    <a:pt x="720" y="161"/>
                  </a:lnTo>
                  <a:lnTo>
                    <a:pt x="678" y="156"/>
                  </a:lnTo>
                  <a:lnTo>
                    <a:pt x="637" y="150"/>
                  </a:lnTo>
                  <a:lnTo>
                    <a:pt x="613" y="144"/>
                  </a:lnTo>
                  <a:lnTo>
                    <a:pt x="601" y="144"/>
                  </a:lnTo>
                  <a:lnTo>
                    <a:pt x="498" y="161"/>
                  </a:lnTo>
                  <a:lnTo>
                    <a:pt x="492" y="161"/>
                  </a:lnTo>
                  <a:lnTo>
                    <a:pt x="480" y="156"/>
                  </a:lnTo>
                  <a:lnTo>
                    <a:pt x="456" y="156"/>
                  </a:lnTo>
                  <a:lnTo>
                    <a:pt x="432" y="150"/>
                  </a:lnTo>
                  <a:lnTo>
                    <a:pt x="379" y="144"/>
                  </a:lnTo>
                  <a:lnTo>
                    <a:pt x="361" y="138"/>
                  </a:lnTo>
                  <a:lnTo>
                    <a:pt x="342" y="138"/>
                  </a:lnTo>
                  <a:lnTo>
                    <a:pt x="324" y="138"/>
                  </a:lnTo>
                  <a:lnTo>
                    <a:pt x="300" y="132"/>
                  </a:lnTo>
                  <a:lnTo>
                    <a:pt x="246" y="126"/>
                  </a:lnTo>
                  <a:lnTo>
                    <a:pt x="216" y="120"/>
                  </a:lnTo>
                  <a:lnTo>
                    <a:pt x="192" y="120"/>
                  </a:lnTo>
                  <a:lnTo>
                    <a:pt x="174" y="114"/>
                  </a:lnTo>
                  <a:lnTo>
                    <a:pt x="168" y="114"/>
                  </a:lnTo>
                  <a:lnTo>
                    <a:pt x="6" y="120"/>
                  </a:lnTo>
                  <a:lnTo>
                    <a:pt x="216" y="240"/>
                  </a:lnTo>
                  <a:lnTo>
                    <a:pt x="306" y="294"/>
                  </a:lnTo>
                  <a:lnTo>
                    <a:pt x="480" y="462"/>
                  </a:lnTo>
                  <a:lnTo>
                    <a:pt x="607" y="588"/>
                  </a:lnTo>
                  <a:lnTo>
                    <a:pt x="655" y="672"/>
                  </a:lnTo>
                  <a:lnTo>
                    <a:pt x="949" y="769"/>
                  </a:lnTo>
                  <a:lnTo>
                    <a:pt x="1177" y="817"/>
                  </a:lnTo>
                  <a:lnTo>
                    <a:pt x="1249" y="871"/>
                  </a:lnTo>
                  <a:lnTo>
                    <a:pt x="1117" y="853"/>
                  </a:lnTo>
                  <a:lnTo>
                    <a:pt x="972" y="871"/>
                  </a:lnTo>
                  <a:lnTo>
                    <a:pt x="756" y="919"/>
                  </a:lnTo>
                  <a:lnTo>
                    <a:pt x="619" y="961"/>
                  </a:lnTo>
                  <a:lnTo>
                    <a:pt x="492" y="1111"/>
                  </a:lnTo>
                  <a:lnTo>
                    <a:pt x="420" y="1214"/>
                  </a:lnTo>
                  <a:lnTo>
                    <a:pt x="348" y="1345"/>
                  </a:lnTo>
                  <a:lnTo>
                    <a:pt x="276" y="1441"/>
                  </a:lnTo>
                  <a:lnTo>
                    <a:pt x="192" y="1471"/>
                  </a:lnTo>
                  <a:lnTo>
                    <a:pt x="66" y="1465"/>
                  </a:lnTo>
                  <a:lnTo>
                    <a:pt x="42" y="1441"/>
                  </a:lnTo>
                  <a:lnTo>
                    <a:pt x="0" y="1471"/>
                  </a:lnTo>
                  <a:lnTo>
                    <a:pt x="126" y="1519"/>
                  </a:lnTo>
                  <a:lnTo>
                    <a:pt x="367" y="1585"/>
                  </a:lnTo>
                  <a:lnTo>
                    <a:pt x="570" y="1591"/>
                  </a:lnTo>
                  <a:lnTo>
                    <a:pt x="690" y="1664"/>
                  </a:lnTo>
                  <a:lnTo>
                    <a:pt x="949" y="1712"/>
                  </a:lnTo>
                  <a:lnTo>
                    <a:pt x="1260" y="1694"/>
                  </a:lnTo>
                  <a:lnTo>
                    <a:pt x="1411" y="1603"/>
                  </a:lnTo>
                  <a:lnTo>
                    <a:pt x="1519" y="1537"/>
                  </a:lnTo>
                  <a:lnTo>
                    <a:pt x="1645" y="1399"/>
                  </a:lnTo>
                  <a:lnTo>
                    <a:pt x="1699" y="1387"/>
                  </a:lnTo>
                  <a:lnTo>
                    <a:pt x="1735" y="1513"/>
                  </a:lnTo>
                  <a:lnTo>
                    <a:pt x="1729" y="1567"/>
                  </a:lnTo>
                  <a:lnTo>
                    <a:pt x="1723" y="1670"/>
                  </a:lnTo>
                  <a:lnTo>
                    <a:pt x="1723" y="1802"/>
                  </a:lnTo>
                  <a:lnTo>
                    <a:pt x="1831" y="1964"/>
                  </a:lnTo>
                  <a:lnTo>
                    <a:pt x="1957" y="2090"/>
                  </a:lnTo>
                  <a:lnTo>
                    <a:pt x="2042" y="2229"/>
                  </a:lnTo>
                  <a:lnTo>
                    <a:pt x="2155" y="2366"/>
                  </a:lnTo>
                  <a:lnTo>
                    <a:pt x="2161" y="2295"/>
                  </a:lnTo>
                  <a:lnTo>
                    <a:pt x="2191" y="2133"/>
                  </a:lnTo>
                  <a:lnTo>
                    <a:pt x="2215" y="2048"/>
                  </a:lnTo>
                  <a:lnTo>
                    <a:pt x="2258" y="2042"/>
                  </a:lnTo>
                  <a:lnTo>
                    <a:pt x="2270" y="1970"/>
                  </a:lnTo>
                  <a:lnTo>
                    <a:pt x="2342" y="1868"/>
                  </a:lnTo>
                  <a:lnTo>
                    <a:pt x="2324" y="1748"/>
                  </a:lnTo>
                  <a:lnTo>
                    <a:pt x="2233" y="1573"/>
                  </a:lnTo>
                  <a:lnTo>
                    <a:pt x="2209" y="1453"/>
                  </a:lnTo>
                  <a:lnTo>
                    <a:pt x="2209" y="1345"/>
                  </a:lnTo>
                  <a:lnTo>
                    <a:pt x="2294" y="1483"/>
                  </a:lnTo>
                  <a:lnTo>
                    <a:pt x="2461" y="1651"/>
                  </a:lnTo>
                  <a:lnTo>
                    <a:pt x="2504" y="1651"/>
                  </a:lnTo>
                  <a:lnTo>
                    <a:pt x="2588" y="1688"/>
                  </a:lnTo>
                  <a:lnTo>
                    <a:pt x="2678" y="1718"/>
                  </a:lnTo>
                  <a:lnTo>
                    <a:pt x="2720" y="1712"/>
                  </a:lnTo>
                  <a:lnTo>
                    <a:pt x="2695" y="1682"/>
                  </a:lnTo>
                  <a:lnTo>
                    <a:pt x="2678" y="1627"/>
                  </a:lnTo>
                  <a:lnTo>
                    <a:pt x="2630" y="1597"/>
                  </a:lnTo>
                  <a:lnTo>
                    <a:pt x="2588" y="1543"/>
                  </a:lnTo>
                  <a:lnTo>
                    <a:pt x="2618" y="1483"/>
                  </a:lnTo>
                  <a:lnTo>
                    <a:pt x="2576" y="1399"/>
                  </a:lnTo>
                  <a:lnTo>
                    <a:pt x="2510" y="1357"/>
                  </a:lnTo>
                  <a:lnTo>
                    <a:pt x="2576" y="1351"/>
                  </a:lnTo>
                  <a:lnTo>
                    <a:pt x="2552" y="1315"/>
                  </a:lnTo>
                  <a:lnTo>
                    <a:pt x="2354" y="1184"/>
                  </a:lnTo>
                  <a:lnTo>
                    <a:pt x="2252" y="1123"/>
                  </a:lnTo>
                  <a:lnTo>
                    <a:pt x="2173" y="1009"/>
                  </a:lnTo>
                  <a:lnTo>
                    <a:pt x="2102" y="931"/>
                  </a:lnTo>
                  <a:lnTo>
                    <a:pt x="2108" y="931"/>
                  </a:lnTo>
                  <a:lnTo>
                    <a:pt x="2114" y="925"/>
                  </a:lnTo>
                  <a:lnTo>
                    <a:pt x="2137" y="907"/>
                  </a:lnTo>
                  <a:lnTo>
                    <a:pt x="2167" y="883"/>
                  </a:lnTo>
                  <a:lnTo>
                    <a:pt x="2197" y="877"/>
                  </a:lnTo>
                  <a:lnTo>
                    <a:pt x="2215" y="871"/>
                  </a:lnTo>
                  <a:lnTo>
                    <a:pt x="2240" y="859"/>
                  </a:lnTo>
                  <a:lnTo>
                    <a:pt x="2300" y="829"/>
                  </a:lnTo>
                  <a:lnTo>
                    <a:pt x="2324" y="817"/>
                  </a:lnTo>
                  <a:lnTo>
                    <a:pt x="2348" y="799"/>
                  </a:lnTo>
                  <a:lnTo>
                    <a:pt x="2366" y="793"/>
                  </a:lnTo>
                  <a:lnTo>
                    <a:pt x="2372" y="787"/>
                  </a:lnTo>
                  <a:lnTo>
                    <a:pt x="2828" y="588"/>
                  </a:lnTo>
                  <a:lnTo>
                    <a:pt x="2828" y="528"/>
                  </a:lnTo>
                  <a:lnTo>
                    <a:pt x="2078" y="865"/>
                  </a:lnTo>
                  <a:lnTo>
                    <a:pt x="2006" y="835"/>
                  </a:lnTo>
                  <a:lnTo>
                    <a:pt x="2006" y="835"/>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p>
              <a:endParaRPr lang="en-US"/>
            </a:p>
          </p:txBody>
        </p:sp>
        <p:sp>
          <p:nvSpPr>
            <p:cNvPr id="1050903" name="Freeform 20"/>
            <p:cNvSpPr/>
            <p:nvPr/>
          </p:nvSpPr>
          <p:spPr bwMode="hidden">
            <a:xfrm>
              <a:off x="3160" y="1860"/>
              <a:ext cx="2162" cy="1934"/>
            </a:xfrm>
            <a:custGeom>
              <a:avLst/>
              <a:ahLst/>
              <a:cxnLst>
                <a:cxn ang="0">
                  <a:pos x="1842" y="851"/>
                </a:cxn>
                <a:cxn ang="0">
                  <a:pos x="1937" y="1019"/>
                </a:cxn>
                <a:cxn ang="0">
                  <a:pos x="2051" y="1168"/>
                </a:cxn>
                <a:cxn ang="0">
                  <a:pos x="2117" y="1246"/>
                </a:cxn>
                <a:cxn ang="0">
                  <a:pos x="2153" y="1294"/>
                </a:cxn>
                <a:cxn ang="0">
                  <a:pos x="1889" y="977"/>
                </a:cxn>
                <a:cxn ang="0">
                  <a:pos x="1860" y="929"/>
                </a:cxn>
                <a:cxn ang="0">
                  <a:pos x="1782" y="1240"/>
                </a:cxn>
                <a:cxn ang="0">
                  <a:pos x="1770" y="1486"/>
                </a:cxn>
                <a:cxn ang="0">
                  <a:pos x="1818" y="1906"/>
                </a:cxn>
                <a:cxn ang="0">
                  <a:pos x="1788" y="1930"/>
                </a:cxn>
                <a:cxn ang="0">
                  <a:pos x="1746" y="1534"/>
                </a:cxn>
                <a:cxn ang="0">
                  <a:pos x="1728" y="1288"/>
                </a:cxn>
                <a:cxn ang="0">
                  <a:pos x="1764" y="1085"/>
                </a:cxn>
                <a:cxn ang="0">
                  <a:pos x="1770" y="875"/>
                </a:cxn>
                <a:cxn ang="0">
                  <a:pos x="1268" y="1007"/>
                </a:cxn>
                <a:cxn ang="0">
                  <a:pos x="825" y="1132"/>
                </a:cxn>
                <a:cxn ang="0">
                  <a:pos x="323" y="1312"/>
                </a:cxn>
                <a:cxn ang="0">
                  <a:pos x="18" y="1420"/>
                </a:cxn>
                <a:cxn ang="0">
                  <a:pos x="311" y="1282"/>
                </a:cxn>
                <a:cxn ang="0">
                  <a:pos x="682" y="1144"/>
                </a:cxn>
                <a:cxn ang="0">
                  <a:pos x="1022" y="1037"/>
                </a:cxn>
                <a:cxn ang="0">
                  <a:pos x="1411" y="929"/>
                </a:cxn>
                <a:cxn ang="0">
                  <a:pos x="1692" y="815"/>
                </a:cxn>
                <a:cxn ang="0">
                  <a:pos x="1333" y="623"/>
                </a:cxn>
                <a:cxn ang="0">
                  <a:pos x="861" y="515"/>
                </a:cxn>
                <a:cxn ang="0">
                  <a:pos x="227" y="161"/>
                </a:cxn>
                <a:cxn ang="0">
                  <a:pos x="0" y="83"/>
                </a:cxn>
                <a:cxn ang="0">
                  <a:pos x="329" y="179"/>
                </a:cxn>
                <a:cxn ang="0">
                  <a:pos x="712" y="383"/>
                </a:cxn>
                <a:cxn ang="0">
                  <a:pos x="933" y="491"/>
                </a:cxn>
                <a:cxn ang="0">
                  <a:pos x="1351" y="593"/>
                </a:cxn>
                <a:cxn ang="0">
                  <a:pos x="1650" y="743"/>
                </a:cxn>
                <a:cxn ang="0">
                  <a:pos x="1423" y="461"/>
                </a:cxn>
                <a:cxn ang="0">
                  <a:pos x="1286" y="191"/>
                </a:cxn>
                <a:cxn ang="0">
                  <a:pos x="1154" y="0"/>
                </a:cxn>
                <a:cxn ang="0">
                  <a:pos x="1339" y="215"/>
                </a:cxn>
                <a:cxn ang="0">
                  <a:pos x="1489" y="485"/>
                </a:cxn>
                <a:cxn ang="0">
                  <a:pos x="1746" y="803"/>
                </a:cxn>
                <a:cxn ang="0">
                  <a:pos x="1842" y="851"/>
                </a:cxn>
                <a:cxn ang="0">
                  <a:pos x="1842" y="851"/>
                </a:cxn>
              </a:cxnLst>
              <a:rect l="0" t="0" r="r" b="b"/>
              <a:pathLst>
                <a:path w="2153" h="1930">
                  <a:moveTo>
                    <a:pt x="1842" y="851"/>
                  </a:moveTo>
                  <a:lnTo>
                    <a:pt x="1937" y="1019"/>
                  </a:lnTo>
                  <a:lnTo>
                    <a:pt x="2051" y="1168"/>
                  </a:lnTo>
                  <a:lnTo>
                    <a:pt x="2117" y="1246"/>
                  </a:lnTo>
                  <a:lnTo>
                    <a:pt x="2153" y="1294"/>
                  </a:lnTo>
                  <a:lnTo>
                    <a:pt x="1889" y="977"/>
                  </a:lnTo>
                  <a:lnTo>
                    <a:pt x="1860" y="929"/>
                  </a:lnTo>
                  <a:lnTo>
                    <a:pt x="1782" y="1240"/>
                  </a:lnTo>
                  <a:lnTo>
                    <a:pt x="1770" y="1486"/>
                  </a:lnTo>
                  <a:lnTo>
                    <a:pt x="1818" y="1906"/>
                  </a:lnTo>
                  <a:lnTo>
                    <a:pt x="1788" y="1930"/>
                  </a:lnTo>
                  <a:lnTo>
                    <a:pt x="1746" y="1534"/>
                  </a:lnTo>
                  <a:lnTo>
                    <a:pt x="1728" y="1288"/>
                  </a:lnTo>
                  <a:lnTo>
                    <a:pt x="1764" y="1085"/>
                  </a:lnTo>
                  <a:lnTo>
                    <a:pt x="1770" y="875"/>
                  </a:lnTo>
                  <a:lnTo>
                    <a:pt x="1268" y="1007"/>
                  </a:lnTo>
                  <a:lnTo>
                    <a:pt x="825" y="1132"/>
                  </a:lnTo>
                  <a:lnTo>
                    <a:pt x="323" y="1312"/>
                  </a:lnTo>
                  <a:lnTo>
                    <a:pt x="18" y="1420"/>
                  </a:lnTo>
                  <a:lnTo>
                    <a:pt x="311" y="1282"/>
                  </a:lnTo>
                  <a:lnTo>
                    <a:pt x="682" y="1144"/>
                  </a:lnTo>
                  <a:lnTo>
                    <a:pt x="1022" y="1037"/>
                  </a:lnTo>
                  <a:lnTo>
                    <a:pt x="1411" y="929"/>
                  </a:lnTo>
                  <a:lnTo>
                    <a:pt x="1692" y="815"/>
                  </a:lnTo>
                  <a:lnTo>
                    <a:pt x="1333" y="623"/>
                  </a:lnTo>
                  <a:lnTo>
                    <a:pt x="861" y="515"/>
                  </a:lnTo>
                  <a:lnTo>
                    <a:pt x="227" y="161"/>
                  </a:lnTo>
                  <a:lnTo>
                    <a:pt x="0" y="83"/>
                  </a:lnTo>
                  <a:lnTo>
                    <a:pt x="329" y="179"/>
                  </a:lnTo>
                  <a:lnTo>
                    <a:pt x="712" y="383"/>
                  </a:lnTo>
                  <a:lnTo>
                    <a:pt x="933" y="491"/>
                  </a:lnTo>
                  <a:lnTo>
                    <a:pt x="1351" y="593"/>
                  </a:lnTo>
                  <a:lnTo>
                    <a:pt x="1650" y="743"/>
                  </a:lnTo>
                  <a:lnTo>
                    <a:pt x="1423" y="461"/>
                  </a:lnTo>
                  <a:lnTo>
                    <a:pt x="1286" y="191"/>
                  </a:lnTo>
                  <a:lnTo>
                    <a:pt x="1154" y="0"/>
                  </a:lnTo>
                  <a:lnTo>
                    <a:pt x="1339" y="215"/>
                  </a:lnTo>
                  <a:lnTo>
                    <a:pt x="1489" y="485"/>
                  </a:lnTo>
                  <a:lnTo>
                    <a:pt x="1746" y="803"/>
                  </a:lnTo>
                  <a:lnTo>
                    <a:pt x="1842" y="851"/>
                  </a:lnTo>
                  <a:lnTo>
                    <a:pt x="1842" y="851"/>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grpSp>
      <p:sp>
        <p:nvSpPr>
          <p:cNvPr id="1050904" name="Rectangle 21"/>
          <p:cNvSpPr>
            <a:spLocks noGrp="1" noChangeArrowheads="1"/>
          </p:cNvSpPr>
          <p:nvPr>
            <p:ph type="ctrTitle" sz="quarter"/>
          </p:nvPr>
        </p:nvSpPr>
        <p:spPr>
          <a:xfrm>
            <a:off x="857250" y="1828809"/>
            <a:ext cx="9715500" cy="1736725"/>
          </a:xfrm>
        </p:spPr>
        <p:txBody>
          <a:bodyPr/>
          <a:lstStyle>
            <a:lvl1pPr>
              <a:defRPr sz="5400"/>
            </a:lvl1pPr>
          </a:lstStyle>
          <a:p>
            <a:r>
              <a:rPr lang="en-US" smtClean="0"/>
              <a:t>Click to edit Master title style</a:t>
            </a:r>
            <a:endParaRPr lang="en-US"/>
          </a:p>
        </p:txBody>
      </p:sp>
      <p:sp>
        <p:nvSpPr>
          <p:cNvPr id="1050905" name="Rectangle 22"/>
          <p:cNvSpPr>
            <a:spLocks noGrp="1" noChangeArrowheads="1"/>
          </p:cNvSpPr>
          <p:nvPr>
            <p:ph type="subTitle" sz="quarter" idx="1"/>
          </p:nvPr>
        </p:nvSpPr>
        <p:spPr>
          <a:xfrm>
            <a:off x="1714500" y="3886200"/>
            <a:ext cx="8001000" cy="1752600"/>
          </a:xfrm>
        </p:spPr>
        <p:txBody>
          <a:bodyPr/>
          <a:lstStyle>
            <a:lvl1pPr algn="ctr" indent="0" marL="0">
              <a:buFont typeface="Wingdings" pitchFamily="2" charset="2"/>
              <a:buNone/>
            </a:lvl1pPr>
          </a:lstStyle>
          <a:p>
            <a:r>
              <a:rPr lang="en-US" smtClean="0"/>
              <a:t>Click to edit Master subtitle style</a:t>
            </a:r>
            <a:endParaRPr lang="en-US"/>
          </a:p>
        </p:txBody>
      </p:sp>
      <p:sp>
        <p:nvSpPr>
          <p:cNvPr id="1050906" name="Rectangle 23"/>
          <p:cNvSpPr>
            <a:spLocks noGrp="1" noChangeArrowheads="1"/>
          </p:cNvSpPr>
          <p:nvPr>
            <p:ph type="dt" sz="quarter" idx="2"/>
          </p:nvPr>
        </p:nvSpPr>
        <p:spPr/>
        <p:txBody>
          <a:bodyPr/>
          <a:p>
            <a:fld id="{B268007C-C38C-4974-A0A6-409C68DF5716}" type="datetime1">
              <a:rPr lang="en-US" smtClean="0"/>
            </a:fld>
            <a:endParaRPr lang="en-US"/>
          </a:p>
        </p:txBody>
      </p:sp>
      <p:sp>
        <p:nvSpPr>
          <p:cNvPr id="1050907" name="Rectangle 24"/>
          <p:cNvSpPr>
            <a:spLocks noGrp="1" noChangeArrowheads="1"/>
          </p:cNvSpPr>
          <p:nvPr>
            <p:ph type="ftr" sz="quarter" idx="3"/>
          </p:nvPr>
        </p:nvSpPr>
        <p:spPr/>
        <p:txBody>
          <a:bodyPr/>
          <a:p>
            <a:r>
              <a:rPr lang="en-US" smtClean="0"/>
              <a:t>@MUSOVYA2017</a:t>
            </a:r>
            <a:endParaRPr lang="en-US"/>
          </a:p>
        </p:txBody>
      </p:sp>
      <p:sp>
        <p:nvSpPr>
          <p:cNvPr id="1050908" name="Rectangle 25"/>
          <p:cNvSpPr>
            <a:spLocks noGrp="1" noChangeArrowheads="1"/>
          </p:cNvSpPr>
          <p:nvPr>
            <p:ph type="sldNum" sz="quarter" idx="4"/>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accel="100000" fill="hold" grpId="0" id="5" nodeType="withEffect" presetClass="entr" presetID="39" presetSubtype="0">
                                  <p:stCondLst>
                                    <p:cond delay="0"/>
                                  </p:stCondLst>
                                  <p:childTnLst>
                                    <p:set>
                                      <p:cBhvr>
                                        <p:cTn dur="1" fill="hold" id="6">
                                          <p:stCondLst>
                                            <p:cond delay="0"/>
                                          </p:stCondLst>
                                        </p:cTn>
                                        <p:tgtEl>
                                          <p:spTgt spid="1050904"/>
                                        </p:tgtEl>
                                        <p:attrNameLst>
                                          <p:attrName>style.visibility</p:attrName>
                                        </p:attrNameLst>
                                      </p:cBhvr>
                                      <p:to>
                                        <p:strVal val="visible"/>
                                      </p:to>
                                    </p:set>
                                    <p:anim calcmode="lin" valueType="num">
                                      <p:cBhvr>
                                        <p:cTn dur="500" fill="hold" id="7"/>
                                        <p:tgtEl>
                                          <p:spTgt spid="1050904"/>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8"/>
                                        <p:tgtEl>
                                          <p:spTgt spid="1050904"/>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9"/>
                                        <p:tgtEl>
                                          <p:spTgt spid="1050904"/>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10"/>
                                        <p:tgtEl>
                                          <p:spTgt spid="1050904"/>
                                        </p:tgtEl>
                                        <p:attrNameLst>
                                          <p:attrName>ppt_y</p:attrName>
                                        </p:attrNameLst>
                                      </p:cBhvr>
                                      <p:tavLst>
                                        <p:tav tm="0">
                                          <p:val>
                                            <p:strVal val="#ppt_y"/>
                                          </p:val>
                                        </p:tav>
                                        <p:tav tm="100000">
                                          <p:val>
                                            <p:strVal val="#ppt_y"/>
                                          </p:val>
                                        </p:tav>
                                      </p:tavLst>
                                    </p:anim>
                                  </p:childTnLst>
                                </p:cTn>
                              </p:par>
                            </p:childTnLst>
                          </p:cTn>
                        </p:par>
                      </p:childTnLst>
                    </p:cTn>
                  </p:par>
                  <p:par>
                    <p:cTn fill="hold" id="11">
                      <p:stCondLst>
                        <p:cond delay="indefinite"/>
                      </p:stCondLst>
                      <p:childTnLst>
                        <p:par>
                          <p:cTn fill="hold" id="12">
                            <p:stCondLst>
                              <p:cond delay="0"/>
                            </p:stCondLst>
                            <p:childTnLst>
                              <p:par>
                                <p:cTn accel="100000" fill="hold" grpId="0" id="13" nodeType="clickEffect" presetClass="entr" presetID="39" presetSubtype="0">
                                  <p:stCondLst>
                                    <p:cond delay="0"/>
                                  </p:stCondLst>
                                  <p:childTnLst>
                                    <p:set>
                                      <p:cBhvr>
                                        <p:cTn dur="1" fill="hold" id="14">
                                          <p:stCondLst>
                                            <p:cond delay="0"/>
                                          </p:stCondLst>
                                        </p:cTn>
                                        <p:tgtEl>
                                          <p:spTgt spid="1050905">
                                            <p:txEl>
                                              <p:pRg st="0" end="0"/>
                                            </p:txEl>
                                          </p:spTgt>
                                        </p:tgtEl>
                                        <p:attrNameLst>
                                          <p:attrName>style.visibility</p:attrName>
                                        </p:attrNameLst>
                                      </p:cBhvr>
                                      <p:to>
                                        <p:strVal val="visible"/>
                                      </p:to>
                                    </p:set>
                                    <p:anim calcmode="lin" valueType="num">
                                      <p:cBhvr>
                                        <p:cTn dur="500" fill="hold" id="15"/>
                                        <p:tgtEl>
                                          <p:spTgt spid="1050905">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16"/>
                                        <p:tgtEl>
                                          <p:spTgt spid="1050905">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17"/>
                                        <p:tgtEl>
                                          <p:spTgt spid="1050905">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18"/>
                                        <p:tgtEl>
                                          <p:spTgt spid="105090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fill="hold" id="19">
                      <p:stCondLst>
                        <p:cond delay="indefinite"/>
                      </p:stCondLst>
                      <p:childTnLst>
                        <p:par>
                          <p:cTn fill="hold" id="20">
                            <p:stCondLst>
                              <p:cond delay="0"/>
                            </p:stCondLst>
                            <p:childTnLst>
                              <p:par>
                                <p:cTn decel="100000" fill="hold" grpId="1" id="21" nodeType="clickEffect" presetClass="exit" presetID="39" presetSubtype="0">
                                  <p:stCondLst>
                                    <p:cond delay="0"/>
                                  </p:stCondLst>
                                  <p:childTnLst>
                                    <p:anim calcmode="lin" valueType="num">
                                      <p:cBhvr>
                                        <p:cTn dur="500" fill="hold" id="22"/>
                                        <p:tgtEl>
                                          <p:spTgt spid="1050904"/>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23"/>
                                        <p:tgtEl>
                                          <p:spTgt spid="1050904"/>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24"/>
                                        <p:tgtEl>
                                          <p:spTgt spid="1050904"/>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25"/>
                                        <p:tgtEl>
                                          <p:spTgt spid="1050904"/>
                                        </p:tgtEl>
                                        <p:attrNameLst>
                                          <p:attrName>ppt_y</p:attrName>
                                        </p:attrNameLst>
                                      </p:cBhvr>
                                      <p:tavLst>
                                        <p:tav tm="0">
                                          <p:val>
                                            <p:strVal val="ppt_y"/>
                                          </p:val>
                                        </p:tav>
                                        <p:tav tm="100000">
                                          <p:val>
                                            <p:strVal val="ppt_y"/>
                                          </p:val>
                                        </p:tav>
                                      </p:tavLst>
                                    </p:anim>
                                    <p:set>
                                      <p:cBhvr>
                                        <p:cTn dur="1" fill="hold" id="26">
                                          <p:stCondLst>
                                            <p:cond delay="499"/>
                                          </p:stCondLst>
                                        </p:cTn>
                                        <p:tgtEl>
                                          <p:spTgt spid="1050904"/>
                                        </p:tgtEl>
                                        <p:attrNameLst>
                                          <p:attrName>style.visibility</p:attrName>
                                        </p:attrNameLst>
                                      </p:cBhvr>
                                      <p:to>
                                        <p:strVal val="hidden"/>
                                      </p:to>
                                    </p:set>
                                  </p:childTnLst>
                                </p:cTn>
                              </p:par>
                              <p:par>
                                <p:cTn decel="100000" fill="hold" grpId="1" id="27" nodeType="withEffect" presetClass="exit" presetID="39" presetSubtype="0">
                                  <p:stCondLst>
                                    <p:cond delay="0"/>
                                  </p:stCondLst>
                                  <p:childTnLst>
                                    <p:anim calcmode="lin" valueType="num">
                                      <p:cBhvr>
                                        <p:cTn dur="500" fill="hold" id="28"/>
                                        <p:tgtEl>
                                          <p:spTgt spid="1050905">
                                            <p:txEl>
                                              <p:pRg st="0" end="0"/>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29"/>
                                        <p:tgtEl>
                                          <p:spTgt spid="1050905">
                                            <p:txEl>
                                              <p:pRg st="0" end="0"/>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30"/>
                                        <p:tgtEl>
                                          <p:spTgt spid="1050905">
                                            <p:txEl>
                                              <p:pRg st="0" end="0"/>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31"/>
                                        <p:tgtEl>
                                          <p:spTgt spid="1050905">
                                            <p:txEl>
                                              <p:pRg st="0" end="0"/>
                                            </p:txEl>
                                          </p:spTgt>
                                        </p:tgtEl>
                                        <p:attrNameLst>
                                          <p:attrName>ppt_y</p:attrName>
                                        </p:attrNameLst>
                                      </p:cBhvr>
                                      <p:tavLst>
                                        <p:tav tm="0">
                                          <p:val>
                                            <p:strVal val="ppt_y"/>
                                          </p:val>
                                        </p:tav>
                                        <p:tav tm="100000">
                                          <p:val>
                                            <p:strVal val="ppt_y"/>
                                          </p:val>
                                        </p:tav>
                                      </p:tavLst>
                                    </p:anim>
                                    <p:set>
                                      <p:cBhvr>
                                        <p:cTn dur="1" fill="hold" id="32">
                                          <p:stCondLst>
                                            <p:cond delay="499"/>
                                          </p:stCondLst>
                                        </p:cTn>
                                        <p:tgtEl>
                                          <p:spTgt spid="105090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904" grpId="0"/>
      <p:bldP spid="1050904" grpId="1"/>
      <p:bldP spid="1050905" grpId="0" build="p">
        <p:tmplLst>
          <p:tmpl lvl="1">
            <p:tnLst>
              <p:par>
                <p:cTn accel="100000" fill="hold" nodeType="clickEffect" presetClass="entr" presetID="39" presetSubtype="0">
                  <p:stCondLst>
                    <p:cond delay="0"/>
                  </p:stCondLst>
                  <p:childTnLst>
                    <p:set>
                      <p:cBhvr>
                        <p:cTn dur="1" fill="hold">
                          <p:stCondLst>
                            <p:cond delay="0"/>
                          </p:stCondLst>
                        </p:cTn>
                        <p:tgtEl>
                          <p:spTgt spid="1050905"/>
                        </p:tgtEl>
                        <p:attrNameLst>
                          <p:attrName>style.visibility</p:attrName>
                        </p:attrNameLst>
                      </p:cBhvr>
                      <p:to>
                        <p:strVal val="visible"/>
                      </p:to>
                    </p:set>
                    <p:anim calcmode="lin" valueType="num">
                      <p:cBhvr>
                        <p:cTn dur="500" fill="hold"/>
                        <p:tgtEl>
                          <p:spTgt spid="1050905"/>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p:tgtEl>
                          <p:spTgt spid="1050905"/>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p:tgtEl>
                          <p:spTgt spid="1050905"/>
                        </p:tgtEl>
                        <p:attrNameLst>
                          <p:attrName>ppt_x</p:attrName>
                        </p:attrNameLst>
                      </p:cBhvr>
                      <p:tavLst>
                        <p:tav tm="0">
                          <p:val>
                            <p:strVal val="#ppt_x-.3"/>
                          </p:val>
                        </p:tav>
                        <p:tav tm="50000">
                          <p:val>
                            <p:strVal val="#ppt_x"/>
                          </p:val>
                        </p:tav>
                        <p:tav tm="100000">
                          <p:val>
                            <p:strVal val="#ppt_x"/>
                          </p:val>
                        </p:tav>
                      </p:tavLst>
                    </p:anim>
                    <p:anim calcmode="lin" valueType="num">
                      <p:cBhvr>
                        <p:cTn dur="500" fill="hold"/>
                        <p:tgtEl>
                          <p:spTgt spid="1050905"/>
                        </p:tgtEl>
                        <p:attrNameLst>
                          <p:attrName>ppt_y</p:attrName>
                        </p:attrNameLst>
                      </p:cBhvr>
                      <p:tavLst>
                        <p:tav tm="0">
                          <p:val>
                            <p:strVal val="#ppt_y"/>
                          </p:val>
                        </p:tav>
                        <p:tav tm="100000">
                          <p:val>
                            <p:strVal val="#ppt_y"/>
                          </p:val>
                        </p:tav>
                      </p:tavLst>
                    </p:anim>
                  </p:childTnLst>
                </p:cTn>
              </p:par>
            </p:tnLst>
          </p:tmpl>
        </p:tmplLst>
      </p:bldP>
      <p:bldP spid="1050905" grpId="1" build="allAtOnce">
        <p:tmplLst>
          <p:tmpl lvl="1">
            <p:tnLst>
              <p:par>
                <p:cTn decel="100000" fill="hold" nodeType="withEffect" presetClass="exit" presetID="39" presetSubtype="0">
                  <p:stCondLst>
                    <p:cond delay="0"/>
                  </p:stCondLst>
                  <p:childTnLst>
                    <p:anim calcmode="lin" valueType="num">
                      <p:cBhvr>
                        <p:cTn dur="500" fill="hold"/>
                        <p:tgtEl>
                          <p:spTgt spid="1050905"/>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p:tgtEl>
                          <p:spTgt spid="1050905"/>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p:tgtEl>
                          <p:spTgt spid="1050905"/>
                        </p:tgtEl>
                        <p:attrNameLst>
                          <p:attrName>ppt_x</p:attrName>
                        </p:attrNameLst>
                      </p:cBhvr>
                      <p:tavLst>
                        <p:tav tm="0">
                          <p:val>
                            <p:strVal val="ppt_x"/>
                          </p:val>
                        </p:tav>
                        <p:tav tm="50000">
                          <p:val>
                            <p:strVal val="ppt_x"/>
                          </p:val>
                        </p:tav>
                        <p:tav tm="100000">
                          <p:val>
                            <p:strVal val="ppt_x-.3"/>
                          </p:val>
                        </p:tav>
                      </p:tavLst>
                    </p:anim>
                    <p:anim calcmode="lin" valueType="num">
                      <p:cBhvr>
                        <p:cTn dur="500" fill="hold"/>
                        <p:tgtEl>
                          <p:spTgt spid="1050905"/>
                        </p:tgtEl>
                        <p:attrNameLst>
                          <p:attrName>ppt_y</p:attrName>
                        </p:attrNameLst>
                      </p:cBhvr>
                      <p:tavLst>
                        <p:tav tm="0">
                          <p:val>
                            <p:strVal val="ppt_y"/>
                          </p:val>
                        </p:tav>
                        <p:tav tm="100000">
                          <p:val>
                            <p:strVal val="ppt_y"/>
                          </p:val>
                        </p:tav>
                      </p:tavLst>
                    </p:anim>
                    <p:set>
                      <p:cBhvr>
                        <p:cTn dur="1" fill="hold">
                          <p:stCondLst>
                            <p:cond delay="499"/>
                          </p:stCondLst>
                        </p:cTn>
                        <p:tgtEl>
                          <p:spTgt spid="1050905"/>
                        </p:tgtEl>
                        <p:attrNameLst>
                          <p:attrName>style.visibility</p:attrName>
                        </p:attrNameLst>
                      </p:cBhvr>
                      <p:to>
                        <p:strVal val="hidden"/>
                      </p:to>
                    </p:set>
                  </p:childTnLst>
                </p:cTn>
              </p:par>
            </p:tnLst>
          </p:tmpl>
        </p:tmplLst>
      </p:bldP>
    </p:bld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379" name=""/>
        <p:cNvGrpSpPr/>
        <p:nvPr/>
      </p:nvGrpSpPr>
      <p:grpSpPr>
        <a:xfrm>
          <a:off x="0" y="0"/>
          <a:ext cx="0" cy="0"/>
          <a:chOff x="0" y="0"/>
          <a:chExt cx="0" cy="0"/>
        </a:xfrm>
      </p:grpSpPr>
      <p:sp>
        <p:nvSpPr>
          <p:cNvPr id="1050199" name="Title 1"/>
          <p:cNvSpPr>
            <a:spLocks noGrp="1"/>
          </p:cNvSpPr>
          <p:nvPr>
            <p:ph type="title"/>
          </p:nvPr>
        </p:nvSpPr>
        <p:spPr/>
        <p:txBody>
          <a:bodyPr/>
          <a:p>
            <a:r>
              <a:rPr lang="en-US" smtClean="0"/>
              <a:t>Click to edit Master title style</a:t>
            </a:r>
            <a:endParaRPr lang="en-US"/>
          </a:p>
        </p:txBody>
      </p:sp>
      <p:sp>
        <p:nvSpPr>
          <p:cNvPr id="1050200"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201" name="Date Placeholder 3"/>
          <p:cNvSpPr>
            <a:spLocks noGrp="1"/>
          </p:cNvSpPr>
          <p:nvPr>
            <p:ph type="dt" sz="half" idx="10"/>
          </p:nvPr>
        </p:nvSpPr>
        <p:spPr/>
        <p:txBody>
          <a:bodyPr/>
          <a:p>
            <a:fld id="{EF7DFA77-AC19-46A4-9868-30B72AEA4D56}" type="datetime1">
              <a:rPr lang="en-US" smtClean="0"/>
            </a:fld>
            <a:endParaRPr lang="en-US"/>
          </a:p>
        </p:txBody>
      </p:sp>
      <p:sp>
        <p:nvSpPr>
          <p:cNvPr id="1050202" name="Footer Placeholder 4"/>
          <p:cNvSpPr>
            <a:spLocks noGrp="1"/>
          </p:cNvSpPr>
          <p:nvPr>
            <p:ph type="ftr" sz="quarter" idx="11"/>
          </p:nvPr>
        </p:nvSpPr>
        <p:spPr/>
        <p:txBody>
          <a:bodyPr/>
          <a:p>
            <a:r>
              <a:rPr lang="en-US" smtClean="0"/>
              <a:t>@MUSOVYA2017</a:t>
            </a:r>
            <a:endParaRPr lang="en-US"/>
          </a:p>
        </p:txBody>
      </p:sp>
      <p:sp>
        <p:nvSpPr>
          <p:cNvPr id="1050203"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506" name=""/>
        <p:cNvGrpSpPr/>
        <p:nvPr/>
      </p:nvGrpSpPr>
      <p:grpSpPr>
        <a:xfrm>
          <a:off x="0" y="0"/>
          <a:ext cx="0" cy="0"/>
          <a:chOff x="0" y="0"/>
          <a:chExt cx="0" cy="0"/>
        </a:xfrm>
      </p:grpSpPr>
      <p:sp>
        <p:nvSpPr>
          <p:cNvPr id="1050875" name="Title 1"/>
          <p:cNvSpPr>
            <a:spLocks noGrp="1"/>
          </p:cNvSpPr>
          <p:nvPr>
            <p:ph type="title"/>
          </p:nvPr>
        </p:nvSpPr>
        <p:spPr>
          <a:xfrm>
            <a:off x="902892" y="4406908"/>
            <a:ext cx="9715500" cy="1362075"/>
          </a:xfrm>
        </p:spPr>
        <p:txBody>
          <a:bodyPr anchor="t"/>
          <a:lstStyle>
            <a:lvl1pPr algn="l">
              <a:defRPr b="1" cap="all" sz="4000"/>
            </a:lvl1pPr>
          </a:lstStyle>
          <a:p>
            <a:r>
              <a:rPr lang="en-US" smtClean="0"/>
              <a:t>Click to edit Master title style</a:t>
            </a:r>
            <a:endParaRPr lang="en-US"/>
          </a:p>
        </p:txBody>
      </p:sp>
      <p:sp>
        <p:nvSpPr>
          <p:cNvPr id="1050876" name="Text Placeholder 2"/>
          <p:cNvSpPr>
            <a:spLocks noGrp="1"/>
          </p:cNvSpPr>
          <p:nvPr>
            <p:ph type="body" idx="1"/>
          </p:nvPr>
        </p:nvSpPr>
        <p:spPr>
          <a:xfrm>
            <a:off x="902892" y="2906722"/>
            <a:ext cx="97155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
        <p:nvSpPr>
          <p:cNvPr id="1050877" name="Date Placeholder 3"/>
          <p:cNvSpPr>
            <a:spLocks noGrp="1"/>
          </p:cNvSpPr>
          <p:nvPr>
            <p:ph type="dt" sz="half" idx="10"/>
          </p:nvPr>
        </p:nvSpPr>
        <p:spPr/>
        <p:txBody>
          <a:bodyPr/>
          <a:p>
            <a:fld id="{9FDCF13E-784E-4FFD-AC99-E8DDDAB5E30C}" type="datetime1">
              <a:rPr lang="en-US" smtClean="0"/>
            </a:fld>
            <a:endParaRPr lang="en-US"/>
          </a:p>
        </p:txBody>
      </p:sp>
      <p:sp>
        <p:nvSpPr>
          <p:cNvPr id="1050878" name="Footer Placeholder 4"/>
          <p:cNvSpPr>
            <a:spLocks noGrp="1"/>
          </p:cNvSpPr>
          <p:nvPr>
            <p:ph type="ftr" sz="quarter" idx="11"/>
          </p:nvPr>
        </p:nvSpPr>
        <p:spPr/>
        <p:txBody>
          <a:bodyPr/>
          <a:p>
            <a:r>
              <a:rPr lang="en-US" smtClean="0"/>
              <a:t>@MUSOVYA2017</a:t>
            </a:r>
            <a:endParaRPr lang="en-US"/>
          </a:p>
        </p:txBody>
      </p:sp>
      <p:sp>
        <p:nvSpPr>
          <p:cNvPr id="1050879"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507" name=""/>
        <p:cNvGrpSpPr/>
        <p:nvPr/>
      </p:nvGrpSpPr>
      <p:grpSpPr>
        <a:xfrm>
          <a:off x="0" y="0"/>
          <a:ext cx="0" cy="0"/>
          <a:chOff x="0" y="0"/>
          <a:chExt cx="0" cy="0"/>
        </a:xfrm>
      </p:grpSpPr>
      <p:sp>
        <p:nvSpPr>
          <p:cNvPr id="1050880" name="Title 1"/>
          <p:cNvSpPr>
            <a:spLocks noGrp="1"/>
          </p:cNvSpPr>
          <p:nvPr>
            <p:ph type="title"/>
          </p:nvPr>
        </p:nvSpPr>
        <p:spPr/>
        <p:txBody>
          <a:bodyPr/>
          <a:p>
            <a:r>
              <a:rPr lang="en-US" smtClean="0"/>
              <a:t>Click to edit Master title style</a:t>
            </a:r>
            <a:endParaRPr lang="en-US"/>
          </a:p>
        </p:txBody>
      </p:sp>
      <p:sp>
        <p:nvSpPr>
          <p:cNvPr id="1050881" name="Content Placeholder 2"/>
          <p:cNvSpPr>
            <a:spLocks noGrp="1"/>
          </p:cNvSpPr>
          <p:nvPr>
            <p:ph sz="half" idx="1"/>
          </p:nvPr>
        </p:nvSpPr>
        <p:spPr>
          <a:xfrm>
            <a:off x="571500" y="1600206"/>
            <a:ext cx="504825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882" name="Content Placeholder 3"/>
          <p:cNvSpPr>
            <a:spLocks noGrp="1"/>
          </p:cNvSpPr>
          <p:nvPr>
            <p:ph sz="half" idx="2"/>
          </p:nvPr>
        </p:nvSpPr>
        <p:spPr>
          <a:xfrm>
            <a:off x="5810250" y="1600206"/>
            <a:ext cx="504825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883" name="Date Placeholder 4"/>
          <p:cNvSpPr>
            <a:spLocks noGrp="1"/>
          </p:cNvSpPr>
          <p:nvPr>
            <p:ph type="dt" sz="half" idx="10"/>
          </p:nvPr>
        </p:nvSpPr>
        <p:spPr/>
        <p:txBody>
          <a:bodyPr/>
          <a:p>
            <a:fld id="{12C5241D-C266-49E7-A10A-C7D08D9D2B62}" type="datetime1">
              <a:rPr lang="en-US" smtClean="0"/>
            </a:fld>
            <a:endParaRPr lang="en-US"/>
          </a:p>
        </p:txBody>
      </p:sp>
      <p:sp>
        <p:nvSpPr>
          <p:cNvPr id="1050884" name="Footer Placeholder 5"/>
          <p:cNvSpPr>
            <a:spLocks noGrp="1"/>
          </p:cNvSpPr>
          <p:nvPr>
            <p:ph type="ftr" sz="quarter" idx="11"/>
          </p:nvPr>
        </p:nvSpPr>
        <p:spPr/>
        <p:txBody>
          <a:bodyPr/>
          <a:p>
            <a:r>
              <a:rPr lang="en-US" smtClean="0"/>
              <a:t>@MUSOVYA2017</a:t>
            </a:r>
            <a:endParaRPr lang="en-US"/>
          </a:p>
        </p:txBody>
      </p:sp>
      <p:sp>
        <p:nvSpPr>
          <p:cNvPr id="1050885"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502" name=""/>
        <p:cNvGrpSpPr/>
        <p:nvPr/>
      </p:nvGrpSpPr>
      <p:grpSpPr>
        <a:xfrm>
          <a:off x="0" y="0"/>
          <a:ext cx="0" cy="0"/>
          <a:chOff x="0" y="0"/>
          <a:chExt cx="0" cy="0"/>
        </a:xfrm>
      </p:grpSpPr>
      <p:sp>
        <p:nvSpPr>
          <p:cNvPr id="1050853" name="Title 1"/>
          <p:cNvSpPr>
            <a:spLocks noGrp="1"/>
          </p:cNvSpPr>
          <p:nvPr>
            <p:ph type="title"/>
          </p:nvPr>
        </p:nvSpPr>
        <p:spPr>
          <a:xfrm>
            <a:off x="571500" y="274639"/>
            <a:ext cx="10287000" cy="1143000"/>
          </a:xfrm>
        </p:spPr>
        <p:txBody>
          <a:bodyPr/>
          <a:p>
            <a:r>
              <a:rPr lang="en-US" smtClean="0"/>
              <a:t>Click to edit Master title style</a:t>
            </a:r>
            <a:endParaRPr lang="en-US"/>
          </a:p>
        </p:txBody>
      </p:sp>
      <p:sp>
        <p:nvSpPr>
          <p:cNvPr id="1050854" name="Text Placeholder 2"/>
          <p:cNvSpPr>
            <a:spLocks noGrp="1"/>
          </p:cNvSpPr>
          <p:nvPr>
            <p:ph type="body" idx="1"/>
          </p:nvPr>
        </p:nvSpPr>
        <p:spPr>
          <a:xfrm>
            <a:off x="571504" y="1535117"/>
            <a:ext cx="5050234" cy="639763"/>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50855" name="Content Placeholder 3"/>
          <p:cNvSpPr>
            <a:spLocks noGrp="1"/>
          </p:cNvSpPr>
          <p:nvPr>
            <p:ph sz="half" idx="2"/>
          </p:nvPr>
        </p:nvSpPr>
        <p:spPr>
          <a:xfrm>
            <a:off x="571504" y="2174875"/>
            <a:ext cx="505023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856" name="Text Placeholder 4"/>
          <p:cNvSpPr>
            <a:spLocks noGrp="1"/>
          </p:cNvSpPr>
          <p:nvPr>
            <p:ph type="body" sz="quarter" idx="3"/>
          </p:nvPr>
        </p:nvSpPr>
        <p:spPr>
          <a:xfrm>
            <a:off x="5806288" y="1535117"/>
            <a:ext cx="5052220" cy="639763"/>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50857" name="Content Placeholder 5"/>
          <p:cNvSpPr>
            <a:spLocks noGrp="1"/>
          </p:cNvSpPr>
          <p:nvPr>
            <p:ph sz="quarter" idx="4"/>
          </p:nvPr>
        </p:nvSpPr>
        <p:spPr>
          <a:xfrm>
            <a:off x="5806288" y="2174875"/>
            <a:ext cx="50522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858" name="Date Placeholder 6"/>
          <p:cNvSpPr>
            <a:spLocks noGrp="1"/>
          </p:cNvSpPr>
          <p:nvPr>
            <p:ph type="dt" sz="half" idx="10"/>
          </p:nvPr>
        </p:nvSpPr>
        <p:spPr/>
        <p:txBody>
          <a:bodyPr/>
          <a:p>
            <a:fld id="{C1558888-3A36-4F98-943E-E69E16101645}" type="datetime1">
              <a:rPr lang="en-US" smtClean="0"/>
            </a:fld>
            <a:endParaRPr lang="en-US"/>
          </a:p>
        </p:txBody>
      </p:sp>
      <p:sp>
        <p:nvSpPr>
          <p:cNvPr id="1050859" name="Footer Placeholder 7"/>
          <p:cNvSpPr>
            <a:spLocks noGrp="1"/>
          </p:cNvSpPr>
          <p:nvPr>
            <p:ph type="ftr" sz="quarter" idx="11"/>
          </p:nvPr>
        </p:nvSpPr>
        <p:spPr/>
        <p:txBody>
          <a:bodyPr/>
          <a:p>
            <a:r>
              <a:rPr lang="en-US" smtClean="0"/>
              <a:t>@MUSOVYA2017</a:t>
            </a:r>
            <a:endParaRPr lang="en-US"/>
          </a:p>
        </p:txBody>
      </p:sp>
      <p:sp>
        <p:nvSpPr>
          <p:cNvPr id="1050860" name="Slide Number Placeholder 8"/>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505" name=""/>
        <p:cNvGrpSpPr/>
        <p:nvPr/>
      </p:nvGrpSpPr>
      <p:grpSpPr>
        <a:xfrm>
          <a:off x="0" y="0"/>
          <a:ext cx="0" cy="0"/>
          <a:chOff x="0" y="0"/>
          <a:chExt cx="0" cy="0"/>
        </a:xfrm>
      </p:grpSpPr>
      <p:sp>
        <p:nvSpPr>
          <p:cNvPr id="1050871" name="Title 1"/>
          <p:cNvSpPr>
            <a:spLocks noGrp="1"/>
          </p:cNvSpPr>
          <p:nvPr>
            <p:ph type="title"/>
          </p:nvPr>
        </p:nvSpPr>
        <p:spPr/>
        <p:txBody>
          <a:bodyPr/>
          <a:p>
            <a:r>
              <a:rPr lang="en-US" smtClean="0"/>
              <a:t>Click to edit Master title style</a:t>
            </a:r>
            <a:endParaRPr lang="en-US"/>
          </a:p>
        </p:txBody>
      </p:sp>
      <p:sp>
        <p:nvSpPr>
          <p:cNvPr id="1050872" name="Date Placeholder 2"/>
          <p:cNvSpPr>
            <a:spLocks noGrp="1"/>
          </p:cNvSpPr>
          <p:nvPr>
            <p:ph type="dt" sz="half" idx="10"/>
          </p:nvPr>
        </p:nvSpPr>
        <p:spPr/>
        <p:txBody>
          <a:bodyPr/>
          <a:p>
            <a:fld id="{18F44A11-76A0-4FC9-BE57-FCDFEE3B8D79}" type="datetime1">
              <a:rPr lang="en-US" smtClean="0"/>
            </a:fld>
            <a:endParaRPr lang="en-US"/>
          </a:p>
        </p:txBody>
      </p:sp>
      <p:sp>
        <p:nvSpPr>
          <p:cNvPr id="1050873" name="Footer Placeholder 3"/>
          <p:cNvSpPr>
            <a:spLocks noGrp="1"/>
          </p:cNvSpPr>
          <p:nvPr>
            <p:ph type="ftr" sz="quarter" idx="11"/>
          </p:nvPr>
        </p:nvSpPr>
        <p:spPr/>
        <p:txBody>
          <a:bodyPr/>
          <a:p>
            <a:r>
              <a:rPr lang="en-US" smtClean="0"/>
              <a:t>@MUSOVYA2017</a:t>
            </a:r>
            <a:endParaRPr lang="en-US"/>
          </a:p>
        </p:txBody>
      </p:sp>
      <p:sp>
        <p:nvSpPr>
          <p:cNvPr id="1050874" name="Slide Number Placeholder 4"/>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501" name=""/>
        <p:cNvGrpSpPr/>
        <p:nvPr/>
      </p:nvGrpSpPr>
      <p:grpSpPr>
        <a:xfrm>
          <a:off x="0" y="0"/>
          <a:ext cx="0" cy="0"/>
          <a:chOff x="0" y="0"/>
          <a:chExt cx="0" cy="0"/>
        </a:xfrm>
      </p:grpSpPr>
      <p:sp>
        <p:nvSpPr>
          <p:cNvPr id="1050850" name="Date Placeholder 1"/>
          <p:cNvSpPr>
            <a:spLocks noGrp="1"/>
          </p:cNvSpPr>
          <p:nvPr>
            <p:ph type="dt" sz="half" idx="10"/>
          </p:nvPr>
        </p:nvSpPr>
        <p:spPr/>
        <p:txBody>
          <a:bodyPr/>
          <a:p>
            <a:fld id="{39FC1FFF-77B5-424C-A904-6E343A1A1899}" type="datetime1">
              <a:rPr lang="en-US" smtClean="0"/>
            </a:fld>
            <a:endParaRPr lang="en-US"/>
          </a:p>
        </p:txBody>
      </p:sp>
      <p:sp>
        <p:nvSpPr>
          <p:cNvPr id="1050851" name="Footer Placeholder 2"/>
          <p:cNvSpPr>
            <a:spLocks noGrp="1"/>
          </p:cNvSpPr>
          <p:nvPr>
            <p:ph type="ftr" sz="quarter" idx="11"/>
          </p:nvPr>
        </p:nvSpPr>
        <p:spPr/>
        <p:txBody>
          <a:bodyPr/>
          <a:p>
            <a:r>
              <a:rPr lang="en-US" smtClean="0"/>
              <a:t>@MUSOVYA2017</a:t>
            </a:r>
            <a:endParaRPr lang="en-US"/>
          </a:p>
        </p:txBody>
      </p:sp>
      <p:sp>
        <p:nvSpPr>
          <p:cNvPr id="1050852" name="Slide Number Placeholder 3"/>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500" name=""/>
        <p:cNvGrpSpPr/>
        <p:nvPr/>
      </p:nvGrpSpPr>
      <p:grpSpPr>
        <a:xfrm>
          <a:off x="0" y="0"/>
          <a:ext cx="0" cy="0"/>
          <a:chOff x="0" y="0"/>
          <a:chExt cx="0" cy="0"/>
        </a:xfrm>
      </p:grpSpPr>
      <p:sp>
        <p:nvSpPr>
          <p:cNvPr id="1050844" name="Title 1"/>
          <p:cNvSpPr>
            <a:spLocks noGrp="1"/>
          </p:cNvSpPr>
          <p:nvPr>
            <p:ph type="title"/>
          </p:nvPr>
        </p:nvSpPr>
        <p:spPr>
          <a:xfrm>
            <a:off x="571510" y="273056"/>
            <a:ext cx="3760392" cy="1162051"/>
          </a:xfrm>
        </p:spPr>
        <p:txBody>
          <a:bodyPr anchor="b"/>
          <a:lstStyle>
            <a:lvl1pPr algn="l">
              <a:defRPr b="1" sz="2000"/>
            </a:lvl1pPr>
          </a:lstStyle>
          <a:p>
            <a:r>
              <a:rPr lang="en-US" smtClean="0"/>
              <a:t>Click to edit Master title style</a:t>
            </a:r>
            <a:endParaRPr lang="en-US"/>
          </a:p>
        </p:txBody>
      </p:sp>
      <p:sp>
        <p:nvSpPr>
          <p:cNvPr id="1050845" name="Content Placeholder 2"/>
          <p:cNvSpPr>
            <a:spLocks noGrp="1"/>
          </p:cNvSpPr>
          <p:nvPr>
            <p:ph idx="1"/>
          </p:nvPr>
        </p:nvSpPr>
        <p:spPr>
          <a:xfrm>
            <a:off x="4468819" y="273060"/>
            <a:ext cx="638969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846" name="Text Placeholder 3"/>
          <p:cNvSpPr>
            <a:spLocks noGrp="1"/>
          </p:cNvSpPr>
          <p:nvPr>
            <p:ph type="body" sz="half" idx="2"/>
          </p:nvPr>
        </p:nvSpPr>
        <p:spPr>
          <a:xfrm>
            <a:off x="571510" y="1435103"/>
            <a:ext cx="3760392"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50847" name="Date Placeholder 4"/>
          <p:cNvSpPr>
            <a:spLocks noGrp="1"/>
          </p:cNvSpPr>
          <p:nvPr>
            <p:ph type="dt" sz="half" idx="10"/>
          </p:nvPr>
        </p:nvSpPr>
        <p:spPr/>
        <p:txBody>
          <a:bodyPr/>
          <a:p>
            <a:fld id="{32E6DA20-0B97-4CD5-A0C2-4C0958C3F366}" type="datetime1">
              <a:rPr lang="en-US" smtClean="0"/>
            </a:fld>
            <a:endParaRPr lang="en-US"/>
          </a:p>
        </p:txBody>
      </p:sp>
      <p:sp>
        <p:nvSpPr>
          <p:cNvPr id="1050848" name="Footer Placeholder 5"/>
          <p:cNvSpPr>
            <a:spLocks noGrp="1"/>
          </p:cNvSpPr>
          <p:nvPr>
            <p:ph type="ftr" sz="quarter" idx="11"/>
          </p:nvPr>
        </p:nvSpPr>
        <p:spPr/>
        <p:txBody>
          <a:bodyPr/>
          <a:p>
            <a:r>
              <a:rPr lang="en-US" smtClean="0"/>
              <a:t>@MUSOVYA2017</a:t>
            </a:r>
            <a:endParaRPr lang="en-US"/>
          </a:p>
        </p:txBody>
      </p:sp>
      <p:sp>
        <p:nvSpPr>
          <p:cNvPr id="1050849"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503" name=""/>
        <p:cNvGrpSpPr/>
        <p:nvPr/>
      </p:nvGrpSpPr>
      <p:grpSpPr>
        <a:xfrm>
          <a:off x="0" y="0"/>
          <a:ext cx="0" cy="0"/>
          <a:chOff x="0" y="0"/>
          <a:chExt cx="0" cy="0"/>
        </a:xfrm>
      </p:grpSpPr>
      <p:sp>
        <p:nvSpPr>
          <p:cNvPr id="1050861" name="Title 1"/>
          <p:cNvSpPr>
            <a:spLocks noGrp="1"/>
          </p:cNvSpPr>
          <p:nvPr>
            <p:ph type="title"/>
          </p:nvPr>
        </p:nvSpPr>
        <p:spPr>
          <a:xfrm>
            <a:off x="2240360" y="4800608"/>
            <a:ext cx="6858000" cy="566739"/>
          </a:xfrm>
        </p:spPr>
        <p:txBody>
          <a:bodyPr anchor="b"/>
          <a:lstStyle>
            <a:lvl1pPr algn="l">
              <a:defRPr b="1" sz="2000"/>
            </a:lvl1pPr>
          </a:lstStyle>
          <a:p>
            <a:r>
              <a:rPr lang="en-US" smtClean="0"/>
              <a:t>Click to edit Master title style</a:t>
            </a:r>
            <a:endParaRPr lang="en-US"/>
          </a:p>
        </p:txBody>
      </p:sp>
      <p:sp>
        <p:nvSpPr>
          <p:cNvPr id="1050862" name="Picture Placeholder 2"/>
          <p:cNvSpPr>
            <a:spLocks noGrp="1"/>
          </p:cNvSpPr>
          <p:nvPr>
            <p:ph type="pic" idx="1"/>
          </p:nvPr>
        </p:nvSpPr>
        <p:spPr>
          <a:xfrm>
            <a:off x="2240360" y="612775"/>
            <a:ext cx="68580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smtClean="0"/>
              <a:t>Click icon to add picture</a:t>
            </a:r>
            <a:endParaRPr lang="en-US"/>
          </a:p>
        </p:txBody>
      </p:sp>
      <p:sp>
        <p:nvSpPr>
          <p:cNvPr id="1050863" name="Text Placeholder 3"/>
          <p:cNvSpPr>
            <a:spLocks noGrp="1"/>
          </p:cNvSpPr>
          <p:nvPr>
            <p:ph type="body" sz="half" idx="2"/>
          </p:nvPr>
        </p:nvSpPr>
        <p:spPr>
          <a:xfrm>
            <a:off x="2240360" y="5367346"/>
            <a:ext cx="6858000" cy="8048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50864" name="Date Placeholder 4"/>
          <p:cNvSpPr>
            <a:spLocks noGrp="1"/>
          </p:cNvSpPr>
          <p:nvPr>
            <p:ph type="dt" sz="half" idx="10"/>
          </p:nvPr>
        </p:nvSpPr>
        <p:spPr/>
        <p:txBody>
          <a:bodyPr/>
          <a:p>
            <a:fld id="{0F7B4C02-2AA4-4BCF-AB02-6BB947D90361}" type="datetime1">
              <a:rPr lang="en-US" smtClean="0"/>
            </a:fld>
            <a:endParaRPr lang="en-US"/>
          </a:p>
        </p:txBody>
      </p:sp>
      <p:sp>
        <p:nvSpPr>
          <p:cNvPr id="1050865" name="Footer Placeholder 5"/>
          <p:cNvSpPr>
            <a:spLocks noGrp="1"/>
          </p:cNvSpPr>
          <p:nvPr>
            <p:ph type="ftr" sz="quarter" idx="11"/>
          </p:nvPr>
        </p:nvSpPr>
        <p:spPr/>
        <p:txBody>
          <a:bodyPr/>
          <a:p>
            <a:r>
              <a:rPr lang="en-US" smtClean="0"/>
              <a:t>@MUSOVYA2017</a:t>
            </a:r>
            <a:endParaRPr lang="en-US"/>
          </a:p>
        </p:txBody>
      </p:sp>
      <p:sp>
        <p:nvSpPr>
          <p:cNvPr id="1050866" name="Slide Number Placeholder 6"/>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511" name=""/>
        <p:cNvGrpSpPr/>
        <p:nvPr/>
      </p:nvGrpSpPr>
      <p:grpSpPr>
        <a:xfrm>
          <a:off x="0" y="0"/>
          <a:ext cx="0" cy="0"/>
          <a:chOff x="0" y="0"/>
          <a:chExt cx="0" cy="0"/>
        </a:xfrm>
      </p:grpSpPr>
      <p:sp>
        <p:nvSpPr>
          <p:cNvPr id="1050914" name="Title 1"/>
          <p:cNvSpPr>
            <a:spLocks noGrp="1"/>
          </p:cNvSpPr>
          <p:nvPr>
            <p:ph type="title"/>
          </p:nvPr>
        </p:nvSpPr>
        <p:spPr/>
        <p:txBody>
          <a:bodyPr/>
          <a:p>
            <a:r>
              <a:rPr lang="en-US" smtClean="0"/>
              <a:t>Click to edit Master title style</a:t>
            </a:r>
            <a:endParaRPr lang="en-US"/>
          </a:p>
        </p:txBody>
      </p:sp>
      <p:sp>
        <p:nvSpPr>
          <p:cNvPr id="1050915"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916" name="Date Placeholder 3"/>
          <p:cNvSpPr>
            <a:spLocks noGrp="1"/>
          </p:cNvSpPr>
          <p:nvPr>
            <p:ph type="dt" sz="half" idx="10"/>
          </p:nvPr>
        </p:nvSpPr>
        <p:spPr/>
        <p:txBody>
          <a:bodyPr/>
          <a:p>
            <a:fld id="{B1255BB3-74FD-4C64-B6B6-F702B195505D}" type="datetime1">
              <a:rPr lang="en-US" smtClean="0"/>
            </a:fld>
            <a:endParaRPr lang="en-US"/>
          </a:p>
        </p:txBody>
      </p:sp>
      <p:sp>
        <p:nvSpPr>
          <p:cNvPr id="1050917" name="Footer Placeholder 4"/>
          <p:cNvSpPr>
            <a:spLocks noGrp="1"/>
          </p:cNvSpPr>
          <p:nvPr>
            <p:ph type="ftr" sz="quarter" idx="11"/>
          </p:nvPr>
        </p:nvSpPr>
        <p:spPr/>
        <p:txBody>
          <a:bodyPr/>
          <a:p>
            <a:r>
              <a:rPr lang="en-US" smtClean="0"/>
              <a:t>@MUSOVYA2017</a:t>
            </a:r>
            <a:endParaRPr lang="en-US"/>
          </a:p>
        </p:txBody>
      </p:sp>
      <p:sp>
        <p:nvSpPr>
          <p:cNvPr id="1050918"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510" name=""/>
        <p:cNvGrpSpPr/>
        <p:nvPr/>
      </p:nvGrpSpPr>
      <p:grpSpPr>
        <a:xfrm>
          <a:off x="0" y="0"/>
          <a:ext cx="0" cy="0"/>
          <a:chOff x="0" y="0"/>
          <a:chExt cx="0" cy="0"/>
        </a:xfrm>
      </p:grpSpPr>
      <p:sp>
        <p:nvSpPr>
          <p:cNvPr id="1050909" name="Vertical Title 1"/>
          <p:cNvSpPr>
            <a:spLocks noGrp="1"/>
          </p:cNvSpPr>
          <p:nvPr>
            <p:ph type="title" orient="vert"/>
          </p:nvPr>
        </p:nvSpPr>
        <p:spPr>
          <a:xfrm>
            <a:off x="8286750" y="277815"/>
            <a:ext cx="2571750" cy="5853112"/>
          </a:xfrm>
        </p:spPr>
        <p:txBody>
          <a:bodyPr vert="eaVert"/>
          <a:p>
            <a:r>
              <a:rPr lang="en-US" smtClean="0"/>
              <a:t>Click to edit Master title style</a:t>
            </a:r>
            <a:endParaRPr lang="en-US"/>
          </a:p>
        </p:txBody>
      </p:sp>
      <p:sp>
        <p:nvSpPr>
          <p:cNvPr id="1050910" name="Vertical Text Placeholder 2"/>
          <p:cNvSpPr>
            <a:spLocks noGrp="1"/>
          </p:cNvSpPr>
          <p:nvPr>
            <p:ph type="body" orient="vert" idx="1"/>
          </p:nvPr>
        </p:nvSpPr>
        <p:spPr>
          <a:xfrm>
            <a:off x="571500" y="277815"/>
            <a:ext cx="7524750" cy="5853112"/>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911" name="Date Placeholder 3"/>
          <p:cNvSpPr>
            <a:spLocks noGrp="1"/>
          </p:cNvSpPr>
          <p:nvPr>
            <p:ph type="dt" sz="half" idx="10"/>
          </p:nvPr>
        </p:nvSpPr>
        <p:spPr/>
        <p:txBody>
          <a:bodyPr/>
          <a:p>
            <a:fld id="{FFA17F98-E181-462A-8882-3D1B791585A8}" type="datetime1">
              <a:rPr lang="en-US" smtClean="0"/>
            </a:fld>
            <a:endParaRPr lang="en-US"/>
          </a:p>
        </p:txBody>
      </p:sp>
      <p:sp>
        <p:nvSpPr>
          <p:cNvPr id="1050912" name="Footer Placeholder 4"/>
          <p:cNvSpPr>
            <a:spLocks noGrp="1"/>
          </p:cNvSpPr>
          <p:nvPr>
            <p:ph type="ftr" sz="quarter" idx="11"/>
          </p:nvPr>
        </p:nvSpPr>
        <p:spPr/>
        <p:txBody>
          <a:bodyPr/>
          <a:p>
            <a:r>
              <a:rPr lang="en-US" smtClean="0"/>
              <a:t>@MUSOVYA2017</a:t>
            </a:r>
            <a:endParaRPr lang="en-US"/>
          </a:p>
        </p:txBody>
      </p:sp>
      <p:sp>
        <p:nvSpPr>
          <p:cNvPr id="1050913"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type="objOnly">
  <p:cSld name="Content">
    <p:spTree>
      <p:nvGrpSpPr>
        <p:cNvPr id="1504" name=""/>
        <p:cNvGrpSpPr/>
        <p:nvPr/>
      </p:nvGrpSpPr>
      <p:grpSpPr>
        <a:xfrm>
          <a:off x="0" y="0"/>
          <a:ext cx="0" cy="0"/>
          <a:chOff x="0" y="0"/>
          <a:chExt cx="0" cy="0"/>
        </a:xfrm>
      </p:grpSpPr>
      <p:sp>
        <p:nvSpPr>
          <p:cNvPr id="1050867" name="Content Placeholder 1"/>
          <p:cNvSpPr>
            <a:spLocks noGrp="1"/>
          </p:cNvSpPr>
          <p:nvPr>
            <p:ph/>
          </p:nvPr>
        </p:nvSpPr>
        <p:spPr>
          <a:xfrm>
            <a:off x="571500" y="277815"/>
            <a:ext cx="10287000" cy="5853112"/>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868" name="Date Placeholder 2"/>
          <p:cNvSpPr>
            <a:spLocks noGrp="1"/>
          </p:cNvSpPr>
          <p:nvPr>
            <p:ph type="dt" sz="half" idx="10"/>
          </p:nvPr>
        </p:nvSpPr>
        <p:spPr>
          <a:xfrm>
            <a:off x="571500" y="6248400"/>
            <a:ext cx="2667000" cy="457200"/>
          </a:xfrm>
        </p:spPr>
        <p:txBody>
          <a:bodyPr/>
          <a:p>
            <a:fld id="{B1024DD5-149D-42F5-AFC0-F85966DAF0A2}" type="datetime1">
              <a:rPr lang="en-US" smtClean="0"/>
            </a:fld>
            <a:endParaRPr lang="en-US"/>
          </a:p>
        </p:txBody>
      </p:sp>
      <p:sp>
        <p:nvSpPr>
          <p:cNvPr id="1050869" name="Footer Placeholder 3"/>
          <p:cNvSpPr>
            <a:spLocks noGrp="1"/>
          </p:cNvSpPr>
          <p:nvPr>
            <p:ph type="ftr" sz="quarter" idx="11"/>
          </p:nvPr>
        </p:nvSpPr>
        <p:spPr>
          <a:xfrm>
            <a:off x="3905250" y="6248400"/>
            <a:ext cx="3619500" cy="457200"/>
          </a:xfrm>
        </p:spPr>
        <p:txBody>
          <a:bodyPr/>
          <a:p>
            <a:r>
              <a:rPr lang="en-US" smtClean="0"/>
              <a:t>@MUSOVYA2017</a:t>
            </a:r>
            <a:endParaRPr lang="en-US"/>
          </a:p>
        </p:txBody>
      </p:sp>
      <p:sp>
        <p:nvSpPr>
          <p:cNvPr id="1050870" name="Slide Number Placeholder 4"/>
          <p:cNvSpPr>
            <a:spLocks noGrp="1"/>
          </p:cNvSpPr>
          <p:nvPr>
            <p:ph type="sldNum" sz="quarter" idx="12"/>
          </p:nvPr>
        </p:nvSpPr>
        <p:spPr>
          <a:xfrm>
            <a:off x="8191500" y="6248400"/>
            <a:ext cx="2667000" cy="457200"/>
          </a:xfrm>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type="txAndClipArt">
  <p:cSld name="Title, Text and Clip Art">
    <p:spTree>
      <p:nvGrpSpPr>
        <p:cNvPr id="1512" name=""/>
        <p:cNvGrpSpPr/>
        <p:nvPr/>
      </p:nvGrpSpPr>
      <p:grpSpPr>
        <a:xfrm>
          <a:off x="0" y="0"/>
          <a:ext cx="0" cy="0"/>
          <a:chOff x="0" y="0"/>
          <a:chExt cx="0" cy="0"/>
        </a:xfrm>
      </p:grpSpPr>
      <p:sp>
        <p:nvSpPr>
          <p:cNvPr id="1050919" name="Title 1"/>
          <p:cNvSpPr>
            <a:spLocks noGrp="1"/>
          </p:cNvSpPr>
          <p:nvPr>
            <p:ph type="title"/>
          </p:nvPr>
        </p:nvSpPr>
        <p:spPr>
          <a:xfrm>
            <a:off x="571500" y="277813"/>
            <a:ext cx="10287000" cy="1143000"/>
          </a:xfrm>
        </p:spPr>
        <p:txBody>
          <a:bodyPr/>
          <a:p>
            <a:r>
              <a:rPr lang="en-US" smtClean="0"/>
              <a:t>Click to edit Master title style</a:t>
            </a:r>
            <a:endParaRPr lang="en-US"/>
          </a:p>
        </p:txBody>
      </p:sp>
      <p:sp>
        <p:nvSpPr>
          <p:cNvPr id="1050920" name="Text Placeholder 2"/>
          <p:cNvSpPr>
            <a:spLocks noGrp="1"/>
          </p:cNvSpPr>
          <p:nvPr>
            <p:ph type="body" sz="half" idx="1"/>
          </p:nvPr>
        </p:nvSpPr>
        <p:spPr>
          <a:xfrm>
            <a:off x="571500" y="1600206"/>
            <a:ext cx="5048250" cy="453072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50921" name="ClipArt Placeholder 3"/>
          <p:cNvSpPr>
            <a:spLocks noGrp="1"/>
          </p:cNvSpPr>
          <p:nvPr>
            <p:ph type="clipArt" sz="half" idx="2"/>
          </p:nvPr>
        </p:nvSpPr>
        <p:spPr>
          <a:xfrm>
            <a:off x="5810250" y="1600206"/>
            <a:ext cx="5048250" cy="4530725"/>
          </a:xfrm>
        </p:spPr>
        <p:txBody>
          <a:bodyPr/>
          <a:p>
            <a:r>
              <a:rPr lang="en-US" smtClean="0"/>
              <a:t>Click icon to add clip art</a:t>
            </a:r>
            <a:endParaRPr lang="en-US"/>
          </a:p>
        </p:txBody>
      </p:sp>
      <p:sp>
        <p:nvSpPr>
          <p:cNvPr id="1050922" name="Date Placeholder 4"/>
          <p:cNvSpPr>
            <a:spLocks noGrp="1"/>
          </p:cNvSpPr>
          <p:nvPr>
            <p:ph type="dt" sz="half" idx="10"/>
          </p:nvPr>
        </p:nvSpPr>
        <p:spPr>
          <a:xfrm>
            <a:off x="571500" y="6248400"/>
            <a:ext cx="2667000" cy="457200"/>
          </a:xfrm>
        </p:spPr>
        <p:txBody>
          <a:bodyPr/>
          <a:p>
            <a:fld id="{70C8D5CF-2DE5-4BA1-9AB2-76A0E5548421}" type="datetime1">
              <a:rPr lang="en-US" smtClean="0"/>
            </a:fld>
            <a:endParaRPr lang="en-US"/>
          </a:p>
        </p:txBody>
      </p:sp>
      <p:sp>
        <p:nvSpPr>
          <p:cNvPr id="1050923" name="Footer Placeholder 5"/>
          <p:cNvSpPr>
            <a:spLocks noGrp="1"/>
          </p:cNvSpPr>
          <p:nvPr>
            <p:ph type="ftr" sz="quarter" idx="11"/>
          </p:nvPr>
        </p:nvSpPr>
        <p:spPr>
          <a:xfrm>
            <a:off x="3905250" y="6248400"/>
            <a:ext cx="3619500" cy="457200"/>
          </a:xfrm>
        </p:spPr>
        <p:txBody>
          <a:bodyPr/>
          <a:p>
            <a:r>
              <a:rPr lang="en-US" smtClean="0"/>
              <a:t>@MUSOVYA2017</a:t>
            </a:r>
            <a:endParaRPr lang="en-US"/>
          </a:p>
        </p:txBody>
      </p:sp>
      <p:sp>
        <p:nvSpPr>
          <p:cNvPr id="1050924" name="Slide Number Placeholder 6"/>
          <p:cNvSpPr>
            <a:spLocks noGrp="1"/>
          </p:cNvSpPr>
          <p:nvPr>
            <p:ph type="sldNum" sz="quarter" idx="12"/>
          </p:nvPr>
        </p:nvSpPr>
        <p:spPr>
          <a:xfrm>
            <a:off x="8191500" y="6248400"/>
            <a:ext cx="2667000" cy="457200"/>
          </a:xfrm>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showMasterSp="0" type="title">
  <p:cSld name="Title Slide">
    <p:bg>
      <p:bgRef idx="1003">
        <a:schemeClr val="bg1"/>
      </p:bgRef>
    </p:bg>
    <p:spTree>
      <p:nvGrpSpPr>
        <p:cNvPr id="1342" name=""/>
        <p:cNvGrpSpPr/>
        <p:nvPr/>
      </p:nvGrpSpPr>
      <p:grpSpPr>
        <a:xfrm>
          <a:off x="0" y="0"/>
          <a:ext cx="0" cy="0"/>
          <a:chOff x="0" y="0"/>
          <a:chExt cx="0" cy="0"/>
        </a:xfrm>
      </p:grpSpPr>
      <p:sp>
        <p:nvSpPr>
          <p:cNvPr id="1050120" name="Rectangle 11"/>
          <p:cNvSpPr/>
          <p:nvPr/>
        </p:nvSpPr>
        <p:spPr>
          <a:xfrm>
            <a:off x="0" y="0"/>
            <a:ext cx="11430000" cy="6858000"/>
          </a:xfrm>
          <a:prstGeom prst="rect"/>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useBgFill="1">
        <p:nvSpPr>
          <p:cNvPr id="1050121" name="Rounded Rectangle 12"/>
          <p:cNvSpPr/>
          <p:nvPr/>
        </p:nvSpPr>
        <p:spPr>
          <a:xfrm>
            <a:off x="81644" y="69764"/>
            <a:ext cx="11266716"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p>
            <a:pPr algn="ctr" eaLnBrk="1" hangingPunct="1" latinLnBrk="0"/>
            <a:endParaRPr kumimoji="0" lang="en-US"/>
          </a:p>
        </p:txBody>
      </p:sp>
      <p:sp>
        <p:nvSpPr>
          <p:cNvPr id="1050122" name="Subtitle 8"/>
          <p:cNvSpPr>
            <a:spLocks noGrp="1"/>
          </p:cNvSpPr>
          <p:nvPr>
            <p:ph type="subTitle" idx="1"/>
          </p:nvPr>
        </p:nvSpPr>
        <p:spPr>
          <a:xfrm>
            <a:off x="1619251" y="3200400"/>
            <a:ext cx="8001000" cy="1600200"/>
          </a:xfrm>
        </p:spPr>
        <p:txBody>
          <a:bodyPr/>
          <a:lstStyle>
            <a:lvl1pPr algn="ctr" indent="0" marL="0">
              <a:buNone/>
              <a:defRPr sz="2600">
                <a:solidFill>
                  <a:schemeClr val="tx2"/>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50123" name="Date Placeholder 27"/>
          <p:cNvSpPr>
            <a:spLocks noGrp="1"/>
          </p:cNvSpPr>
          <p:nvPr>
            <p:ph type="dt" sz="half" idx="10"/>
          </p:nvPr>
        </p:nvSpPr>
        <p:spPr/>
        <p:txBody>
          <a:bodyPr/>
          <a:p>
            <a:fld id="{2E093F23-6416-419A-822E-EFC4C79CB4A9}" type="datetime1">
              <a:rPr lang="en-US" smtClean="0"/>
            </a:fld>
            <a:endParaRPr lang="en-US"/>
          </a:p>
        </p:txBody>
      </p:sp>
      <p:sp>
        <p:nvSpPr>
          <p:cNvPr id="1050124" name="Footer Placeholder 16"/>
          <p:cNvSpPr>
            <a:spLocks noGrp="1"/>
          </p:cNvSpPr>
          <p:nvPr>
            <p:ph type="ftr" sz="quarter" idx="11"/>
          </p:nvPr>
        </p:nvSpPr>
        <p:spPr/>
        <p:txBody>
          <a:bodyPr/>
          <a:p>
            <a:r>
              <a:rPr lang="en-US" smtClean="0"/>
              <a:t>@MUSOVYA2017</a:t>
            </a:r>
            <a:endParaRPr lang="en-US"/>
          </a:p>
        </p:txBody>
      </p:sp>
      <p:sp>
        <p:nvSpPr>
          <p:cNvPr id="1050125" name="Slide Number Placeholder 28"/>
          <p:cNvSpPr>
            <a:spLocks noGrp="1"/>
          </p:cNvSpPr>
          <p:nvPr>
            <p:ph type="sldNum" sz="quarter" idx="12"/>
          </p:nvPr>
        </p:nvSpPr>
        <p:spPr/>
        <p:txBody>
          <a:bodyPr bIns="0" lIns="0" rIns="0" tIns="0">
            <a:noAutofit/>
          </a:bodyPr>
          <a:lstStyle>
            <a:lvl1pPr>
              <a:defRPr sz="1400">
                <a:solidFill>
                  <a:srgbClr val="FFFFFF"/>
                </a:solidFill>
              </a:defRPr>
            </a:lvl1pPr>
          </a:lstStyle>
          <a:p>
            <a:fld id="{539D2A76-69E3-4600-8808-3C1A10934549}" type="slidenum">
              <a:rPr lang="en-US" smtClean="0"/>
            </a:fld>
            <a:endParaRPr lang="en-US"/>
          </a:p>
        </p:txBody>
      </p:sp>
      <p:sp>
        <p:nvSpPr>
          <p:cNvPr id="1050126" name="Rectangle 6"/>
          <p:cNvSpPr/>
          <p:nvPr/>
        </p:nvSpPr>
        <p:spPr>
          <a:xfrm>
            <a:off x="78673" y="1449311"/>
            <a:ext cx="11276921" cy="1527349"/>
          </a:xfrm>
          <a:prstGeom prst="rect"/>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127" name="Rectangle 9"/>
          <p:cNvSpPr/>
          <p:nvPr/>
        </p:nvSpPr>
        <p:spPr>
          <a:xfrm>
            <a:off x="78673" y="1396722"/>
            <a:ext cx="11276921" cy="120580"/>
          </a:xfrm>
          <a:prstGeom prst="rect"/>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128" name="Rectangle 10"/>
          <p:cNvSpPr/>
          <p:nvPr/>
        </p:nvSpPr>
        <p:spPr>
          <a:xfrm>
            <a:off x="78673" y="2976650"/>
            <a:ext cx="11276921" cy="110532"/>
          </a:xfrm>
          <a:prstGeom prst="rect"/>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129" name="Title 7"/>
          <p:cNvSpPr>
            <a:spLocks noGrp="1"/>
          </p:cNvSpPr>
          <p:nvPr>
            <p:ph type="ctrTitle"/>
          </p:nvPr>
        </p:nvSpPr>
        <p:spPr>
          <a:xfrm>
            <a:off x="571500" y="1505940"/>
            <a:ext cx="10287000" cy="1470025"/>
          </a:xfrm>
        </p:spPr>
        <p:txBody>
          <a:bodyPr anchor="ctr"/>
          <a:lstStyle>
            <a:lvl1pPr algn="ctr">
              <a:defRPr dirty="0" lang="en-US">
                <a:solidFill>
                  <a:srgbClr val="FFFFFF"/>
                </a:solidFill>
              </a:defRPr>
            </a:lvl1pPr>
          </a:lstStyle>
          <a:p>
            <a:r>
              <a:rPr kumimoji="0" lang="en-US" smtClean="0"/>
              <a:t>Click to edit Master title style</a:t>
            </a:r>
            <a:endParaRPr kumimoji="0" lang="en-US"/>
          </a:p>
        </p:txBody>
      </p:sp>
    </p:spTree>
  </p:cSld>
  <p:clrMapOvr>
    <a:overrideClrMapping accent1="accent1" accent2="accent2" accent3="accent3" accent4="accent4" accent5="accent5" accent6="accent6" bg1="lt1" bg2="lt2" tx1="dk1" tx2="dk2" hlink="hlink" folHlink="folHlink"/>
  </p:clrMapOvr>
  <p:transition xmlns:p14="http://schemas.microsoft.com/office/powerpoint/2010/main">
    <p:fade thruBlk="1"/>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accel="100000" fill="hold" grpId="0" id="5" nodeType="withEffect" presetClass="entr" presetID="39" presetSubtype="0">
                                  <p:stCondLst>
                                    <p:cond delay="0"/>
                                  </p:stCondLst>
                                  <p:childTnLst>
                                    <p:set>
                                      <p:cBhvr>
                                        <p:cTn dur="1" fill="hold" id="6">
                                          <p:stCondLst>
                                            <p:cond delay="0"/>
                                          </p:stCondLst>
                                        </p:cTn>
                                        <p:tgtEl>
                                          <p:spTgt spid="1050129"/>
                                        </p:tgtEl>
                                        <p:attrNameLst>
                                          <p:attrName>style.visibility</p:attrName>
                                        </p:attrNameLst>
                                      </p:cBhvr>
                                      <p:to>
                                        <p:strVal val="visible"/>
                                      </p:to>
                                    </p:set>
                                    <p:anim calcmode="lin" valueType="num">
                                      <p:cBhvr>
                                        <p:cTn dur="500" fill="hold" id="7"/>
                                        <p:tgtEl>
                                          <p:spTgt spid="1050129"/>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8"/>
                                        <p:tgtEl>
                                          <p:spTgt spid="1050129"/>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9"/>
                                        <p:tgtEl>
                                          <p:spTgt spid="1050129"/>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10"/>
                                        <p:tgtEl>
                                          <p:spTgt spid="1050129"/>
                                        </p:tgtEl>
                                        <p:attrNameLst>
                                          <p:attrName>ppt_y</p:attrName>
                                        </p:attrNameLst>
                                      </p:cBhvr>
                                      <p:tavLst>
                                        <p:tav tm="0">
                                          <p:val>
                                            <p:strVal val="#ppt_y"/>
                                          </p:val>
                                        </p:tav>
                                        <p:tav tm="100000">
                                          <p:val>
                                            <p:strVal val="#ppt_y"/>
                                          </p:val>
                                        </p:tav>
                                      </p:tavLst>
                                    </p:anim>
                                  </p:childTnLst>
                                </p:cTn>
                              </p:par>
                            </p:childTnLst>
                          </p:cTn>
                        </p:par>
                      </p:childTnLst>
                    </p:cTn>
                  </p:par>
                  <p:par>
                    <p:cTn fill="hold" id="11">
                      <p:stCondLst>
                        <p:cond delay="indefinite"/>
                      </p:stCondLst>
                      <p:childTnLst>
                        <p:par>
                          <p:cTn fill="hold" id="12">
                            <p:stCondLst>
                              <p:cond delay="0"/>
                            </p:stCondLst>
                            <p:childTnLst>
                              <p:par>
                                <p:cTn accel="100000" fill="hold" grpId="0" id="13" nodeType="clickEffect" presetClass="entr" presetID="39" presetSubtype="0">
                                  <p:stCondLst>
                                    <p:cond delay="0"/>
                                  </p:stCondLst>
                                  <p:childTnLst>
                                    <p:set>
                                      <p:cBhvr>
                                        <p:cTn dur="1" fill="hold" id="14">
                                          <p:stCondLst>
                                            <p:cond delay="0"/>
                                          </p:stCondLst>
                                        </p:cTn>
                                        <p:tgtEl>
                                          <p:spTgt spid="1050122">
                                            <p:txEl>
                                              <p:pRg st="0" end="0"/>
                                            </p:txEl>
                                          </p:spTgt>
                                        </p:tgtEl>
                                        <p:attrNameLst>
                                          <p:attrName>style.visibility</p:attrName>
                                        </p:attrNameLst>
                                      </p:cBhvr>
                                      <p:to>
                                        <p:strVal val="visible"/>
                                      </p:to>
                                    </p:set>
                                    <p:anim calcmode="lin" valueType="num">
                                      <p:cBhvr>
                                        <p:cTn dur="500" fill="hold" id="15"/>
                                        <p:tgtEl>
                                          <p:spTgt spid="105012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16"/>
                                        <p:tgtEl>
                                          <p:spTgt spid="105012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17"/>
                                        <p:tgtEl>
                                          <p:spTgt spid="105012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18"/>
                                        <p:tgtEl>
                                          <p:spTgt spid="10501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fill="hold" id="19">
                      <p:stCondLst>
                        <p:cond delay="indefinite"/>
                      </p:stCondLst>
                      <p:childTnLst>
                        <p:par>
                          <p:cTn fill="hold" id="20">
                            <p:stCondLst>
                              <p:cond delay="0"/>
                            </p:stCondLst>
                            <p:childTnLst>
                              <p:par>
                                <p:cTn decel="100000" fill="hold" grpId="1" id="21" nodeType="clickEffect" presetClass="exit" presetID="39" presetSubtype="0">
                                  <p:stCondLst>
                                    <p:cond delay="0"/>
                                  </p:stCondLst>
                                  <p:childTnLst>
                                    <p:anim calcmode="lin" valueType="num">
                                      <p:cBhvr>
                                        <p:cTn dur="500" fill="hold" id="22"/>
                                        <p:tgtEl>
                                          <p:spTgt spid="1050129"/>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23"/>
                                        <p:tgtEl>
                                          <p:spTgt spid="1050129"/>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24"/>
                                        <p:tgtEl>
                                          <p:spTgt spid="1050129"/>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25"/>
                                        <p:tgtEl>
                                          <p:spTgt spid="1050129"/>
                                        </p:tgtEl>
                                        <p:attrNameLst>
                                          <p:attrName>ppt_y</p:attrName>
                                        </p:attrNameLst>
                                      </p:cBhvr>
                                      <p:tavLst>
                                        <p:tav tm="0">
                                          <p:val>
                                            <p:strVal val="ppt_y"/>
                                          </p:val>
                                        </p:tav>
                                        <p:tav tm="100000">
                                          <p:val>
                                            <p:strVal val="ppt_y"/>
                                          </p:val>
                                        </p:tav>
                                      </p:tavLst>
                                    </p:anim>
                                    <p:set>
                                      <p:cBhvr>
                                        <p:cTn dur="1" fill="hold" id="26">
                                          <p:stCondLst>
                                            <p:cond delay="499"/>
                                          </p:stCondLst>
                                        </p:cTn>
                                        <p:tgtEl>
                                          <p:spTgt spid="1050129"/>
                                        </p:tgtEl>
                                        <p:attrNameLst>
                                          <p:attrName>style.visibility</p:attrName>
                                        </p:attrNameLst>
                                      </p:cBhvr>
                                      <p:to>
                                        <p:strVal val="hidden"/>
                                      </p:to>
                                    </p:set>
                                  </p:childTnLst>
                                </p:cTn>
                              </p:par>
                              <p:par>
                                <p:cTn decel="100000" fill="hold" grpId="1" id="27" nodeType="withEffect" presetClass="exit" presetID="39" presetSubtype="0">
                                  <p:stCondLst>
                                    <p:cond delay="0"/>
                                  </p:stCondLst>
                                  <p:childTnLst>
                                    <p:anim calcmode="lin" valueType="num">
                                      <p:cBhvr>
                                        <p:cTn dur="500" fill="hold" id="28"/>
                                        <p:tgtEl>
                                          <p:spTgt spid="1050122">
                                            <p:txEl>
                                              <p:pRg st="0" end="0"/>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29"/>
                                        <p:tgtEl>
                                          <p:spTgt spid="1050122">
                                            <p:txEl>
                                              <p:pRg st="0" end="0"/>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30"/>
                                        <p:tgtEl>
                                          <p:spTgt spid="1050122">
                                            <p:txEl>
                                              <p:pRg st="0" end="0"/>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31"/>
                                        <p:tgtEl>
                                          <p:spTgt spid="1050122">
                                            <p:txEl>
                                              <p:pRg st="0" end="0"/>
                                            </p:txEl>
                                          </p:spTgt>
                                        </p:tgtEl>
                                        <p:attrNameLst>
                                          <p:attrName>ppt_y</p:attrName>
                                        </p:attrNameLst>
                                      </p:cBhvr>
                                      <p:tavLst>
                                        <p:tav tm="0">
                                          <p:val>
                                            <p:strVal val="ppt_y"/>
                                          </p:val>
                                        </p:tav>
                                        <p:tav tm="100000">
                                          <p:val>
                                            <p:strVal val="ppt_y"/>
                                          </p:val>
                                        </p:tav>
                                      </p:tavLst>
                                    </p:anim>
                                    <p:set>
                                      <p:cBhvr>
                                        <p:cTn dur="1" fill="hold" id="32">
                                          <p:stCondLst>
                                            <p:cond delay="499"/>
                                          </p:stCondLst>
                                        </p:cTn>
                                        <p:tgtEl>
                                          <p:spTgt spid="1050122">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122" grpId="0" build="p"/>
      <p:bldP spid="1050122" grpId="1" build="allAtOnce"/>
      <p:bldP spid="1050129" grpId="0"/>
      <p:bldP spid="1050129" grpId="1"/>
    </p:bld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344" name=""/>
        <p:cNvGrpSpPr/>
        <p:nvPr/>
      </p:nvGrpSpPr>
      <p:grpSpPr>
        <a:xfrm>
          <a:off x="0" y="0"/>
          <a:ext cx="0" cy="0"/>
          <a:chOff x="0" y="0"/>
          <a:chExt cx="0" cy="0"/>
        </a:xfrm>
      </p:grpSpPr>
      <p:sp>
        <p:nvSpPr>
          <p:cNvPr id="1050130" name="Title 1"/>
          <p:cNvSpPr>
            <a:spLocks noGrp="1"/>
          </p:cNvSpPr>
          <p:nvPr>
            <p:ph type="title"/>
          </p:nvPr>
        </p:nvSpPr>
        <p:spPr/>
        <p:txBody>
          <a:bodyPr/>
          <a:p>
            <a:r>
              <a:rPr kumimoji="0" lang="en-US" smtClean="0"/>
              <a:t>Click to edit Master title style</a:t>
            </a:r>
            <a:endParaRPr kumimoji="0" lang="en-US"/>
          </a:p>
        </p:txBody>
      </p:sp>
      <p:sp>
        <p:nvSpPr>
          <p:cNvPr id="1050131" name="Date Placeholder 3"/>
          <p:cNvSpPr>
            <a:spLocks noGrp="1"/>
          </p:cNvSpPr>
          <p:nvPr>
            <p:ph type="dt" sz="half" idx="10"/>
          </p:nvPr>
        </p:nvSpPr>
        <p:spPr/>
        <p:txBody>
          <a:bodyPr/>
          <a:p>
            <a:fld id="{504717D4-0C4D-4A28-B028-7FF06BB36A10}" type="datetime1">
              <a:rPr lang="en-US" smtClean="0"/>
            </a:fld>
            <a:endParaRPr lang="en-US"/>
          </a:p>
        </p:txBody>
      </p:sp>
      <p:sp>
        <p:nvSpPr>
          <p:cNvPr id="1050132" name="Footer Placeholder 4"/>
          <p:cNvSpPr>
            <a:spLocks noGrp="1"/>
          </p:cNvSpPr>
          <p:nvPr>
            <p:ph type="ftr" sz="quarter" idx="11"/>
          </p:nvPr>
        </p:nvSpPr>
        <p:spPr/>
        <p:txBody>
          <a:bodyPr/>
          <a:p>
            <a:r>
              <a:rPr lang="en-US" smtClean="0"/>
              <a:t>@MUSOVYA2017</a:t>
            </a:r>
            <a:endParaRPr lang="en-US"/>
          </a:p>
        </p:txBody>
      </p:sp>
      <p:sp>
        <p:nvSpPr>
          <p:cNvPr id="1050133" name="Slide Number Placeholder 5"/>
          <p:cNvSpPr>
            <a:spLocks noGrp="1"/>
          </p:cNvSpPr>
          <p:nvPr>
            <p:ph type="sldNum" sz="quarter" idx="12"/>
          </p:nvPr>
        </p:nvSpPr>
        <p:spPr/>
        <p:txBody>
          <a:bodyPr/>
          <a:p>
            <a:fld id="{539D2A76-69E3-4600-8808-3C1A10934549}" type="slidenum">
              <a:rPr lang="en-US" smtClean="0"/>
            </a:fld>
            <a:endParaRPr lang="en-US"/>
          </a:p>
        </p:txBody>
      </p:sp>
      <p:sp>
        <p:nvSpPr>
          <p:cNvPr id="1050134" name="Content Placeholder 7"/>
          <p:cNvSpPr>
            <a:spLocks noGrp="1"/>
          </p:cNvSpPr>
          <p:nvPr>
            <p:ph sz="quarter" idx="1"/>
          </p:nvPr>
        </p:nvSpPr>
        <p:spPr>
          <a:xfrm>
            <a:off x="1143000" y="1447800"/>
            <a:ext cx="9715500" cy="45720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p:fade thruBlk="1"/>
  </p:transition>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showMasterSp="0" type="secHead">
  <p:cSld name="Section Header">
    <p:bg>
      <p:bgRef idx="1003">
        <a:schemeClr val="bg1"/>
      </p:bgRef>
    </p:bg>
    <p:spTree>
      <p:nvGrpSpPr>
        <p:cNvPr id="1496" name=""/>
        <p:cNvGrpSpPr/>
        <p:nvPr/>
      </p:nvGrpSpPr>
      <p:grpSpPr>
        <a:xfrm>
          <a:off x="0" y="0"/>
          <a:ext cx="0" cy="0"/>
          <a:chOff x="0" y="0"/>
          <a:chExt cx="0" cy="0"/>
        </a:xfrm>
      </p:grpSpPr>
      <p:sp>
        <p:nvSpPr>
          <p:cNvPr id="1050817" name="Rectangle 10"/>
          <p:cNvSpPr/>
          <p:nvPr/>
        </p:nvSpPr>
        <p:spPr>
          <a:xfrm>
            <a:off x="0" y="0"/>
            <a:ext cx="11430000" cy="6858000"/>
          </a:xfrm>
          <a:prstGeom prst="rect"/>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useBgFill="1">
        <p:nvSpPr>
          <p:cNvPr id="1050818" name="Rounded Rectangle 9"/>
          <p:cNvSpPr/>
          <p:nvPr/>
        </p:nvSpPr>
        <p:spPr>
          <a:xfrm>
            <a:off x="81644" y="69764"/>
            <a:ext cx="11266716"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p>
            <a:pPr algn="ctr" eaLnBrk="1" hangingPunct="1" latinLnBrk="0"/>
            <a:endParaRPr kumimoji="0" lang="en-US"/>
          </a:p>
        </p:txBody>
      </p:sp>
      <p:sp>
        <p:nvSpPr>
          <p:cNvPr id="1050819" name="Title 1"/>
          <p:cNvSpPr>
            <a:spLocks noGrp="1"/>
          </p:cNvSpPr>
          <p:nvPr>
            <p:ph type="title"/>
          </p:nvPr>
        </p:nvSpPr>
        <p:spPr>
          <a:xfrm>
            <a:off x="902892" y="952508"/>
            <a:ext cx="9715500" cy="1362075"/>
          </a:xfrm>
        </p:spPr>
        <p:txBody>
          <a:bodyPr anchor="b" anchorCtr="0"/>
          <a:lstStyle>
            <a:lvl1pPr algn="l">
              <a:buNone/>
              <a:defRPr b="0" cap="none" sz="4000"/>
            </a:lvl1pPr>
          </a:lstStyle>
          <a:p>
            <a:r>
              <a:rPr kumimoji="0" lang="en-US" smtClean="0"/>
              <a:t>Click to edit Master title style</a:t>
            </a:r>
            <a:endParaRPr kumimoji="0" lang="en-US"/>
          </a:p>
        </p:txBody>
      </p:sp>
      <p:sp>
        <p:nvSpPr>
          <p:cNvPr id="1050820" name="Text Placeholder 2"/>
          <p:cNvSpPr>
            <a:spLocks noGrp="1"/>
          </p:cNvSpPr>
          <p:nvPr>
            <p:ph type="body" idx="1"/>
          </p:nvPr>
        </p:nvSpPr>
        <p:spPr>
          <a:xfrm>
            <a:off x="902892" y="2547946"/>
            <a:ext cx="9715500" cy="1338263"/>
          </a:xfrm>
        </p:spPr>
        <p:txBody>
          <a:bodyPr anchor="t" anchorCtr="0"/>
          <a:lstStyle>
            <a:lvl1pPr indent="0" marL="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50821" name="Date Placeholder 3"/>
          <p:cNvSpPr>
            <a:spLocks noGrp="1"/>
          </p:cNvSpPr>
          <p:nvPr>
            <p:ph type="dt" sz="half" idx="10"/>
          </p:nvPr>
        </p:nvSpPr>
        <p:spPr/>
        <p:txBody>
          <a:bodyPr/>
          <a:p>
            <a:fld id="{9EC1C575-8C00-4FF6-AD94-92ED79D92901}" type="datetime1">
              <a:rPr lang="en-US" smtClean="0"/>
            </a:fld>
            <a:endParaRPr lang="en-US"/>
          </a:p>
        </p:txBody>
      </p:sp>
      <p:sp>
        <p:nvSpPr>
          <p:cNvPr id="1050822" name="Footer Placeholder 4"/>
          <p:cNvSpPr>
            <a:spLocks noGrp="1"/>
          </p:cNvSpPr>
          <p:nvPr>
            <p:ph type="ftr" sz="quarter" idx="11"/>
          </p:nvPr>
        </p:nvSpPr>
        <p:spPr>
          <a:xfrm>
            <a:off x="1000130" y="6172200"/>
            <a:ext cx="5000625" cy="457200"/>
          </a:xfrm>
        </p:spPr>
        <p:txBody>
          <a:bodyPr/>
          <a:p>
            <a:r>
              <a:rPr lang="en-US" smtClean="0"/>
              <a:t>@MUSOVYA2017</a:t>
            </a:r>
            <a:endParaRPr lang="en-US"/>
          </a:p>
        </p:txBody>
      </p:sp>
      <p:sp>
        <p:nvSpPr>
          <p:cNvPr id="1050823" name="Rectangle 6"/>
          <p:cNvSpPr/>
          <p:nvPr/>
        </p:nvSpPr>
        <p:spPr>
          <a:xfrm flipV="1">
            <a:off x="86773" y="2376831"/>
            <a:ext cx="11266894" cy="91440"/>
          </a:xfrm>
          <a:prstGeom prst="rect"/>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824" name="Rectangle 7"/>
          <p:cNvSpPr/>
          <p:nvPr/>
        </p:nvSpPr>
        <p:spPr>
          <a:xfrm>
            <a:off x="86441" y="2341485"/>
            <a:ext cx="11267226" cy="45719"/>
          </a:xfrm>
          <a:prstGeom prst="rect"/>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825" name="Rectangle 8"/>
          <p:cNvSpPr/>
          <p:nvPr/>
        </p:nvSpPr>
        <p:spPr>
          <a:xfrm>
            <a:off x="85391" y="2468880"/>
            <a:ext cx="11268276" cy="45720"/>
          </a:xfrm>
          <a:prstGeom prst="rect"/>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826" name="Slide Number Placeholder 5"/>
          <p:cNvSpPr>
            <a:spLocks noGrp="1"/>
          </p:cNvSpPr>
          <p:nvPr>
            <p:ph type="sldNum" sz="quarter" idx="12"/>
          </p:nvPr>
        </p:nvSpPr>
        <p:spPr>
          <a:xfrm>
            <a:off x="182880" y="6208776"/>
            <a:ext cx="571500" cy="457200"/>
          </a:xfrm>
        </p:spPr>
        <p:txBody>
          <a:bodyPr/>
          <a:p>
            <a:fld id="{539D2A76-69E3-4600-8808-3C1A10934549}" type="slidenum">
              <a:rPr lang="en-US" smtClean="0"/>
            </a:fld>
            <a:endParaRPr lang="en-US"/>
          </a:p>
        </p:txBody>
      </p:sp>
    </p:spTree>
  </p:cSld>
  <p:clrMapOvr>
    <a:overrideClrMapping accent1="accent1" accent2="accent2" accent3="accent3" accent4="accent4" accent5="accent5" accent6="accent6" bg1="lt1" bg2="lt2" tx1="dk1" tx2="dk2" hlink="hlink" folHlink="folHlink"/>
  </p:clrMapOvr>
  <p:transition xmlns:p14="http://schemas.microsoft.com/office/powerpoint/2010/main">
    <p:fade thruBlk="1"/>
  </p:transition>
  <p:timing/>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410" name=""/>
        <p:cNvGrpSpPr/>
        <p:nvPr/>
      </p:nvGrpSpPr>
      <p:grpSpPr>
        <a:xfrm>
          <a:off x="0" y="0"/>
          <a:ext cx="0" cy="0"/>
          <a:chOff x="0" y="0"/>
          <a:chExt cx="0" cy="0"/>
        </a:xfrm>
      </p:grpSpPr>
      <p:sp>
        <p:nvSpPr>
          <p:cNvPr id="1050273" name="Title 1"/>
          <p:cNvSpPr>
            <a:spLocks noGrp="1"/>
          </p:cNvSpPr>
          <p:nvPr>
            <p:ph type="title"/>
          </p:nvPr>
        </p:nvSpPr>
        <p:spPr/>
        <p:txBody>
          <a:bodyPr/>
          <a:p>
            <a:r>
              <a:rPr kumimoji="0" lang="en-US" smtClean="0"/>
              <a:t>Click to edit Master title style</a:t>
            </a:r>
            <a:endParaRPr kumimoji="0" lang="en-US"/>
          </a:p>
        </p:txBody>
      </p:sp>
      <p:sp>
        <p:nvSpPr>
          <p:cNvPr id="1050274" name="Date Placeholder 4"/>
          <p:cNvSpPr>
            <a:spLocks noGrp="1"/>
          </p:cNvSpPr>
          <p:nvPr>
            <p:ph type="dt" sz="half" idx="10"/>
          </p:nvPr>
        </p:nvSpPr>
        <p:spPr/>
        <p:txBody>
          <a:bodyPr/>
          <a:p>
            <a:fld id="{8EE7AEB5-FAA0-477A-9310-D4298853D92D}" type="datetime1">
              <a:rPr lang="en-US" smtClean="0"/>
            </a:fld>
            <a:endParaRPr lang="en-US"/>
          </a:p>
        </p:txBody>
      </p:sp>
      <p:sp>
        <p:nvSpPr>
          <p:cNvPr id="1050275" name="Footer Placeholder 5"/>
          <p:cNvSpPr>
            <a:spLocks noGrp="1"/>
          </p:cNvSpPr>
          <p:nvPr>
            <p:ph type="ftr" sz="quarter" idx="11"/>
          </p:nvPr>
        </p:nvSpPr>
        <p:spPr/>
        <p:txBody>
          <a:bodyPr/>
          <a:p>
            <a:r>
              <a:rPr lang="en-US" smtClean="0"/>
              <a:t>@MUSOVYA2017</a:t>
            </a:r>
            <a:endParaRPr lang="en-US"/>
          </a:p>
        </p:txBody>
      </p:sp>
      <p:sp>
        <p:nvSpPr>
          <p:cNvPr id="1050276"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50277" name="Content Placeholder 8"/>
          <p:cNvSpPr>
            <a:spLocks noGrp="1"/>
          </p:cNvSpPr>
          <p:nvPr>
            <p:ph sz="quarter" idx="1"/>
          </p:nvPr>
        </p:nvSpPr>
        <p:spPr>
          <a:xfrm>
            <a:off x="1143000" y="1447800"/>
            <a:ext cx="4686300" cy="45720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278" name="Content Placeholder 10"/>
          <p:cNvSpPr>
            <a:spLocks noGrp="1"/>
          </p:cNvSpPr>
          <p:nvPr>
            <p:ph sz="quarter" idx="2"/>
          </p:nvPr>
        </p:nvSpPr>
        <p:spPr>
          <a:xfrm>
            <a:off x="6167440" y="1447800"/>
            <a:ext cx="4686300" cy="45720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p:fade thruBlk="1"/>
  </p:transition>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495" name=""/>
        <p:cNvGrpSpPr/>
        <p:nvPr/>
      </p:nvGrpSpPr>
      <p:grpSpPr>
        <a:xfrm>
          <a:off x="0" y="0"/>
          <a:ext cx="0" cy="0"/>
          <a:chOff x="0" y="0"/>
          <a:chExt cx="0" cy="0"/>
        </a:xfrm>
      </p:grpSpPr>
      <p:sp>
        <p:nvSpPr>
          <p:cNvPr id="1050809" name="Title 1"/>
          <p:cNvSpPr>
            <a:spLocks noGrp="1"/>
          </p:cNvSpPr>
          <p:nvPr>
            <p:ph type="title"/>
          </p:nvPr>
        </p:nvSpPr>
        <p:spPr>
          <a:xfrm>
            <a:off x="1143000" y="273051"/>
            <a:ext cx="9715500" cy="1143000"/>
          </a:xfrm>
        </p:spPr>
        <p:txBody>
          <a:bodyPr anchor="b" anchorCtr="0"/>
          <a:p>
            <a:r>
              <a:rPr kumimoji="0" lang="en-US" smtClean="0"/>
              <a:t>Click to edit Master title style</a:t>
            </a:r>
            <a:endParaRPr kumimoji="0" lang="en-US"/>
          </a:p>
        </p:txBody>
      </p:sp>
      <p:sp>
        <p:nvSpPr>
          <p:cNvPr id="1050810" name="Text Placeholder 2"/>
          <p:cNvSpPr>
            <a:spLocks noGrp="1"/>
          </p:cNvSpPr>
          <p:nvPr>
            <p:ph type="body" idx="1"/>
          </p:nvPr>
        </p:nvSpPr>
        <p:spPr>
          <a:xfrm>
            <a:off x="1143001" y="1447800"/>
            <a:ext cx="4667250" cy="762000"/>
          </a:xfrm>
          <a:noFill/>
          <a:ln w="12700" cap="sq" cmpd="sng" algn="ctr">
            <a:noFill/>
            <a:prstDash val="solid"/>
          </a:ln>
        </p:spPr>
        <p:txBody>
          <a:bodyPr anchor="b" anchorCtr="0" lIns="91440">
            <a:noAutofit/>
          </a:bodyPr>
          <a:lstStyle>
            <a:lvl1pPr indent="0" marL="0">
              <a:buNone/>
              <a:defRPr b="1" sz="2400">
                <a:solidFill>
                  <a:schemeClr val="accent1"/>
                </a:solidFill>
                <a:latin typeface="+mj-lt"/>
                <a:ea typeface="+mj-ea"/>
                <a:cs typeface="+mj-cs"/>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811" name="Text Placeholder 3"/>
          <p:cNvSpPr>
            <a:spLocks noGrp="1"/>
          </p:cNvSpPr>
          <p:nvPr>
            <p:ph type="body" sz="half" idx="3"/>
          </p:nvPr>
        </p:nvSpPr>
        <p:spPr>
          <a:xfrm>
            <a:off x="6191250" y="1447800"/>
            <a:ext cx="4667250" cy="762000"/>
          </a:xfrm>
          <a:noFill/>
          <a:ln w="12700" cap="sq" cmpd="sng" algn="ctr">
            <a:noFill/>
            <a:prstDash val="solid"/>
          </a:ln>
        </p:spPr>
        <p:txBody>
          <a:bodyPr anchor="b" anchorCtr="0" lIns="91440">
            <a:noAutofit/>
          </a:bodyPr>
          <a:lstStyle>
            <a:lvl1pPr indent="0" marL="0">
              <a:buNone/>
              <a:defRPr b="1" sz="2400">
                <a:solidFill>
                  <a:schemeClr val="accent1"/>
                </a:solidFill>
                <a:latin typeface="+mj-lt"/>
                <a:ea typeface="+mj-ea"/>
                <a:cs typeface="+mj-cs"/>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50812" name="Date Placeholder 6"/>
          <p:cNvSpPr>
            <a:spLocks noGrp="1"/>
          </p:cNvSpPr>
          <p:nvPr>
            <p:ph type="dt" sz="half" idx="10"/>
          </p:nvPr>
        </p:nvSpPr>
        <p:spPr/>
        <p:txBody>
          <a:bodyPr/>
          <a:p>
            <a:fld id="{6E97A170-2A82-4276-A601-49666886CB71}" type="datetime1">
              <a:rPr lang="en-US" smtClean="0"/>
            </a:fld>
            <a:endParaRPr lang="en-US"/>
          </a:p>
        </p:txBody>
      </p:sp>
      <p:sp>
        <p:nvSpPr>
          <p:cNvPr id="1050813" name="Footer Placeholder 7"/>
          <p:cNvSpPr>
            <a:spLocks noGrp="1"/>
          </p:cNvSpPr>
          <p:nvPr>
            <p:ph type="ftr" sz="quarter" idx="11"/>
          </p:nvPr>
        </p:nvSpPr>
        <p:spPr/>
        <p:txBody>
          <a:bodyPr/>
          <a:p>
            <a:r>
              <a:rPr lang="en-US" smtClean="0"/>
              <a:t>@MUSOVYA2017</a:t>
            </a:r>
            <a:endParaRPr lang="en-US"/>
          </a:p>
        </p:txBody>
      </p:sp>
      <p:sp>
        <p:nvSpPr>
          <p:cNvPr id="1050814" name="Slide Number Placeholder 8"/>
          <p:cNvSpPr>
            <a:spLocks noGrp="1"/>
          </p:cNvSpPr>
          <p:nvPr>
            <p:ph type="sldNum" sz="quarter" idx="12"/>
          </p:nvPr>
        </p:nvSpPr>
        <p:spPr/>
        <p:txBody>
          <a:bodyPr/>
          <a:p>
            <a:fld id="{539D2A76-69E3-4600-8808-3C1A10934549}" type="slidenum">
              <a:rPr lang="en-US" smtClean="0"/>
            </a:fld>
            <a:endParaRPr lang="en-US"/>
          </a:p>
        </p:txBody>
      </p:sp>
      <p:sp>
        <p:nvSpPr>
          <p:cNvPr id="1050815" name="Content Placeholder 10"/>
          <p:cNvSpPr>
            <a:spLocks noGrp="1"/>
          </p:cNvSpPr>
          <p:nvPr>
            <p:ph sz="half" idx="2"/>
          </p:nvPr>
        </p:nvSpPr>
        <p:spPr>
          <a:xfrm>
            <a:off x="1143001" y="2247900"/>
            <a:ext cx="4667250" cy="38862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816" name="Content Placeholder 12"/>
          <p:cNvSpPr>
            <a:spLocks noGrp="1"/>
          </p:cNvSpPr>
          <p:nvPr>
            <p:ph sz="half" idx="4"/>
          </p:nvPr>
        </p:nvSpPr>
        <p:spPr>
          <a:xfrm>
            <a:off x="6191250" y="2247900"/>
            <a:ext cx="4667250" cy="38862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p:fade thruBlk="1"/>
  </p:transition>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492" name=""/>
        <p:cNvGrpSpPr/>
        <p:nvPr/>
      </p:nvGrpSpPr>
      <p:grpSpPr>
        <a:xfrm>
          <a:off x="0" y="0"/>
          <a:ext cx="0" cy="0"/>
          <a:chOff x="0" y="0"/>
          <a:chExt cx="0" cy="0"/>
        </a:xfrm>
      </p:grpSpPr>
      <p:sp>
        <p:nvSpPr>
          <p:cNvPr id="1050792" name="Title 1"/>
          <p:cNvSpPr>
            <a:spLocks noGrp="1"/>
          </p:cNvSpPr>
          <p:nvPr>
            <p:ph type="title"/>
          </p:nvPr>
        </p:nvSpPr>
        <p:spPr/>
        <p:txBody>
          <a:bodyPr/>
          <a:p>
            <a:r>
              <a:rPr kumimoji="0" lang="en-US" smtClean="0"/>
              <a:t>Click to edit Master title style</a:t>
            </a:r>
            <a:endParaRPr kumimoji="0" lang="en-US"/>
          </a:p>
        </p:txBody>
      </p:sp>
      <p:sp>
        <p:nvSpPr>
          <p:cNvPr id="1050793" name="Date Placeholder 2"/>
          <p:cNvSpPr>
            <a:spLocks noGrp="1"/>
          </p:cNvSpPr>
          <p:nvPr>
            <p:ph type="dt" sz="half" idx="10"/>
          </p:nvPr>
        </p:nvSpPr>
        <p:spPr/>
        <p:txBody>
          <a:bodyPr/>
          <a:p>
            <a:fld id="{5D6615B1-D4B5-4B20-AB27-F0679D537FAF}" type="datetime1">
              <a:rPr lang="en-US" smtClean="0"/>
            </a:fld>
            <a:endParaRPr lang="en-US"/>
          </a:p>
        </p:txBody>
      </p:sp>
      <p:sp>
        <p:nvSpPr>
          <p:cNvPr id="1050794" name="Footer Placeholder 3"/>
          <p:cNvSpPr>
            <a:spLocks noGrp="1"/>
          </p:cNvSpPr>
          <p:nvPr>
            <p:ph type="ftr" sz="quarter" idx="11"/>
          </p:nvPr>
        </p:nvSpPr>
        <p:spPr/>
        <p:txBody>
          <a:bodyPr/>
          <a:p>
            <a:r>
              <a:rPr lang="en-US" smtClean="0"/>
              <a:t>@MUSOVYA2017</a:t>
            </a:r>
            <a:endParaRPr lang="en-US"/>
          </a:p>
        </p:txBody>
      </p:sp>
      <p:sp>
        <p:nvSpPr>
          <p:cNvPr id="1050795" name="Slide Number Placeholder 4"/>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98" name=""/>
        <p:cNvGrpSpPr/>
        <p:nvPr/>
      </p:nvGrpSpPr>
      <p:grpSpPr>
        <a:xfrm>
          <a:off x="0" y="0"/>
          <a:ext cx="0" cy="0"/>
          <a:chOff x="0" y="0"/>
          <a:chExt cx="0" cy="0"/>
        </a:xfrm>
      </p:grpSpPr>
      <p:sp>
        <p:nvSpPr>
          <p:cNvPr id="1050836" name="Date Placeholder 1"/>
          <p:cNvSpPr>
            <a:spLocks noGrp="1"/>
          </p:cNvSpPr>
          <p:nvPr>
            <p:ph type="dt" sz="half" idx="10"/>
          </p:nvPr>
        </p:nvSpPr>
        <p:spPr/>
        <p:txBody>
          <a:bodyPr/>
          <a:p>
            <a:fld id="{0C40DFA2-CBBC-4774-9C0D-BE842BFE9676}" type="datetime1">
              <a:rPr lang="en-US" smtClean="0"/>
            </a:fld>
            <a:endParaRPr lang="en-US"/>
          </a:p>
        </p:txBody>
      </p:sp>
      <p:sp>
        <p:nvSpPr>
          <p:cNvPr id="1050837" name="Footer Placeholder 2"/>
          <p:cNvSpPr>
            <a:spLocks noGrp="1"/>
          </p:cNvSpPr>
          <p:nvPr>
            <p:ph type="ftr" sz="quarter" idx="11"/>
          </p:nvPr>
        </p:nvSpPr>
        <p:spPr/>
        <p:txBody>
          <a:bodyPr/>
          <a:p>
            <a:r>
              <a:rPr lang="en-US" smtClean="0"/>
              <a:t>@MUSOVYA2017</a:t>
            </a:r>
            <a:endParaRPr lang="en-US"/>
          </a:p>
        </p:txBody>
      </p:sp>
      <p:sp>
        <p:nvSpPr>
          <p:cNvPr id="1050838" name="Slide Number Placeholder 3"/>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94" name=""/>
        <p:cNvGrpSpPr/>
        <p:nvPr/>
      </p:nvGrpSpPr>
      <p:grpSpPr>
        <a:xfrm>
          <a:off x="0" y="0"/>
          <a:ext cx="0" cy="0"/>
          <a:chOff x="0" y="0"/>
          <a:chExt cx="0" cy="0"/>
        </a:xfrm>
      </p:grpSpPr>
      <p:sp>
        <p:nvSpPr>
          <p:cNvPr id="1050801" name="Rectangle 7"/>
          <p:cNvSpPr/>
          <p:nvPr/>
        </p:nvSpPr>
        <p:spPr>
          <a:xfrm>
            <a:off x="0" y="0"/>
            <a:ext cx="11430000" cy="6858000"/>
          </a:xfrm>
          <a:prstGeom prst="rect"/>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useBgFill="1">
        <p:nvSpPr>
          <p:cNvPr id="1050802" name="Rounded Rectangle 8"/>
          <p:cNvSpPr/>
          <p:nvPr/>
        </p:nvSpPr>
        <p:spPr>
          <a:xfrm>
            <a:off x="80014" y="69755"/>
            <a:ext cx="11266716"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p>
            <a:pPr algn="ctr" eaLnBrk="1" hangingPunct="1" latinLnBrk="0"/>
            <a:endParaRPr kumimoji="0" lang="en-US"/>
          </a:p>
        </p:txBody>
      </p:sp>
      <p:sp>
        <p:nvSpPr>
          <p:cNvPr id="1050803" name="Title 1"/>
          <p:cNvSpPr>
            <a:spLocks noGrp="1"/>
          </p:cNvSpPr>
          <p:nvPr>
            <p:ph type="title"/>
          </p:nvPr>
        </p:nvSpPr>
        <p:spPr>
          <a:xfrm>
            <a:off x="1143000" y="273051"/>
            <a:ext cx="9715500" cy="1143000"/>
          </a:xfrm>
        </p:spPr>
        <p:txBody>
          <a:bodyPr anchor="b" anchorCtr="0"/>
          <a:lstStyle>
            <a:lvl1pPr algn="l">
              <a:buNone/>
              <a:defRPr b="0" sz="4000"/>
            </a:lvl1pPr>
          </a:lstStyle>
          <a:p>
            <a:r>
              <a:rPr kumimoji="0" lang="en-US" smtClean="0"/>
              <a:t>Click to edit Master title style</a:t>
            </a:r>
            <a:endParaRPr kumimoji="0" lang="en-US"/>
          </a:p>
        </p:txBody>
      </p:sp>
      <p:sp>
        <p:nvSpPr>
          <p:cNvPr id="1050804" name="Text Placeholder 2"/>
          <p:cNvSpPr>
            <a:spLocks noGrp="1"/>
          </p:cNvSpPr>
          <p:nvPr>
            <p:ph type="body" idx="2"/>
          </p:nvPr>
        </p:nvSpPr>
        <p:spPr>
          <a:xfrm>
            <a:off x="1143000" y="1600200"/>
            <a:ext cx="2381250" cy="4495800"/>
          </a:xfrm>
        </p:spPr>
        <p:txBody>
          <a:bodyPr/>
          <a:lstStyle>
            <a:lvl1pPr indent="0" marL="0">
              <a:buNone/>
              <a:defRPr sz="18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50805" name="Date Placeholder 4"/>
          <p:cNvSpPr>
            <a:spLocks noGrp="1"/>
          </p:cNvSpPr>
          <p:nvPr>
            <p:ph type="dt" sz="half" idx="10"/>
          </p:nvPr>
        </p:nvSpPr>
        <p:spPr/>
        <p:txBody>
          <a:bodyPr/>
          <a:p>
            <a:fld id="{2530604D-5A02-477E-82AF-4B3CF9BF6E20}" type="datetime1">
              <a:rPr lang="en-US" smtClean="0"/>
            </a:fld>
            <a:endParaRPr lang="en-US"/>
          </a:p>
        </p:txBody>
      </p:sp>
      <p:sp>
        <p:nvSpPr>
          <p:cNvPr id="1050806" name="Footer Placeholder 5"/>
          <p:cNvSpPr>
            <a:spLocks noGrp="1"/>
          </p:cNvSpPr>
          <p:nvPr>
            <p:ph type="ftr" sz="quarter" idx="11"/>
          </p:nvPr>
        </p:nvSpPr>
        <p:spPr/>
        <p:txBody>
          <a:bodyPr/>
          <a:p>
            <a:r>
              <a:rPr lang="en-US" smtClean="0"/>
              <a:t>@MUSOVYA2017</a:t>
            </a:r>
            <a:endParaRPr lang="en-US"/>
          </a:p>
        </p:txBody>
      </p:sp>
      <p:sp>
        <p:nvSpPr>
          <p:cNvPr id="1050807" name="Slide Number Placeholder 6"/>
          <p:cNvSpPr>
            <a:spLocks noGrp="1"/>
          </p:cNvSpPr>
          <p:nvPr>
            <p:ph type="sldNum" sz="quarter" idx="12"/>
          </p:nvPr>
        </p:nvSpPr>
        <p:spPr/>
        <p:txBody>
          <a:bodyPr/>
          <a:p>
            <a:fld id="{539D2A76-69E3-4600-8808-3C1A10934549}" type="slidenum">
              <a:rPr lang="en-US" smtClean="0"/>
            </a:fld>
            <a:endParaRPr lang="en-US"/>
          </a:p>
        </p:txBody>
      </p:sp>
      <p:sp>
        <p:nvSpPr>
          <p:cNvPr id="1050808" name="Content Placeholder 10"/>
          <p:cNvSpPr>
            <a:spLocks noGrp="1"/>
          </p:cNvSpPr>
          <p:nvPr>
            <p:ph sz="quarter" idx="1"/>
          </p:nvPr>
        </p:nvSpPr>
        <p:spPr>
          <a:xfrm>
            <a:off x="3714750" y="1600200"/>
            <a:ext cx="7143750" cy="4495800"/>
          </a:xfrm>
        </p:spPr>
        <p:txBody>
          <a:bodyPr vert="horz"/>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transition xmlns:p14="http://schemas.microsoft.com/office/powerpoint/2010/main">
    <p:fade thruBlk="1"/>
  </p:transition>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97" name=""/>
        <p:cNvGrpSpPr/>
        <p:nvPr/>
      </p:nvGrpSpPr>
      <p:grpSpPr>
        <a:xfrm>
          <a:off x="0" y="0"/>
          <a:ext cx="0" cy="0"/>
          <a:chOff x="0" y="0"/>
          <a:chExt cx="0" cy="0"/>
        </a:xfrm>
      </p:grpSpPr>
      <p:sp>
        <p:nvSpPr>
          <p:cNvPr id="1050827" name="Title 1"/>
          <p:cNvSpPr>
            <a:spLocks noGrp="1"/>
          </p:cNvSpPr>
          <p:nvPr>
            <p:ph type="title"/>
          </p:nvPr>
        </p:nvSpPr>
        <p:spPr>
          <a:xfrm>
            <a:off x="1143000" y="4900551"/>
            <a:ext cx="9144000" cy="522288"/>
          </a:xfrm>
        </p:spPr>
        <p:txBody>
          <a:bodyPr anchor="ctr">
            <a:noAutofit/>
          </a:bodyPr>
          <a:lstStyle>
            <a:lvl1pPr algn="l">
              <a:buNone/>
              <a:defRPr b="0" sz="2800"/>
            </a:lvl1pPr>
          </a:lstStyle>
          <a:p>
            <a:r>
              <a:rPr kumimoji="0" lang="en-US" smtClean="0"/>
              <a:t>Click to edit Master title style</a:t>
            </a:r>
            <a:endParaRPr kumimoji="0" lang="en-US"/>
          </a:p>
        </p:txBody>
      </p:sp>
      <p:sp>
        <p:nvSpPr>
          <p:cNvPr id="1050828" name="Text Placeholder 3"/>
          <p:cNvSpPr>
            <a:spLocks noGrp="1"/>
          </p:cNvSpPr>
          <p:nvPr>
            <p:ph type="body" sz="half" idx="2"/>
          </p:nvPr>
        </p:nvSpPr>
        <p:spPr>
          <a:xfrm>
            <a:off x="1143000" y="5445825"/>
            <a:ext cx="9144000" cy="685800"/>
          </a:xfrm>
        </p:spPr>
        <p:txBody>
          <a:bodyPr/>
          <a:lstStyle>
            <a:lvl1pPr indent="0" marL="0">
              <a:buFontTx/>
              <a:buNone/>
              <a:defRPr sz="1600"/>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
        <p:nvSpPr>
          <p:cNvPr id="1050829" name="Date Placeholder 4"/>
          <p:cNvSpPr>
            <a:spLocks noGrp="1"/>
          </p:cNvSpPr>
          <p:nvPr>
            <p:ph type="dt" sz="half" idx="10"/>
          </p:nvPr>
        </p:nvSpPr>
        <p:spPr/>
        <p:txBody>
          <a:bodyPr/>
          <a:p>
            <a:fld id="{DDBD44A6-5C5E-4218-B9AF-B4F82FCD6BB3}" type="datetime1">
              <a:rPr lang="en-US" smtClean="0"/>
            </a:fld>
            <a:endParaRPr lang="en-US"/>
          </a:p>
        </p:txBody>
      </p:sp>
      <p:sp>
        <p:nvSpPr>
          <p:cNvPr id="1050830" name="Footer Placeholder 5"/>
          <p:cNvSpPr>
            <a:spLocks noGrp="1"/>
          </p:cNvSpPr>
          <p:nvPr>
            <p:ph type="ftr" sz="quarter" idx="11"/>
          </p:nvPr>
        </p:nvSpPr>
        <p:spPr>
          <a:xfrm>
            <a:off x="1143000" y="6172200"/>
            <a:ext cx="4857750" cy="457200"/>
          </a:xfrm>
        </p:spPr>
        <p:txBody>
          <a:bodyPr/>
          <a:p>
            <a:r>
              <a:rPr lang="en-US" smtClean="0"/>
              <a:t>@MUSOVYA2017</a:t>
            </a:r>
            <a:endParaRPr lang="en-US"/>
          </a:p>
        </p:txBody>
      </p:sp>
      <p:sp>
        <p:nvSpPr>
          <p:cNvPr id="1050831" name="Slide Number Placeholder 6"/>
          <p:cNvSpPr>
            <a:spLocks noGrp="1"/>
          </p:cNvSpPr>
          <p:nvPr>
            <p:ph type="sldNum" sz="quarter" idx="12"/>
          </p:nvPr>
        </p:nvSpPr>
        <p:spPr>
          <a:xfrm>
            <a:off x="182880" y="6208776"/>
            <a:ext cx="571500" cy="457200"/>
          </a:xfrm>
        </p:spPr>
        <p:txBody>
          <a:bodyPr/>
          <a:p>
            <a:fld id="{539D2A76-69E3-4600-8808-3C1A10934549}" type="slidenum">
              <a:rPr lang="en-US" smtClean="0"/>
            </a:fld>
            <a:endParaRPr lang="en-US"/>
          </a:p>
        </p:txBody>
      </p:sp>
      <p:sp>
        <p:nvSpPr>
          <p:cNvPr id="1050832" name="Rectangle 10"/>
          <p:cNvSpPr/>
          <p:nvPr/>
        </p:nvSpPr>
        <p:spPr>
          <a:xfrm flipV="1">
            <a:off x="85383" y="4683555"/>
            <a:ext cx="11258550" cy="91440"/>
          </a:xfrm>
          <a:prstGeom prst="rect"/>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833" name="Rectangle 11"/>
          <p:cNvSpPr/>
          <p:nvPr/>
        </p:nvSpPr>
        <p:spPr>
          <a:xfrm>
            <a:off x="85645" y="4650484"/>
            <a:ext cx="11258299" cy="45719"/>
          </a:xfrm>
          <a:prstGeom prst="rect"/>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834" name="Rectangle 12"/>
          <p:cNvSpPr/>
          <p:nvPr/>
        </p:nvSpPr>
        <p:spPr>
          <a:xfrm>
            <a:off x="85645" y="4773233"/>
            <a:ext cx="11258296" cy="48807"/>
          </a:xfrm>
          <a:prstGeom prst="rect"/>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50835" name="Picture Placeholder 2"/>
          <p:cNvSpPr>
            <a:spLocks noGrp="1"/>
          </p:cNvSpPr>
          <p:nvPr>
            <p:ph type="pic" idx="1"/>
          </p:nvPr>
        </p:nvSpPr>
        <p:spPr>
          <a:xfrm>
            <a:off x="85394" y="66683"/>
            <a:ext cx="11252342" cy="4581525"/>
          </a:xfrm>
          <a:prstGeom prst="round2SameRect">
            <a:avLst>
              <a:gd name="adj1" fmla="val 7101"/>
              <a:gd name="adj2" fmla="val 0"/>
            </a:avLst>
          </a:prstGeom>
          <a:solidFill>
            <a:schemeClr val="bg2"/>
          </a:solidFill>
          <a:ln w="6350">
            <a:solidFill>
              <a:schemeClr val="tx1"/>
            </a:solidFill>
          </a:ln>
        </p:spPr>
        <p:txBody>
          <a:bodyPr/>
          <a:lstStyle>
            <a:lvl1pPr indent="0" marL="0">
              <a:buNone/>
              <a:defRPr sz="3200"/>
            </a:lvl1pPr>
          </a:lstStyle>
          <a:p>
            <a:r>
              <a:rPr kumimoji="0" lang="en-US" smtClean="0"/>
              <a:t>Click icon to add picture</a:t>
            </a:r>
            <a:endParaRPr dirty="0" kumimoji="0" lang="en-US"/>
          </a:p>
        </p:txBody>
      </p:sp>
    </p:spTree>
  </p:cSld>
  <p:clrMapOvr>
    <a:masterClrMapping/>
  </p:clrMapOvr>
  <p:transition xmlns:p14="http://schemas.microsoft.com/office/powerpoint/2010/main">
    <p:fade thruBlk="1"/>
  </p:transition>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99" name=""/>
        <p:cNvGrpSpPr/>
        <p:nvPr/>
      </p:nvGrpSpPr>
      <p:grpSpPr>
        <a:xfrm>
          <a:off x="0" y="0"/>
          <a:ext cx="0" cy="0"/>
          <a:chOff x="0" y="0"/>
          <a:chExt cx="0" cy="0"/>
        </a:xfrm>
      </p:grpSpPr>
      <p:sp>
        <p:nvSpPr>
          <p:cNvPr id="1050839" name="Title 1"/>
          <p:cNvSpPr>
            <a:spLocks noGrp="1"/>
          </p:cNvSpPr>
          <p:nvPr>
            <p:ph type="title"/>
          </p:nvPr>
        </p:nvSpPr>
        <p:spPr/>
        <p:txBody>
          <a:bodyPr/>
          <a:p>
            <a:r>
              <a:rPr kumimoji="0" lang="en-US" smtClean="0"/>
              <a:t>Click to edit Master title style</a:t>
            </a:r>
            <a:endParaRPr kumimoji="0" lang="en-US"/>
          </a:p>
        </p:txBody>
      </p:sp>
      <p:sp>
        <p:nvSpPr>
          <p:cNvPr id="1050840"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841" name="Date Placeholder 3"/>
          <p:cNvSpPr>
            <a:spLocks noGrp="1"/>
          </p:cNvSpPr>
          <p:nvPr>
            <p:ph type="dt" sz="half" idx="10"/>
          </p:nvPr>
        </p:nvSpPr>
        <p:spPr/>
        <p:txBody>
          <a:bodyPr/>
          <a:p>
            <a:fld id="{A307910D-207A-438A-986C-CCFAF238F743}" type="datetime1">
              <a:rPr lang="en-US" smtClean="0"/>
            </a:fld>
            <a:endParaRPr lang="en-US"/>
          </a:p>
        </p:txBody>
      </p:sp>
      <p:sp>
        <p:nvSpPr>
          <p:cNvPr id="1050842" name="Footer Placeholder 4"/>
          <p:cNvSpPr>
            <a:spLocks noGrp="1"/>
          </p:cNvSpPr>
          <p:nvPr>
            <p:ph type="ftr" sz="quarter" idx="11"/>
          </p:nvPr>
        </p:nvSpPr>
        <p:spPr/>
        <p:txBody>
          <a:bodyPr/>
          <a:p>
            <a:r>
              <a:rPr lang="en-US" smtClean="0"/>
              <a:t>@MUSOVYA2017</a:t>
            </a:r>
            <a:endParaRPr lang="en-US"/>
          </a:p>
        </p:txBody>
      </p:sp>
      <p:sp>
        <p:nvSpPr>
          <p:cNvPr id="1050843"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493" name=""/>
        <p:cNvGrpSpPr/>
        <p:nvPr/>
      </p:nvGrpSpPr>
      <p:grpSpPr>
        <a:xfrm>
          <a:off x="0" y="0"/>
          <a:ext cx="0" cy="0"/>
          <a:chOff x="0" y="0"/>
          <a:chExt cx="0" cy="0"/>
        </a:xfrm>
      </p:grpSpPr>
      <p:sp>
        <p:nvSpPr>
          <p:cNvPr id="1050796" name="Vertical Title 1"/>
          <p:cNvSpPr>
            <a:spLocks noGrp="1"/>
          </p:cNvSpPr>
          <p:nvPr>
            <p:ph type="title" orient="vert"/>
          </p:nvPr>
        </p:nvSpPr>
        <p:spPr>
          <a:xfrm>
            <a:off x="8286750" y="274650"/>
            <a:ext cx="2514600" cy="5851525"/>
          </a:xfrm>
        </p:spPr>
        <p:txBody>
          <a:bodyPr vert="eaVert"/>
          <a:p>
            <a:r>
              <a:rPr kumimoji="0" lang="en-US" smtClean="0"/>
              <a:t>Click to edit Master title style</a:t>
            </a:r>
            <a:endParaRPr kumimoji="0" lang="en-US"/>
          </a:p>
        </p:txBody>
      </p:sp>
      <p:sp>
        <p:nvSpPr>
          <p:cNvPr id="1050797" name="Vertical Text Placeholder 2"/>
          <p:cNvSpPr>
            <a:spLocks noGrp="1"/>
          </p:cNvSpPr>
          <p:nvPr>
            <p:ph type="body" orient="vert" idx="1"/>
          </p:nvPr>
        </p:nvSpPr>
        <p:spPr>
          <a:xfrm>
            <a:off x="1143000" y="274649"/>
            <a:ext cx="695325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50798" name="Date Placeholder 3"/>
          <p:cNvSpPr>
            <a:spLocks noGrp="1"/>
          </p:cNvSpPr>
          <p:nvPr>
            <p:ph type="dt" sz="half" idx="10"/>
          </p:nvPr>
        </p:nvSpPr>
        <p:spPr/>
        <p:txBody>
          <a:bodyPr/>
          <a:p>
            <a:fld id="{6AE9BA99-810D-4C29-ACD4-51402608CA96}" type="datetime1">
              <a:rPr lang="en-US" smtClean="0"/>
            </a:fld>
            <a:endParaRPr lang="en-US"/>
          </a:p>
        </p:txBody>
      </p:sp>
      <p:sp>
        <p:nvSpPr>
          <p:cNvPr id="1050799" name="Footer Placeholder 4"/>
          <p:cNvSpPr>
            <a:spLocks noGrp="1"/>
          </p:cNvSpPr>
          <p:nvPr>
            <p:ph type="ftr" sz="quarter" idx="11"/>
          </p:nvPr>
        </p:nvSpPr>
        <p:spPr/>
        <p:txBody>
          <a:bodyPr/>
          <a:p>
            <a:r>
              <a:rPr lang="en-US" smtClean="0"/>
              <a:t>@MUSOVYA2017</a:t>
            </a:r>
            <a:endParaRPr lang="en-US"/>
          </a:p>
        </p:txBody>
      </p:sp>
      <p:sp>
        <p:nvSpPr>
          <p:cNvPr id="1050800" name="Slide Number Placeholder 5"/>
          <p:cNvSpPr>
            <a:spLocks noGrp="1"/>
          </p:cNvSpPr>
          <p:nvPr>
            <p:ph type="sldNum" sz="quarter" idx="12"/>
          </p:nvPr>
        </p:nvSpPr>
        <p:spPr/>
        <p:txBody>
          <a:bodyPr/>
          <a:p>
            <a:fld id="{539D2A76-69E3-4600-8808-3C1A10934549}" type="slidenum">
              <a:rPr lang="en-US" smtClean="0"/>
            </a:fld>
            <a:endParaRPr lang="en-US"/>
          </a:p>
        </p:txBody>
      </p:sp>
    </p:spTree>
  </p:cSld>
  <p:clrMapOvr>
    <a:masterClrMapping/>
  </p:clrMapOvr>
  <p:transition xmlns:p14="http://schemas.microsoft.com/office/powerpoint/2010/main">
    <p:fade thruBlk="1"/>
  </p:transition>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image" Target="../media/image4.jpeg"/><Relationship Id="rId13"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image" Target="../media/image7.jpeg"/><Relationship Id="rId13" Type="http://schemas.openxmlformats.org/officeDocument/2006/relationships/image" Target="../media/image6.jpeg"/><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 Id="rId11" Type="http://schemas.openxmlformats.org/officeDocument/2006/relationships/slideLayout" Target="../slideLayouts/slideLayout66.xml"/><Relationship Id="rId12" Type="http://schemas.openxmlformats.org/officeDocument/2006/relationships/slideLayout" Target="../slideLayouts/slideLayout67.xml"/><Relationship Id="rId13" Type="http://schemas.openxmlformats.org/officeDocument/2006/relationships/slideLayout" Target="../slideLayouts/slideLayout68.xml"/><Relationship Id="rId14" Type="http://schemas.openxmlformats.org/officeDocument/2006/relationships/slideLayout" Target="../slideLayouts/slideLayout69.xml"/><Relationship Id="rId15" Type="http://schemas.openxmlformats.org/officeDocument/2006/relationships/image" Target="../media/image8.jpeg"/><Relationship Id="rId16" Type="http://schemas.openxmlformats.org/officeDocument/2006/relationships/image" Target="../media/image12.png"/><Relationship Id="rId17"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slideLayout" Target="../slideLayouts/slideLayout79.xml"/><Relationship Id="rId11" Type="http://schemas.openxmlformats.org/officeDocument/2006/relationships/slideLayout" Target="../slideLayouts/slideLayout80.xml"/><Relationship Id="rId1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slideLayout" Target="../slideLayouts/slideLayout82.xml"/><Relationship Id="rId3" Type="http://schemas.openxmlformats.org/officeDocument/2006/relationships/slideLayout" Target="../slideLayouts/slideLayout83.xml"/><Relationship Id="rId4" Type="http://schemas.openxmlformats.org/officeDocument/2006/relationships/slideLayout" Target="../slideLayouts/slideLayout84.xml"/><Relationship Id="rId5" Type="http://schemas.openxmlformats.org/officeDocument/2006/relationships/slideLayout" Target="../slideLayouts/slideLayout85.xml"/><Relationship Id="rId6" Type="http://schemas.openxmlformats.org/officeDocument/2006/relationships/slideLayout" Target="../slideLayouts/slideLayout86.xml"/><Relationship Id="rId7" Type="http://schemas.openxmlformats.org/officeDocument/2006/relationships/slideLayout" Target="../slideLayouts/slideLayout87.xml"/><Relationship Id="rId8" Type="http://schemas.openxmlformats.org/officeDocument/2006/relationships/slideLayout" Target="../slideLayouts/slideLayout88.xml"/><Relationship Id="rId9" Type="http://schemas.openxmlformats.org/officeDocument/2006/relationships/slideLayout" Target="../slideLayouts/slideLayout89.xml"/><Relationship Id="rId10" Type="http://schemas.openxmlformats.org/officeDocument/2006/relationships/slideLayout" Target="../slideLayouts/slideLayout90.xml"/><Relationship Id="rId11" Type="http://schemas.openxmlformats.org/officeDocument/2006/relationships/slideLayout" Target="../slideLayouts/slideLayout91.xml"/><Relationship Id="rId12"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slideLayout" Target="../slideLayouts/slideLayout93.xml"/><Relationship Id="rId3" Type="http://schemas.openxmlformats.org/officeDocument/2006/relationships/slideLayout" Target="../slideLayouts/slideLayout94.xml"/><Relationship Id="rId4" Type="http://schemas.openxmlformats.org/officeDocument/2006/relationships/slideLayout" Target="../slideLayouts/slideLayout95.xml"/><Relationship Id="rId5" Type="http://schemas.openxmlformats.org/officeDocument/2006/relationships/slideLayout" Target="../slideLayouts/slideLayout96.xml"/><Relationship Id="rId6" Type="http://schemas.openxmlformats.org/officeDocument/2006/relationships/slideLayout" Target="../slideLayouts/slideLayout97.xml"/><Relationship Id="rId7" Type="http://schemas.openxmlformats.org/officeDocument/2006/relationships/slideLayout" Target="../slideLayouts/slideLayout98.xml"/><Relationship Id="rId8" Type="http://schemas.openxmlformats.org/officeDocument/2006/relationships/slideLayout" Target="../slideLayouts/slideLayout99.xml"/><Relationship Id="rId9" Type="http://schemas.openxmlformats.org/officeDocument/2006/relationships/slideLayout" Target="../slideLayouts/slideLayout100.xml"/><Relationship Id="rId10" Type="http://schemas.openxmlformats.org/officeDocument/2006/relationships/slideLayout" Target="../slideLayouts/slideLayout101.xml"/><Relationship Id="rId11" Type="http://schemas.openxmlformats.org/officeDocument/2006/relationships/slideLayout" Target="../slideLayouts/slideLayout102.xml"/><Relationship Id="rId12" Type="http://schemas.openxmlformats.org/officeDocument/2006/relationships/image" Target="../media/image15.jpeg"/><Relationship Id="rId13"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slideLayout" Target="../slideLayouts/slideLayout104.xml"/><Relationship Id="rId3" Type="http://schemas.openxmlformats.org/officeDocument/2006/relationships/slideLayout" Target="../slideLayouts/slideLayout105.xml"/><Relationship Id="rId4" Type="http://schemas.openxmlformats.org/officeDocument/2006/relationships/slideLayout" Target="../slideLayouts/slideLayout106.xml"/><Relationship Id="rId5" Type="http://schemas.openxmlformats.org/officeDocument/2006/relationships/slideLayout" Target="../slideLayouts/slideLayout107.xml"/><Relationship Id="rId6" Type="http://schemas.openxmlformats.org/officeDocument/2006/relationships/slideLayout" Target="../slideLayouts/slideLayout108.xml"/><Relationship Id="rId7" Type="http://schemas.openxmlformats.org/officeDocument/2006/relationships/slideLayout" Target="../slideLayouts/slideLayout109.xml"/><Relationship Id="rId8" Type="http://schemas.openxmlformats.org/officeDocument/2006/relationships/slideLayout" Target="../slideLayouts/slideLayout110.xml"/><Relationship Id="rId9" Type="http://schemas.openxmlformats.org/officeDocument/2006/relationships/slideLayout" Target="../slideLayouts/slideLayout111.xml"/><Relationship Id="rId10" Type="http://schemas.openxmlformats.org/officeDocument/2006/relationships/slideLayout" Target="../slideLayouts/slideLayout112.xml"/><Relationship Id="rId11" Type="http://schemas.openxmlformats.org/officeDocument/2006/relationships/slideLayout" Target="../slideLayouts/slideLayout113.xml"/><Relationship Id="rId12" Type="http://schemas.openxmlformats.org/officeDocument/2006/relationships/slideLayout" Target="../slideLayouts/slideLayout114.xml"/><Relationship Id="rId13" Type="http://schemas.openxmlformats.org/officeDocument/2006/relationships/slideLayout" Target="../slideLayouts/slideLayout115.xml"/><Relationship Id="rId1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slideLayout" Target="../slideLayouts/slideLayout117.xml"/><Relationship Id="rId3" Type="http://schemas.openxmlformats.org/officeDocument/2006/relationships/slideLayout" Target="../slideLayouts/slideLayout118.xml"/><Relationship Id="rId4" Type="http://schemas.openxmlformats.org/officeDocument/2006/relationships/slideLayout" Target="../slideLayouts/slideLayout119.xml"/><Relationship Id="rId5" Type="http://schemas.openxmlformats.org/officeDocument/2006/relationships/slideLayout" Target="../slideLayouts/slideLayout120.xml"/><Relationship Id="rId6" Type="http://schemas.openxmlformats.org/officeDocument/2006/relationships/slideLayout" Target="../slideLayouts/slideLayout121.xml"/><Relationship Id="rId7" Type="http://schemas.openxmlformats.org/officeDocument/2006/relationships/slideLayout" Target="../slideLayouts/slideLayout122.xml"/><Relationship Id="rId8" Type="http://schemas.openxmlformats.org/officeDocument/2006/relationships/slideLayout" Target="../slideLayouts/slideLayout123.xml"/><Relationship Id="rId9" Type="http://schemas.openxmlformats.org/officeDocument/2006/relationships/slideLayout" Target="../slideLayouts/slideLayout124.xml"/><Relationship Id="rId10" Type="http://schemas.openxmlformats.org/officeDocument/2006/relationships/slideLayout" Target="../slideLayouts/slideLayout125.xml"/><Relationship Id="rId11" Type="http://schemas.openxmlformats.org/officeDocument/2006/relationships/slideLayout" Target="../slideLayouts/slideLayout126.xml"/><Relationship Id="rId12"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630" name=""/>
        <p:cNvGrpSpPr/>
        <p:nvPr/>
      </p:nvGrpSpPr>
      <p:grpSpPr>
        <a:xfrm>
          <a:off x="0" y="0"/>
          <a:ext cx="0" cy="0"/>
          <a:chOff x="0" y="0"/>
          <a:chExt cx="0" cy="0"/>
        </a:xfrm>
      </p:grpSpPr>
      <p:sp>
        <p:nvSpPr>
          <p:cNvPr id="1048607" name="Rectangle 8"/>
          <p:cNvSpPr/>
          <p:nvPr/>
        </p:nvSpPr>
        <p:spPr>
          <a:xfrm>
            <a:off x="0" y="0"/>
            <a:ext cx="11430000" cy="6858000"/>
          </a:xfrm>
          <a:prstGeom prst="rect"/>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useBgFill="1">
        <p:nvSpPr>
          <p:cNvPr id="1048608" name="Rounded Rectangle 7"/>
          <p:cNvSpPr/>
          <p:nvPr/>
        </p:nvSpPr>
        <p:spPr>
          <a:xfrm>
            <a:off x="80014" y="69755"/>
            <a:ext cx="11266716"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p>
            <a:pPr algn="ctr" eaLnBrk="1" hangingPunct="1" latinLnBrk="0"/>
            <a:endParaRPr kumimoji="0" lang="en-US"/>
          </a:p>
        </p:txBody>
      </p:sp>
      <p:sp>
        <p:nvSpPr>
          <p:cNvPr id="1048609" name="Title Placeholder 21"/>
          <p:cNvSpPr>
            <a:spLocks noGrp="1"/>
          </p:cNvSpPr>
          <p:nvPr>
            <p:ph type="title"/>
          </p:nvPr>
        </p:nvSpPr>
        <p:spPr>
          <a:xfrm>
            <a:off x="1143000" y="274639"/>
            <a:ext cx="9715500" cy="1143000"/>
          </a:xfrm>
          <a:prstGeom prst="rect"/>
        </p:spPr>
        <p:txBody>
          <a:bodyPr anchor="b" anchorCtr="0" bIns="91440">
            <a:normAutofit/>
          </a:bodyPr>
          <a:p>
            <a:r>
              <a:rPr kumimoji="0" lang="en-US" smtClean="0"/>
              <a:t>Click to edit Master title style</a:t>
            </a:r>
            <a:endParaRPr kumimoji="0" lang="en-US"/>
          </a:p>
        </p:txBody>
      </p:sp>
      <p:sp>
        <p:nvSpPr>
          <p:cNvPr id="1048610" name="Text Placeholder 12"/>
          <p:cNvSpPr>
            <a:spLocks noGrp="1"/>
          </p:cNvSpPr>
          <p:nvPr>
            <p:ph type="body" idx="1"/>
          </p:nvPr>
        </p:nvSpPr>
        <p:spPr>
          <a:xfrm>
            <a:off x="1143000" y="1447800"/>
            <a:ext cx="9715500" cy="4572000"/>
          </a:xfrm>
          <a:prstGeom prst="rect"/>
        </p:spPr>
        <p:txBody>
          <a:bodyPr>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611" name="Date Placeholder 13"/>
          <p:cNvSpPr>
            <a:spLocks noGrp="1"/>
          </p:cNvSpPr>
          <p:nvPr>
            <p:ph type="dt" sz="half" idx="2"/>
          </p:nvPr>
        </p:nvSpPr>
        <p:spPr>
          <a:xfrm>
            <a:off x="7715255" y="6191256"/>
            <a:ext cx="3095625" cy="476251"/>
          </a:xfrm>
          <a:prstGeom prst="rect"/>
        </p:spPr>
        <p:txBody>
          <a:bodyPr anchor="ctr" anchorCtr="0"/>
          <a:lstStyle>
            <a:lvl1pPr algn="r" eaLnBrk="1" hangingPunct="1" latinLnBrk="0">
              <a:defRPr sz="1400" kumimoji="0">
                <a:solidFill>
                  <a:schemeClr val="tx2"/>
                </a:solidFill>
              </a:defRPr>
            </a:lvl1pPr>
          </a:lstStyle>
          <a:p>
            <a:fld id="{0A091E6C-3637-4783-99EB-72C060BA83D9}" type="datetime1">
              <a:rPr lang="en-US" smtClean="0"/>
            </a:fld>
            <a:endParaRPr lang="en-US"/>
          </a:p>
        </p:txBody>
      </p:sp>
      <p:sp>
        <p:nvSpPr>
          <p:cNvPr id="1048612" name="Footer Placeholder 2"/>
          <p:cNvSpPr>
            <a:spLocks noGrp="1"/>
          </p:cNvSpPr>
          <p:nvPr>
            <p:ph type="ftr" sz="quarter" idx="3"/>
          </p:nvPr>
        </p:nvSpPr>
        <p:spPr>
          <a:xfrm>
            <a:off x="1143001" y="6172200"/>
            <a:ext cx="4953000" cy="457200"/>
          </a:xfrm>
          <a:prstGeom prst="rect"/>
        </p:spPr>
        <p:txBody>
          <a:bodyPr anchor="ctr" anchorCtr="0"/>
          <a:lstStyle>
            <a:lvl1pPr eaLnBrk="1" hangingPunct="1" latinLnBrk="0">
              <a:defRPr sz="1400" kumimoji="0">
                <a:solidFill>
                  <a:schemeClr val="tx2"/>
                </a:solidFill>
              </a:defRPr>
            </a:lvl1pPr>
          </a:lstStyle>
          <a:p>
            <a:r>
              <a:rPr lang="en-US" smtClean="0"/>
              <a:t>@MUSOVYA2017</a:t>
            </a:r>
            <a:endParaRPr lang="en-US"/>
          </a:p>
        </p:txBody>
      </p:sp>
      <p:sp>
        <p:nvSpPr>
          <p:cNvPr id="1048613" name="Slide Number Placeholder 22"/>
          <p:cNvSpPr>
            <a:spLocks noGrp="1"/>
          </p:cNvSpPr>
          <p:nvPr>
            <p:ph type="sldNum" sz="quarter" idx="4"/>
          </p:nvPr>
        </p:nvSpPr>
        <p:spPr>
          <a:xfrm>
            <a:off x="182880" y="6210300"/>
            <a:ext cx="571500" cy="457200"/>
          </a:xfrm>
          <a:prstGeom prst="ellipse"/>
          <a:solidFill>
            <a:schemeClr val="accent1"/>
          </a:solidFill>
        </p:spPr>
        <p:txBody>
          <a:bodyPr anchor="ctr" anchorCtr="1" bIns="0" lIns="0" rIns="0" tIns="0" wrap="none">
            <a:noAutofit/>
          </a:bodyPr>
          <a:lstStyle>
            <a:lvl1pPr algn="ctr" eaLnBrk="1" hangingPunct="1" latinLnBrk="0">
              <a:defRPr sz="1400" kumimoji="0">
                <a:solidFill>
                  <a:srgbClr val="FFFFFF"/>
                </a:solidFill>
                <a:latin typeface="+mj-lt"/>
                <a:ea typeface="+mj-ea"/>
                <a:cs typeface="+mj-cs"/>
              </a:defRPr>
            </a:lvl1pPr>
          </a:lstStyle>
          <a:p>
            <a:fld id="{539D2A76-69E3-4600-8808-3C1A10934549}"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Lst>
  <p:transition xmlns:p14="http://schemas.microsoft.com/office/powerpoint/2010/main" spd="slow">
    <p:strips dir="ru"/>
  </p:transition>
  <p:hf dt="0" hdr="0" sldNum="0"/>
  <p:txStyles>
    <p:titleStyle>
      <a:lvl1pPr algn="l" eaLnBrk="1" hangingPunct="1" latinLnBrk="0" rtl="0">
        <a:spcBef>
          <a:spcPct val="0"/>
        </a:spcBef>
        <a:buNone/>
        <a:defRPr sz="4000" kern="1200" kumimoji="0">
          <a:solidFill>
            <a:schemeClr val="tx2"/>
          </a:solidFill>
          <a:latin typeface="+mj-lt"/>
          <a:ea typeface="+mj-ea"/>
          <a:cs typeface="+mj-cs"/>
        </a:defRPr>
      </a:lvl1pPr>
    </p:titleStyle>
    <p:bodyStyle>
      <a:lvl1pPr algn="l" eaLnBrk="1" hangingPunct="1" indent="-274320" latinLnBrk="0" marL="274320" rtl="0">
        <a:spcBef>
          <a:spcPts val="580"/>
        </a:spcBef>
        <a:buClr>
          <a:schemeClr val="accent1"/>
        </a:buClr>
        <a:buSzPct val="85000"/>
        <a:buFont typeface="Wingdings 2"/>
        <a:buChar char=""/>
        <a:defRPr sz="2600" kern="1200" kumimoji="0">
          <a:solidFill>
            <a:schemeClr val="tx1"/>
          </a:solidFill>
          <a:latin typeface="+mn-lt"/>
          <a:ea typeface="+mn-ea"/>
          <a:cs typeface="+mn-cs"/>
        </a:defRPr>
      </a:lvl1pPr>
      <a:lvl2pPr algn="l" eaLnBrk="1" hangingPunct="1" indent="-228600" latinLnBrk="0" marL="548640" rtl="0">
        <a:spcBef>
          <a:spcPts val="370"/>
        </a:spcBef>
        <a:buClr>
          <a:schemeClr val="accent2"/>
        </a:buClr>
        <a:buSzPct val="85000"/>
        <a:buFont typeface="Wingdings 2"/>
        <a:buChar char=""/>
        <a:defRPr sz="2400" kern="1200" kumimoji="0">
          <a:solidFill>
            <a:schemeClr val="tx1"/>
          </a:solidFill>
          <a:latin typeface="+mn-lt"/>
          <a:ea typeface="+mn-ea"/>
          <a:cs typeface="+mn-cs"/>
        </a:defRPr>
      </a:lvl2pPr>
      <a:lvl3pPr algn="l" eaLnBrk="1" hangingPunct="1" indent="-228600" latinLnBrk="0" marL="822960" rtl="0">
        <a:spcBef>
          <a:spcPts val="370"/>
        </a:spcBef>
        <a:buClr>
          <a:schemeClr val="accent1">
            <a:tint val="60000"/>
          </a:schemeClr>
        </a:buClr>
        <a:buSzPct val="85000"/>
        <a:buFont typeface="Wingdings 2"/>
        <a:buChar char=""/>
        <a:defRPr sz="2000" kern="1200" kumimoji="0">
          <a:solidFill>
            <a:schemeClr val="tx1"/>
          </a:solidFill>
          <a:latin typeface="+mn-lt"/>
          <a:ea typeface="+mn-ea"/>
          <a:cs typeface="+mn-cs"/>
        </a:defRPr>
      </a:lvl3pPr>
      <a:lvl4pPr algn="l" eaLnBrk="1" hangingPunct="1" indent="-228600" latinLnBrk="0" marL="1097280" rtl="0">
        <a:spcBef>
          <a:spcPts val="370"/>
        </a:spcBef>
        <a:buClr>
          <a:schemeClr val="accent3"/>
        </a:buClr>
        <a:buSzPct val="80000"/>
        <a:buFont typeface="Wingdings 2"/>
        <a:buChar char=""/>
        <a:defRPr sz="2000" kern="1200" kumimoji="0">
          <a:solidFill>
            <a:schemeClr val="tx1"/>
          </a:solidFill>
          <a:latin typeface="+mn-lt"/>
          <a:ea typeface="+mn-ea"/>
          <a:cs typeface="+mn-cs"/>
        </a:defRPr>
      </a:lvl4pPr>
      <a:lvl5pPr algn="l" eaLnBrk="1" hangingPunct="1" indent="-228600" latinLnBrk="0" marL="1371600" rtl="0">
        <a:spcBef>
          <a:spcPts val="370"/>
        </a:spcBef>
        <a:buClr>
          <a:schemeClr val="accent3"/>
        </a:buClr>
        <a:buFontTx/>
        <a:buChar char="o"/>
        <a:defRPr sz="2000" kern="1200" kumimoji="0">
          <a:solidFill>
            <a:schemeClr val="tx1"/>
          </a:solidFill>
          <a:latin typeface="+mn-lt"/>
          <a:ea typeface="+mn-ea"/>
          <a:cs typeface="+mn-cs"/>
        </a:defRPr>
      </a:lvl5pPr>
      <a:lvl6pPr algn="l" eaLnBrk="1" hangingPunct="1" indent="-228600" latinLnBrk="0" marL="1645920" rtl="0">
        <a:spcBef>
          <a:spcPts val="370"/>
        </a:spcBef>
        <a:buClr>
          <a:schemeClr val="accent3"/>
        </a:buClr>
        <a:buChar char="•"/>
        <a:defRPr baseline="0" sz="1800" kern="1200" kumimoji="0">
          <a:solidFill>
            <a:schemeClr val="tx1"/>
          </a:solidFill>
          <a:latin typeface="+mn-lt"/>
          <a:ea typeface="+mn-ea"/>
          <a:cs typeface="+mn-cs"/>
        </a:defRPr>
      </a:lvl6pPr>
      <a:lvl7pPr algn="l" eaLnBrk="1" hangingPunct="1" indent="-228600" latinLnBrk="0" marL="1920240" rtl="0">
        <a:spcBef>
          <a:spcPts val="370"/>
        </a:spcBef>
        <a:buClr>
          <a:schemeClr val="accent2"/>
        </a:buClr>
        <a:buChar char="•"/>
        <a:defRPr sz="1800" kern="1200" kumimoji="0">
          <a:solidFill>
            <a:schemeClr val="tx1"/>
          </a:solidFill>
          <a:latin typeface="+mn-lt"/>
          <a:ea typeface="+mn-ea"/>
          <a:cs typeface="+mn-cs"/>
        </a:defRPr>
      </a:lvl7pPr>
      <a:lvl8pPr algn="l" eaLnBrk="1" hangingPunct="1" indent="-228600" latinLnBrk="0" marL="2194560" rtl="0">
        <a:spcBef>
          <a:spcPts val="370"/>
        </a:spcBef>
        <a:buClr>
          <a:schemeClr val="accent1">
            <a:tint val="60000"/>
          </a:schemeClr>
        </a:buClr>
        <a:buChar char="•"/>
        <a:defRPr sz="1800" kern="1200" kumimoji="0">
          <a:solidFill>
            <a:schemeClr val="tx1"/>
          </a:solidFill>
          <a:latin typeface="+mn-lt"/>
          <a:ea typeface="+mn-ea"/>
          <a:cs typeface="+mn-cs"/>
        </a:defRPr>
      </a:lvl8pPr>
      <a:lvl9pPr algn="l" eaLnBrk="1" hangingPunct="1" indent="-228600" latinLnBrk="0" marL="2468880" rtl="0">
        <a:spcBef>
          <a:spcPts val="370"/>
        </a:spcBef>
        <a:buClr>
          <a:schemeClr val="accent2">
            <a:tint val="60000"/>
          </a:schemeClr>
        </a:buClr>
        <a:buChar char="•"/>
        <a:defRPr sz="18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2060"/>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scaled="0"/>
        </a:gradFill>
      </p:bgPr>
    </p:bg>
    <p:spTree>
      <p:nvGrpSpPr>
        <p:cNvPr id="610" name=""/>
        <p:cNvGrpSpPr/>
        <p:nvPr/>
      </p:nvGrpSpPr>
      <p:grpSpPr>
        <a:xfrm>
          <a:off x="0" y="0"/>
          <a:ext cx="0" cy="0"/>
          <a:chOff x="0" y="0"/>
          <a:chExt cx="0" cy="0"/>
        </a:xfrm>
      </p:grpSpPr>
      <p:sp>
        <p:nvSpPr>
          <p:cNvPr id="1048576" name="Pie 6"/>
          <p:cNvSpPr/>
          <p:nvPr/>
        </p:nvSpPr>
        <p:spPr>
          <a:xfrm>
            <a:off x="-1019903" y="-815920"/>
            <a:ext cx="2048608"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77" name="Oval 7"/>
          <p:cNvSpPr/>
          <p:nvPr/>
        </p:nvSpPr>
        <p:spPr>
          <a:xfrm>
            <a:off x="211030" y="21106"/>
            <a:ext cx="2127739" cy="1702191"/>
          </a:xfrm>
          <a:prstGeom prst="ellipse"/>
          <a:noFill/>
          <a:ln w="27305" cap="rnd" cmpd="sng" algn="ctr">
            <a:solidFill>
              <a:schemeClr val="bg2">
                <a:tint val="45000"/>
                <a:satMod val="325000"/>
                <a:alpha val="100000"/>
              </a:schemeClr>
            </a:solidFill>
            <a:prstDash val="solid"/>
          </a:ln>
          <a:effectLst>
            <a:outerShdw algn="tl" blurRad="25400" dir="5400000" dist="25400"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78" name="Donut 10"/>
          <p:cNvSpPr/>
          <p:nvPr/>
        </p:nvSpPr>
        <p:spPr>
          <a:xfrm rot="2315675">
            <a:off x="228608" y="1055079"/>
            <a:ext cx="140714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algn="tl" blurRad="12700" dir="4500000" dist="15000"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79" name="Rectangle 11"/>
          <p:cNvSpPr/>
          <p:nvPr/>
        </p:nvSpPr>
        <p:spPr>
          <a:xfrm>
            <a:off x="1266102" y="-53"/>
            <a:ext cx="10163908" cy="6858055"/>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80" name="Title Placeholder 4"/>
          <p:cNvSpPr>
            <a:spLocks noGrp="1"/>
          </p:cNvSpPr>
          <p:nvPr>
            <p:ph type="title"/>
          </p:nvPr>
        </p:nvSpPr>
        <p:spPr>
          <a:xfrm>
            <a:off x="1794509" y="274639"/>
            <a:ext cx="9372600" cy="1143000"/>
          </a:xfrm>
          <a:prstGeom prst="rect"/>
        </p:spPr>
        <p:txBody>
          <a:bodyPr anchor="ctr">
            <a:normAutofit/>
          </a:bodyPr>
          <a:p>
            <a:r>
              <a:rPr kumimoji="0" lang="en-US" smtClean="0"/>
              <a:t>Click to edit Master title style</a:t>
            </a:r>
            <a:endParaRPr kumimoji="0" lang="en-US"/>
          </a:p>
        </p:txBody>
      </p:sp>
      <p:sp>
        <p:nvSpPr>
          <p:cNvPr id="1048581" name="Text Placeholder 8"/>
          <p:cNvSpPr>
            <a:spLocks noGrp="1"/>
          </p:cNvSpPr>
          <p:nvPr>
            <p:ph type="body" idx="1"/>
          </p:nvPr>
        </p:nvSpPr>
        <p:spPr>
          <a:xfrm>
            <a:off x="1794509" y="1447800"/>
            <a:ext cx="9372600" cy="4800600"/>
          </a:xfrm>
          <a:prstGeom prst="rect"/>
        </p:spPr>
        <p:txBody>
          <a:bodyPr>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582" name="Date Placeholder 23"/>
          <p:cNvSpPr>
            <a:spLocks noGrp="1"/>
          </p:cNvSpPr>
          <p:nvPr>
            <p:ph type="dt" sz="half" idx="2"/>
          </p:nvPr>
        </p:nvSpPr>
        <p:spPr>
          <a:xfrm>
            <a:off x="4476750" y="6305556"/>
            <a:ext cx="2667000" cy="476251"/>
          </a:xfrm>
          <a:prstGeom prst="rect"/>
        </p:spPr>
        <p:txBody>
          <a:bodyPr anchor="b"/>
          <a:lstStyle>
            <a:lvl1pPr algn="r" eaLnBrk="1" hangingPunct="1" latinLnBrk="0">
              <a:defRPr sz="1200" kumimoji="0">
                <a:solidFill>
                  <a:schemeClr val="bg2">
                    <a:shade val="50000"/>
                    <a:satMod val="200000"/>
                  </a:schemeClr>
                </a:solidFill>
              </a:defRPr>
            </a:lvl1pPr>
          </a:lstStyle>
          <a:p>
            <a:fld id="{854642C7-5C04-4A25-9879-C00B2ADD4267}" type="datetime1">
              <a:rPr lang="en-US" smtClean="0"/>
            </a:fld>
            <a:endParaRPr lang="en-US"/>
          </a:p>
        </p:txBody>
      </p:sp>
      <p:sp>
        <p:nvSpPr>
          <p:cNvPr id="1048583" name="Footer Placeholder 9"/>
          <p:cNvSpPr>
            <a:spLocks noGrp="1"/>
          </p:cNvSpPr>
          <p:nvPr>
            <p:ph type="ftr" sz="quarter" idx="3"/>
          </p:nvPr>
        </p:nvSpPr>
        <p:spPr>
          <a:xfrm>
            <a:off x="7143751" y="6305556"/>
            <a:ext cx="3619500" cy="476251"/>
          </a:xfrm>
          <a:prstGeom prst="rect"/>
        </p:spPr>
        <p:txBody>
          <a:bodyPr anchor="b"/>
          <a:lstStyle>
            <a:lvl1pPr eaLnBrk="1" hangingPunct="1" latinLnBrk="0">
              <a:defRPr sz="1200" kumimoji="0">
                <a:solidFill>
                  <a:schemeClr val="bg2">
                    <a:shade val="50000"/>
                    <a:satMod val="200000"/>
                  </a:schemeClr>
                </a:solidFill>
                <a:effectLst/>
              </a:defRPr>
            </a:lvl1pPr>
          </a:lstStyle>
          <a:p>
            <a:r>
              <a:rPr lang="en-US" smtClean="0"/>
              <a:t>@MUSOVYA2017</a:t>
            </a:r>
            <a:endParaRPr lang="en-US"/>
          </a:p>
        </p:txBody>
      </p:sp>
      <p:sp>
        <p:nvSpPr>
          <p:cNvPr id="1048584" name="Slide Number Placeholder 21"/>
          <p:cNvSpPr>
            <a:spLocks noGrp="1"/>
          </p:cNvSpPr>
          <p:nvPr>
            <p:ph type="sldNum" sz="quarter" idx="4"/>
          </p:nvPr>
        </p:nvSpPr>
        <p:spPr>
          <a:xfrm>
            <a:off x="10767059" y="6305556"/>
            <a:ext cx="571500" cy="476251"/>
          </a:xfrm>
          <a:prstGeom prst="rect"/>
        </p:spPr>
        <p:txBody>
          <a:bodyPr anchor="b"/>
          <a:lstStyle>
            <a:lvl1pPr algn="ctr" eaLnBrk="1" hangingPunct="1" latinLnBrk="0">
              <a:defRPr sz="1200" kumimoji="0">
                <a:solidFill>
                  <a:schemeClr val="bg2">
                    <a:shade val="50000"/>
                    <a:satMod val="200000"/>
                  </a:schemeClr>
                </a:solidFill>
                <a:effectLst/>
              </a:defRPr>
            </a:lvl1pPr>
          </a:lstStyle>
          <a:p>
            <a:fld id="{539D2A76-69E3-4600-8808-3C1A10934549}" type="slidenum">
              <a:rPr lang="en-US" smtClean="0"/>
            </a:fld>
            <a:endParaRPr lang="en-US"/>
          </a:p>
        </p:txBody>
      </p:sp>
      <p:sp>
        <p:nvSpPr>
          <p:cNvPr id="1048585" name="Rectangle 14"/>
          <p:cNvSpPr/>
          <p:nvPr/>
        </p:nvSpPr>
        <p:spPr bwMode="invGray">
          <a:xfrm>
            <a:off x="1268730" y="-53"/>
            <a:ext cx="91441"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 accent1="accent1" accent2="accent2" accent3="accent3" accent4="accent4" accent5="accent5" accent6="accent6" bg1="lt1" bg2="lt2" tx1="dk1" tx2="dk2"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Lst>
  <p:transition xmlns:p14="http://schemas.microsoft.com/office/powerpoint/2010/main" spd="slow">
    <p:strips dir="ru"/>
  </p:transition>
  <p:hf dt="0" hdr="0" sldNum="0"/>
  <p:txStyles>
    <p:titleStyle>
      <a:lvl1pPr algn="l" eaLnBrk="1" hangingPunct="1" latinLnBrk="0" rtl="0">
        <a:spcBef>
          <a:spcPct val="0"/>
        </a:spcBef>
        <a:buNone/>
        <a:defRPr sz="4300" kern="1200" kumimoji="0">
          <a:solidFill>
            <a:schemeClr val="tx2">
              <a:satMod val="130000"/>
            </a:schemeClr>
          </a:solidFill>
          <a:effectLst>
            <a:outerShdw algn="tl" blurRad="50000" dir="5400000" dist="30000" rotWithShape="0">
              <a:srgbClr val="000000">
                <a:alpha val="30000"/>
              </a:srgbClr>
            </a:outerShdw>
          </a:effectLst>
          <a:latin typeface="+mj-lt"/>
          <a:ea typeface="+mj-ea"/>
          <a:cs typeface="+mj-cs"/>
        </a:defRPr>
      </a:lvl1pPr>
    </p:titleStyle>
    <p:bodyStyle>
      <a:lvl1pPr algn="l" eaLnBrk="1" hangingPunct="1" indent="-283464" latinLnBrk="0" marL="365760" rtl="0">
        <a:lnSpc>
          <a:spcPct val="100000"/>
        </a:lnSpc>
        <a:spcBef>
          <a:spcPts val="600"/>
        </a:spcBef>
        <a:buClr>
          <a:schemeClr val="accent1"/>
        </a:buClr>
        <a:buSzPct val="80000"/>
        <a:buFont typeface="Wingdings 2"/>
        <a:buChar char=""/>
        <a:defRPr sz="3200" kern="1200" kumimoji="0">
          <a:solidFill>
            <a:schemeClr val="tx1"/>
          </a:solidFill>
          <a:latin typeface="+mn-lt"/>
          <a:ea typeface="+mn-ea"/>
          <a:cs typeface="+mn-cs"/>
        </a:defRPr>
      </a:lvl1pPr>
      <a:lvl2pPr algn="l" eaLnBrk="1" hangingPunct="1" indent="-237744" latinLnBrk="0" marL="640080" rtl="0">
        <a:lnSpc>
          <a:spcPct val="100000"/>
        </a:lnSpc>
        <a:spcBef>
          <a:spcPts val="550"/>
        </a:spcBef>
        <a:buClr>
          <a:schemeClr val="accent1"/>
        </a:buClr>
        <a:buFont typeface="Verdana"/>
        <a:buChar char="◦"/>
        <a:defRPr sz="2800" kern="1200" kumimoji="0">
          <a:solidFill>
            <a:schemeClr val="tx1"/>
          </a:solidFill>
          <a:latin typeface="+mn-lt"/>
          <a:ea typeface="+mn-ea"/>
          <a:cs typeface="+mn-cs"/>
        </a:defRPr>
      </a:lvl2pPr>
      <a:lvl3pPr algn="l" eaLnBrk="1" hangingPunct="1" indent="-228600" latinLnBrk="0" marL="886968" rtl="0">
        <a:lnSpc>
          <a:spcPct val="100000"/>
        </a:lnSpc>
        <a:spcBef>
          <a:spcPct val="20000"/>
        </a:spcBef>
        <a:buClr>
          <a:schemeClr val="accent2"/>
        </a:buClr>
        <a:buFont typeface="Wingdings 2"/>
        <a:buChar char=""/>
        <a:defRPr sz="2400" kern="1200" kumimoji="0">
          <a:solidFill>
            <a:schemeClr val="tx1"/>
          </a:solidFill>
          <a:latin typeface="+mn-lt"/>
          <a:ea typeface="+mn-ea"/>
          <a:cs typeface="+mn-cs"/>
        </a:defRPr>
      </a:lvl3pPr>
      <a:lvl4pPr algn="l" eaLnBrk="1" hangingPunct="1" indent="-173736" latinLnBrk="0" marL="1097280" rtl="0">
        <a:lnSpc>
          <a:spcPct val="100000"/>
        </a:lnSpc>
        <a:spcBef>
          <a:spcPct val="20000"/>
        </a:spcBef>
        <a:buClr>
          <a:schemeClr val="accent3"/>
        </a:buClr>
        <a:buFont typeface="Wingdings 2"/>
        <a:buChar char=""/>
        <a:defRPr sz="2000" kern="1200" kumimoji="0">
          <a:solidFill>
            <a:schemeClr val="tx1"/>
          </a:solidFill>
          <a:latin typeface="+mn-lt"/>
          <a:ea typeface="+mn-ea"/>
          <a:cs typeface="+mn-cs"/>
        </a:defRPr>
      </a:lvl4pPr>
      <a:lvl5pPr algn="l" eaLnBrk="1" hangingPunct="1" indent="-182880" latinLnBrk="0" marL="1298448" rtl="0">
        <a:lnSpc>
          <a:spcPct val="100000"/>
        </a:lnSpc>
        <a:spcBef>
          <a:spcPct val="20000"/>
        </a:spcBef>
        <a:buClr>
          <a:schemeClr val="accent4"/>
        </a:buClr>
        <a:buFont typeface="Wingdings 2"/>
        <a:buChar char=""/>
        <a:defRPr sz="2000" kern="1200" kumimoji="0">
          <a:solidFill>
            <a:schemeClr val="tx1"/>
          </a:solidFill>
          <a:latin typeface="+mn-lt"/>
          <a:ea typeface="+mn-ea"/>
          <a:cs typeface="+mn-cs"/>
        </a:defRPr>
      </a:lvl5pPr>
      <a:lvl6pPr algn="l" eaLnBrk="1" hangingPunct="1" indent="-182880" latinLnBrk="0" marL="1508760" rtl="0">
        <a:lnSpc>
          <a:spcPct val="100000"/>
        </a:lnSpc>
        <a:spcBef>
          <a:spcPct val="20000"/>
        </a:spcBef>
        <a:buClr>
          <a:schemeClr val="accent5"/>
        </a:buClr>
        <a:buFont typeface="Wingdings 2"/>
        <a:buChar char=""/>
        <a:defRPr sz="2000" kern="1200" kumimoji="0">
          <a:solidFill>
            <a:schemeClr val="tx1"/>
          </a:solidFill>
          <a:latin typeface="+mn-lt"/>
          <a:ea typeface="+mn-ea"/>
          <a:cs typeface="+mn-cs"/>
        </a:defRPr>
      </a:lvl6pPr>
      <a:lvl7pPr algn="l" eaLnBrk="1" hangingPunct="1" indent="-182880" latinLnBrk="0" marL="171907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7pPr>
      <a:lvl8pPr algn="l" eaLnBrk="1" hangingPunct="1" indent="-182880" latinLnBrk="0" marL="1920240"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8pPr>
      <a:lvl9pPr algn="l" eaLnBrk="1" hangingPunct="1" indent="-182880" latinLnBrk="0" marL="213055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665" name=""/>
        <p:cNvGrpSpPr/>
        <p:nvPr/>
      </p:nvGrpSpPr>
      <p:grpSpPr>
        <a:xfrm>
          <a:off x="0" y="0"/>
          <a:ext cx="0" cy="0"/>
          <a:chOff x="0" y="0"/>
          <a:chExt cx="0" cy="0"/>
        </a:xfrm>
      </p:grpSpPr>
      <p:sp>
        <p:nvSpPr>
          <p:cNvPr id="1048692" name="Straight Connector 15"/>
          <p:cNvSpPr>
            <a:spLocks noChangeShapeType="1"/>
          </p:cNvSpPr>
          <p:nvPr/>
        </p:nvSpPr>
        <p:spPr bwMode="auto">
          <a:xfrm>
            <a:off x="10953750" y="0"/>
            <a:ext cx="0" cy="6858000"/>
          </a:xfrm>
          <a:prstGeom prst="line"/>
          <a:noFill/>
          <a:ln w="38100" cap="flat" cmpd="sng" algn="ctr">
            <a:solidFill>
              <a:schemeClr val="accent1">
                <a:tint val="60000"/>
                <a:alpha val="93000"/>
              </a:schemeClr>
            </a:solidFill>
            <a:prstDash val="solid"/>
            <a:round/>
            <a:headEnd type="none" w="med" len="med"/>
            <a:tailEnd type="none" w="med" len="med"/>
          </a:ln>
          <a:effectLst/>
        </p:spPr>
        <p:txBody>
          <a:bodyPr anchor="t" bIns="45720" compatLnSpc="1" lIns="91440" rIns="91440" tIns="45720" vert="horz" wrap="square"/>
          <a:p>
            <a:endParaRPr dirty="0" kumimoji="0" lang="en-US"/>
          </a:p>
        </p:txBody>
      </p:sp>
      <p:sp>
        <p:nvSpPr>
          <p:cNvPr id="1048693" name="Title Placeholder 21"/>
          <p:cNvSpPr>
            <a:spLocks noGrp="1"/>
          </p:cNvSpPr>
          <p:nvPr>
            <p:ph type="title"/>
          </p:nvPr>
        </p:nvSpPr>
        <p:spPr>
          <a:xfrm>
            <a:off x="571501" y="274639"/>
            <a:ext cx="9334500" cy="1143000"/>
          </a:xfrm>
          <a:prstGeom prst="rect"/>
        </p:spPr>
        <p:txBody>
          <a:bodyPr anchor="b" vert="horz">
            <a:normAutofit/>
          </a:bodyPr>
          <a:p>
            <a:r>
              <a:rPr kumimoji="0" lang="en-US" smtClean="0"/>
              <a:t>Click to edit Master title style</a:t>
            </a:r>
            <a:endParaRPr kumimoji="0" lang="en-US"/>
          </a:p>
        </p:txBody>
      </p:sp>
      <p:sp>
        <p:nvSpPr>
          <p:cNvPr id="1048694" name="Text Placeholder 12"/>
          <p:cNvSpPr>
            <a:spLocks noGrp="1"/>
          </p:cNvSpPr>
          <p:nvPr>
            <p:ph type="body" idx="1"/>
          </p:nvPr>
        </p:nvSpPr>
        <p:spPr>
          <a:xfrm>
            <a:off x="571501" y="1600200"/>
            <a:ext cx="9334500" cy="4873752"/>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695" name="Date Placeholder 13"/>
          <p:cNvSpPr>
            <a:spLocks noGrp="1"/>
          </p:cNvSpPr>
          <p:nvPr>
            <p:ph type="dt" sz="half" idx="2"/>
          </p:nvPr>
        </p:nvSpPr>
        <p:spPr>
          <a:xfrm rot="5400000">
            <a:off x="9738360" y="1033847"/>
            <a:ext cx="2011680" cy="480059"/>
          </a:xfrm>
          <a:prstGeom prst="rect"/>
        </p:spPr>
        <p:txBody>
          <a:bodyPr anchor="ctr" anchorCtr="0" vert="horz"/>
          <a:lstStyle>
            <a:lvl1pPr algn="r" eaLnBrk="1" hangingPunct="1" latinLnBrk="0">
              <a:defRPr sz="1200" kumimoji="0">
                <a:solidFill>
                  <a:schemeClr val="tx2"/>
                </a:solidFill>
              </a:defRPr>
            </a:lvl1pPr>
          </a:lstStyle>
          <a:p>
            <a:fld id="{C8C13628-7034-46F6-9EB8-7F26AD93E4AE}" type="datetime1">
              <a:rPr lang="en-US" smtClean="0"/>
            </a:fld>
            <a:endParaRPr lang="en-US"/>
          </a:p>
        </p:txBody>
      </p:sp>
      <p:sp>
        <p:nvSpPr>
          <p:cNvPr id="1048696" name="Footer Placeholder 2"/>
          <p:cNvSpPr>
            <a:spLocks noGrp="1"/>
          </p:cNvSpPr>
          <p:nvPr>
            <p:ph type="ftr" sz="quarter" idx="3"/>
          </p:nvPr>
        </p:nvSpPr>
        <p:spPr>
          <a:xfrm rot="5400000">
            <a:off x="9137783" y="3691520"/>
            <a:ext cx="3200400" cy="457200"/>
          </a:xfrm>
          <a:prstGeom prst="rect"/>
        </p:spPr>
        <p:txBody>
          <a:bodyPr anchor="ctr" anchorCtr="0" vert="horz"/>
          <a:lstStyle>
            <a:lvl1pPr algn="l" eaLnBrk="1" hangingPunct="1" latinLnBrk="0">
              <a:defRPr sz="1200" kumimoji="0">
                <a:solidFill>
                  <a:schemeClr val="tx2"/>
                </a:solidFill>
              </a:defRPr>
            </a:lvl1pPr>
          </a:lstStyle>
          <a:p>
            <a:r>
              <a:rPr lang="en-US" smtClean="0"/>
              <a:t>@MUSOVYA2017</a:t>
            </a:r>
            <a:endParaRPr lang="en-US"/>
          </a:p>
        </p:txBody>
      </p:sp>
      <p:sp>
        <p:nvSpPr>
          <p:cNvPr id="1048697" name="Straight Connector 6"/>
          <p:cNvSpPr>
            <a:spLocks noChangeShapeType="1"/>
          </p:cNvSpPr>
          <p:nvPr/>
        </p:nvSpPr>
        <p:spPr bwMode="auto">
          <a:xfrm>
            <a:off x="95250" y="0"/>
            <a:ext cx="0" cy="6858000"/>
          </a:xfrm>
          <a:prstGeom prst="line"/>
          <a:noFill/>
          <a:ln w="57150" cap="flat" cmpd="thickThin" algn="ctr">
            <a:solidFill>
              <a:schemeClr val="accent1">
                <a:tint val="60000"/>
              </a:schemeClr>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698" name="Straight Connector 8"/>
          <p:cNvSpPr>
            <a:spLocks noChangeShapeType="1"/>
          </p:cNvSpPr>
          <p:nvPr/>
        </p:nvSpPr>
        <p:spPr bwMode="auto">
          <a:xfrm>
            <a:off x="11239500" y="0"/>
            <a:ext cx="0" cy="6858000"/>
          </a:xfrm>
          <a:prstGeom prst="line"/>
          <a:noFill/>
          <a:ln w="19050" cap="flat" cmpd="sng" algn="ctr">
            <a:solidFill>
              <a:schemeClr val="accent1"/>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699" name="Rectangle 9"/>
          <p:cNvSpPr/>
          <p:nvPr/>
        </p:nvSpPr>
        <p:spPr bwMode="auto">
          <a:xfrm>
            <a:off x="11049001" y="0"/>
            <a:ext cx="381000" cy="6858000"/>
          </a:xfrm>
          <a:prstGeom prst="rect"/>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700" name="Straight Connector 10"/>
          <p:cNvSpPr>
            <a:spLocks noChangeShapeType="1"/>
          </p:cNvSpPr>
          <p:nvPr/>
        </p:nvSpPr>
        <p:spPr bwMode="auto">
          <a:xfrm>
            <a:off x="11144250" y="0"/>
            <a:ext cx="0" cy="6858000"/>
          </a:xfrm>
          <a:prstGeom prst="line"/>
          <a:noFill/>
          <a:ln w="9525" cap="flat" cmpd="sng" algn="ctr">
            <a:solidFill>
              <a:schemeClr val="accent1"/>
            </a:soli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701" name="Oval 11"/>
          <p:cNvSpPr/>
          <p:nvPr/>
        </p:nvSpPr>
        <p:spPr>
          <a:xfrm>
            <a:off x="10195559" y="5715000"/>
            <a:ext cx="685800" cy="548640"/>
          </a:xfrm>
          <a:prstGeom prst="ellipse"/>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702" name="Slide Number Placeholder 22"/>
          <p:cNvSpPr>
            <a:spLocks noGrp="1"/>
          </p:cNvSpPr>
          <p:nvPr>
            <p:ph type="sldNum" sz="quarter" idx="4"/>
          </p:nvPr>
        </p:nvSpPr>
        <p:spPr>
          <a:xfrm>
            <a:off x="10161270" y="5734051"/>
            <a:ext cx="762000" cy="521208"/>
          </a:xfrm>
          <a:prstGeom prst="rect"/>
        </p:spPr>
        <p:txBody>
          <a:bodyPr anchor="ctr" vert="horz"/>
          <a:lstStyle>
            <a:lvl1pPr algn="ctr" eaLnBrk="1" hangingPunct="1" latinLnBrk="0">
              <a:defRPr b="1" sz="1400" kumimoji="0">
                <a:solidFill>
                  <a:srgbClr val="FFFFFF"/>
                </a:solidFill>
              </a:defRPr>
            </a:lvl1pPr>
          </a:lstStyle>
          <a:p>
            <a:fld id="{539D2A76-69E3-4600-8808-3C1A10934549}"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Lst>
  <p:transition xmlns:p14="http://schemas.microsoft.com/office/powerpoint/2010/main" spd="slow">
    <p:strips dir="ru"/>
  </p:transition>
  <p:hf dt="0" hdr="0" sldNum="0"/>
  <p:txStyles>
    <p:titleStyle>
      <a:lvl1pPr algn="l" eaLnBrk="1" hangingPunct="1" latinLnBrk="0" rtl="0">
        <a:spcBef>
          <a:spcPct val="0"/>
        </a:spcBef>
        <a:buNone/>
        <a:defRPr baseline="0" b="0" cap="small" sz="3000" kern="1200" kumimoji="0">
          <a:solidFill>
            <a:schemeClr val="tx2"/>
          </a:solidFill>
          <a:latin typeface="+mj-lt"/>
          <a:ea typeface="+mj-ea"/>
          <a:cs typeface="+mj-cs"/>
        </a:defRPr>
      </a:lvl1pPr>
    </p:titleStyle>
    <p:bodyStyle>
      <a:lvl1pPr algn="l" eaLnBrk="1" hangingPunct="1" indent="-274320" latinLnBrk="0" marL="274320" rtl="0">
        <a:spcBef>
          <a:spcPts val="600"/>
        </a:spcBef>
        <a:buClr>
          <a:schemeClr val="accent1"/>
        </a:buClr>
        <a:buSzPct val="70000"/>
        <a:buFont typeface="Wingdings"/>
        <a:buChar char=""/>
        <a:defRPr sz="2400" kern="1200" kumimoji="0">
          <a:solidFill>
            <a:schemeClr val="tx1"/>
          </a:solidFill>
          <a:latin typeface="+mn-lt"/>
          <a:ea typeface="+mn-ea"/>
          <a:cs typeface="+mn-cs"/>
        </a:defRPr>
      </a:lvl1pPr>
      <a:lvl2pPr algn="l" eaLnBrk="1" hangingPunct="1" indent="-274320" latinLnBrk="0" marL="640080" rtl="0">
        <a:spcBef>
          <a:spcPct val="20000"/>
        </a:spcBef>
        <a:buClr>
          <a:schemeClr val="accent1"/>
        </a:buClr>
        <a:buSzPct val="80000"/>
        <a:buFont typeface="Wingdings 2"/>
        <a:buChar char=""/>
        <a:defRPr sz="2100" kern="1200" kumimoji="0">
          <a:solidFill>
            <a:schemeClr val="tx1"/>
          </a:solidFill>
          <a:latin typeface="+mn-lt"/>
          <a:ea typeface="+mn-ea"/>
          <a:cs typeface="+mn-cs"/>
        </a:defRPr>
      </a:lvl2pPr>
      <a:lvl3pPr algn="l" eaLnBrk="1" hangingPunct="1" indent="-182880" latinLnBrk="0" marL="914400" rtl="0">
        <a:spcBef>
          <a:spcPct val="20000"/>
        </a:spcBef>
        <a:buClr>
          <a:schemeClr val="accent1">
            <a:shade val="75000"/>
          </a:schemeClr>
        </a:buClr>
        <a:buSzPct val="60000"/>
        <a:buFont typeface="Wingdings"/>
        <a:buChar char=""/>
        <a:defRPr sz="1800" kern="1200" kumimoji="0">
          <a:solidFill>
            <a:schemeClr val="tx1"/>
          </a:solidFill>
          <a:latin typeface="+mn-lt"/>
          <a:ea typeface="+mn-ea"/>
          <a:cs typeface="+mn-cs"/>
        </a:defRPr>
      </a:lvl3pPr>
      <a:lvl4pPr algn="l" eaLnBrk="1" hangingPunct="1" indent="-182880" latinLnBrk="0" marL="1188720" rtl="0">
        <a:spcBef>
          <a:spcPct val="20000"/>
        </a:spcBef>
        <a:buClr>
          <a:schemeClr val="accent1">
            <a:tint val="60000"/>
          </a:schemeClr>
        </a:buClr>
        <a:buSzPct val="60000"/>
        <a:buFont typeface="Wingdings"/>
        <a:buChar char=""/>
        <a:defRPr sz="1800" kern="1200" kumimoji="0">
          <a:solidFill>
            <a:schemeClr val="tx1"/>
          </a:solidFill>
          <a:latin typeface="+mn-lt"/>
          <a:ea typeface="+mn-ea"/>
          <a:cs typeface="+mn-cs"/>
        </a:defRPr>
      </a:lvl4pPr>
      <a:lvl5pPr algn="l" eaLnBrk="1" hangingPunct="1" indent="-182880" latinLnBrk="0" marL="1463040" rtl="0">
        <a:spcBef>
          <a:spcPct val="20000"/>
        </a:spcBef>
        <a:buClr>
          <a:schemeClr val="accent2">
            <a:tint val="60000"/>
          </a:schemeClr>
        </a:buClr>
        <a:buSzPct val="68000"/>
        <a:buFont typeface="Wingdings 2"/>
        <a:buChar char=""/>
        <a:defRPr sz="1600" kern="1200" kumimoji="0">
          <a:solidFill>
            <a:schemeClr val="tx1"/>
          </a:solidFill>
          <a:latin typeface="+mn-lt"/>
          <a:ea typeface="+mn-ea"/>
          <a:cs typeface="+mn-cs"/>
        </a:defRPr>
      </a:lvl5pPr>
      <a:lvl6pPr algn="l" eaLnBrk="1" hangingPunct="1" indent="-182880" latinLnBrk="0" marL="1737360" rtl="0">
        <a:spcBef>
          <a:spcPct val="20000"/>
        </a:spcBef>
        <a:buClr>
          <a:schemeClr val="accent1"/>
        </a:buClr>
        <a:buChar char="•"/>
        <a:defRPr sz="1600" kern="1200" kumimoji="0">
          <a:solidFill>
            <a:schemeClr val="tx2"/>
          </a:solidFill>
          <a:latin typeface="+mn-lt"/>
          <a:ea typeface="+mn-ea"/>
          <a:cs typeface="+mn-cs"/>
        </a:defRPr>
      </a:lvl6pPr>
      <a:lvl7pPr algn="l" eaLnBrk="1" hangingPunct="1" indent="-182880" latinLnBrk="0" marL="2011680" rtl="0">
        <a:spcBef>
          <a:spcPct val="20000"/>
        </a:spcBef>
        <a:buClr>
          <a:schemeClr val="accent1">
            <a:tint val="60000"/>
          </a:schemeClr>
        </a:buClr>
        <a:buSzPct val="60000"/>
        <a:buFont typeface="Wingdings"/>
        <a:buChar char=""/>
        <a:defRPr baseline="0" sz="1400" kern="1200" kumimoji="0">
          <a:solidFill>
            <a:schemeClr val="tx2"/>
          </a:solidFill>
          <a:latin typeface="+mn-lt"/>
          <a:ea typeface="+mn-ea"/>
          <a:cs typeface="+mn-cs"/>
        </a:defRPr>
      </a:lvl7pPr>
      <a:lvl8pPr algn="l" eaLnBrk="1" hangingPunct="1" indent="-182880" latinLnBrk="0" marL="2286000" rtl="0">
        <a:spcBef>
          <a:spcPct val="20000"/>
        </a:spcBef>
        <a:buClr>
          <a:schemeClr val="accent2"/>
        </a:buClr>
        <a:buChar char="•"/>
        <a:defRPr baseline="0" cap="small" sz="1400" kern="1200" kumimoji="0">
          <a:solidFill>
            <a:schemeClr val="tx2"/>
          </a:solidFill>
          <a:latin typeface="+mn-lt"/>
          <a:ea typeface="+mn-ea"/>
          <a:cs typeface="+mn-cs"/>
        </a:defRPr>
      </a:lvl8pPr>
      <a:lvl9pPr algn="l" eaLnBrk="1" hangingPunct="1" indent="-182880" latinLnBrk="0" marL="2560320" rtl="0">
        <a:spcBef>
          <a:spcPct val="20000"/>
        </a:spcBef>
        <a:buClr>
          <a:schemeClr val="accent1">
            <a:shade val="75000"/>
          </a:schemeClr>
        </a:buClr>
        <a:buChar char="•"/>
        <a:defRPr baseline="0" sz="1400" kern="1200" kumimoji="0">
          <a:solidFill>
            <a:schemeClr val="tx2"/>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2" cstate="print"/>
          <a:srcRect/>
          <a:tile algn="tl" flip="none" sx="100000" sy="100000" tx="0" ty="0"/>
        </a:blipFill>
      </p:bgPr>
    </p:bg>
    <p:spTree>
      <p:nvGrpSpPr>
        <p:cNvPr id="747" name=""/>
        <p:cNvGrpSpPr/>
        <p:nvPr/>
      </p:nvGrpSpPr>
      <p:grpSpPr>
        <a:xfrm>
          <a:off x="0" y="0"/>
          <a:ext cx="0" cy="0"/>
          <a:chOff x="0" y="0"/>
          <a:chExt cx="0" cy="0"/>
        </a:xfrm>
      </p:grpSpPr>
      <p:sp>
        <p:nvSpPr>
          <p:cNvPr id="1048878" name="Freeform 6"/>
          <p:cNvSpPr/>
          <p:nvPr/>
        </p:nvSpPr>
        <p:spPr bwMode="auto">
          <a:xfrm>
            <a:off x="-11908" y="-7144"/>
            <a:ext cx="11453815" cy="1041400"/>
          </a:xfrm>
          <a:custGeom>
            <a:avLst>
              <a:gd name="A1" fmla="val 0"/>
              <a:gd name="A2" fmla="val 0"/>
              <a:gd name="A3" fmla="val 0"/>
              <a:gd name="A4" fmla="val 0"/>
              <a:gd name="A5" fmla="val 0"/>
              <a:gd name="A6" fmla="val 0"/>
              <a:gd name="A7" fmla="val 0"/>
              <a:gd name="A8" fmla="val 0"/>
            </a:av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nchor="t" bIns="45720" compatLnSpc="1" lIns="91440" rIns="91440" tIns="45720" vert="horz" wrap="square"/>
          <a:p>
            <a:pPr algn="l" eaLnBrk="1" hangingPunct="1" latinLnBrk="0" marL="0" rtl="0"/>
            <a:endParaRPr dirty="0" kumimoji="0" lang="en-US">
              <a:solidFill>
                <a:schemeClr val="tx1"/>
              </a:solidFill>
              <a:latin typeface="+mn-lt"/>
              <a:ea typeface="+mn-ea"/>
              <a:cs typeface="+mn-cs"/>
            </a:endParaRPr>
          </a:p>
        </p:txBody>
      </p:sp>
      <p:sp>
        <p:nvSpPr>
          <p:cNvPr id="1048879" name="Freeform 7"/>
          <p:cNvSpPr/>
          <p:nvPr/>
        </p:nvSpPr>
        <p:spPr bwMode="auto">
          <a:xfrm>
            <a:off x="5476880" y="-7144"/>
            <a:ext cx="5953125" cy="638175"/>
          </a:xfrm>
          <a:custGeom>
            <a:avLst>
              <a:gd name="A1" fmla="val 0"/>
              <a:gd name="A2" fmla="val 0"/>
              <a:gd name="A3" fmla="val 0"/>
              <a:gd name="A4" fmla="val 0"/>
              <a:gd name="A5" fmla="val 0"/>
              <a:gd name="A6" fmla="val 0"/>
              <a:gd name="A7" fmla="val 0"/>
              <a:gd name="A8" fmla="val 0"/>
            </a:av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nchor="t" bIns="45720" compatLnSpc="1" lIns="91440" rIns="91440" tIns="45720" vert="horz" wrap="square"/>
          <a:p>
            <a:pPr algn="l" eaLnBrk="1" hangingPunct="1" latinLnBrk="0" marL="0" rtl="0"/>
            <a:endParaRPr dirty="0" kumimoji="0" lang="en-US">
              <a:solidFill>
                <a:schemeClr val="tx1"/>
              </a:solidFill>
              <a:latin typeface="+mn-lt"/>
              <a:ea typeface="+mn-ea"/>
              <a:cs typeface="+mn-cs"/>
            </a:endParaRPr>
          </a:p>
        </p:txBody>
      </p:sp>
      <p:sp>
        <p:nvSpPr>
          <p:cNvPr id="1048880" name="Title Placeholder 8"/>
          <p:cNvSpPr>
            <a:spLocks noGrp="1"/>
          </p:cNvSpPr>
          <p:nvPr>
            <p:ph type="title"/>
          </p:nvPr>
        </p:nvSpPr>
        <p:spPr>
          <a:xfrm>
            <a:off x="571500" y="704088"/>
            <a:ext cx="10287000" cy="1143000"/>
          </a:xfrm>
          <a:prstGeom prst="rect"/>
        </p:spPr>
        <p:txBody>
          <a:bodyPr anchor="b" bIns="0" lIns="0" rIns="0" vert="horz">
            <a:normAutofit/>
          </a:bodyPr>
          <a:p>
            <a:r>
              <a:rPr kumimoji="0" lang="en-US" smtClean="0"/>
              <a:t>Click to edit Master title style</a:t>
            </a:r>
            <a:endParaRPr kumimoji="0" lang="en-US"/>
          </a:p>
        </p:txBody>
      </p:sp>
      <p:sp>
        <p:nvSpPr>
          <p:cNvPr id="1048881" name="Text Placeholder 29"/>
          <p:cNvSpPr>
            <a:spLocks noGrp="1"/>
          </p:cNvSpPr>
          <p:nvPr>
            <p:ph type="body" idx="1"/>
          </p:nvPr>
        </p:nvSpPr>
        <p:spPr>
          <a:xfrm>
            <a:off x="571500" y="1935480"/>
            <a:ext cx="10287000" cy="4389120"/>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882" name="Date Placeholder 9"/>
          <p:cNvSpPr>
            <a:spLocks noGrp="1"/>
          </p:cNvSpPr>
          <p:nvPr>
            <p:ph type="dt" sz="half" idx="2"/>
          </p:nvPr>
        </p:nvSpPr>
        <p:spPr>
          <a:xfrm>
            <a:off x="571500" y="6356359"/>
            <a:ext cx="2667000" cy="365125"/>
          </a:xfrm>
          <a:prstGeom prst="rect"/>
        </p:spPr>
        <p:txBody>
          <a:bodyPr anchor="b" bIns="0" lIns="0" rIns="0" tIns="0" vert="horz"/>
          <a:lstStyle>
            <a:lvl1pPr algn="l" eaLnBrk="1" hangingPunct="1" latinLnBrk="0">
              <a:defRPr sz="1200" kumimoji="0">
                <a:solidFill>
                  <a:schemeClr val="tx2">
                    <a:shade val="90000"/>
                  </a:schemeClr>
                </a:solidFill>
              </a:defRPr>
            </a:lvl1pPr>
          </a:lstStyle>
          <a:p>
            <a:fld id="{05A9FD39-F206-4DF0-BC18-C4CDBEC82FEE}" type="datetime1">
              <a:rPr lang="en-US" smtClean="0"/>
            </a:fld>
            <a:endParaRPr lang="en-US"/>
          </a:p>
        </p:txBody>
      </p:sp>
      <p:sp>
        <p:nvSpPr>
          <p:cNvPr id="1048883" name="Footer Placeholder 21"/>
          <p:cNvSpPr>
            <a:spLocks noGrp="1"/>
          </p:cNvSpPr>
          <p:nvPr>
            <p:ph type="ftr" sz="quarter" idx="3"/>
          </p:nvPr>
        </p:nvSpPr>
        <p:spPr>
          <a:xfrm>
            <a:off x="3333750" y="6356359"/>
            <a:ext cx="4191000" cy="365125"/>
          </a:xfrm>
          <a:prstGeom prst="rect"/>
        </p:spPr>
        <p:txBody>
          <a:bodyPr anchor="b" bIns="0" lIns="0" rIns="0" tIns="0" vert="horz"/>
          <a:lstStyle>
            <a:lvl1pPr algn="l" eaLnBrk="1" hangingPunct="1" latinLnBrk="0">
              <a:defRPr sz="1200" kumimoji="0">
                <a:solidFill>
                  <a:schemeClr val="tx2">
                    <a:shade val="90000"/>
                  </a:schemeClr>
                </a:solidFill>
              </a:defRPr>
            </a:lvl1pPr>
          </a:lstStyle>
          <a:p>
            <a:r>
              <a:rPr lang="en-US" smtClean="0"/>
              <a:t>@MUSOVYA2017</a:t>
            </a:r>
            <a:endParaRPr lang="en-US"/>
          </a:p>
        </p:txBody>
      </p:sp>
      <p:sp>
        <p:nvSpPr>
          <p:cNvPr id="1048884" name="Slide Number Placeholder 17"/>
          <p:cNvSpPr>
            <a:spLocks noGrp="1"/>
          </p:cNvSpPr>
          <p:nvPr>
            <p:ph type="sldNum" sz="quarter" idx="4"/>
          </p:nvPr>
        </p:nvSpPr>
        <p:spPr>
          <a:xfrm>
            <a:off x="9906000" y="6356359"/>
            <a:ext cx="952500" cy="365125"/>
          </a:xfrm>
          <a:prstGeom prst="rect"/>
        </p:spPr>
        <p:txBody>
          <a:bodyPr anchor="b" bIns="0" lIns="0" rIns="0" tIns="0" vert="horz"/>
          <a:lstStyle>
            <a:lvl1pPr algn="r" eaLnBrk="1" hangingPunct="1" latinLnBrk="0">
              <a:defRPr sz="1200" kumimoji="0">
                <a:solidFill>
                  <a:schemeClr val="tx2">
                    <a:shade val="90000"/>
                  </a:schemeClr>
                </a:solidFill>
              </a:defRPr>
            </a:lvl1pPr>
          </a:lstStyle>
          <a:p>
            <a:fld id="{539D2A76-69E3-4600-8808-3C1A10934549}" type="slidenum">
              <a:rPr lang="en-US" smtClean="0"/>
            </a:fld>
            <a:endParaRPr lang="en-US"/>
          </a:p>
        </p:txBody>
      </p:sp>
      <p:grpSp>
        <p:nvGrpSpPr>
          <p:cNvPr id="748" name="Group 1"/>
          <p:cNvGrpSpPr/>
          <p:nvPr/>
        </p:nvGrpSpPr>
        <p:grpSpPr>
          <a:xfrm>
            <a:off x="-23769" y="202408"/>
            <a:ext cx="11475684" cy="649224"/>
            <a:chOff x="-19045" y="216550"/>
            <a:chExt cx="9180548" cy="649224"/>
          </a:xfrm>
        </p:grpSpPr>
        <p:sp>
          <p:nvSpPr>
            <p:cNvPr id="1048885"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16000">
                    <a:schemeClr val="accent2">
                      <a:shade val="75000"/>
                      <a:alpha val="56000"/>
                    </a:schemeClr>
                  </a:gs>
                  <a:gs pos="74000">
                    <a:schemeClr val="accent3">
                      <a:shade val="75000"/>
                    </a:schemeClr>
                  </a:gs>
                  <a:gs pos="86000">
                    <a:schemeClr val="tx1">
                      <a:alpha val="29000"/>
                    </a:schemeClr>
                  </a:gs>
                </a:gsLst>
                <a:lin ang="5400000" scaled="1"/>
              </a:gradFill>
              <a:prstDash val="solid"/>
              <a:round/>
              <a:headEnd type="none" w="med" len="med"/>
              <a:tailEnd type="none" w="med" len="med"/>
            </a:ln>
            <a:effectLst/>
          </p:spPr>
          <p:txBody>
            <a:bodyPr anchor="t" bIns="45720" compatLnSpc="1" lIns="91440" rIns="91440" tIns="45720" vert="horz" wrap="square"/>
            <a:p>
              <a:endParaRPr dirty="0" kumimoji="0" lang="en-US"/>
            </a:p>
          </p:txBody>
        </p:sp>
        <p:sp>
          <p:nvSpPr>
            <p:cNvPr id="1048886"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33000">
                    <a:schemeClr val="accent2">
                      <a:alpha val="56000"/>
                    </a:schemeClr>
                  </a:gs>
                  <a:gs pos="44000">
                    <a:schemeClr val="accent1"/>
                  </a:gs>
                  <a:gs pos="74000">
                    <a:schemeClr val="accent4"/>
                  </a:gs>
                </a:gsLst>
                <a:lin ang="5400000" scaled="1"/>
              </a:gradFill>
              <a:prstDash val="solid"/>
              <a:round/>
              <a:headEnd type="none" w="med" len="med"/>
              <a:tailEnd type="none" w="med" len="med"/>
            </a:ln>
            <a:effectLst/>
          </p:spPr>
          <p:txBody>
            <a:bodyPr anchor="t" bIns="45720" compatLnSpc="1" lIns="91440" rIns="91440" tIns="45720" vert="horz" wrap="square"/>
            <a:p>
              <a:endParaRPr dirty="0" kumimoji="0" lang="en-US"/>
            </a:p>
          </p:txBody>
        </p:sp>
      </p:grpSp>
    </p:spTree>
  </p:cSld>
  <p:clrMap accent1="accent1" accent2="accent2" accent3="accent3" accent4="accent4" accent5="accent5" accent6="accent6" bg1="lt1" bg2="lt2" tx1="dk1" tx2="dk2"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Lst>
  <p:transition xmlns:p14="http://schemas.microsoft.com/office/powerpoint/2010/main" spd="slow">
    <p:strips dir="ru"/>
  </p:transition>
  <p:hf dt="0" hdr="0" sldNum="0"/>
  <p:txStyles>
    <p:titleStyle>
      <a:lvl1pPr algn="l" eaLnBrk="1" hangingPunct="1" latinLnBrk="0" rtl="0">
        <a:spcBef>
          <a:spcPct val="0"/>
        </a:spcBef>
        <a:buNone/>
        <a:defRPr b="0" sz="5000" kern="1200" kumimoji="0">
          <a:ln>
            <a:noFill/>
          </a:ln>
          <a:solidFill>
            <a:schemeClr val="tx2"/>
          </a:solidFill>
          <a:effectLst/>
          <a:latin typeface="+mj-lt"/>
          <a:ea typeface="+mj-ea"/>
          <a:cs typeface="+mj-cs"/>
        </a:defRPr>
      </a:lvl1pPr>
    </p:titleStyle>
    <p:bodyStyle>
      <a:lvl1pPr algn="l" eaLnBrk="1" hangingPunct="1" indent="-274320" latinLnBrk="0" marL="274320" rtl="0">
        <a:spcBef>
          <a:spcPct val="20000"/>
        </a:spcBef>
        <a:buClr>
          <a:schemeClr val="accent3"/>
        </a:buClr>
        <a:buSzPct val="95000"/>
        <a:buFont typeface="Wingdings 2"/>
        <a:buChar char=""/>
        <a:defRPr sz="2600" kern="1200" kumimoji="0">
          <a:solidFill>
            <a:schemeClr val="tx1"/>
          </a:solidFill>
          <a:latin typeface="+mn-lt"/>
          <a:ea typeface="+mn-ea"/>
          <a:cs typeface="+mn-cs"/>
        </a:defRPr>
      </a:lvl1pPr>
      <a:lvl2pPr algn="l" eaLnBrk="1" hangingPunct="1" indent="-246888" latinLnBrk="0" marL="640080" rtl="0">
        <a:spcBef>
          <a:spcPct val="20000"/>
        </a:spcBef>
        <a:buClr>
          <a:schemeClr val="accent1"/>
        </a:buClr>
        <a:buSzPct val="85000"/>
        <a:buFont typeface="Wingdings 2"/>
        <a:buChar char=""/>
        <a:defRPr sz="2400" kern="1200" kumimoji="0">
          <a:solidFill>
            <a:schemeClr val="tx1"/>
          </a:solidFill>
          <a:latin typeface="+mn-lt"/>
          <a:ea typeface="+mn-ea"/>
          <a:cs typeface="+mn-cs"/>
        </a:defRPr>
      </a:lvl2pPr>
      <a:lvl3pPr algn="l" eaLnBrk="1" hangingPunct="1" indent="-246888" latinLnBrk="0" marL="914400" rtl="0">
        <a:spcBef>
          <a:spcPct val="20000"/>
        </a:spcBef>
        <a:buClr>
          <a:schemeClr val="accent2"/>
        </a:buClr>
        <a:buSzPct val="70000"/>
        <a:buFont typeface="Wingdings 2"/>
        <a:buChar char=""/>
        <a:defRPr sz="2100" kern="1200" kumimoji="0">
          <a:solidFill>
            <a:schemeClr val="tx1"/>
          </a:solidFill>
          <a:latin typeface="+mn-lt"/>
          <a:ea typeface="+mn-ea"/>
          <a:cs typeface="+mn-cs"/>
        </a:defRPr>
      </a:lvl3pPr>
      <a:lvl4pPr algn="l" eaLnBrk="1" hangingPunct="1" indent="-210312" latinLnBrk="0" marL="1188720" rtl="0">
        <a:spcBef>
          <a:spcPct val="20000"/>
        </a:spcBef>
        <a:buClr>
          <a:schemeClr val="accent3"/>
        </a:buClr>
        <a:buSzPct val="65000"/>
        <a:buFont typeface="Wingdings 2"/>
        <a:buChar char=""/>
        <a:defRPr sz="2000" kern="1200" kumimoji="0">
          <a:solidFill>
            <a:schemeClr val="tx1"/>
          </a:solidFill>
          <a:latin typeface="+mn-lt"/>
          <a:ea typeface="+mn-ea"/>
          <a:cs typeface="+mn-cs"/>
        </a:defRPr>
      </a:lvl4pPr>
      <a:lvl5pPr algn="l" eaLnBrk="1" hangingPunct="1" indent="-210312" latinLnBrk="0" marL="1463040" rtl="0">
        <a:spcBef>
          <a:spcPct val="20000"/>
        </a:spcBef>
        <a:buClr>
          <a:schemeClr val="accent4"/>
        </a:buClr>
        <a:buSzPct val="65000"/>
        <a:buFont typeface="Wingdings 2"/>
        <a:buChar char=""/>
        <a:defRPr sz="2000" kern="1200" kumimoji="0">
          <a:solidFill>
            <a:schemeClr val="tx1"/>
          </a:solidFill>
          <a:latin typeface="+mn-lt"/>
          <a:ea typeface="+mn-ea"/>
          <a:cs typeface="+mn-cs"/>
        </a:defRPr>
      </a:lvl5pPr>
      <a:lvl6pPr algn="l" eaLnBrk="1" hangingPunct="1" indent="-210312" latinLnBrk="0" marL="1737360" rtl="0">
        <a:spcBef>
          <a:spcPct val="20000"/>
        </a:spcBef>
        <a:buClr>
          <a:schemeClr val="accent5"/>
        </a:buClr>
        <a:buSzPct val="80000"/>
        <a:buFont typeface="Wingdings 2"/>
        <a:buChar char=""/>
        <a:defRPr sz="1800" kern="1200" kumimoji="0">
          <a:solidFill>
            <a:schemeClr val="tx1"/>
          </a:solidFill>
          <a:latin typeface="+mn-lt"/>
          <a:ea typeface="+mn-ea"/>
          <a:cs typeface="+mn-cs"/>
        </a:defRPr>
      </a:lvl6pPr>
      <a:lvl7pPr algn="l" eaLnBrk="1" hangingPunct="1" indent="-182880" latinLnBrk="0" marL="1920240" rtl="0">
        <a:spcBef>
          <a:spcPct val="20000"/>
        </a:spcBef>
        <a:buClr>
          <a:schemeClr val="accent6"/>
        </a:buClr>
        <a:buSzPct val="80000"/>
        <a:buFont typeface="Wingdings 2"/>
        <a:buChar char=""/>
        <a:defRPr baseline="0" sz="1600" kern="1200" kumimoji="0">
          <a:solidFill>
            <a:schemeClr val="tx1"/>
          </a:solidFill>
          <a:latin typeface="+mn-lt"/>
          <a:ea typeface="+mn-ea"/>
          <a:cs typeface="+mn-cs"/>
        </a:defRPr>
      </a:lvl7pPr>
      <a:lvl8pPr algn="l" eaLnBrk="1" hangingPunct="1" indent="-182880" latinLnBrk="0" marL="2194560" rtl="0">
        <a:spcBef>
          <a:spcPct val="20000"/>
        </a:spcBef>
        <a:buClr>
          <a:schemeClr val="tx2"/>
        </a:buClr>
        <a:buChar char="•"/>
        <a:defRPr sz="1600" kern="1200" kumimoji="0">
          <a:solidFill>
            <a:schemeClr val="tx1"/>
          </a:solidFill>
          <a:latin typeface="+mn-lt"/>
          <a:ea typeface="+mn-ea"/>
          <a:cs typeface="+mn-cs"/>
        </a:defRPr>
      </a:lvl8pPr>
      <a:lvl9pPr algn="l" eaLnBrk="1" hangingPunct="1" indent="-182880" latinLnBrk="0" marL="2468880" rtl="0">
        <a:spcBef>
          <a:spcPct val="20000"/>
        </a:spcBef>
        <a:buClr>
          <a:schemeClr val="tx2"/>
        </a:buClr>
        <a:buFontTx/>
        <a:buChar char="•"/>
        <a:defRPr baseline="0" sz="14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2" cstate="print"/>
          <a:srcRect/>
          <a:tile algn="tl" flip="none" sx="100000" sy="100000" tx="0" ty="0"/>
        </a:blipFill>
      </p:bgPr>
    </p:bg>
    <p:spTree>
      <p:nvGrpSpPr>
        <p:cNvPr id="821" name=""/>
        <p:cNvGrpSpPr/>
        <p:nvPr/>
      </p:nvGrpSpPr>
      <p:grpSpPr>
        <a:xfrm>
          <a:off x="0" y="0"/>
          <a:ext cx="0" cy="0"/>
          <a:chOff x="0" y="0"/>
          <a:chExt cx="0" cy="0"/>
        </a:xfrm>
      </p:grpSpPr>
      <p:sp>
        <p:nvSpPr>
          <p:cNvPr id="1049028" name="Freeform 12"/>
          <p:cNvSpPr/>
          <p:nvPr/>
        </p:nvSpPr>
        <p:spPr bwMode="auto">
          <a:xfrm>
            <a:off x="895554" y="5002001"/>
            <a:ext cx="4752504" cy="1443111"/>
          </a:xfrm>
          <a:custGeom>
            <a:avLst>
              <a:gd name="A1" fmla="val 0"/>
              <a:gd name="A2" fmla="val 0"/>
              <a:gd name="A3" fmla="val 0"/>
              <a:gd name="A4" fmla="val 0"/>
              <a:gd name="A5" fmla="val 0"/>
              <a:gd name="A6" fmla="val 0"/>
              <a:gd name="A7" fmla="val 0"/>
              <a:gd name="A8" fmla="val 0"/>
            </a:av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9029" name="Freeform 11"/>
          <p:cNvSpPr/>
          <p:nvPr/>
        </p:nvSpPr>
        <p:spPr bwMode="auto">
          <a:xfrm>
            <a:off x="-66946" y="5785023"/>
            <a:ext cx="4752504" cy="838200"/>
          </a:xfrm>
          <a:custGeom>
            <a:avLst>
              <a:gd name="A1" fmla="val 0"/>
              <a:gd name="A2" fmla="val 0"/>
              <a:gd name="A3" fmla="val 0"/>
              <a:gd name="A4" fmla="val 0"/>
              <a:gd name="A5" fmla="val 0"/>
              <a:gd name="A6" fmla="val 0"/>
              <a:gd name="A7" fmla="val 0"/>
              <a:gd name="A8" fmla="val 0"/>
            </a:av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9030" name="Right Triangle 13"/>
          <p:cNvSpPr/>
          <p:nvPr/>
        </p:nvSpPr>
        <p:spPr bwMode="auto">
          <a:xfrm>
            <a:off x="-7552" y="5791256"/>
            <a:ext cx="4252895" cy="1080868"/>
          </a:xfrm>
          <a:prstGeom prst="rtTriangle"/>
          <a:blipFill>
            <a:blip xmlns:r="http://schemas.openxmlformats.org/officeDocument/2006/relationships" r:embed="rId13" cstate="print">
              <a:alphaModFix amt="50000"/>
            </a:blip>
            <a:tile algn="t" flip="none" sx="50000" sy="50000" tx="0" ty="0"/>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gradFill>
            </a:fillOverlay>
          </a:effectLst>
        </p:spPr>
        <p:style>
          <a:lnRef idx="3">
            <a:schemeClr val="lt1"/>
          </a:lnRef>
          <a:fillRef idx="1">
            <a:schemeClr val="accent1"/>
          </a:fillRef>
          <a:effectRef idx="1">
            <a:schemeClr val="accent1"/>
          </a:effectRef>
          <a:fontRef idx="minor">
            <a:schemeClr val="lt1"/>
          </a:fontRef>
        </p:style>
        <p:txBody>
          <a:bodyPr anchor="ctr" bIns="45720" compatLnSpc="1" lIns="91440" rIns="91440" tIns="45720" vert="horz" wrap="square"/>
          <a:p>
            <a:pPr algn="ctr" eaLnBrk="1" hangingPunct="1" latinLnBrk="0"/>
            <a:endParaRPr kumimoji="0" lang="en-US"/>
          </a:p>
        </p:txBody>
      </p:sp>
      <p:cxnSp>
        <p:nvCxnSpPr>
          <p:cNvPr id="3145728" name="Straight Connector 14"/>
          <p:cNvCxnSpPr>
            <a:cxnSpLocks/>
          </p:cNvCxnSpPr>
          <p:nvPr/>
        </p:nvCxnSpPr>
        <p:spPr>
          <a:xfrm>
            <a:off x="-11545" y="5787748"/>
            <a:ext cx="4256885" cy="1084383"/>
          </a:xfrm>
          <a:prstGeom prst="line"/>
          <a:noFill/>
          <a:ln w="12065" cap="flat" cmpd="sng" algn="ctr">
            <a:gradFill>
              <a:gsLst>
                <a:gs pos="15000">
                  <a:schemeClr val="accent1">
                    <a:shade val="40000"/>
                    <a:satMod val="110000"/>
                  </a:schemeClr>
                </a:gs>
                <a:gs pos="45000">
                  <a:schemeClr val="accent1">
                    <a:tint val="7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049031" name="Title Placeholder 8"/>
          <p:cNvSpPr>
            <a:spLocks noGrp="1"/>
          </p:cNvSpPr>
          <p:nvPr>
            <p:ph type="title"/>
          </p:nvPr>
        </p:nvSpPr>
        <p:spPr>
          <a:xfrm>
            <a:off x="571500" y="274639"/>
            <a:ext cx="10287000" cy="1143000"/>
          </a:xfrm>
          <a:prstGeom prst="rect"/>
        </p:spPr>
        <p:txBody>
          <a:bodyPr anchor="ctr" vert="horz">
            <a:normAutofit/>
            <a:scene3d>
              <a:camera prst="orthographicFront"/>
              <a:lightRig dir="t" rig="soft"/>
            </a:scene3d>
            <a:sp3d prstMaterial="softEdge">
              <a:bevelT w="25400" h="25400"/>
            </a:sp3d>
          </a:bodyPr>
          <a:p>
            <a:r>
              <a:rPr kumimoji="0" lang="en-US" smtClean="0"/>
              <a:t>Click to edit Master title style</a:t>
            </a:r>
            <a:endParaRPr kumimoji="0" lang="en-US"/>
          </a:p>
        </p:txBody>
      </p:sp>
      <p:sp>
        <p:nvSpPr>
          <p:cNvPr id="1049032" name="Text Placeholder 29"/>
          <p:cNvSpPr>
            <a:spLocks noGrp="1"/>
          </p:cNvSpPr>
          <p:nvPr>
            <p:ph type="body" idx="1"/>
          </p:nvPr>
        </p:nvSpPr>
        <p:spPr>
          <a:xfrm>
            <a:off x="571500" y="1481336"/>
            <a:ext cx="10287000" cy="4525963"/>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9033" name="Date Placeholder 9"/>
          <p:cNvSpPr>
            <a:spLocks noGrp="1"/>
          </p:cNvSpPr>
          <p:nvPr>
            <p:ph type="dt" sz="half" idx="2"/>
          </p:nvPr>
        </p:nvSpPr>
        <p:spPr>
          <a:xfrm>
            <a:off x="8408791" y="6407944"/>
            <a:ext cx="2400300" cy="365760"/>
          </a:xfrm>
          <a:prstGeom prst="rect"/>
        </p:spPr>
        <p:txBody>
          <a:bodyPr anchor="b" vert="horz"/>
          <a:lstStyle>
            <a:lvl1pPr algn="l" eaLnBrk="1" hangingPunct="1" latinLnBrk="0">
              <a:defRPr sz="1000" kumimoji="0">
                <a:solidFill>
                  <a:schemeClr val="tx1"/>
                </a:solidFill>
              </a:defRPr>
            </a:lvl1pPr>
          </a:lstStyle>
          <a:p>
            <a:fld id="{A8155230-7EEE-42A9-9F37-99869F7CDB32}" type="datetime1">
              <a:rPr lang="en-US" smtClean="0"/>
            </a:fld>
            <a:endParaRPr lang="en-US"/>
          </a:p>
        </p:txBody>
      </p:sp>
      <p:sp>
        <p:nvSpPr>
          <p:cNvPr id="1049034" name="Footer Placeholder 21"/>
          <p:cNvSpPr>
            <a:spLocks noGrp="1"/>
          </p:cNvSpPr>
          <p:nvPr>
            <p:ph type="ftr" sz="quarter" idx="3"/>
          </p:nvPr>
        </p:nvSpPr>
        <p:spPr>
          <a:xfrm>
            <a:off x="5475099" y="6407953"/>
            <a:ext cx="2938351" cy="365125"/>
          </a:xfrm>
          <a:prstGeom prst="rect"/>
        </p:spPr>
        <p:txBody>
          <a:bodyPr anchor="b" vert="horz"/>
          <a:lstStyle>
            <a:lvl1pPr algn="r" eaLnBrk="1" hangingPunct="1" latinLnBrk="0">
              <a:defRPr sz="1000" kumimoji="0">
                <a:solidFill>
                  <a:schemeClr val="tx1"/>
                </a:solidFill>
              </a:defRPr>
            </a:lvl1pPr>
          </a:lstStyle>
          <a:p>
            <a:r>
              <a:rPr lang="en-US" smtClean="0"/>
              <a:t>@MUSOVYA2017</a:t>
            </a:r>
            <a:endParaRPr lang="en-US"/>
          </a:p>
        </p:txBody>
      </p:sp>
      <p:sp>
        <p:nvSpPr>
          <p:cNvPr id="1049035" name="Slide Number Placeholder 17"/>
          <p:cNvSpPr>
            <a:spLocks noGrp="1"/>
          </p:cNvSpPr>
          <p:nvPr>
            <p:ph type="sldNum" sz="quarter" idx="4"/>
          </p:nvPr>
        </p:nvSpPr>
        <p:spPr>
          <a:xfrm>
            <a:off x="10809092" y="6407953"/>
            <a:ext cx="457200" cy="365125"/>
          </a:xfrm>
          <a:prstGeom prst="rect"/>
        </p:spPr>
        <p:txBody>
          <a:bodyPr anchor="b" vert="horz"/>
          <a:lstStyle>
            <a:lvl1pPr algn="r" eaLnBrk="1" hangingPunct="1" latinLnBrk="0">
              <a:defRPr b="0" sz="1000" kumimoji="0">
                <a:solidFill>
                  <a:schemeClr val="tx1"/>
                </a:solidFill>
              </a:defRPr>
            </a:lvl1pPr>
          </a:lstStyle>
          <a:p>
            <a:fld id="{539D2A76-69E3-4600-8808-3C1A10934549}"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Lst>
  <p:transition xmlns:p14="http://schemas.microsoft.com/office/powerpoint/2010/main" spd="slow">
    <p:strips dir="ru"/>
  </p:transition>
  <p:hf dt="0" hdr="0" sldNum="0"/>
  <p:txStyles>
    <p:titleStyle>
      <a:lvl1pPr algn="l" eaLnBrk="1" hangingPunct="1" latinLnBrk="0" rtl="0">
        <a:spcBef>
          <a:spcPct val="0"/>
        </a:spcBef>
        <a:buNone/>
        <a:defRPr b="1" sz="4100" kern="1200" kumimoji="0">
          <a:solidFill>
            <a:schemeClr val="tx2"/>
          </a:solidFill>
          <a:effectLst>
            <a:outerShdw algn="tl" blurRad="31750" dir="5400000" dist="25400" rotWithShape="0">
              <a:srgbClr val="000000">
                <a:alpha val="25000"/>
              </a:srgbClr>
            </a:outerShdw>
          </a:effectLst>
          <a:latin typeface="+mj-lt"/>
          <a:ea typeface="+mj-ea"/>
          <a:cs typeface="+mj-cs"/>
        </a:defRPr>
      </a:lvl1pPr>
    </p:titleStyle>
    <p:bodyStyle>
      <a:lvl1pPr algn="l" eaLnBrk="1" hangingPunct="1" indent="-256032" latinLnBrk="0" marL="365760" rtl="0">
        <a:spcBef>
          <a:spcPts val="400"/>
        </a:spcBef>
        <a:spcAft>
          <a:spcPts val="0"/>
        </a:spcAft>
        <a:buClr>
          <a:schemeClr val="accent1"/>
        </a:buClr>
        <a:buSzPct val="68000"/>
        <a:buFont typeface="Wingdings 3"/>
        <a:buChar char=""/>
        <a:defRPr sz="2700" kern="1200" kumimoji="0">
          <a:solidFill>
            <a:schemeClr val="tx1"/>
          </a:solidFill>
          <a:latin typeface="+mn-lt"/>
          <a:ea typeface="+mn-ea"/>
          <a:cs typeface="+mn-cs"/>
        </a:defRPr>
      </a:lvl1pPr>
      <a:lvl2pPr algn="l" eaLnBrk="1" hangingPunct="1" indent="-228600" latinLnBrk="0" marL="621792" rtl="0">
        <a:spcBef>
          <a:spcPts val="324"/>
        </a:spcBef>
        <a:buClr>
          <a:schemeClr val="accent1"/>
        </a:buClr>
        <a:buFont typeface="Verdana"/>
        <a:buChar char="◦"/>
        <a:defRPr sz="2300" kern="1200" kumimoji="0">
          <a:solidFill>
            <a:schemeClr val="tx1"/>
          </a:solidFill>
          <a:latin typeface="+mn-lt"/>
          <a:ea typeface="+mn-ea"/>
          <a:cs typeface="+mn-cs"/>
        </a:defRPr>
      </a:lvl2pPr>
      <a:lvl3pPr algn="l" eaLnBrk="1" hangingPunct="1" indent="-228600" latinLnBrk="0" marL="859536" rtl="0">
        <a:spcBef>
          <a:spcPts val="350"/>
        </a:spcBef>
        <a:buClr>
          <a:schemeClr val="accent2"/>
        </a:buClr>
        <a:buSzPct val="100000"/>
        <a:buFont typeface="Wingdings 2"/>
        <a:buChar char=""/>
        <a:defRPr sz="2100" kern="1200" kumimoji="0">
          <a:solidFill>
            <a:schemeClr val="tx1"/>
          </a:solidFill>
          <a:latin typeface="+mn-lt"/>
          <a:ea typeface="+mn-ea"/>
          <a:cs typeface="+mn-cs"/>
        </a:defRPr>
      </a:lvl3pPr>
      <a:lvl4pPr algn="l" eaLnBrk="1" hangingPunct="1" indent="-228600" latinLnBrk="0" marL="1143000" rtl="0">
        <a:spcBef>
          <a:spcPts val="350"/>
        </a:spcBef>
        <a:buClr>
          <a:schemeClr val="accent2"/>
        </a:buClr>
        <a:buFont typeface="Wingdings 2"/>
        <a:buChar char=""/>
        <a:defRPr sz="1900" kern="1200" kumimoji="0">
          <a:solidFill>
            <a:schemeClr val="tx1"/>
          </a:solidFill>
          <a:latin typeface="+mn-lt"/>
          <a:ea typeface="+mn-ea"/>
          <a:cs typeface="+mn-cs"/>
        </a:defRPr>
      </a:lvl4pPr>
      <a:lvl5pPr algn="l" eaLnBrk="1" hangingPunct="1" indent="-228600" latinLnBrk="0" marL="1371600" rtl="0">
        <a:spcBef>
          <a:spcPts val="350"/>
        </a:spcBef>
        <a:buClr>
          <a:schemeClr val="accent2"/>
        </a:buClr>
        <a:buFont typeface="Wingdings 2"/>
        <a:buChar char=""/>
        <a:defRPr sz="1800" kern="1200" kumimoji="0">
          <a:solidFill>
            <a:schemeClr val="tx1"/>
          </a:solidFill>
          <a:latin typeface="+mn-lt"/>
          <a:ea typeface="+mn-ea"/>
          <a:cs typeface="+mn-cs"/>
        </a:defRPr>
      </a:lvl5pPr>
      <a:lvl6pPr algn="l" eaLnBrk="1" hangingPunct="1" indent="-228600" latinLnBrk="0" marL="1600200" rtl="0">
        <a:spcBef>
          <a:spcPts val="350"/>
        </a:spcBef>
        <a:buClr>
          <a:schemeClr val="accent3"/>
        </a:buClr>
        <a:buFont typeface="Wingdings 2"/>
        <a:buChar char=""/>
        <a:defRPr sz="1800" kern="1200" kumimoji="0">
          <a:solidFill>
            <a:schemeClr val="tx1"/>
          </a:solidFill>
          <a:latin typeface="+mn-lt"/>
          <a:ea typeface="+mn-ea"/>
          <a:cs typeface="+mn-cs"/>
        </a:defRPr>
      </a:lvl6pPr>
      <a:lvl7pPr algn="l" eaLnBrk="1" hangingPunct="1" indent="-228600" latinLnBrk="0" marL="1828800" rtl="0">
        <a:spcBef>
          <a:spcPts val="350"/>
        </a:spcBef>
        <a:buClr>
          <a:schemeClr val="accent3"/>
        </a:buClr>
        <a:buFont typeface="Wingdings 2"/>
        <a:buChar char=""/>
        <a:defRPr sz="1600" kern="1200" kumimoji="0">
          <a:solidFill>
            <a:schemeClr val="tx1"/>
          </a:solidFill>
          <a:latin typeface="+mn-lt"/>
          <a:ea typeface="+mn-ea"/>
          <a:cs typeface="+mn-cs"/>
        </a:defRPr>
      </a:lvl7pPr>
      <a:lvl8pPr algn="l" eaLnBrk="1" hangingPunct="1" indent="-228600" latinLnBrk="0" marL="2057400" rtl="0">
        <a:spcBef>
          <a:spcPts val="350"/>
        </a:spcBef>
        <a:buClr>
          <a:schemeClr val="accent3"/>
        </a:buClr>
        <a:buFont typeface="Wingdings 2"/>
        <a:buChar char=""/>
        <a:defRPr sz="1600" kern="1200" kumimoji="0">
          <a:solidFill>
            <a:schemeClr val="tx1"/>
          </a:solidFill>
          <a:latin typeface="+mn-lt"/>
          <a:ea typeface="+mn-ea"/>
          <a:cs typeface="+mn-cs"/>
        </a:defRPr>
      </a:lvl8pPr>
      <a:lvl9pPr algn="l" eaLnBrk="1" hangingPunct="1" indent="-228600" latinLnBrk="0" marL="2286000" rtl="0">
        <a:spcBef>
          <a:spcPts val="350"/>
        </a:spcBef>
        <a:buClr>
          <a:schemeClr val="accent3"/>
        </a:buClr>
        <a:buFont typeface="Wingdings 2"/>
        <a:buChar char=""/>
        <a:defRPr baseline="0" sz="16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873" name=""/>
        <p:cNvGrpSpPr/>
        <p:nvPr/>
      </p:nvGrpSpPr>
      <p:grpSpPr>
        <a:xfrm>
          <a:off x="0" y="0"/>
          <a:ext cx="0" cy="0"/>
          <a:chOff x="0" y="0"/>
          <a:chExt cx="0" cy="0"/>
        </a:xfrm>
      </p:grpSpPr>
      <p:pic>
        <p:nvPicPr>
          <p:cNvPr id="2097157" name="Picture 6"/>
          <p:cNvPicPr>
            <a:picLocks noChangeAspect="1"/>
          </p:cNvPicPr>
          <p:nvPr/>
        </p:nvPicPr>
        <p:blipFill rotWithShape="1">
          <a:blip xmlns:r="http://schemas.openxmlformats.org/officeDocument/2006/relationships" r:embed="rId15" cstate="email"/>
          <a:srcRect/>
          <a:stretch>
            <a:fillRect/>
          </a:stretch>
        </p:blipFill>
        <p:spPr>
          <a:xfrm>
            <a:off x="54437" y="1"/>
            <a:ext cx="11375572" cy="6879771"/>
          </a:xfrm>
          <a:prstGeom prst="rect"/>
        </p:spPr>
      </p:pic>
      <p:sp>
        <p:nvSpPr>
          <p:cNvPr id="1049127" name="Title Placeholder 1"/>
          <p:cNvSpPr>
            <a:spLocks noGrp="1"/>
          </p:cNvSpPr>
          <p:nvPr>
            <p:ph type="title"/>
          </p:nvPr>
        </p:nvSpPr>
        <p:spPr>
          <a:xfrm>
            <a:off x="952501" y="274639"/>
            <a:ext cx="10096500" cy="1143000"/>
          </a:xfrm>
          <a:prstGeom prst="rect"/>
        </p:spPr>
        <p:txBody>
          <a:bodyPr anchor="ctr" bIns="45720" lIns="91440" rIns="91440" rtlCol="0" tIns="45720" vert="horz">
            <a:normAutofit/>
          </a:bodyPr>
          <a:p>
            <a:r>
              <a:rPr lang="en-US" smtClean="0"/>
              <a:t>Click to edit Master title style</a:t>
            </a:r>
            <a:endParaRPr dirty="0" lang="en-US"/>
          </a:p>
        </p:txBody>
      </p:sp>
      <p:sp>
        <p:nvSpPr>
          <p:cNvPr id="1049128" name="Text Placeholder 2"/>
          <p:cNvSpPr>
            <a:spLocks noGrp="1"/>
          </p:cNvSpPr>
          <p:nvPr>
            <p:ph type="body" idx="1"/>
          </p:nvPr>
        </p:nvSpPr>
        <p:spPr>
          <a:xfrm>
            <a:off x="952501" y="1600206"/>
            <a:ext cx="100965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9129" name="Date Placeholder 3"/>
          <p:cNvSpPr>
            <a:spLocks noGrp="1"/>
          </p:cNvSpPr>
          <p:nvPr>
            <p:ph type="dt" sz="half" idx="2"/>
          </p:nvPr>
        </p:nvSpPr>
        <p:spPr>
          <a:xfrm>
            <a:off x="952500" y="6356359"/>
            <a:ext cx="2667000" cy="365125"/>
          </a:xfrm>
          <a:prstGeom prst="rect"/>
        </p:spPr>
        <p:txBody>
          <a:bodyPr anchor="ctr" bIns="45720" lIns="91440" rIns="91440" rtlCol="0" tIns="45720" vert="horz"/>
          <a:lstStyle>
            <a:lvl1pPr algn="l">
              <a:defRPr sz="1200">
                <a:solidFill>
                  <a:schemeClr val="tx1">
                    <a:tint val="75000"/>
                  </a:schemeClr>
                </a:solidFill>
              </a:defRPr>
            </a:lvl1pPr>
          </a:lstStyle>
          <a:p>
            <a:fld id="{E7DD5D23-671A-4607-85A3-4BF8E187AF0B}" type="datetime1">
              <a:rPr lang="en-US" smtClean="0"/>
            </a:fld>
            <a:endParaRPr lang="en-US"/>
          </a:p>
        </p:txBody>
      </p:sp>
      <p:sp>
        <p:nvSpPr>
          <p:cNvPr id="1049130" name="Footer Placeholder 4"/>
          <p:cNvSpPr>
            <a:spLocks noGrp="1"/>
          </p:cNvSpPr>
          <p:nvPr>
            <p:ph type="ftr" sz="quarter" idx="3"/>
          </p:nvPr>
        </p:nvSpPr>
        <p:spPr>
          <a:xfrm>
            <a:off x="4191001" y="6356359"/>
            <a:ext cx="3619500" cy="365125"/>
          </a:xfrm>
          <a:prstGeom prst="rect"/>
        </p:spPr>
        <p:txBody>
          <a:bodyPr anchor="ctr" bIns="45720" lIns="91440" rIns="91440" rtlCol="0" tIns="45720" vert="horz"/>
          <a:lstStyle>
            <a:lvl1pPr algn="ctr">
              <a:defRPr sz="1200">
                <a:solidFill>
                  <a:schemeClr val="tx1">
                    <a:tint val="75000"/>
                  </a:schemeClr>
                </a:solidFill>
              </a:defRPr>
            </a:lvl1pPr>
          </a:lstStyle>
          <a:p>
            <a:r>
              <a:rPr lang="en-US" smtClean="0"/>
              <a:t>@MUSOVYA2017</a:t>
            </a:r>
            <a:endParaRPr lang="en-US"/>
          </a:p>
        </p:txBody>
      </p:sp>
      <p:sp>
        <p:nvSpPr>
          <p:cNvPr id="1049131" name="Slide Number Placeholder 5"/>
          <p:cNvSpPr>
            <a:spLocks noGrp="1"/>
          </p:cNvSpPr>
          <p:nvPr>
            <p:ph type="sldNum" sz="quarter" idx="4"/>
          </p:nvPr>
        </p:nvSpPr>
        <p:spPr>
          <a:xfrm>
            <a:off x="8382000" y="6356359"/>
            <a:ext cx="2667000" cy="365125"/>
          </a:xfrm>
          <a:prstGeom prst="rect"/>
        </p:spPr>
        <p:txBody>
          <a:bodyPr anchor="ctr" bIns="45720" lIns="91440" rIns="91440" rtlCol="0" tIns="45720" vert="horz"/>
          <a:lstStyle>
            <a:lvl1pPr algn="r">
              <a:defRPr sz="1200">
                <a:solidFill>
                  <a:schemeClr val="tx1">
                    <a:tint val="75000"/>
                  </a:schemeClr>
                </a:solidFill>
              </a:defRPr>
            </a:lvl1pPr>
          </a:lstStyle>
          <a:p>
            <a:fld id="{539D2A76-69E3-4600-8808-3C1A10934549}" type="slidenum">
              <a:rPr lang="en-US" smtClean="0"/>
            </a:fld>
            <a:endParaRPr lang="en-US"/>
          </a:p>
        </p:txBody>
      </p:sp>
      <p:pic>
        <p:nvPicPr>
          <p:cNvPr id="2097158" name="Picture 7"/>
          <p:cNvPicPr>
            <a:picLocks noChangeAspect="1"/>
          </p:cNvPicPr>
          <p:nvPr/>
        </p:nvPicPr>
        <p:blipFill rotWithShape="1">
          <a:blip xmlns:r="http://schemas.openxmlformats.org/officeDocument/2006/relationships" r:embed="rId16" cstate="email"/>
          <a:srcRect/>
          <a:stretch>
            <a:fillRect/>
          </a:stretch>
        </p:blipFill>
        <p:spPr>
          <a:xfrm>
            <a:off x="-190499" y="-109183"/>
            <a:ext cx="1023383" cy="7083189"/>
          </a:xfrm>
          <a:prstGeom prst="rect"/>
        </p:spPr>
      </p:pic>
    </p:spTree>
  </p:cSld>
  <p:clrMap accent1="accent1" accent2="accent2" accent3="accent3" accent4="accent4" accent5="accent5" accent6="accent6" bg1="lt1" bg2="lt2" tx1="dk1" tx2="dk2" hlink="hlink" folHlink="folHlink"/>
  <p:sldLayoutIdLst>
    <p:sldLayoutId id="2147483988" r:id="rId1"/>
    <p:sldLayoutId id="2147483989" r:id="rId2"/>
    <p:sldLayoutId id="2147483990" r:id="rId3"/>
    <p:sldLayoutId id="2147483991" r:id="rId4"/>
    <p:sldLayoutId id="2147483992" r:id="rId5"/>
    <p:sldLayoutId id="2147483993" r:id="rId6"/>
    <p:sldLayoutId id="2147483994" r:id="rId7"/>
    <p:sldLayoutId id="2147483995" r:id="rId8"/>
    <p:sldLayoutId id="2147483996" r:id="rId9"/>
    <p:sldLayoutId id="2147483997" r:id="rId10"/>
    <p:sldLayoutId id="2147483998" r:id="rId11"/>
    <p:sldLayoutId id="2147483999" r:id="rId12"/>
    <p:sldLayoutId id="2147484000" r:id="rId13"/>
    <p:sldLayoutId id="2147484001" r:id="rId14"/>
  </p:sldLayoutIdLst>
  <p:transition xmlns:p14="http://schemas.microsoft.com/office/powerpoint/2010/main" spd="slow">
    <p:strips dir="ru"/>
  </p:transition>
  <p:timing/>
  <p:hf dt="0" hdr="0" sldNum="0"/>
  <p:txStyles>
    <p:titleStyle>
      <a:lvl1pPr algn="l" defTabSz="914400" eaLnBrk="1" hangingPunct="1" latinLnBrk="0" rtl="0">
        <a:spcBef>
          <a:spcPct val="0"/>
        </a:spcBef>
        <a:buNone/>
        <a:defRPr dirty="0" sz="4400" kern="1200" lang="en-US" smtClean="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28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4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0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18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18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930" name=""/>
        <p:cNvGrpSpPr/>
        <p:nvPr/>
      </p:nvGrpSpPr>
      <p:grpSpPr>
        <a:xfrm>
          <a:off x="0" y="0"/>
          <a:ext cx="0" cy="0"/>
          <a:chOff x="0" y="0"/>
          <a:chExt cx="0" cy="0"/>
        </a:xfrm>
      </p:grpSpPr>
      <p:sp>
        <p:nvSpPr>
          <p:cNvPr id="1049237" name="Pie 6"/>
          <p:cNvSpPr/>
          <p:nvPr/>
        </p:nvSpPr>
        <p:spPr>
          <a:xfrm>
            <a:off x="-1019903" y="-815920"/>
            <a:ext cx="2048608"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238" name="Oval 7"/>
          <p:cNvSpPr/>
          <p:nvPr/>
        </p:nvSpPr>
        <p:spPr>
          <a:xfrm>
            <a:off x="211030" y="21106"/>
            <a:ext cx="2127739" cy="1702191"/>
          </a:xfrm>
          <a:prstGeom prst="ellipse"/>
          <a:noFill/>
          <a:ln w="27305" cap="rnd" cmpd="sng" algn="ctr">
            <a:solidFill>
              <a:schemeClr val="bg2">
                <a:tint val="45000"/>
                <a:satMod val="325000"/>
                <a:alpha val="100000"/>
              </a:schemeClr>
            </a:solidFill>
            <a:prstDash val="solid"/>
          </a:ln>
          <a:effectLst>
            <a:outerShdw algn="tl" blurRad="25400" dir="5400000" dist="25400"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239" name="Donut 10"/>
          <p:cNvSpPr/>
          <p:nvPr/>
        </p:nvSpPr>
        <p:spPr>
          <a:xfrm rot="2315675">
            <a:off x="228608" y="1055079"/>
            <a:ext cx="140714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algn="tl" blurRad="12700" dir="4500000" dist="15000"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240" name="Rectangle 11"/>
          <p:cNvSpPr/>
          <p:nvPr/>
        </p:nvSpPr>
        <p:spPr>
          <a:xfrm>
            <a:off x="1266102" y="-53"/>
            <a:ext cx="10163908" cy="6858055"/>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241" name="Title Placeholder 4"/>
          <p:cNvSpPr>
            <a:spLocks noGrp="1"/>
          </p:cNvSpPr>
          <p:nvPr>
            <p:ph type="title"/>
          </p:nvPr>
        </p:nvSpPr>
        <p:spPr>
          <a:xfrm>
            <a:off x="1794509" y="274639"/>
            <a:ext cx="9372600" cy="1143000"/>
          </a:xfrm>
          <a:prstGeom prst="rect"/>
        </p:spPr>
        <p:txBody>
          <a:bodyPr anchor="ctr">
            <a:normAutofit/>
          </a:bodyPr>
          <a:p>
            <a:r>
              <a:rPr kumimoji="0" lang="en-US" smtClean="0"/>
              <a:t>Click to edit Master title style</a:t>
            </a:r>
            <a:endParaRPr kumimoji="0" lang="en-US"/>
          </a:p>
        </p:txBody>
      </p:sp>
      <p:sp>
        <p:nvSpPr>
          <p:cNvPr id="1049242" name="Text Placeholder 8"/>
          <p:cNvSpPr>
            <a:spLocks noGrp="1"/>
          </p:cNvSpPr>
          <p:nvPr>
            <p:ph type="body" idx="1"/>
          </p:nvPr>
        </p:nvSpPr>
        <p:spPr>
          <a:xfrm>
            <a:off x="1794509" y="1447800"/>
            <a:ext cx="9372600" cy="4800600"/>
          </a:xfrm>
          <a:prstGeom prst="rect"/>
        </p:spPr>
        <p:txBody>
          <a:bodyPr>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9243" name="Date Placeholder 23"/>
          <p:cNvSpPr>
            <a:spLocks noGrp="1"/>
          </p:cNvSpPr>
          <p:nvPr>
            <p:ph type="dt" sz="half" idx="2"/>
          </p:nvPr>
        </p:nvSpPr>
        <p:spPr>
          <a:xfrm>
            <a:off x="4476750" y="6305556"/>
            <a:ext cx="2667000" cy="476251"/>
          </a:xfrm>
          <a:prstGeom prst="rect"/>
        </p:spPr>
        <p:txBody>
          <a:bodyPr anchor="b"/>
          <a:lstStyle>
            <a:lvl1pPr algn="r" eaLnBrk="1" hangingPunct="1" latinLnBrk="0">
              <a:defRPr sz="1200" kumimoji="0">
                <a:solidFill>
                  <a:schemeClr val="bg2">
                    <a:shade val="50000"/>
                    <a:satMod val="200000"/>
                  </a:schemeClr>
                </a:solidFill>
              </a:defRPr>
            </a:lvl1pPr>
          </a:lstStyle>
          <a:p>
            <a:fld id="{71989570-A4F1-404E-96E6-E7562ED152FB}" type="datetime1">
              <a:rPr lang="en-US" smtClean="0"/>
            </a:fld>
            <a:endParaRPr lang="en-US"/>
          </a:p>
        </p:txBody>
      </p:sp>
      <p:sp>
        <p:nvSpPr>
          <p:cNvPr id="1049244" name="Footer Placeholder 9"/>
          <p:cNvSpPr>
            <a:spLocks noGrp="1"/>
          </p:cNvSpPr>
          <p:nvPr>
            <p:ph type="ftr" sz="quarter" idx="3"/>
          </p:nvPr>
        </p:nvSpPr>
        <p:spPr>
          <a:xfrm>
            <a:off x="7143751" y="6305556"/>
            <a:ext cx="3619500" cy="476251"/>
          </a:xfrm>
          <a:prstGeom prst="rect"/>
        </p:spPr>
        <p:txBody>
          <a:bodyPr anchor="b"/>
          <a:lstStyle>
            <a:lvl1pPr eaLnBrk="1" hangingPunct="1" latinLnBrk="0">
              <a:defRPr sz="1200" kumimoji="0">
                <a:solidFill>
                  <a:schemeClr val="bg2">
                    <a:shade val="50000"/>
                    <a:satMod val="200000"/>
                  </a:schemeClr>
                </a:solidFill>
                <a:effectLst/>
              </a:defRPr>
            </a:lvl1pPr>
          </a:lstStyle>
          <a:p>
            <a:r>
              <a:rPr lang="en-US" smtClean="0"/>
              <a:t>@MUSOVYA2017</a:t>
            </a:r>
            <a:endParaRPr lang="en-US"/>
          </a:p>
        </p:txBody>
      </p:sp>
      <p:sp>
        <p:nvSpPr>
          <p:cNvPr id="1049245" name="Slide Number Placeholder 21"/>
          <p:cNvSpPr>
            <a:spLocks noGrp="1"/>
          </p:cNvSpPr>
          <p:nvPr>
            <p:ph type="sldNum" sz="quarter" idx="4"/>
          </p:nvPr>
        </p:nvSpPr>
        <p:spPr>
          <a:xfrm>
            <a:off x="10767059" y="6305556"/>
            <a:ext cx="571500" cy="476251"/>
          </a:xfrm>
          <a:prstGeom prst="rect"/>
        </p:spPr>
        <p:txBody>
          <a:bodyPr anchor="b"/>
          <a:lstStyle>
            <a:lvl1pPr algn="ctr" eaLnBrk="1" hangingPunct="1" latinLnBrk="0">
              <a:defRPr sz="1200" kumimoji="0">
                <a:solidFill>
                  <a:schemeClr val="bg2">
                    <a:shade val="50000"/>
                    <a:satMod val="200000"/>
                  </a:schemeClr>
                </a:solidFill>
                <a:effectLst/>
              </a:defRPr>
            </a:lvl1pPr>
          </a:lstStyle>
          <a:p>
            <a:fld id="{539D2A76-69E3-4600-8808-3C1A10934549}" type="slidenum">
              <a:rPr lang="en-US" smtClean="0"/>
            </a:fld>
            <a:endParaRPr lang="en-US"/>
          </a:p>
        </p:txBody>
      </p:sp>
      <p:sp>
        <p:nvSpPr>
          <p:cNvPr id="1049246" name="Rectangle 14"/>
          <p:cNvSpPr/>
          <p:nvPr/>
        </p:nvSpPr>
        <p:spPr bwMode="invGray">
          <a:xfrm>
            <a:off x="1268730" y="-53"/>
            <a:ext cx="91441"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 accent1="accent1" accent2="accent2" accent3="accent3" accent4="accent4" accent5="accent5" accent6="accent6" bg1="lt1" bg2="lt2" tx1="dk1" tx2="dk2"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Lst>
  <p:transition xmlns:p14="http://schemas.microsoft.com/office/powerpoint/2010/main" spd="slow">
    <p:strips dir="ru"/>
  </p:transition>
  <p:timing/>
  <p:hf dt="0" hdr="0" sldNum="0"/>
  <p:txStyles>
    <p:titleStyle>
      <a:lvl1pPr algn="l" eaLnBrk="1" hangingPunct="1" latinLnBrk="0" rtl="0">
        <a:spcBef>
          <a:spcPct val="0"/>
        </a:spcBef>
        <a:buNone/>
        <a:defRPr sz="4300" kern="1200" kumimoji="0">
          <a:solidFill>
            <a:schemeClr val="tx2">
              <a:satMod val="130000"/>
            </a:schemeClr>
          </a:solidFill>
          <a:effectLst>
            <a:outerShdw algn="tl" blurRad="50000" dir="5400000" dist="30000" rotWithShape="0">
              <a:srgbClr val="000000">
                <a:alpha val="30000"/>
              </a:srgbClr>
            </a:outerShdw>
          </a:effectLst>
          <a:latin typeface="+mj-lt"/>
          <a:ea typeface="+mj-ea"/>
          <a:cs typeface="+mj-cs"/>
        </a:defRPr>
      </a:lvl1pPr>
    </p:titleStyle>
    <p:bodyStyle>
      <a:lvl1pPr algn="l" eaLnBrk="1" hangingPunct="1" indent="-283464" latinLnBrk="0" marL="365760" rtl="0">
        <a:lnSpc>
          <a:spcPct val="100000"/>
        </a:lnSpc>
        <a:spcBef>
          <a:spcPts val="600"/>
        </a:spcBef>
        <a:buClr>
          <a:schemeClr val="accent1"/>
        </a:buClr>
        <a:buSzPct val="80000"/>
        <a:buFont typeface="Wingdings 2"/>
        <a:buChar char=""/>
        <a:defRPr sz="3200" kern="1200" kumimoji="0">
          <a:solidFill>
            <a:schemeClr val="tx1"/>
          </a:solidFill>
          <a:latin typeface="+mn-lt"/>
          <a:ea typeface="+mn-ea"/>
          <a:cs typeface="+mn-cs"/>
        </a:defRPr>
      </a:lvl1pPr>
      <a:lvl2pPr algn="l" eaLnBrk="1" hangingPunct="1" indent="-237744" latinLnBrk="0" marL="640080" rtl="0">
        <a:lnSpc>
          <a:spcPct val="100000"/>
        </a:lnSpc>
        <a:spcBef>
          <a:spcPts val="550"/>
        </a:spcBef>
        <a:buClr>
          <a:schemeClr val="accent1"/>
        </a:buClr>
        <a:buFont typeface="Verdana"/>
        <a:buChar char="◦"/>
        <a:defRPr sz="2800" kern="1200" kumimoji="0">
          <a:solidFill>
            <a:schemeClr val="tx1"/>
          </a:solidFill>
          <a:latin typeface="+mn-lt"/>
          <a:ea typeface="+mn-ea"/>
          <a:cs typeface="+mn-cs"/>
        </a:defRPr>
      </a:lvl2pPr>
      <a:lvl3pPr algn="l" eaLnBrk="1" hangingPunct="1" indent="-228600" latinLnBrk="0" marL="886968" rtl="0">
        <a:lnSpc>
          <a:spcPct val="100000"/>
        </a:lnSpc>
        <a:spcBef>
          <a:spcPct val="20000"/>
        </a:spcBef>
        <a:buClr>
          <a:schemeClr val="accent2"/>
        </a:buClr>
        <a:buFont typeface="Wingdings 2"/>
        <a:buChar char=""/>
        <a:defRPr sz="2400" kern="1200" kumimoji="0">
          <a:solidFill>
            <a:schemeClr val="tx1"/>
          </a:solidFill>
          <a:latin typeface="+mn-lt"/>
          <a:ea typeface="+mn-ea"/>
          <a:cs typeface="+mn-cs"/>
        </a:defRPr>
      </a:lvl3pPr>
      <a:lvl4pPr algn="l" eaLnBrk="1" hangingPunct="1" indent="-173736" latinLnBrk="0" marL="1097280" rtl="0">
        <a:lnSpc>
          <a:spcPct val="100000"/>
        </a:lnSpc>
        <a:spcBef>
          <a:spcPct val="20000"/>
        </a:spcBef>
        <a:buClr>
          <a:schemeClr val="accent3"/>
        </a:buClr>
        <a:buFont typeface="Wingdings 2"/>
        <a:buChar char=""/>
        <a:defRPr sz="2000" kern="1200" kumimoji="0">
          <a:solidFill>
            <a:schemeClr val="tx1"/>
          </a:solidFill>
          <a:latin typeface="+mn-lt"/>
          <a:ea typeface="+mn-ea"/>
          <a:cs typeface="+mn-cs"/>
        </a:defRPr>
      </a:lvl4pPr>
      <a:lvl5pPr algn="l" eaLnBrk="1" hangingPunct="1" indent="-182880" latinLnBrk="0" marL="1298448" rtl="0">
        <a:lnSpc>
          <a:spcPct val="100000"/>
        </a:lnSpc>
        <a:spcBef>
          <a:spcPct val="20000"/>
        </a:spcBef>
        <a:buClr>
          <a:schemeClr val="accent4"/>
        </a:buClr>
        <a:buFont typeface="Wingdings 2"/>
        <a:buChar char=""/>
        <a:defRPr sz="2000" kern="1200" kumimoji="0">
          <a:solidFill>
            <a:schemeClr val="tx1"/>
          </a:solidFill>
          <a:latin typeface="+mn-lt"/>
          <a:ea typeface="+mn-ea"/>
          <a:cs typeface="+mn-cs"/>
        </a:defRPr>
      </a:lvl5pPr>
      <a:lvl6pPr algn="l" eaLnBrk="1" hangingPunct="1" indent="-182880" latinLnBrk="0" marL="1508760" rtl="0">
        <a:lnSpc>
          <a:spcPct val="100000"/>
        </a:lnSpc>
        <a:spcBef>
          <a:spcPct val="20000"/>
        </a:spcBef>
        <a:buClr>
          <a:schemeClr val="accent5"/>
        </a:buClr>
        <a:buFont typeface="Wingdings 2"/>
        <a:buChar char=""/>
        <a:defRPr sz="2000" kern="1200" kumimoji="0">
          <a:solidFill>
            <a:schemeClr val="tx1"/>
          </a:solidFill>
          <a:latin typeface="+mn-lt"/>
          <a:ea typeface="+mn-ea"/>
          <a:cs typeface="+mn-cs"/>
        </a:defRPr>
      </a:lvl6pPr>
      <a:lvl7pPr algn="l" eaLnBrk="1" hangingPunct="1" indent="-182880" latinLnBrk="0" marL="171907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7pPr>
      <a:lvl8pPr algn="l" eaLnBrk="1" hangingPunct="1" indent="-182880" latinLnBrk="0" marL="1920240"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8pPr>
      <a:lvl9pPr algn="l" eaLnBrk="1" hangingPunct="1" indent="-182880" latinLnBrk="0" marL="213055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018" name=""/>
        <p:cNvGrpSpPr/>
        <p:nvPr/>
      </p:nvGrpSpPr>
      <p:grpSpPr>
        <a:xfrm>
          <a:off x="0" y="0"/>
          <a:ext cx="0" cy="0"/>
          <a:chOff x="0" y="0"/>
          <a:chExt cx="0" cy="0"/>
        </a:xfrm>
      </p:grpSpPr>
      <p:sp>
        <p:nvSpPr>
          <p:cNvPr id="1049416" name="Title Placeholder 21"/>
          <p:cNvSpPr>
            <a:spLocks noGrp="1"/>
          </p:cNvSpPr>
          <p:nvPr>
            <p:ph type="title"/>
          </p:nvPr>
        </p:nvSpPr>
        <p:spPr>
          <a:xfrm>
            <a:off x="762000" y="228600"/>
            <a:ext cx="10191750" cy="990600"/>
          </a:xfrm>
          <a:prstGeom prst="rect"/>
        </p:spPr>
        <p:txBody>
          <a:bodyPr anchor="ctr" vert="horz">
            <a:normAutofit/>
          </a:bodyPr>
          <a:p>
            <a:r>
              <a:rPr kumimoji="0" lang="en-US" smtClean="0"/>
              <a:t>Click to edit Master title style</a:t>
            </a:r>
            <a:endParaRPr kumimoji="0" lang="en-US"/>
          </a:p>
        </p:txBody>
      </p:sp>
      <p:sp>
        <p:nvSpPr>
          <p:cNvPr id="1049417" name="Text Placeholder 12"/>
          <p:cNvSpPr>
            <a:spLocks noGrp="1"/>
          </p:cNvSpPr>
          <p:nvPr>
            <p:ph type="body" idx="1"/>
          </p:nvPr>
        </p:nvSpPr>
        <p:spPr>
          <a:xfrm>
            <a:off x="765809" y="1600200"/>
            <a:ext cx="10191750" cy="4526280"/>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9418" name="Date Placeholder 13"/>
          <p:cNvSpPr>
            <a:spLocks noGrp="1"/>
          </p:cNvSpPr>
          <p:nvPr>
            <p:ph type="dt" sz="half" idx="2"/>
          </p:nvPr>
        </p:nvSpPr>
        <p:spPr>
          <a:xfrm>
            <a:off x="7620000" y="6248409"/>
            <a:ext cx="3333750" cy="365125"/>
          </a:xfrm>
          <a:prstGeom prst="rect"/>
        </p:spPr>
        <p:txBody>
          <a:bodyPr anchor="ctr" anchorCtr="0" vert="horz"/>
          <a:lstStyle>
            <a:lvl1pPr algn="l" eaLnBrk="1" hangingPunct="1" latinLnBrk="0">
              <a:defRPr sz="1400" kumimoji="0">
                <a:solidFill>
                  <a:schemeClr val="tx2"/>
                </a:solidFill>
              </a:defRPr>
            </a:lvl1pPr>
          </a:lstStyle>
          <a:p>
            <a:fld id="{68B523FB-1C20-427B-B9AD-D73730E69E7E}" type="datetime1">
              <a:rPr lang="en-US" smtClean="0"/>
            </a:fld>
            <a:endParaRPr lang="en-US"/>
          </a:p>
        </p:txBody>
      </p:sp>
      <p:sp>
        <p:nvSpPr>
          <p:cNvPr id="1049419" name="Footer Placeholder 2"/>
          <p:cNvSpPr>
            <a:spLocks noGrp="1"/>
          </p:cNvSpPr>
          <p:nvPr>
            <p:ph type="ftr" sz="quarter" idx="3"/>
          </p:nvPr>
        </p:nvSpPr>
        <p:spPr>
          <a:xfrm>
            <a:off x="762009" y="6248215"/>
            <a:ext cx="6776354" cy="365125"/>
          </a:xfrm>
          <a:prstGeom prst="rect"/>
        </p:spPr>
        <p:txBody>
          <a:bodyPr anchor="ctr" vert="horz"/>
          <a:lstStyle>
            <a:lvl1pPr algn="r" eaLnBrk="1" hangingPunct="1" latinLnBrk="0">
              <a:defRPr sz="1400" kumimoji="0">
                <a:solidFill>
                  <a:schemeClr val="tx2"/>
                </a:solidFill>
              </a:defRPr>
            </a:lvl1pPr>
          </a:lstStyle>
          <a:p>
            <a:r>
              <a:rPr lang="en-US" smtClean="0"/>
              <a:t>@MUSOVYA2017</a:t>
            </a:r>
            <a:endParaRPr lang="en-US"/>
          </a:p>
        </p:txBody>
      </p:sp>
      <p:sp>
        <p:nvSpPr>
          <p:cNvPr id="1049420" name="Rectangle 6"/>
          <p:cNvSpPr/>
          <p:nvPr/>
        </p:nvSpPr>
        <p:spPr bwMode="white">
          <a:xfrm>
            <a:off x="0" y="1234440"/>
            <a:ext cx="11430000" cy="320040"/>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421" name="Rectangle 7"/>
          <p:cNvSpPr/>
          <p:nvPr/>
        </p:nvSpPr>
        <p:spPr>
          <a:xfrm>
            <a:off x="0" y="1280160"/>
            <a:ext cx="666750" cy="228600"/>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422" name="Rectangle 8"/>
          <p:cNvSpPr/>
          <p:nvPr/>
        </p:nvSpPr>
        <p:spPr>
          <a:xfrm>
            <a:off x="738190" y="1280160"/>
            <a:ext cx="10691815" cy="228600"/>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423" name="Slide Number Placeholder 22"/>
          <p:cNvSpPr>
            <a:spLocks noGrp="1"/>
          </p:cNvSpPr>
          <p:nvPr>
            <p:ph type="sldNum" sz="quarter" idx="4"/>
          </p:nvPr>
        </p:nvSpPr>
        <p:spPr>
          <a:xfrm>
            <a:off x="0" y="1272223"/>
            <a:ext cx="666750" cy="244476"/>
          </a:xfrm>
          <a:prstGeom prst="rect"/>
        </p:spPr>
        <p:txBody>
          <a:bodyPr anchor="ctr" anchorCtr="0" vert="horz">
            <a:normAutofit/>
          </a:bodyPr>
          <a:lstStyle>
            <a:lvl1pPr algn="ctr" eaLnBrk="1" hangingPunct="1" latinLnBrk="0">
              <a:defRPr b="1" sz="1400" kumimoji="0">
                <a:solidFill>
                  <a:srgbClr val="FFFFFF"/>
                </a:solidFill>
              </a:defRPr>
            </a:lvl1pPr>
          </a:lstStyle>
          <a:p>
            <a:fld id="{539D2A76-69E3-4600-8808-3C1A10934549}"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Lst>
  <p:transition xmlns:p14="http://schemas.microsoft.com/office/powerpoint/2010/main" spd="slow">
    <p:strips dir="ru"/>
  </p:transition>
  <p:hf dt="0" hdr="0" sldNum="0"/>
  <p:txStyles>
    <p:titleStyle>
      <a:lvl1pPr algn="l" eaLnBrk="1" hangingPunct="1" latinLnBrk="0" rtl="0">
        <a:spcBef>
          <a:spcPct val="0"/>
        </a:spcBef>
        <a:buNone/>
        <a:defRPr sz="4400" kern="1200" kumimoji="0">
          <a:solidFill>
            <a:schemeClr val="tx2"/>
          </a:solidFill>
          <a:latin typeface="+mj-lt"/>
          <a:ea typeface="+mj-ea"/>
          <a:cs typeface="+mj-cs"/>
        </a:defRPr>
      </a:lvl1pPr>
    </p:titleStyle>
    <p:bodyStyle>
      <a:lvl1pPr algn="l" eaLnBrk="1" hangingPunct="1" indent="-320040" latinLnBrk="0" marL="320040" rtl="0">
        <a:spcBef>
          <a:spcPts val="700"/>
        </a:spcBef>
        <a:buClr>
          <a:schemeClr val="accent2"/>
        </a:buClr>
        <a:buSzPct val="60000"/>
        <a:buFont typeface="Wingdings"/>
        <a:buChar char=""/>
        <a:defRPr sz="2900" kern="1200" kumimoji="0">
          <a:solidFill>
            <a:schemeClr val="tx1"/>
          </a:solidFill>
          <a:latin typeface="+mn-lt"/>
          <a:ea typeface="+mn-ea"/>
          <a:cs typeface="+mn-cs"/>
        </a:defRPr>
      </a:lvl1pPr>
      <a:lvl2pPr algn="l" eaLnBrk="1" hangingPunct="1" indent="-274320" latinLnBrk="0" marL="640080" rtl="0">
        <a:spcBef>
          <a:spcPts val="550"/>
        </a:spcBef>
        <a:buClr>
          <a:schemeClr val="accent1"/>
        </a:buClr>
        <a:buSzPct val="70000"/>
        <a:buFont typeface="Wingdings 2"/>
        <a:buChar char=""/>
        <a:defRPr sz="2600" kern="1200" kumimoji="0">
          <a:solidFill>
            <a:schemeClr val="tx1"/>
          </a:solidFill>
          <a:latin typeface="+mn-lt"/>
          <a:ea typeface="+mn-ea"/>
          <a:cs typeface="+mn-cs"/>
        </a:defRPr>
      </a:lvl2pPr>
      <a:lvl3pPr algn="l" eaLnBrk="1" hangingPunct="1" indent="-228600" latinLnBrk="0" marL="914400" rtl="0">
        <a:spcBef>
          <a:spcPts val="500"/>
        </a:spcBef>
        <a:buClr>
          <a:schemeClr val="accent2"/>
        </a:buClr>
        <a:buSzPct val="75000"/>
        <a:buFont typeface="Wingdings"/>
        <a:buChar char=""/>
        <a:defRPr sz="2300" kern="1200" kumimoji="0">
          <a:solidFill>
            <a:schemeClr val="tx1"/>
          </a:solidFill>
          <a:latin typeface="+mn-lt"/>
          <a:ea typeface="+mn-ea"/>
          <a:cs typeface="+mn-cs"/>
        </a:defRPr>
      </a:lvl3pPr>
      <a:lvl4pPr algn="l" eaLnBrk="1" hangingPunct="1" indent="-228600" latinLnBrk="0" marL="1371600" rtl="0">
        <a:spcBef>
          <a:spcPts val="400"/>
        </a:spcBef>
        <a:buClr>
          <a:schemeClr val="accent3"/>
        </a:buClr>
        <a:buSzPct val="75000"/>
        <a:buFont typeface="Wingdings"/>
        <a:buChar char=""/>
        <a:defRPr sz="2000" kern="1200" kumimoji="0">
          <a:solidFill>
            <a:schemeClr val="tx1"/>
          </a:solidFill>
          <a:latin typeface="+mn-lt"/>
          <a:ea typeface="+mn-ea"/>
          <a:cs typeface="+mn-cs"/>
        </a:defRPr>
      </a:lvl4pPr>
      <a:lvl5pPr algn="l" eaLnBrk="1" hangingPunct="1" indent="-228600" latinLnBrk="0" marL="1828800" rtl="0">
        <a:spcBef>
          <a:spcPts val="400"/>
        </a:spcBef>
        <a:buClr>
          <a:schemeClr val="accent4"/>
        </a:buClr>
        <a:buSzPct val="65000"/>
        <a:buFont typeface="Wingdings"/>
        <a:buChar char=""/>
        <a:defRPr sz="2000" kern="1200" kumimoji="0">
          <a:solidFill>
            <a:schemeClr val="tx1"/>
          </a:solidFill>
          <a:latin typeface="+mn-lt"/>
          <a:ea typeface="+mn-ea"/>
          <a:cs typeface="+mn-cs"/>
        </a:defRPr>
      </a:lvl5pPr>
      <a:lvl6pPr algn="l" eaLnBrk="1" hangingPunct="1" indent="-228600" latinLnBrk="0" marL="2103120" rtl="0">
        <a:spcBef>
          <a:spcPct val="20000"/>
        </a:spcBef>
        <a:buClr>
          <a:schemeClr val="accent1"/>
        </a:buClr>
        <a:buFont typeface="Wingdings"/>
        <a:buChar char="§"/>
        <a:defRPr baseline="0" sz="1800" kern="1200" kumimoji="0">
          <a:solidFill>
            <a:schemeClr val="tx1"/>
          </a:solidFill>
          <a:latin typeface="+mn-lt"/>
          <a:ea typeface="+mn-ea"/>
          <a:cs typeface="+mn-cs"/>
        </a:defRPr>
      </a:lvl6pPr>
      <a:lvl7pPr algn="l" eaLnBrk="1" hangingPunct="1" indent="-228600" latinLnBrk="0" marL="2377440" rtl="0">
        <a:spcBef>
          <a:spcPct val="20000"/>
        </a:spcBef>
        <a:buClr>
          <a:schemeClr val="accent2"/>
        </a:buClr>
        <a:buFont typeface="Wingdings"/>
        <a:buChar char="§"/>
        <a:defRPr baseline="0" sz="1800" kern="1200" kumimoji="0">
          <a:solidFill>
            <a:schemeClr val="tx1"/>
          </a:solidFill>
          <a:latin typeface="+mn-lt"/>
          <a:ea typeface="+mn-ea"/>
          <a:cs typeface="+mn-cs"/>
        </a:defRPr>
      </a:lvl7pPr>
      <a:lvl8pPr algn="l" eaLnBrk="1" hangingPunct="1" indent="-228600" latinLnBrk="0" marL="2651760" rtl="0">
        <a:spcBef>
          <a:spcPct val="20000"/>
        </a:spcBef>
        <a:buClr>
          <a:schemeClr val="accent3"/>
        </a:buClr>
        <a:buFont typeface="Wingdings"/>
        <a:buChar char="§"/>
        <a:defRPr baseline="0" sz="1800" kern="1200" kumimoji="0">
          <a:solidFill>
            <a:schemeClr val="tx1"/>
          </a:solidFill>
          <a:latin typeface="+mn-lt"/>
          <a:ea typeface="+mn-ea"/>
          <a:cs typeface="+mn-cs"/>
        </a:defRPr>
      </a:lvl8pPr>
      <a:lvl9pPr algn="l" eaLnBrk="1" hangingPunct="1" indent="-228600" latinLnBrk="0" marL="2926080" rtl="0">
        <a:spcBef>
          <a:spcPct val="20000"/>
        </a:spcBef>
        <a:buClr>
          <a:schemeClr val="accent4"/>
        </a:buClr>
        <a:buFont typeface="Wingdings"/>
        <a:buChar char="§"/>
        <a:defRPr baseline="0" sz="18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2" cstate="print"/>
          <a:srcRect/>
          <a:tile algn="tl" flip="none" sx="100000" sy="100000" tx="0" ty="0"/>
        </a:blipFill>
      </p:bgPr>
    </p:bg>
    <p:spTree>
      <p:nvGrpSpPr>
        <p:cNvPr id="1099" name=""/>
        <p:cNvGrpSpPr/>
        <p:nvPr/>
      </p:nvGrpSpPr>
      <p:grpSpPr>
        <a:xfrm>
          <a:off x="0" y="0"/>
          <a:ext cx="0" cy="0"/>
          <a:chOff x="0" y="0"/>
          <a:chExt cx="0" cy="0"/>
        </a:xfrm>
      </p:grpSpPr>
      <p:sp>
        <p:nvSpPr>
          <p:cNvPr id="1049594" name="Pie 6"/>
          <p:cNvSpPr/>
          <p:nvPr/>
        </p:nvSpPr>
        <p:spPr>
          <a:xfrm>
            <a:off x="-1019903" y="-815920"/>
            <a:ext cx="2048608"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595" name="Oval 7"/>
          <p:cNvSpPr/>
          <p:nvPr/>
        </p:nvSpPr>
        <p:spPr>
          <a:xfrm>
            <a:off x="211030" y="21106"/>
            <a:ext cx="2127739" cy="1702191"/>
          </a:xfrm>
          <a:prstGeom prst="ellipse"/>
          <a:noFill/>
          <a:ln w="27305" cap="rnd" cmpd="sng" algn="ctr">
            <a:solidFill>
              <a:schemeClr val="bg2">
                <a:tint val="45000"/>
                <a:satMod val="325000"/>
                <a:alpha val="100000"/>
              </a:schemeClr>
            </a:solidFill>
            <a:prstDash val="solid"/>
          </a:ln>
          <a:effectLst>
            <a:outerShdw algn="tl" blurRad="25400" dir="5400000" dist="25400"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596" name="Donut 10"/>
          <p:cNvSpPr/>
          <p:nvPr/>
        </p:nvSpPr>
        <p:spPr>
          <a:xfrm rot="2315675">
            <a:off x="228608" y="1055079"/>
            <a:ext cx="140714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algn="tl" blurRad="12700" dir="4500000" dist="15000"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597" name="Rectangle 11"/>
          <p:cNvSpPr/>
          <p:nvPr/>
        </p:nvSpPr>
        <p:spPr>
          <a:xfrm>
            <a:off x="1266102" y="-53"/>
            <a:ext cx="10163908" cy="6858055"/>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9598" name="Title Placeholder 4"/>
          <p:cNvSpPr>
            <a:spLocks noGrp="1"/>
          </p:cNvSpPr>
          <p:nvPr>
            <p:ph type="title"/>
          </p:nvPr>
        </p:nvSpPr>
        <p:spPr>
          <a:xfrm>
            <a:off x="1794509" y="274639"/>
            <a:ext cx="9372600" cy="1143000"/>
          </a:xfrm>
          <a:prstGeom prst="rect"/>
        </p:spPr>
        <p:txBody>
          <a:bodyPr anchor="ctr">
            <a:normAutofit/>
          </a:bodyPr>
          <a:p>
            <a:r>
              <a:rPr kumimoji="0" lang="en-US" smtClean="0"/>
              <a:t>Click to edit Master title style</a:t>
            </a:r>
            <a:endParaRPr kumimoji="0" lang="en-US"/>
          </a:p>
        </p:txBody>
      </p:sp>
      <p:sp>
        <p:nvSpPr>
          <p:cNvPr id="1049599" name="Text Placeholder 8"/>
          <p:cNvSpPr>
            <a:spLocks noGrp="1"/>
          </p:cNvSpPr>
          <p:nvPr>
            <p:ph type="body" idx="1"/>
          </p:nvPr>
        </p:nvSpPr>
        <p:spPr>
          <a:xfrm>
            <a:off x="1794509" y="1447800"/>
            <a:ext cx="9372600" cy="4800600"/>
          </a:xfrm>
          <a:prstGeom prst="rect"/>
        </p:spPr>
        <p:txBody>
          <a:bodyPr>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9600" name="Date Placeholder 23"/>
          <p:cNvSpPr>
            <a:spLocks noGrp="1"/>
          </p:cNvSpPr>
          <p:nvPr>
            <p:ph type="dt" sz="half" idx="2"/>
          </p:nvPr>
        </p:nvSpPr>
        <p:spPr>
          <a:xfrm>
            <a:off x="4476750" y="6305556"/>
            <a:ext cx="2667000" cy="476251"/>
          </a:xfrm>
          <a:prstGeom prst="rect"/>
        </p:spPr>
        <p:txBody>
          <a:bodyPr anchor="b"/>
          <a:lstStyle>
            <a:lvl1pPr algn="r" eaLnBrk="1" hangingPunct="1" latinLnBrk="0">
              <a:defRPr sz="1200" kumimoji="0">
                <a:solidFill>
                  <a:schemeClr val="bg2">
                    <a:shade val="50000"/>
                    <a:satMod val="200000"/>
                  </a:schemeClr>
                </a:solidFill>
              </a:defRPr>
            </a:lvl1pPr>
          </a:lstStyle>
          <a:p>
            <a:fld id="{70E79A06-60A0-4896-B424-77F4CF56343C}" type="datetime1">
              <a:rPr lang="en-US" smtClean="0"/>
            </a:fld>
            <a:endParaRPr lang="en-US"/>
          </a:p>
        </p:txBody>
      </p:sp>
      <p:sp>
        <p:nvSpPr>
          <p:cNvPr id="1049601" name="Footer Placeholder 9"/>
          <p:cNvSpPr>
            <a:spLocks noGrp="1"/>
          </p:cNvSpPr>
          <p:nvPr>
            <p:ph type="ftr" sz="quarter" idx="3"/>
          </p:nvPr>
        </p:nvSpPr>
        <p:spPr>
          <a:xfrm>
            <a:off x="7143751" y="6305556"/>
            <a:ext cx="3619500" cy="476251"/>
          </a:xfrm>
          <a:prstGeom prst="rect"/>
        </p:spPr>
        <p:txBody>
          <a:bodyPr anchor="b"/>
          <a:lstStyle>
            <a:lvl1pPr eaLnBrk="1" hangingPunct="1" latinLnBrk="0">
              <a:defRPr sz="1200" kumimoji="0">
                <a:solidFill>
                  <a:schemeClr val="bg2">
                    <a:shade val="50000"/>
                    <a:satMod val="200000"/>
                  </a:schemeClr>
                </a:solidFill>
                <a:effectLst/>
              </a:defRPr>
            </a:lvl1pPr>
          </a:lstStyle>
          <a:p>
            <a:r>
              <a:rPr lang="en-US" smtClean="0"/>
              <a:t>@MUSOVYA2017</a:t>
            </a:r>
            <a:endParaRPr lang="en-US"/>
          </a:p>
        </p:txBody>
      </p:sp>
      <p:sp>
        <p:nvSpPr>
          <p:cNvPr id="1049602" name="Slide Number Placeholder 21"/>
          <p:cNvSpPr>
            <a:spLocks noGrp="1"/>
          </p:cNvSpPr>
          <p:nvPr>
            <p:ph type="sldNum" sz="quarter" idx="4"/>
          </p:nvPr>
        </p:nvSpPr>
        <p:spPr>
          <a:xfrm>
            <a:off x="10767059" y="6305556"/>
            <a:ext cx="571500" cy="476251"/>
          </a:xfrm>
          <a:prstGeom prst="rect"/>
        </p:spPr>
        <p:txBody>
          <a:bodyPr anchor="b"/>
          <a:lstStyle>
            <a:lvl1pPr algn="ctr" eaLnBrk="1" hangingPunct="1" latinLnBrk="0">
              <a:defRPr sz="1200" kumimoji="0">
                <a:solidFill>
                  <a:schemeClr val="bg2">
                    <a:shade val="50000"/>
                    <a:satMod val="200000"/>
                  </a:schemeClr>
                </a:solidFill>
                <a:effectLst/>
              </a:defRPr>
            </a:lvl1pPr>
          </a:lstStyle>
          <a:p>
            <a:fld id="{539D2A76-69E3-4600-8808-3C1A10934549}" type="slidenum">
              <a:rPr lang="en-US" smtClean="0"/>
            </a:fld>
            <a:endParaRPr lang="en-US"/>
          </a:p>
        </p:txBody>
      </p:sp>
      <p:sp>
        <p:nvSpPr>
          <p:cNvPr id="1049603" name="Rectangle 14"/>
          <p:cNvSpPr/>
          <p:nvPr/>
        </p:nvSpPr>
        <p:spPr bwMode="invGray">
          <a:xfrm>
            <a:off x="1268730" y="-53"/>
            <a:ext cx="91441" cy="6858055"/>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 accent1="accent1" accent2="accent2" accent3="accent3" accent4="accent4" accent5="accent5" accent6="accent6" bg1="lt1" bg2="lt2" tx1="dk1" tx2="dk2" hlink="hlink" folHlink="folHlink"/>
  <p:sldLayoutIdLst>
    <p:sldLayoutId id="2147484024"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Lst>
  <p:transition xmlns:p14="http://schemas.microsoft.com/office/powerpoint/2010/main" spd="slow">
    <p:strips dir="ru"/>
  </p:transition>
  <p:hf dt="0" hdr="0" sldNum="0"/>
  <p:txStyles>
    <p:titleStyle>
      <a:lvl1pPr algn="l" eaLnBrk="1" hangingPunct="1" latinLnBrk="0" rtl="0">
        <a:spcBef>
          <a:spcPct val="0"/>
        </a:spcBef>
        <a:buNone/>
        <a:defRPr sz="4300" kern="1200" kumimoji="0">
          <a:solidFill>
            <a:schemeClr val="tx2">
              <a:satMod val="130000"/>
            </a:schemeClr>
          </a:solidFill>
          <a:effectLst>
            <a:outerShdw algn="tl" blurRad="50000" dir="5400000" dist="30000" rotWithShape="0">
              <a:srgbClr val="000000">
                <a:alpha val="30000"/>
              </a:srgbClr>
            </a:outerShdw>
          </a:effectLst>
          <a:latin typeface="+mj-lt"/>
          <a:ea typeface="+mj-ea"/>
          <a:cs typeface="+mj-cs"/>
        </a:defRPr>
      </a:lvl1pPr>
    </p:titleStyle>
    <p:bodyStyle>
      <a:lvl1pPr algn="l" eaLnBrk="1" hangingPunct="1" indent="-283464" latinLnBrk="0" marL="365760" rtl="0">
        <a:lnSpc>
          <a:spcPct val="100000"/>
        </a:lnSpc>
        <a:spcBef>
          <a:spcPts val="600"/>
        </a:spcBef>
        <a:buClr>
          <a:schemeClr val="accent1"/>
        </a:buClr>
        <a:buSzPct val="80000"/>
        <a:buFont typeface="Wingdings 2"/>
        <a:buChar char=""/>
        <a:defRPr sz="3200" kern="1200" kumimoji="0">
          <a:solidFill>
            <a:schemeClr val="tx1"/>
          </a:solidFill>
          <a:latin typeface="+mn-lt"/>
          <a:ea typeface="+mn-ea"/>
          <a:cs typeface="+mn-cs"/>
        </a:defRPr>
      </a:lvl1pPr>
      <a:lvl2pPr algn="l" eaLnBrk="1" hangingPunct="1" indent="-237744" latinLnBrk="0" marL="640080" rtl="0">
        <a:lnSpc>
          <a:spcPct val="100000"/>
        </a:lnSpc>
        <a:spcBef>
          <a:spcPts val="550"/>
        </a:spcBef>
        <a:buClr>
          <a:schemeClr val="accent1"/>
        </a:buClr>
        <a:buFont typeface="Verdana"/>
        <a:buChar char="◦"/>
        <a:defRPr sz="2800" kern="1200" kumimoji="0">
          <a:solidFill>
            <a:schemeClr val="tx1"/>
          </a:solidFill>
          <a:latin typeface="+mn-lt"/>
          <a:ea typeface="+mn-ea"/>
          <a:cs typeface="+mn-cs"/>
        </a:defRPr>
      </a:lvl2pPr>
      <a:lvl3pPr algn="l" eaLnBrk="1" hangingPunct="1" indent="-228600" latinLnBrk="0" marL="886968" rtl="0">
        <a:lnSpc>
          <a:spcPct val="100000"/>
        </a:lnSpc>
        <a:spcBef>
          <a:spcPct val="20000"/>
        </a:spcBef>
        <a:buClr>
          <a:schemeClr val="accent2"/>
        </a:buClr>
        <a:buFont typeface="Wingdings 2"/>
        <a:buChar char=""/>
        <a:defRPr sz="2400" kern="1200" kumimoji="0">
          <a:solidFill>
            <a:schemeClr val="tx1"/>
          </a:solidFill>
          <a:latin typeface="+mn-lt"/>
          <a:ea typeface="+mn-ea"/>
          <a:cs typeface="+mn-cs"/>
        </a:defRPr>
      </a:lvl3pPr>
      <a:lvl4pPr algn="l" eaLnBrk="1" hangingPunct="1" indent="-173736" latinLnBrk="0" marL="1097280" rtl="0">
        <a:lnSpc>
          <a:spcPct val="100000"/>
        </a:lnSpc>
        <a:spcBef>
          <a:spcPct val="20000"/>
        </a:spcBef>
        <a:buClr>
          <a:schemeClr val="accent3"/>
        </a:buClr>
        <a:buFont typeface="Wingdings 2"/>
        <a:buChar char=""/>
        <a:defRPr sz="2000" kern="1200" kumimoji="0">
          <a:solidFill>
            <a:schemeClr val="tx1"/>
          </a:solidFill>
          <a:latin typeface="+mn-lt"/>
          <a:ea typeface="+mn-ea"/>
          <a:cs typeface="+mn-cs"/>
        </a:defRPr>
      </a:lvl4pPr>
      <a:lvl5pPr algn="l" eaLnBrk="1" hangingPunct="1" indent="-182880" latinLnBrk="0" marL="1298448" rtl="0">
        <a:lnSpc>
          <a:spcPct val="100000"/>
        </a:lnSpc>
        <a:spcBef>
          <a:spcPct val="20000"/>
        </a:spcBef>
        <a:buClr>
          <a:schemeClr val="accent4"/>
        </a:buClr>
        <a:buFont typeface="Wingdings 2"/>
        <a:buChar char=""/>
        <a:defRPr sz="2000" kern="1200" kumimoji="0">
          <a:solidFill>
            <a:schemeClr val="tx1"/>
          </a:solidFill>
          <a:latin typeface="+mn-lt"/>
          <a:ea typeface="+mn-ea"/>
          <a:cs typeface="+mn-cs"/>
        </a:defRPr>
      </a:lvl5pPr>
      <a:lvl6pPr algn="l" eaLnBrk="1" hangingPunct="1" indent="-182880" latinLnBrk="0" marL="1508760" rtl="0">
        <a:lnSpc>
          <a:spcPct val="100000"/>
        </a:lnSpc>
        <a:spcBef>
          <a:spcPct val="20000"/>
        </a:spcBef>
        <a:buClr>
          <a:schemeClr val="accent5"/>
        </a:buClr>
        <a:buFont typeface="Wingdings 2"/>
        <a:buChar char=""/>
        <a:defRPr sz="2000" kern="1200" kumimoji="0">
          <a:solidFill>
            <a:schemeClr val="tx1"/>
          </a:solidFill>
          <a:latin typeface="+mn-lt"/>
          <a:ea typeface="+mn-ea"/>
          <a:cs typeface="+mn-cs"/>
        </a:defRPr>
      </a:lvl6pPr>
      <a:lvl7pPr algn="l" eaLnBrk="1" hangingPunct="1" indent="-182880" latinLnBrk="0" marL="171907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7pPr>
      <a:lvl8pPr algn="l" eaLnBrk="1" hangingPunct="1" indent="-182880" latinLnBrk="0" marL="1920240"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8pPr>
      <a:lvl9pPr algn="l" eaLnBrk="1" hangingPunct="1" indent="-182880" latinLnBrk="0" marL="213055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5400000" scaled="1"/>
        </a:gradFill>
      </p:bgPr>
    </p:bg>
    <p:spTree>
      <p:nvGrpSpPr>
        <p:cNvPr id="1364" name=""/>
        <p:cNvGrpSpPr/>
        <p:nvPr/>
      </p:nvGrpSpPr>
      <p:grpSpPr>
        <a:xfrm>
          <a:off x="0" y="0"/>
          <a:ext cx="0" cy="0"/>
          <a:chOff x="0" y="0"/>
          <a:chExt cx="0" cy="0"/>
        </a:xfrm>
      </p:grpSpPr>
      <p:grpSp>
        <p:nvGrpSpPr>
          <p:cNvPr id="1365" name="Group 2"/>
          <p:cNvGrpSpPr/>
          <p:nvPr/>
        </p:nvGrpSpPr>
        <p:grpSpPr bwMode="auto">
          <a:xfrm>
            <a:off x="0" y="0"/>
            <a:ext cx="11430000" cy="6934200"/>
            <a:chOff x="0" y="0"/>
            <a:chExt cx="5760" cy="4368"/>
          </a:xfrm>
        </p:grpSpPr>
        <p:sp>
          <p:nvSpPr>
            <p:cNvPr id="1050176" name="Freeform 3"/>
            <p:cNvSpPr/>
            <p:nvPr/>
          </p:nvSpPr>
          <p:spPr bwMode="hidden">
            <a:xfrm>
              <a:off x="0" y="2208"/>
              <a:ext cx="2515" cy="1970"/>
            </a:xfrm>
            <a:custGeom>
              <a:avLst/>
              <a:ahLst/>
              <a:cxnLst>
                <a:cxn ang="0">
                  <a:pos x="744" y="1669"/>
                </a:cxn>
                <a:cxn ang="0">
                  <a:pos x="852" y="1400"/>
                </a:cxn>
                <a:cxn ang="0">
                  <a:pos x="876" y="1171"/>
                </a:cxn>
                <a:cxn ang="0">
                  <a:pos x="979" y="1370"/>
                </a:cxn>
                <a:cxn ang="0">
                  <a:pos x="1231" y="1621"/>
                </a:cxn>
                <a:cxn ang="0">
                  <a:pos x="1471" y="1693"/>
                </a:cxn>
                <a:cxn ang="0">
                  <a:pos x="1819" y="1678"/>
                </a:cxn>
                <a:cxn ang="0">
                  <a:pos x="1893" y="1513"/>
                </a:cxn>
                <a:cxn ang="0">
                  <a:pos x="1874" y="1285"/>
                </a:cxn>
                <a:cxn ang="0">
                  <a:pos x="1783" y="967"/>
                </a:cxn>
                <a:cxn ang="0">
                  <a:pos x="1289" y="873"/>
                </a:cxn>
                <a:cxn ang="0">
                  <a:pos x="1549" y="745"/>
                </a:cxn>
                <a:cxn ang="0">
                  <a:pos x="1753" y="732"/>
                </a:cxn>
                <a:cxn ang="0">
                  <a:pos x="2107" y="618"/>
                </a:cxn>
                <a:cxn ang="0">
                  <a:pos x="2377" y="438"/>
                </a:cxn>
                <a:cxn ang="0">
                  <a:pos x="2420" y="343"/>
                </a:cxn>
                <a:cxn ang="0">
                  <a:pos x="2077" y="331"/>
                </a:cxn>
                <a:cxn ang="0">
                  <a:pos x="1951" y="301"/>
                </a:cxn>
                <a:cxn ang="0">
                  <a:pos x="1645" y="289"/>
                </a:cxn>
                <a:cxn ang="0">
                  <a:pos x="1297" y="408"/>
                </a:cxn>
                <a:cxn ang="0">
                  <a:pos x="1308" y="337"/>
                </a:cxn>
                <a:cxn ang="0">
                  <a:pos x="1453" y="168"/>
                </a:cxn>
                <a:cxn ang="0">
                  <a:pos x="1477" y="36"/>
                </a:cxn>
                <a:cxn ang="0">
                  <a:pos x="1417" y="24"/>
                </a:cxn>
                <a:cxn ang="0">
                  <a:pos x="1189" y="102"/>
                </a:cxn>
                <a:cxn ang="0">
                  <a:pos x="1026" y="144"/>
                </a:cxn>
                <a:cxn ang="0">
                  <a:pos x="889" y="331"/>
                </a:cxn>
                <a:cxn ang="0">
                  <a:pos x="726" y="480"/>
                </a:cxn>
                <a:cxn ang="0">
                  <a:pos x="643" y="540"/>
                </a:cxn>
                <a:cxn ang="0">
                  <a:pos x="600" y="516"/>
                </a:cxn>
                <a:cxn ang="0">
                  <a:pos x="552" y="486"/>
                </a:cxn>
                <a:cxn ang="0">
                  <a:pos x="528" y="462"/>
                </a:cxn>
                <a:cxn ang="0">
                  <a:pos x="474" y="426"/>
                </a:cxn>
                <a:cxn ang="0">
                  <a:pos x="415" y="390"/>
                </a:cxn>
                <a:cxn ang="0">
                  <a:pos x="366" y="366"/>
                </a:cxn>
                <a:cxn ang="0">
                  <a:pos x="192" y="234"/>
                </a:cxn>
                <a:cxn ang="0">
                  <a:pos x="570" y="564"/>
                </a:cxn>
                <a:cxn ang="0">
                  <a:pos x="444" y="732"/>
                </a:cxn>
                <a:cxn ang="0">
                  <a:pos x="318" y="787"/>
                </a:cxn>
                <a:cxn ang="0">
                  <a:pos x="127" y="853"/>
                </a:cxn>
                <a:cxn ang="0">
                  <a:pos x="0" y="1165"/>
                </a:cxn>
                <a:cxn ang="0">
                  <a:pos x="372" y="1015"/>
                </a:cxn>
                <a:cxn ang="0">
                  <a:pos x="222" y="1262"/>
                </a:cxn>
                <a:cxn ang="0">
                  <a:pos x="139" y="1459"/>
                </a:cxn>
                <a:cxn ang="0">
                  <a:pos x="102" y="1495"/>
                </a:cxn>
                <a:cxn ang="0">
                  <a:pos x="84" y="1519"/>
                </a:cxn>
                <a:cxn ang="0">
                  <a:pos x="96" y="1537"/>
                </a:cxn>
                <a:cxn ang="0">
                  <a:pos x="127" y="1567"/>
                </a:cxn>
                <a:cxn ang="0">
                  <a:pos x="145" y="1633"/>
                </a:cxn>
                <a:cxn ang="0">
                  <a:pos x="156" y="1693"/>
                </a:cxn>
                <a:cxn ang="0">
                  <a:pos x="162" y="1723"/>
                </a:cxn>
                <a:cxn ang="0">
                  <a:pos x="216" y="1802"/>
                </a:cxn>
                <a:cxn ang="0">
                  <a:pos x="228" y="1850"/>
                </a:cxn>
                <a:cxn ang="0">
                  <a:pos x="240" y="1904"/>
                </a:cxn>
                <a:cxn ang="0">
                  <a:pos x="246" y="1922"/>
                </a:cxn>
                <a:cxn ang="0">
                  <a:pos x="258" y="1970"/>
                </a:cxn>
                <a:cxn ang="0">
                  <a:pos x="462" y="1922"/>
                </a:cxn>
                <a:cxn ang="0">
                  <a:pos x="624" y="1778"/>
                </a:cxn>
              </a:cxnLst>
              <a:rect l="0" t="0" r="r" b="b"/>
              <a:pathLst>
                <a:path w="2515" h="1970">
                  <a:moveTo>
                    <a:pt x="624" y="1778"/>
                  </a:moveTo>
                  <a:lnTo>
                    <a:pt x="744" y="1669"/>
                  </a:lnTo>
                  <a:lnTo>
                    <a:pt x="834" y="1627"/>
                  </a:lnTo>
                  <a:lnTo>
                    <a:pt x="852" y="1400"/>
                  </a:lnTo>
                  <a:lnTo>
                    <a:pt x="834" y="1225"/>
                  </a:lnTo>
                  <a:lnTo>
                    <a:pt x="876" y="1171"/>
                  </a:lnTo>
                  <a:lnTo>
                    <a:pt x="901" y="1268"/>
                  </a:lnTo>
                  <a:lnTo>
                    <a:pt x="979" y="1370"/>
                  </a:lnTo>
                  <a:lnTo>
                    <a:pt x="1116" y="1519"/>
                  </a:lnTo>
                  <a:lnTo>
                    <a:pt x="1231" y="1621"/>
                  </a:lnTo>
                  <a:lnTo>
                    <a:pt x="1353" y="1632"/>
                  </a:lnTo>
                  <a:lnTo>
                    <a:pt x="1471" y="1693"/>
                  </a:lnTo>
                  <a:lnTo>
                    <a:pt x="1664" y="1659"/>
                  </a:lnTo>
                  <a:lnTo>
                    <a:pt x="1819" y="1678"/>
                  </a:lnTo>
                  <a:lnTo>
                    <a:pt x="1975" y="1632"/>
                  </a:lnTo>
                  <a:lnTo>
                    <a:pt x="1893" y="1513"/>
                  </a:lnTo>
                  <a:lnTo>
                    <a:pt x="1920" y="1385"/>
                  </a:lnTo>
                  <a:lnTo>
                    <a:pt x="1874" y="1285"/>
                  </a:lnTo>
                  <a:lnTo>
                    <a:pt x="1865" y="1129"/>
                  </a:lnTo>
                  <a:lnTo>
                    <a:pt x="1783" y="967"/>
                  </a:lnTo>
                  <a:lnTo>
                    <a:pt x="1527" y="891"/>
                  </a:lnTo>
                  <a:lnTo>
                    <a:pt x="1289" y="873"/>
                  </a:lnTo>
                  <a:lnTo>
                    <a:pt x="1393" y="781"/>
                  </a:lnTo>
                  <a:lnTo>
                    <a:pt x="1549" y="745"/>
                  </a:lnTo>
                  <a:lnTo>
                    <a:pt x="1620" y="738"/>
                  </a:lnTo>
                  <a:lnTo>
                    <a:pt x="1753" y="732"/>
                  </a:lnTo>
                  <a:lnTo>
                    <a:pt x="1933" y="720"/>
                  </a:lnTo>
                  <a:lnTo>
                    <a:pt x="2107" y="618"/>
                  </a:lnTo>
                  <a:lnTo>
                    <a:pt x="2227" y="516"/>
                  </a:lnTo>
                  <a:lnTo>
                    <a:pt x="2377" y="438"/>
                  </a:lnTo>
                  <a:lnTo>
                    <a:pt x="2515" y="337"/>
                  </a:lnTo>
                  <a:lnTo>
                    <a:pt x="2420" y="343"/>
                  </a:lnTo>
                  <a:lnTo>
                    <a:pt x="2191" y="343"/>
                  </a:lnTo>
                  <a:lnTo>
                    <a:pt x="2077" y="331"/>
                  </a:lnTo>
                  <a:lnTo>
                    <a:pt x="2053" y="301"/>
                  </a:lnTo>
                  <a:lnTo>
                    <a:pt x="1951" y="301"/>
                  </a:lnTo>
                  <a:lnTo>
                    <a:pt x="1795" y="259"/>
                  </a:lnTo>
                  <a:lnTo>
                    <a:pt x="1645" y="289"/>
                  </a:lnTo>
                  <a:lnTo>
                    <a:pt x="1447" y="372"/>
                  </a:lnTo>
                  <a:lnTo>
                    <a:pt x="1297" y="408"/>
                  </a:lnTo>
                  <a:lnTo>
                    <a:pt x="1153" y="414"/>
                  </a:lnTo>
                  <a:lnTo>
                    <a:pt x="1308" y="337"/>
                  </a:lnTo>
                  <a:lnTo>
                    <a:pt x="1465" y="198"/>
                  </a:lnTo>
                  <a:lnTo>
                    <a:pt x="1453" y="168"/>
                  </a:lnTo>
                  <a:lnTo>
                    <a:pt x="1465" y="102"/>
                  </a:lnTo>
                  <a:lnTo>
                    <a:pt x="1477" y="36"/>
                  </a:lnTo>
                  <a:lnTo>
                    <a:pt x="1453" y="0"/>
                  </a:lnTo>
                  <a:lnTo>
                    <a:pt x="1417" y="24"/>
                  </a:lnTo>
                  <a:lnTo>
                    <a:pt x="1356" y="42"/>
                  </a:lnTo>
                  <a:lnTo>
                    <a:pt x="1189" y="102"/>
                  </a:lnTo>
                  <a:lnTo>
                    <a:pt x="1098" y="144"/>
                  </a:lnTo>
                  <a:lnTo>
                    <a:pt x="1026" y="144"/>
                  </a:lnTo>
                  <a:lnTo>
                    <a:pt x="991" y="168"/>
                  </a:lnTo>
                  <a:lnTo>
                    <a:pt x="889" y="331"/>
                  </a:lnTo>
                  <a:lnTo>
                    <a:pt x="852" y="408"/>
                  </a:lnTo>
                  <a:lnTo>
                    <a:pt x="726" y="480"/>
                  </a:lnTo>
                  <a:lnTo>
                    <a:pt x="649" y="540"/>
                  </a:lnTo>
                  <a:lnTo>
                    <a:pt x="643" y="540"/>
                  </a:lnTo>
                  <a:lnTo>
                    <a:pt x="637" y="534"/>
                  </a:lnTo>
                  <a:lnTo>
                    <a:pt x="600" y="516"/>
                  </a:lnTo>
                  <a:lnTo>
                    <a:pt x="564" y="492"/>
                  </a:lnTo>
                  <a:lnTo>
                    <a:pt x="552" y="486"/>
                  </a:lnTo>
                  <a:lnTo>
                    <a:pt x="540" y="474"/>
                  </a:lnTo>
                  <a:lnTo>
                    <a:pt x="528" y="462"/>
                  </a:lnTo>
                  <a:lnTo>
                    <a:pt x="504" y="444"/>
                  </a:lnTo>
                  <a:lnTo>
                    <a:pt x="474" y="426"/>
                  </a:lnTo>
                  <a:lnTo>
                    <a:pt x="444" y="408"/>
                  </a:lnTo>
                  <a:lnTo>
                    <a:pt x="415" y="390"/>
                  </a:lnTo>
                  <a:lnTo>
                    <a:pt x="385" y="372"/>
                  </a:lnTo>
                  <a:lnTo>
                    <a:pt x="366" y="366"/>
                  </a:lnTo>
                  <a:lnTo>
                    <a:pt x="360" y="360"/>
                  </a:lnTo>
                  <a:lnTo>
                    <a:pt x="192" y="234"/>
                  </a:lnTo>
                  <a:lnTo>
                    <a:pt x="210" y="307"/>
                  </a:lnTo>
                  <a:lnTo>
                    <a:pt x="570" y="564"/>
                  </a:lnTo>
                  <a:lnTo>
                    <a:pt x="558" y="618"/>
                  </a:lnTo>
                  <a:lnTo>
                    <a:pt x="444" y="732"/>
                  </a:lnTo>
                  <a:lnTo>
                    <a:pt x="324" y="787"/>
                  </a:lnTo>
                  <a:lnTo>
                    <a:pt x="318" y="787"/>
                  </a:lnTo>
                  <a:lnTo>
                    <a:pt x="258" y="811"/>
                  </a:lnTo>
                  <a:lnTo>
                    <a:pt x="127" y="853"/>
                  </a:lnTo>
                  <a:lnTo>
                    <a:pt x="0" y="901"/>
                  </a:lnTo>
                  <a:lnTo>
                    <a:pt x="0" y="1165"/>
                  </a:lnTo>
                  <a:lnTo>
                    <a:pt x="78" y="1147"/>
                  </a:lnTo>
                  <a:lnTo>
                    <a:pt x="372" y="1015"/>
                  </a:lnTo>
                  <a:lnTo>
                    <a:pt x="336" y="1117"/>
                  </a:lnTo>
                  <a:lnTo>
                    <a:pt x="222" y="1262"/>
                  </a:lnTo>
                  <a:lnTo>
                    <a:pt x="145" y="1453"/>
                  </a:lnTo>
                  <a:lnTo>
                    <a:pt x="139" y="1459"/>
                  </a:lnTo>
                  <a:lnTo>
                    <a:pt x="133" y="1465"/>
                  </a:lnTo>
                  <a:lnTo>
                    <a:pt x="102" y="1495"/>
                  </a:lnTo>
                  <a:lnTo>
                    <a:pt x="90" y="1507"/>
                  </a:lnTo>
                  <a:lnTo>
                    <a:pt x="84" y="1519"/>
                  </a:lnTo>
                  <a:lnTo>
                    <a:pt x="84" y="1531"/>
                  </a:lnTo>
                  <a:lnTo>
                    <a:pt x="96" y="1537"/>
                  </a:lnTo>
                  <a:lnTo>
                    <a:pt x="114" y="1549"/>
                  </a:lnTo>
                  <a:lnTo>
                    <a:pt x="127" y="1567"/>
                  </a:lnTo>
                  <a:lnTo>
                    <a:pt x="139" y="1597"/>
                  </a:lnTo>
                  <a:lnTo>
                    <a:pt x="145" y="1633"/>
                  </a:lnTo>
                  <a:lnTo>
                    <a:pt x="150" y="1663"/>
                  </a:lnTo>
                  <a:lnTo>
                    <a:pt x="156" y="1693"/>
                  </a:lnTo>
                  <a:lnTo>
                    <a:pt x="162" y="1717"/>
                  </a:lnTo>
                  <a:lnTo>
                    <a:pt x="162" y="1723"/>
                  </a:lnTo>
                  <a:lnTo>
                    <a:pt x="216" y="1796"/>
                  </a:lnTo>
                  <a:lnTo>
                    <a:pt x="216" y="1802"/>
                  </a:lnTo>
                  <a:lnTo>
                    <a:pt x="222" y="1814"/>
                  </a:lnTo>
                  <a:lnTo>
                    <a:pt x="228" y="1850"/>
                  </a:lnTo>
                  <a:lnTo>
                    <a:pt x="234" y="1886"/>
                  </a:lnTo>
                  <a:lnTo>
                    <a:pt x="240" y="1904"/>
                  </a:lnTo>
                  <a:lnTo>
                    <a:pt x="240" y="1916"/>
                  </a:lnTo>
                  <a:lnTo>
                    <a:pt x="246" y="1922"/>
                  </a:lnTo>
                  <a:lnTo>
                    <a:pt x="252" y="1934"/>
                  </a:lnTo>
                  <a:lnTo>
                    <a:pt x="258" y="1970"/>
                  </a:lnTo>
                  <a:lnTo>
                    <a:pt x="438" y="1970"/>
                  </a:lnTo>
                  <a:lnTo>
                    <a:pt x="462" y="1922"/>
                  </a:lnTo>
                  <a:lnTo>
                    <a:pt x="624" y="1778"/>
                  </a:lnTo>
                  <a:lnTo>
                    <a:pt x="624" y="1778"/>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p>
              <a:endParaRPr lang="en-US"/>
            </a:p>
          </p:txBody>
        </p:sp>
        <p:sp>
          <p:nvSpPr>
            <p:cNvPr id="1050177" name="Freeform 4"/>
            <p:cNvSpPr/>
            <p:nvPr/>
          </p:nvSpPr>
          <p:spPr bwMode="hidden">
            <a:xfrm>
              <a:off x="0" y="2496"/>
              <a:ext cx="2112" cy="1604"/>
            </a:xfrm>
            <a:custGeom>
              <a:avLst/>
              <a:ahLst/>
              <a:cxnLst>
                <a:cxn ang="0">
                  <a:pos x="580" y="1043"/>
                </a:cxn>
                <a:cxn ang="0">
                  <a:pos x="544" y="683"/>
                </a:cxn>
                <a:cxn ang="0">
                  <a:pos x="670" y="395"/>
                </a:cxn>
                <a:cxn ang="0">
                  <a:pos x="927" y="587"/>
                </a:cxn>
                <a:cxn ang="0">
                  <a:pos x="1214" y="869"/>
                </a:cxn>
                <a:cxn ang="0">
                  <a:pos x="1483" y="1109"/>
                </a:cxn>
                <a:cxn ang="0">
                  <a:pos x="1800" y="1360"/>
                </a:cxn>
                <a:cxn ang="0">
                  <a:pos x="1883" y="1414"/>
                </a:cxn>
                <a:cxn ang="0">
                  <a:pos x="1836" y="1354"/>
                </a:cxn>
                <a:cxn ang="0">
                  <a:pos x="1411" y="1001"/>
                </a:cxn>
                <a:cxn ang="0">
                  <a:pos x="1088" y="683"/>
                </a:cxn>
                <a:cxn ang="0">
                  <a:pos x="723" y="329"/>
                </a:cxn>
                <a:cxn ang="0">
                  <a:pos x="999" y="311"/>
                </a:cxn>
                <a:cxn ang="0">
                  <a:pos x="1286" y="317"/>
                </a:cxn>
                <a:cxn ang="0">
                  <a:pos x="1614" y="269"/>
                </a:cxn>
                <a:cxn ang="0">
                  <a:pos x="2123" y="197"/>
                </a:cxn>
                <a:cxn ang="0">
                  <a:pos x="2075" y="173"/>
                </a:cxn>
                <a:cxn ang="0">
                  <a:pos x="1543" y="257"/>
                </a:cxn>
                <a:cxn ang="0">
                  <a:pos x="1208" y="275"/>
                </a:cxn>
                <a:cxn ang="0">
                  <a:pos x="759" y="257"/>
                </a:cxn>
                <a:cxn ang="0">
                  <a:pos x="819" y="227"/>
                </a:cxn>
                <a:cxn ang="0">
                  <a:pos x="1142" y="0"/>
                </a:cxn>
                <a:cxn ang="0">
                  <a:pos x="1088" y="30"/>
                </a:cxn>
                <a:cxn ang="0">
                  <a:pos x="1010" y="84"/>
                </a:cxn>
                <a:cxn ang="0">
                  <a:pos x="855" y="191"/>
                </a:cxn>
                <a:cxn ang="0">
                  <a:pos x="670" y="281"/>
                </a:cxn>
                <a:cxn ang="0">
                  <a:pos x="634" y="359"/>
                </a:cxn>
                <a:cxn ang="0">
                  <a:pos x="305" y="587"/>
                </a:cxn>
                <a:cxn ang="0">
                  <a:pos x="0" y="725"/>
                </a:cxn>
                <a:cxn ang="0">
                  <a:pos x="0" y="731"/>
                </a:cxn>
                <a:cxn ang="0">
                  <a:pos x="0" y="767"/>
                </a:cxn>
                <a:cxn ang="0">
                  <a:pos x="299" y="635"/>
                </a:cxn>
                <a:cxn ang="0">
                  <a:pos x="592" y="431"/>
                </a:cxn>
                <a:cxn ang="0">
                  <a:pos x="508" y="671"/>
                </a:cxn>
                <a:cxn ang="0">
                  <a:pos x="526" y="995"/>
                </a:cxn>
                <a:cxn ang="0">
                  <a:pos x="460" y="1168"/>
                </a:cxn>
                <a:cxn ang="0">
                  <a:pos x="329" y="1480"/>
                </a:cxn>
                <a:cxn ang="0">
                  <a:pos x="323" y="1696"/>
                </a:cxn>
                <a:cxn ang="0">
                  <a:pos x="329" y="1696"/>
                </a:cxn>
                <a:cxn ang="0">
                  <a:pos x="347" y="1552"/>
                </a:cxn>
                <a:cxn ang="0">
                  <a:pos x="580" y="1043"/>
                </a:cxn>
                <a:cxn ang="0">
                  <a:pos x="580" y="1043"/>
                </a:cxn>
              </a:cxnLst>
              <a:rect l="0" t="0" r="r" b="b"/>
              <a:pathLst>
                <a:path w="2123" h="1696">
                  <a:moveTo>
                    <a:pt x="580" y="1043"/>
                  </a:moveTo>
                  <a:lnTo>
                    <a:pt x="544" y="683"/>
                  </a:lnTo>
                  <a:lnTo>
                    <a:pt x="670" y="395"/>
                  </a:lnTo>
                  <a:lnTo>
                    <a:pt x="927" y="587"/>
                  </a:lnTo>
                  <a:lnTo>
                    <a:pt x="1214" y="869"/>
                  </a:lnTo>
                  <a:lnTo>
                    <a:pt x="1483" y="1109"/>
                  </a:lnTo>
                  <a:lnTo>
                    <a:pt x="1800" y="1360"/>
                  </a:lnTo>
                  <a:lnTo>
                    <a:pt x="1883" y="1414"/>
                  </a:lnTo>
                  <a:lnTo>
                    <a:pt x="1836" y="1354"/>
                  </a:lnTo>
                  <a:lnTo>
                    <a:pt x="1411" y="1001"/>
                  </a:lnTo>
                  <a:lnTo>
                    <a:pt x="1088" y="683"/>
                  </a:lnTo>
                  <a:lnTo>
                    <a:pt x="723" y="329"/>
                  </a:lnTo>
                  <a:lnTo>
                    <a:pt x="999" y="311"/>
                  </a:lnTo>
                  <a:lnTo>
                    <a:pt x="1286" y="317"/>
                  </a:lnTo>
                  <a:lnTo>
                    <a:pt x="1614" y="269"/>
                  </a:lnTo>
                  <a:lnTo>
                    <a:pt x="2123" y="197"/>
                  </a:lnTo>
                  <a:lnTo>
                    <a:pt x="2075" y="173"/>
                  </a:lnTo>
                  <a:lnTo>
                    <a:pt x="1543" y="257"/>
                  </a:lnTo>
                  <a:lnTo>
                    <a:pt x="1208" y="275"/>
                  </a:lnTo>
                  <a:lnTo>
                    <a:pt x="759" y="257"/>
                  </a:lnTo>
                  <a:lnTo>
                    <a:pt x="819" y="227"/>
                  </a:lnTo>
                  <a:lnTo>
                    <a:pt x="1142" y="0"/>
                  </a:lnTo>
                  <a:lnTo>
                    <a:pt x="1088" y="30"/>
                  </a:lnTo>
                  <a:lnTo>
                    <a:pt x="1010" y="84"/>
                  </a:lnTo>
                  <a:lnTo>
                    <a:pt x="855" y="191"/>
                  </a:lnTo>
                  <a:lnTo>
                    <a:pt x="670" y="281"/>
                  </a:lnTo>
                  <a:lnTo>
                    <a:pt x="634" y="359"/>
                  </a:lnTo>
                  <a:lnTo>
                    <a:pt x="305" y="587"/>
                  </a:lnTo>
                  <a:lnTo>
                    <a:pt x="0" y="725"/>
                  </a:lnTo>
                  <a:lnTo>
                    <a:pt x="0" y="731"/>
                  </a:lnTo>
                  <a:lnTo>
                    <a:pt x="0" y="767"/>
                  </a:lnTo>
                  <a:lnTo>
                    <a:pt x="299" y="635"/>
                  </a:lnTo>
                  <a:lnTo>
                    <a:pt x="592" y="431"/>
                  </a:lnTo>
                  <a:lnTo>
                    <a:pt x="508" y="671"/>
                  </a:lnTo>
                  <a:lnTo>
                    <a:pt x="526" y="995"/>
                  </a:lnTo>
                  <a:lnTo>
                    <a:pt x="460" y="1168"/>
                  </a:lnTo>
                  <a:lnTo>
                    <a:pt x="329" y="1480"/>
                  </a:lnTo>
                  <a:lnTo>
                    <a:pt x="323" y="1696"/>
                  </a:lnTo>
                  <a:lnTo>
                    <a:pt x="329" y="1696"/>
                  </a:lnTo>
                  <a:lnTo>
                    <a:pt x="347" y="1552"/>
                  </a:lnTo>
                  <a:lnTo>
                    <a:pt x="580" y="1043"/>
                  </a:lnTo>
                  <a:lnTo>
                    <a:pt x="580" y="1043"/>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178" name="Freeform 5"/>
            <p:cNvSpPr/>
            <p:nvPr/>
          </p:nvSpPr>
          <p:spPr bwMode="hidden">
            <a:xfrm>
              <a:off x="2092" y="3233"/>
              <a:ext cx="3668" cy="943"/>
            </a:xfrm>
            <a:custGeom>
              <a:avLst/>
              <a:ahLst/>
              <a:cxnLst>
                <a:cxn ang="0">
                  <a:pos x="3338" y="288"/>
                </a:cxn>
                <a:cxn ang="0">
                  <a:pos x="3194" y="258"/>
                </a:cxn>
                <a:cxn ang="0">
                  <a:pos x="2816" y="234"/>
                </a:cxn>
                <a:cxn ang="0">
                  <a:pos x="2330" y="306"/>
                </a:cxn>
                <a:cxn ang="0">
                  <a:pos x="2372" y="258"/>
                </a:cxn>
                <a:cxn ang="0">
                  <a:pos x="2624" y="132"/>
                </a:cxn>
                <a:cxn ang="0">
                  <a:pos x="2707" y="24"/>
                </a:cxn>
                <a:cxn ang="0">
                  <a:pos x="2642" y="12"/>
                </a:cxn>
                <a:cxn ang="0">
                  <a:pos x="2515" y="54"/>
                </a:cxn>
                <a:cxn ang="0">
                  <a:pos x="2324" y="66"/>
                </a:cxn>
                <a:cxn ang="0">
                  <a:pos x="2101" y="90"/>
                </a:cxn>
                <a:cxn ang="0">
                  <a:pos x="1855" y="228"/>
                </a:cxn>
                <a:cxn ang="0">
                  <a:pos x="1591" y="337"/>
                </a:cxn>
                <a:cxn ang="0">
                  <a:pos x="1459" y="379"/>
                </a:cxn>
                <a:cxn ang="0">
                  <a:pos x="1417" y="361"/>
                </a:cxn>
                <a:cxn ang="0">
                  <a:pos x="1363" y="331"/>
                </a:cxn>
                <a:cxn ang="0">
                  <a:pos x="1344" y="312"/>
                </a:cxn>
                <a:cxn ang="0">
                  <a:pos x="1290" y="288"/>
                </a:cxn>
                <a:cxn ang="0">
                  <a:pos x="1230" y="252"/>
                </a:cxn>
                <a:cxn ang="0">
                  <a:pos x="1119" y="227"/>
                </a:cxn>
                <a:cxn ang="0">
                  <a:pos x="1320" y="438"/>
                </a:cxn>
                <a:cxn ang="0">
                  <a:pos x="960" y="558"/>
                </a:cxn>
                <a:cxn ang="0">
                  <a:pos x="474" y="630"/>
                </a:cxn>
                <a:cxn ang="0">
                  <a:pos x="132" y="781"/>
                </a:cxn>
                <a:cxn ang="0">
                  <a:pos x="234" y="847"/>
                </a:cxn>
                <a:cxn ang="0">
                  <a:pos x="925" y="739"/>
                </a:cxn>
                <a:cxn ang="0">
                  <a:pos x="637" y="925"/>
                </a:cxn>
                <a:cxn ang="0">
                  <a:pos x="1405" y="943"/>
                </a:cxn>
                <a:cxn ang="0">
                  <a:pos x="1447" y="943"/>
                </a:cxn>
                <a:cxn ang="0">
                  <a:pos x="2888" y="859"/>
                </a:cxn>
                <a:cxn ang="0">
                  <a:pos x="2582" y="708"/>
                </a:cxn>
                <a:cxn ang="0">
                  <a:pos x="2299" y="606"/>
                </a:cxn>
                <a:cxn ang="0">
                  <a:pos x="2606" y="588"/>
                </a:cxn>
                <a:cxn ang="0">
                  <a:pos x="3001" y="582"/>
                </a:cxn>
                <a:cxn ang="0">
                  <a:pos x="3452" y="438"/>
                </a:cxn>
                <a:cxn ang="0">
                  <a:pos x="3668" y="312"/>
                </a:cxn>
                <a:cxn ang="0">
                  <a:pos x="3482" y="300"/>
                </a:cxn>
              </a:cxnLst>
              <a:rect l="0" t="0" r="r" b="b"/>
              <a:pathLst>
                <a:path w="3668" h="943">
                  <a:moveTo>
                    <a:pt x="3482" y="300"/>
                  </a:moveTo>
                  <a:lnTo>
                    <a:pt x="3338" y="288"/>
                  </a:lnTo>
                  <a:lnTo>
                    <a:pt x="3320" y="264"/>
                  </a:lnTo>
                  <a:lnTo>
                    <a:pt x="3194" y="258"/>
                  </a:lnTo>
                  <a:lnTo>
                    <a:pt x="3019" y="216"/>
                  </a:lnTo>
                  <a:lnTo>
                    <a:pt x="2816" y="234"/>
                  </a:lnTo>
                  <a:lnTo>
                    <a:pt x="2533" y="288"/>
                  </a:lnTo>
                  <a:lnTo>
                    <a:pt x="2330" y="306"/>
                  </a:lnTo>
                  <a:lnTo>
                    <a:pt x="2149" y="312"/>
                  </a:lnTo>
                  <a:lnTo>
                    <a:pt x="2372" y="258"/>
                  </a:lnTo>
                  <a:lnTo>
                    <a:pt x="2624" y="156"/>
                  </a:lnTo>
                  <a:lnTo>
                    <a:pt x="2624" y="132"/>
                  </a:lnTo>
                  <a:lnTo>
                    <a:pt x="2666" y="78"/>
                  </a:lnTo>
                  <a:lnTo>
                    <a:pt x="2707" y="24"/>
                  </a:lnTo>
                  <a:lnTo>
                    <a:pt x="2695" y="0"/>
                  </a:lnTo>
                  <a:lnTo>
                    <a:pt x="2642" y="12"/>
                  </a:lnTo>
                  <a:lnTo>
                    <a:pt x="2557" y="30"/>
                  </a:lnTo>
                  <a:lnTo>
                    <a:pt x="2515" y="54"/>
                  </a:lnTo>
                  <a:lnTo>
                    <a:pt x="2425" y="84"/>
                  </a:lnTo>
                  <a:lnTo>
                    <a:pt x="2324" y="66"/>
                  </a:lnTo>
                  <a:lnTo>
                    <a:pt x="2191" y="90"/>
                  </a:lnTo>
                  <a:lnTo>
                    <a:pt x="2101" y="90"/>
                  </a:lnTo>
                  <a:lnTo>
                    <a:pt x="2047" y="108"/>
                  </a:lnTo>
                  <a:lnTo>
                    <a:pt x="1855" y="228"/>
                  </a:lnTo>
                  <a:lnTo>
                    <a:pt x="1771" y="288"/>
                  </a:lnTo>
                  <a:lnTo>
                    <a:pt x="1591" y="337"/>
                  </a:lnTo>
                  <a:lnTo>
                    <a:pt x="1465" y="379"/>
                  </a:lnTo>
                  <a:lnTo>
                    <a:pt x="1459" y="379"/>
                  </a:lnTo>
                  <a:lnTo>
                    <a:pt x="1453" y="373"/>
                  </a:lnTo>
                  <a:lnTo>
                    <a:pt x="1417" y="361"/>
                  </a:lnTo>
                  <a:lnTo>
                    <a:pt x="1381" y="343"/>
                  </a:lnTo>
                  <a:lnTo>
                    <a:pt x="1363" y="331"/>
                  </a:lnTo>
                  <a:lnTo>
                    <a:pt x="1357" y="324"/>
                  </a:lnTo>
                  <a:lnTo>
                    <a:pt x="1344" y="312"/>
                  </a:lnTo>
                  <a:lnTo>
                    <a:pt x="1320" y="300"/>
                  </a:lnTo>
                  <a:lnTo>
                    <a:pt x="1290" y="288"/>
                  </a:lnTo>
                  <a:lnTo>
                    <a:pt x="1260" y="270"/>
                  </a:lnTo>
                  <a:lnTo>
                    <a:pt x="1230" y="252"/>
                  </a:lnTo>
                  <a:lnTo>
                    <a:pt x="1187" y="227"/>
                  </a:lnTo>
                  <a:lnTo>
                    <a:pt x="1119" y="227"/>
                  </a:lnTo>
                  <a:lnTo>
                    <a:pt x="1357" y="397"/>
                  </a:lnTo>
                  <a:lnTo>
                    <a:pt x="1320" y="438"/>
                  </a:lnTo>
                  <a:lnTo>
                    <a:pt x="1135" y="522"/>
                  </a:lnTo>
                  <a:lnTo>
                    <a:pt x="960" y="558"/>
                  </a:lnTo>
                  <a:lnTo>
                    <a:pt x="684" y="600"/>
                  </a:lnTo>
                  <a:lnTo>
                    <a:pt x="474" y="630"/>
                  </a:lnTo>
                  <a:lnTo>
                    <a:pt x="390" y="684"/>
                  </a:lnTo>
                  <a:lnTo>
                    <a:pt x="132" y="781"/>
                  </a:lnTo>
                  <a:lnTo>
                    <a:pt x="0" y="829"/>
                  </a:lnTo>
                  <a:lnTo>
                    <a:pt x="234" y="847"/>
                  </a:lnTo>
                  <a:lnTo>
                    <a:pt x="498" y="829"/>
                  </a:lnTo>
                  <a:lnTo>
                    <a:pt x="925" y="739"/>
                  </a:lnTo>
                  <a:lnTo>
                    <a:pt x="840" y="817"/>
                  </a:lnTo>
                  <a:lnTo>
                    <a:pt x="637" y="925"/>
                  </a:lnTo>
                  <a:lnTo>
                    <a:pt x="613" y="943"/>
                  </a:lnTo>
                  <a:lnTo>
                    <a:pt x="1405" y="943"/>
                  </a:lnTo>
                  <a:lnTo>
                    <a:pt x="1411" y="925"/>
                  </a:lnTo>
                  <a:lnTo>
                    <a:pt x="1447" y="943"/>
                  </a:lnTo>
                  <a:lnTo>
                    <a:pt x="2924" y="943"/>
                  </a:lnTo>
                  <a:lnTo>
                    <a:pt x="2888" y="859"/>
                  </a:lnTo>
                  <a:lnTo>
                    <a:pt x="2713" y="775"/>
                  </a:lnTo>
                  <a:lnTo>
                    <a:pt x="2582" y="708"/>
                  </a:lnTo>
                  <a:lnTo>
                    <a:pt x="2336" y="636"/>
                  </a:lnTo>
                  <a:lnTo>
                    <a:pt x="2299" y="606"/>
                  </a:lnTo>
                  <a:lnTo>
                    <a:pt x="2509" y="582"/>
                  </a:lnTo>
                  <a:lnTo>
                    <a:pt x="2606" y="588"/>
                  </a:lnTo>
                  <a:lnTo>
                    <a:pt x="2773" y="588"/>
                  </a:lnTo>
                  <a:lnTo>
                    <a:pt x="3001" y="582"/>
                  </a:lnTo>
                  <a:lnTo>
                    <a:pt x="3259" y="516"/>
                  </a:lnTo>
                  <a:lnTo>
                    <a:pt x="3452" y="438"/>
                  </a:lnTo>
                  <a:lnTo>
                    <a:pt x="3668" y="391"/>
                  </a:lnTo>
                  <a:lnTo>
                    <a:pt x="3668" y="312"/>
                  </a:lnTo>
                  <a:lnTo>
                    <a:pt x="3482" y="300"/>
                  </a:lnTo>
                  <a:lnTo>
                    <a:pt x="3482" y="300"/>
                  </a:lnTo>
                  <a:close/>
                </a:path>
              </a:pathLst>
            </a:custGeom>
            <a:gradFill rotWithShape="0">
              <a:gsLst>
                <a:gs pos="0">
                  <a:schemeClr val="bg2"/>
                </a:gs>
                <a:gs pos="100000">
                  <a:schemeClr val="bg1"/>
                </a:gs>
              </a:gsLst>
              <a:lin ang="5400000" scaled="1"/>
            </a:gradFill>
            <a:ln w="9525">
              <a:noFill/>
              <a:round/>
              <a:headEnd/>
              <a:tailEnd/>
            </a:ln>
          </p:spPr>
          <p:txBody>
            <a:bodyPr/>
            <a:p>
              <a:endParaRPr lang="en-US"/>
            </a:p>
          </p:txBody>
        </p:sp>
        <p:sp>
          <p:nvSpPr>
            <p:cNvPr id="1050179" name="Freeform 6"/>
            <p:cNvSpPr/>
            <p:nvPr/>
          </p:nvSpPr>
          <p:spPr bwMode="hidden">
            <a:xfrm>
              <a:off x="0" y="524"/>
              <a:ext cx="973" cy="1195"/>
            </a:xfrm>
            <a:custGeom>
              <a:avLst/>
              <a:ahLst/>
              <a:cxnLst>
                <a:cxn ang="0">
                  <a:pos x="323" y="1186"/>
                </a:cxn>
                <a:cxn ang="0">
                  <a:pos x="490" y="1192"/>
                </a:cxn>
                <a:cxn ang="0">
                  <a:pos x="580" y="1150"/>
                </a:cxn>
                <a:cxn ang="0">
                  <a:pos x="813" y="1085"/>
                </a:cxn>
                <a:cxn ang="0">
                  <a:pos x="933" y="1055"/>
                </a:cxn>
                <a:cxn ang="0">
                  <a:pos x="759" y="989"/>
                </a:cxn>
                <a:cxn ang="0">
                  <a:pos x="556" y="953"/>
                </a:cxn>
                <a:cxn ang="0">
                  <a:pos x="197" y="971"/>
                </a:cxn>
                <a:cxn ang="0">
                  <a:pos x="299" y="893"/>
                </a:cxn>
                <a:cxn ang="0">
                  <a:pos x="496" y="803"/>
                </a:cxn>
                <a:cxn ang="0">
                  <a:pos x="694" y="671"/>
                </a:cxn>
                <a:cxn ang="0">
                  <a:pos x="700" y="671"/>
                </a:cxn>
                <a:cxn ang="0">
                  <a:pos x="712" y="665"/>
                </a:cxn>
                <a:cxn ang="0">
                  <a:pos x="753" y="647"/>
                </a:cxn>
                <a:cxn ang="0">
                  <a:pos x="777" y="641"/>
                </a:cxn>
                <a:cxn ang="0">
                  <a:pos x="789" y="629"/>
                </a:cxn>
                <a:cxn ang="0">
                  <a:pos x="795" y="617"/>
                </a:cxn>
                <a:cxn ang="0">
                  <a:pos x="789" y="611"/>
                </a:cxn>
                <a:cxn ang="0">
                  <a:pos x="783" y="599"/>
                </a:cxn>
                <a:cxn ang="0">
                  <a:pos x="783" y="575"/>
                </a:cxn>
                <a:cxn ang="0">
                  <a:pos x="795" y="545"/>
                </a:cxn>
                <a:cxn ang="0">
                  <a:pos x="807" y="515"/>
                </a:cxn>
                <a:cxn ang="0">
                  <a:pos x="825" y="485"/>
                </a:cxn>
                <a:cxn ang="0">
                  <a:pos x="837" y="455"/>
                </a:cxn>
                <a:cxn ang="0">
                  <a:pos x="843" y="437"/>
                </a:cxn>
                <a:cxn ang="0">
                  <a:pos x="849" y="431"/>
                </a:cxn>
                <a:cxn ang="0">
                  <a:pos x="849" y="347"/>
                </a:cxn>
                <a:cxn ang="0">
                  <a:pos x="849" y="341"/>
                </a:cxn>
                <a:cxn ang="0">
                  <a:pos x="855" y="335"/>
                </a:cxn>
                <a:cxn ang="0">
                  <a:pos x="873" y="305"/>
                </a:cxn>
                <a:cxn ang="0">
                  <a:pos x="885" y="269"/>
                </a:cxn>
                <a:cxn ang="0">
                  <a:pos x="897" y="239"/>
                </a:cxn>
                <a:cxn ang="0">
                  <a:pos x="903" y="227"/>
                </a:cxn>
                <a:cxn ang="0">
                  <a:pos x="909" y="215"/>
                </a:cxn>
                <a:cxn ang="0">
                  <a:pos x="927" y="173"/>
                </a:cxn>
                <a:cxn ang="0">
                  <a:pos x="945" y="137"/>
                </a:cxn>
                <a:cxn ang="0">
                  <a:pos x="951" y="125"/>
                </a:cxn>
                <a:cxn ang="0">
                  <a:pos x="951" y="119"/>
                </a:cxn>
                <a:cxn ang="0">
                  <a:pos x="969" y="0"/>
                </a:cxn>
                <a:cxn ang="0">
                  <a:pos x="945" y="47"/>
                </a:cxn>
                <a:cxn ang="0">
                  <a:pos x="783" y="113"/>
                </a:cxn>
                <a:cxn ang="0">
                  <a:pos x="706" y="161"/>
                </a:cxn>
                <a:cxn ang="0">
                  <a:pos x="460" y="233"/>
                </a:cxn>
                <a:cxn ang="0">
                  <a:pos x="281" y="287"/>
                </a:cxn>
                <a:cxn ang="0">
                  <a:pos x="173" y="293"/>
                </a:cxn>
                <a:cxn ang="0">
                  <a:pos x="12" y="485"/>
                </a:cxn>
                <a:cxn ang="0">
                  <a:pos x="0" y="509"/>
                </a:cxn>
                <a:cxn ang="0">
                  <a:pos x="0" y="1186"/>
                </a:cxn>
                <a:cxn ang="0">
                  <a:pos x="96" y="1180"/>
                </a:cxn>
                <a:cxn ang="0">
                  <a:pos x="323" y="1186"/>
                </a:cxn>
                <a:cxn ang="0">
                  <a:pos x="323" y="1186"/>
                </a:cxn>
              </a:cxnLst>
              <a:rect l="0" t="0" r="r" b="b"/>
              <a:pathLst>
                <a:path w="969" h="1192">
                  <a:moveTo>
                    <a:pt x="323" y="1186"/>
                  </a:moveTo>
                  <a:lnTo>
                    <a:pt x="490" y="1192"/>
                  </a:lnTo>
                  <a:lnTo>
                    <a:pt x="580" y="1150"/>
                  </a:lnTo>
                  <a:lnTo>
                    <a:pt x="813" y="1085"/>
                  </a:lnTo>
                  <a:lnTo>
                    <a:pt x="933" y="1055"/>
                  </a:lnTo>
                  <a:lnTo>
                    <a:pt x="759" y="989"/>
                  </a:lnTo>
                  <a:lnTo>
                    <a:pt x="556" y="953"/>
                  </a:lnTo>
                  <a:lnTo>
                    <a:pt x="197" y="971"/>
                  </a:lnTo>
                  <a:lnTo>
                    <a:pt x="299" y="893"/>
                  </a:lnTo>
                  <a:lnTo>
                    <a:pt x="496" y="803"/>
                  </a:lnTo>
                  <a:lnTo>
                    <a:pt x="694" y="671"/>
                  </a:lnTo>
                  <a:lnTo>
                    <a:pt x="700" y="671"/>
                  </a:lnTo>
                  <a:lnTo>
                    <a:pt x="712" y="665"/>
                  </a:lnTo>
                  <a:lnTo>
                    <a:pt x="753" y="647"/>
                  </a:lnTo>
                  <a:lnTo>
                    <a:pt x="777" y="641"/>
                  </a:lnTo>
                  <a:lnTo>
                    <a:pt x="789" y="629"/>
                  </a:lnTo>
                  <a:lnTo>
                    <a:pt x="795" y="617"/>
                  </a:lnTo>
                  <a:lnTo>
                    <a:pt x="789" y="611"/>
                  </a:lnTo>
                  <a:lnTo>
                    <a:pt x="783" y="599"/>
                  </a:lnTo>
                  <a:lnTo>
                    <a:pt x="783" y="575"/>
                  </a:lnTo>
                  <a:lnTo>
                    <a:pt x="795" y="545"/>
                  </a:lnTo>
                  <a:lnTo>
                    <a:pt x="807" y="515"/>
                  </a:lnTo>
                  <a:lnTo>
                    <a:pt x="825" y="485"/>
                  </a:lnTo>
                  <a:lnTo>
                    <a:pt x="837" y="455"/>
                  </a:lnTo>
                  <a:lnTo>
                    <a:pt x="843" y="437"/>
                  </a:lnTo>
                  <a:lnTo>
                    <a:pt x="849" y="431"/>
                  </a:lnTo>
                  <a:lnTo>
                    <a:pt x="849" y="347"/>
                  </a:lnTo>
                  <a:lnTo>
                    <a:pt x="849" y="341"/>
                  </a:lnTo>
                  <a:lnTo>
                    <a:pt x="855" y="335"/>
                  </a:lnTo>
                  <a:lnTo>
                    <a:pt x="873" y="305"/>
                  </a:lnTo>
                  <a:lnTo>
                    <a:pt x="885" y="269"/>
                  </a:lnTo>
                  <a:lnTo>
                    <a:pt x="897" y="239"/>
                  </a:lnTo>
                  <a:lnTo>
                    <a:pt x="903" y="227"/>
                  </a:lnTo>
                  <a:lnTo>
                    <a:pt x="909" y="215"/>
                  </a:lnTo>
                  <a:lnTo>
                    <a:pt x="927" y="173"/>
                  </a:lnTo>
                  <a:lnTo>
                    <a:pt x="945" y="137"/>
                  </a:lnTo>
                  <a:lnTo>
                    <a:pt x="951" y="125"/>
                  </a:lnTo>
                  <a:lnTo>
                    <a:pt x="951" y="119"/>
                  </a:lnTo>
                  <a:lnTo>
                    <a:pt x="969" y="0"/>
                  </a:lnTo>
                  <a:lnTo>
                    <a:pt x="945" y="47"/>
                  </a:lnTo>
                  <a:lnTo>
                    <a:pt x="783" y="113"/>
                  </a:lnTo>
                  <a:lnTo>
                    <a:pt x="706" y="161"/>
                  </a:lnTo>
                  <a:lnTo>
                    <a:pt x="460" y="233"/>
                  </a:lnTo>
                  <a:lnTo>
                    <a:pt x="281" y="287"/>
                  </a:lnTo>
                  <a:lnTo>
                    <a:pt x="173" y="293"/>
                  </a:lnTo>
                  <a:lnTo>
                    <a:pt x="12" y="485"/>
                  </a:lnTo>
                  <a:lnTo>
                    <a:pt x="0" y="509"/>
                  </a:lnTo>
                  <a:lnTo>
                    <a:pt x="0" y="1186"/>
                  </a:lnTo>
                  <a:lnTo>
                    <a:pt x="96" y="1180"/>
                  </a:lnTo>
                  <a:lnTo>
                    <a:pt x="323" y="1186"/>
                  </a:lnTo>
                  <a:lnTo>
                    <a:pt x="323" y="1186"/>
                  </a:lnTo>
                  <a:close/>
                </a:path>
              </a:pathLst>
            </a:custGeom>
            <a:gradFill rotWithShape="0">
              <a:gsLst>
                <a:gs pos="0">
                  <a:schemeClr val="bg2"/>
                </a:gs>
                <a:gs pos="100000">
                  <a:schemeClr val="bg1"/>
                </a:gs>
              </a:gsLst>
              <a:lin ang="5400000" scaled="1"/>
            </a:gradFill>
            <a:ln w="9525">
              <a:noFill/>
              <a:round/>
              <a:headEnd/>
              <a:tailEnd/>
            </a:ln>
          </p:spPr>
          <p:txBody>
            <a:bodyPr/>
            <a:p>
              <a:endParaRPr lang="en-US"/>
            </a:p>
          </p:txBody>
        </p:sp>
        <p:sp>
          <p:nvSpPr>
            <p:cNvPr id="1050180" name="Freeform 7"/>
            <p:cNvSpPr/>
            <p:nvPr/>
          </p:nvSpPr>
          <p:spPr bwMode="hidden">
            <a:xfrm>
              <a:off x="3188" y="1"/>
              <a:ext cx="2570" cy="2266"/>
            </a:xfrm>
            <a:custGeom>
              <a:avLst/>
              <a:ahLst/>
              <a:cxnLst>
                <a:cxn ang="0">
                  <a:pos x="859" y="612"/>
                </a:cxn>
                <a:cxn ang="0">
                  <a:pos x="1087" y="853"/>
                </a:cxn>
                <a:cxn ang="0">
                  <a:pos x="961" y="913"/>
                </a:cxn>
                <a:cxn ang="0">
                  <a:pos x="786" y="883"/>
                </a:cxn>
                <a:cxn ang="0">
                  <a:pos x="450" y="931"/>
                </a:cxn>
                <a:cxn ang="0">
                  <a:pos x="150" y="1075"/>
                </a:cxn>
                <a:cxn ang="0">
                  <a:pos x="78" y="1165"/>
                </a:cxn>
                <a:cxn ang="0">
                  <a:pos x="361" y="1256"/>
                </a:cxn>
                <a:cxn ang="0">
                  <a:pos x="444" y="1316"/>
                </a:cxn>
                <a:cxn ang="0">
                  <a:pos x="697" y="1400"/>
                </a:cxn>
                <a:cxn ang="0">
                  <a:pos x="1026" y="1346"/>
                </a:cxn>
                <a:cxn ang="0">
                  <a:pos x="991" y="1412"/>
                </a:cxn>
                <a:cxn ang="0">
                  <a:pos x="804" y="1574"/>
                </a:cxn>
                <a:cxn ang="0">
                  <a:pos x="726" y="1718"/>
                </a:cxn>
                <a:cxn ang="0">
                  <a:pos x="768" y="1742"/>
                </a:cxn>
                <a:cxn ang="0">
                  <a:pos x="865" y="1693"/>
                </a:cxn>
                <a:cxn ang="0">
                  <a:pos x="991" y="1699"/>
                </a:cxn>
                <a:cxn ang="0">
                  <a:pos x="1135" y="1627"/>
                </a:cxn>
                <a:cxn ang="0">
                  <a:pos x="1183" y="1669"/>
                </a:cxn>
                <a:cxn ang="0">
                  <a:pos x="1399" y="1436"/>
                </a:cxn>
                <a:cxn ang="0">
                  <a:pos x="1615" y="1334"/>
                </a:cxn>
                <a:cxn ang="0">
                  <a:pos x="1645" y="1370"/>
                </a:cxn>
                <a:cxn ang="0">
                  <a:pos x="1681" y="1430"/>
                </a:cxn>
                <a:cxn ang="0">
                  <a:pos x="1699" y="1466"/>
                </a:cxn>
                <a:cxn ang="0">
                  <a:pos x="1747" y="1550"/>
                </a:cxn>
                <a:cxn ang="0">
                  <a:pos x="1772" y="1586"/>
                </a:cxn>
                <a:cxn ang="0">
                  <a:pos x="2124" y="2248"/>
                </a:cxn>
                <a:cxn ang="0">
                  <a:pos x="1693" y="1322"/>
                </a:cxn>
                <a:cxn ang="0">
                  <a:pos x="1861" y="1165"/>
                </a:cxn>
                <a:cxn ang="0">
                  <a:pos x="2173" y="1099"/>
                </a:cxn>
                <a:cxn ang="0">
                  <a:pos x="2390" y="1009"/>
                </a:cxn>
                <a:cxn ang="0">
                  <a:pos x="2570" y="805"/>
                </a:cxn>
                <a:cxn ang="0">
                  <a:pos x="2342" y="781"/>
                </a:cxn>
                <a:cxn ang="0">
                  <a:pos x="2114" y="763"/>
                </a:cxn>
                <a:cxn ang="0">
                  <a:pos x="2408" y="433"/>
                </a:cxn>
                <a:cxn ang="0">
                  <a:pos x="2426" y="421"/>
                </a:cxn>
                <a:cxn ang="0">
                  <a:pos x="2474" y="379"/>
                </a:cxn>
                <a:cxn ang="0">
                  <a:pos x="2492" y="355"/>
                </a:cxn>
                <a:cxn ang="0">
                  <a:pos x="2474" y="337"/>
                </a:cxn>
                <a:cxn ang="0">
                  <a:pos x="2474" y="271"/>
                </a:cxn>
                <a:cxn ang="0">
                  <a:pos x="2492" y="192"/>
                </a:cxn>
                <a:cxn ang="0">
                  <a:pos x="2504" y="132"/>
                </a:cxn>
                <a:cxn ang="0">
                  <a:pos x="2492" y="36"/>
                </a:cxn>
                <a:cxn ang="0">
                  <a:pos x="2492" y="24"/>
                </a:cxn>
                <a:cxn ang="0">
                  <a:pos x="2102" y="0"/>
                </a:cxn>
                <a:cxn ang="0">
                  <a:pos x="1909" y="90"/>
                </a:cxn>
                <a:cxn ang="0">
                  <a:pos x="1747" y="535"/>
                </a:cxn>
                <a:cxn ang="0">
                  <a:pos x="1711" y="469"/>
                </a:cxn>
                <a:cxn ang="0">
                  <a:pos x="1633" y="144"/>
                </a:cxn>
                <a:cxn ang="0">
                  <a:pos x="1579" y="0"/>
                </a:cxn>
                <a:cxn ang="0">
                  <a:pos x="738" y="186"/>
                </a:cxn>
                <a:cxn ang="0">
                  <a:pos x="756" y="463"/>
                </a:cxn>
              </a:cxnLst>
              <a:rect l="0" t="0" r="r" b="b"/>
              <a:pathLst>
                <a:path w="2570" h="2266">
                  <a:moveTo>
                    <a:pt x="756" y="463"/>
                  </a:moveTo>
                  <a:lnTo>
                    <a:pt x="859" y="612"/>
                  </a:lnTo>
                  <a:lnTo>
                    <a:pt x="937" y="720"/>
                  </a:lnTo>
                  <a:lnTo>
                    <a:pt x="1087" y="853"/>
                  </a:lnTo>
                  <a:lnTo>
                    <a:pt x="1105" y="907"/>
                  </a:lnTo>
                  <a:lnTo>
                    <a:pt x="961" y="913"/>
                  </a:lnTo>
                  <a:lnTo>
                    <a:pt x="895" y="901"/>
                  </a:lnTo>
                  <a:lnTo>
                    <a:pt x="786" y="883"/>
                  </a:lnTo>
                  <a:lnTo>
                    <a:pt x="637" y="859"/>
                  </a:lnTo>
                  <a:lnTo>
                    <a:pt x="450" y="931"/>
                  </a:lnTo>
                  <a:lnTo>
                    <a:pt x="306" y="1021"/>
                  </a:lnTo>
                  <a:lnTo>
                    <a:pt x="150" y="1075"/>
                  </a:lnTo>
                  <a:lnTo>
                    <a:pt x="0" y="1153"/>
                  </a:lnTo>
                  <a:lnTo>
                    <a:pt x="78" y="1165"/>
                  </a:lnTo>
                  <a:lnTo>
                    <a:pt x="264" y="1220"/>
                  </a:lnTo>
                  <a:lnTo>
                    <a:pt x="361" y="1256"/>
                  </a:lnTo>
                  <a:lnTo>
                    <a:pt x="367" y="1298"/>
                  </a:lnTo>
                  <a:lnTo>
                    <a:pt x="444" y="1316"/>
                  </a:lnTo>
                  <a:lnTo>
                    <a:pt x="558" y="1400"/>
                  </a:lnTo>
                  <a:lnTo>
                    <a:pt x="697" y="1400"/>
                  </a:lnTo>
                  <a:lnTo>
                    <a:pt x="895" y="1346"/>
                  </a:lnTo>
                  <a:lnTo>
                    <a:pt x="1026" y="1346"/>
                  </a:lnTo>
                  <a:lnTo>
                    <a:pt x="1147" y="1358"/>
                  </a:lnTo>
                  <a:lnTo>
                    <a:pt x="991" y="1412"/>
                  </a:lnTo>
                  <a:lnTo>
                    <a:pt x="804" y="1538"/>
                  </a:lnTo>
                  <a:lnTo>
                    <a:pt x="804" y="1574"/>
                  </a:lnTo>
                  <a:lnTo>
                    <a:pt x="762" y="1645"/>
                  </a:lnTo>
                  <a:lnTo>
                    <a:pt x="726" y="1718"/>
                  </a:lnTo>
                  <a:lnTo>
                    <a:pt x="732" y="1754"/>
                  </a:lnTo>
                  <a:lnTo>
                    <a:pt x="768" y="1742"/>
                  </a:lnTo>
                  <a:lnTo>
                    <a:pt x="829" y="1730"/>
                  </a:lnTo>
                  <a:lnTo>
                    <a:pt x="865" y="1693"/>
                  </a:lnTo>
                  <a:lnTo>
                    <a:pt x="925" y="1663"/>
                  </a:lnTo>
                  <a:lnTo>
                    <a:pt x="991" y="1699"/>
                  </a:lnTo>
                  <a:lnTo>
                    <a:pt x="1087" y="1675"/>
                  </a:lnTo>
                  <a:lnTo>
                    <a:pt x="1135" y="1627"/>
                  </a:lnTo>
                  <a:lnTo>
                    <a:pt x="1147" y="1687"/>
                  </a:lnTo>
                  <a:lnTo>
                    <a:pt x="1183" y="1669"/>
                  </a:lnTo>
                  <a:lnTo>
                    <a:pt x="1333" y="1514"/>
                  </a:lnTo>
                  <a:lnTo>
                    <a:pt x="1399" y="1436"/>
                  </a:lnTo>
                  <a:lnTo>
                    <a:pt x="1526" y="1382"/>
                  </a:lnTo>
                  <a:lnTo>
                    <a:pt x="1615" y="1334"/>
                  </a:lnTo>
                  <a:lnTo>
                    <a:pt x="1627" y="1346"/>
                  </a:lnTo>
                  <a:lnTo>
                    <a:pt x="1645" y="1370"/>
                  </a:lnTo>
                  <a:lnTo>
                    <a:pt x="1669" y="1400"/>
                  </a:lnTo>
                  <a:lnTo>
                    <a:pt x="1681" y="1430"/>
                  </a:lnTo>
                  <a:lnTo>
                    <a:pt x="1687" y="1448"/>
                  </a:lnTo>
                  <a:lnTo>
                    <a:pt x="1699" y="1466"/>
                  </a:lnTo>
                  <a:lnTo>
                    <a:pt x="1729" y="1520"/>
                  </a:lnTo>
                  <a:lnTo>
                    <a:pt x="1747" y="1550"/>
                  </a:lnTo>
                  <a:lnTo>
                    <a:pt x="1766" y="1574"/>
                  </a:lnTo>
                  <a:lnTo>
                    <a:pt x="1772" y="1586"/>
                  </a:lnTo>
                  <a:lnTo>
                    <a:pt x="1778" y="1592"/>
                  </a:lnTo>
                  <a:lnTo>
                    <a:pt x="2124" y="2248"/>
                  </a:lnTo>
                  <a:lnTo>
                    <a:pt x="2215" y="2266"/>
                  </a:lnTo>
                  <a:lnTo>
                    <a:pt x="1693" y="1322"/>
                  </a:lnTo>
                  <a:lnTo>
                    <a:pt x="1723" y="1262"/>
                  </a:lnTo>
                  <a:lnTo>
                    <a:pt x="1861" y="1165"/>
                  </a:lnTo>
                  <a:lnTo>
                    <a:pt x="1988" y="1129"/>
                  </a:lnTo>
                  <a:lnTo>
                    <a:pt x="2173" y="1099"/>
                  </a:lnTo>
                  <a:lnTo>
                    <a:pt x="2318" y="1075"/>
                  </a:lnTo>
                  <a:lnTo>
                    <a:pt x="2390" y="1009"/>
                  </a:lnTo>
                  <a:lnTo>
                    <a:pt x="2570" y="895"/>
                  </a:lnTo>
                  <a:lnTo>
                    <a:pt x="2570" y="805"/>
                  </a:lnTo>
                  <a:lnTo>
                    <a:pt x="2516" y="787"/>
                  </a:lnTo>
                  <a:lnTo>
                    <a:pt x="2342" y="781"/>
                  </a:lnTo>
                  <a:lnTo>
                    <a:pt x="2042" y="871"/>
                  </a:lnTo>
                  <a:lnTo>
                    <a:pt x="2114" y="763"/>
                  </a:lnTo>
                  <a:lnTo>
                    <a:pt x="2264" y="624"/>
                  </a:lnTo>
                  <a:lnTo>
                    <a:pt x="2408" y="433"/>
                  </a:lnTo>
                  <a:lnTo>
                    <a:pt x="2414" y="433"/>
                  </a:lnTo>
                  <a:lnTo>
                    <a:pt x="2426" y="421"/>
                  </a:lnTo>
                  <a:lnTo>
                    <a:pt x="2456" y="397"/>
                  </a:lnTo>
                  <a:lnTo>
                    <a:pt x="2474" y="379"/>
                  </a:lnTo>
                  <a:lnTo>
                    <a:pt x="2486" y="367"/>
                  </a:lnTo>
                  <a:lnTo>
                    <a:pt x="2492" y="355"/>
                  </a:lnTo>
                  <a:lnTo>
                    <a:pt x="2486" y="349"/>
                  </a:lnTo>
                  <a:lnTo>
                    <a:pt x="2474" y="337"/>
                  </a:lnTo>
                  <a:lnTo>
                    <a:pt x="2474" y="307"/>
                  </a:lnTo>
                  <a:lnTo>
                    <a:pt x="2474" y="271"/>
                  </a:lnTo>
                  <a:lnTo>
                    <a:pt x="2480" y="228"/>
                  </a:lnTo>
                  <a:lnTo>
                    <a:pt x="2492" y="192"/>
                  </a:lnTo>
                  <a:lnTo>
                    <a:pt x="2498" y="156"/>
                  </a:lnTo>
                  <a:lnTo>
                    <a:pt x="2504" y="132"/>
                  </a:lnTo>
                  <a:lnTo>
                    <a:pt x="2504" y="126"/>
                  </a:lnTo>
                  <a:lnTo>
                    <a:pt x="2492" y="36"/>
                  </a:lnTo>
                  <a:lnTo>
                    <a:pt x="2492" y="36"/>
                  </a:lnTo>
                  <a:lnTo>
                    <a:pt x="2492" y="24"/>
                  </a:lnTo>
                  <a:lnTo>
                    <a:pt x="2498" y="0"/>
                  </a:lnTo>
                  <a:lnTo>
                    <a:pt x="2102" y="0"/>
                  </a:lnTo>
                  <a:lnTo>
                    <a:pt x="2006" y="60"/>
                  </a:lnTo>
                  <a:lnTo>
                    <a:pt x="1909" y="90"/>
                  </a:lnTo>
                  <a:lnTo>
                    <a:pt x="1808" y="337"/>
                  </a:lnTo>
                  <a:lnTo>
                    <a:pt x="1747" y="535"/>
                  </a:lnTo>
                  <a:lnTo>
                    <a:pt x="1687" y="588"/>
                  </a:lnTo>
                  <a:lnTo>
                    <a:pt x="1711" y="469"/>
                  </a:lnTo>
                  <a:lnTo>
                    <a:pt x="1687" y="343"/>
                  </a:lnTo>
                  <a:lnTo>
                    <a:pt x="1633" y="144"/>
                  </a:lnTo>
                  <a:lnTo>
                    <a:pt x="1585" y="12"/>
                  </a:lnTo>
                  <a:lnTo>
                    <a:pt x="1579" y="0"/>
                  </a:lnTo>
                  <a:lnTo>
                    <a:pt x="786" y="0"/>
                  </a:lnTo>
                  <a:lnTo>
                    <a:pt x="738" y="186"/>
                  </a:lnTo>
                  <a:lnTo>
                    <a:pt x="756" y="463"/>
                  </a:lnTo>
                  <a:lnTo>
                    <a:pt x="756" y="463"/>
                  </a:lnTo>
                  <a:close/>
                </a:path>
              </a:pathLst>
            </a:custGeom>
            <a:gradFill rotWithShape="0">
              <a:gsLst>
                <a:gs pos="0">
                  <a:schemeClr val="bg2"/>
                </a:gs>
                <a:gs pos="100000">
                  <a:schemeClr val="bg1"/>
                </a:gs>
              </a:gsLst>
              <a:lin ang="5400000" scaled="1"/>
            </a:gradFill>
            <a:ln w="9525">
              <a:noFill/>
              <a:round/>
              <a:headEnd/>
              <a:tailEnd/>
            </a:ln>
          </p:spPr>
          <p:txBody>
            <a:bodyPr/>
            <a:p>
              <a:endParaRPr lang="en-US"/>
            </a:p>
          </p:txBody>
        </p:sp>
        <p:sp>
          <p:nvSpPr>
            <p:cNvPr id="1050181" name="Freeform 8"/>
            <p:cNvSpPr/>
            <p:nvPr/>
          </p:nvSpPr>
          <p:spPr bwMode="hidden">
            <a:xfrm>
              <a:off x="3525" y="1"/>
              <a:ext cx="2185" cy="1508"/>
            </a:xfrm>
            <a:custGeom>
              <a:avLst/>
              <a:ahLst/>
              <a:cxnLst>
                <a:cxn ang="0">
                  <a:pos x="1034" y="767"/>
                </a:cxn>
                <a:cxn ang="0">
                  <a:pos x="1190" y="1235"/>
                </a:cxn>
                <a:cxn ang="0">
                  <a:pos x="956" y="1193"/>
                </a:cxn>
                <a:cxn ang="0">
                  <a:pos x="723" y="1127"/>
                </a:cxn>
                <a:cxn ang="0">
                  <a:pos x="442" y="1109"/>
                </a:cxn>
                <a:cxn ang="0">
                  <a:pos x="0" y="1079"/>
                </a:cxn>
                <a:cxn ang="0">
                  <a:pos x="30" y="1115"/>
                </a:cxn>
                <a:cxn ang="0">
                  <a:pos x="496" y="1133"/>
                </a:cxn>
                <a:cxn ang="0">
                  <a:pos x="777" y="1187"/>
                </a:cxn>
                <a:cxn ang="0">
                  <a:pos x="1130" y="1301"/>
                </a:cxn>
                <a:cxn ang="0">
                  <a:pos x="1070" y="1319"/>
                </a:cxn>
                <a:cxn ang="0">
                  <a:pos x="711" y="1505"/>
                </a:cxn>
                <a:cxn ang="0">
                  <a:pos x="765" y="1481"/>
                </a:cxn>
                <a:cxn ang="0">
                  <a:pos x="861" y="1439"/>
                </a:cxn>
                <a:cxn ang="0">
                  <a:pos x="1022" y="1355"/>
                </a:cxn>
                <a:cxn ang="0">
                  <a:pos x="1214" y="1295"/>
                </a:cxn>
                <a:cxn ang="0">
                  <a:pos x="1267" y="1223"/>
                </a:cxn>
                <a:cxn ang="0">
                  <a:pos x="1632" y="1043"/>
                </a:cxn>
                <a:cxn ang="0">
                  <a:pos x="1931" y="953"/>
                </a:cxn>
                <a:cxn ang="0">
                  <a:pos x="2176" y="821"/>
                </a:cxn>
                <a:cxn ang="0">
                  <a:pos x="1961" y="911"/>
                </a:cxn>
                <a:cxn ang="0">
                  <a:pos x="1656" y="989"/>
                </a:cxn>
                <a:cxn ang="0">
                  <a:pos x="1339" y="1151"/>
                </a:cxn>
                <a:cxn ang="0">
                  <a:pos x="1501" y="905"/>
                </a:cxn>
                <a:cxn ang="0">
                  <a:pos x="1620" y="545"/>
                </a:cxn>
                <a:cxn ang="0">
                  <a:pos x="1740" y="372"/>
                </a:cxn>
                <a:cxn ang="0">
                  <a:pos x="1979" y="60"/>
                </a:cxn>
                <a:cxn ang="0">
                  <a:pos x="2003" y="0"/>
                </a:cxn>
                <a:cxn ang="0">
                  <a:pos x="1973" y="0"/>
                </a:cxn>
                <a:cxn ang="0">
                  <a:pos x="1596" y="480"/>
                </a:cxn>
                <a:cxn ang="0">
                  <a:pos x="1477" y="887"/>
                </a:cxn>
                <a:cxn ang="0">
                  <a:pos x="1255" y="1175"/>
                </a:cxn>
                <a:cxn ang="0">
                  <a:pos x="1130" y="905"/>
                </a:cxn>
                <a:cxn ang="0">
                  <a:pos x="1010" y="540"/>
                </a:cxn>
                <a:cxn ang="0">
                  <a:pos x="885" y="222"/>
                </a:cxn>
                <a:cxn ang="0">
                  <a:pos x="789" y="0"/>
                </a:cxn>
                <a:cxn ang="0">
                  <a:pos x="753" y="0"/>
                </a:cxn>
                <a:cxn ang="0">
                  <a:pos x="903" y="354"/>
                </a:cxn>
                <a:cxn ang="0">
                  <a:pos x="1034" y="767"/>
                </a:cxn>
                <a:cxn ang="0">
                  <a:pos x="1034" y="767"/>
                </a:cxn>
              </a:cxnLst>
              <a:rect l="0" t="0" r="r" b="b"/>
              <a:pathLst>
                <a:path w="2176" h="1505">
                  <a:moveTo>
                    <a:pt x="1034" y="767"/>
                  </a:moveTo>
                  <a:lnTo>
                    <a:pt x="1190" y="1235"/>
                  </a:lnTo>
                  <a:lnTo>
                    <a:pt x="956" y="1193"/>
                  </a:lnTo>
                  <a:lnTo>
                    <a:pt x="723" y="1127"/>
                  </a:lnTo>
                  <a:lnTo>
                    <a:pt x="442" y="1109"/>
                  </a:lnTo>
                  <a:lnTo>
                    <a:pt x="0" y="1079"/>
                  </a:lnTo>
                  <a:lnTo>
                    <a:pt x="30" y="1115"/>
                  </a:lnTo>
                  <a:lnTo>
                    <a:pt x="496" y="1133"/>
                  </a:lnTo>
                  <a:lnTo>
                    <a:pt x="777" y="1187"/>
                  </a:lnTo>
                  <a:lnTo>
                    <a:pt x="1130" y="1301"/>
                  </a:lnTo>
                  <a:lnTo>
                    <a:pt x="1070" y="1319"/>
                  </a:lnTo>
                  <a:lnTo>
                    <a:pt x="711" y="1505"/>
                  </a:lnTo>
                  <a:lnTo>
                    <a:pt x="765" y="1481"/>
                  </a:lnTo>
                  <a:lnTo>
                    <a:pt x="861" y="1439"/>
                  </a:lnTo>
                  <a:lnTo>
                    <a:pt x="1022" y="1355"/>
                  </a:lnTo>
                  <a:lnTo>
                    <a:pt x="1214" y="1295"/>
                  </a:lnTo>
                  <a:lnTo>
                    <a:pt x="1267" y="1223"/>
                  </a:lnTo>
                  <a:lnTo>
                    <a:pt x="1632" y="1043"/>
                  </a:lnTo>
                  <a:lnTo>
                    <a:pt x="1931" y="953"/>
                  </a:lnTo>
                  <a:lnTo>
                    <a:pt x="2176" y="821"/>
                  </a:lnTo>
                  <a:lnTo>
                    <a:pt x="1961" y="911"/>
                  </a:lnTo>
                  <a:lnTo>
                    <a:pt x="1656" y="989"/>
                  </a:lnTo>
                  <a:lnTo>
                    <a:pt x="1339" y="1151"/>
                  </a:lnTo>
                  <a:lnTo>
                    <a:pt x="1501" y="905"/>
                  </a:lnTo>
                  <a:lnTo>
                    <a:pt x="1620" y="545"/>
                  </a:lnTo>
                  <a:lnTo>
                    <a:pt x="1740" y="372"/>
                  </a:lnTo>
                  <a:lnTo>
                    <a:pt x="1979" y="60"/>
                  </a:lnTo>
                  <a:lnTo>
                    <a:pt x="2003" y="0"/>
                  </a:lnTo>
                  <a:lnTo>
                    <a:pt x="1973" y="0"/>
                  </a:lnTo>
                  <a:lnTo>
                    <a:pt x="1596" y="480"/>
                  </a:lnTo>
                  <a:lnTo>
                    <a:pt x="1477" y="887"/>
                  </a:lnTo>
                  <a:lnTo>
                    <a:pt x="1255" y="1175"/>
                  </a:lnTo>
                  <a:lnTo>
                    <a:pt x="1130" y="905"/>
                  </a:lnTo>
                  <a:lnTo>
                    <a:pt x="1010" y="540"/>
                  </a:lnTo>
                  <a:lnTo>
                    <a:pt x="885" y="222"/>
                  </a:lnTo>
                  <a:lnTo>
                    <a:pt x="789" y="0"/>
                  </a:lnTo>
                  <a:lnTo>
                    <a:pt x="753" y="0"/>
                  </a:lnTo>
                  <a:lnTo>
                    <a:pt x="903" y="354"/>
                  </a:lnTo>
                  <a:lnTo>
                    <a:pt x="1034" y="767"/>
                  </a:lnTo>
                  <a:lnTo>
                    <a:pt x="1034" y="767"/>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182" name="Freeform 9"/>
            <p:cNvSpPr/>
            <p:nvPr/>
          </p:nvSpPr>
          <p:spPr bwMode="hidden">
            <a:xfrm>
              <a:off x="0" y="649"/>
              <a:ext cx="816" cy="806"/>
            </a:xfrm>
            <a:custGeom>
              <a:avLst/>
              <a:ahLst/>
              <a:cxnLst>
                <a:cxn ang="0">
                  <a:pos x="161" y="564"/>
                </a:cxn>
                <a:cxn ang="0">
                  <a:pos x="329" y="438"/>
                </a:cxn>
                <a:cxn ang="0">
                  <a:pos x="646" y="216"/>
                </a:cxn>
                <a:cxn ang="0">
                  <a:pos x="813" y="0"/>
                </a:cxn>
                <a:cxn ang="0">
                  <a:pos x="676" y="150"/>
                </a:cxn>
                <a:cxn ang="0">
                  <a:pos x="144" y="504"/>
                </a:cxn>
                <a:cxn ang="0">
                  <a:pos x="0" y="732"/>
                </a:cxn>
                <a:cxn ang="0">
                  <a:pos x="0" y="804"/>
                </a:cxn>
                <a:cxn ang="0">
                  <a:pos x="161" y="564"/>
                </a:cxn>
                <a:cxn ang="0">
                  <a:pos x="161" y="564"/>
                </a:cxn>
              </a:cxnLst>
              <a:rect l="0" t="0" r="r" b="b"/>
              <a:pathLst>
                <a:path w="813" h="804">
                  <a:moveTo>
                    <a:pt x="161" y="564"/>
                  </a:moveTo>
                  <a:lnTo>
                    <a:pt x="329" y="438"/>
                  </a:lnTo>
                  <a:lnTo>
                    <a:pt x="646" y="216"/>
                  </a:lnTo>
                  <a:lnTo>
                    <a:pt x="813" y="0"/>
                  </a:lnTo>
                  <a:lnTo>
                    <a:pt x="676" y="150"/>
                  </a:lnTo>
                  <a:lnTo>
                    <a:pt x="144" y="504"/>
                  </a:lnTo>
                  <a:lnTo>
                    <a:pt x="0" y="732"/>
                  </a:lnTo>
                  <a:lnTo>
                    <a:pt x="0" y="804"/>
                  </a:lnTo>
                  <a:lnTo>
                    <a:pt x="161" y="564"/>
                  </a:lnTo>
                  <a:lnTo>
                    <a:pt x="161" y="564"/>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183" name="Freeform 10"/>
            <p:cNvSpPr/>
            <p:nvPr/>
          </p:nvSpPr>
          <p:spPr bwMode="hidden">
            <a:xfrm>
              <a:off x="0" y="1545"/>
              <a:ext cx="762" cy="107"/>
            </a:xfrm>
            <a:custGeom>
              <a:avLst/>
              <a:ahLst/>
              <a:cxnLst>
                <a:cxn ang="0">
                  <a:pos x="460" y="66"/>
                </a:cxn>
                <a:cxn ang="0">
                  <a:pos x="759" y="0"/>
                </a:cxn>
                <a:cxn ang="0">
                  <a:pos x="496" y="36"/>
                </a:cxn>
                <a:cxn ang="0">
                  <a:pos x="138" y="48"/>
                </a:cxn>
                <a:cxn ang="0">
                  <a:pos x="0" y="78"/>
                </a:cxn>
                <a:cxn ang="0">
                  <a:pos x="0" y="107"/>
                </a:cxn>
                <a:cxn ang="0">
                  <a:pos x="96" y="89"/>
                </a:cxn>
                <a:cxn ang="0">
                  <a:pos x="460" y="66"/>
                </a:cxn>
                <a:cxn ang="0">
                  <a:pos x="460" y="66"/>
                </a:cxn>
              </a:cxnLst>
              <a:rect l="0" t="0" r="r" b="b"/>
              <a:pathLst>
                <a:path w="759" h="107">
                  <a:moveTo>
                    <a:pt x="460" y="66"/>
                  </a:moveTo>
                  <a:lnTo>
                    <a:pt x="759" y="0"/>
                  </a:lnTo>
                  <a:lnTo>
                    <a:pt x="496" y="36"/>
                  </a:lnTo>
                  <a:lnTo>
                    <a:pt x="138" y="48"/>
                  </a:lnTo>
                  <a:lnTo>
                    <a:pt x="0" y="78"/>
                  </a:lnTo>
                  <a:lnTo>
                    <a:pt x="0" y="107"/>
                  </a:lnTo>
                  <a:lnTo>
                    <a:pt x="96" y="89"/>
                  </a:lnTo>
                  <a:lnTo>
                    <a:pt x="460" y="66"/>
                  </a:lnTo>
                  <a:lnTo>
                    <a:pt x="460" y="66"/>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184" name="Freeform 11"/>
            <p:cNvSpPr/>
            <p:nvPr/>
          </p:nvSpPr>
          <p:spPr bwMode="hidden">
            <a:xfrm>
              <a:off x="2314" y="3431"/>
              <a:ext cx="3182" cy="745"/>
            </a:xfrm>
            <a:custGeom>
              <a:avLst/>
              <a:ahLst/>
              <a:cxnLst>
                <a:cxn ang="0">
                  <a:pos x="1387" y="239"/>
                </a:cxn>
                <a:cxn ang="0">
                  <a:pos x="1734" y="233"/>
                </a:cxn>
                <a:cxn ang="0">
                  <a:pos x="2087" y="251"/>
                </a:cxn>
                <a:cxn ang="0">
                  <a:pos x="2505" y="233"/>
                </a:cxn>
                <a:cxn ang="0">
                  <a:pos x="3169" y="204"/>
                </a:cxn>
                <a:cxn ang="0">
                  <a:pos x="3115" y="186"/>
                </a:cxn>
                <a:cxn ang="0">
                  <a:pos x="2422" y="221"/>
                </a:cxn>
                <a:cxn ang="0">
                  <a:pos x="2003" y="221"/>
                </a:cxn>
                <a:cxn ang="0">
                  <a:pos x="1459" y="186"/>
                </a:cxn>
                <a:cxn ang="0">
                  <a:pos x="1543" y="168"/>
                </a:cxn>
                <a:cxn ang="0">
                  <a:pos x="2039" y="0"/>
                </a:cxn>
                <a:cxn ang="0">
                  <a:pos x="1961" y="24"/>
                </a:cxn>
                <a:cxn ang="0">
                  <a:pos x="1836" y="66"/>
                </a:cxn>
                <a:cxn ang="0">
                  <a:pos x="1602" y="138"/>
                </a:cxn>
                <a:cxn ang="0">
                  <a:pos x="1339" y="198"/>
                </a:cxn>
                <a:cxn ang="0">
                  <a:pos x="1268" y="251"/>
                </a:cxn>
                <a:cxn ang="0">
                  <a:pos x="765" y="413"/>
                </a:cxn>
                <a:cxn ang="0">
                  <a:pos x="335" y="503"/>
                </a:cxn>
                <a:cxn ang="0">
                  <a:pos x="0" y="617"/>
                </a:cxn>
                <a:cxn ang="0">
                  <a:pos x="299" y="539"/>
                </a:cxn>
                <a:cxn ang="0">
                  <a:pos x="735" y="449"/>
                </a:cxn>
                <a:cxn ang="0">
                  <a:pos x="1178" y="311"/>
                </a:cxn>
                <a:cxn ang="0">
                  <a:pos x="981" y="491"/>
                </a:cxn>
                <a:cxn ang="0">
                  <a:pos x="867" y="743"/>
                </a:cxn>
                <a:cxn ang="0">
                  <a:pos x="861" y="743"/>
                </a:cxn>
                <a:cxn ang="0">
                  <a:pos x="933" y="743"/>
                </a:cxn>
                <a:cxn ang="0">
                  <a:pos x="1022" y="497"/>
                </a:cxn>
                <a:cxn ang="0">
                  <a:pos x="1297" y="281"/>
                </a:cxn>
                <a:cxn ang="0">
                  <a:pos x="1531" y="449"/>
                </a:cxn>
                <a:cxn ang="0">
                  <a:pos x="1770" y="677"/>
                </a:cxn>
                <a:cxn ang="0">
                  <a:pos x="1854" y="743"/>
                </a:cxn>
                <a:cxn ang="0">
                  <a:pos x="1919" y="743"/>
                </a:cxn>
                <a:cxn ang="0">
                  <a:pos x="1692" y="527"/>
                </a:cxn>
                <a:cxn ang="0">
                  <a:pos x="1387" y="239"/>
                </a:cxn>
                <a:cxn ang="0">
                  <a:pos x="1387" y="239"/>
                </a:cxn>
              </a:cxnLst>
              <a:rect l="0" t="0" r="r" b="b"/>
              <a:pathLst>
                <a:path w="3169" h="743">
                  <a:moveTo>
                    <a:pt x="1387" y="239"/>
                  </a:moveTo>
                  <a:lnTo>
                    <a:pt x="1734" y="233"/>
                  </a:lnTo>
                  <a:lnTo>
                    <a:pt x="2087" y="251"/>
                  </a:lnTo>
                  <a:lnTo>
                    <a:pt x="2505" y="233"/>
                  </a:lnTo>
                  <a:lnTo>
                    <a:pt x="3169" y="204"/>
                  </a:lnTo>
                  <a:lnTo>
                    <a:pt x="3115" y="186"/>
                  </a:lnTo>
                  <a:lnTo>
                    <a:pt x="2422" y="221"/>
                  </a:lnTo>
                  <a:lnTo>
                    <a:pt x="2003" y="221"/>
                  </a:lnTo>
                  <a:lnTo>
                    <a:pt x="1459" y="186"/>
                  </a:lnTo>
                  <a:lnTo>
                    <a:pt x="1543" y="168"/>
                  </a:lnTo>
                  <a:lnTo>
                    <a:pt x="2039" y="0"/>
                  </a:lnTo>
                  <a:lnTo>
                    <a:pt x="1961" y="24"/>
                  </a:lnTo>
                  <a:lnTo>
                    <a:pt x="1836" y="66"/>
                  </a:lnTo>
                  <a:lnTo>
                    <a:pt x="1602" y="138"/>
                  </a:lnTo>
                  <a:lnTo>
                    <a:pt x="1339" y="198"/>
                  </a:lnTo>
                  <a:lnTo>
                    <a:pt x="1268" y="251"/>
                  </a:lnTo>
                  <a:lnTo>
                    <a:pt x="765" y="413"/>
                  </a:lnTo>
                  <a:lnTo>
                    <a:pt x="335" y="503"/>
                  </a:lnTo>
                  <a:lnTo>
                    <a:pt x="0" y="617"/>
                  </a:lnTo>
                  <a:lnTo>
                    <a:pt x="299" y="539"/>
                  </a:lnTo>
                  <a:lnTo>
                    <a:pt x="735" y="449"/>
                  </a:lnTo>
                  <a:lnTo>
                    <a:pt x="1178" y="311"/>
                  </a:lnTo>
                  <a:lnTo>
                    <a:pt x="981" y="491"/>
                  </a:lnTo>
                  <a:lnTo>
                    <a:pt x="867" y="743"/>
                  </a:lnTo>
                  <a:lnTo>
                    <a:pt x="861" y="743"/>
                  </a:lnTo>
                  <a:lnTo>
                    <a:pt x="933" y="743"/>
                  </a:lnTo>
                  <a:lnTo>
                    <a:pt x="1022" y="497"/>
                  </a:lnTo>
                  <a:lnTo>
                    <a:pt x="1297" y="281"/>
                  </a:lnTo>
                  <a:lnTo>
                    <a:pt x="1531" y="449"/>
                  </a:lnTo>
                  <a:lnTo>
                    <a:pt x="1770" y="677"/>
                  </a:lnTo>
                  <a:lnTo>
                    <a:pt x="1854" y="743"/>
                  </a:lnTo>
                  <a:lnTo>
                    <a:pt x="1919" y="743"/>
                  </a:lnTo>
                  <a:lnTo>
                    <a:pt x="1692" y="527"/>
                  </a:lnTo>
                  <a:lnTo>
                    <a:pt x="1387" y="239"/>
                  </a:lnTo>
                  <a:lnTo>
                    <a:pt x="1387" y="239"/>
                  </a:lnTo>
                  <a:close/>
                </a:path>
              </a:pathLst>
            </a:custGeom>
            <a:gradFill rotWithShape="0">
              <a:gsLst>
                <a:gs pos="0">
                  <a:schemeClr val="accent2"/>
                </a:gs>
                <a:gs pos="100000">
                  <a:schemeClr val="bg1"/>
                </a:gs>
              </a:gsLst>
              <a:lin ang="2700000" scaled="1"/>
            </a:gradFill>
            <a:ln w="9525">
              <a:noFill/>
              <a:round/>
              <a:headEnd/>
              <a:tailEnd/>
            </a:ln>
          </p:spPr>
          <p:txBody>
            <a:bodyPr/>
            <a:p>
              <a:endParaRPr lang="en-US"/>
            </a:p>
          </p:txBody>
        </p:sp>
        <p:sp>
          <p:nvSpPr>
            <p:cNvPr id="1050185" name="Rectangle 12"/>
            <p:cNvSpPr>
              <a:spLocks noChangeArrowheads="1"/>
            </p:cNvSpPr>
            <p:nvPr/>
          </p:nvSpPr>
          <p:spPr bwMode="hidden">
            <a:xfrm>
              <a:off x="192" y="127"/>
              <a:ext cx="1" cy="1"/>
            </a:xfrm>
            <a:prstGeom prst="rect"/>
            <a:solidFill>
              <a:srgbClr val="9A1E8D"/>
            </a:solidFill>
            <a:ln w="9525">
              <a:noFill/>
              <a:miter lim="800000"/>
              <a:headEnd/>
              <a:tailEnd/>
            </a:ln>
          </p:spPr>
          <p:txBody>
            <a:bodyPr/>
            <a:p>
              <a:endParaRPr lang="en-US"/>
            </a:p>
          </p:txBody>
        </p:sp>
        <p:sp>
          <p:nvSpPr>
            <p:cNvPr id="1050186" name="Rectangle 13"/>
            <p:cNvSpPr>
              <a:spLocks noChangeArrowheads="1"/>
            </p:cNvSpPr>
            <p:nvPr/>
          </p:nvSpPr>
          <p:spPr bwMode="hidden">
            <a:xfrm>
              <a:off x="204" y="131"/>
              <a:ext cx="1" cy="1"/>
            </a:xfrm>
            <a:prstGeom prst="rect"/>
            <a:solidFill>
              <a:srgbClr val="9A1E8D"/>
            </a:solidFill>
            <a:ln w="9525">
              <a:noFill/>
              <a:miter lim="800000"/>
              <a:headEnd/>
              <a:tailEnd/>
            </a:ln>
          </p:spPr>
          <p:txBody>
            <a:bodyPr/>
            <a:p>
              <a:endParaRPr lang="en-US"/>
            </a:p>
          </p:txBody>
        </p:sp>
        <p:sp>
          <p:nvSpPr>
            <p:cNvPr id="1050187" name="Freeform 14"/>
            <p:cNvSpPr/>
            <p:nvPr/>
          </p:nvSpPr>
          <p:spPr bwMode="hidden">
            <a:xfrm>
              <a:off x="0" y="4032"/>
              <a:ext cx="5760" cy="288"/>
            </a:xfrm>
            <a:custGeom>
              <a:av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p>
              <a:endParaRPr lang="en-US"/>
            </a:p>
          </p:txBody>
        </p:sp>
        <p:sp>
          <p:nvSpPr>
            <p:cNvPr id="1050188" name="Freeform 15"/>
            <p:cNvSpPr/>
            <p:nvPr/>
          </p:nvSpPr>
          <p:spPr bwMode="hidden">
            <a:xfrm>
              <a:off x="0" y="4032"/>
              <a:ext cx="5760" cy="336"/>
            </a:xfrm>
            <a:custGeom>
              <a:av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p>
              <a:endParaRPr lang="en-US"/>
            </a:p>
          </p:txBody>
        </p:sp>
        <p:sp>
          <p:nvSpPr>
            <p:cNvPr id="1050189" name="Freeform 16"/>
            <p:cNvSpPr/>
            <p:nvPr/>
          </p:nvSpPr>
          <p:spPr bwMode="hidden">
            <a:xfrm>
              <a:off x="0" y="0"/>
              <a:ext cx="5760" cy="288"/>
            </a:xfrm>
            <a:custGeom>
              <a:av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2">
                    <a:gamma/>
                    <a:shade val="56078"/>
                    <a:invGamma/>
                  </a:schemeClr>
                </a:gs>
                <a:gs pos="100000">
                  <a:schemeClr val="bg2"/>
                </a:gs>
              </a:gsLst>
              <a:lin ang="5400000" scaled="1"/>
            </a:gradFill>
            <a:ln w="9525">
              <a:noFill/>
              <a:round/>
              <a:headEnd/>
              <a:tailEnd/>
            </a:ln>
          </p:spPr>
          <p:txBody>
            <a:bodyPr/>
            <a:p>
              <a:endParaRPr lang="en-US"/>
            </a:p>
          </p:txBody>
        </p:sp>
        <p:sp>
          <p:nvSpPr>
            <p:cNvPr id="1050190" name="Freeform 17"/>
            <p:cNvSpPr/>
            <p:nvPr/>
          </p:nvSpPr>
          <p:spPr bwMode="hidden">
            <a:xfrm>
              <a:off x="509" y="229"/>
              <a:ext cx="3188" cy="2024"/>
            </a:xfrm>
            <a:custGeom>
              <a:avLst/>
              <a:ahLst/>
              <a:cxnLst>
                <a:cxn ang="0">
                  <a:pos x="871" y="1423"/>
                </a:cxn>
                <a:cxn ang="0">
                  <a:pos x="907" y="1393"/>
                </a:cxn>
                <a:cxn ang="0">
                  <a:pos x="991" y="1320"/>
                </a:cxn>
                <a:cxn ang="0">
                  <a:pos x="1033" y="1297"/>
                </a:cxn>
                <a:cxn ang="0">
                  <a:pos x="1086" y="1249"/>
                </a:cxn>
                <a:cxn ang="0">
                  <a:pos x="1123" y="1219"/>
                </a:cxn>
                <a:cxn ang="0">
                  <a:pos x="1057" y="1153"/>
                </a:cxn>
                <a:cxn ang="0">
                  <a:pos x="877" y="1021"/>
                </a:cxn>
                <a:cxn ang="0">
                  <a:pos x="655" y="907"/>
                </a:cxn>
                <a:cxn ang="0">
                  <a:pos x="655" y="846"/>
                </a:cxn>
                <a:cxn ang="0">
                  <a:pos x="643" y="708"/>
                </a:cxn>
                <a:cxn ang="0">
                  <a:pos x="552" y="642"/>
                </a:cxn>
                <a:cxn ang="0">
                  <a:pos x="510" y="570"/>
                </a:cxn>
                <a:cxn ang="0">
                  <a:pos x="637" y="564"/>
                </a:cxn>
                <a:cxn ang="0">
                  <a:pos x="763" y="570"/>
                </a:cxn>
                <a:cxn ang="0">
                  <a:pos x="1091" y="850"/>
                </a:cxn>
                <a:cxn ang="0">
                  <a:pos x="1009" y="566"/>
                </a:cxn>
                <a:cxn ang="0">
                  <a:pos x="1054" y="265"/>
                </a:cxn>
                <a:cxn ang="0">
                  <a:pos x="1249" y="0"/>
                </a:cxn>
                <a:cxn ang="0">
                  <a:pos x="1466" y="292"/>
                </a:cxn>
                <a:cxn ang="0">
                  <a:pos x="1475" y="548"/>
                </a:cxn>
                <a:cxn ang="0">
                  <a:pos x="1567" y="630"/>
                </a:cxn>
                <a:cxn ang="0">
                  <a:pos x="1795" y="365"/>
                </a:cxn>
                <a:cxn ang="0">
                  <a:pos x="2245" y="150"/>
                </a:cxn>
                <a:cxn ang="0">
                  <a:pos x="2618" y="180"/>
                </a:cxn>
                <a:cxn ang="0">
                  <a:pos x="3050" y="150"/>
                </a:cxn>
                <a:cxn ang="0">
                  <a:pos x="3140" y="210"/>
                </a:cxn>
                <a:cxn ang="0">
                  <a:pos x="2990" y="210"/>
                </a:cxn>
                <a:cxn ang="0">
                  <a:pos x="2834" y="377"/>
                </a:cxn>
                <a:cxn ang="0">
                  <a:pos x="2702" y="648"/>
                </a:cxn>
                <a:cxn ang="0">
                  <a:pos x="2582" y="828"/>
                </a:cxn>
                <a:cxn ang="0">
                  <a:pos x="2234" y="1009"/>
                </a:cxn>
                <a:cxn ang="0">
                  <a:pos x="1963" y="1075"/>
                </a:cxn>
                <a:cxn ang="0">
                  <a:pos x="2257" y="1111"/>
                </a:cxn>
                <a:cxn ang="0">
                  <a:pos x="2600" y="1207"/>
                </a:cxn>
                <a:cxn ang="0">
                  <a:pos x="2894" y="1441"/>
                </a:cxn>
                <a:cxn ang="0">
                  <a:pos x="3122" y="1555"/>
                </a:cxn>
                <a:cxn ang="0">
                  <a:pos x="3032" y="1585"/>
                </a:cxn>
                <a:cxn ang="0">
                  <a:pos x="3008" y="1591"/>
                </a:cxn>
                <a:cxn ang="0">
                  <a:pos x="2960" y="1597"/>
                </a:cxn>
                <a:cxn ang="0">
                  <a:pos x="2882" y="1609"/>
                </a:cxn>
                <a:cxn ang="0">
                  <a:pos x="2846" y="1609"/>
                </a:cxn>
                <a:cxn ang="0">
                  <a:pos x="2774" y="1615"/>
                </a:cxn>
                <a:cxn ang="0">
                  <a:pos x="2726" y="1621"/>
                </a:cxn>
                <a:cxn ang="0">
                  <a:pos x="2708" y="1621"/>
                </a:cxn>
                <a:cxn ang="0">
                  <a:pos x="2594" y="1657"/>
                </a:cxn>
                <a:cxn ang="0">
                  <a:pos x="2533" y="1663"/>
                </a:cxn>
                <a:cxn ang="0">
                  <a:pos x="2444" y="1675"/>
                </a:cxn>
                <a:cxn ang="0">
                  <a:pos x="2378" y="1687"/>
                </a:cxn>
                <a:cxn ang="0">
                  <a:pos x="2360" y="1705"/>
                </a:cxn>
                <a:cxn ang="0">
                  <a:pos x="2305" y="1687"/>
                </a:cxn>
                <a:cxn ang="0">
                  <a:pos x="2263" y="1663"/>
                </a:cxn>
                <a:cxn ang="0">
                  <a:pos x="2017" y="1585"/>
                </a:cxn>
                <a:cxn ang="0">
                  <a:pos x="1711" y="1453"/>
                </a:cxn>
                <a:cxn ang="0">
                  <a:pos x="1880" y="1844"/>
                </a:cxn>
                <a:cxn ang="0">
                  <a:pos x="1771" y="1922"/>
                </a:cxn>
                <a:cxn ang="0">
                  <a:pos x="1531" y="1753"/>
                </a:cxn>
                <a:cxn ang="0">
                  <a:pos x="1411" y="1477"/>
                </a:cxn>
                <a:cxn ang="0">
                  <a:pos x="1219" y="1291"/>
                </a:cxn>
                <a:cxn ang="0">
                  <a:pos x="127" y="2006"/>
                </a:cxn>
                <a:cxn ang="0">
                  <a:pos x="865" y="1429"/>
                </a:cxn>
              </a:cxnLst>
              <a:rect l="0" t="0" r="r" b="b"/>
              <a:pathLst>
                <a:path w="3188" h="2024">
                  <a:moveTo>
                    <a:pt x="865" y="1429"/>
                  </a:moveTo>
                  <a:lnTo>
                    <a:pt x="871" y="1423"/>
                  </a:lnTo>
                  <a:lnTo>
                    <a:pt x="889" y="1411"/>
                  </a:lnTo>
                  <a:lnTo>
                    <a:pt x="907" y="1393"/>
                  </a:lnTo>
                  <a:lnTo>
                    <a:pt x="937" y="1369"/>
                  </a:lnTo>
                  <a:lnTo>
                    <a:pt x="991" y="1320"/>
                  </a:lnTo>
                  <a:lnTo>
                    <a:pt x="1015" y="1309"/>
                  </a:lnTo>
                  <a:lnTo>
                    <a:pt x="1033" y="1297"/>
                  </a:lnTo>
                  <a:lnTo>
                    <a:pt x="1057" y="1279"/>
                  </a:lnTo>
                  <a:lnTo>
                    <a:pt x="1086" y="1249"/>
                  </a:lnTo>
                  <a:lnTo>
                    <a:pt x="1111" y="1225"/>
                  </a:lnTo>
                  <a:lnTo>
                    <a:pt x="1123" y="1219"/>
                  </a:lnTo>
                  <a:lnTo>
                    <a:pt x="1123" y="1213"/>
                  </a:lnTo>
                  <a:lnTo>
                    <a:pt x="1057" y="1153"/>
                  </a:lnTo>
                  <a:lnTo>
                    <a:pt x="979" y="1051"/>
                  </a:lnTo>
                  <a:lnTo>
                    <a:pt x="877" y="1021"/>
                  </a:lnTo>
                  <a:lnTo>
                    <a:pt x="685" y="931"/>
                  </a:lnTo>
                  <a:lnTo>
                    <a:pt x="655" y="907"/>
                  </a:lnTo>
                  <a:lnTo>
                    <a:pt x="721" y="876"/>
                  </a:lnTo>
                  <a:lnTo>
                    <a:pt x="655" y="846"/>
                  </a:lnTo>
                  <a:lnTo>
                    <a:pt x="612" y="774"/>
                  </a:lnTo>
                  <a:lnTo>
                    <a:pt x="643" y="708"/>
                  </a:lnTo>
                  <a:lnTo>
                    <a:pt x="600" y="660"/>
                  </a:lnTo>
                  <a:lnTo>
                    <a:pt x="552" y="642"/>
                  </a:lnTo>
                  <a:lnTo>
                    <a:pt x="528" y="594"/>
                  </a:lnTo>
                  <a:lnTo>
                    <a:pt x="510" y="570"/>
                  </a:lnTo>
                  <a:lnTo>
                    <a:pt x="552" y="552"/>
                  </a:lnTo>
                  <a:lnTo>
                    <a:pt x="637" y="564"/>
                  </a:lnTo>
                  <a:lnTo>
                    <a:pt x="721" y="576"/>
                  </a:lnTo>
                  <a:lnTo>
                    <a:pt x="763" y="570"/>
                  </a:lnTo>
                  <a:lnTo>
                    <a:pt x="931" y="696"/>
                  </a:lnTo>
                  <a:lnTo>
                    <a:pt x="1091" y="850"/>
                  </a:lnTo>
                  <a:lnTo>
                    <a:pt x="1073" y="685"/>
                  </a:lnTo>
                  <a:lnTo>
                    <a:pt x="1009" y="566"/>
                  </a:lnTo>
                  <a:lnTo>
                    <a:pt x="945" y="393"/>
                  </a:lnTo>
                  <a:lnTo>
                    <a:pt x="1054" y="265"/>
                  </a:lnTo>
                  <a:lnTo>
                    <a:pt x="1137" y="45"/>
                  </a:lnTo>
                  <a:lnTo>
                    <a:pt x="1249" y="0"/>
                  </a:lnTo>
                  <a:lnTo>
                    <a:pt x="1338" y="137"/>
                  </a:lnTo>
                  <a:lnTo>
                    <a:pt x="1466" y="292"/>
                  </a:lnTo>
                  <a:lnTo>
                    <a:pt x="1502" y="411"/>
                  </a:lnTo>
                  <a:lnTo>
                    <a:pt x="1475" y="548"/>
                  </a:lnTo>
                  <a:lnTo>
                    <a:pt x="1347" y="768"/>
                  </a:lnTo>
                  <a:lnTo>
                    <a:pt x="1567" y="630"/>
                  </a:lnTo>
                  <a:lnTo>
                    <a:pt x="1687" y="462"/>
                  </a:lnTo>
                  <a:lnTo>
                    <a:pt x="1795" y="365"/>
                  </a:lnTo>
                  <a:lnTo>
                    <a:pt x="1940" y="239"/>
                  </a:lnTo>
                  <a:lnTo>
                    <a:pt x="2245" y="150"/>
                  </a:lnTo>
                  <a:lnTo>
                    <a:pt x="2498" y="138"/>
                  </a:lnTo>
                  <a:lnTo>
                    <a:pt x="2618" y="180"/>
                  </a:lnTo>
                  <a:lnTo>
                    <a:pt x="2815" y="138"/>
                  </a:lnTo>
                  <a:lnTo>
                    <a:pt x="3050" y="150"/>
                  </a:lnTo>
                  <a:lnTo>
                    <a:pt x="3176" y="168"/>
                  </a:lnTo>
                  <a:lnTo>
                    <a:pt x="3140" y="210"/>
                  </a:lnTo>
                  <a:lnTo>
                    <a:pt x="3116" y="192"/>
                  </a:lnTo>
                  <a:lnTo>
                    <a:pt x="2990" y="210"/>
                  </a:lnTo>
                  <a:lnTo>
                    <a:pt x="2906" y="263"/>
                  </a:lnTo>
                  <a:lnTo>
                    <a:pt x="2834" y="377"/>
                  </a:lnTo>
                  <a:lnTo>
                    <a:pt x="2768" y="534"/>
                  </a:lnTo>
                  <a:lnTo>
                    <a:pt x="2702" y="648"/>
                  </a:lnTo>
                  <a:lnTo>
                    <a:pt x="2738" y="726"/>
                  </a:lnTo>
                  <a:lnTo>
                    <a:pt x="2582" y="828"/>
                  </a:lnTo>
                  <a:lnTo>
                    <a:pt x="2444" y="913"/>
                  </a:lnTo>
                  <a:lnTo>
                    <a:pt x="2234" y="1009"/>
                  </a:lnTo>
                  <a:lnTo>
                    <a:pt x="2096" y="1063"/>
                  </a:lnTo>
                  <a:lnTo>
                    <a:pt x="1963" y="1075"/>
                  </a:lnTo>
                  <a:lnTo>
                    <a:pt x="2035" y="1117"/>
                  </a:lnTo>
                  <a:lnTo>
                    <a:pt x="2257" y="1111"/>
                  </a:lnTo>
                  <a:lnTo>
                    <a:pt x="2545" y="1135"/>
                  </a:lnTo>
                  <a:lnTo>
                    <a:pt x="2600" y="1207"/>
                  </a:lnTo>
                  <a:lnTo>
                    <a:pt x="2726" y="1303"/>
                  </a:lnTo>
                  <a:lnTo>
                    <a:pt x="2894" y="1441"/>
                  </a:lnTo>
                  <a:lnTo>
                    <a:pt x="2984" y="1471"/>
                  </a:lnTo>
                  <a:lnTo>
                    <a:pt x="3122" y="1555"/>
                  </a:lnTo>
                  <a:lnTo>
                    <a:pt x="3188" y="1543"/>
                  </a:lnTo>
                  <a:lnTo>
                    <a:pt x="3032" y="1585"/>
                  </a:lnTo>
                  <a:lnTo>
                    <a:pt x="3026" y="1585"/>
                  </a:lnTo>
                  <a:lnTo>
                    <a:pt x="3008" y="1591"/>
                  </a:lnTo>
                  <a:lnTo>
                    <a:pt x="2984" y="1591"/>
                  </a:lnTo>
                  <a:lnTo>
                    <a:pt x="2960" y="1597"/>
                  </a:lnTo>
                  <a:lnTo>
                    <a:pt x="2906" y="1603"/>
                  </a:lnTo>
                  <a:lnTo>
                    <a:pt x="2882" y="1609"/>
                  </a:lnTo>
                  <a:lnTo>
                    <a:pt x="2864" y="1609"/>
                  </a:lnTo>
                  <a:lnTo>
                    <a:pt x="2846" y="1609"/>
                  </a:lnTo>
                  <a:lnTo>
                    <a:pt x="2828" y="1609"/>
                  </a:lnTo>
                  <a:lnTo>
                    <a:pt x="2774" y="1615"/>
                  </a:lnTo>
                  <a:lnTo>
                    <a:pt x="2750" y="1615"/>
                  </a:lnTo>
                  <a:lnTo>
                    <a:pt x="2726" y="1621"/>
                  </a:lnTo>
                  <a:lnTo>
                    <a:pt x="2714" y="1621"/>
                  </a:lnTo>
                  <a:lnTo>
                    <a:pt x="2708" y="1621"/>
                  </a:lnTo>
                  <a:lnTo>
                    <a:pt x="2606" y="1657"/>
                  </a:lnTo>
                  <a:lnTo>
                    <a:pt x="2594" y="1657"/>
                  </a:lnTo>
                  <a:lnTo>
                    <a:pt x="2569" y="1657"/>
                  </a:lnTo>
                  <a:lnTo>
                    <a:pt x="2533" y="1663"/>
                  </a:lnTo>
                  <a:lnTo>
                    <a:pt x="2486" y="1669"/>
                  </a:lnTo>
                  <a:lnTo>
                    <a:pt x="2444" y="1675"/>
                  </a:lnTo>
                  <a:lnTo>
                    <a:pt x="2408" y="1681"/>
                  </a:lnTo>
                  <a:lnTo>
                    <a:pt x="2378" y="1687"/>
                  </a:lnTo>
                  <a:lnTo>
                    <a:pt x="2366" y="1699"/>
                  </a:lnTo>
                  <a:lnTo>
                    <a:pt x="2360" y="1705"/>
                  </a:lnTo>
                  <a:lnTo>
                    <a:pt x="2342" y="1705"/>
                  </a:lnTo>
                  <a:lnTo>
                    <a:pt x="2305" y="1687"/>
                  </a:lnTo>
                  <a:lnTo>
                    <a:pt x="2275" y="1669"/>
                  </a:lnTo>
                  <a:lnTo>
                    <a:pt x="2263" y="1663"/>
                  </a:lnTo>
                  <a:lnTo>
                    <a:pt x="2257" y="1657"/>
                  </a:lnTo>
                  <a:lnTo>
                    <a:pt x="2017" y="1585"/>
                  </a:lnTo>
                  <a:lnTo>
                    <a:pt x="1844" y="1489"/>
                  </a:lnTo>
                  <a:lnTo>
                    <a:pt x="1711" y="1453"/>
                  </a:lnTo>
                  <a:lnTo>
                    <a:pt x="1856" y="1693"/>
                  </a:lnTo>
                  <a:lnTo>
                    <a:pt x="1880" y="1844"/>
                  </a:lnTo>
                  <a:lnTo>
                    <a:pt x="1856" y="1994"/>
                  </a:lnTo>
                  <a:lnTo>
                    <a:pt x="1771" y="1922"/>
                  </a:lnTo>
                  <a:lnTo>
                    <a:pt x="1616" y="1795"/>
                  </a:lnTo>
                  <a:lnTo>
                    <a:pt x="1531" y="1753"/>
                  </a:lnTo>
                  <a:lnTo>
                    <a:pt x="1483" y="1633"/>
                  </a:lnTo>
                  <a:lnTo>
                    <a:pt x="1411" y="1477"/>
                  </a:lnTo>
                  <a:lnTo>
                    <a:pt x="1358" y="1381"/>
                  </a:lnTo>
                  <a:lnTo>
                    <a:pt x="1219" y="1291"/>
                  </a:lnTo>
                  <a:lnTo>
                    <a:pt x="1147" y="1279"/>
                  </a:lnTo>
                  <a:lnTo>
                    <a:pt x="127" y="2006"/>
                  </a:lnTo>
                  <a:lnTo>
                    <a:pt x="0" y="2024"/>
                  </a:lnTo>
                  <a:lnTo>
                    <a:pt x="865" y="1429"/>
                  </a:lnTo>
                  <a:lnTo>
                    <a:pt x="865" y="1429"/>
                  </a:lnTo>
                  <a:close/>
                </a:path>
              </a:pathLst>
            </a:custGeom>
            <a:gradFill rotWithShape="0">
              <a:gsLst>
                <a:gs pos="0">
                  <a:schemeClr val="bg2"/>
                </a:gs>
                <a:gs pos="100000">
                  <a:schemeClr val="bg1"/>
                </a:gs>
              </a:gsLst>
              <a:lin ang="2700000" scaled="1"/>
            </a:gradFill>
            <a:ln w="9525">
              <a:noFill/>
              <a:round/>
              <a:headEnd/>
              <a:tailEnd/>
            </a:ln>
          </p:spPr>
          <p:txBody>
            <a:bodyPr/>
            <a:p>
              <a:endParaRPr lang="en-US"/>
            </a:p>
          </p:txBody>
        </p:sp>
        <p:sp>
          <p:nvSpPr>
            <p:cNvPr id="1050191" name="Freeform 18"/>
            <p:cNvSpPr/>
            <p:nvPr/>
          </p:nvSpPr>
          <p:spPr bwMode="hidden">
            <a:xfrm>
              <a:off x="1344" y="293"/>
              <a:ext cx="2144" cy="1787"/>
            </a:xfrm>
            <a:custGeom>
              <a:avLst/>
              <a:ahLst/>
              <a:cxnLst>
                <a:cxn ang="0">
                  <a:pos x="318" y="1078"/>
                </a:cxn>
                <a:cxn ang="0">
                  <a:pos x="217" y="928"/>
                </a:cxn>
                <a:cxn ang="0">
                  <a:pos x="102" y="808"/>
                </a:cxn>
                <a:cxn ang="0">
                  <a:pos x="36" y="742"/>
                </a:cxn>
                <a:cxn ang="0">
                  <a:pos x="0" y="700"/>
                </a:cxn>
                <a:cxn ang="0">
                  <a:pos x="270" y="958"/>
                </a:cxn>
                <a:cxn ang="0">
                  <a:pos x="294" y="1006"/>
                </a:cxn>
                <a:cxn ang="0">
                  <a:pos x="367" y="670"/>
                </a:cxn>
                <a:cxn ang="0">
                  <a:pos x="379" y="411"/>
                </a:cxn>
                <a:cxn ang="0">
                  <a:pos x="347" y="118"/>
                </a:cxn>
                <a:cxn ang="0">
                  <a:pos x="393" y="0"/>
                </a:cxn>
                <a:cxn ang="0">
                  <a:pos x="397" y="357"/>
                </a:cxn>
                <a:cxn ang="0">
                  <a:pos x="421" y="609"/>
                </a:cxn>
                <a:cxn ang="0">
                  <a:pos x="385" y="826"/>
                </a:cxn>
                <a:cxn ang="0">
                  <a:pos x="385" y="1036"/>
                </a:cxn>
                <a:cxn ang="0">
                  <a:pos x="877" y="784"/>
                </a:cxn>
                <a:cxn ang="0">
                  <a:pos x="1309" y="555"/>
                </a:cxn>
                <a:cxn ang="0">
                  <a:pos x="1802" y="249"/>
                </a:cxn>
                <a:cxn ang="0">
                  <a:pos x="2096" y="69"/>
                </a:cxn>
                <a:cxn ang="0">
                  <a:pos x="1814" y="279"/>
                </a:cxn>
                <a:cxn ang="0">
                  <a:pos x="1453" y="501"/>
                </a:cxn>
                <a:cxn ang="0">
                  <a:pos x="1123" y="700"/>
                </a:cxn>
                <a:cxn ang="0">
                  <a:pos x="739" y="898"/>
                </a:cxn>
                <a:cxn ang="0">
                  <a:pos x="463" y="1084"/>
                </a:cxn>
                <a:cxn ang="0">
                  <a:pos x="817" y="1193"/>
                </a:cxn>
                <a:cxn ang="0">
                  <a:pos x="1285" y="1187"/>
                </a:cxn>
                <a:cxn ang="0">
                  <a:pos x="1916" y="1396"/>
                </a:cxn>
                <a:cxn ang="0">
                  <a:pos x="2144" y="1420"/>
                </a:cxn>
                <a:cxn ang="0">
                  <a:pos x="1814" y="1408"/>
                </a:cxn>
                <a:cxn ang="0">
                  <a:pos x="1435" y="1288"/>
                </a:cxn>
                <a:cxn ang="0">
                  <a:pos x="1219" y="1229"/>
                </a:cxn>
                <a:cxn ang="0">
                  <a:pos x="799" y="1223"/>
                </a:cxn>
                <a:cxn ang="0">
                  <a:pos x="505" y="1145"/>
                </a:cxn>
                <a:cxn ang="0">
                  <a:pos x="733" y="1378"/>
                </a:cxn>
                <a:cxn ang="0">
                  <a:pos x="877" y="1619"/>
                </a:cxn>
                <a:cxn ang="0">
                  <a:pos x="1009" y="1787"/>
                </a:cxn>
                <a:cxn ang="0">
                  <a:pos x="817" y="1607"/>
                </a:cxn>
                <a:cxn ang="0">
                  <a:pos x="673" y="1372"/>
                </a:cxn>
                <a:cxn ang="0">
                  <a:pos x="415" y="1109"/>
                </a:cxn>
                <a:cxn ang="0">
                  <a:pos x="318" y="1078"/>
                </a:cxn>
                <a:cxn ang="0">
                  <a:pos x="318" y="1078"/>
                </a:cxn>
              </a:cxnLst>
              <a:rect l="0" t="0" r="r" b="b"/>
              <a:pathLst>
                <a:path w="2144" h="1787">
                  <a:moveTo>
                    <a:pt x="318" y="1078"/>
                  </a:moveTo>
                  <a:lnTo>
                    <a:pt x="217" y="928"/>
                  </a:lnTo>
                  <a:lnTo>
                    <a:pt x="102" y="808"/>
                  </a:lnTo>
                  <a:lnTo>
                    <a:pt x="36" y="742"/>
                  </a:lnTo>
                  <a:lnTo>
                    <a:pt x="0" y="700"/>
                  </a:lnTo>
                  <a:lnTo>
                    <a:pt x="270" y="958"/>
                  </a:lnTo>
                  <a:lnTo>
                    <a:pt x="294" y="1006"/>
                  </a:lnTo>
                  <a:lnTo>
                    <a:pt x="367" y="670"/>
                  </a:lnTo>
                  <a:lnTo>
                    <a:pt x="379" y="411"/>
                  </a:lnTo>
                  <a:lnTo>
                    <a:pt x="347" y="118"/>
                  </a:lnTo>
                  <a:lnTo>
                    <a:pt x="393" y="0"/>
                  </a:lnTo>
                  <a:lnTo>
                    <a:pt x="397" y="357"/>
                  </a:lnTo>
                  <a:lnTo>
                    <a:pt x="421" y="609"/>
                  </a:lnTo>
                  <a:lnTo>
                    <a:pt x="385" y="826"/>
                  </a:lnTo>
                  <a:lnTo>
                    <a:pt x="385" y="1036"/>
                  </a:lnTo>
                  <a:lnTo>
                    <a:pt x="877" y="784"/>
                  </a:lnTo>
                  <a:lnTo>
                    <a:pt x="1309" y="555"/>
                  </a:lnTo>
                  <a:lnTo>
                    <a:pt x="1802" y="249"/>
                  </a:lnTo>
                  <a:lnTo>
                    <a:pt x="2096" y="69"/>
                  </a:lnTo>
                  <a:lnTo>
                    <a:pt x="1814" y="279"/>
                  </a:lnTo>
                  <a:lnTo>
                    <a:pt x="1453" y="501"/>
                  </a:lnTo>
                  <a:lnTo>
                    <a:pt x="1123" y="700"/>
                  </a:lnTo>
                  <a:lnTo>
                    <a:pt x="739" y="898"/>
                  </a:lnTo>
                  <a:lnTo>
                    <a:pt x="463" y="1084"/>
                  </a:lnTo>
                  <a:lnTo>
                    <a:pt x="817" y="1193"/>
                  </a:lnTo>
                  <a:lnTo>
                    <a:pt x="1285" y="1187"/>
                  </a:lnTo>
                  <a:lnTo>
                    <a:pt x="1916" y="1396"/>
                  </a:lnTo>
                  <a:lnTo>
                    <a:pt x="2144" y="1420"/>
                  </a:lnTo>
                  <a:lnTo>
                    <a:pt x="1814" y="1408"/>
                  </a:lnTo>
                  <a:lnTo>
                    <a:pt x="1435" y="1288"/>
                  </a:lnTo>
                  <a:lnTo>
                    <a:pt x="1219" y="1229"/>
                  </a:lnTo>
                  <a:lnTo>
                    <a:pt x="799" y="1223"/>
                  </a:lnTo>
                  <a:lnTo>
                    <a:pt x="505" y="1145"/>
                  </a:lnTo>
                  <a:lnTo>
                    <a:pt x="733" y="1378"/>
                  </a:lnTo>
                  <a:lnTo>
                    <a:pt x="877" y="1619"/>
                  </a:lnTo>
                  <a:lnTo>
                    <a:pt x="1009" y="1787"/>
                  </a:lnTo>
                  <a:lnTo>
                    <a:pt x="817" y="1607"/>
                  </a:lnTo>
                  <a:lnTo>
                    <a:pt x="673" y="1372"/>
                  </a:lnTo>
                  <a:lnTo>
                    <a:pt x="415" y="1109"/>
                  </a:lnTo>
                  <a:lnTo>
                    <a:pt x="318" y="1078"/>
                  </a:lnTo>
                  <a:lnTo>
                    <a:pt x="318" y="1078"/>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sp>
          <p:nvSpPr>
            <p:cNvPr id="1050192" name="Freeform 19"/>
            <p:cNvSpPr/>
            <p:nvPr/>
          </p:nvSpPr>
          <p:spPr bwMode="hidden">
            <a:xfrm>
              <a:off x="2932" y="1728"/>
              <a:ext cx="2828" cy="2366"/>
            </a:xfrm>
            <a:custGeom>
              <a:avLst/>
              <a:ahLst/>
              <a:cxnLst>
                <a:cxn ang="0">
                  <a:pos x="1814" y="606"/>
                </a:cxn>
                <a:cxn ang="0">
                  <a:pos x="1615" y="252"/>
                </a:cxn>
                <a:cxn ang="0">
                  <a:pos x="1345" y="132"/>
                </a:cxn>
                <a:cxn ang="0">
                  <a:pos x="1381" y="492"/>
                </a:cxn>
                <a:cxn ang="0">
                  <a:pos x="955" y="221"/>
                </a:cxn>
                <a:cxn ang="0">
                  <a:pos x="877" y="161"/>
                </a:cxn>
                <a:cxn ang="0">
                  <a:pos x="841" y="167"/>
                </a:cxn>
                <a:cxn ang="0">
                  <a:pos x="720" y="161"/>
                </a:cxn>
                <a:cxn ang="0">
                  <a:pos x="613" y="144"/>
                </a:cxn>
                <a:cxn ang="0">
                  <a:pos x="492" y="161"/>
                </a:cxn>
                <a:cxn ang="0">
                  <a:pos x="432" y="150"/>
                </a:cxn>
                <a:cxn ang="0">
                  <a:pos x="342" y="138"/>
                </a:cxn>
                <a:cxn ang="0">
                  <a:pos x="246" y="126"/>
                </a:cxn>
                <a:cxn ang="0">
                  <a:pos x="174" y="114"/>
                </a:cxn>
                <a:cxn ang="0">
                  <a:pos x="216" y="240"/>
                </a:cxn>
                <a:cxn ang="0">
                  <a:pos x="607" y="588"/>
                </a:cxn>
                <a:cxn ang="0">
                  <a:pos x="1177" y="817"/>
                </a:cxn>
                <a:cxn ang="0">
                  <a:pos x="972" y="871"/>
                </a:cxn>
                <a:cxn ang="0">
                  <a:pos x="492" y="1111"/>
                </a:cxn>
                <a:cxn ang="0">
                  <a:pos x="276" y="1441"/>
                </a:cxn>
                <a:cxn ang="0">
                  <a:pos x="42" y="1441"/>
                </a:cxn>
                <a:cxn ang="0">
                  <a:pos x="367" y="1585"/>
                </a:cxn>
                <a:cxn ang="0">
                  <a:pos x="949" y="1712"/>
                </a:cxn>
                <a:cxn ang="0">
                  <a:pos x="1519" y="1537"/>
                </a:cxn>
                <a:cxn ang="0">
                  <a:pos x="1735" y="1513"/>
                </a:cxn>
                <a:cxn ang="0">
                  <a:pos x="1723" y="1802"/>
                </a:cxn>
                <a:cxn ang="0">
                  <a:pos x="2042" y="2229"/>
                </a:cxn>
                <a:cxn ang="0">
                  <a:pos x="2191" y="2133"/>
                </a:cxn>
                <a:cxn ang="0">
                  <a:pos x="2270" y="1970"/>
                </a:cxn>
                <a:cxn ang="0">
                  <a:pos x="2233" y="1573"/>
                </a:cxn>
                <a:cxn ang="0">
                  <a:pos x="2294" y="1483"/>
                </a:cxn>
                <a:cxn ang="0">
                  <a:pos x="2588" y="1688"/>
                </a:cxn>
                <a:cxn ang="0">
                  <a:pos x="2695" y="1682"/>
                </a:cxn>
                <a:cxn ang="0">
                  <a:pos x="2588" y="1543"/>
                </a:cxn>
                <a:cxn ang="0">
                  <a:pos x="2510" y="1357"/>
                </a:cxn>
                <a:cxn ang="0">
                  <a:pos x="2354" y="1184"/>
                </a:cxn>
                <a:cxn ang="0">
                  <a:pos x="2102" y="931"/>
                </a:cxn>
                <a:cxn ang="0">
                  <a:pos x="2137" y="907"/>
                </a:cxn>
                <a:cxn ang="0">
                  <a:pos x="2215" y="871"/>
                </a:cxn>
                <a:cxn ang="0">
                  <a:pos x="2324" y="817"/>
                </a:cxn>
                <a:cxn ang="0">
                  <a:pos x="2372" y="787"/>
                </a:cxn>
                <a:cxn ang="0">
                  <a:pos x="2078" y="865"/>
                </a:cxn>
              </a:cxnLst>
              <a:rect l="0" t="0" r="r" b="b"/>
              <a:pathLst>
                <a:path w="2828" h="2366">
                  <a:moveTo>
                    <a:pt x="2006" y="835"/>
                  </a:moveTo>
                  <a:lnTo>
                    <a:pt x="1873" y="715"/>
                  </a:lnTo>
                  <a:lnTo>
                    <a:pt x="1814" y="606"/>
                  </a:lnTo>
                  <a:lnTo>
                    <a:pt x="1747" y="438"/>
                  </a:lnTo>
                  <a:lnTo>
                    <a:pt x="1699" y="312"/>
                  </a:lnTo>
                  <a:lnTo>
                    <a:pt x="1615" y="252"/>
                  </a:lnTo>
                  <a:lnTo>
                    <a:pt x="1453" y="84"/>
                  </a:lnTo>
                  <a:lnTo>
                    <a:pt x="1375" y="0"/>
                  </a:lnTo>
                  <a:lnTo>
                    <a:pt x="1345" y="132"/>
                  </a:lnTo>
                  <a:lnTo>
                    <a:pt x="1369" y="294"/>
                  </a:lnTo>
                  <a:lnTo>
                    <a:pt x="1513" y="558"/>
                  </a:lnTo>
                  <a:lnTo>
                    <a:pt x="1381" y="492"/>
                  </a:lnTo>
                  <a:lnTo>
                    <a:pt x="1201" y="360"/>
                  </a:lnTo>
                  <a:lnTo>
                    <a:pt x="961" y="227"/>
                  </a:lnTo>
                  <a:lnTo>
                    <a:pt x="955" y="221"/>
                  </a:lnTo>
                  <a:lnTo>
                    <a:pt x="949" y="215"/>
                  </a:lnTo>
                  <a:lnTo>
                    <a:pt x="913" y="185"/>
                  </a:lnTo>
                  <a:lnTo>
                    <a:pt x="877" y="161"/>
                  </a:lnTo>
                  <a:lnTo>
                    <a:pt x="859" y="156"/>
                  </a:lnTo>
                  <a:lnTo>
                    <a:pt x="853" y="161"/>
                  </a:lnTo>
                  <a:lnTo>
                    <a:pt x="841" y="167"/>
                  </a:lnTo>
                  <a:lnTo>
                    <a:pt x="810" y="173"/>
                  </a:lnTo>
                  <a:lnTo>
                    <a:pt x="768" y="167"/>
                  </a:lnTo>
                  <a:lnTo>
                    <a:pt x="720" y="161"/>
                  </a:lnTo>
                  <a:lnTo>
                    <a:pt x="678" y="156"/>
                  </a:lnTo>
                  <a:lnTo>
                    <a:pt x="637" y="150"/>
                  </a:lnTo>
                  <a:lnTo>
                    <a:pt x="613" y="144"/>
                  </a:lnTo>
                  <a:lnTo>
                    <a:pt x="601" y="144"/>
                  </a:lnTo>
                  <a:lnTo>
                    <a:pt x="498" y="161"/>
                  </a:lnTo>
                  <a:lnTo>
                    <a:pt x="492" y="161"/>
                  </a:lnTo>
                  <a:lnTo>
                    <a:pt x="480" y="156"/>
                  </a:lnTo>
                  <a:lnTo>
                    <a:pt x="456" y="156"/>
                  </a:lnTo>
                  <a:lnTo>
                    <a:pt x="432" y="150"/>
                  </a:lnTo>
                  <a:lnTo>
                    <a:pt x="379" y="144"/>
                  </a:lnTo>
                  <a:lnTo>
                    <a:pt x="361" y="138"/>
                  </a:lnTo>
                  <a:lnTo>
                    <a:pt x="342" y="138"/>
                  </a:lnTo>
                  <a:lnTo>
                    <a:pt x="324" y="138"/>
                  </a:lnTo>
                  <a:lnTo>
                    <a:pt x="300" y="132"/>
                  </a:lnTo>
                  <a:lnTo>
                    <a:pt x="246" y="126"/>
                  </a:lnTo>
                  <a:lnTo>
                    <a:pt x="216" y="120"/>
                  </a:lnTo>
                  <a:lnTo>
                    <a:pt x="192" y="120"/>
                  </a:lnTo>
                  <a:lnTo>
                    <a:pt x="174" y="114"/>
                  </a:lnTo>
                  <a:lnTo>
                    <a:pt x="168" y="114"/>
                  </a:lnTo>
                  <a:lnTo>
                    <a:pt x="6" y="120"/>
                  </a:lnTo>
                  <a:lnTo>
                    <a:pt x="216" y="240"/>
                  </a:lnTo>
                  <a:lnTo>
                    <a:pt x="306" y="294"/>
                  </a:lnTo>
                  <a:lnTo>
                    <a:pt x="480" y="462"/>
                  </a:lnTo>
                  <a:lnTo>
                    <a:pt x="607" y="588"/>
                  </a:lnTo>
                  <a:lnTo>
                    <a:pt x="655" y="672"/>
                  </a:lnTo>
                  <a:lnTo>
                    <a:pt x="949" y="769"/>
                  </a:lnTo>
                  <a:lnTo>
                    <a:pt x="1177" y="817"/>
                  </a:lnTo>
                  <a:lnTo>
                    <a:pt x="1249" y="871"/>
                  </a:lnTo>
                  <a:lnTo>
                    <a:pt x="1117" y="853"/>
                  </a:lnTo>
                  <a:lnTo>
                    <a:pt x="972" y="871"/>
                  </a:lnTo>
                  <a:lnTo>
                    <a:pt x="756" y="919"/>
                  </a:lnTo>
                  <a:lnTo>
                    <a:pt x="619" y="961"/>
                  </a:lnTo>
                  <a:lnTo>
                    <a:pt x="492" y="1111"/>
                  </a:lnTo>
                  <a:lnTo>
                    <a:pt x="420" y="1214"/>
                  </a:lnTo>
                  <a:lnTo>
                    <a:pt x="348" y="1345"/>
                  </a:lnTo>
                  <a:lnTo>
                    <a:pt x="276" y="1441"/>
                  </a:lnTo>
                  <a:lnTo>
                    <a:pt x="192" y="1471"/>
                  </a:lnTo>
                  <a:lnTo>
                    <a:pt x="66" y="1465"/>
                  </a:lnTo>
                  <a:lnTo>
                    <a:pt x="42" y="1441"/>
                  </a:lnTo>
                  <a:lnTo>
                    <a:pt x="0" y="1471"/>
                  </a:lnTo>
                  <a:lnTo>
                    <a:pt x="126" y="1519"/>
                  </a:lnTo>
                  <a:lnTo>
                    <a:pt x="367" y="1585"/>
                  </a:lnTo>
                  <a:lnTo>
                    <a:pt x="570" y="1591"/>
                  </a:lnTo>
                  <a:lnTo>
                    <a:pt x="690" y="1664"/>
                  </a:lnTo>
                  <a:lnTo>
                    <a:pt x="949" y="1712"/>
                  </a:lnTo>
                  <a:lnTo>
                    <a:pt x="1260" y="1694"/>
                  </a:lnTo>
                  <a:lnTo>
                    <a:pt x="1411" y="1603"/>
                  </a:lnTo>
                  <a:lnTo>
                    <a:pt x="1519" y="1537"/>
                  </a:lnTo>
                  <a:lnTo>
                    <a:pt x="1645" y="1399"/>
                  </a:lnTo>
                  <a:lnTo>
                    <a:pt x="1699" y="1387"/>
                  </a:lnTo>
                  <a:lnTo>
                    <a:pt x="1735" y="1513"/>
                  </a:lnTo>
                  <a:lnTo>
                    <a:pt x="1729" y="1567"/>
                  </a:lnTo>
                  <a:lnTo>
                    <a:pt x="1723" y="1670"/>
                  </a:lnTo>
                  <a:lnTo>
                    <a:pt x="1723" y="1802"/>
                  </a:lnTo>
                  <a:lnTo>
                    <a:pt x="1831" y="1964"/>
                  </a:lnTo>
                  <a:lnTo>
                    <a:pt x="1957" y="2090"/>
                  </a:lnTo>
                  <a:lnTo>
                    <a:pt x="2042" y="2229"/>
                  </a:lnTo>
                  <a:lnTo>
                    <a:pt x="2155" y="2366"/>
                  </a:lnTo>
                  <a:lnTo>
                    <a:pt x="2161" y="2295"/>
                  </a:lnTo>
                  <a:lnTo>
                    <a:pt x="2191" y="2133"/>
                  </a:lnTo>
                  <a:lnTo>
                    <a:pt x="2215" y="2048"/>
                  </a:lnTo>
                  <a:lnTo>
                    <a:pt x="2258" y="2042"/>
                  </a:lnTo>
                  <a:lnTo>
                    <a:pt x="2270" y="1970"/>
                  </a:lnTo>
                  <a:lnTo>
                    <a:pt x="2342" y="1868"/>
                  </a:lnTo>
                  <a:lnTo>
                    <a:pt x="2324" y="1748"/>
                  </a:lnTo>
                  <a:lnTo>
                    <a:pt x="2233" y="1573"/>
                  </a:lnTo>
                  <a:lnTo>
                    <a:pt x="2209" y="1453"/>
                  </a:lnTo>
                  <a:lnTo>
                    <a:pt x="2209" y="1345"/>
                  </a:lnTo>
                  <a:lnTo>
                    <a:pt x="2294" y="1483"/>
                  </a:lnTo>
                  <a:lnTo>
                    <a:pt x="2461" y="1651"/>
                  </a:lnTo>
                  <a:lnTo>
                    <a:pt x="2504" y="1651"/>
                  </a:lnTo>
                  <a:lnTo>
                    <a:pt x="2588" y="1688"/>
                  </a:lnTo>
                  <a:lnTo>
                    <a:pt x="2678" y="1718"/>
                  </a:lnTo>
                  <a:lnTo>
                    <a:pt x="2720" y="1712"/>
                  </a:lnTo>
                  <a:lnTo>
                    <a:pt x="2695" y="1682"/>
                  </a:lnTo>
                  <a:lnTo>
                    <a:pt x="2678" y="1627"/>
                  </a:lnTo>
                  <a:lnTo>
                    <a:pt x="2630" y="1597"/>
                  </a:lnTo>
                  <a:lnTo>
                    <a:pt x="2588" y="1543"/>
                  </a:lnTo>
                  <a:lnTo>
                    <a:pt x="2618" y="1483"/>
                  </a:lnTo>
                  <a:lnTo>
                    <a:pt x="2576" y="1399"/>
                  </a:lnTo>
                  <a:lnTo>
                    <a:pt x="2510" y="1357"/>
                  </a:lnTo>
                  <a:lnTo>
                    <a:pt x="2576" y="1351"/>
                  </a:lnTo>
                  <a:lnTo>
                    <a:pt x="2552" y="1315"/>
                  </a:lnTo>
                  <a:lnTo>
                    <a:pt x="2354" y="1184"/>
                  </a:lnTo>
                  <a:lnTo>
                    <a:pt x="2252" y="1123"/>
                  </a:lnTo>
                  <a:lnTo>
                    <a:pt x="2173" y="1009"/>
                  </a:lnTo>
                  <a:lnTo>
                    <a:pt x="2102" y="931"/>
                  </a:lnTo>
                  <a:lnTo>
                    <a:pt x="2108" y="931"/>
                  </a:lnTo>
                  <a:lnTo>
                    <a:pt x="2114" y="925"/>
                  </a:lnTo>
                  <a:lnTo>
                    <a:pt x="2137" y="907"/>
                  </a:lnTo>
                  <a:lnTo>
                    <a:pt x="2167" y="883"/>
                  </a:lnTo>
                  <a:lnTo>
                    <a:pt x="2197" y="877"/>
                  </a:lnTo>
                  <a:lnTo>
                    <a:pt x="2215" y="871"/>
                  </a:lnTo>
                  <a:lnTo>
                    <a:pt x="2240" y="859"/>
                  </a:lnTo>
                  <a:lnTo>
                    <a:pt x="2300" y="829"/>
                  </a:lnTo>
                  <a:lnTo>
                    <a:pt x="2324" y="817"/>
                  </a:lnTo>
                  <a:lnTo>
                    <a:pt x="2348" y="799"/>
                  </a:lnTo>
                  <a:lnTo>
                    <a:pt x="2366" y="793"/>
                  </a:lnTo>
                  <a:lnTo>
                    <a:pt x="2372" y="787"/>
                  </a:lnTo>
                  <a:lnTo>
                    <a:pt x="2828" y="588"/>
                  </a:lnTo>
                  <a:lnTo>
                    <a:pt x="2828" y="528"/>
                  </a:lnTo>
                  <a:lnTo>
                    <a:pt x="2078" y="865"/>
                  </a:lnTo>
                  <a:lnTo>
                    <a:pt x="2006" y="835"/>
                  </a:lnTo>
                  <a:lnTo>
                    <a:pt x="2006" y="835"/>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p>
              <a:endParaRPr lang="en-US"/>
            </a:p>
          </p:txBody>
        </p:sp>
        <p:sp>
          <p:nvSpPr>
            <p:cNvPr id="1050193" name="Freeform 20"/>
            <p:cNvSpPr/>
            <p:nvPr/>
          </p:nvSpPr>
          <p:spPr bwMode="hidden">
            <a:xfrm>
              <a:off x="3160" y="1860"/>
              <a:ext cx="2162" cy="1934"/>
            </a:xfrm>
            <a:custGeom>
              <a:avLst/>
              <a:ahLst/>
              <a:cxnLst>
                <a:cxn ang="0">
                  <a:pos x="1842" y="851"/>
                </a:cxn>
                <a:cxn ang="0">
                  <a:pos x="1937" y="1019"/>
                </a:cxn>
                <a:cxn ang="0">
                  <a:pos x="2051" y="1168"/>
                </a:cxn>
                <a:cxn ang="0">
                  <a:pos x="2117" y="1246"/>
                </a:cxn>
                <a:cxn ang="0">
                  <a:pos x="2153" y="1294"/>
                </a:cxn>
                <a:cxn ang="0">
                  <a:pos x="1889" y="977"/>
                </a:cxn>
                <a:cxn ang="0">
                  <a:pos x="1860" y="929"/>
                </a:cxn>
                <a:cxn ang="0">
                  <a:pos x="1782" y="1240"/>
                </a:cxn>
                <a:cxn ang="0">
                  <a:pos x="1770" y="1486"/>
                </a:cxn>
                <a:cxn ang="0">
                  <a:pos x="1818" y="1906"/>
                </a:cxn>
                <a:cxn ang="0">
                  <a:pos x="1788" y="1930"/>
                </a:cxn>
                <a:cxn ang="0">
                  <a:pos x="1746" y="1534"/>
                </a:cxn>
                <a:cxn ang="0">
                  <a:pos x="1728" y="1288"/>
                </a:cxn>
                <a:cxn ang="0">
                  <a:pos x="1764" y="1085"/>
                </a:cxn>
                <a:cxn ang="0">
                  <a:pos x="1770" y="875"/>
                </a:cxn>
                <a:cxn ang="0">
                  <a:pos x="1268" y="1007"/>
                </a:cxn>
                <a:cxn ang="0">
                  <a:pos x="825" y="1132"/>
                </a:cxn>
                <a:cxn ang="0">
                  <a:pos x="323" y="1312"/>
                </a:cxn>
                <a:cxn ang="0">
                  <a:pos x="18" y="1420"/>
                </a:cxn>
                <a:cxn ang="0">
                  <a:pos x="311" y="1282"/>
                </a:cxn>
                <a:cxn ang="0">
                  <a:pos x="682" y="1144"/>
                </a:cxn>
                <a:cxn ang="0">
                  <a:pos x="1022" y="1037"/>
                </a:cxn>
                <a:cxn ang="0">
                  <a:pos x="1411" y="929"/>
                </a:cxn>
                <a:cxn ang="0">
                  <a:pos x="1692" y="815"/>
                </a:cxn>
                <a:cxn ang="0">
                  <a:pos x="1333" y="623"/>
                </a:cxn>
                <a:cxn ang="0">
                  <a:pos x="861" y="515"/>
                </a:cxn>
                <a:cxn ang="0">
                  <a:pos x="227" y="161"/>
                </a:cxn>
                <a:cxn ang="0">
                  <a:pos x="0" y="83"/>
                </a:cxn>
                <a:cxn ang="0">
                  <a:pos x="329" y="179"/>
                </a:cxn>
                <a:cxn ang="0">
                  <a:pos x="712" y="383"/>
                </a:cxn>
                <a:cxn ang="0">
                  <a:pos x="933" y="491"/>
                </a:cxn>
                <a:cxn ang="0">
                  <a:pos x="1351" y="593"/>
                </a:cxn>
                <a:cxn ang="0">
                  <a:pos x="1650" y="743"/>
                </a:cxn>
                <a:cxn ang="0">
                  <a:pos x="1423" y="461"/>
                </a:cxn>
                <a:cxn ang="0">
                  <a:pos x="1286" y="191"/>
                </a:cxn>
                <a:cxn ang="0">
                  <a:pos x="1154" y="0"/>
                </a:cxn>
                <a:cxn ang="0">
                  <a:pos x="1339" y="215"/>
                </a:cxn>
                <a:cxn ang="0">
                  <a:pos x="1489" y="485"/>
                </a:cxn>
                <a:cxn ang="0">
                  <a:pos x="1746" y="803"/>
                </a:cxn>
                <a:cxn ang="0">
                  <a:pos x="1842" y="851"/>
                </a:cxn>
                <a:cxn ang="0">
                  <a:pos x="1842" y="851"/>
                </a:cxn>
              </a:cxnLst>
              <a:rect l="0" t="0" r="r" b="b"/>
              <a:pathLst>
                <a:path w="2153" h="1930">
                  <a:moveTo>
                    <a:pt x="1842" y="851"/>
                  </a:moveTo>
                  <a:lnTo>
                    <a:pt x="1937" y="1019"/>
                  </a:lnTo>
                  <a:lnTo>
                    <a:pt x="2051" y="1168"/>
                  </a:lnTo>
                  <a:lnTo>
                    <a:pt x="2117" y="1246"/>
                  </a:lnTo>
                  <a:lnTo>
                    <a:pt x="2153" y="1294"/>
                  </a:lnTo>
                  <a:lnTo>
                    <a:pt x="1889" y="977"/>
                  </a:lnTo>
                  <a:lnTo>
                    <a:pt x="1860" y="929"/>
                  </a:lnTo>
                  <a:lnTo>
                    <a:pt x="1782" y="1240"/>
                  </a:lnTo>
                  <a:lnTo>
                    <a:pt x="1770" y="1486"/>
                  </a:lnTo>
                  <a:lnTo>
                    <a:pt x="1818" y="1906"/>
                  </a:lnTo>
                  <a:lnTo>
                    <a:pt x="1788" y="1930"/>
                  </a:lnTo>
                  <a:lnTo>
                    <a:pt x="1746" y="1534"/>
                  </a:lnTo>
                  <a:lnTo>
                    <a:pt x="1728" y="1288"/>
                  </a:lnTo>
                  <a:lnTo>
                    <a:pt x="1764" y="1085"/>
                  </a:lnTo>
                  <a:lnTo>
                    <a:pt x="1770" y="875"/>
                  </a:lnTo>
                  <a:lnTo>
                    <a:pt x="1268" y="1007"/>
                  </a:lnTo>
                  <a:lnTo>
                    <a:pt x="825" y="1132"/>
                  </a:lnTo>
                  <a:lnTo>
                    <a:pt x="323" y="1312"/>
                  </a:lnTo>
                  <a:lnTo>
                    <a:pt x="18" y="1420"/>
                  </a:lnTo>
                  <a:lnTo>
                    <a:pt x="311" y="1282"/>
                  </a:lnTo>
                  <a:lnTo>
                    <a:pt x="682" y="1144"/>
                  </a:lnTo>
                  <a:lnTo>
                    <a:pt x="1022" y="1037"/>
                  </a:lnTo>
                  <a:lnTo>
                    <a:pt x="1411" y="929"/>
                  </a:lnTo>
                  <a:lnTo>
                    <a:pt x="1692" y="815"/>
                  </a:lnTo>
                  <a:lnTo>
                    <a:pt x="1333" y="623"/>
                  </a:lnTo>
                  <a:lnTo>
                    <a:pt x="861" y="515"/>
                  </a:lnTo>
                  <a:lnTo>
                    <a:pt x="227" y="161"/>
                  </a:lnTo>
                  <a:lnTo>
                    <a:pt x="0" y="83"/>
                  </a:lnTo>
                  <a:lnTo>
                    <a:pt x="329" y="179"/>
                  </a:lnTo>
                  <a:lnTo>
                    <a:pt x="712" y="383"/>
                  </a:lnTo>
                  <a:lnTo>
                    <a:pt x="933" y="491"/>
                  </a:lnTo>
                  <a:lnTo>
                    <a:pt x="1351" y="593"/>
                  </a:lnTo>
                  <a:lnTo>
                    <a:pt x="1650" y="743"/>
                  </a:lnTo>
                  <a:lnTo>
                    <a:pt x="1423" y="461"/>
                  </a:lnTo>
                  <a:lnTo>
                    <a:pt x="1286" y="191"/>
                  </a:lnTo>
                  <a:lnTo>
                    <a:pt x="1154" y="0"/>
                  </a:lnTo>
                  <a:lnTo>
                    <a:pt x="1339" y="215"/>
                  </a:lnTo>
                  <a:lnTo>
                    <a:pt x="1489" y="485"/>
                  </a:lnTo>
                  <a:lnTo>
                    <a:pt x="1746" y="803"/>
                  </a:lnTo>
                  <a:lnTo>
                    <a:pt x="1842" y="851"/>
                  </a:lnTo>
                  <a:lnTo>
                    <a:pt x="1842" y="851"/>
                  </a:lnTo>
                  <a:close/>
                </a:path>
              </a:pathLst>
            </a:custGeom>
            <a:gradFill rotWithShape="0">
              <a:gsLst>
                <a:gs pos="0">
                  <a:schemeClr val="accent2"/>
                </a:gs>
                <a:gs pos="100000">
                  <a:schemeClr val="bg1"/>
                </a:gs>
              </a:gsLst>
              <a:lin ang="5400000" scaled="1"/>
            </a:gradFill>
            <a:ln w="9525">
              <a:noFill/>
              <a:round/>
              <a:headEnd/>
              <a:tailEnd/>
            </a:ln>
          </p:spPr>
          <p:txBody>
            <a:bodyPr/>
            <a:p>
              <a:endParaRPr lang="en-US"/>
            </a:p>
          </p:txBody>
        </p:sp>
      </p:grpSp>
      <p:sp>
        <p:nvSpPr>
          <p:cNvPr id="1050194" name="Rectangle 21"/>
          <p:cNvSpPr>
            <a:spLocks noGrp="1" noChangeArrowheads="1"/>
          </p:cNvSpPr>
          <p:nvPr>
            <p:ph type="title"/>
          </p:nvPr>
        </p:nvSpPr>
        <p:spPr bwMode="auto">
          <a:xfrm>
            <a:off x="571500" y="277813"/>
            <a:ext cx="10287000" cy="1143000"/>
          </a:xfrm>
          <a:prstGeom prst="rect"/>
          <a:noFill/>
          <a:ln w="9525">
            <a:noFill/>
            <a:miter lim="800000"/>
            <a:headEnd/>
            <a:tailEnd/>
          </a:ln>
          <a:effectLst/>
        </p:spPr>
        <p:txBody>
          <a:bodyPr anchor="ctr" anchorCtr="0" bIns="45720" compatLnSpc="1" lIns="91440" numCol="1" rIns="91440" tIns="45720" vert="horz" wrap="square">
            <a:prstTxWarp prst="textNoShape"/>
          </a:bodyPr>
          <a:p>
            <a:pPr lvl="0"/>
            <a:r>
              <a:rPr lang="en-US" smtClean="0"/>
              <a:t>Click to edit Master title style</a:t>
            </a:r>
          </a:p>
        </p:txBody>
      </p:sp>
      <p:sp>
        <p:nvSpPr>
          <p:cNvPr id="1050195" name="Rectangle 22"/>
          <p:cNvSpPr>
            <a:spLocks noGrp="1" noChangeArrowheads="1"/>
          </p:cNvSpPr>
          <p:nvPr>
            <p:ph type="body" idx="1"/>
          </p:nvPr>
        </p:nvSpPr>
        <p:spPr bwMode="auto">
          <a:xfrm>
            <a:off x="571500" y="1600206"/>
            <a:ext cx="10287000" cy="4530725"/>
          </a:xfrm>
          <a:prstGeom prst="rect"/>
          <a:noFill/>
          <a:ln w="9525">
            <a:noFill/>
            <a:miter lim="800000"/>
            <a:headEnd/>
            <a:tailEnd/>
          </a:ln>
          <a:effectLst/>
        </p:spPr>
        <p:txBody>
          <a:bodyPr anchor="t" anchorCtr="0" bIns="45720" compatLnSpc="1" lIns="91440" numCol="1" rIns="91440" tIns="45720"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50196" name="Rectangle 23"/>
          <p:cNvSpPr>
            <a:spLocks noGrp="1" noChangeArrowheads="1"/>
          </p:cNvSpPr>
          <p:nvPr>
            <p:ph type="dt" sz="half" idx="2"/>
          </p:nvPr>
        </p:nvSpPr>
        <p:spPr bwMode="auto">
          <a:xfrm>
            <a:off x="571500" y="6248400"/>
            <a:ext cx="2667000" cy="457200"/>
          </a:xfrm>
          <a:prstGeom prst="rect"/>
          <a:noFill/>
          <a:ln w="9525">
            <a:noFill/>
            <a:miter lim="800000"/>
            <a:headEnd/>
            <a:tailEnd/>
          </a:ln>
          <a:effectLst/>
        </p:spPr>
        <p:txBody>
          <a:bodyPr anchor="t" anchorCtr="0" bIns="45720" compatLnSpc="1" lIns="91440" numCol="1" rIns="91440" tIns="45720" vert="horz" wrap="square">
            <a:prstTxWarp prst="textNoShape"/>
          </a:bodyPr>
          <a:lstStyle>
            <a:lvl1pPr eaLnBrk="1" hangingPunct="1">
              <a:defRPr sz="1400">
                <a:effectLst>
                  <a:outerShdw algn="tl" blurRad="38100" dir="2700000" dist="38100">
                    <a:srgbClr val="000000"/>
                  </a:outerShdw>
                </a:effectLst>
              </a:defRPr>
            </a:lvl1pPr>
          </a:lstStyle>
          <a:p>
            <a:fld id="{05E2F2E1-AB2B-49B3-A333-B095B1A5166B}" type="datetime1">
              <a:rPr lang="en-US" smtClean="0"/>
            </a:fld>
            <a:endParaRPr lang="en-US"/>
          </a:p>
        </p:txBody>
      </p:sp>
      <p:sp>
        <p:nvSpPr>
          <p:cNvPr id="1050197" name="Rectangle 24"/>
          <p:cNvSpPr>
            <a:spLocks noGrp="1" noChangeArrowheads="1"/>
          </p:cNvSpPr>
          <p:nvPr>
            <p:ph type="ftr" sz="quarter" idx="3"/>
          </p:nvPr>
        </p:nvSpPr>
        <p:spPr bwMode="auto">
          <a:xfrm>
            <a:off x="3905250" y="6248400"/>
            <a:ext cx="3619500" cy="457200"/>
          </a:xfrm>
          <a:prstGeom prst="rect"/>
          <a:noFill/>
          <a:ln w="9525">
            <a:noFill/>
            <a:miter lim="800000"/>
            <a:headEnd/>
            <a:tailEnd/>
          </a:ln>
          <a:effectLst/>
        </p:spPr>
        <p:txBody>
          <a:bodyPr anchor="t" anchorCtr="0" bIns="45720" compatLnSpc="1" lIns="91440" numCol="1" rIns="91440" tIns="45720" vert="horz" wrap="square">
            <a:prstTxWarp prst="textNoShape"/>
          </a:bodyPr>
          <a:lstStyle>
            <a:lvl1pPr algn="ctr" eaLnBrk="1" hangingPunct="1">
              <a:defRPr sz="1400">
                <a:effectLst>
                  <a:outerShdw algn="tl" blurRad="38100" dir="2700000" dist="38100">
                    <a:srgbClr val="000000"/>
                  </a:outerShdw>
                </a:effectLst>
              </a:defRPr>
            </a:lvl1pPr>
          </a:lstStyle>
          <a:p>
            <a:r>
              <a:rPr lang="en-US" smtClean="0"/>
              <a:t>@MUSOVYA2017</a:t>
            </a:r>
            <a:endParaRPr lang="en-US"/>
          </a:p>
        </p:txBody>
      </p:sp>
      <p:sp>
        <p:nvSpPr>
          <p:cNvPr id="1050198" name="Rectangle 25"/>
          <p:cNvSpPr>
            <a:spLocks noGrp="1" noChangeArrowheads="1"/>
          </p:cNvSpPr>
          <p:nvPr>
            <p:ph type="sldNum" sz="quarter" idx="4"/>
          </p:nvPr>
        </p:nvSpPr>
        <p:spPr bwMode="auto">
          <a:xfrm>
            <a:off x="8191500" y="6248400"/>
            <a:ext cx="2667000" cy="457200"/>
          </a:xfrm>
          <a:prstGeom prst="rect"/>
          <a:noFill/>
          <a:ln w="9525">
            <a:noFill/>
            <a:miter lim="800000"/>
            <a:headEnd/>
            <a:tailEnd/>
          </a:ln>
          <a:effectLst/>
        </p:spPr>
        <p:txBody>
          <a:bodyPr anchor="t" anchorCtr="0" bIns="45720" compatLnSpc="1" lIns="91440" numCol="1" rIns="91440" tIns="45720" vert="horz" wrap="square">
            <a:prstTxWarp prst="textNoShape"/>
          </a:bodyPr>
          <a:lstStyle>
            <a:lvl1pPr algn="r" eaLnBrk="1" hangingPunct="1">
              <a:defRPr sz="1400">
                <a:effectLst>
                  <a:outerShdw algn="tl" blurRad="38100" dir="2700000" dist="38100">
                    <a:srgbClr val="000000"/>
                  </a:outerShdw>
                </a:effectLst>
              </a:defRPr>
            </a:lvl1pPr>
          </a:lstStyle>
          <a:p>
            <a:fld id="{539D2A76-69E3-4600-8808-3C1A10934549}" type="slidenum">
              <a:rPr lang="en-US" smtClean="0"/>
            </a:fld>
            <a:endParaRPr lang="en-US"/>
          </a:p>
        </p:txBody>
      </p:sp>
    </p:spTree>
  </p:cSld>
  <p:clrMap accent1="accent1" accent2="accent2" accent3="accent3" accent4="accent4" accent5="accent5" accent6="accent6" bg1="dk2" bg2="dk1" tx1="lt1" tx2="lt2"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 id="2147484057" r:id="rId12"/>
    <p:sldLayoutId id="2147484058" r:id="rId13"/>
  </p:sldLayoutIdLst>
  <p:transition xmlns:p14="http://schemas.microsoft.com/office/powerpoint/2010/main">
    <p:fade thruBlk="1"/>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accel="100000" fill="hold" grpId="0" id="5" nodeType="withEffect" presetClass="entr" presetID="39" presetSubtype="0">
                                  <p:stCondLst>
                                    <p:cond delay="0"/>
                                  </p:stCondLst>
                                  <p:childTnLst>
                                    <p:set>
                                      <p:cBhvr>
                                        <p:cTn dur="1" fill="hold" id="6">
                                          <p:stCondLst>
                                            <p:cond delay="0"/>
                                          </p:stCondLst>
                                        </p:cTn>
                                        <p:tgtEl>
                                          <p:spTgt spid="1050194"/>
                                        </p:tgtEl>
                                        <p:attrNameLst>
                                          <p:attrName>style.visibility</p:attrName>
                                        </p:attrNameLst>
                                      </p:cBhvr>
                                      <p:to>
                                        <p:strVal val="visible"/>
                                      </p:to>
                                    </p:set>
                                    <p:anim calcmode="lin" valueType="num">
                                      <p:cBhvr>
                                        <p:cTn dur="500" fill="hold" id="7"/>
                                        <p:tgtEl>
                                          <p:spTgt spid="1050194"/>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8"/>
                                        <p:tgtEl>
                                          <p:spTgt spid="1050194"/>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9"/>
                                        <p:tgtEl>
                                          <p:spTgt spid="1050194"/>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10"/>
                                        <p:tgtEl>
                                          <p:spTgt spid="1050194"/>
                                        </p:tgtEl>
                                        <p:attrNameLst>
                                          <p:attrName>ppt_y</p:attrName>
                                        </p:attrNameLst>
                                      </p:cBhvr>
                                      <p:tavLst>
                                        <p:tav tm="0">
                                          <p:val>
                                            <p:strVal val="#ppt_y"/>
                                          </p:val>
                                        </p:tav>
                                        <p:tav tm="100000">
                                          <p:val>
                                            <p:strVal val="#ppt_y"/>
                                          </p:val>
                                        </p:tav>
                                      </p:tavLst>
                                    </p:anim>
                                  </p:childTnLst>
                                </p:cTn>
                              </p:par>
                            </p:childTnLst>
                          </p:cTn>
                        </p:par>
                      </p:childTnLst>
                    </p:cTn>
                  </p:par>
                  <p:par>
                    <p:cTn fill="hold" id="11">
                      <p:stCondLst>
                        <p:cond delay="indefinite"/>
                      </p:stCondLst>
                      <p:childTnLst>
                        <p:par>
                          <p:cTn fill="hold" id="12">
                            <p:stCondLst>
                              <p:cond delay="0"/>
                            </p:stCondLst>
                            <p:childTnLst>
                              <p:par>
                                <p:cTn accel="100000" fill="hold" grpId="0" id="13" nodeType="clickEffect" presetClass="entr" presetID="39" presetSubtype="0">
                                  <p:stCondLst>
                                    <p:cond delay="0"/>
                                  </p:stCondLst>
                                  <p:childTnLst>
                                    <p:set>
                                      <p:cBhvr>
                                        <p:cTn dur="1" fill="hold" id="14">
                                          <p:stCondLst>
                                            <p:cond delay="0"/>
                                          </p:stCondLst>
                                        </p:cTn>
                                        <p:tgtEl>
                                          <p:spTgt spid="1050195">
                                            <p:txEl>
                                              <p:pRg st="0" end="0"/>
                                            </p:txEl>
                                          </p:spTgt>
                                        </p:tgtEl>
                                        <p:attrNameLst>
                                          <p:attrName>style.visibility</p:attrName>
                                        </p:attrNameLst>
                                      </p:cBhvr>
                                      <p:to>
                                        <p:strVal val="visible"/>
                                      </p:to>
                                    </p:set>
                                    <p:anim calcmode="lin" valueType="num">
                                      <p:cBhvr>
                                        <p:cTn dur="500" fill="hold" id="15"/>
                                        <p:tgtEl>
                                          <p:spTgt spid="1050195">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16"/>
                                        <p:tgtEl>
                                          <p:spTgt spid="1050195">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17"/>
                                        <p:tgtEl>
                                          <p:spTgt spid="1050195">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18"/>
                                        <p:tgtEl>
                                          <p:spTgt spid="1050195">
                                            <p:txEl>
                                              <p:pRg st="0" end="0"/>
                                            </p:txEl>
                                          </p:spTgt>
                                        </p:tgtEl>
                                        <p:attrNameLst>
                                          <p:attrName>ppt_y</p:attrName>
                                        </p:attrNameLst>
                                      </p:cBhvr>
                                      <p:tavLst>
                                        <p:tav tm="0">
                                          <p:val>
                                            <p:strVal val="#ppt_y"/>
                                          </p:val>
                                        </p:tav>
                                        <p:tav tm="100000">
                                          <p:val>
                                            <p:strVal val="#ppt_y"/>
                                          </p:val>
                                        </p:tav>
                                      </p:tavLst>
                                    </p:anim>
                                  </p:childTnLst>
                                </p:cTn>
                              </p:par>
                              <p:par>
                                <p:cTn accel="100000" fill="hold" grpId="0" id="19" nodeType="withEffect" presetClass="entr" presetID="39" presetSubtype="0">
                                  <p:stCondLst>
                                    <p:cond delay="0"/>
                                  </p:stCondLst>
                                  <p:childTnLst>
                                    <p:set>
                                      <p:cBhvr>
                                        <p:cTn dur="1" fill="hold" id="20">
                                          <p:stCondLst>
                                            <p:cond delay="0"/>
                                          </p:stCondLst>
                                        </p:cTn>
                                        <p:tgtEl>
                                          <p:spTgt spid="1050195">
                                            <p:txEl>
                                              <p:pRg st="1" end="1"/>
                                            </p:txEl>
                                          </p:spTgt>
                                        </p:tgtEl>
                                        <p:attrNameLst>
                                          <p:attrName>style.visibility</p:attrName>
                                        </p:attrNameLst>
                                      </p:cBhvr>
                                      <p:to>
                                        <p:strVal val="visible"/>
                                      </p:to>
                                    </p:set>
                                    <p:anim calcmode="lin" valueType="num">
                                      <p:cBhvr>
                                        <p:cTn dur="500" fill="hold" id="21"/>
                                        <p:tgtEl>
                                          <p:spTgt spid="1050195">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22"/>
                                        <p:tgtEl>
                                          <p:spTgt spid="1050195">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23"/>
                                        <p:tgtEl>
                                          <p:spTgt spid="1050195">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24"/>
                                        <p:tgtEl>
                                          <p:spTgt spid="1050195">
                                            <p:txEl>
                                              <p:pRg st="1" end="1"/>
                                            </p:txEl>
                                          </p:spTgt>
                                        </p:tgtEl>
                                        <p:attrNameLst>
                                          <p:attrName>ppt_y</p:attrName>
                                        </p:attrNameLst>
                                      </p:cBhvr>
                                      <p:tavLst>
                                        <p:tav tm="0">
                                          <p:val>
                                            <p:strVal val="#ppt_y"/>
                                          </p:val>
                                        </p:tav>
                                        <p:tav tm="100000">
                                          <p:val>
                                            <p:strVal val="#ppt_y"/>
                                          </p:val>
                                        </p:tav>
                                      </p:tavLst>
                                    </p:anim>
                                  </p:childTnLst>
                                </p:cTn>
                              </p:par>
                              <p:par>
                                <p:cTn accel="100000" fill="hold" grpId="0" id="25" nodeType="withEffect" presetClass="entr" presetID="39" presetSubtype="0">
                                  <p:stCondLst>
                                    <p:cond delay="0"/>
                                  </p:stCondLst>
                                  <p:childTnLst>
                                    <p:set>
                                      <p:cBhvr>
                                        <p:cTn dur="1" fill="hold" id="26">
                                          <p:stCondLst>
                                            <p:cond delay="0"/>
                                          </p:stCondLst>
                                        </p:cTn>
                                        <p:tgtEl>
                                          <p:spTgt spid="1050195">
                                            <p:txEl>
                                              <p:pRg st="2" end="2"/>
                                            </p:txEl>
                                          </p:spTgt>
                                        </p:tgtEl>
                                        <p:attrNameLst>
                                          <p:attrName>style.visibility</p:attrName>
                                        </p:attrNameLst>
                                      </p:cBhvr>
                                      <p:to>
                                        <p:strVal val="visible"/>
                                      </p:to>
                                    </p:set>
                                    <p:anim calcmode="lin" valueType="num">
                                      <p:cBhvr>
                                        <p:cTn dur="500" fill="hold" id="27"/>
                                        <p:tgtEl>
                                          <p:spTgt spid="1050195">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28"/>
                                        <p:tgtEl>
                                          <p:spTgt spid="1050195">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29"/>
                                        <p:tgtEl>
                                          <p:spTgt spid="1050195">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30"/>
                                        <p:tgtEl>
                                          <p:spTgt spid="1050195">
                                            <p:txEl>
                                              <p:pRg st="2" end="2"/>
                                            </p:txEl>
                                          </p:spTgt>
                                        </p:tgtEl>
                                        <p:attrNameLst>
                                          <p:attrName>ppt_y</p:attrName>
                                        </p:attrNameLst>
                                      </p:cBhvr>
                                      <p:tavLst>
                                        <p:tav tm="0">
                                          <p:val>
                                            <p:strVal val="#ppt_y"/>
                                          </p:val>
                                        </p:tav>
                                        <p:tav tm="100000">
                                          <p:val>
                                            <p:strVal val="#ppt_y"/>
                                          </p:val>
                                        </p:tav>
                                      </p:tavLst>
                                    </p:anim>
                                  </p:childTnLst>
                                </p:cTn>
                              </p:par>
                              <p:par>
                                <p:cTn accel="100000" fill="hold" grpId="0" id="31" nodeType="withEffect" presetClass="entr" presetID="39" presetSubtype="0">
                                  <p:stCondLst>
                                    <p:cond delay="0"/>
                                  </p:stCondLst>
                                  <p:childTnLst>
                                    <p:set>
                                      <p:cBhvr>
                                        <p:cTn dur="1" fill="hold" id="32">
                                          <p:stCondLst>
                                            <p:cond delay="0"/>
                                          </p:stCondLst>
                                        </p:cTn>
                                        <p:tgtEl>
                                          <p:spTgt spid="1050195">
                                            <p:txEl>
                                              <p:pRg st="3" end="3"/>
                                            </p:txEl>
                                          </p:spTgt>
                                        </p:tgtEl>
                                        <p:attrNameLst>
                                          <p:attrName>style.visibility</p:attrName>
                                        </p:attrNameLst>
                                      </p:cBhvr>
                                      <p:to>
                                        <p:strVal val="visible"/>
                                      </p:to>
                                    </p:set>
                                    <p:anim calcmode="lin" valueType="num">
                                      <p:cBhvr>
                                        <p:cTn dur="500" fill="hold" id="33"/>
                                        <p:tgtEl>
                                          <p:spTgt spid="1050195">
                                            <p:txEl>
                                              <p:pRg st="3" end="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34"/>
                                        <p:tgtEl>
                                          <p:spTgt spid="1050195">
                                            <p:txEl>
                                              <p:pRg st="3" end="3"/>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35"/>
                                        <p:tgtEl>
                                          <p:spTgt spid="1050195">
                                            <p:txEl>
                                              <p:pRg st="3" end="3"/>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36"/>
                                        <p:tgtEl>
                                          <p:spTgt spid="1050195">
                                            <p:txEl>
                                              <p:pRg st="3" end="3"/>
                                            </p:txEl>
                                          </p:spTgt>
                                        </p:tgtEl>
                                        <p:attrNameLst>
                                          <p:attrName>ppt_y</p:attrName>
                                        </p:attrNameLst>
                                      </p:cBhvr>
                                      <p:tavLst>
                                        <p:tav tm="0">
                                          <p:val>
                                            <p:strVal val="#ppt_y"/>
                                          </p:val>
                                        </p:tav>
                                        <p:tav tm="100000">
                                          <p:val>
                                            <p:strVal val="#ppt_y"/>
                                          </p:val>
                                        </p:tav>
                                      </p:tavLst>
                                    </p:anim>
                                  </p:childTnLst>
                                </p:cTn>
                              </p:par>
                              <p:par>
                                <p:cTn accel="100000" fill="hold" grpId="0" id="37" nodeType="withEffect" presetClass="entr" presetID="39" presetSubtype="0">
                                  <p:stCondLst>
                                    <p:cond delay="0"/>
                                  </p:stCondLst>
                                  <p:childTnLst>
                                    <p:set>
                                      <p:cBhvr>
                                        <p:cTn dur="1" fill="hold" id="38">
                                          <p:stCondLst>
                                            <p:cond delay="0"/>
                                          </p:stCondLst>
                                        </p:cTn>
                                        <p:tgtEl>
                                          <p:spTgt spid="1050195">
                                            <p:txEl>
                                              <p:pRg st="4" end="4"/>
                                            </p:txEl>
                                          </p:spTgt>
                                        </p:tgtEl>
                                        <p:attrNameLst>
                                          <p:attrName>style.visibility</p:attrName>
                                        </p:attrNameLst>
                                      </p:cBhvr>
                                      <p:to>
                                        <p:strVal val="visible"/>
                                      </p:to>
                                    </p:set>
                                    <p:anim calcmode="lin" valueType="num">
                                      <p:cBhvr>
                                        <p:cTn dur="500" fill="hold" id="39"/>
                                        <p:tgtEl>
                                          <p:spTgt spid="1050195">
                                            <p:txEl>
                                              <p:pRg st="4" end="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40"/>
                                        <p:tgtEl>
                                          <p:spTgt spid="1050195">
                                            <p:txEl>
                                              <p:pRg st="4" end="4"/>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41"/>
                                        <p:tgtEl>
                                          <p:spTgt spid="1050195">
                                            <p:txEl>
                                              <p:pRg st="4" end="4"/>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42"/>
                                        <p:tgtEl>
                                          <p:spTgt spid="10501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fill="hold" id="43">
                      <p:stCondLst>
                        <p:cond delay="indefinite"/>
                      </p:stCondLst>
                      <p:childTnLst>
                        <p:par>
                          <p:cTn fill="hold" id="44">
                            <p:stCondLst>
                              <p:cond delay="0"/>
                            </p:stCondLst>
                            <p:childTnLst>
                              <p:par>
                                <p:cTn decel="100000" fill="hold" grpId="1" id="45" nodeType="clickEffect" presetClass="exit" presetID="39" presetSubtype="0">
                                  <p:stCondLst>
                                    <p:cond delay="0"/>
                                  </p:stCondLst>
                                  <p:childTnLst>
                                    <p:anim calcmode="lin" valueType="num">
                                      <p:cBhvr>
                                        <p:cTn dur="500" fill="hold" id="46"/>
                                        <p:tgtEl>
                                          <p:spTgt spid="1050194"/>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47"/>
                                        <p:tgtEl>
                                          <p:spTgt spid="1050194"/>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48"/>
                                        <p:tgtEl>
                                          <p:spTgt spid="1050194"/>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49"/>
                                        <p:tgtEl>
                                          <p:spTgt spid="1050194"/>
                                        </p:tgtEl>
                                        <p:attrNameLst>
                                          <p:attrName>ppt_y</p:attrName>
                                        </p:attrNameLst>
                                      </p:cBhvr>
                                      <p:tavLst>
                                        <p:tav tm="0">
                                          <p:val>
                                            <p:strVal val="ppt_y"/>
                                          </p:val>
                                        </p:tav>
                                        <p:tav tm="100000">
                                          <p:val>
                                            <p:strVal val="ppt_y"/>
                                          </p:val>
                                        </p:tav>
                                      </p:tavLst>
                                    </p:anim>
                                    <p:set>
                                      <p:cBhvr>
                                        <p:cTn dur="1" fill="hold" id="50">
                                          <p:stCondLst>
                                            <p:cond delay="499"/>
                                          </p:stCondLst>
                                        </p:cTn>
                                        <p:tgtEl>
                                          <p:spTgt spid="1050194"/>
                                        </p:tgtEl>
                                        <p:attrNameLst>
                                          <p:attrName>style.visibility</p:attrName>
                                        </p:attrNameLst>
                                      </p:cBhvr>
                                      <p:to>
                                        <p:strVal val="hidden"/>
                                      </p:to>
                                    </p:set>
                                  </p:childTnLst>
                                </p:cTn>
                              </p:par>
                              <p:par>
                                <p:cTn decel="100000" fill="hold" grpId="1" id="51" nodeType="withEffect" presetClass="exit" presetID="39" presetSubtype="0">
                                  <p:stCondLst>
                                    <p:cond delay="0"/>
                                  </p:stCondLst>
                                  <p:childTnLst>
                                    <p:anim calcmode="lin" valueType="num">
                                      <p:cBhvr>
                                        <p:cTn dur="500" fill="hold" id="52"/>
                                        <p:tgtEl>
                                          <p:spTgt spid="1050195">
                                            <p:txEl>
                                              <p:pRg st="0" end="0"/>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53"/>
                                        <p:tgtEl>
                                          <p:spTgt spid="1050195">
                                            <p:txEl>
                                              <p:pRg st="0" end="0"/>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54"/>
                                        <p:tgtEl>
                                          <p:spTgt spid="1050195">
                                            <p:txEl>
                                              <p:pRg st="0" end="0"/>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55"/>
                                        <p:tgtEl>
                                          <p:spTgt spid="1050195">
                                            <p:txEl>
                                              <p:pRg st="0" end="0"/>
                                            </p:txEl>
                                          </p:spTgt>
                                        </p:tgtEl>
                                        <p:attrNameLst>
                                          <p:attrName>ppt_y</p:attrName>
                                        </p:attrNameLst>
                                      </p:cBhvr>
                                      <p:tavLst>
                                        <p:tav tm="0">
                                          <p:val>
                                            <p:strVal val="ppt_y"/>
                                          </p:val>
                                        </p:tav>
                                        <p:tav tm="100000">
                                          <p:val>
                                            <p:strVal val="ppt_y"/>
                                          </p:val>
                                        </p:tav>
                                      </p:tavLst>
                                    </p:anim>
                                    <p:set>
                                      <p:cBhvr>
                                        <p:cTn dur="1" fill="hold" id="56">
                                          <p:stCondLst>
                                            <p:cond delay="499"/>
                                          </p:stCondLst>
                                        </p:cTn>
                                        <p:tgtEl>
                                          <p:spTgt spid="1050195">
                                            <p:txEl>
                                              <p:pRg st="0" end="0"/>
                                            </p:txEl>
                                          </p:spTgt>
                                        </p:tgtEl>
                                        <p:attrNameLst>
                                          <p:attrName>style.visibility</p:attrName>
                                        </p:attrNameLst>
                                      </p:cBhvr>
                                      <p:to>
                                        <p:strVal val="hidden"/>
                                      </p:to>
                                    </p:set>
                                  </p:childTnLst>
                                </p:cTn>
                              </p:par>
                              <p:par>
                                <p:cTn decel="100000" fill="hold" grpId="1" id="57" nodeType="withEffect" presetClass="exit" presetID="39" presetSubtype="0">
                                  <p:stCondLst>
                                    <p:cond delay="0"/>
                                  </p:stCondLst>
                                  <p:childTnLst>
                                    <p:anim calcmode="lin" valueType="num">
                                      <p:cBhvr>
                                        <p:cTn dur="500" fill="hold" id="58"/>
                                        <p:tgtEl>
                                          <p:spTgt spid="1050195">
                                            <p:txEl>
                                              <p:pRg st="1" end="1"/>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59"/>
                                        <p:tgtEl>
                                          <p:spTgt spid="1050195">
                                            <p:txEl>
                                              <p:pRg st="1" end="1"/>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60"/>
                                        <p:tgtEl>
                                          <p:spTgt spid="1050195">
                                            <p:txEl>
                                              <p:pRg st="1" end="1"/>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61"/>
                                        <p:tgtEl>
                                          <p:spTgt spid="1050195">
                                            <p:txEl>
                                              <p:pRg st="1" end="1"/>
                                            </p:txEl>
                                          </p:spTgt>
                                        </p:tgtEl>
                                        <p:attrNameLst>
                                          <p:attrName>ppt_y</p:attrName>
                                        </p:attrNameLst>
                                      </p:cBhvr>
                                      <p:tavLst>
                                        <p:tav tm="0">
                                          <p:val>
                                            <p:strVal val="ppt_y"/>
                                          </p:val>
                                        </p:tav>
                                        <p:tav tm="100000">
                                          <p:val>
                                            <p:strVal val="ppt_y"/>
                                          </p:val>
                                        </p:tav>
                                      </p:tavLst>
                                    </p:anim>
                                    <p:set>
                                      <p:cBhvr>
                                        <p:cTn dur="1" fill="hold" id="62">
                                          <p:stCondLst>
                                            <p:cond delay="499"/>
                                          </p:stCondLst>
                                        </p:cTn>
                                        <p:tgtEl>
                                          <p:spTgt spid="1050195">
                                            <p:txEl>
                                              <p:pRg st="1" end="1"/>
                                            </p:txEl>
                                          </p:spTgt>
                                        </p:tgtEl>
                                        <p:attrNameLst>
                                          <p:attrName>style.visibility</p:attrName>
                                        </p:attrNameLst>
                                      </p:cBhvr>
                                      <p:to>
                                        <p:strVal val="hidden"/>
                                      </p:to>
                                    </p:set>
                                  </p:childTnLst>
                                </p:cTn>
                              </p:par>
                              <p:par>
                                <p:cTn decel="100000" fill="hold" grpId="1" id="63" nodeType="withEffect" presetClass="exit" presetID="39" presetSubtype="0">
                                  <p:stCondLst>
                                    <p:cond delay="0"/>
                                  </p:stCondLst>
                                  <p:childTnLst>
                                    <p:anim calcmode="lin" valueType="num">
                                      <p:cBhvr>
                                        <p:cTn dur="500" fill="hold" id="64"/>
                                        <p:tgtEl>
                                          <p:spTgt spid="1050195">
                                            <p:txEl>
                                              <p:pRg st="2" end="2"/>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65"/>
                                        <p:tgtEl>
                                          <p:spTgt spid="1050195">
                                            <p:txEl>
                                              <p:pRg st="2" end="2"/>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66"/>
                                        <p:tgtEl>
                                          <p:spTgt spid="1050195">
                                            <p:txEl>
                                              <p:pRg st="2" end="2"/>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67"/>
                                        <p:tgtEl>
                                          <p:spTgt spid="1050195">
                                            <p:txEl>
                                              <p:pRg st="2" end="2"/>
                                            </p:txEl>
                                          </p:spTgt>
                                        </p:tgtEl>
                                        <p:attrNameLst>
                                          <p:attrName>ppt_y</p:attrName>
                                        </p:attrNameLst>
                                      </p:cBhvr>
                                      <p:tavLst>
                                        <p:tav tm="0">
                                          <p:val>
                                            <p:strVal val="ppt_y"/>
                                          </p:val>
                                        </p:tav>
                                        <p:tav tm="100000">
                                          <p:val>
                                            <p:strVal val="ppt_y"/>
                                          </p:val>
                                        </p:tav>
                                      </p:tavLst>
                                    </p:anim>
                                    <p:set>
                                      <p:cBhvr>
                                        <p:cTn dur="1" fill="hold" id="68">
                                          <p:stCondLst>
                                            <p:cond delay="499"/>
                                          </p:stCondLst>
                                        </p:cTn>
                                        <p:tgtEl>
                                          <p:spTgt spid="1050195">
                                            <p:txEl>
                                              <p:pRg st="2" end="2"/>
                                            </p:txEl>
                                          </p:spTgt>
                                        </p:tgtEl>
                                        <p:attrNameLst>
                                          <p:attrName>style.visibility</p:attrName>
                                        </p:attrNameLst>
                                      </p:cBhvr>
                                      <p:to>
                                        <p:strVal val="hidden"/>
                                      </p:to>
                                    </p:set>
                                  </p:childTnLst>
                                </p:cTn>
                              </p:par>
                              <p:par>
                                <p:cTn decel="100000" fill="hold" grpId="1" id="69" nodeType="withEffect" presetClass="exit" presetID="39" presetSubtype="0">
                                  <p:stCondLst>
                                    <p:cond delay="0"/>
                                  </p:stCondLst>
                                  <p:childTnLst>
                                    <p:anim calcmode="lin" valueType="num">
                                      <p:cBhvr>
                                        <p:cTn dur="500" fill="hold" id="70"/>
                                        <p:tgtEl>
                                          <p:spTgt spid="1050195">
                                            <p:txEl>
                                              <p:pRg st="3" end="3"/>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71"/>
                                        <p:tgtEl>
                                          <p:spTgt spid="1050195">
                                            <p:txEl>
                                              <p:pRg st="3" end="3"/>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72"/>
                                        <p:tgtEl>
                                          <p:spTgt spid="1050195">
                                            <p:txEl>
                                              <p:pRg st="3" end="3"/>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73"/>
                                        <p:tgtEl>
                                          <p:spTgt spid="1050195">
                                            <p:txEl>
                                              <p:pRg st="3" end="3"/>
                                            </p:txEl>
                                          </p:spTgt>
                                        </p:tgtEl>
                                        <p:attrNameLst>
                                          <p:attrName>ppt_y</p:attrName>
                                        </p:attrNameLst>
                                      </p:cBhvr>
                                      <p:tavLst>
                                        <p:tav tm="0">
                                          <p:val>
                                            <p:strVal val="ppt_y"/>
                                          </p:val>
                                        </p:tav>
                                        <p:tav tm="100000">
                                          <p:val>
                                            <p:strVal val="ppt_y"/>
                                          </p:val>
                                        </p:tav>
                                      </p:tavLst>
                                    </p:anim>
                                    <p:set>
                                      <p:cBhvr>
                                        <p:cTn dur="1" fill="hold" id="74">
                                          <p:stCondLst>
                                            <p:cond delay="499"/>
                                          </p:stCondLst>
                                        </p:cTn>
                                        <p:tgtEl>
                                          <p:spTgt spid="1050195">
                                            <p:txEl>
                                              <p:pRg st="3" end="3"/>
                                            </p:txEl>
                                          </p:spTgt>
                                        </p:tgtEl>
                                        <p:attrNameLst>
                                          <p:attrName>style.visibility</p:attrName>
                                        </p:attrNameLst>
                                      </p:cBhvr>
                                      <p:to>
                                        <p:strVal val="hidden"/>
                                      </p:to>
                                    </p:set>
                                  </p:childTnLst>
                                </p:cTn>
                              </p:par>
                              <p:par>
                                <p:cTn decel="100000" fill="hold" grpId="1" id="75" nodeType="withEffect" presetClass="exit" presetID="39" presetSubtype="0">
                                  <p:stCondLst>
                                    <p:cond delay="0"/>
                                  </p:stCondLst>
                                  <p:childTnLst>
                                    <p:anim calcmode="lin" valueType="num">
                                      <p:cBhvr>
                                        <p:cTn dur="500" fill="hold" id="76"/>
                                        <p:tgtEl>
                                          <p:spTgt spid="1050195">
                                            <p:txEl>
                                              <p:pRg st="4" end="4"/>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77"/>
                                        <p:tgtEl>
                                          <p:spTgt spid="1050195">
                                            <p:txEl>
                                              <p:pRg st="4" end="4"/>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78"/>
                                        <p:tgtEl>
                                          <p:spTgt spid="1050195">
                                            <p:txEl>
                                              <p:pRg st="4" end="4"/>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79"/>
                                        <p:tgtEl>
                                          <p:spTgt spid="1050195">
                                            <p:txEl>
                                              <p:pRg st="4" end="4"/>
                                            </p:txEl>
                                          </p:spTgt>
                                        </p:tgtEl>
                                        <p:attrNameLst>
                                          <p:attrName>ppt_y</p:attrName>
                                        </p:attrNameLst>
                                      </p:cBhvr>
                                      <p:tavLst>
                                        <p:tav tm="0">
                                          <p:val>
                                            <p:strVal val="ppt_y"/>
                                          </p:val>
                                        </p:tav>
                                        <p:tav tm="100000">
                                          <p:val>
                                            <p:strVal val="ppt_y"/>
                                          </p:val>
                                        </p:tav>
                                      </p:tavLst>
                                    </p:anim>
                                    <p:set>
                                      <p:cBhvr>
                                        <p:cTn dur="1" fill="hold" id="80">
                                          <p:stCondLst>
                                            <p:cond delay="499"/>
                                          </p:stCondLst>
                                        </p:cTn>
                                        <p:tgtEl>
                                          <p:spTgt spid="1050195">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194" grpId="0"/>
      <p:bldP spid="1050194" grpId="1"/>
      <p:bldP spid="1050195" grpId="0" build="p">
        <p:tmplLst>
          <p:tmpl lvl="1">
            <p:tnLst>
              <p:par>
                <p:cTn accel="100000" fill="hold" nodeType="clickEffect" presetClass="entr" presetID="39" presetSubtype="0">
                  <p:stCondLst>
                    <p:cond delay="0"/>
                  </p:stCondLst>
                  <p:childTnLst>
                    <p:set>
                      <p:cBhvr>
                        <p:cTn dur="1" fill="hold">
                          <p:stCondLst>
                            <p:cond delay="0"/>
                          </p:stCondLst>
                        </p:cTn>
                        <p:tgtEl>
                          <p:spTgt spid="1050195"/>
                        </p:tgtEl>
                        <p:attrNameLst>
                          <p:attrName>style.visibility</p:attrName>
                        </p:attrNameLst>
                      </p:cBhvr>
                      <p:to>
                        <p:strVal val="visible"/>
                      </p:to>
                    </p:set>
                    <p:anim calcmode="lin" valueType="num">
                      <p:cBhvr>
                        <p:cTn dur="500" fill="hold"/>
                        <p:tgtEl>
                          <p:spTgt spid="1050195"/>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p:tgtEl>
                          <p:spTgt spid="1050195"/>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p:tgtEl>
                          <p:spTgt spid="1050195"/>
                        </p:tgtEl>
                        <p:attrNameLst>
                          <p:attrName>ppt_x</p:attrName>
                        </p:attrNameLst>
                      </p:cBhvr>
                      <p:tavLst>
                        <p:tav tm="0">
                          <p:val>
                            <p:strVal val="#ppt_x-.3"/>
                          </p:val>
                        </p:tav>
                        <p:tav tm="50000">
                          <p:val>
                            <p:strVal val="#ppt_x"/>
                          </p:val>
                        </p:tav>
                        <p:tav tm="100000">
                          <p:val>
                            <p:strVal val="#ppt_x"/>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childTnLst>
                </p:cTn>
              </p:par>
            </p:tnLst>
          </p:tmpl>
          <p:tmpl lvl="2">
            <p:tnLst>
              <p:par>
                <p:cTn accel="100000" fill="hold" nodeType="withEffect" presetClass="entr" presetID="39" presetSubtype="0">
                  <p:stCondLst>
                    <p:cond delay="0"/>
                  </p:stCondLst>
                  <p:childTnLst>
                    <p:set>
                      <p:cBhvr>
                        <p:cTn dur="1" fill="hold">
                          <p:stCondLst>
                            <p:cond delay="0"/>
                          </p:stCondLst>
                        </p:cTn>
                        <p:tgtEl>
                          <p:spTgt spid="1050195"/>
                        </p:tgtEl>
                        <p:attrNameLst>
                          <p:attrName>style.visibility</p:attrName>
                        </p:attrNameLst>
                      </p:cBhvr>
                      <p:to>
                        <p:strVal val="visible"/>
                      </p:to>
                    </p:set>
                    <p:anim calcmode="lin" valueType="num">
                      <p:cBhvr>
                        <p:cTn dur="500" fill="hold"/>
                        <p:tgtEl>
                          <p:spTgt spid="1050195"/>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p:tgtEl>
                          <p:spTgt spid="1050195"/>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p:tgtEl>
                          <p:spTgt spid="1050195"/>
                        </p:tgtEl>
                        <p:attrNameLst>
                          <p:attrName>ppt_x</p:attrName>
                        </p:attrNameLst>
                      </p:cBhvr>
                      <p:tavLst>
                        <p:tav tm="0">
                          <p:val>
                            <p:strVal val="#ppt_x-.3"/>
                          </p:val>
                        </p:tav>
                        <p:tav tm="50000">
                          <p:val>
                            <p:strVal val="#ppt_x"/>
                          </p:val>
                        </p:tav>
                        <p:tav tm="100000">
                          <p:val>
                            <p:strVal val="#ppt_x"/>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childTnLst>
                </p:cTn>
              </p:par>
            </p:tnLst>
          </p:tmpl>
          <p:tmpl lvl="3">
            <p:tnLst>
              <p:par>
                <p:cTn accel="100000" fill="hold" nodeType="withEffect" presetClass="entr" presetID="39" presetSubtype="0">
                  <p:stCondLst>
                    <p:cond delay="0"/>
                  </p:stCondLst>
                  <p:childTnLst>
                    <p:set>
                      <p:cBhvr>
                        <p:cTn dur="1" fill="hold">
                          <p:stCondLst>
                            <p:cond delay="0"/>
                          </p:stCondLst>
                        </p:cTn>
                        <p:tgtEl>
                          <p:spTgt spid="1050195"/>
                        </p:tgtEl>
                        <p:attrNameLst>
                          <p:attrName>style.visibility</p:attrName>
                        </p:attrNameLst>
                      </p:cBhvr>
                      <p:to>
                        <p:strVal val="visible"/>
                      </p:to>
                    </p:set>
                    <p:anim calcmode="lin" valueType="num">
                      <p:cBhvr>
                        <p:cTn dur="500" fill="hold"/>
                        <p:tgtEl>
                          <p:spTgt spid="1050195"/>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p:tgtEl>
                          <p:spTgt spid="1050195"/>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p:tgtEl>
                          <p:spTgt spid="1050195"/>
                        </p:tgtEl>
                        <p:attrNameLst>
                          <p:attrName>ppt_x</p:attrName>
                        </p:attrNameLst>
                      </p:cBhvr>
                      <p:tavLst>
                        <p:tav tm="0">
                          <p:val>
                            <p:strVal val="#ppt_x-.3"/>
                          </p:val>
                        </p:tav>
                        <p:tav tm="50000">
                          <p:val>
                            <p:strVal val="#ppt_x"/>
                          </p:val>
                        </p:tav>
                        <p:tav tm="100000">
                          <p:val>
                            <p:strVal val="#ppt_x"/>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childTnLst>
                </p:cTn>
              </p:par>
            </p:tnLst>
          </p:tmpl>
          <p:tmpl lvl="4">
            <p:tnLst>
              <p:par>
                <p:cTn accel="100000" fill="hold" nodeType="withEffect" presetClass="entr" presetID="39" presetSubtype="0">
                  <p:stCondLst>
                    <p:cond delay="0"/>
                  </p:stCondLst>
                  <p:childTnLst>
                    <p:set>
                      <p:cBhvr>
                        <p:cTn dur="1" fill="hold">
                          <p:stCondLst>
                            <p:cond delay="0"/>
                          </p:stCondLst>
                        </p:cTn>
                        <p:tgtEl>
                          <p:spTgt spid="1050195"/>
                        </p:tgtEl>
                        <p:attrNameLst>
                          <p:attrName>style.visibility</p:attrName>
                        </p:attrNameLst>
                      </p:cBhvr>
                      <p:to>
                        <p:strVal val="visible"/>
                      </p:to>
                    </p:set>
                    <p:anim calcmode="lin" valueType="num">
                      <p:cBhvr>
                        <p:cTn dur="500" fill="hold"/>
                        <p:tgtEl>
                          <p:spTgt spid="1050195"/>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p:tgtEl>
                          <p:spTgt spid="1050195"/>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p:tgtEl>
                          <p:spTgt spid="1050195"/>
                        </p:tgtEl>
                        <p:attrNameLst>
                          <p:attrName>ppt_x</p:attrName>
                        </p:attrNameLst>
                      </p:cBhvr>
                      <p:tavLst>
                        <p:tav tm="0">
                          <p:val>
                            <p:strVal val="#ppt_x-.3"/>
                          </p:val>
                        </p:tav>
                        <p:tav tm="50000">
                          <p:val>
                            <p:strVal val="#ppt_x"/>
                          </p:val>
                        </p:tav>
                        <p:tav tm="100000">
                          <p:val>
                            <p:strVal val="#ppt_x"/>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childTnLst>
                </p:cTn>
              </p:par>
            </p:tnLst>
          </p:tmpl>
          <p:tmpl lvl="5">
            <p:tnLst>
              <p:par>
                <p:cTn accel="100000" fill="hold" nodeType="withEffect" presetClass="entr" presetID="39" presetSubtype="0">
                  <p:stCondLst>
                    <p:cond delay="0"/>
                  </p:stCondLst>
                  <p:childTnLst>
                    <p:set>
                      <p:cBhvr>
                        <p:cTn dur="1" fill="hold">
                          <p:stCondLst>
                            <p:cond delay="0"/>
                          </p:stCondLst>
                        </p:cTn>
                        <p:tgtEl>
                          <p:spTgt spid="1050195"/>
                        </p:tgtEl>
                        <p:attrNameLst>
                          <p:attrName>style.visibility</p:attrName>
                        </p:attrNameLst>
                      </p:cBhvr>
                      <p:to>
                        <p:strVal val="visible"/>
                      </p:to>
                    </p:set>
                    <p:anim calcmode="lin" valueType="num">
                      <p:cBhvr>
                        <p:cTn dur="500" fill="hold"/>
                        <p:tgtEl>
                          <p:spTgt spid="1050195"/>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p:tgtEl>
                          <p:spTgt spid="1050195"/>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p:tgtEl>
                          <p:spTgt spid="1050195"/>
                        </p:tgtEl>
                        <p:attrNameLst>
                          <p:attrName>ppt_x</p:attrName>
                        </p:attrNameLst>
                      </p:cBhvr>
                      <p:tavLst>
                        <p:tav tm="0">
                          <p:val>
                            <p:strVal val="#ppt_x-.3"/>
                          </p:val>
                        </p:tav>
                        <p:tav tm="50000">
                          <p:val>
                            <p:strVal val="#ppt_x"/>
                          </p:val>
                        </p:tav>
                        <p:tav tm="100000">
                          <p:val>
                            <p:strVal val="#ppt_x"/>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childTnLst>
                </p:cTn>
              </p:par>
            </p:tnLst>
          </p:tmpl>
        </p:tmplLst>
      </p:bldP>
      <p:bldP spid="1050195" grpId="1" build="allAtOnce">
        <p:tmplLst>
          <p:tmpl lvl="1">
            <p:tnLst>
              <p:par>
                <p:cTn decel="100000" fill="hold" nodeType="withEffect" presetClass="exit" presetID="39" presetSubtype="0">
                  <p:stCondLst>
                    <p:cond delay="0"/>
                  </p:stCondLst>
                  <p:childTnLst>
                    <p:anim calcmode="lin" valueType="num">
                      <p:cBhvr>
                        <p:cTn dur="500" fill="hold"/>
                        <p:tgtEl>
                          <p:spTgt spid="1050195"/>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p:tgtEl>
                          <p:spTgt spid="1050195"/>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p:tgtEl>
                          <p:spTgt spid="1050195"/>
                        </p:tgtEl>
                        <p:attrNameLst>
                          <p:attrName>ppt_x</p:attrName>
                        </p:attrNameLst>
                      </p:cBhvr>
                      <p:tavLst>
                        <p:tav tm="0">
                          <p:val>
                            <p:strVal val="ppt_x"/>
                          </p:val>
                        </p:tav>
                        <p:tav tm="50000">
                          <p:val>
                            <p:strVal val="ppt_x"/>
                          </p:val>
                        </p:tav>
                        <p:tav tm="100000">
                          <p:val>
                            <p:strVal val="ppt_x-.3"/>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set>
                      <p:cBhvr>
                        <p:cTn dur="1" fill="hold">
                          <p:stCondLst>
                            <p:cond delay="499"/>
                          </p:stCondLst>
                        </p:cTn>
                        <p:tgtEl>
                          <p:spTgt spid="1050195"/>
                        </p:tgtEl>
                        <p:attrNameLst>
                          <p:attrName>style.visibility</p:attrName>
                        </p:attrNameLst>
                      </p:cBhvr>
                      <p:to>
                        <p:strVal val="hidden"/>
                      </p:to>
                    </p:set>
                  </p:childTnLst>
                </p:cTn>
              </p:par>
            </p:tnLst>
          </p:tmpl>
          <p:tmpl lvl="2">
            <p:tnLst>
              <p:par>
                <p:cTn decel="100000" fill="hold" nodeType="withEffect" presetClass="exit" presetID="39" presetSubtype="0">
                  <p:stCondLst>
                    <p:cond delay="0"/>
                  </p:stCondLst>
                  <p:childTnLst>
                    <p:anim calcmode="lin" valueType="num">
                      <p:cBhvr>
                        <p:cTn dur="500" fill="hold"/>
                        <p:tgtEl>
                          <p:spTgt spid="1050195"/>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p:tgtEl>
                          <p:spTgt spid="1050195"/>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p:tgtEl>
                          <p:spTgt spid="1050195"/>
                        </p:tgtEl>
                        <p:attrNameLst>
                          <p:attrName>ppt_x</p:attrName>
                        </p:attrNameLst>
                      </p:cBhvr>
                      <p:tavLst>
                        <p:tav tm="0">
                          <p:val>
                            <p:strVal val="ppt_x"/>
                          </p:val>
                        </p:tav>
                        <p:tav tm="50000">
                          <p:val>
                            <p:strVal val="ppt_x"/>
                          </p:val>
                        </p:tav>
                        <p:tav tm="100000">
                          <p:val>
                            <p:strVal val="ppt_x-.3"/>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set>
                      <p:cBhvr>
                        <p:cTn dur="1" fill="hold">
                          <p:stCondLst>
                            <p:cond delay="499"/>
                          </p:stCondLst>
                        </p:cTn>
                        <p:tgtEl>
                          <p:spTgt spid="1050195"/>
                        </p:tgtEl>
                        <p:attrNameLst>
                          <p:attrName>style.visibility</p:attrName>
                        </p:attrNameLst>
                      </p:cBhvr>
                      <p:to>
                        <p:strVal val="hidden"/>
                      </p:to>
                    </p:set>
                  </p:childTnLst>
                </p:cTn>
              </p:par>
            </p:tnLst>
          </p:tmpl>
          <p:tmpl lvl="3">
            <p:tnLst>
              <p:par>
                <p:cTn decel="100000" fill="hold" nodeType="withEffect" presetClass="exit" presetID="39" presetSubtype="0">
                  <p:stCondLst>
                    <p:cond delay="0"/>
                  </p:stCondLst>
                  <p:childTnLst>
                    <p:anim calcmode="lin" valueType="num">
                      <p:cBhvr>
                        <p:cTn dur="500" fill="hold"/>
                        <p:tgtEl>
                          <p:spTgt spid="1050195"/>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p:tgtEl>
                          <p:spTgt spid="1050195"/>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p:tgtEl>
                          <p:spTgt spid="1050195"/>
                        </p:tgtEl>
                        <p:attrNameLst>
                          <p:attrName>ppt_x</p:attrName>
                        </p:attrNameLst>
                      </p:cBhvr>
                      <p:tavLst>
                        <p:tav tm="0">
                          <p:val>
                            <p:strVal val="ppt_x"/>
                          </p:val>
                        </p:tav>
                        <p:tav tm="50000">
                          <p:val>
                            <p:strVal val="ppt_x"/>
                          </p:val>
                        </p:tav>
                        <p:tav tm="100000">
                          <p:val>
                            <p:strVal val="ppt_x-.3"/>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set>
                      <p:cBhvr>
                        <p:cTn dur="1" fill="hold">
                          <p:stCondLst>
                            <p:cond delay="499"/>
                          </p:stCondLst>
                        </p:cTn>
                        <p:tgtEl>
                          <p:spTgt spid="1050195"/>
                        </p:tgtEl>
                        <p:attrNameLst>
                          <p:attrName>style.visibility</p:attrName>
                        </p:attrNameLst>
                      </p:cBhvr>
                      <p:to>
                        <p:strVal val="hidden"/>
                      </p:to>
                    </p:set>
                  </p:childTnLst>
                </p:cTn>
              </p:par>
            </p:tnLst>
          </p:tmpl>
          <p:tmpl lvl="4">
            <p:tnLst>
              <p:par>
                <p:cTn decel="100000" fill="hold" nodeType="withEffect" presetClass="exit" presetID="39" presetSubtype="0">
                  <p:stCondLst>
                    <p:cond delay="0"/>
                  </p:stCondLst>
                  <p:childTnLst>
                    <p:anim calcmode="lin" valueType="num">
                      <p:cBhvr>
                        <p:cTn dur="500" fill="hold"/>
                        <p:tgtEl>
                          <p:spTgt spid="1050195"/>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p:tgtEl>
                          <p:spTgt spid="1050195"/>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p:tgtEl>
                          <p:spTgt spid="1050195"/>
                        </p:tgtEl>
                        <p:attrNameLst>
                          <p:attrName>ppt_x</p:attrName>
                        </p:attrNameLst>
                      </p:cBhvr>
                      <p:tavLst>
                        <p:tav tm="0">
                          <p:val>
                            <p:strVal val="ppt_x"/>
                          </p:val>
                        </p:tav>
                        <p:tav tm="50000">
                          <p:val>
                            <p:strVal val="ppt_x"/>
                          </p:val>
                        </p:tav>
                        <p:tav tm="100000">
                          <p:val>
                            <p:strVal val="ppt_x-.3"/>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set>
                      <p:cBhvr>
                        <p:cTn dur="1" fill="hold">
                          <p:stCondLst>
                            <p:cond delay="499"/>
                          </p:stCondLst>
                        </p:cTn>
                        <p:tgtEl>
                          <p:spTgt spid="1050195"/>
                        </p:tgtEl>
                        <p:attrNameLst>
                          <p:attrName>style.visibility</p:attrName>
                        </p:attrNameLst>
                      </p:cBhvr>
                      <p:to>
                        <p:strVal val="hidden"/>
                      </p:to>
                    </p:set>
                  </p:childTnLst>
                </p:cTn>
              </p:par>
            </p:tnLst>
          </p:tmpl>
          <p:tmpl lvl="5">
            <p:tnLst>
              <p:par>
                <p:cTn decel="100000" fill="hold" nodeType="withEffect" presetClass="exit" presetID="39" presetSubtype="0">
                  <p:stCondLst>
                    <p:cond delay="0"/>
                  </p:stCondLst>
                  <p:childTnLst>
                    <p:anim calcmode="lin" valueType="num">
                      <p:cBhvr>
                        <p:cTn dur="500" fill="hold"/>
                        <p:tgtEl>
                          <p:spTgt spid="1050195"/>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p:tgtEl>
                          <p:spTgt spid="1050195"/>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p:tgtEl>
                          <p:spTgt spid="1050195"/>
                        </p:tgtEl>
                        <p:attrNameLst>
                          <p:attrName>ppt_x</p:attrName>
                        </p:attrNameLst>
                      </p:cBhvr>
                      <p:tavLst>
                        <p:tav tm="0">
                          <p:val>
                            <p:strVal val="ppt_x"/>
                          </p:val>
                        </p:tav>
                        <p:tav tm="50000">
                          <p:val>
                            <p:strVal val="ppt_x"/>
                          </p:val>
                        </p:tav>
                        <p:tav tm="100000">
                          <p:val>
                            <p:strVal val="ppt_x-.3"/>
                          </p:val>
                        </p:tav>
                      </p:tavLst>
                    </p:anim>
                    <p:anim calcmode="lin" valueType="num">
                      <p:cBhvr>
                        <p:cTn dur="500" fill="hold"/>
                        <p:tgtEl>
                          <p:spTgt spid="1050195"/>
                        </p:tgtEl>
                        <p:attrNameLst>
                          <p:attrName>ppt_y</p:attrName>
                        </p:attrNameLst>
                      </p:cBhvr>
                      <p:tavLst>
                        <p:tav tm="0">
                          <p:val>
                            <p:strVal val="ppt_y"/>
                          </p:val>
                        </p:tav>
                        <p:tav tm="100000">
                          <p:val>
                            <p:strVal val="ppt_y"/>
                          </p:val>
                        </p:tav>
                      </p:tavLst>
                    </p:anim>
                    <p:set>
                      <p:cBhvr>
                        <p:cTn dur="1" fill="hold">
                          <p:stCondLst>
                            <p:cond delay="499"/>
                          </p:stCondLst>
                        </p:cTn>
                        <p:tgtEl>
                          <p:spTgt spid="1050195"/>
                        </p:tgtEl>
                        <p:attrNameLst>
                          <p:attrName>style.visibility</p:attrName>
                        </p:attrNameLst>
                      </p:cBhvr>
                      <p:to>
                        <p:strVal val="hidden"/>
                      </p:to>
                    </p:set>
                  </p:childTnLst>
                </p:cTn>
              </p:par>
            </p:tnLst>
          </p:tmpl>
        </p:tmplLst>
      </p:bldP>
    </p:bldLst>
  </p:timing>
  <p:hf dt="0" hdr="0" sldNum="0"/>
  <p:txStyles>
    <p:titleStyle>
      <a:lvl1pPr algn="ctr" eaLnBrk="1" fontAlgn="base" hangingPunct="1" rtl="0">
        <a:spcBef>
          <a:spcPct val="0"/>
        </a:spcBef>
        <a:spcAft>
          <a:spcPct val="0"/>
        </a:spcAft>
        <a:defRPr b="1" sz="4400">
          <a:solidFill>
            <a:schemeClr val="tx2"/>
          </a:solidFill>
          <a:effectLst>
            <a:outerShdw algn="tl" blurRad="38100" dir="2700000" dist="38100">
              <a:srgbClr val="000000"/>
            </a:outerShdw>
          </a:effectLst>
          <a:latin typeface="+mj-lt"/>
          <a:ea typeface="+mj-ea"/>
          <a:cs typeface="+mj-cs"/>
        </a:defRPr>
      </a:lvl1pPr>
      <a:lvl2pPr algn="ctr" eaLnBrk="1" fontAlgn="base" hangingPunct="1" rtl="0">
        <a:spcBef>
          <a:spcPct val="0"/>
        </a:spcBef>
        <a:spcAft>
          <a:spcPct val="0"/>
        </a:spcAft>
        <a:defRPr b="1" sz="4400">
          <a:solidFill>
            <a:schemeClr val="tx2"/>
          </a:solidFill>
          <a:effectLst>
            <a:outerShdw algn="tl" blurRad="38100" dir="2700000" dist="38100">
              <a:srgbClr val="000000"/>
            </a:outerShdw>
          </a:effectLst>
          <a:latin typeface="Times New Roman" pitchFamily="18" charset="0"/>
        </a:defRPr>
      </a:lvl2pPr>
      <a:lvl3pPr algn="ctr" eaLnBrk="1" fontAlgn="base" hangingPunct="1" rtl="0">
        <a:spcBef>
          <a:spcPct val="0"/>
        </a:spcBef>
        <a:spcAft>
          <a:spcPct val="0"/>
        </a:spcAft>
        <a:defRPr b="1" sz="4400">
          <a:solidFill>
            <a:schemeClr val="tx2"/>
          </a:solidFill>
          <a:effectLst>
            <a:outerShdw algn="tl" blurRad="38100" dir="2700000" dist="38100">
              <a:srgbClr val="000000"/>
            </a:outerShdw>
          </a:effectLst>
          <a:latin typeface="Times New Roman" pitchFamily="18" charset="0"/>
        </a:defRPr>
      </a:lvl3pPr>
      <a:lvl4pPr algn="ctr" eaLnBrk="1" fontAlgn="base" hangingPunct="1" rtl="0">
        <a:spcBef>
          <a:spcPct val="0"/>
        </a:spcBef>
        <a:spcAft>
          <a:spcPct val="0"/>
        </a:spcAft>
        <a:defRPr b="1" sz="4400">
          <a:solidFill>
            <a:schemeClr val="tx2"/>
          </a:solidFill>
          <a:effectLst>
            <a:outerShdw algn="tl" blurRad="38100" dir="2700000" dist="38100">
              <a:srgbClr val="000000"/>
            </a:outerShdw>
          </a:effectLst>
          <a:latin typeface="Times New Roman" pitchFamily="18" charset="0"/>
        </a:defRPr>
      </a:lvl4pPr>
      <a:lvl5pPr algn="ctr" eaLnBrk="1" fontAlgn="base" hangingPunct="1" rtl="0">
        <a:spcBef>
          <a:spcPct val="0"/>
        </a:spcBef>
        <a:spcAft>
          <a:spcPct val="0"/>
        </a:spcAft>
        <a:defRPr b="1" sz="4400">
          <a:solidFill>
            <a:schemeClr val="tx2"/>
          </a:solidFill>
          <a:effectLst>
            <a:outerShdw algn="tl" blurRad="38100" dir="2700000" dist="38100">
              <a:srgbClr val="000000"/>
            </a:outerShdw>
          </a:effectLst>
          <a:latin typeface="Times New Roman" pitchFamily="18" charset="0"/>
        </a:defRPr>
      </a:lvl5pPr>
      <a:lvl6pPr algn="ctr" eaLnBrk="1" fontAlgn="base" hangingPunct="1" marL="457200" rtl="0">
        <a:spcBef>
          <a:spcPct val="0"/>
        </a:spcBef>
        <a:spcAft>
          <a:spcPct val="0"/>
        </a:spcAft>
        <a:defRPr b="1" sz="4400">
          <a:solidFill>
            <a:schemeClr val="tx2"/>
          </a:solidFill>
          <a:effectLst>
            <a:outerShdw algn="tl" blurRad="38100" dir="2700000" dist="38100">
              <a:srgbClr val="000000"/>
            </a:outerShdw>
          </a:effectLst>
          <a:latin typeface="Times New Roman" pitchFamily="18" charset="0"/>
        </a:defRPr>
      </a:lvl6pPr>
      <a:lvl7pPr algn="ctr" eaLnBrk="1" fontAlgn="base" hangingPunct="1" marL="914400" rtl="0">
        <a:spcBef>
          <a:spcPct val="0"/>
        </a:spcBef>
        <a:spcAft>
          <a:spcPct val="0"/>
        </a:spcAft>
        <a:defRPr b="1" sz="4400">
          <a:solidFill>
            <a:schemeClr val="tx2"/>
          </a:solidFill>
          <a:effectLst>
            <a:outerShdw algn="tl" blurRad="38100" dir="2700000" dist="38100">
              <a:srgbClr val="000000"/>
            </a:outerShdw>
          </a:effectLst>
          <a:latin typeface="Times New Roman" pitchFamily="18" charset="0"/>
        </a:defRPr>
      </a:lvl7pPr>
      <a:lvl8pPr algn="ctr" eaLnBrk="1" fontAlgn="base" hangingPunct="1" marL="1371600" rtl="0">
        <a:spcBef>
          <a:spcPct val="0"/>
        </a:spcBef>
        <a:spcAft>
          <a:spcPct val="0"/>
        </a:spcAft>
        <a:defRPr b="1" sz="4400">
          <a:solidFill>
            <a:schemeClr val="tx2"/>
          </a:solidFill>
          <a:effectLst>
            <a:outerShdw algn="tl" blurRad="38100" dir="2700000" dist="38100">
              <a:srgbClr val="000000"/>
            </a:outerShdw>
          </a:effectLst>
          <a:latin typeface="Times New Roman" pitchFamily="18" charset="0"/>
        </a:defRPr>
      </a:lvl8pPr>
      <a:lvl9pPr algn="ctr" eaLnBrk="1" fontAlgn="base" hangingPunct="1" marL="1828800" rtl="0">
        <a:spcBef>
          <a:spcPct val="0"/>
        </a:spcBef>
        <a:spcAft>
          <a:spcPct val="0"/>
        </a:spcAft>
        <a:defRPr b="1" sz="4400">
          <a:solidFill>
            <a:schemeClr val="tx2"/>
          </a:solidFill>
          <a:effectLst>
            <a:outerShdw algn="tl" blurRad="38100" dir="2700000" dist="38100">
              <a:srgbClr val="000000"/>
            </a:outerShdw>
          </a:effectLst>
          <a:latin typeface="Times New Roman" pitchFamily="18" charset="0"/>
        </a:defRPr>
      </a:lvl9pPr>
    </p:titleStyle>
    <p:bodyStyle>
      <a:lvl1pPr algn="l" eaLnBrk="1" fontAlgn="base" hangingPunct="1" indent="-342900" marL="342900" rtl="0">
        <a:spcBef>
          <a:spcPct val="20000"/>
        </a:spcBef>
        <a:spcAft>
          <a:spcPct val="0"/>
        </a:spcAft>
        <a:buClr>
          <a:schemeClr val="hlink"/>
        </a:buClr>
        <a:buSzPct val="60000"/>
        <a:buFont typeface="Wingdings" pitchFamily="2" charset="2"/>
        <a:buChar char="n"/>
        <a:defRPr sz="3200">
          <a:solidFill>
            <a:schemeClr val="tx1"/>
          </a:solidFill>
          <a:effectLst>
            <a:outerShdw algn="tl" blurRad="38100" dir="2700000" dist="38100">
              <a:srgbClr val="000000"/>
            </a:outerShdw>
          </a:effectLst>
          <a:latin typeface="+mn-lt"/>
          <a:ea typeface="+mn-ea"/>
          <a:cs typeface="+mn-cs"/>
        </a:defRPr>
      </a:lvl1pPr>
      <a:lvl2pPr algn="l" eaLnBrk="1" fontAlgn="base" hangingPunct="1" indent="-285750" marL="742950" rtl="0">
        <a:spcBef>
          <a:spcPct val="20000"/>
        </a:spcBef>
        <a:spcAft>
          <a:spcPct val="0"/>
        </a:spcAft>
        <a:buClr>
          <a:schemeClr val="tx2"/>
        </a:buClr>
        <a:buSzPct val="60000"/>
        <a:buFont typeface="Wingdings" pitchFamily="2" charset="2"/>
        <a:buChar char="n"/>
        <a:defRPr sz="2800">
          <a:solidFill>
            <a:schemeClr val="tx1"/>
          </a:solidFill>
          <a:effectLst>
            <a:outerShdw algn="tl" blurRad="38100" dir="2700000" dist="38100">
              <a:srgbClr val="000000"/>
            </a:outerShdw>
          </a:effectLst>
          <a:latin typeface="+mn-lt"/>
        </a:defRPr>
      </a:lvl2pPr>
      <a:lvl3pPr algn="l" eaLnBrk="1" fontAlgn="base" hangingPunct="1" indent="-228600" marL="1143000" rtl="0">
        <a:spcBef>
          <a:spcPct val="20000"/>
        </a:spcBef>
        <a:spcAft>
          <a:spcPct val="0"/>
        </a:spcAft>
        <a:buClr>
          <a:schemeClr val="folHlink"/>
        </a:buClr>
        <a:buSzPct val="60000"/>
        <a:buFont typeface="Wingdings" pitchFamily="2" charset="2"/>
        <a:buChar char="n"/>
        <a:defRPr sz="2400">
          <a:solidFill>
            <a:schemeClr val="tx1"/>
          </a:solidFill>
          <a:effectLst>
            <a:outerShdw algn="tl" blurRad="38100" dir="2700000" dist="38100">
              <a:srgbClr val="000000"/>
            </a:outerShdw>
          </a:effectLst>
          <a:latin typeface="+mn-lt"/>
        </a:defRPr>
      </a:lvl3pPr>
      <a:lvl4pPr algn="l" eaLnBrk="1" fontAlgn="base" hangingPunct="1" indent="-228600" marL="1600200" rtl="0">
        <a:spcBef>
          <a:spcPct val="20000"/>
        </a:spcBef>
        <a:spcAft>
          <a:spcPct val="0"/>
        </a:spcAft>
        <a:buClr>
          <a:schemeClr val="tx1"/>
        </a:buClr>
        <a:buSzPct val="60000"/>
        <a:buFont typeface="Wingdings" pitchFamily="2" charset="2"/>
        <a:buChar char="n"/>
        <a:defRPr sz="2000">
          <a:solidFill>
            <a:schemeClr val="tx1"/>
          </a:solidFill>
          <a:effectLst>
            <a:outerShdw algn="tl" blurRad="38100" dir="2700000" dist="38100">
              <a:srgbClr val="000000"/>
            </a:outerShdw>
          </a:effectLst>
          <a:latin typeface="+mn-lt"/>
        </a:defRPr>
      </a:lvl4pPr>
      <a:lvl5pPr algn="l" eaLnBrk="1" fontAlgn="base" hangingPunct="1" indent="-228600" marL="2057400" rtl="0">
        <a:spcBef>
          <a:spcPct val="20000"/>
        </a:spcBef>
        <a:spcAft>
          <a:spcPct val="0"/>
        </a:spcAft>
        <a:buClr>
          <a:schemeClr val="hlink"/>
        </a:buClr>
        <a:buSzPct val="60000"/>
        <a:buFont typeface="Wingdings" pitchFamily="2" charset="2"/>
        <a:buChar char="n"/>
        <a:defRPr sz="2000">
          <a:solidFill>
            <a:schemeClr val="tx1"/>
          </a:solidFill>
          <a:effectLst>
            <a:outerShdw algn="tl" blurRad="38100" dir="2700000" dist="38100">
              <a:srgbClr val="000000"/>
            </a:outerShdw>
          </a:effectLst>
          <a:latin typeface="+mn-lt"/>
        </a:defRPr>
      </a:lvl5pPr>
      <a:lvl6pPr algn="l" eaLnBrk="1" fontAlgn="base" hangingPunct="1" indent="-228600" marL="2514600" rtl="0">
        <a:spcBef>
          <a:spcPct val="20000"/>
        </a:spcBef>
        <a:spcAft>
          <a:spcPct val="0"/>
        </a:spcAft>
        <a:buClr>
          <a:schemeClr val="hlink"/>
        </a:buClr>
        <a:buSzPct val="60000"/>
        <a:buFont typeface="Wingdings" pitchFamily="2" charset="2"/>
        <a:buChar char="n"/>
        <a:defRPr sz="2000">
          <a:solidFill>
            <a:schemeClr val="tx1"/>
          </a:solidFill>
          <a:effectLst>
            <a:outerShdw algn="tl" blurRad="38100" dir="2700000" dist="38100">
              <a:srgbClr val="000000"/>
            </a:outerShdw>
          </a:effectLst>
          <a:latin typeface="+mn-lt"/>
        </a:defRPr>
      </a:lvl6pPr>
      <a:lvl7pPr algn="l" eaLnBrk="1" fontAlgn="base" hangingPunct="1" indent="-228600" marL="2971800" rtl="0">
        <a:spcBef>
          <a:spcPct val="20000"/>
        </a:spcBef>
        <a:spcAft>
          <a:spcPct val="0"/>
        </a:spcAft>
        <a:buClr>
          <a:schemeClr val="hlink"/>
        </a:buClr>
        <a:buSzPct val="60000"/>
        <a:buFont typeface="Wingdings" pitchFamily="2" charset="2"/>
        <a:buChar char="n"/>
        <a:defRPr sz="2000">
          <a:solidFill>
            <a:schemeClr val="tx1"/>
          </a:solidFill>
          <a:effectLst>
            <a:outerShdw algn="tl" blurRad="38100" dir="2700000" dist="38100">
              <a:srgbClr val="000000"/>
            </a:outerShdw>
          </a:effectLst>
          <a:latin typeface="+mn-lt"/>
        </a:defRPr>
      </a:lvl7pPr>
      <a:lvl8pPr algn="l" eaLnBrk="1" fontAlgn="base" hangingPunct="1" indent="-228600" marL="3429000" rtl="0">
        <a:spcBef>
          <a:spcPct val="20000"/>
        </a:spcBef>
        <a:spcAft>
          <a:spcPct val="0"/>
        </a:spcAft>
        <a:buClr>
          <a:schemeClr val="hlink"/>
        </a:buClr>
        <a:buSzPct val="60000"/>
        <a:buFont typeface="Wingdings" pitchFamily="2" charset="2"/>
        <a:buChar char="n"/>
        <a:defRPr sz="2000">
          <a:solidFill>
            <a:schemeClr val="tx1"/>
          </a:solidFill>
          <a:effectLst>
            <a:outerShdw algn="tl" blurRad="38100" dir="2700000" dist="38100">
              <a:srgbClr val="000000"/>
            </a:outerShdw>
          </a:effectLst>
          <a:latin typeface="+mn-lt"/>
        </a:defRPr>
      </a:lvl8pPr>
      <a:lvl9pPr algn="l" eaLnBrk="1" fontAlgn="base" hangingPunct="1" indent="-228600" marL="3886200" rtl="0">
        <a:spcBef>
          <a:spcPct val="20000"/>
        </a:spcBef>
        <a:spcAft>
          <a:spcPct val="0"/>
        </a:spcAft>
        <a:buClr>
          <a:schemeClr val="hlink"/>
        </a:buClr>
        <a:buSzPct val="60000"/>
        <a:buFont typeface="Wingdings" pitchFamily="2" charset="2"/>
        <a:buChar char="n"/>
        <a:defRPr sz="2000">
          <a:solidFill>
            <a:schemeClr val="tx1"/>
          </a:solidFill>
          <a:effectLst>
            <a:outerShdw algn="tl" blurRad="38100" dir="2700000" dist="38100">
              <a:srgbClr val="000000"/>
            </a:outerShdw>
          </a:effectLst>
          <a:latin typeface="+mn-lt"/>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30" name=""/>
        <p:cNvGrpSpPr/>
        <p:nvPr/>
      </p:nvGrpSpPr>
      <p:grpSpPr>
        <a:xfrm>
          <a:off x="0" y="0"/>
          <a:ext cx="0" cy="0"/>
          <a:chOff x="0" y="0"/>
          <a:chExt cx="0" cy="0"/>
        </a:xfrm>
      </p:grpSpPr>
      <p:sp>
        <p:nvSpPr>
          <p:cNvPr id="1050113" name="Rectangle 8"/>
          <p:cNvSpPr/>
          <p:nvPr/>
        </p:nvSpPr>
        <p:spPr>
          <a:xfrm>
            <a:off x="0" y="0"/>
            <a:ext cx="11430000" cy="6858000"/>
          </a:xfrm>
          <a:prstGeom prst="rect"/>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useBgFill="1">
        <p:nvSpPr>
          <p:cNvPr id="1050114" name="Rounded Rectangle 7"/>
          <p:cNvSpPr/>
          <p:nvPr/>
        </p:nvSpPr>
        <p:spPr>
          <a:xfrm>
            <a:off x="80014" y="69755"/>
            <a:ext cx="11266716"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p>
            <a:pPr algn="ctr" eaLnBrk="1" hangingPunct="1" latinLnBrk="0"/>
            <a:endParaRPr kumimoji="0" lang="en-US"/>
          </a:p>
        </p:txBody>
      </p:sp>
      <p:sp>
        <p:nvSpPr>
          <p:cNvPr id="1050115" name="Title Placeholder 21"/>
          <p:cNvSpPr>
            <a:spLocks noGrp="1"/>
          </p:cNvSpPr>
          <p:nvPr>
            <p:ph type="title"/>
          </p:nvPr>
        </p:nvSpPr>
        <p:spPr>
          <a:xfrm>
            <a:off x="1143000" y="274639"/>
            <a:ext cx="9715500" cy="1143000"/>
          </a:xfrm>
          <a:prstGeom prst="rect"/>
        </p:spPr>
        <p:txBody>
          <a:bodyPr anchor="b" anchorCtr="0" bIns="91440">
            <a:normAutofit/>
          </a:bodyPr>
          <a:p>
            <a:r>
              <a:rPr kumimoji="0" lang="en-US" smtClean="0"/>
              <a:t>Click to edit Master title style</a:t>
            </a:r>
            <a:endParaRPr kumimoji="0" lang="en-US"/>
          </a:p>
        </p:txBody>
      </p:sp>
      <p:sp>
        <p:nvSpPr>
          <p:cNvPr id="1050116" name="Text Placeholder 12"/>
          <p:cNvSpPr>
            <a:spLocks noGrp="1"/>
          </p:cNvSpPr>
          <p:nvPr>
            <p:ph type="body" idx="1"/>
          </p:nvPr>
        </p:nvSpPr>
        <p:spPr>
          <a:xfrm>
            <a:off x="1143000" y="1447800"/>
            <a:ext cx="9715500" cy="4572000"/>
          </a:xfrm>
          <a:prstGeom prst="rect"/>
        </p:spPr>
        <p:txBody>
          <a:bodyPr>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50117" name="Date Placeholder 13"/>
          <p:cNvSpPr>
            <a:spLocks noGrp="1"/>
          </p:cNvSpPr>
          <p:nvPr>
            <p:ph type="dt" sz="half" idx="2"/>
          </p:nvPr>
        </p:nvSpPr>
        <p:spPr>
          <a:xfrm>
            <a:off x="7715255" y="6191256"/>
            <a:ext cx="3095625" cy="476251"/>
          </a:xfrm>
          <a:prstGeom prst="rect"/>
        </p:spPr>
        <p:txBody>
          <a:bodyPr anchor="ctr" anchorCtr="0"/>
          <a:lstStyle>
            <a:lvl1pPr algn="r" eaLnBrk="1" hangingPunct="1" latinLnBrk="0">
              <a:defRPr sz="1400" kumimoji="0">
                <a:solidFill>
                  <a:schemeClr val="tx2"/>
                </a:solidFill>
              </a:defRPr>
            </a:lvl1pPr>
          </a:lstStyle>
          <a:p>
            <a:fld id="{2C0C862C-2D65-4B92-BDF0-70405772565D}" type="datetime1">
              <a:rPr lang="en-US" smtClean="0"/>
            </a:fld>
            <a:endParaRPr lang="en-US"/>
          </a:p>
        </p:txBody>
      </p:sp>
      <p:sp>
        <p:nvSpPr>
          <p:cNvPr id="1050118" name="Footer Placeholder 2"/>
          <p:cNvSpPr>
            <a:spLocks noGrp="1"/>
          </p:cNvSpPr>
          <p:nvPr>
            <p:ph type="ftr" sz="quarter" idx="3"/>
          </p:nvPr>
        </p:nvSpPr>
        <p:spPr>
          <a:xfrm>
            <a:off x="1143001" y="6172200"/>
            <a:ext cx="4953000" cy="457200"/>
          </a:xfrm>
          <a:prstGeom prst="rect"/>
        </p:spPr>
        <p:txBody>
          <a:bodyPr anchor="ctr" anchorCtr="0"/>
          <a:lstStyle>
            <a:lvl1pPr eaLnBrk="1" hangingPunct="1" latinLnBrk="0">
              <a:defRPr sz="1400" kumimoji="0">
                <a:solidFill>
                  <a:schemeClr val="tx2"/>
                </a:solidFill>
              </a:defRPr>
            </a:lvl1pPr>
          </a:lstStyle>
          <a:p>
            <a:r>
              <a:rPr lang="en-US" smtClean="0"/>
              <a:t>@MUSOVYA2017</a:t>
            </a:r>
            <a:endParaRPr lang="en-US"/>
          </a:p>
        </p:txBody>
      </p:sp>
      <p:sp>
        <p:nvSpPr>
          <p:cNvPr id="1050119" name="Slide Number Placeholder 22"/>
          <p:cNvSpPr>
            <a:spLocks noGrp="1"/>
          </p:cNvSpPr>
          <p:nvPr>
            <p:ph type="sldNum" sz="quarter" idx="4"/>
          </p:nvPr>
        </p:nvSpPr>
        <p:spPr>
          <a:xfrm>
            <a:off x="182880" y="6210300"/>
            <a:ext cx="571500" cy="457200"/>
          </a:xfrm>
          <a:prstGeom prst="ellipse"/>
          <a:solidFill>
            <a:schemeClr val="accent1"/>
          </a:solidFill>
        </p:spPr>
        <p:txBody>
          <a:bodyPr anchor="ctr" anchorCtr="1" bIns="0" lIns="0" rIns="0" tIns="0" wrap="none">
            <a:noAutofit/>
          </a:bodyPr>
          <a:lstStyle>
            <a:lvl1pPr algn="ctr" eaLnBrk="1" hangingPunct="1" latinLnBrk="0">
              <a:defRPr sz="1400" kumimoji="0">
                <a:solidFill>
                  <a:srgbClr val="FFFFFF"/>
                </a:solidFill>
                <a:latin typeface="+mj-lt"/>
                <a:ea typeface="+mj-ea"/>
                <a:cs typeface="+mj-cs"/>
              </a:defRPr>
            </a:lvl1pPr>
          </a:lstStyle>
          <a:p>
            <a:fld id="{539D2A76-69E3-4600-8808-3C1A10934549}"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Lst>
  <p:transition xmlns:p14="http://schemas.microsoft.com/office/powerpoint/2010/main">
    <p:fade thruBlk="1"/>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accel="100000" fill="hold" grpId="0" id="5" nodeType="withEffect" presetClass="entr" presetID="39" presetSubtype="0">
                                  <p:stCondLst>
                                    <p:cond delay="0"/>
                                  </p:stCondLst>
                                  <p:childTnLst>
                                    <p:set>
                                      <p:cBhvr>
                                        <p:cTn dur="1" fill="hold" id="6">
                                          <p:stCondLst>
                                            <p:cond delay="0"/>
                                          </p:stCondLst>
                                        </p:cTn>
                                        <p:tgtEl>
                                          <p:spTgt spid="1050115"/>
                                        </p:tgtEl>
                                        <p:attrNameLst>
                                          <p:attrName>style.visibility</p:attrName>
                                        </p:attrNameLst>
                                      </p:cBhvr>
                                      <p:to>
                                        <p:strVal val="visible"/>
                                      </p:to>
                                    </p:set>
                                    <p:anim calcmode="lin" valueType="num">
                                      <p:cBhvr>
                                        <p:cTn dur="500" fill="hold" id="7"/>
                                        <p:tgtEl>
                                          <p:spTgt spid="1050115"/>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8"/>
                                        <p:tgtEl>
                                          <p:spTgt spid="1050115"/>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9"/>
                                        <p:tgtEl>
                                          <p:spTgt spid="1050115"/>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10"/>
                                        <p:tgtEl>
                                          <p:spTgt spid="1050115"/>
                                        </p:tgtEl>
                                        <p:attrNameLst>
                                          <p:attrName>ppt_y</p:attrName>
                                        </p:attrNameLst>
                                      </p:cBhvr>
                                      <p:tavLst>
                                        <p:tav tm="0">
                                          <p:val>
                                            <p:strVal val="#ppt_y"/>
                                          </p:val>
                                        </p:tav>
                                        <p:tav tm="100000">
                                          <p:val>
                                            <p:strVal val="#ppt_y"/>
                                          </p:val>
                                        </p:tav>
                                      </p:tavLst>
                                    </p:anim>
                                  </p:childTnLst>
                                </p:cTn>
                              </p:par>
                            </p:childTnLst>
                          </p:cTn>
                        </p:par>
                      </p:childTnLst>
                    </p:cTn>
                  </p:par>
                  <p:par>
                    <p:cTn fill="hold" id="11">
                      <p:stCondLst>
                        <p:cond delay="indefinite"/>
                      </p:stCondLst>
                      <p:childTnLst>
                        <p:par>
                          <p:cTn fill="hold" id="12">
                            <p:stCondLst>
                              <p:cond delay="0"/>
                            </p:stCondLst>
                            <p:childTnLst>
                              <p:par>
                                <p:cTn accel="100000" fill="hold" grpId="0" id="13" nodeType="clickEffect" presetClass="entr" presetID="39" presetSubtype="0">
                                  <p:stCondLst>
                                    <p:cond delay="0"/>
                                  </p:stCondLst>
                                  <p:childTnLst>
                                    <p:set>
                                      <p:cBhvr>
                                        <p:cTn dur="1" fill="hold" id="14">
                                          <p:stCondLst>
                                            <p:cond delay="0"/>
                                          </p:stCondLst>
                                        </p:cTn>
                                        <p:tgtEl>
                                          <p:spTgt spid="1050116">
                                            <p:txEl>
                                              <p:pRg st="0" end="0"/>
                                            </p:txEl>
                                          </p:spTgt>
                                        </p:tgtEl>
                                        <p:attrNameLst>
                                          <p:attrName>style.visibility</p:attrName>
                                        </p:attrNameLst>
                                      </p:cBhvr>
                                      <p:to>
                                        <p:strVal val="visible"/>
                                      </p:to>
                                    </p:set>
                                    <p:anim calcmode="lin" valueType="num">
                                      <p:cBhvr>
                                        <p:cTn dur="500" fill="hold" id="15"/>
                                        <p:tgtEl>
                                          <p:spTgt spid="105011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16"/>
                                        <p:tgtEl>
                                          <p:spTgt spid="105011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17"/>
                                        <p:tgtEl>
                                          <p:spTgt spid="105011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18"/>
                                        <p:tgtEl>
                                          <p:spTgt spid="1050116">
                                            <p:txEl>
                                              <p:pRg st="0" end="0"/>
                                            </p:txEl>
                                          </p:spTgt>
                                        </p:tgtEl>
                                        <p:attrNameLst>
                                          <p:attrName>ppt_y</p:attrName>
                                        </p:attrNameLst>
                                      </p:cBhvr>
                                      <p:tavLst>
                                        <p:tav tm="0">
                                          <p:val>
                                            <p:strVal val="#ppt_y"/>
                                          </p:val>
                                        </p:tav>
                                        <p:tav tm="100000">
                                          <p:val>
                                            <p:strVal val="#ppt_y"/>
                                          </p:val>
                                        </p:tav>
                                      </p:tavLst>
                                    </p:anim>
                                  </p:childTnLst>
                                </p:cTn>
                              </p:par>
                              <p:par>
                                <p:cTn accel="100000" fill="hold" grpId="0" id="19" nodeType="withEffect" presetClass="entr" presetID="39" presetSubtype="0">
                                  <p:stCondLst>
                                    <p:cond delay="0"/>
                                  </p:stCondLst>
                                  <p:childTnLst>
                                    <p:set>
                                      <p:cBhvr>
                                        <p:cTn dur="1" fill="hold" id="20">
                                          <p:stCondLst>
                                            <p:cond delay="0"/>
                                          </p:stCondLst>
                                        </p:cTn>
                                        <p:tgtEl>
                                          <p:spTgt spid="1050116">
                                            <p:txEl>
                                              <p:pRg st="1" end="1"/>
                                            </p:txEl>
                                          </p:spTgt>
                                        </p:tgtEl>
                                        <p:attrNameLst>
                                          <p:attrName>style.visibility</p:attrName>
                                        </p:attrNameLst>
                                      </p:cBhvr>
                                      <p:to>
                                        <p:strVal val="visible"/>
                                      </p:to>
                                    </p:set>
                                    <p:anim calcmode="lin" valueType="num">
                                      <p:cBhvr>
                                        <p:cTn dur="500" fill="hold" id="21"/>
                                        <p:tgtEl>
                                          <p:spTgt spid="1050116">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22"/>
                                        <p:tgtEl>
                                          <p:spTgt spid="1050116">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23"/>
                                        <p:tgtEl>
                                          <p:spTgt spid="1050116">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24"/>
                                        <p:tgtEl>
                                          <p:spTgt spid="1050116">
                                            <p:txEl>
                                              <p:pRg st="1" end="1"/>
                                            </p:txEl>
                                          </p:spTgt>
                                        </p:tgtEl>
                                        <p:attrNameLst>
                                          <p:attrName>ppt_y</p:attrName>
                                        </p:attrNameLst>
                                      </p:cBhvr>
                                      <p:tavLst>
                                        <p:tav tm="0">
                                          <p:val>
                                            <p:strVal val="#ppt_y"/>
                                          </p:val>
                                        </p:tav>
                                        <p:tav tm="100000">
                                          <p:val>
                                            <p:strVal val="#ppt_y"/>
                                          </p:val>
                                        </p:tav>
                                      </p:tavLst>
                                    </p:anim>
                                  </p:childTnLst>
                                </p:cTn>
                              </p:par>
                              <p:par>
                                <p:cTn accel="100000" fill="hold" grpId="0" id="25" nodeType="withEffect" presetClass="entr" presetID="39" presetSubtype="0">
                                  <p:stCondLst>
                                    <p:cond delay="0"/>
                                  </p:stCondLst>
                                  <p:childTnLst>
                                    <p:set>
                                      <p:cBhvr>
                                        <p:cTn dur="1" fill="hold" id="26">
                                          <p:stCondLst>
                                            <p:cond delay="0"/>
                                          </p:stCondLst>
                                        </p:cTn>
                                        <p:tgtEl>
                                          <p:spTgt spid="1050116">
                                            <p:txEl>
                                              <p:pRg st="2" end="2"/>
                                            </p:txEl>
                                          </p:spTgt>
                                        </p:tgtEl>
                                        <p:attrNameLst>
                                          <p:attrName>style.visibility</p:attrName>
                                        </p:attrNameLst>
                                      </p:cBhvr>
                                      <p:to>
                                        <p:strVal val="visible"/>
                                      </p:to>
                                    </p:set>
                                    <p:anim calcmode="lin" valueType="num">
                                      <p:cBhvr>
                                        <p:cTn dur="500" fill="hold" id="27"/>
                                        <p:tgtEl>
                                          <p:spTgt spid="1050116">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28"/>
                                        <p:tgtEl>
                                          <p:spTgt spid="1050116">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29"/>
                                        <p:tgtEl>
                                          <p:spTgt spid="1050116">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30"/>
                                        <p:tgtEl>
                                          <p:spTgt spid="1050116">
                                            <p:txEl>
                                              <p:pRg st="2" end="2"/>
                                            </p:txEl>
                                          </p:spTgt>
                                        </p:tgtEl>
                                        <p:attrNameLst>
                                          <p:attrName>ppt_y</p:attrName>
                                        </p:attrNameLst>
                                      </p:cBhvr>
                                      <p:tavLst>
                                        <p:tav tm="0">
                                          <p:val>
                                            <p:strVal val="#ppt_y"/>
                                          </p:val>
                                        </p:tav>
                                        <p:tav tm="100000">
                                          <p:val>
                                            <p:strVal val="#ppt_y"/>
                                          </p:val>
                                        </p:tav>
                                      </p:tavLst>
                                    </p:anim>
                                  </p:childTnLst>
                                </p:cTn>
                              </p:par>
                              <p:par>
                                <p:cTn accel="100000" fill="hold" grpId="0" id="31" nodeType="withEffect" presetClass="entr" presetID="39" presetSubtype="0">
                                  <p:stCondLst>
                                    <p:cond delay="0"/>
                                  </p:stCondLst>
                                  <p:childTnLst>
                                    <p:set>
                                      <p:cBhvr>
                                        <p:cTn dur="1" fill="hold" id="32">
                                          <p:stCondLst>
                                            <p:cond delay="0"/>
                                          </p:stCondLst>
                                        </p:cTn>
                                        <p:tgtEl>
                                          <p:spTgt spid="1050116">
                                            <p:txEl>
                                              <p:pRg st="3" end="3"/>
                                            </p:txEl>
                                          </p:spTgt>
                                        </p:tgtEl>
                                        <p:attrNameLst>
                                          <p:attrName>style.visibility</p:attrName>
                                        </p:attrNameLst>
                                      </p:cBhvr>
                                      <p:to>
                                        <p:strVal val="visible"/>
                                      </p:to>
                                    </p:set>
                                    <p:anim calcmode="lin" valueType="num">
                                      <p:cBhvr>
                                        <p:cTn dur="500" fill="hold" id="33"/>
                                        <p:tgtEl>
                                          <p:spTgt spid="1050116">
                                            <p:txEl>
                                              <p:pRg st="3" end="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34"/>
                                        <p:tgtEl>
                                          <p:spTgt spid="1050116">
                                            <p:txEl>
                                              <p:pRg st="3" end="3"/>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35"/>
                                        <p:tgtEl>
                                          <p:spTgt spid="1050116">
                                            <p:txEl>
                                              <p:pRg st="3" end="3"/>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36"/>
                                        <p:tgtEl>
                                          <p:spTgt spid="1050116">
                                            <p:txEl>
                                              <p:pRg st="3" end="3"/>
                                            </p:txEl>
                                          </p:spTgt>
                                        </p:tgtEl>
                                        <p:attrNameLst>
                                          <p:attrName>ppt_y</p:attrName>
                                        </p:attrNameLst>
                                      </p:cBhvr>
                                      <p:tavLst>
                                        <p:tav tm="0">
                                          <p:val>
                                            <p:strVal val="#ppt_y"/>
                                          </p:val>
                                        </p:tav>
                                        <p:tav tm="100000">
                                          <p:val>
                                            <p:strVal val="#ppt_y"/>
                                          </p:val>
                                        </p:tav>
                                      </p:tavLst>
                                    </p:anim>
                                  </p:childTnLst>
                                </p:cTn>
                              </p:par>
                              <p:par>
                                <p:cTn accel="100000" fill="hold" grpId="0" id="37" nodeType="withEffect" presetClass="entr" presetID="39" presetSubtype="0">
                                  <p:stCondLst>
                                    <p:cond delay="0"/>
                                  </p:stCondLst>
                                  <p:childTnLst>
                                    <p:set>
                                      <p:cBhvr>
                                        <p:cTn dur="1" fill="hold" id="38">
                                          <p:stCondLst>
                                            <p:cond delay="0"/>
                                          </p:stCondLst>
                                        </p:cTn>
                                        <p:tgtEl>
                                          <p:spTgt spid="1050116">
                                            <p:txEl>
                                              <p:pRg st="4" end="4"/>
                                            </p:txEl>
                                          </p:spTgt>
                                        </p:tgtEl>
                                        <p:attrNameLst>
                                          <p:attrName>style.visibility</p:attrName>
                                        </p:attrNameLst>
                                      </p:cBhvr>
                                      <p:to>
                                        <p:strVal val="visible"/>
                                      </p:to>
                                    </p:set>
                                    <p:anim calcmode="lin" valueType="num">
                                      <p:cBhvr>
                                        <p:cTn dur="500" fill="hold" id="39"/>
                                        <p:tgtEl>
                                          <p:spTgt spid="1050116">
                                            <p:txEl>
                                              <p:pRg st="4" end="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dur="500" fill="hold" id="40"/>
                                        <p:tgtEl>
                                          <p:spTgt spid="1050116">
                                            <p:txEl>
                                              <p:pRg st="4" end="4"/>
                                            </p:txEl>
                                          </p:spTgt>
                                        </p:tgtEl>
                                        <p:attrNameLst>
                                          <p:attrName>ppt_w</p:attrName>
                                        </p:attrNameLst>
                                      </p:cBhvr>
                                      <p:tavLst>
                                        <p:tav tm="0">
                                          <p:val>
                                            <p:strVal val="#ppt_w+.3"/>
                                          </p:val>
                                        </p:tav>
                                        <p:tav tm="50000">
                                          <p:val>
                                            <p:strVal val="#ppt_w+.3"/>
                                          </p:val>
                                        </p:tav>
                                        <p:tav tm="100000">
                                          <p:val>
                                            <p:strVal val="#ppt_w"/>
                                          </p:val>
                                        </p:tav>
                                      </p:tavLst>
                                    </p:anim>
                                    <p:anim calcmode="lin" valueType="num">
                                      <p:cBhvr>
                                        <p:cTn dur="500" fill="hold" id="41"/>
                                        <p:tgtEl>
                                          <p:spTgt spid="1050116">
                                            <p:txEl>
                                              <p:pRg st="4" end="4"/>
                                            </p:txEl>
                                          </p:spTgt>
                                        </p:tgtEl>
                                        <p:attrNameLst>
                                          <p:attrName>ppt_x</p:attrName>
                                        </p:attrNameLst>
                                      </p:cBhvr>
                                      <p:tavLst>
                                        <p:tav tm="0">
                                          <p:val>
                                            <p:strVal val="#ppt_x-.3"/>
                                          </p:val>
                                        </p:tav>
                                        <p:tav tm="50000">
                                          <p:val>
                                            <p:strVal val="#ppt_x"/>
                                          </p:val>
                                        </p:tav>
                                        <p:tav tm="100000">
                                          <p:val>
                                            <p:strVal val="#ppt_x"/>
                                          </p:val>
                                        </p:tav>
                                      </p:tavLst>
                                    </p:anim>
                                    <p:anim calcmode="lin" valueType="num">
                                      <p:cBhvr>
                                        <p:cTn dur="500" fill="hold" id="42"/>
                                        <p:tgtEl>
                                          <p:spTgt spid="105011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fill="hold" id="43">
                      <p:stCondLst>
                        <p:cond delay="indefinite"/>
                      </p:stCondLst>
                      <p:childTnLst>
                        <p:par>
                          <p:cTn fill="hold" id="44">
                            <p:stCondLst>
                              <p:cond delay="0"/>
                            </p:stCondLst>
                            <p:childTnLst>
                              <p:par>
                                <p:cTn decel="100000" fill="hold" grpId="1" id="45" nodeType="clickEffect" presetClass="exit" presetID="39" presetSubtype="0">
                                  <p:stCondLst>
                                    <p:cond delay="0"/>
                                  </p:stCondLst>
                                  <p:childTnLst>
                                    <p:anim calcmode="lin" valueType="num">
                                      <p:cBhvr>
                                        <p:cTn dur="500" fill="hold" id="46"/>
                                        <p:tgtEl>
                                          <p:spTgt spid="1050115"/>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47"/>
                                        <p:tgtEl>
                                          <p:spTgt spid="1050115"/>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48"/>
                                        <p:tgtEl>
                                          <p:spTgt spid="1050115"/>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49"/>
                                        <p:tgtEl>
                                          <p:spTgt spid="1050115"/>
                                        </p:tgtEl>
                                        <p:attrNameLst>
                                          <p:attrName>ppt_y</p:attrName>
                                        </p:attrNameLst>
                                      </p:cBhvr>
                                      <p:tavLst>
                                        <p:tav tm="0">
                                          <p:val>
                                            <p:strVal val="ppt_y"/>
                                          </p:val>
                                        </p:tav>
                                        <p:tav tm="100000">
                                          <p:val>
                                            <p:strVal val="ppt_y"/>
                                          </p:val>
                                        </p:tav>
                                      </p:tavLst>
                                    </p:anim>
                                    <p:set>
                                      <p:cBhvr>
                                        <p:cTn dur="1" fill="hold" id="50">
                                          <p:stCondLst>
                                            <p:cond delay="499"/>
                                          </p:stCondLst>
                                        </p:cTn>
                                        <p:tgtEl>
                                          <p:spTgt spid="1050115"/>
                                        </p:tgtEl>
                                        <p:attrNameLst>
                                          <p:attrName>style.visibility</p:attrName>
                                        </p:attrNameLst>
                                      </p:cBhvr>
                                      <p:to>
                                        <p:strVal val="hidden"/>
                                      </p:to>
                                    </p:set>
                                  </p:childTnLst>
                                </p:cTn>
                              </p:par>
                              <p:par>
                                <p:cTn decel="100000" fill="hold" grpId="1" id="51" nodeType="withEffect" presetClass="exit" presetID="39" presetSubtype="0">
                                  <p:stCondLst>
                                    <p:cond delay="0"/>
                                  </p:stCondLst>
                                  <p:childTnLst>
                                    <p:anim calcmode="lin" valueType="num">
                                      <p:cBhvr>
                                        <p:cTn dur="500" fill="hold" id="52"/>
                                        <p:tgtEl>
                                          <p:spTgt spid="1050116">
                                            <p:txEl>
                                              <p:pRg st="0" end="0"/>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53"/>
                                        <p:tgtEl>
                                          <p:spTgt spid="1050116">
                                            <p:txEl>
                                              <p:pRg st="0" end="0"/>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54"/>
                                        <p:tgtEl>
                                          <p:spTgt spid="1050116">
                                            <p:txEl>
                                              <p:pRg st="0" end="0"/>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55"/>
                                        <p:tgtEl>
                                          <p:spTgt spid="1050116">
                                            <p:txEl>
                                              <p:pRg st="0" end="0"/>
                                            </p:txEl>
                                          </p:spTgt>
                                        </p:tgtEl>
                                        <p:attrNameLst>
                                          <p:attrName>ppt_y</p:attrName>
                                        </p:attrNameLst>
                                      </p:cBhvr>
                                      <p:tavLst>
                                        <p:tav tm="0">
                                          <p:val>
                                            <p:strVal val="ppt_y"/>
                                          </p:val>
                                        </p:tav>
                                        <p:tav tm="100000">
                                          <p:val>
                                            <p:strVal val="ppt_y"/>
                                          </p:val>
                                        </p:tav>
                                      </p:tavLst>
                                    </p:anim>
                                    <p:set>
                                      <p:cBhvr>
                                        <p:cTn dur="1" fill="hold" id="56">
                                          <p:stCondLst>
                                            <p:cond delay="499"/>
                                          </p:stCondLst>
                                        </p:cTn>
                                        <p:tgtEl>
                                          <p:spTgt spid="1050116">
                                            <p:txEl>
                                              <p:pRg st="0" end="0"/>
                                            </p:txEl>
                                          </p:spTgt>
                                        </p:tgtEl>
                                        <p:attrNameLst>
                                          <p:attrName>style.visibility</p:attrName>
                                        </p:attrNameLst>
                                      </p:cBhvr>
                                      <p:to>
                                        <p:strVal val="hidden"/>
                                      </p:to>
                                    </p:set>
                                  </p:childTnLst>
                                </p:cTn>
                              </p:par>
                              <p:par>
                                <p:cTn decel="100000" fill="hold" grpId="1" id="57" nodeType="withEffect" presetClass="exit" presetID="39" presetSubtype="0">
                                  <p:stCondLst>
                                    <p:cond delay="0"/>
                                  </p:stCondLst>
                                  <p:childTnLst>
                                    <p:anim calcmode="lin" valueType="num">
                                      <p:cBhvr>
                                        <p:cTn dur="500" fill="hold" id="58"/>
                                        <p:tgtEl>
                                          <p:spTgt spid="1050116">
                                            <p:txEl>
                                              <p:pRg st="1" end="1"/>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59"/>
                                        <p:tgtEl>
                                          <p:spTgt spid="1050116">
                                            <p:txEl>
                                              <p:pRg st="1" end="1"/>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60"/>
                                        <p:tgtEl>
                                          <p:spTgt spid="1050116">
                                            <p:txEl>
                                              <p:pRg st="1" end="1"/>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61"/>
                                        <p:tgtEl>
                                          <p:spTgt spid="1050116">
                                            <p:txEl>
                                              <p:pRg st="1" end="1"/>
                                            </p:txEl>
                                          </p:spTgt>
                                        </p:tgtEl>
                                        <p:attrNameLst>
                                          <p:attrName>ppt_y</p:attrName>
                                        </p:attrNameLst>
                                      </p:cBhvr>
                                      <p:tavLst>
                                        <p:tav tm="0">
                                          <p:val>
                                            <p:strVal val="ppt_y"/>
                                          </p:val>
                                        </p:tav>
                                        <p:tav tm="100000">
                                          <p:val>
                                            <p:strVal val="ppt_y"/>
                                          </p:val>
                                        </p:tav>
                                      </p:tavLst>
                                    </p:anim>
                                    <p:set>
                                      <p:cBhvr>
                                        <p:cTn dur="1" fill="hold" id="62">
                                          <p:stCondLst>
                                            <p:cond delay="499"/>
                                          </p:stCondLst>
                                        </p:cTn>
                                        <p:tgtEl>
                                          <p:spTgt spid="1050116">
                                            <p:txEl>
                                              <p:pRg st="1" end="1"/>
                                            </p:txEl>
                                          </p:spTgt>
                                        </p:tgtEl>
                                        <p:attrNameLst>
                                          <p:attrName>style.visibility</p:attrName>
                                        </p:attrNameLst>
                                      </p:cBhvr>
                                      <p:to>
                                        <p:strVal val="hidden"/>
                                      </p:to>
                                    </p:set>
                                  </p:childTnLst>
                                </p:cTn>
                              </p:par>
                              <p:par>
                                <p:cTn decel="100000" fill="hold" grpId="1" id="63" nodeType="withEffect" presetClass="exit" presetID="39" presetSubtype="0">
                                  <p:stCondLst>
                                    <p:cond delay="0"/>
                                  </p:stCondLst>
                                  <p:childTnLst>
                                    <p:anim calcmode="lin" valueType="num">
                                      <p:cBhvr>
                                        <p:cTn dur="500" fill="hold" id="64"/>
                                        <p:tgtEl>
                                          <p:spTgt spid="1050116">
                                            <p:txEl>
                                              <p:pRg st="2" end="2"/>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65"/>
                                        <p:tgtEl>
                                          <p:spTgt spid="1050116">
                                            <p:txEl>
                                              <p:pRg st="2" end="2"/>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66"/>
                                        <p:tgtEl>
                                          <p:spTgt spid="1050116">
                                            <p:txEl>
                                              <p:pRg st="2" end="2"/>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67"/>
                                        <p:tgtEl>
                                          <p:spTgt spid="1050116">
                                            <p:txEl>
                                              <p:pRg st="2" end="2"/>
                                            </p:txEl>
                                          </p:spTgt>
                                        </p:tgtEl>
                                        <p:attrNameLst>
                                          <p:attrName>ppt_y</p:attrName>
                                        </p:attrNameLst>
                                      </p:cBhvr>
                                      <p:tavLst>
                                        <p:tav tm="0">
                                          <p:val>
                                            <p:strVal val="ppt_y"/>
                                          </p:val>
                                        </p:tav>
                                        <p:tav tm="100000">
                                          <p:val>
                                            <p:strVal val="ppt_y"/>
                                          </p:val>
                                        </p:tav>
                                      </p:tavLst>
                                    </p:anim>
                                    <p:set>
                                      <p:cBhvr>
                                        <p:cTn dur="1" fill="hold" id="68">
                                          <p:stCondLst>
                                            <p:cond delay="499"/>
                                          </p:stCondLst>
                                        </p:cTn>
                                        <p:tgtEl>
                                          <p:spTgt spid="1050116">
                                            <p:txEl>
                                              <p:pRg st="2" end="2"/>
                                            </p:txEl>
                                          </p:spTgt>
                                        </p:tgtEl>
                                        <p:attrNameLst>
                                          <p:attrName>style.visibility</p:attrName>
                                        </p:attrNameLst>
                                      </p:cBhvr>
                                      <p:to>
                                        <p:strVal val="hidden"/>
                                      </p:to>
                                    </p:set>
                                  </p:childTnLst>
                                </p:cTn>
                              </p:par>
                              <p:par>
                                <p:cTn decel="100000" fill="hold" grpId="1" id="69" nodeType="withEffect" presetClass="exit" presetID="39" presetSubtype="0">
                                  <p:stCondLst>
                                    <p:cond delay="0"/>
                                  </p:stCondLst>
                                  <p:childTnLst>
                                    <p:anim calcmode="lin" valueType="num">
                                      <p:cBhvr>
                                        <p:cTn dur="500" fill="hold" id="70"/>
                                        <p:tgtEl>
                                          <p:spTgt spid="1050116">
                                            <p:txEl>
                                              <p:pRg st="3" end="3"/>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71"/>
                                        <p:tgtEl>
                                          <p:spTgt spid="1050116">
                                            <p:txEl>
                                              <p:pRg st="3" end="3"/>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72"/>
                                        <p:tgtEl>
                                          <p:spTgt spid="1050116">
                                            <p:txEl>
                                              <p:pRg st="3" end="3"/>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73"/>
                                        <p:tgtEl>
                                          <p:spTgt spid="1050116">
                                            <p:txEl>
                                              <p:pRg st="3" end="3"/>
                                            </p:txEl>
                                          </p:spTgt>
                                        </p:tgtEl>
                                        <p:attrNameLst>
                                          <p:attrName>ppt_y</p:attrName>
                                        </p:attrNameLst>
                                      </p:cBhvr>
                                      <p:tavLst>
                                        <p:tav tm="0">
                                          <p:val>
                                            <p:strVal val="ppt_y"/>
                                          </p:val>
                                        </p:tav>
                                        <p:tav tm="100000">
                                          <p:val>
                                            <p:strVal val="ppt_y"/>
                                          </p:val>
                                        </p:tav>
                                      </p:tavLst>
                                    </p:anim>
                                    <p:set>
                                      <p:cBhvr>
                                        <p:cTn dur="1" fill="hold" id="74">
                                          <p:stCondLst>
                                            <p:cond delay="499"/>
                                          </p:stCondLst>
                                        </p:cTn>
                                        <p:tgtEl>
                                          <p:spTgt spid="1050116">
                                            <p:txEl>
                                              <p:pRg st="3" end="3"/>
                                            </p:txEl>
                                          </p:spTgt>
                                        </p:tgtEl>
                                        <p:attrNameLst>
                                          <p:attrName>style.visibility</p:attrName>
                                        </p:attrNameLst>
                                      </p:cBhvr>
                                      <p:to>
                                        <p:strVal val="hidden"/>
                                      </p:to>
                                    </p:set>
                                  </p:childTnLst>
                                </p:cTn>
                              </p:par>
                              <p:par>
                                <p:cTn decel="100000" fill="hold" grpId="1" id="75" nodeType="withEffect" presetClass="exit" presetID="39" presetSubtype="0">
                                  <p:stCondLst>
                                    <p:cond delay="0"/>
                                  </p:stCondLst>
                                  <p:childTnLst>
                                    <p:anim calcmode="lin" valueType="num">
                                      <p:cBhvr>
                                        <p:cTn dur="500" fill="hold" id="76"/>
                                        <p:tgtEl>
                                          <p:spTgt spid="1050116">
                                            <p:txEl>
                                              <p:pRg st="4" end="4"/>
                                            </p:txEl>
                                          </p:spTgt>
                                        </p:tgtEl>
                                        <p:attrNameLst>
                                          <p:attrName>ppt_h</p:attrName>
                                        </p:attrNameLst>
                                      </p:cBhvr>
                                      <p:tavLst>
                                        <p:tav tm="0">
                                          <p:val>
                                            <p:strVal val="ppt_h"/>
                                          </p:val>
                                        </p:tav>
                                        <p:tav tm="50000">
                                          <p:val>
                                            <p:strVal val="ppt_h/20"/>
                                          </p:val>
                                        </p:tav>
                                        <p:tav tm="100000">
                                          <p:val>
                                            <p:strVal val="ppt_h/20"/>
                                          </p:val>
                                        </p:tav>
                                      </p:tavLst>
                                    </p:anim>
                                    <p:anim calcmode="lin" valueType="num">
                                      <p:cBhvr>
                                        <p:cTn dur="500" fill="hold" id="77"/>
                                        <p:tgtEl>
                                          <p:spTgt spid="1050116">
                                            <p:txEl>
                                              <p:pRg st="4" end="4"/>
                                            </p:txEl>
                                          </p:spTgt>
                                        </p:tgtEl>
                                        <p:attrNameLst>
                                          <p:attrName>ppt_w</p:attrName>
                                        </p:attrNameLst>
                                      </p:cBhvr>
                                      <p:tavLst>
                                        <p:tav tm="0">
                                          <p:val>
                                            <p:strVal val="ppt_w"/>
                                          </p:val>
                                        </p:tav>
                                        <p:tav tm="50000">
                                          <p:val>
                                            <p:strVal val="ppt_w+.3"/>
                                          </p:val>
                                        </p:tav>
                                        <p:tav tm="100000">
                                          <p:val>
                                            <p:strVal val="ppt_w+.3"/>
                                          </p:val>
                                        </p:tav>
                                      </p:tavLst>
                                    </p:anim>
                                    <p:anim calcmode="lin" valueType="num">
                                      <p:cBhvr>
                                        <p:cTn dur="500" fill="hold" id="78"/>
                                        <p:tgtEl>
                                          <p:spTgt spid="1050116">
                                            <p:txEl>
                                              <p:pRg st="4" end="4"/>
                                            </p:txEl>
                                          </p:spTgt>
                                        </p:tgtEl>
                                        <p:attrNameLst>
                                          <p:attrName>ppt_x</p:attrName>
                                        </p:attrNameLst>
                                      </p:cBhvr>
                                      <p:tavLst>
                                        <p:tav tm="0">
                                          <p:val>
                                            <p:strVal val="ppt_x"/>
                                          </p:val>
                                        </p:tav>
                                        <p:tav tm="50000">
                                          <p:val>
                                            <p:strVal val="ppt_x"/>
                                          </p:val>
                                        </p:tav>
                                        <p:tav tm="100000">
                                          <p:val>
                                            <p:strVal val="ppt_x-.3"/>
                                          </p:val>
                                        </p:tav>
                                      </p:tavLst>
                                    </p:anim>
                                    <p:anim calcmode="lin" valueType="num">
                                      <p:cBhvr>
                                        <p:cTn dur="500" fill="hold" id="79"/>
                                        <p:tgtEl>
                                          <p:spTgt spid="1050116">
                                            <p:txEl>
                                              <p:pRg st="4" end="4"/>
                                            </p:txEl>
                                          </p:spTgt>
                                        </p:tgtEl>
                                        <p:attrNameLst>
                                          <p:attrName>ppt_y</p:attrName>
                                        </p:attrNameLst>
                                      </p:cBhvr>
                                      <p:tavLst>
                                        <p:tav tm="0">
                                          <p:val>
                                            <p:strVal val="ppt_y"/>
                                          </p:val>
                                        </p:tav>
                                        <p:tav tm="100000">
                                          <p:val>
                                            <p:strVal val="ppt_y"/>
                                          </p:val>
                                        </p:tav>
                                      </p:tavLst>
                                    </p:anim>
                                    <p:set>
                                      <p:cBhvr>
                                        <p:cTn dur="1" fill="hold" id="80">
                                          <p:stCondLst>
                                            <p:cond delay="499"/>
                                          </p:stCondLst>
                                        </p:cTn>
                                        <p:tgtEl>
                                          <p:spTgt spid="1050116">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115" grpId="0"/>
      <p:bldP spid="1050115" grpId="1"/>
      <p:bldP spid="1050116" grpId="0" build="p"/>
      <p:bldP spid="1050116" grpId="1" build="allAtOnce"/>
    </p:bldLst>
  </p:timing>
  <p:hf dt="0" hdr="0" sldNum="0"/>
  <p:txStyles>
    <p:titleStyle>
      <a:lvl1pPr algn="l" eaLnBrk="1" hangingPunct="1" latinLnBrk="0" rtl="0">
        <a:spcBef>
          <a:spcPct val="0"/>
        </a:spcBef>
        <a:buNone/>
        <a:defRPr sz="4000" kern="1200" kumimoji="0">
          <a:solidFill>
            <a:schemeClr val="tx2"/>
          </a:solidFill>
          <a:latin typeface="+mj-lt"/>
          <a:ea typeface="+mj-ea"/>
          <a:cs typeface="+mj-cs"/>
        </a:defRPr>
      </a:lvl1pPr>
    </p:titleStyle>
    <p:bodyStyle>
      <a:lvl1pPr algn="l" eaLnBrk="1" hangingPunct="1" indent="-274320" latinLnBrk="0" marL="274320" rtl="0">
        <a:spcBef>
          <a:spcPts val="580"/>
        </a:spcBef>
        <a:buClr>
          <a:schemeClr val="accent1"/>
        </a:buClr>
        <a:buSzPct val="85000"/>
        <a:buFont typeface="Wingdings 2"/>
        <a:buChar char=""/>
        <a:defRPr sz="2600" kern="1200" kumimoji="0">
          <a:solidFill>
            <a:schemeClr val="tx1"/>
          </a:solidFill>
          <a:latin typeface="+mn-lt"/>
          <a:ea typeface="+mn-ea"/>
          <a:cs typeface="+mn-cs"/>
        </a:defRPr>
      </a:lvl1pPr>
      <a:lvl2pPr algn="l" eaLnBrk="1" hangingPunct="1" indent="-228600" latinLnBrk="0" marL="548640" rtl="0">
        <a:spcBef>
          <a:spcPts val="370"/>
        </a:spcBef>
        <a:buClr>
          <a:schemeClr val="accent2"/>
        </a:buClr>
        <a:buSzPct val="85000"/>
        <a:buFont typeface="Wingdings 2"/>
        <a:buChar char=""/>
        <a:defRPr sz="2400" kern="1200" kumimoji="0">
          <a:solidFill>
            <a:schemeClr val="tx1"/>
          </a:solidFill>
          <a:latin typeface="+mn-lt"/>
          <a:ea typeface="+mn-ea"/>
          <a:cs typeface="+mn-cs"/>
        </a:defRPr>
      </a:lvl2pPr>
      <a:lvl3pPr algn="l" eaLnBrk="1" hangingPunct="1" indent="-228600" latinLnBrk="0" marL="822960" rtl="0">
        <a:spcBef>
          <a:spcPts val="370"/>
        </a:spcBef>
        <a:buClr>
          <a:schemeClr val="accent1">
            <a:tint val="60000"/>
          </a:schemeClr>
        </a:buClr>
        <a:buSzPct val="85000"/>
        <a:buFont typeface="Wingdings 2"/>
        <a:buChar char=""/>
        <a:defRPr sz="2000" kern="1200" kumimoji="0">
          <a:solidFill>
            <a:schemeClr val="tx1"/>
          </a:solidFill>
          <a:latin typeface="+mn-lt"/>
          <a:ea typeface="+mn-ea"/>
          <a:cs typeface="+mn-cs"/>
        </a:defRPr>
      </a:lvl3pPr>
      <a:lvl4pPr algn="l" eaLnBrk="1" hangingPunct="1" indent="-228600" latinLnBrk="0" marL="1097280" rtl="0">
        <a:spcBef>
          <a:spcPts val="370"/>
        </a:spcBef>
        <a:buClr>
          <a:schemeClr val="accent3"/>
        </a:buClr>
        <a:buSzPct val="80000"/>
        <a:buFont typeface="Wingdings 2"/>
        <a:buChar char=""/>
        <a:defRPr sz="2000" kern="1200" kumimoji="0">
          <a:solidFill>
            <a:schemeClr val="tx1"/>
          </a:solidFill>
          <a:latin typeface="+mn-lt"/>
          <a:ea typeface="+mn-ea"/>
          <a:cs typeface="+mn-cs"/>
        </a:defRPr>
      </a:lvl4pPr>
      <a:lvl5pPr algn="l" eaLnBrk="1" hangingPunct="1" indent="-228600" latinLnBrk="0" marL="1371600" rtl="0">
        <a:spcBef>
          <a:spcPts val="370"/>
        </a:spcBef>
        <a:buClr>
          <a:schemeClr val="accent3"/>
        </a:buClr>
        <a:buFontTx/>
        <a:buChar char="o"/>
        <a:defRPr sz="2000" kern="1200" kumimoji="0">
          <a:solidFill>
            <a:schemeClr val="tx1"/>
          </a:solidFill>
          <a:latin typeface="+mn-lt"/>
          <a:ea typeface="+mn-ea"/>
          <a:cs typeface="+mn-cs"/>
        </a:defRPr>
      </a:lvl5pPr>
      <a:lvl6pPr algn="l" eaLnBrk="1" hangingPunct="1" indent="-228600" latinLnBrk="0" marL="1645920" rtl="0">
        <a:spcBef>
          <a:spcPts val="370"/>
        </a:spcBef>
        <a:buClr>
          <a:schemeClr val="accent3"/>
        </a:buClr>
        <a:buChar char="•"/>
        <a:defRPr baseline="0" sz="1800" kern="1200" kumimoji="0">
          <a:solidFill>
            <a:schemeClr val="tx1"/>
          </a:solidFill>
          <a:latin typeface="+mn-lt"/>
          <a:ea typeface="+mn-ea"/>
          <a:cs typeface="+mn-cs"/>
        </a:defRPr>
      </a:lvl6pPr>
      <a:lvl7pPr algn="l" eaLnBrk="1" hangingPunct="1" indent="-228600" latinLnBrk="0" marL="1920240" rtl="0">
        <a:spcBef>
          <a:spcPts val="370"/>
        </a:spcBef>
        <a:buClr>
          <a:schemeClr val="accent2"/>
        </a:buClr>
        <a:buChar char="•"/>
        <a:defRPr sz="1800" kern="1200" kumimoji="0">
          <a:solidFill>
            <a:schemeClr val="tx1"/>
          </a:solidFill>
          <a:latin typeface="+mn-lt"/>
          <a:ea typeface="+mn-ea"/>
          <a:cs typeface="+mn-cs"/>
        </a:defRPr>
      </a:lvl7pPr>
      <a:lvl8pPr algn="l" eaLnBrk="1" hangingPunct="1" indent="-228600" latinLnBrk="0" marL="2194560" rtl="0">
        <a:spcBef>
          <a:spcPts val="370"/>
        </a:spcBef>
        <a:buClr>
          <a:schemeClr val="accent1">
            <a:tint val="60000"/>
          </a:schemeClr>
        </a:buClr>
        <a:buChar char="•"/>
        <a:defRPr sz="1800" kern="1200" kumimoji="0">
          <a:solidFill>
            <a:schemeClr val="tx1"/>
          </a:solidFill>
          <a:latin typeface="+mn-lt"/>
          <a:ea typeface="+mn-ea"/>
          <a:cs typeface="+mn-cs"/>
        </a:defRPr>
      </a:lvl8pPr>
      <a:lvl9pPr algn="l" eaLnBrk="1" hangingPunct="1" indent="-228600" latinLnBrk="0" marL="2468880" rtl="0">
        <a:spcBef>
          <a:spcPts val="370"/>
        </a:spcBef>
        <a:buClr>
          <a:schemeClr val="accent2">
            <a:tint val="60000"/>
          </a:schemeClr>
        </a:buClr>
        <a:buChar char="•"/>
        <a:defRPr sz="18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88.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8.xml"/></Relationships>
</file>

<file path=ppt/slides/_rels/slide189.xml.rels><?xml version="1.0" encoding="UTF-8" standalone="yes"?>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58.xml"/></Relationships>
</file>

<file path=ppt/slides/_rels/slide190.xml.rels><?xml version="1.0" encoding="UTF-8" standalone="yes"?>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58.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6.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9.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8.xml"/><Relationship Id="rId3" Type="http://schemas.openxmlformats.org/officeDocument/2006/relationships/notesSlide" Target="../notesSlides/notesSlide8.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2.xml.rels><?xml version="1.0" encoding="UTF-8" standalone="yes"?>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71.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9.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0.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63.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71.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1.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45.xml.rels><?xml version="1.0" encoding="UTF-8" standalone="yes"?>
<Relationships xmlns="http://schemas.openxmlformats.org/package/2006/relationships"><Relationship Id="rId1" Type="http://schemas.openxmlformats.org/officeDocument/2006/relationships/audio" Target="../media/media1.wav"/><Relationship Id="rId2" Type="http://schemas.openxmlformats.org/officeDocument/2006/relationships/slideLayout" Target="../slideLayouts/slideLayout8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80.xml.rels><?xml version="1.0" encoding="UTF-8" standalone="yes"?>
<Relationships xmlns="http://schemas.openxmlformats.org/package/2006/relationships"><Relationship Id="rId1" Type="http://schemas.openxmlformats.org/officeDocument/2006/relationships/audio" Target="../media/media1.wav"/><Relationship Id="rId2" Type="http://schemas.openxmlformats.org/officeDocument/2006/relationships/slideLayout" Target="../slideLayouts/slideLayout93.xml"/></Relationships>
</file>

<file path=ppt/slides/_rels/slide381.xml.rels><?xml version="1.0" encoding="UTF-8" standalone="yes"?>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97.xml"/></Relationships>
</file>

<file path=ppt/slides/_rels/slide382.xml.rels><?xml version="1.0" encoding="UTF-8" standalone="yes"?>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93.xml"/></Relationships>
</file>

<file path=ppt/slides/_rels/slide383.xml.rels><?xml version="1.0" encoding="UTF-8" standalone="yes"?>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9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13.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14.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15.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16.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25.xml.rels><?xml version="1.0" encoding="UTF-8" standalone="yes"?>
<Relationships xmlns="http://schemas.openxmlformats.org/package/2006/relationships"><Relationship Id="rId1" Type="http://schemas.openxmlformats.org/officeDocument/2006/relationships/diagramLayout" Target="../diagrams/layout1.xml"/><Relationship Id="rId2" Type="http://schemas.openxmlformats.org/officeDocument/2006/relationships/diagramData" Target="../diagrams/data1.xml"/><Relationship Id="rId3" Type="http://schemas.microsoft.com/office/2007/relationships/diagramDrawing" Target="../diagrams/drawing1.xml"/><Relationship Id="rId4" Type="http://schemas.openxmlformats.org/officeDocument/2006/relationships/diagramColors" Target="../diagrams/colors1.xml"/><Relationship Id="rId5" Type="http://schemas.openxmlformats.org/officeDocument/2006/relationships/diagramQuickStyle" Target="../diagrams/quickStyle1.xml"/><Relationship Id="rId6" Type="http://schemas.openxmlformats.org/officeDocument/2006/relationships/slideLayout" Target="../slideLayouts/slideLayout92.xml"/></Relationships>
</file>

<file path=ppt/slides/_rels/slide426.xml.rels><?xml version="1.0" encoding="UTF-8" standalone="yes"?>
<Relationships xmlns="http://schemas.openxmlformats.org/package/2006/relationships"><Relationship Id="rId1" Type="http://schemas.openxmlformats.org/officeDocument/2006/relationships/diagramLayout" Target="../diagrams/layout2.xml"/><Relationship Id="rId2" Type="http://schemas.openxmlformats.org/officeDocument/2006/relationships/diagramData" Target="../diagrams/data2.xml"/><Relationship Id="rId3" Type="http://schemas.microsoft.com/office/2007/relationships/diagramDrawing" Target="../diagrams/drawing2.xml"/><Relationship Id="rId4" Type="http://schemas.openxmlformats.org/officeDocument/2006/relationships/diagramColors" Target="../diagrams/colors2.xml"/><Relationship Id="rId5" Type="http://schemas.openxmlformats.org/officeDocument/2006/relationships/diagramQuickStyle" Target="../diagrams/quickStyle2.xml"/><Relationship Id="rId6" Type="http://schemas.openxmlformats.org/officeDocument/2006/relationships/image" Target="../media/image27.png"/><Relationship Id="rId7" Type="http://schemas.openxmlformats.org/officeDocument/2006/relationships/slideLayout" Target="../slideLayouts/slideLayout93.xml"/></Relationships>
</file>

<file path=ppt/slides/_rels/slide427.xml.rels><?xml version="1.0" encoding="UTF-8" standalone="yes"?>
<Relationships xmlns="http://schemas.openxmlformats.org/package/2006/relationships"><Relationship Id="rId1" Type="http://schemas.openxmlformats.org/officeDocument/2006/relationships/diagramLayout" Target="../diagrams/layout3.xml"/><Relationship Id="rId2" Type="http://schemas.openxmlformats.org/officeDocument/2006/relationships/diagramData" Target="../diagrams/data3.xml"/><Relationship Id="rId3" Type="http://schemas.microsoft.com/office/2007/relationships/diagramDrawing" Target="../diagrams/drawing3.xml"/><Relationship Id="rId4" Type="http://schemas.openxmlformats.org/officeDocument/2006/relationships/diagramColors" Target="../diagrams/colors3.xml"/><Relationship Id="rId5" Type="http://schemas.openxmlformats.org/officeDocument/2006/relationships/diagramQuickStyle" Target="../diagrams/quickStyle3.xml"/><Relationship Id="rId6" Type="http://schemas.openxmlformats.org/officeDocument/2006/relationships/slideLayout" Target="../slideLayouts/slideLayout93.xml"/></Relationships>
</file>

<file path=ppt/slides/_rels/slide428.xml.rels><?xml version="1.0" encoding="UTF-8" standalone="yes"?>
<Relationships xmlns="http://schemas.openxmlformats.org/package/2006/relationships"><Relationship Id="rId1" Type="http://schemas.openxmlformats.org/officeDocument/2006/relationships/diagramLayout" Target="../diagrams/layout4.xml"/><Relationship Id="rId2" Type="http://schemas.openxmlformats.org/officeDocument/2006/relationships/diagramData" Target="../diagrams/data4.xml"/><Relationship Id="rId3" Type="http://schemas.microsoft.com/office/2007/relationships/diagramDrawing" Target="../diagrams/drawing4.xml"/><Relationship Id="rId4" Type="http://schemas.openxmlformats.org/officeDocument/2006/relationships/diagramColors" Target="../diagrams/colors4.xml"/><Relationship Id="rId5" Type="http://schemas.openxmlformats.org/officeDocument/2006/relationships/diagramQuickStyle" Target="../diagrams/quickStyle4.xml"/><Relationship Id="rId6" Type="http://schemas.openxmlformats.org/officeDocument/2006/relationships/slideLayout" Target="../slideLayouts/slideLayout93.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2.xml.rels><?xml version="1.0" encoding="UTF-8" standalone="yes"?>
<Relationships xmlns="http://schemas.openxmlformats.org/package/2006/relationships"><Relationship Id="rId1" Type="http://schemas.openxmlformats.org/officeDocument/2006/relationships/diagramLayout" Target="../diagrams/layout5.xml"/><Relationship Id="rId2" Type="http://schemas.openxmlformats.org/officeDocument/2006/relationships/diagramData" Target="../diagrams/data5.xml"/><Relationship Id="rId3" Type="http://schemas.microsoft.com/office/2007/relationships/diagramDrawing" Target="../diagrams/drawing5.xml"/><Relationship Id="rId4" Type="http://schemas.openxmlformats.org/officeDocument/2006/relationships/diagramColors" Target="../diagrams/colors5.xml"/><Relationship Id="rId5" Type="http://schemas.openxmlformats.org/officeDocument/2006/relationships/diagramQuickStyle" Target="../diagrams/quickStyle5.xml"/><Relationship Id="rId6" Type="http://schemas.openxmlformats.org/officeDocument/2006/relationships/slideLayout" Target="../slideLayouts/slideLayout93.xml"/></Relationships>
</file>

<file path=ppt/slides/_rels/slide433.xml.rels><?xml version="1.0" encoding="UTF-8" standalone="yes"?>
<Relationships xmlns="http://schemas.openxmlformats.org/package/2006/relationships"><Relationship Id="rId1" Type="http://schemas.openxmlformats.org/officeDocument/2006/relationships/diagramLayout" Target="../diagrams/layout6.xml"/><Relationship Id="rId2" Type="http://schemas.openxmlformats.org/officeDocument/2006/relationships/diagramData" Target="../diagrams/data6.xml"/><Relationship Id="rId3" Type="http://schemas.microsoft.com/office/2007/relationships/diagramDrawing" Target="../diagrams/drawing6.xml"/><Relationship Id="rId4" Type="http://schemas.openxmlformats.org/officeDocument/2006/relationships/diagramColors" Target="../diagrams/colors6.xml"/><Relationship Id="rId5" Type="http://schemas.openxmlformats.org/officeDocument/2006/relationships/diagramQuickStyle" Target="../diagrams/quickStyle6.xml"/><Relationship Id="rId6" Type="http://schemas.openxmlformats.org/officeDocument/2006/relationships/slideLayout" Target="../slideLayouts/slideLayout9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1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18.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9.xml.rels><?xml version="1.0" encoding="UTF-8" standalone="yes"?>
<Relationships xmlns="http://schemas.openxmlformats.org/package/2006/relationships"><Relationship Id="rId1" Type="http://schemas.openxmlformats.org/officeDocument/2006/relationships/hyperlink" Target="https://en.wikipedia.org/wiki/File:Tens.jpg" TargetMode="External"/><Relationship Id="rId2" Type="http://schemas.openxmlformats.org/officeDocument/2006/relationships/image" Target="../media/image28.jpeg"/><Relationship Id="rId3" Type="http://schemas.openxmlformats.org/officeDocument/2006/relationships/slideLayout" Target="../slideLayouts/slideLayout35.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8.xml.rels><?xml version="1.0" encoding="UTF-8" standalone="yes"?>
<Relationships xmlns="http://schemas.openxmlformats.org/package/2006/relationships"><Relationship Id="rId1" Type="http://schemas.openxmlformats.org/officeDocument/2006/relationships/diagramLayout" Target="../diagrams/layout7.xml"/><Relationship Id="rId2" Type="http://schemas.openxmlformats.org/officeDocument/2006/relationships/diagramData" Target="../diagrams/data7.xml"/><Relationship Id="rId3" Type="http://schemas.microsoft.com/office/2007/relationships/diagramDrawing" Target="../diagrams/drawing7.xml"/><Relationship Id="rId4" Type="http://schemas.openxmlformats.org/officeDocument/2006/relationships/diagramColors" Target="../diagrams/colors7.xml"/><Relationship Id="rId5" Type="http://schemas.openxmlformats.org/officeDocument/2006/relationships/diagramQuickStyle" Target="../diagrams/quickStyle7.xml"/><Relationship Id="rId6" Type="http://schemas.openxmlformats.org/officeDocument/2006/relationships/slideLayout" Target="../slideLayouts/slideLayout56.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23.xml.rels><?xml version="1.0" encoding="UTF-8" standalone="yes"?>
<Relationships xmlns="http://schemas.openxmlformats.org/package/2006/relationships"><Relationship Id="rId1" Type="http://schemas.openxmlformats.org/officeDocument/2006/relationships/diagramLayout" Target="../diagrams/layout8.xml"/><Relationship Id="rId2" Type="http://schemas.openxmlformats.org/officeDocument/2006/relationships/diagramData" Target="../diagrams/data8.xml"/><Relationship Id="rId3" Type="http://schemas.microsoft.com/office/2007/relationships/diagramDrawing" Target="../diagrams/drawing8.xml"/><Relationship Id="rId4" Type="http://schemas.openxmlformats.org/officeDocument/2006/relationships/diagramColors" Target="../diagrams/colors8.xml"/><Relationship Id="rId5" Type="http://schemas.openxmlformats.org/officeDocument/2006/relationships/diagramQuickStyle" Target="../diagrams/quickStyle8.xml"/><Relationship Id="rId6" Type="http://schemas.openxmlformats.org/officeDocument/2006/relationships/slideLayout" Target="../slideLayouts/slideLayout1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1.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9.xml.rels><?xml version="1.0" encoding="UTF-8" standalone="yes"?>
<Relationships xmlns="http://schemas.openxmlformats.org/package/2006/relationships"><Relationship Id="rId1" Type="http://schemas.openxmlformats.org/officeDocument/2006/relationships/diagramLayout" Target="../diagrams/layout9.xml"/><Relationship Id="rId2" Type="http://schemas.openxmlformats.org/officeDocument/2006/relationships/diagramData" Target="../diagrams/data9.xml"/><Relationship Id="rId3" Type="http://schemas.microsoft.com/office/2007/relationships/diagramDrawing" Target="../diagrams/drawing9.xml"/><Relationship Id="rId4" Type="http://schemas.openxmlformats.org/officeDocument/2006/relationships/diagramColors" Target="../diagrams/colors9.xml"/><Relationship Id="rId5" Type="http://schemas.openxmlformats.org/officeDocument/2006/relationships/diagramQuickStyle" Target="../diagrams/quickStyle9.xml"/><Relationship Id="rId6" Type="http://schemas.openxmlformats.org/officeDocument/2006/relationships/slideLayout" Target="../slideLayouts/slideLayout116.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notesSlide" Target="../notesSlides/notesSlide19.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67.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04.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598.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1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43" name=""/>
        <p:cNvGrpSpPr/>
        <p:nvPr/>
      </p:nvGrpSpPr>
      <p:grpSpPr>
        <a:xfrm>
          <a:off x="0" y="0"/>
          <a:ext cx="0" cy="0"/>
          <a:chOff x="0" y="0"/>
          <a:chExt cx="0" cy="0"/>
        </a:xfrm>
      </p:grpSpPr>
      <p:sp>
        <p:nvSpPr>
          <p:cNvPr id="1048624" name="Title 1"/>
          <p:cNvSpPr>
            <a:spLocks noGrp="1"/>
          </p:cNvSpPr>
          <p:nvPr>
            <p:ph type="ctrTitle"/>
          </p:nvPr>
        </p:nvSpPr>
        <p:spPr>
          <a:xfrm>
            <a:off x="1047750" y="1295400"/>
            <a:ext cx="10096500" cy="1981200"/>
          </a:xfrm>
          <a:solidFill>
            <a:srgbClr val="FF00FF"/>
          </a:solidFill>
          <a:ln>
            <a:noFill/>
          </a:ln>
          <a:effectLst>
            <a:outerShdw algn="ctr" blurRad="225425" dir="5220000" dist="50800">
              <a:srgbClr val="000000">
                <a:alpha val="33000"/>
              </a:srgbClr>
            </a:outerShdw>
          </a:effectLst>
          <a:scene3d>
            <a:camera prst="perspectiveFront" fov="3300000">
              <a:rot lat="486000" lon="19530000" rev="174000"/>
            </a:camera>
            <a:lightRig dir="t" rig="harsh">
              <a:rot lat="0" lon="0" rev="3000000"/>
            </a:lightRig>
          </a:scene3d>
          <a:sp3d extrusionH="254000" contourW="19050">
            <a:bevelT w="82550" h="44450" prst="angle"/>
            <a:bevelB w="82550" h="44450" prst="angle"/>
            <a:contourClr>
              <a:srgbClr val="FFFFFF"/>
            </a:contourClr>
          </a:sp3d>
        </p:spPr>
        <p:txBody>
          <a:bodyPr>
            <a:noAutofit/>
          </a:bodyPr>
          <a:p>
            <a:r>
              <a:rPr b="1" dirty="0" sz="7200" lang="en-US" smtClean="0">
                <a:solidFill>
                  <a:srgbClr val="FFFF00"/>
                </a:solidFill>
                <a:effectLst>
                  <a:outerShdw algn="tl" blurRad="38100" dir="2700000" dist="38100">
                    <a:srgbClr val="000000">
                      <a:alpha val="43137"/>
                    </a:srgbClr>
                  </a:outerShdw>
                </a:effectLst>
                <a:latin typeface="Algerian" pitchFamily="82" charset="0"/>
              </a:rPr>
              <a:t>THEORY II</a:t>
            </a:r>
            <a:r>
              <a:rPr b="1" dirty="0" sz="7200" lang="en-US" smtClean="0">
                <a:solidFill>
                  <a:srgbClr val="FFFF00"/>
                </a:solidFill>
                <a:effectLst>
                  <a:outerShdw algn="tl" blurRad="38100" dir="2700000" dist="38100">
                    <a:srgbClr val="000000">
                      <a:alpha val="43137"/>
                    </a:srgbClr>
                  </a:outerShdw>
                </a:effectLst>
                <a:latin typeface="Algerian" pitchFamily="82" charset="0"/>
              </a:rPr>
              <a:t> MIDWIFERY</a:t>
            </a:r>
            <a:br>
              <a:rPr b="1" dirty="0" sz="7200" lang="en-US" smtClean="0">
                <a:solidFill>
                  <a:srgbClr val="FFFF00"/>
                </a:solidFill>
                <a:effectLst>
                  <a:outerShdw algn="tl" blurRad="38100" dir="2700000" dist="38100">
                    <a:srgbClr val="000000">
                      <a:alpha val="43137"/>
                    </a:srgbClr>
                  </a:outerShdw>
                </a:effectLst>
                <a:latin typeface="Algerian" pitchFamily="82" charset="0"/>
              </a:rPr>
            </a:br>
            <a:r>
              <a:rPr b="1" dirty="0" sz="7200" lang="en-US" smtClean="0">
                <a:solidFill>
                  <a:srgbClr val="FFFF00"/>
                </a:solidFill>
                <a:effectLst>
                  <a:outerShdw algn="tl" blurRad="38100" dir="2700000" dist="38100">
                    <a:srgbClr val="000000">
                      <a:alpha val="43137"/>
                    </a:srgbClr>
                  </a:outerShdw>
                </a:effectLst>
                <a:latin typeface="Algerian" pitchFamily="82" charset="0"/>
              </a:rPr>
              <a:t>Cont’</a:t>
            </a:r>
            <a:endParaRPr b="1" dirty="0" sz="7200" lang="en-US">
              <a:solidFill>
                <a:srgbClr val="FFFF00"/>
              </a:solidFill>
              <a:effectLst>
                <a:outerShdw algn="tl" blurRad="38100" dir="2700000" dist="38100">
                  <a:srgbClr val="000000">
                    <a:alpha val="43137"/>
                  </a:srgbClr>
                </a:outerShdw>
              </a:effectLst>
              <a:latin typeface="Algerian" pitchFamily="82" charset="0"/>
            </a:endParaRPr>
          </a:p>
        </p:txBody>
      </p:sp>
      <p:sp>
        <p:nvSpPr>
          <p:cNvPr id="1048625" name="Flowchart: Punched Tape 3"/>
          <p:cNvSpPr/>
          <p:nvPr/>
        </p:nvSpPr>
        <p:spPr>
          <a:xfrm>
            <a:off x="3524251" y="5029200"/>
            <a:ext cx="4953000" cy="1642872"/>
          </a:xfrm>
          <a:prstGeom prst="flowChartPunchedTape"/>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3600" lang="en-US" smtClean="0">
                <a:solidFill>
                  <a:srgbClr val="FFFF00"/>
                </a:solidFill>
                <a:effectLst>
                  <a:outerShdw algn="tl" blurRad="38100" dir="2700000" dist="38100">
                    <a:srgbClr val="000000">
                      <a:alpha val="43137"/>
                    </a:srgbClr>
                  </a:outerShdw>
                </a:effectLst>
                <a:latin typeface="Algerian" pitchFamily="82" charset="0"/>
              </a:rPr>
              <a:t>BY MR. </a:t>
            </a:r>
            <a:r>
              <a:rPr b="1" sz="3600" lang="en-US" smtClean="0">
                <a:solidFill>
                  <a:srgbClr val="FFFF00"/>
                </a:solidFill>
                <a:effectLst>
                  <a:outerShdw algn="tl" blurRad="38100" dir="2700000" dist="38100">
                    <a:srgbClr val="000000">
                      <a:alpha val="43137"/>
                    </a:srgbClr>
                  </a:outerShdw>
                </a:effectLst>
                <a:latin typeface="Algerian" pitchFamily="82" charset="0"/>
              </a:rPr>
              <a:t>MUSOVYA</a:t>
            </a:r>
            <a:endParaRPr b="1" dirty="0" sz="3600" lang="en-US" smtClean="0">
              <a:solidFill>
                <a:srgbClr val="FFFF00"/>
              </a:solidFill>
              <a:effectLst>
                <a:outerShdw algn="tl" blurRad="38100" dir="2700000" dist="38100">
                  <a:srgbClr val="000000">
                    <a:alpha val="43137"/>
                  </a:srgbClr>
                </a:outerShdw>
              </a:effectLst>
              <a:latin typeface="Algerian" pitchFamily="82" charset="0"/>
            </a:endParaRPr>
          </a:p>
          <a:p>
            <a:pPr algn="ctr"/>
            <a:r>
              <a:rPr b="1" dirty="0" sz="3600" lang="en-US" smtClean="0">
                <a:solidFill>
                  <a:srgbClr val="FFFF00"/>
                </a:solidFill>
                <a:effectLst>
                  <a:outerShdw algn="tl" blurRad="38100" dir="2700000" dist="38100">
                    <a:srgbClr val="000000">
                      <a:alpha val="43137"/>
                    </a:srgbClr>
                  </a:outerShdw>
                </a:effectLst>
                <a:latin typeface="AR HERMANN" pitchFamily="2" charset="0"/>
              </a:rPr>
              <a:t>WELCOME</a:t>
            </a:r>
            <a:endParaRPr b="1" dirty="0" sz="3600" lang="en-US">
              <a:solidFill>
                <a:srgbClr val="FFFF00"/>
              </a:solidFill>
              <a:effectLst>
                <a:outerShdw algn="tl" blurRad="38100" dir="2700000" dist="38100">
                  <a:srgbClr val="000000">
                    <a:alpha val="43137"/>
                  </a:srgbClr>
                </a:outerShdw>
              </a:effectLst>
              <a:latin typeface="AR HERMANN" pitchFamily="2" charset="0"/>
            </a:endParaRPr>
          </a:p>
        </p:txBody>
      </p:sp>
    </p:spTree>
  </p:cSld>
  <p:clrMapOvr>
    <a:masterClrMapping/>
  </p:clrMapOvr>
  <p:transition xmlns:p14="http://schemas.microsoft.com/office/powerpoint/2010/main" spd="slow">
    <p:strips dir="ru"/>
  </p:transition>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45" name=""/>
        <p:cNvGrpSpPr/>
        <p:nvPr/>
      </p:nvGrpSpPr>
      <p:grpSpPr>
        <a:xfrm>
          <a:off x="0" y="0"/>
          <a:ext cx="0" cy="0"/>
          <a:chOff x="0" y="0"/>
          <a:chExt cx="0" cy="0"/>
        </a:xfrm>
      </p:grpSpPr>
      <p:sp>
        <p:nvSpPr>
          <p:cNvPr id="1048631" name="Title 1"/>
          <p:cNvSpPr>
            <a:spLocks noGrp="1"/>
          </p:cNvSpPr>
          <p:nvPr>
            <p:ph type="title"/>
          </p:nvPr>
        </p:nvSpPr>
        <p:spPr>
          <a:xfrm>
            <a:off x="285751" y="152400"/>
            <a:ext cx="10953750" cy="1143000"/>
          </a:xfrm>
          <a:solidFill>
            <a:srgbClr val="FF00FF"/>
          </a:solidFill>
          <a:ln>
            <a:noFill/>
          </a:ln>
          <a:effectLst>
            <a:outerShdw algn="ctr" blurRad="190500" dir="2700000" dist="228600">
              <a:srgbClr val="000000">
                <a:alpha val="30000"/>
              </a:srgbClr>
            </a:outerShdw>
          </a:effectLst>
          <a:scene3d>
            <a:camera prst="orthographicFront">
              <a:rot lat="0" lon="0" rev="0"/>
            </a:camera>
            <a:lightRig dir="t" rig="glow">
              <a:rot lat="0" lon="0" rev="4800000"/>
            </a:lightRig>
          </a:scene3d>
          <a:sp3d prstMaterial="matte">
            <a:bevelT w="127000" h="63500"/>
          </a:sp3d>
        </p:spPr>
        <p:txBody>
          <a:bodyPr/>
          <a:p>
            <a:r>
              <a:rPr b="1" dirty="0" lang="en-US" smtClean="0">
                <a:solidFill>
                  <a:srgbClr val="FFFF00"/>
                </a:solidFill>
                <a:effectLst>
                  <a:outerShdw algn="tl" blurRad="38100" dir="2700000" dist="38100">
                    <a:srgbClr val="000000">
                      <a:alpha val="43137"/>
                    </a:srgbClr>
                  </a:outerShdw>
                </a:effectLst>
                <a:latin typeface="Algerian" pitchFamily="82" charset="0"/>
              </a:rPr>
              <a:t>COURSE OUTLINE- </a:t>
            </a:r>
            <a:r>
              <a:rPr b="1" dirty="0" lang="en-US" smtClean="0">
                <a:solidFill>
                  <a:srgbClr val="FFFF00"/>
                </a:solidFill>
                <a:effectLst>
                  <a:outerShdw algn="tl" blurRad="38100" dir="2700000" dist="38100">
                    <a:srgbClr val="000000">
                      <a:alpha val="43137"/>
                    </a:srgbClr>
                  </a:outerShdw>
                </a:effectLst>
                <a:latin typeface="Algerian" pitchFamily="82" charset="0"/>
              </a:rPr>
              <a:t>theory  </a:t>
            </a:r>
            <a:r>
              <a:rPr b="1" dirty="0" lang="en-US" err="1" smtClean="0">
                <a:solidFill>
                  <a:srgbClr val="FFFF00"/>
                </a:solidFill>
                <a:effectLst>
                  <a:outerShdw algn="tl" blurRad="38100" dir="2700000" dist="38100">
                    <a:srgbClr val="000000">
                      <a:alpha val="43137"/>
                    </a:srgbClr>
                  </a:outerShdw>
                </a:effectLst>
                <a:latin typeface="Algerian" pitchFamily="82" charset="0"/>
              </a:rPr>
              <a:t>i</a:t>
            </a:r>
            <a:r>
              <a:rPr b="1" dirty="0" lang="en-US" smtClean="0">
                <a:solidFill>
                  <a:srgbClr val="FFFF00"/>
                </a:solidFill>
                <a:effectLst>
                  <a:outerShdw algn="tl" blurRad="38100" dir="2700000" dist="38100">
                    <a:srgbClr val="000000">
                      <a:alpha val="43137"/>
                    </a:srgbClr>
                  </a:outerShdw>
                </a:effectLst>
                <a:latin typeface="Algerian" pitchFamily="82" charset="0"/>
              </a:rPr>
              <a:t> I </a:t>
            </a:r>
            <a:r>
              <a:rPr b="1" dirty="0" lang="en-US" err="1" smtClean="0">
                <a:solidFill>
                  <a:srgbClr val="FFFF00"/>
                </a:solidFill>
                <a:effectLst>
                  <a:outerShdw algn="tl" blurRad="38100" dir="2700000" dist="38100">
                    <a:srgbClr val="000000">
                      <a:alpha val="43137"/>
                    </a:srgbClr>
                  </a:outerShdw>
                </a:effectLst>
                <a:latin typeface="Algerian" pitchFamily="82" charset="0"/>
              </a:rPr>
              <a:t>cont</a:t>
            </a:r>
            <a:r>
              <a:rPr b="1" dirty="0" lang="en-US" smtClean="0">
                <a:solidFill>
                  <a:srgbClr val="FFFF00"/>
                </a:solidFill>
                <a:effectLst>
                  <a:outerShdw algn="tl" blurRad="38100" dir="2700000" dist="38100">
                    <a:srgbClr val="000000">
                      <a:alpha val="43137"/>
                    </a:srgbClr>
                  </a:outerShdw>
                </a:effectLst>
                <a:latin typeface="Algerian" pitchFamily="82" charset="0"/>
              </a:rPr>
              <a:t>’</a:t>
            </a:r>
            <a:endParaRPr b="1" dirty="0" lang="en-US">
              <a:solidFill>
                <a:srgbClr val="FFFF00"/>
              </a:solidFill>
              <a:effectLst>
                <a:outerShdw algn="tl" blurRad="38100" dir="2700000" dist="38100">
                  <a:srgbClr val="000000">
                    <a:alpha val="43137"/>
                  </a:srgbClr>
                </a:outerShdw>
              </a:effectLst>
              <a:latin typeface="Algerian" pitchFamily="82" charset="0"/>
            </a:endParaRPr>
          </a:p>
        </p:txBody>
      </p:sp>
      <p:sp>
        <p:nvSpPr>
          <p:cNvPr id="1048632" name="Content Placeholder 2"/>
          <p:cNvSpPr>
            <a:spLocks noGrp="1"/>
          </p:cNvSpPr>
          <p:nvPr>
            <p:ph sz="quarter" idx="1"/>
          </p:nvPr>
        </p:nvSpPr>
        <p:spPr>
          <a:xfrm>
            <a:off x="190500" y="1447800"/>
            <a:ext cx="11049000" cy="5410200"/>
          </a:xfrm>
        </p:spPr>
        <p:txBody>
          <a:bodyPr>
            <a:normAutofit/>
          </a:bodyPr>
          <a:p>
            <a:pPr indent="-514350" marL="514350">
              <a:buFont typeface="+mj-lt"/>
              <a:buAutoNum type="arabicPeriod"/>
            </a:pPr>
            <a:r>
              <a:rPr b="1" dirty="0" sz="2800" lang="en-US" u="sng" smtClean="0">
                <a:latin typeface="Calibri" pitchFamily="34" charset="0"/>
              </a:rPr>
              <a:t>PREGNANCY INDUCED CONDITIONS:</a:t>
            </a:r>
          </a:p>
          <a:p>
            <a:pPr indent="-514350" lvl="1" marL="788670"/>
            <a:r>
              <a:rPr dirty="0" sz="2800" lang="en-US" smtClean="0">
                <a:latin typeface="Calibri" pitchFamily="34" charset="0"/>
              </a:rPr>
              <a:t>Hyperemesis gravidarum</a:t>
            </a:r>
          </a:p>
          <a:p>
            <a:pPr indent="-514350" lvl="1" marL="788670"/>
            <a:r>
              <a:rPr dirty="0" sz="2800" lang="en-US" smtClean="0">
                <a:latin typeface="Calibri" pitchFamily="34" charset="0"/>
              </a:rPr>
              <a:t>APH</a:t>
            </a:r>
          </a:p>
          <a:p>
            <a:pPr indent="-514350" lvl="1" marL="788670"/>
            <a:r>
              <a:rPr dirty="0" sz="2800" lang="en-US" smtClean="0">
                <a:latin typeface="Calibri" pitchFamily="34" charset="0"/>
              </a:rPr>
              <a:t>Pre-eclampsia &amp; eclampsia</a:t>
            </a:r>
          </a:p>
          <a:p>
            <a:pPr indent="-514350" lvl="1" marL="788670"/>
            <a:r>
              <a:rPr dirty="0" sz="2800" lang="en-US" smtClean="0">
                <a:latin typeface="Calibri" pitchFamily="34" charset="0"/>
              </a:rPr>
              <a:t>Polyhydramnious</a:t>
            </a:r>
          </a:p>
          <a:p>
            <a:pPr indent="-514350" lvl="1" marL="788670"/>
            <a:r>
              <a:rPr dirty="0" sz="2800" lang="en-US" smtClean="0">
                <a:latin typeface="Calibri" pitchFamily="34" charset="0"/>
              </a:rPr>
              <a:t>Multiple pregnancy</a:t>
            </a:r>
          </a:p>
          <a:p>
            <a:pPr>
              <a:buNone/>
            </a:pPr>
            <a:r>
              <a:rPr b="1" cap="all" dirty="0" sz="2800" lang="en-US" smtClean="0">
                <a:ln w="9000" cmpd="sng">
                  <a:solidFill>
                    <a:schemeClr val="accent4">
                      <a:shade val="50000"/>
                      <a:satMod val="120000"/>
                    </a:schemeClr>
                  </a:solidFill>
                  <a:prstDash val="solid"/>
                </a:ln>
                <a:solidFill>
                  <a:srgbClr val="7030A0"/>
                </a:solidFill>
                <a:effectLst>
                  <a:reflection algn="bl" blurRad="12700" dir="5400000" dist="1000" endPos="45000" rotWithShape="0" stA="28000" sy="-100000"/>
                </a:effectLst>
                <a:latin typeface="Calibri" pitchFamily="34" charset="0"/>
                <a:cs typeface="Times New Roman" pitchFamily="18" charset="0"/>
              </a:rPr>
              <a:t>	</a:t>
            </a:r>
            <a:r>
              <a:rPr b="1" cap="all" dirty="0" sz="2800" lang="en-US" u="sng" smtClean="0">
                <a:ln w="9000" cmpd="sng">
                  <a:solidFill>
                    <a:schemeClr val="accent4">
                      <a:shade val="50000"/>
                      <a:satMod val="120000"/>
                    </a:schemeClr>
                  </a:solidFill>
                  <a:prstDash val="solid"/>
                </a:ln>
                <a:solidFill>
                  <a:srgbClr val="7030A0"/>
                </a:solidFill>
                <a:effectLst>
                  <a:reflection algn="bl" blurRad="12700" dir="5400000" dist="1000" endPos="45000" rotWithShape="0" stA="28000" sy="-100000"/>
                </a:effectLst>
                <a:latin typeface="Calibri" pitchFamily="34" charset="0"/>
                <a:cs typeface="Times New Roman" pitchFamily="18" charset="0"/>
              </a:rPr>
              <a:t>ASSIGNMENT</a:t>
            </a:r>
          </a:p>
          <a:p>
            <a:pPr lvl="1"/>
            <a:r>
              <a:rPr dirty="0" sz="2800" lang="en-US" smtClean="0">
                <a:ln w="9000" cmpd="sng">
                  <a:solidFill>
                    <a:schemeClr val="accent4">
                      <a:shade val="50000"/>
                      <a:satMod val="120000"/>
                    </a:schemeClr>
                  </a:solidFill>
                  <a:prstDash val="solid"/>
                </a:ln>
                <a:solidFill>
                  <a:schemeClr val="tx1">
                    <a:lumMod val="50000"/>
                  </a:schemeClr>
                </a:solidFill>
                <a:effectLst>
                  <a:reflection algn="bl" blurRad="12700" dir="5400000" dist="1000" endPos="45000" rotWithShape="0" stA="28000" sy="-100000"/>
                </a:effectLst>
                <a:latin typeface="Calibri" pitchFamily="34" charset="0"/>
                <a:cs typeface="Times New Roman" pitchFamily="18" charset="0"/>
              </a:rPr>
              <a:t>Fungal vulval- vaginitis infection</a:t>
            </a:r>
          </a:p>
          <a:p>
            <a:pPr lvl="1"/>
            <a:r>
              <a:rPr dirty="0" sz="2800" lang="en-US" smtClean="0">
                <a:ln w="9000" cmpd="sng">
                  <a:solidFill>
                    <a:schemeClr val="accent4">
                      <a:shade val="50000"/>
                      <a:satMod val="120000"/>
                    </a:schemeClr>
                  </a:solidFill>
                  <a:prstDash val="solid"/>
                </a:ln>
                <a:solidFill>
                  <a:schemeClr val="tx1">
                    <a:lumMod val="50000"/>
                  </a:schemeClr>
                </a:solidFill>
                <a:effectLst>
                  <a:reflection algn="bl" blurRad="12700" dir="5400000" dist="1000" endPos="45000" rotWithShape="0" stA="28000" sy="-100000"/>
                </a:effectLst>
                <a:latin typeface="Calibri" pitchFamily="34" charset="0"/>
                <a:cs typeface="Times New Roman" pitchFamily="18" charset="0"/>
              </a:rPr>
              <a:t>HELLP syndrome</a:t>
            </a:r>
            <a:endParaRPr dirty="0" sz="2800" lang="en-US" smtClean="0">
              <a:latin typeface="Calibri" pitchFamily="34" charset="0"/>
            </a:endParaRPr>
          </a:p>
          <a:p>
            <a:pPr indent="-514350" marL="514350">
              <a:buNone/>
            </a:pPr>
            <a:r>
              <a:rPr dirty="0" sz="2800" lang="en-US" smtClean="0">
                <a:latin typeface="Calibri" pitchFamily="34" charset="0"/>
              </a:rPr>
              <a:t/>
            </a:r>
            <a:br>
              <a:rPr dirty="0" sz="2800" lang="en-US" smtClean="0">
                <a:latin typeface="Calibri" pitchFamily="34" charset="0"/>
              </a:rPr>
            </a:br>
            <a:endParaRPr dirty="0" sz="2800" lang="en-US">
              <a:latin typeface="Calibri" pitchFamily="34" charset="0"/>
            </a:endParaRPr>
          </a:p>
        </p:txBody>
      </p:sp>
      <p:sp>
        <p:nvSpPr>
          <p:cNvPr id="104863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47" name=""/>
        <p:cNvGrpSpPr/>
        <p:nvPr/>
      </p:nvGrpSpPr>
      <p:grpSpPr>
        <a:xfrm>
          <a:off x="0" y="0"/>
          <a:ext cx="0" cy="0"/>
          <a:chOff x="0" y="0"/>
          <a:chExt cx="0" cy="0"/>
        </a:xfrm>
      </p:grpSpPr>
      <p:sp>
        <p:nvSpPr>
          <p:cNvPr id="1048640" name="Title 1"/>
          <p:cNvSpPr>
            <a:spLocks noGrp="1"/>
          </p:cNvSpPr>
          <p:nvPr>
            <p:ph type="title"/>
          </p:nvPr>
        </p:nvSpPr>
        <p:spPr>
          <a:xfrm>
            <a:off x="1143000" y="0"/>
            <a:ext cx="9715500" cy="914400"/>
          </a:xfrm>
        </p:spPr>
        <p:txBody>
          <a:bodyPr/>
          <a:p>
            <a:r>
              <a:rPr b="1" dirty="0" lang="en-US" smtClean="0">
                <a:solidFill>
                  <a:srgbClr val="FF00FF"/>
                </a:solidFill>
                <a:latin typeface="Algerian" pitchFamily="82" charset="0"/>
              </a:rPr>
              <a:t>COURSE OTLINE CNTD’</a:t>
            </a:r>
            <a:endParaRPr b="1" dirty="0" lang="en-US">
              <a:solidFill>
                <a:srgbClr val="FF00FF"/>
              </a:solidFill>
              <a:latin typeface="Algerian" pitchFamily="82" charset="0"/>
            </a:endParaRPr>
          </a:p>
        </p:txBody>
      </p:sp>
      <p:sp>
        <p:nvSpPr>
          <p:cNvPr id="1048641" name="Content Placeholder 2"/>
          <p:cNvSpPr>
            <a:spLocks noGrp="1"/>
          </p:cNvSpPr>
          <p:nvPr>
            <p:ph sz="quarter" idx="1"/>
          </p:nvPr>
        </p:nvSpPr>
        <p:spPr>
          <a:xfrm>
            <a:off x="190501" y="762000"/>
            <a:ext cx="6858000" cy="6096000"/>
          </a:xfrm>
        </p:spPr>
        <p:txBody>
          <a:bodyPr>
            <a:noAutofit/>
          </a:bodyPr>
          <a:p>
            <a:pPr indent="-514350" marL="514350">
              <a:buFont typeface="+mj-lt"/>
              <a:buAutoNum type="arabicPeriod" startAt="2"/>
            </a:pPr>
            <a:r>
              <a:rPr b="1" dirty="0" sz="2800" lang="en-US" u="sng" smtClean="0">
                <a:latin typeface="Calibri" pitchFamily="34" charset="0"/>
              </a:rPr>
              <a:t>ASSOCIATED MEDICAL CONDITIONS IN PREGNANCY:</a:t>
            </a:r>
          </a:p>
          <a:p>
            <a:pPr indent="-514350" lvl="1" marL="788670"/>
            <a:r>
              <a:rPr dirty="0" sz="2800" lang="en-US" smtClean="0">
                <a:latin typeface="Calibri" pitchFamily="34" charset="0"/>
              </a:rPr>
              <a:t>TB in pregnancy</a:t>
            </a:r>
          </a:p>
          <a:p>
            <a:pPr indent="-514350" lvl="1" marL="788670"/>
            <a:r>
              <a:rPr dirty="0" sz="2800" lang="en-US" smtClean="0">
                <a:latin typeface="Calibri" pitchFamily="34" charset="0"/>
              </a:rPr>
              <a:t>Diabetes mellitus</a:t>
            </a:r>
          </a:p>
          <a:p>
            <a:pPr indent="-514350" lvl="1" marL="788670"/>
            <a:r>
              <a:rPr dirty="0" sz="2800" lang="en-US" smtClean="0">
                <a:latin typeface="Calibri" pitchFamily="34" charset="0"/>
              </a:rPr>
              <a:t>Anaemia</a:t>
            </a:r>
          </a:p>
          <a:p>
            <a:pPr indent="-514350" lvl="1" marL="788670"/>
            <a:r>
              <a:rPr dirty="0" sz="2800" lang="en-US" smtClean="0">
                <a:latin typeface="Calibri" pitchFamily="34" charset="0"/>
              </a:rPr>
              <a:t>Cardiac disease</a:t>
            </a:r>
          </a:p>
          <a:p>
            <a:pPr indent="-514350" lvl="1" marL="788670"/>
            <a:r>
              <a:rPr dirty="0" sz="2800" lang="en-US" smtClean="0">
                <a:latin typeface="Calibri" pitchFamily="34" charset="0"/>
              </a:rPr>
              <a:t>Pyelonephritis</a:t>
            </a:r>
          </a:p>
          <a:p>
            <a:pPr indent="-514350" lvl="1" marL="788670"/>
            <a:r>
              <a:rPr dirty="0" sz="2800" lang="en-US" smtClean="0">
                <a:latin typeface="Calibri" pitchFamily="34" charset="0"/>
              </a:rPr>
              <a:t>Malaria in pregnancy</a:t>
            </a:r>
          </a:p>
          <a:p>
            <a:pPr>
              <a:buNone/>
            </a:pPr>
            <a:r>
              <a:rPr b="1" dirty="0" sz="2800" lang="en-US" u="sng" smtClean="0">
                <a:solidFill>
                  <a:srgbClr val="7030A0"/>
                </a:solidFill>
                <a:latin typeface="Calibri" pitchFamily="34" charset="0"/>
                <a:cs typeface="Times New Roman" pitchFamily="18" charset="0"/>
              </a:rPr>
              <a:t>ASSIGNMENT</a:t>
            </a:r>
          </a:p>
          <a:p>
            <a:pPr lvl="1"/>
            <a:r>
              <a:rPr dirty="0" sz="2800" lang="en-US" smtClean="0">
                <a:solidFill>
                  <a:schemeClr val="tx1">
                    <a:lumMod val="50000"/>
                  </a:schemeClr>
                </a:solidFill>
                <a:latin typeface="Calibri" pitchFamily="34" charset="0"/>
                <a:cs typeface="Times New Roman" pitchFamily="18" charset="0"/>
              </a:rPr>
              <a:t>Principles of drug use prenatally </a:t>
            </a:r>
          </a:p>
          <a:p>
            <a:pPr lvl="1"/>
            <a:r>
              <a:rPr dirty="0" sz="2800" lang="en-US" smtClean="0">
                <a:solidFill>
                  <a:schemeClr val="tx1">
                    <a:lumMod val="50000"/>
                  </a:schemeClr>
                </a:solidFill>
                <a:latin typeface="Calibri" pitchFamily="34" charset="0"/>
                <a:cs typeface="Times New Roman" pitchFamily="18" charset="0"/>
              </a:rPr>
              <a:t>Asthma, epilepsy, renal dse among others.</a:t>
            </a:r>
          </a:p>
          <a:p>
            <a:pPr indent="-514350" lvl="1" marL="788670">
              <a:buNone/>
            </a:pPr>
            <a:endParaRPr b="1" dirty="0" sz="2800" lang="en-US" smtClean="0"/>
          </a:p>
        </p:txBody>
      </p:sp>
      <p:sp>
        <p:nvSpPr>
          <p:cNvPr id="1048642" name="Content Placeholder 3"/>
          <p:cNvSpPr>
            <a:spLocks noGrp="1"/>
          </p:cNvSpPr>
          <p:nvPr>
            <p:ph sz="quarter" idx="2"/>
          </p:nvPr>
        </p:nvSpPr>
        <p:spPr>
          <a:xfrm>
            <a:off x="6553200" y="914400"/>
            <a:ext cx="4876800" cy="5105400"/>
          </a:xfrm>
        </p:spPr>
        <p:txBody>
          <a:bodyPr/>
          <a:p>
            <a:pPr indent="-514350" marL="514350">
              <a:buFont typeface="+mj-lt"/>
              <a:buAutoNum type="arabicPeriod" startAt="3"/>
            </a:pPr>
            <a:r>
              <a:rPr b="1" dirty="0" sz="2800" lang="en-US" u="sng" smtClean="0"/>
              <a:t>LABOUR RELATED:</a:t>
            </a:r>
          </a:p>
          <a:p>
            <a:pPr indent="-514350" lvl="1" marL="788670"/>
            <a:r>
              <a:rPr dirty="0" sz="2800" lang="en-US" smtClean="0">
                <a:latin typeface="Calibri" pitchFamily="34" charset="0"/>
              </a:rPr>
              <a:t>Pain relief during labour</a:t>
            </a:r>
          </a:p>
          <a:p>
            <a:pPr indent="-514350" lvl="1" marL="788670"/>
            <a:r>
              <a:rPr dirty="0" sz="2800" lang="en-US" smtClean="0">
                <a:latin typeface="Calibri" pitchFamily="34" charset="0"/>
              </a:rPr>
              <a:t>Abnormal uterine action</a:t>
            </a:r>
          </a:p>
          <a:p>
            <a:pPr indent="-514350" lvl="1" marL="788670"/>
            <a:r>
              <a:rPr dirty="0" sz="2800" lang="en-US" smtClean="0">
                <a:latin typeface="Calibri" pitchFamily="34" charset="0"/>
              </a:rPr>
              <a:t>Induction of labour</a:t>
            </a:r>
          </a:p>
          <a:p>
            <a:pPr indent="-514350" lvl="1" marL="788670"/>
            <a:r>
              <a:rPr dirty="0" sz="2800" lang="en-US" smtClean="0">
                <a:latin typeface="Calibri" pitchFamily="34" charset="0"/>
              </a:rPr>
              <a:t>PPH</a:t>
            </a:r>
          </a:p>
          <a:p>
            <a:endParaRPr dirty="0" lang="en-US"/>
          </a:p>
        </p:txBody>
      </p:sp>
      <p:sp>
        <p:nvSpPr>
          <p:cNvPr id="1048643" name="Footer Placeholder 4"/>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48" name=""/>
        <p:cNvGrpSpPr/>
        <p:nvPr/>
      </p:nvGrpSpPr>
      <p:grpSpPr>
        <a:xfrm>
          <a:off x="0" y="0"/>
          <a:ext cx="0" cy="0"/>
          <a:chOff x="0" y="0"/>
          <a:chExt cx="0" cy="0"/>
        </a:xfrm>
      </p:grpSpPr>
      <p:sp>
        <p:nvSpPr>
          <p:cNvPr id="1048644" name="Title 1"/>
          <p:cNvSpPr>
            <a:spLocks noGrp="1"/>
          </p:cNvSpPr>
          <p:nvPr>
            <p:ph type="title"/>
          </p:nvPr>
        </p:nvSpPr>
        <p:spPr>
          <a:xfrm>
            <a:off x="381000" y="274639"/>
            <a:ext cx="10668000" cy="1143000"/>
          </a:xfrm>
          <a:solidFill>
            <a:srgbClr val="FF00FF"/>
          </a:solidFill>
          <a:ln>
            <a:noFill/>
          </a:ln>
          <a:effectLst>
            <a:outerShdw algn="ctr" blurRad="107950" dir="5400000" dist="12700">
              <a:srgbClr val="000000"/>
            </a:outerShdw>
          </a:effectLst>
          <a:scene3d>
            <a:camera prst="orthographicFront">
              <a:rot lat="0" lon="0" rev="0"/>
            </a:camera>
            <a:lightRig dir="t" rig="soft">
              <a:rot lat="0" lon="0" rev="0"/>
            </a:lightRig>
          </a:scene3d>
          <a:sp3d contourW="44450" prstMaterial="matte">
            <a:bevelT w="63500" h="63500" prst="artDeco"/>
            <a:contourClr>
              <a:srgbClr val="FFFFFF"/>
            </a:contourClr>
          </a:sp3d>
        </p:spPr>
        <p:txBody>
          <a:bodyPr/>
          <a:p>
            <a:pPr algn="ctr"/>
            <a:r>
              <a:rPr b="1" dirty="0" lang="en-US" smtClean="0">
                <a:solidFill>
                  <a:srgbClr val="FFFF00"/>
                </a:solidFill>
                <a:latin typeface="Aharoni" pitchFamily="2" charset="-79"/>
                <a:cs typeface="Aharoni" pitchFamily="2" charset="-79"/>
              </a:rPr>
              <a:t>OBJECTIVES:</a:t>
            </a:r>
            <a:endParaRPr b="1" dirty="0" lang="en-US">
              <a:solidFill>
                <a:srgbClr val="FFFF00"/>
              </a:solidFill>
              <a:latin typeface="Aharoni" pitchFamily="2" charset="-79"/>
              <a:cs typeface="Aharoni" pitchFamily="2" charset="-79"/>
            </a:endParaRPr>
          </a:p>
        </p:txBody>
      </p:sp>
      <p:sp>
        <p:nvSpPr>
          <p:cNvPr id="1048645" name="Content Placeholder 2"/>
          <p:cNvSpPr>
            <a:spLocks noGrp="1"/>
          </p:cNvSpPr>
          <p:nvPr>
            <p:ph sz="quarter" idx="1"/>
          </p:nvPr>
        </p:nvSpPr>
        <p:spPr>
          <a:xfrm>
            <a:off x="190500" y="1447800"/>
            <a:ext cx="11239500" cy="5410200"/>
          </a:xfrm>
        </p:spPr>
        <p:txBody>
          <a:bodyPr>
            <a:normAutofit/>
          </a:bodyPr>
          <a:p>
            <a:pPr algn="just">
              <a:buFont typeface="Wingdings" pitchFamily="2" charset="2"/>
              <a:buChar char="q"/>
            </a:pPr>
            <a:r>
              <a:rPr dirty="0" sz="2800" lang="en-US" smtClean="0">
                <a:solidFill>
                  <a:schemeClr val="tx1">
                    <a:lumMod val="50000"/>
                  </a:schemeClr>
                </a:solidFill>
                <a:latin typeface="Calibri" pitchFamily="34" charset="0"/>
                <a:cs typeface="Times New Roman" pitchFamily="18" charset="0"/>
              </a:rPr>
              <a:t>By the end of the learning sessions, the learners will be able to:</a:t>
            </a:r>
          </a:p>
          <a:p>
            <a:pPr algn="just">
              <a:buFont typeface="Wingdings" pitchFamily="2" charset="2"/>
              <a:buChar char="Ø"/>
            </a:pPr>
            <a:r>
              <a:rPr dirty="0" sz="2800" lang="en-US" smtClean="0">
                <a:solidFill>
                  <a:schemeClr val="tx1">
                    <a:lumMod val="50000"/>
                  </a:schemeClr>
                </a:solidFill>
                <a:latin typeface="Calibri" pitchFamily="34" charset="0"/>
                <a:cs typeface="Times New Roman" pitchFamily="18" charset="0"/>
              </a:rPr>
              <a:t>Describe the specific conditions respectively</a:t>
            </a:r>
          </a:p>
          <a:p>
            <a:pPr algn="just">
              <a:buFont typeface="Wingdings" pitchFamily="2" charset="2"/>
              <a:buChar char="Ø"/>
            </a:pPr>
            <a:r>
              <a:rPr dirty="0" sz="2800" lang="en-US" smtClean="0">
                <a:solidFill>
                  <a:schemeClr val="tx1">
                    <a:lumMod val="50000"/>
                  </a:schemeClr>
                </a:solidFill>
                <a:latin typeface="Calibri" pitchFamily="34" charset="0"/>
                <a:cs typeface="Times New Roman" pitchFamily="18" charset="0"/>
              </a:rPr>
              <a:t>List and explain the various concepts related to the above conditions</a:t>
            </a:r>
          </a:p>
          <a:p>
            <a:pPr algn="just">
              <a:buFont typeface="Wingdings" pitchFamily="2" charset="2"/>
              <a:buChar char="Ø"/>
            </a:pPr>
            <a:r>
              <a:rPr dirty="0" sz="2800" lang="en-US" smtClean="0">
                <a:solidFill>
                  <a:schemeClr val="tx1">
                    <a:lumMod val="50000"/>
                  </a:schemeClr>
                </a:solidFill>
                <a:latin typeface="Calibri" pitchFamily="34" charset="0"/>
                <a:cs typeface="Times New Roman" pitchFamily="18" charset="0"/>
              </a:rPr>
              <a:t>Describe the respective pathophysiology</a:t>
            </a:r>
          </a:p>
          <a:p>
            <a:pPr algn="just">
              <a:buFont typeface="Wingdings" pitchFamily="2" charset="2"/>
              <a:buChar char="Ø"/>
            </a:pPr>
            <a:r>
              <a:rPr dirty="0" sz="2800" lang="en-US" smtClean="0">
                <a:solidFill>
                  <a:schemeClr val="tx1">
                    <a:lumMod val="50000"/>
                  </a:schemeClr>
                </a:solidFill>
                <a:latin typeface="Calibri" pitchFamily="34" charset="0"/>
                <a:cs typeface="Times New Roman" pitchFamily="18" charset="0"/>
              </a:rPr>
              <a:t>Describe the specific management to include</a:t>
            </a:r>
          </a:p>
          <a:p>
            <a:pPr algn="just">
              <a:buNone/>
            </a:pPr>
            <a:r>
              <a:rPr dirty="0" sz="2800" lang="en-US" smtClean="0">
                <a:solidFill>
                  <a:schemeClr val="tx1">
                    <a:lumMod val="50000"/>
                  </a:schemeClr>
                </a:solidFill>
                <a:latin typeface="Calibri" pitchFamily="34" charset="0"/>
                <a:cs typeface="Times New Roman" pitchFamily="18" charset="0"/>
              </a:rPr>
              <a:t>   preparation for home care and follow up care PRN</a:t>
            </a:r>
          </a:p>
          <a:p>
            <a:pPr algn="just">
              <a:buFont typeface="Wingdings" pitchFamily="2" charset="2"/>
              <a:buChar char="Ø"/>
            </a:pPr>
            <a:r>
              <a:rPr dirty="0" sz="2800" lang="en-US" smtClean="0">
                <a:solidFill>
                  <a:schemeClr val="tx1">
                    <a:lumMod val="50000"/>
                  </a:schemeClr>
                </a:solidFill>
                <a:latin typeface="Calibri" pitchFamily="34" charset="0"/>
                <a:cs typeface="Times New Roman" pitchFamily="18" charset="0"/>
              </a:rPr>
              <a:t>State the respective complications as well as the preventive measures.</a:t>
            </a:r>
          </a:p>
          <a:p>
            <a:pPr algn="just">
              <a:buFont typeface="Wingdings" pitchFamily="2" charset="2"/>
              <a:buChar char="v"/>
            </a:pPr>
            <a:r>
              <a:rPr dirty="0" sz="2800" lang="en-US" smtClean="0">
                <a:solidFill>
                  <a:schemeClr val="tx1">
                    <a:lumMod val="50000"/>
                  </a:schemeClr>
                </a:solidFill>
                <a:latin typeface="Calibri" pitchFamily="34" charset="0"/>
                <a:cs typeface="Times New Roman" pitchFamily="18" charset="0"/>
              </a:rPr>
              <a:t>Finally be able to practice the learned skills.</a:t>
            </a:r>
          </a:p>
          <a:p>
            <a:pPr algn="just"/>
            <a:endParaRPr dirty="0" sz="2800" lang="en-US">
              <a:latin typeface="Calibri" pitchFamily="34" charset="0"/>
            </a:endParaRPr>
          </a:p>
        </p:txBody>
      </p:sp>
      <p:sp>
        <p:nvSpPr>
          <p:cNvPr id="104864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49" name=""/>
        <p:cNvGrpSpPr/>
        <p:nvPr/>
      </p:nvGrpSpPr>
      <p:grpSpPr>
        <a:xfrm>
          <a:off x="0" y="0"/>
          <a:ext cx="0" cy="0"/>
          <a:chOff x="0" y="0"/>
          <a:chExt cx="0" cy="0"/>
        </a:xfrm>
      </p:grpSpPr>
      <p:sp>
        <p:nvSpPr>
          <p:cNvPr id="1048647" name="Title 3"/>
          <p:cNvSpPr>
            <a:spLocks noGrp="1"/>
          </p:cNvSpPr>
          <p:nvPr>
            <p:ph type="ctrTitle"/>
          </p:nvPr>
        </p:nvSpPr>
        <p:spPr/>
        <p:txBody>
          <a:bodyPr>
            <a:noAutofit/>
          </a:bodyPr>
          <a:p>
            <a:r>
              <a:rPr b="1" dirty="0" sz="5400" lang="en-US" smtClean="0">
                <a:solidFill>
                  <a:srgbClr val="FFFF00"/>
                </a:solidFill>
                <a:latin typeface="Algerian" pitchFamily="82" charset="0"/>
              </a:rPr>
              <a:t>PREGNANCY INDUCED CONDITIONS:</a:t>
            </a:r>
            <a:endParaRPr b="1" dirty="0" sz="5400" lang="en-US">
              <a:solidFill>
                <a:srgbClr val="FFFF00"/>
              </a:solidFill>
              <a:latin typeface="Algerian" pitchFamily="82" charset="0"/>
            </a:endParaRPr>
          </a:p>
        </p:txBody>
      </p:sp>
    </p:spTree>
  </p:cSld>
  <p:clrMapOvr>
    <a:masterClrMapping/>
  </p:clrMapOvr>
  <p:transition xmlns:p14="http://schemas.microsoft.com/office/powerpoint/2010/main" spd="slow">
    <p:strips dir="ru"/>
  </p:transition>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50" name=""/>
        <p:cNvGrpSpPr/>
        <p:nvPr/>
      </p:nvGrpSpPr>
      <p:grpSpPr>
        <a:xfrm>
          <a:off x="0" y="0"/>
          <a:ext cx="0" cy="0"/>
          <a:chOff x="0" y="0"/>
          <a:chExt cx="0" cy="0"/>
        </a:xfrm>
      </p:grpSpPr>
      <p:sp>
        <p:nvSpPr>
          <p:cNvPr id="1048648" name="Title 1"/>
          <p:cNvSpPr>
            <a:spLocks noGrp="1"/>
          </p:cNvSpPr>
          <p:nvPr>
            <p:ph type="title"/>
          </p:nvPr>
        </p:nvSpPr>
        <p:spPr>
          <a:xfrm>
            <a:off x="1619251" y="274639"/>
            <a:ext cx="9547859" cy="1143000"/>
          </a:xfrm>
          <a:solidFill>
            <a:schemeClr val="accent2">
              <a:lumMod val="60000"/>
              <a:lumOff val="40000"/>
            </a:schemeClr>
          </a:solidFill>
          <a:ln w="76200">
            <a:solidFill>
              <a:schemeClr val="accent5"/>
            </a:solidFill>
            <a:prstDash val="dash"/>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a:normAutofit fontScale="90000"/>
            <a:scene3d>
              <a:camera prst="orthographicFront">
                <a:rot lat="0" lon="0" rev="0"/>
              </a:camera>
              <a:lightRig dir="t" rig="contrasting">
                <a:rot lat="0" lon="0" rev="4500000"/>
              </a:lightRig>
            </a:scene3d>
            <a:sp3d contourW="6350" prstMaterial="metal">
              <a:bevelT w="127000" h="31750" prst="relaxedInset"/>
              <a:contourClr>
                <a:schemeClr val="accent1">
                  <a:shade val="75000"/>
                </a:schemeClr>
              </a:contourClr>
            </a:sp3d>
          </a:bodyPr>
          <a:p>
            <a:pPr algn="ctr"/>
            <a:r>
              <a:rPr b="1" cap="all" dirty="0" lang="en-US" smtClean="0">
                <a:ln w="0"/>
                <a:solidFill>
                  <a:srgbClr val="0000FF"/>
                </a:solidFill>
                <a:effectLst>
                  <a:reflection blurRad="12700" dir="5400000" dist="5000" endPos="50000" rotWithShape="0" stA="50000" sy="-100000"/>
                </a:effectLst>
                <a:latin typeface="Aharoni" pitchFamily="2" charset="-79"/>
                <a:cs typeface="Aharoni" pitchFamily="2" charset="-79"/>
              </a:rPr>
              <a:t/>
            </a:r>
            <a:br>
              <a:rPr b="1" cap="all" dirty="0" lang="en-US" smtClean="0">
                <a:ln w="0"/>
                <a:solidFill>
                  <a:srgbClr val="0000FF"/>
                </a:solidFill>
                <a:effectLst>
                  <a:reflection blurRad="12700" dir="5400000" dist="5000" endPos="50000" rotWithShape="0" stA="50000" sy="-100000"/>
                </a:effectLst>
                <a:latin typeface="Aharoni" pitchFamily="2" charset="-79"/>
                <a:cs typeface="Aharoni" pitchFamily="2" charset="-79"/>
              </a:rPr>
            </a:br>
            <a:r>
              <a:rPr b="1" cap="all" dirty="0" sz="4400" lang="en-US" smtClean="0">
                <a:ln w="0"/>
                <a:solidFill>
                  <a:srgbClr val="0000FF"/>
                </a:solidFill>
                <a:effectLst>
                  <a:reflection blurRad="12700" dir="5400000" dist="5000" endPos="50000" rotWithShape="0" stA="50000" sy="-100000"/>
                </a:effectLst>
                <a:latin typeface="Aharoni" pitchFamily="2" charset="-79"/>
                <a:cs typeface="Aharoni" pitchFamily="2" charset="-79"/>
              </a:rPr>
              <a:t>HYPEREMESIS </a:t>
            </a:r>
            <a:r>
              <a:rPr b="1" cap="all" dirty="0" sz="4400" lang="en-US">
                <a:ln w="0"/>
                <a:solidFill>
                  <a:srgbClr val="0000FF"/>
                </a:solidFill>
                <a:effectLst>
                  <a:reflection blurRad="12700" dir="5400000" dist="5000" endPos="50000" rotWithShape="0" stA="50000" sy="-100000"/>
                </a:effectLst>
                <a:latin typeface="Aharoni" pitchFamily="2" charset="-79"/>
                <a:cs typeface="Aharoni" pitchFamily="2" charset="-79"/>
              </a:rPr>
              <a:t>GRAVIDARUM</a:t>
            </a:r>
            <a:r>
              <a:rPr b="1" cap="all" dirty="0" lang="en-US">
                <a:ln w="0"/>
                <a:solidFill>
                  <a:srgbClr val="0000FF"/>
                </a:solidFill>
                <a:effectLst>
                  <a:reflection blurRad="12700" dir="5400000" dist="5000" endPos="50000" rotWithShape="0" stA="50000" sy="-100000"/>
                </a:effectLst>
                <a:latin typeface="Aharoni" pitchFamily="2" charset="-79"/>
                <a:cs typeface="Aharoni" pitchFamily="2" charset="-79"/>
              </a:rPr>
              <a:t/>
            </a:r>
            <a:br>
              <a:rPr b="1" cap="all" dirty="0" lang="en-US">
                <a:ln w="0"/>
                <a:solidFill>
                  <a:srgbClr val="0000FF"/>
                </a:solidFill>
                <a:effectLst>
                  <a:reflection blurRad="12700" dir="5400000" dist="5000" endPos="50000" rotWithShape="0" stA="50000" sy="-100000"/>
                </a:effectLst>
                <a:latin typeface="Aharoni" pitchFamily="2" charset="-79"/>
                <a:cs typeface="Aharoni" pitchFamily="2" charset="-79"/>
              </a:rPr>
            </a:br>
            <a:endParaRPr b="1" cap="all" dirty="0" lang="en-US">
              <a:ln w="0"/>
              <a:solidFill>
                <a:srgbClr val="0000FF"/>
              </a:solidFill>
              <a:effectLst>
                <a:reflection blurRad="12700" dir="5400000" dist="5000" endPos="50000" rotWithShape="0" stA="50000" sy="-100000"/>
              </a:effectLst>
              <a:latin typeface="Aharoni" pitchFamily="2" charset="-79"/>
              <a:cs typeface="Aharoni" pitchFamily="2" charset="-79"/>
            </a:endParaRPr>
          </a:p>
        </p:txBody>
      </p:sp>
      <p:sp>
        <p:nvSpPr>
          <p:cNvPr id="1048649" name="Content Placeholder 2"/>
          <p:cNvSpPr>
            <a:spLocks noGrp="1"/>
          </p:cNvSpPr>
          <p:nvPr>
            <p:ph idx="1"/>
          </p:nvPr>
        </p:nvSpPr>
        <p:spPr>
          <a:xfrm>
            <a:off x="1238250" y="1447800"/>
            <a:ext cx="9928859" cy="5410200"/>
          </a:xfrm>
        </p:spPr>
        <p:txBody>
          <a:bodyPr>
            <a:normAutofit/>
          </a:bodyPr>
          <a:p>
            <a:pPr algn="just">
              <a:buNone/>
            </a:pPr>
            <a:r>
              <a:rPr dirty="0" i="1" lang="en-US" smtClean="0">
                <a:latin typeface="Calibri" pitchFamily="34" charset="0"/>
              </a:rPr>
              <a:t>	</a:t>
            </a:r>
            <a:r>
              <a:rPr dirty="0" i="1" lang="en-US" smtClean="0">
                <a:solidFill>
                  <a:srgbClr val="C00000"/>
                </a:solidFill>
                <a:latin typeface="Calibri" pitchFamily="34" charset="0"/>
              </a:rPr>
              <a:t>	</a:t>
            </a:r>
            <a:r>
              <a:rPr b="1" dirty="0" lang="en-US" smtClean="0">
                <a:solidFill>
                  <a:srgbClr val="C00000"/>
                </a:solidFill>
                <a:latin typeface="Calibri" pitchFamily="34" charset="0"/>
              </a:rPr>
              <a:t>DESCRIPTION</a:t>
            </a:r>
            <a:endParaRPr b="1" dirty="0" lang="en-US">
              <a:solidFill>
                <a:srgbClr val="C00000"/>
              </a:solidFill>
              <a:latin typeface="Calibri" pitchFamily="34" charset="0"/>
            </a:endParaRPr>
          </a:p>
          <a:p>
            <a:pPr algn="just"/>
            <a:r>
              <a:rPr dirty="0" lang="en-US" smtClean="0">
                <a:latin typeface="Calibri" pitchFamily="34" charset="0"/>
              </a:rPr>
              <a:t>A </a:t>
            </a:r>
            <a:r>
              <a:rPr dirty="0" lang="en-US">
                <a:latin typeface="Calibri" pitchFamily="34" charset="0"/>
              </a:rPr>
              <a:t>condition characterized by </a:t>
            </a:r>
            <a:r>
              <a:rPr dirty="0" lang="en-US" smtClean="0">
                <a:latin typeface="Calibri" pitchFamily="34" charset="0"/>
              </a:rPr>
              <a:t>excessive &amp; persistent pregnancy-related </a:t>
            </a:r>
            <a:r>
              <a:rPr dirty="0" lang="en-US">
                <a:latin typeface="Calibri" pitchFamily="34" charset="0"/>
              </a:rPr>
              <a:t>nausea or vomiting or </a:t>
            </a:r>
            <a:r>
              <a:rPr dirty="0" lang="en-US" smtClean="0">
                <a:latin typeface="Calibri" pitchFamily="34" charset="0"/>
              </a:rPr>
              <a:t>both, associated with Wt loss of &gt;5% of body mass &amp; ketosis, </a:t>
            </a:r>
            <a:r>
              <a:rPr dirty="0" lang="en-US">
                <a:latin typeface="Calibri" pitchFamily="34" charset="0"/>
              </a:rPr>
              <a:t>starting between 4</a:t>
            </a:r>
            <a:r>
              <a:rPr baseline="30000" dirty="0" lang="en-US">
                <a:latin typeface="Calibri" pitchFamily="34" charset="0"/>
              </a:rPr>
              <a:t>th</a:t>
            </a:r>
            <a:r>
              <a:rPr dirty="0" lang="en-US">
                <a:latin typeface="Calibri" pitchFamily="34" charset="0"/>
              </a:rPr>
              <a:t>-10</a:t>
            </a:r>
            <a:r>
              <a:rPr baseline="30000" dirty="0" lang="en-US">
                <a:latin typeface="Calibri" pitchFamily="34" charset="0"/>
              </a:rPr>
              <a:t>th</a:t>
            </a:r>
            <a:r>
              <a:rPr dirty="0" lang="en-US">
                <a:latin typeface="Calibri" pitchFamily="34" charset="0"/>
              </a:rPr>
              <a:t> week and resolves before 20</a:t>
            </a:r>
            <a:r>
              <a:rPr baseline="30000" dirty="0" lang="en-US">
                <a:latin typeface="Calibri" pitchFamily="34" charset="0"/>
              </a:rPr>
              <a:t>th</a:t>
            </a:r>
            <a:r>
              <a:rPr dirty="0" lang="en-US">
                <a:latin typeface="Calibri" pitchFamily="34" charset="0"/>
              </a:rPr>
              <a:t> week of pregnancy after interventions.</a:t>
            </a:r>
          </a:p>
          <a:p>
            <a:pPr algn="just">
              <a:buFont typeface="Wingdings" pitchFamily="2" charset="2"/>
              <a:buChar char="Ø"/>
            </a:pPr>
            <a:r>
              <a:rPr dirty="0" lang="en-US">
                <a:latin typeface="Calibri" pitchFamily="34" charset="0"/>
              </a:rPr>
              <a:t>In its severe state, malnutrition and metabolic disturbance occur which may be fatal.</a:t>
            </a:r>
          </a:p>
          <a:p>
            <a:pPr algn="just">
              <a:buNone/>
            </a:pPr>
            <a:r>
              <a:rPr b="1" dirty="0" lang="en-US" smtClean="0">
                <a:solidFill>
                  <a:srgbClr val="FF0000"/>
                </a:solidFill>
                <a:latin typeface="Calibri" pitchFamily="34" charset="0"/>
              </a:rPr>
              <a:t>NB</a:t>
            </a:r>
            <a:r>
              <a:rPr dirty="0" lang="en-US" smtClean="0">
                <a:solidFill>
                  <a:srgbClr val="FF0000"/>
                </a:solidFill>
                <a:latin typeface="Calibri" pitchFamily="34" charset="0"/>
              </a:rPr>
              <a:t>: </a:t>
            </a:r>
            <a:r>
              <a:rPr dirty="0" lang="en-US" smtClean="0">
                <a:latin typeface="Calibri" pitchFamily="34" charset="0"/>
              </a:rPr>
              <a:t>Exact cause is unknown</a:t>
            </a:r>
            <a:endParaRPr dirty="0" lang="en-US">
              <a:latin typeface="Calibri" pitchFamily="34" charset="0"/>
            </a:endParaRPr>
          </a:p>
        </p:txBody>
      </p:sp>
      <p:sp>
        <p:nvSpPr>
          <p:cNvPr id="104865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52" name=""/>
        <p:cNvGrpSpPr/>
        <p:nvPr/>
      </p:nvGrpSpPr>
      <p:grpSpPr>
        <a:xfrm>
          <a:off x="0" y="0"/>
          <a:ext cx="0" cy="0"/>
          <a:chOff x="0" y="0"/>
          <a:chExt cx="0" cy="0"/>
        </a:xfrm>
      </p:grpSpPr>
      <p:sp>
        <p:nvSpPr>
          <p:cNvPr id="1048657" name="Title 1"/>
          <p:cNvSpPr>
            <a:spLocks noGrp="1"/>
          </p:cNvSpPr>
          <p:nvPr>
            <p:ph type="title"/>
          </p:nvPr>
        </p:nvSpPr>
        <p:spPr>
          <a:xfrm>
            <a:off x="1333500" y="0"/>
            <a:ext cx="10096500" cy="1143000"/>
          </a:xfrm>
        </p:spPr>
        <p:txBody>
          <a:bodyPr>
            <a:normAutofit fontScale="90000"/>
          </a:bodyPr>
          <a:p>
            <a:r>
              <a:rPr b="1" dirty="0" sz="2200" lang="en-US" smtClean="0">
                <a:latin typeface="+mn-lt"/>
              </a:rPr>
              <a:t/>
            </a:r>
            <a:br>
              <a:rPr b="1" dirty="0" sz="2200" lang="en-US" smtClean="0">
                <a:latin typeface="+mn-lt"/>
              </a:rPr>
            </a:br>
            <a:r>
              <a:rPr b="1" dirty="0" sz="2200" lang="en-US" smtClean="0">
                <a:latin typeface="+mn-lt"/>
              </a:rPr>
              <a:t/>
            </a:r>
            <a:br>
              <a:rPr b="1" dirty="0" sz="2200" lang="en-US" smtClean="0">
                <a:latin typeface="+mn-lt"/>
              </a:rPr>
            </a:br>
            <a:r>
              <a:rPr b="1" dirty="0" sz="2700" lang="en-US" smtClean="0">
                <a:solidFill>
                  <a:srgbClr val="C00000"/>
                </a:solidFill>
                <a:effectLst/>
                <a:latin typeface="+mn-lt"/>
              </a:rPr>
              <a:t>DISTINGUISHING BETWEEN MORNING SICKNESS AND HYPEREMESIS GRAVIDARUM</a:t>
            </a:r>
            <a:r>
              <a:rPr dirty="0" lang="en-US" smtClean="0"/>
              <a:t/>
            </a:r>
            <a:br>
              <a:rPr dirty="0" lang="en-US" smtClean="0"/>
            </a:br>
            <a:endParaRPr dirty="0" lang="en-US"/>
          </a:p>
        </p:txBody>
      </p:sp>
      <p:sp>
        <p:nvSpPr>
          <p:cNvPr id="1048658" name="Content Placeholder 2"/>
          <p:cNvSpPr>
            <a:spLocks noGrp="1"/>
          </p:cNvSpPr>
          <p:nvPr>
            <p:ph sz="half" idx="1"/>
          </p:nvPr>
        </p:nvSpPr>
        <p:spPr>
          <a:xfrm>
            <a:off x="1333500" y="1295400"/>
            <a:ext cx="5033009" cy="5562600"/>
          </a:xfrm>
        </p:spPr>
        <p:txBody>
          <a:bodyPr>
            <a:normAutofit/>
          </a:bodyPr>
          <a:p>
            <a:pPr>
              <a:buNone/>
            </a:pPr>
            <a:r>
              <a:rPr b="1" dirty="0" lang="en-US" smtClean="0">
                <a:solidFill>
                  <a:schemeClr val="accent4">
                    <a:lumMod val="50000"/>
                  </a:schemeClr>
                </a:solidFill>
                <a:latin typeface="Calibri" pitchFamily="34" charset="0"/>
              </a:rPr>
              <a:t>Morning Sickness:</a:t>
            </a:r>
            <a:endParaRPr dirty="0" lang="en-US" smtClean="0">
              <a:solidFill>
                <a:schemeClr val="accent4">
                  <a:lumMod val="50000"/>
                </a:schemeClr>
              </a:solidFill>
              <a:latin typeface="Calibri" pitchFamily="34" charset="0"/>
            </a:endParaRPr>
          </a:p>
          <a:p>
            <a:r>
              <a:rPr dirty="0" lang="en-US" smtClean="0">
                <a:latin typeface="Calibri" pitchFamily="34" charset="0"/>
              </a:rPr>
              <a:t>Nausea </a:t>
            </a:r>
            <a:r>
              <a:rPr dirty="0" i="1" lang="en-US" smtClean="0">
                <a:latin typeface="Calibri" pitchFamily="34" charset="0"/>
              </a:rPr>
              <a:t>sometimes</a:t>
            </a:r>
            <a:r>
              <a:rPr dirty="0" lang="en-US" smtClean="0">
                <a:latin typeface="Calibri" pitchFamily="34" charset="0"/>
              </a:rPr>
              <a:t> accompanied by vomiting</a:t>
            </a:r>
          </a:p>
          <a:p>
            <a:r>
              <a:rPr dirty="0" lang="en-US" smtClean="0">
                <a:latin typeface="Calibri" pitchFamily="34" charset="0"/>
              </a:rPr>
              <a:t>Nausea that subsides at 12 weeks or soon after</a:t>
            </a:r>
          </a:p>
          <a:p>
            <a:r>
              <a:rPr dirty="0" lang="en-US" smtClean="0">
                <a:latin typeface="Calibri" pitchFamily="34" charset="0"/>
              </a:rPr>
              <a:t>Vomiting that does </a:t>
            </a:r>
            <a:r>
              <a:rPr dirty="0" i="1" lang="en-US" smtClean="0">
                <a:latin typeface="Calibri" pitchFamily="34" charset="0"/>
              </a:rPr>
              <a:t>not</a:t>
            </a:r>
            <a:r>
              <a:rPr dirty="0" lang="en-US" smtClean="0">
                <a:latin typeface="Calibri" pitchFamily="34" charset="0"/>
              </a:rPr>
              <a:t> cause severe dehydration</a:t>
            </a:r>
          </a:p>
          <a:p>
            <a:r>
              <a:rPr dirty="0" lang="en-US" smtClean="0">
                <a:latin typeface="Calibri" pitchFamily="34" charset="0"/>
              </a:rPr>
              <a:t>Vomiting that allows you to keep some food down</a:t>
            </a:r>
          </a:p>
          <a:p>
            <a:endParaRPr dirty="0" lang="en-US">
              <a:latin typeface="Calibri" pitchFamily="34" charset="0"/>
            </a:endParaRPr>
          </a:p>
        </p:txBody>
      </p:sp>
      <p:sp>
        <p:nvSpPr>
          <p:cNvPr id="1048659" name="Content Placeholder 3"/>
          <p:cNvSpPr>
            <a:spLocks noGrp="1"/>
          </p:cNvSpPr>
          <p:nvPr>
            <p:ph sz="half" idx="2"/>
          </p:nvPr>
        </p:nvSpPr>
        <p:spPr>
          <a:xfrm>
            <a:off x="6595109" y="1295400"/>
            <a:ext cx="4834891" cy="5562600"/>
          </a:xfrm>
        </p:spPr>
        <p:txBody>
          <a:bodyPr>
            <a:normAutofit/>
          </a:bodyPr>
          <a:p>
            <a:pPr>
              <a:buNone/>
            </a:pPr>
            <a:r>
              <a:rPr b="1" dirty="0" lang="en-US" smtClean="0">
                <a:solidFill>
                  <a:schemeClr val="accent4">
                    <a:lumMod val="50000"/>
                  </a:schemeClr>
                </a:solidFill>
                <a:latin typeface="Calibri" pitchFamily="34" charset="0"/>
              </a:rPr>
              <a:t>Hyperemesis Gravidarum:</a:t>
            </a:r>
            <a:endParaRPr dirty="0" lang="en-US" smtClean="0">
              <a:solidFill>
                <a:schemeClr val="accent4">
                  <a:lumMod val="50000"/>
                </a:schemeClr>
              </a:solidFill>
              <a:latin typeface="Calibri" pitchFamily="34" charset="0"/>
            </a:endParaRPr>
          </a:p>
          <a:p>
            <a:r>
              <a:rPr dirty="0" lang="en-US" smtClean="0">
                <a:latin typeface="Calibri" pitchFamily="34" charset="0"/>
              </a:rPr>
              <a:t>Nausea accompanied by </a:t>
            </a:r>
            <a:r>
              <a:rPr dirty="0" i="1" lang="en-US" smtClean="0">
                <a:latin typeface="Calibri" pitchFamily="34" charset="0"/>
              </a:rPr>
              <a:t>severe</a:t>
            </a:r>
            <a:r>
              <a:rPr dirty="0" lang="en-US" smtClean="0">
                <a:latin typeface="Calibri" pitchFamily="34" charset="0"/>
              </a:rPr>
              <a:t> vomiting</a:t>
            </a:r>
          </a:p>
          <a:p>
            <a:r>
              <a:rPr dirty="0" lang="en-US" smtClean="0">
                <a:latin typeface="Calibri" pitchFamily="34" charset="0"/>
              </a:rPr>
              <a:t>Nausea that does </a:t>
            </a:r>
            <a:r>
              <a:rPr dirty="0" i="1" lang="en-US" smtClean="0">
                <a:latin typeface="Calibri" pitchFamily="34" charset="0"/>
              </a:rPr>
              <a:t>not</a:t>
            </a:r>
            <a:r>
              <a:rPr dirty="0" lang="en-US" smtClean="0">
                <a:latin typeface="Calibri" pitchFamily="34" charset="0"/>
              </a:rPr>
              <a:t> subside</a:t>
            </a:r>
          </a:p>
          <a:p>
            <a:r>
              <a:rPr dirty="0" lang="en-US" smtClean="0">
                <a:latin typeface="Calibri" pitchFamily="34" charset="0"/>
              </a:rPr>
              <a:t>Vomiting that causes severe dehydration</a:t>
            </a:r>
          </a:p>
          <a:p>
            <a:r>
              <a:rPr dirty="0" lang="en-US" smtClean="0">
                <a:latin typeface="Calibri" pitchFamily="34" charset="0"/>
              </a:rPr>
              <a:t>Vomiting that does </a:t>
            </a:r>
            <a:r>
              <a:rPr dirty="0" i="1" lang="en-US" smtClean="0">
                <a:latin typeface="Calibri" pitchFamily="34" charset="0"/>
              </a:rPr>
              <a:t>not</a:t>
            </a:r>
            <a:r>
              <a:rPr dirty="0" lang="en-US" smtClean="0">
                <a:latin typeface="Calibri" pitchFamily="34" charset="0"/>
              </a:rPr>
              <a:t> allow you to keep any food down</a:t>
            </a:r>
          </a:p>
          <a:p>
            <a:endParaRPr dirty="0" lang="en-US">
              <a:latin typeface="Calibri" pitchFamily="34" charset="0"/>
            </a:endParaRPr>
          </a:p>
        </p:txBody>
      </p:sp>
      <p:sp>
        <p:nvSpPr>
          <p:cNvPr id="1048660" name="Footer Placeholder 4"/>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53" name=""/>
        <p:cNvGrpSpPr/>
        <p:nvPr/>
      </p:nvGrpSpPr>
      <p:grpSpPr>
        <a:xfrm>
          <a:off x="0" y="0"/>
          <a:ext cx="0" cy="0"/>
          <a:chOff x="0" y="0"/>
          <a:chExt cx="0" cy="0"/>
        </a:xfrm>
      </p:grpSpPr>
      <p:sp>
        <p:nvSpPr>
          <p:cNvPr id="1048661" name="Title 1"/>
          <p:cNvSpPr>
            <a:spLocks noGrp="1"/>
          </p:cNvSpPr>
          <p:nvPr>
            <p:ph type="title"/>
          </p:nvPr>
        </p:nvSpPr>
        <p:spPr/>
        <p:txBody>
          <a:bodyPr/>
          <a:p>
            <a:r>
              <a:rPr b="1" dirty="0" lang="en-US" smtClean="0">
                <a:solidFill>
                  <a:srgbClr val="C00000"/>
                </a:solidFill>
              </a:rPr>
              <a:t>PREDISPOSING FACTORS</a:t>
            </a:r>
            <a:r>
              <a:rPr dirty="0" lang="en-US" smtClean="0"/>
              <a:t> </a:t>
            </a:r>
            <a:endParaRPr dirty="0" lang="en-US"/>
          </a:p>
        </p:txBody>
      </p:sp>
      <p:sp>
        <p:nvSpPr>
          <p:cNvPr id="1048662" name="Content Placeholder 2"/>
          <p:cNvSpPr>
            <a:spLocks noGrp="1"/>
          </p:cNvSpPr>
          <p:nvPr>
            <p:ph idx="1"/>
          </p:nvPr>
        </p:nvSpPr>
        <p:spPr>
          <a:xfrm>
            <a:off x="1333501" y="1219200"/>
            <a:ext cx="9833609" cy="5029200"/>
          </a:xfrm>
        </p:spPr>
        <p:txBody>
          <a:bodyPr>
            <a:normAutofit/>
          </a:bodyPr>
          <a:p>
            <a:pPr algn="just"/>
            <a:r>
              <a:rPr dirty="0" lang="en-US" smtClean="0">
                <a:latin typeface="Calibri" pitchFamily="34" charset="0"/>
              </a:rPr>
              <a:t>Multiple pregnancy or hydatidform mole due to higher levels of respective hormones i.e. oestrogen and human chorionic gonadotrophin.</a:t>
            </a:r>
          </a:p>
          <a:p>
            <a:pPr algn="just" lvl="0"/>
            <a:r>
              <a:rPr dirty="0" lang="en-US" smtClean="0">
                <a:latin typeface="Calibri" pitchFamily="34" charset="0"/>
              </a:rPr>
              <a:t>Pyelonephritis (upper urinary tract infection) because of retained products of metabolism.</a:t>
            </a:r>
          </a:p>
          <a:p>
            <a:pPr algn="just" lvl="0"/>
            <a:r>
              <a:rPr dirty="0" lang="en-US" smtClean="0">
                <a:latin typeface="Calibri" pitchFamily="34" charset="0"/>
              </a:rPr>
              <a:t>Presence of gastric ulcers due to infection with helicobactor  pylori organism.  </a:t>
            </a:r>
            <a:endParaRPr dirty="0" lang="en-US">
              <a:latin typeface="Calibri" pitchFamily="34" charset="0"/>
            </a:endParaRPr>
          </a:p>
        </p:txBody>
      </p:sp>
      <p:sp>
        <p:nvSpPr>
          <p:cNvPr id="104866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54" name=""/>
        <p:cNvGrpSpPr/>
        <p:nvPr/>
      </p:nvGrpSpPr>
      <p:grpSpPr>
        <a:xfrm>
          <a:off x="0" y="0"/>
          <a:ext cx="0" cy="0"/>
          <a:chOff x="0" y="0"/>
          <a:chExt cx="0" cy="0"/>
        </a:xfrm>
      </p:grpSpPr>
      <p:sp>
        <p:nvSpPr>
          <p:cNvPr id="1048664" name="Content Placeholder 2"/>
          <p:cNvSpPr>
            <a:spLocks noGrp="1"/>
          </p:cNvSpPr>
          <p:nvPr>
            <p:ph idx="1"/>
          </p:nvPr>
        </p:nvSpPr>
        <p:spPr>
          <a:xfrm>
            <a:off x="1428751" y="457200"/>
            <a:ext cx="9738359" cy="5791200"/>
          </a:xfrm>
        </p:spPr>
        <p:txBody>
          <a:bodyPr>
            <a:noAutofit/>
          </a:bodyPr>
          <a:p>
            <a:pPr algn="just" lvl="0"/>
            <a:r>
              <a:rPr dirty="0" sz="3400" lang="en-US" smtClean="0">
                <a:latin typeface="Calibri" pitchFamily="34" charset="0"/>
              </a:rPr>
              <a:t>Histamine and histamine related substances, released in large amounts by those who are quite temperamental hence naturally highly nervous. That is determined by individual personality make up.</a:t>
            </a:r>
          </a:p>
          <a:p>
            <a:pPr algn="just" lvl="0"/>
            <a:r>
              <a:rPr dirty="0" sz="3400" lang="en-US" smtClean="0">
                <a:latin typeface="Calibri" pitchFamily="34" charset="0"/>
              </a:rPr>
              <a:t>Hypersensitivity to oduors [hyperolfactation] in the environment.</a:t>
            </a:r>
          </a:p>
          <a:p>
            <a:pPr algn="just"/>
            <a:endParaRPr dirty="0" sz="3400" lang="en-US">
              <a:latin typeface="Calibri" pitchFamily="34" charset="0"/>
            </a:endParaRPr>
          </a:p>
        </p:txBody>
      </p:sp>
      <p:sp>
        <p:nvSpPr>
          <p:cNvPr id="104866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55" name=""/>
        <p:cNvGrpSpPr/>
        <p:nvPr/>
      </p:nvGrpSpPr>
      <p:grpSpPr>
        <a:xfrm>
          <a:off x="0" y="0"/>
          <a:ext cx="0" cy="0"/>
          <a:chOff x="0" y="0"/>
          <a:chExt cx="0" cy="0"/>
        </a:xfrm>
      </p:grpSpPr>
      <p:sp>
        <p:nvSpPr>
          <p:cNvPr id="1048666" name="Title 1"/>
          <p:cNvSpPr>
            <a:spLocks noGrp="1"/>
          </p:cNvSpPr>
          <p:nvPr>
            <p:ph type="title"/>
          </p:nvPr>
        </p:nvSpPr>
        <p:spPr/>
        <p:txBody>
          <a:bodyPr/>
          <a:p>
            <a:r>
              <a:rPr b="1" dirty="0" lang="en-US" smtClean="0">
                <a:solidFill>
                  <a:srgbClr val="C00000"/>
                </a:solidFill>
              </a:rPr>
              <a:t>CLINICAL FEATURES</a:t>
            </a:r>
            <a:endParaRPr dirty="0" lang="en-US"/>
          </a:p>
        </p:txBody>
      </p:sp>
      <p:sp>
        <p:nvSpPr>
          <p:cNvPr id="1048667" name="Content Placeholder 2"/>
          <p:cNvSpPr>
            <a:spLocks noGrp="1"/>
          </p:cNvSpPr>
          <p:nvPr>
            <p:ph idx="1"/>
          </p:nvPr>
        </p:nvSpPr>
        <p:spPr/>
        <p:txBody>
          <a:bodyPr>
            <a:normAutofit/>
          </a:bodyPr>
          <a:p>
            <a:pPr algn="just" lvl="0"/>
            <a:r>
              <a:rPr dirty="0" lang="en-US" smtClean="0">
                <a:latin typeface="Calibri" pitchFamily="34" charset="0"/>
              </a:rPr>
              <a:t>Inability to eat or retain any food throughout the day due to either persistent or severe nausea/vomiting.</a:t>
            </a:r>
          </a:p>
          <a:p>
            <a:pPr algn="just" lvl="0"/>
            <a:r>
              <a:rPr dirty="0" lang="en-US" smtClean="0">
                <a:latin typeface="Calibri" pitchFamily="34" charset="0"/>
              </a:rPr>
              <a:t>Weakness and miserable appearance from the effort of retching and vomiting.</a:t>
            </a:r>
          </a:p>
          <a:p>
            <a:pPr algn="just"/>
            <a:r>
              <a:rPr dirty="0" lang="en-US" smtClean="0">
                <a:latin typeface="Calibri" pitchFamily="34" charset="0"/>
              </a:rPr>
              <a:t>Dehydration signs, determined by duration and severity of the condition.</a:t>
            </a:r>
          </a:p>
          <a:p>
            <a:pPr algn="just" lvl="0"/>
            <a:r>
              <a:rPr dirty="0" lang="en-US" smtClean="0">
                <a:latin typeface="Calibri" pitchFamily="34" charset="0"/>
              </a:rPr>
              <a:t>Pallor of mucous membrane indicating anaemia. </a:t>
            </a:r>
          </a:p>
          <a:p>
            <a:pPr algn="just"/>
            <a:endParaRPr dirty="0" sz="2800" lang="en-US">
              <a:latin typeface="Calibri" pitchFamily="34" charset="0"/>
            </a:endParaRPr>
          </a:p>
        </p:txBody>
      </p:sp>
      <p:sp>
        <p:nvSpPr>
          <p:cNvPr id="104866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56" name=""/>
        <p:cNvGrpSpPr/>
        <p:nvPr/>
      </p:nvGrpSpPr>
      <p:grpSpPr>
        <a:xfrm>
          <a:off x="0" y="0"/>
          <a:ext cx="0" cy="0"/>
          <a:chOff x="0" y="0"/>
          <a:chExt cx="0" cy="0"/>
        </a:xfrm>
      </p:grpSpPr>
      <p:sp>
        <p:nvSpPr>
          <p:cNvPr id="1048669" name="Title 1"/>
          <p:cNvSpPr>
            <a:spLocks noGrp="1"/>
          </p:cNvSpPr>
          <p:nvPr>
            <p:ph type="title"/>
          </p:nvPr>
        </p:nvSpPr>
        <p:spPr>
          <a:xfrm>
            <a:off x="1794509" y="0"/>
            <a:ext cx="9372600" cy="1066800"/>
          </a:xfrm>
        </p:spPr>
        <p:txBody>
          <a:bodyPr>
            <a:normAutofit/>
          </a:bodyPr>
          <a:p>
            <a:r>
              <a:rPr b="1" dirty="0" sz="3600" lang="en-US" smtClean="0">
                <a:solidFill>
                  <a:srgbClr val="FF0000"/>
                </a:solidFill>
                <a:latin typeface="Andalus" pitchFamily="18" charset="-78"/>
                <a:cs typeface="Andalus" pitchFamily="18" charset="-78"/>
              </a:rPr>
              <a:t>A MISERABLE  PATIENT:  POLE !!!</a:t>
            </a:r>
            <a:endParaRPr b="1" dirty="0" sz="3600" lang="en-US">
              <a:solidFill>
                <a:srgbClr val="FF0000"/>
              </a:solidFill>
              <a:latin typeface="Andalus" pitchFamily="18" charset="-78"/>
              <a:cs typeface="Andalus" pitchFamily="18" charset="-78"/>
            </a:endParaRPr>
          </a:p>
        </p:txBody>
      </p:sp>
      <p:sp>
        <p:nvSpPr>
          <p:cNvPr id="1048670" name="Content Placeholder 2"/>
          <p:cNvSpPr>
            <a:spLocks noGrp="1"/>
          </p:cNvSpPr>
          <p:nvPr>
            <p:ph idx="1"/>
          </p:nvPr>
        </p:nvSpPr>
        <p:spPr/>
        <p:txBody>
          <a:bodyPr/>
          <a:p>
            <a:endParaRPr dirty="0" lang="en-US" smtClean="0"/>
          </a:p>
          <a:p>
            <a:endParaRPr dirty="0" lang="en-US" smtClean="0"/>
          </a:p>
          <a:p>
            <a:pPr>
              <a:buNone/>
            </a:pPr>
            <a:r>
              <a:rPr dirty="0" lang="en-US" smtClean="0"/>
              <a:t>                    </a:t>
            </a:r>
            <a:endParaRPr dirty="0" lang="en-US"/>
          </a:p>
        </p:txBody>
      </p:sp>
      <p:pic>
        <p:nvPicPr>
          <p:cNvPr id="2097152" name="Picture 5"/>
          <p:cNvPicPr>
            <a:picLocks/>
          </p:cNvPicPr>
          <p:nvPr/>
        </p:nvPicPr>
        <p:blipFill>
          <a:blip xmlns:r="http://schemas.openxmlformats.org/officeDocument/2006/relationships" r:embed="rId1" cstate="print"/>
          <a:srcRect/>
          <a:stretch>
            <a:fillRect/>
          </a:stretch>
        </p:blipFill>
        <p:spPr bwMode="auto">
          <a:xfrm>
            <a:off x="1524001" y="1219206"/>
            <a:ext cx="9525000" cy="5181599"/>
          </a:xfrm>
          <a:prstGeom prst="rect"/>
          <a:noFill/>
          <a:ln w="9525">
            <a:noFill/>
            <a:miter lim="800000"/>
            <a:headEnd/>
            <a:tailEnd/>
          </a:ln>
        </p:spPr>
      </p:pic>
      <p:sp>
        <p:nvSpPr>
          <p:cNvPr id="104867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57" name=""/>
        <p:cNvGrpSpPr/>
        <p:nvPr/>
      </p:nvGrpSpPr>
      <p:grpSpPr>
        <a:xfrm>
          <a:off x="0" y="0"/>
          <a:ext cx="0" cy="0"/>
          <a:chOff x="0" y="0"/>
          <a:chExt cx="0" cy="0"/>
        </a:xfrm>
      </p:grpSpPr>
      <p:sp>
        <p:nvSpPr>
          <p:cNvPr id="1048672" name="Content Placeholder 2"/>
          <p:cNvSpPr>
            <a:spLocks noGrp="1"/>
          </p:cNvSpPr>
          <p:nvPr>
            <p:ph idx="1"/>
          </p:nvPr>
        </p:nvSpPr>
        <p:spPr>
          <a:xfrm>
            <a:off x="1794509" y="381000"/>
            <a:ext cx="9372600" cy="5867400"/>
          </a:xfrm>
        </p:spPr>
        <p:txBody>
          <a:bodyPr>
            <a:normAutofit/>
          </a:bodyPr>
          <a:p>
            <a:pPr algn="just" lvl="0"/>
            <a:r>
              <a:rPr dirty="0" lang="en-US" smtClean="0"/>
              <a:t>weight loss of up to </a:t>
            </a:r>
            <a:r>
              <a:rPr b="1" dirty="0" lang="en-US" smtClean="0"/>
              <a:t>10% of pregnancy gain</a:t>
            </a:r>
          </a:p>
          <a:p>
            <a:pPr algn="just" lvl="0"/>
            <a:r>
              <a:rPr dirty="0" lang="en-US" smtClean="0"/>
              <a:t>Acetone in breath and blurred vision indicating severe state starvation .</a:t>
            </a:r>
          </a:p>
          <a:p>
            <a:pPr algn="just" lvl="0"/>
            <a:r>
              <a:rPr dirty="0" lang="en-US" smtClean="0"/>
              <a:t>Tinge of jaundice = hepatic involvement .</a:t>
            </a:r>
          </a:p>
          <a:p>
            <a:pPr algn="just" lvl="0"/>
            <a:r>
              <a:rPr dirty="0" lang="en-US" smtClean="0"/>
              <a:t>Presence of shock, indicated by tachycardia &amp; hypotension.</a:t>
            </a:r>
          </a:p>
          <a:p>
            <a:pPr algn="just" lvl="0"/>
            <a:r>
              <a:rPr dirty="0" lang="en-US" smtClean="0"/>
              <a:t>Presence of acetone and protein in urine = renal failure.</a:t>
            </a:r>
          </a:p>
          <a:p>
            <a:pPr algn="just" lvl="0"/>
            <a:r>
              <a:rPr dirty="0" lang="en-US" smtClean="0"/>
              <a:t>Smaller fundal height for gestation age.</a:t>
            </a:r>
          </a:p>
          <a:p>
            <a:pPr algn="just" lvl="0"/>
            <a:endParaRPr dirty="0" lang="en-US" smtClean="0"/>
          </a:p>
          <a:p>
            <a:pPr algn="just"/>
            <a:endParaRPr dirty="0" lang="en-US"/>
          </a:p>
        </p:txBody>
      </p:sp>
      <p:sp>
        <p:nvSpPr>
          <p:cNvPr id="104867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58" name=""/>
        <p:cNvGrpSpPr/>
        <p:nvPr/>
      </p:nvGrpSpPr>
      <p:grpSpPr>
        <a:xfrm>
          <a:off x="0" y="0"/>
          <a:ext cx="0" cy="0"/>
          <a:chOff x="0" y="0"/>
          <a:chExt cx="0" cy="0"/>
        </a:xfrm>
      </p:grpSpPr>
      <p:sp>
        <p:nvSpPr>
          <p:cNvPr id="1048674" name="Title 1"/>
          <p:cNvSpPr>
            <a:spLocks noGrp="1"/>
          </p:cNvSpPr>
          <p:nvPr>
            <p:ph type="title"/>
          </p:nvPr>
        </p:nvSpPr>
        <p:spPr/>
        <p:txBody>
          <a:bodyPr/>
          <a:p>
            <a:r>
              <a:rPr b="1" dirty="0" lang="en-US" smtClean="0">
                <a:solidFill>
                  <a:srgbClr val="C00000"/>
                </a:solidFill>
              </a:rPr>
              <a:t>DIAGONSTIC  FACTORS</a:t>
            </a:r>
            <a:endParaRPr dirty="0" lang="en-US"/>
          </a:p>
        </p:txBody>
      </p:sp>
      <p:sp>
        <p:nvSpPr>
          <p:cNvPr id="1048675" name="Content Placeholder 2"/>
          <p:cNvSpPr>
            <a:spLocks noGrp="1"/>
          </p:cNvSpPr>
          <p:nvPr>
            <p:ph idx="1"/>
          </p:nvPr>
        </p:nvSpPr>
        <p:spPr/>
        <p:txBody>
          <a:bodyPr>
            <a:noAutofit/>
          </a:bodyPr>
          <a:p>
            <a:pPr algn="just" lvl="0"/>
            <a:r>
              <a:rPr dirty="0" lang="en-US" smtClean="0"/>
              <a:t>History and physical examination findings.</a:t>
            </a:r>
          </a:p>
          <a:p>
            <a:pPr algn="just" lvl="0"/>
            <a:r>
              <a:rPr dirty="0" lang="en-US" smtClean="0"/>
              <a:t>Laboratory investigation  for ,urea,haematocrite and altered electrolyte levels.</a:t>
            </a:r>
          </a:p>
          <a:p>
            <a:pPr algn="just">
              <a:buNone/>
            </a:pPr>
            <a:r>
              <a:rPr dirty="0" i="1" lang="en-US" smtClean="0"/>
              <a:t>          </a:t>
            </a:r>
            <a:r>
              <a:rPr b="1" dirty="0" lang="en-US" smtClean="0">
                <a:solidFill>
                  <a:srgbClr val="C00000"/>
                </a:solidFill>
              </a:rPr>
              <a:t>DIFFERENTIAL DIAGNONSIS</a:t>
            </a:r>
          </a:p>
          <a:p>
            <a:pPr algn="just"/>
            <a:r>
              <a:rPr dirty="0" lang="en-US" smtClean="0"/>
              <a:t>Evaluate for other causes of severe nausea &amp; vomiting e.g. hepatitis, cholecystitis, peptic ulcers &amp; gastro-enteritis. </a:t>
            </a:r>
          </a:p>
          <a:p>
            <a:pPr algn="just">
              <a:buNone/>
            </a:pPr>
            <a:r>
              <a:rPr dirty="0" i="1" lang="en-US" smtClean="0"/>
              <a:t>                   </a:t>
            </a:r>
            <a:endParaRPr dirty="0" lang="en-US"/>
          </a:p>
        </p:txBody>
      </p:sp>
      <p:sp>
        <p:nvSpPr>
          <p:cNvPr id="104867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59" name=""/>
        <p:cNvGrpSpPr/>
        <p:nvPr/>
      </p:nvGrpSpPr>
      <p:grpSpPr>
        <a:xfrm>
          <a:off x="0" y="0"/>
          <a:ext cx="0" cy="0"/>
          <a:chOff x="0" y="0"/>
          <a:chExt cx="0" cy="0"/>
        </a:xfrm>
      </p:grpSpPr>
      <p:sp>
        <p:nvSpPr>
          <p:cNvPr id="1048677" name="Title 1"/>
          <p:cNvSpPr>
            <a:spLocks noGrp="1"/>
          </p:cNvSpPr>
          <p:nvPr>
            <p:ph type="title"/>
          </p:nvPr>
        </p:nvSpPr>
        <p:spPr/>
        <p:txBody>
          <a:bodyPr/>
          <a:p>
            <a:r>
              <a:rPr b="1" dirty="0" lang="en-US" smtClean="0">
                <a:solidFill>
                  <a:srgbClr val="C00000"/>
                </a:solidFill>
              </a:rPr>
              <a:t>ROLE OF MIDWIFE</a:t>
            </a:r>
            <a:endParaRPr dirty="0" lang="en-US"/>
          </a:p>
        </p:txBody>
      </p:sp>
      <p:sp>
        <p:nvSpPr>
          <p:cNvPr id="1048678" name="Content Placeholder 2"/>
          <p:cNvSpPr>
            <a:spLocks noGrp="1"/>
          </p:cNvSpPr>
          <p:nvPr>
            <p:ph idx="1"/>
          </p:nvPr>
        </p:nvSpPr>
        <p:spPr/>
        <p:txBody>
          <a:bodyPr>
            <a:normAutofit/>
          </a:bodyPr>
          <a:p>
            <a:pPr algn="just" lvl="0"/>
            <a:r>
              <a:rPr dirty="0" sz="3600" lang="en-US" smtClean="0"/>
              <a:t>Regular and accurate evaluation of the mother’s condition and intervene to promote their health.</a:t>
            </a:r>
          </a:p>
          <a:p>
            <a:pPr algn="just" lvl="0"/>
            <a:r>
              <a:rPr dirty="0" sz="3600" lang="en-US" smtClean="0"/>
              <a:t>Psychological support of mother and her relative hence allay anxiety.</a:t>
            </a:r>
          </a:p>
          <a:p>
            <a:pPr algn="just" lvl="0"/>
            <a:r>
              <a:rPr dirty="0" sz="3600" lang="en-US" smtClean="0"/>
              <a:t>Administer prescribed treatment and evaluate its effectiveness regularly.</a:t>
            </a:r>
          </a:p>
          <a:p>
            <a:pPr algn="just"/>
            <a:endParaRPr dirty="0" sz="3600" lang="en-US"/>
          </a:p>
        </p:txBody>
      </p:sp>
      <p:sp>
        <p:nvSpPr>
          <p:cNvPr id="104867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29" name=""/>
        <p:cNvGrpSpPr/>
        <p:nvPr/>
      </p:nvGrpSpPr>
      <p:grpSpPr>
        <a:xfrm>
          <a:off x="0" y="0"/>
          <a:ext cx="0" cy="0"/>
          <a:chOff x="0" y="0"/>
          <a:chExt cx="0" cy="0"/>
        </a:xfrm>
      </p:grpSpPr>
      <p:sp>
        <p:nvSpPr>
          <p:cNvPr id="1048604" name="Title 1"/>
          <p:cNvSpPr>
            <a:spLocks noGrp="1"/>
          </p:cNvSpPr>
          <p:nvPr>
            <p:ph type="title"/>
          </p:nvPr>
        </p:nvSpPr>
        <p:spPr/>
        <p:txBody>
          <a:bodyPr/>
          <a:p>
            <a:r>
              <a:rPr b="1" dirty="0" lang="en-US" smtClean="0">
                <a:solidFill>
                  <a:srgbClr val="C00000"/>
                </a:solidFill>
              </a:rPr>
              <a:t> SPECIFIC MANAGEMENT</a:t>
            </a:r>
            <a:endParaRPr dirty="0" lang="en-US"/>
          </a:p>
        </p:txBody>
      </p:sp>
      <p:sp>
        <p:nvSpPr>
          <p:cNvPr id="1048605" name="Content Placeholder 2"/>
          <p:cNvSpPr>
            <a:spLocks noGrp="1"/>
          </p:cNvSpPr>
          <p:nvPr>
            <p:ph idx="1"/>
          </p:nvPr>
        </p:nvSpPr>
        <p:spPr/>
        <p:txBody>
          <a:bodyPr>
            <a:normAutofit/>
          </a:bodyPr>
          <a:p>
            <a:pPr algn="just">
              <a:buNone/>
            </a:pPr>
            <a:r>
              <a:rPr b="1" dirty="0" i="1" lang="en-US" smtClean="0"/>
              <a:t>	Objectives</a:t>
            </a:r>
            <a:r>
              <a:rPr dirty="0" i="1" lang="en-US" smtClean="0"/>
              <a:t>:</a:t>
            </a:r>
          </a:p>
          <a:p>
            <a:pPr algn="just" lvl="0"/>
            <a:r>
              <a:rPr dirty="0" lang="en-US" smtClean="0"/>
              <a:t>End persistent vomiting or nausea or both.</a:t>
            </a:r>
          </a:p>
          <a:p>
            <a:pPr algn="just" lvl="0"/>
            <a:r>
              <a:rPr dirty="0" lang="en-US" smtClean="0"/>
              <a:t>Restore circulatory volume, fluid and electrolyte volume.</a:t>
            </a:r>
          </a:p>
          <a:p>
            <a:pPr algn="just" lvl="0"/>
            <a:r>
              <a:rPr dirty="0" lang="en-US" smtClean="0"/>
              <a:t>provide basic intra- uterine needs for normal fetal growth and development.</a:t>
            </a:r>
          </a:p>
          <a:p>
            <a:pPr algn="just" lvl="0"/>
            <a:r>
              <a:rPr dirty="0" lang="en-US" smtClean="0"/>
              <a:t>Promote effective coping abilities with psychological tasks of pregnancy and motherhood.</a:t>
            </a:r>
          </a:p>
          <a:p>
            <a:pPr algn="just"/>
            <a:endParaRPr dirty="0" lang="en-US"/>
          </a:p>
        </p:txBody>
      </p:sp>
      <p:sp>
        <p:nvSpPr>
          <p:cNvPr id="104860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27" name=""/>
        <p:cNvGrpSpPr/>
        <p:nvPr/>
      </p:nvGrpSpPr>
      <p:grpSpPr>
        <a:xfrm>
          <a:off x="0" y="0"/>
          <a:ext cx="0" cy="0"/>
          <a:chOff x="0" y="0"/>
          <a:chExt cx="0" cy="0"/>
        </a:xfrm>
      </p:grpSpPr>
      <p:sp>
        <p:nvSpPr>
          <p:cNvPr id="1048599" name="Title 1"/>
          <p:cNvSpPr>
            <a:spLocks noGrp="1"/>
          </p:cNvSpPr>
          <p:nvPr>
            <p:ph type="title"/>
          </p:nvPr>
        </p:nvSpPr>
        <p:spPr/>
        <p:txBody>
          <a:bodyPr/>
          <a:p>
            <a:r>
              <a:rPr dirty="0" lang="en-US" smtClean="0"/>
              <a:t>	</a:t>
            </a:r>
            <a:r>
              <a:rPr b="1" dirty="0" lang="en-US" smtClean="0"/>
              <a:t> For severe conditions:-</a:t>
            </a:r>
            <a:r>
              <a:rPr dirty="0" lang="en-US" smtClean="0"/>
              <a:t> </a:t>
            </a:r>
            <a:endParaRPr dirty="0" lang="en-US"/>
          </a:p>
        </p:txBody>
      </p:sp>
      <p:sp>
        <p:nvSpPr>
          <p:cNvPr id="1048600" name="Content Placeholder 2"/>
          <p:cNvSpPr>
            <a:spLocks noGrp="1"/>
          </p:cNvSpPr>
          <p:nvPr>
            <p:ph idx="1"/>
          </p:nvPr>
        </p:nvSpPr>
        <p:spPr/>
        <p:txBody>
          <a:bodyPr>
            <a:normAutofit/>
          </a:bodyPr>
          <a:p>
            <a:pPr algn="just"/>
            <a:r>
              <a:rPr dirty="0" lang="en-US" smtClean="0"/>
              <a:t>Admission to hospital at first contact is the best option for assessment and control of symptoms.</a:t>
            </a:r>
          </a:p>
          <a:p>
            <a:pPr algn="just" lvl="0"/>
            <a:r>
              <a:rPr dirty="0" lang="en-US" smtClean="0"/>
              <a:t>Inform DR promptly, to thoroughly evaluate the patient and exclude other causes of  vomiting.</a:t>
            </a:r>
          </a:p>
          <a:p>
            <a:pPr algn="just" lvl="0"/>
            <a:r>
              <a:rPr dirty="0" lang="en-US" smtClean="0"/>
              <a:t>Nurse in a quite area, preferably a single room on bed rest to improve blood flow to the uterus and kidneys, respectively.</a:t>
            </a:r>
          </a:p>
          <a:p>
            <a:pPr algn="just"/>
            <a:endParaRPr dirty="0" lang="en-US"/>
          </a:p>
        </p:txBody>
      </p:sp>
      <p:sp>
        <p:nvSpPr>
          <p:cNvPr id="104860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25" name=""/>
        <p:cNvGrpSpPr/>
        <p:nvPr/>
      </p:nvGrpSpPr>
      <p:grpSpPr>
        <a:xfrm>
          <a:off x="0" y="0"/>
          <a:ext cx="0" cy="0"/>
          <a:chOff x="0" y="0"/>
          <a:chExt cx="0" cy="0"/>
        </a:xfrm>
      </p:grpSpPr>
      <p:sp>
        <p:nvSpPr>
          <p:cNvPr id="1048595" name="Content Placeholder 2"/>
          <p:cNvSpPr>
            <a:spLocks noGrp="1"/>
          </p:cNvSpPr>
          <p:nvPr>
            <p:ph idx="1"/>
          </p:nvPr>
        </p:nvSpPr>
        <p:spPr>
          <a:xfrm>
            <a:off x="1524000" y="304800"/>
            <a:ext cx="9643109" cy="5943600"/>
          </a:xfrm>
        </p:spPr>
        <p:txBody>
          <a:bodyPr>
            <a:normAutofit/>
          </a:bodyPr>
          <a:p>
            <a:pPr algn="just" lvl="0"/>
            <a:r>
              <a:rPr dirty="0" lang="en-US" smtClean="0"/>
              <a:t>Replace lost fluid &amp; electrolytes through intravenous infusion of Dextrose in saline to alternate with Hartman’s solution 3 litres in 24 hours.</a:t>
            </a:r>
          </a:p>
          <a:p>
            <a:pPr algn="just" lvl="0">
              <a:buFont typeface="Wingdings" pitchFamily="2" charset="2"/>
              <a:buChar char="Ø"/>
            </a:pPr>
            <a:r>
              <a:rPr dirty="0" lang="en-US" smtClean="0"/>
              <a:t>Aim is to provide hydration, energy and correct acidosis. </a:t>
            </a:r>
          </a:p>
          <a:p>
            <a:pPr algn="just">
              <a:buFont typeface="Wingdings" pitchFamily="2" charset="2"/>
              <a:buChar char="Ø"/>
            </a:pPr>
            <a:r>
              <a:rPr dirty="0" lang="en-US" smtClean="0"/>
              <a:t>Simultaneously, supplement mineral e.g. potassium at a dose of 15-30 Meg in 1L of dextro-saline.</a:t>
            </a:r>
          </a:p>
          <a:p>
            <a:pPr algn="just" lvl="0">
              <a:buFont typeface="Wingdings" pitchFamily="2" charset="2"/>
              <a:buChar char="Ø"/>
            </a:pPr>
            <a:r>
              <a:rPr dirty="0" lang="en-US" smtClean="0"/>
              <a:t>Maintain fluid balance chart strictly.</a:t>
            </a:r>
          </a:p>
          <a:p>
            <a:pPr algn="just"/>
            <a:endParaRPr dirty="0" lang="en-US"/>
          </a:p>
        </p:txBody>
      </p:sp>
      <p:sp>
        <p:nvSpPr>
          <p:cNvPr id="104859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23" name=""/>
        <p:cNvGrpSpPr/>
        <p:nvPr/>
      </p:nvGrpSpPr>
      <p:grpSpPr>
        <a:xfrm>
          <a:off x="0" y="0"/>
          <a:ext cx="0" cy="0"/>
          <a:chOff x="0" y="0"/>
          <a:chExt cx="0" cy="0"/>
        </a:xfrm>
      </p:grpSpPr>
      <p:sp>
        <p:nvSpPr>
          <p:cNvPr id="1048591" name="Content Placeholder 2"/>
          <p:cNvSpPr>
            <a:spLocks noGrp="1"/>
          </p:cNvSpPr>
          <p:nvPr>
            <p:ph idx="1"/>
          </p:nvPr>
        </p:nvSpPr>
        <p:spPr>
          <a:xfrm>
            <a:off x="1794509" y="304800"/>
            <a:ext cx="9372600" cy="5943600"/>
          </a:xfrm>
        </p:spPr>
        <p:txBody>
          <a:bodyPr>
            <a:normAutofit fontScale="94844" lnSpcReduction="10000"/>
          </a:bodyPr>
          <a:p>
            <a:pPr algn="just">
              <a:buNone/>
            </a:pPr>
            <a:r>
              <a:rPr dirty="0" lang="en-US" smtClean="0">
                <a:solidFill>
                  <a:srgbClr val="FF0000"/>
                </a:solidFill>
              </a:rPr>
              <a:t>  </a:t>
            </a:r>
            <a:r>
              <a:rPr b="1" dirty="0" sz="3500" lang="en-US" smtClean="0">
                <a:solidFill>
                  <a:srgbClr val="FF0000"/>
                </a:solidFill>
              </a:rPr>
              <a:t>NB:</a:t>
            </a:r>
            <a:r>
              <a:rPr dirty="0" sz="3500" lang="en-US" smtClean="0">
                <a:solidFill>
                  <a:srgbClr val="FF0000"/>
                </a:solidFill>
              </a:rPr>
              <a:t> </a:t>
            </a:r>
            <a:r>
              <a:rPr dirty="0" sz="3500" lang="en-US" smtClean="0"/>
              <a:t>Vitamin B complex can be added into the infusion without oral feeds till vomiting gets controlled.</a:t>
            </a:r>
          </a:p>
          <a:p>
            <a:pPr algn="just" lvl="0"/>
            <a:r>
              <a:rPr dirty="0" sz="3500" lang="en-US" smtClean="0"/>
              <a:t>Maintain a record of observations every 4 hourly &amp; urinalysis  12 hourly. </a:t>
            </a:r>
          </a:p>
          <a:p>
            <a:pPr algn="just" lvl="0"/>
            <a:r>
              <a:rPr dirty="0" sz="3500" lang="en-US" smtClean="0"/>
              <a:t>Instruct mother to maintain fetal kick chart, if quickening has occurred. Then interprete correctly+ consult PRN.</a:t>
            </a:r>
          </a:p>
          <a:p>
            <a:pPr algn="just"/>
            <a:r>
              <a:rPr dirty="0" sz="3500" lang="en-US" smtClean="0"/>
              <a:t>Carry out investigations for, haemogram urea &amp; electrolyte values, regularly to assess the progress.</a:t>
            </a:r>
          </a:p>
          <a:p>
            <a:pPr algn="just"/>
            <a:endParaRPr dirty="0" lang="en-US"/>
          </a:p>
        </p:txBody>
      </p:sp>
      <p:sp>
        <p:nvSpPr>
          <p:cNvPr id="104859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24" name=""/>
        <p:cNvGrpSpPr/>
        <p:nvPr/>
      </p:nvGrpSpPr>
      <p:grpSpPr>
        <a:xfrm>
          <a:off x="0" y="0"/>
          <a:ext cx="0" cy="0"/>
          <a:chOff x="0" y="0"/>
          <a:chExt cx="0" cy="0"/>
        </a:xfrm>
      </p:grpSpPr>
      <p:sp>
        <p:nvSpPr>
          <p:cNvPr id="1048593" name="Content Placeholder 2"/>
          <p:cNvSpPr>
            <a:spLocks noGrp="1"/>
          </p:cNvSpPr>
          <p:nvPr>
            <p:ph idx="1"/>
          </p:nvPr>
        </p:nvSpPr>
        <p:spPr>
          <a:xfrm>
            <a:off x="1794509" y="228600"/>
            <a:ext cx="9372600" cy="6019800"/>
          </a:xfrm>
        </p:spPr>
        <p:txBody>
          <a:bodyPr>
            <a:normAutofit fontScale="94844" lnSpcReduction="20000"/>
          </a:bodyPr>
          <a:p>
            <a:pPr algn="just">
              <a:buNone/>
            </a:pPr>
            <a:r>
              <a:rPr dirty="0" lang="en-US" smtClean="0">
                <a:latin typeface="Calibri" pitchFamily="34" charset="0"/>
              </a:rPr>
              <a:t> </a:t>
            </a:r>
            <a:r>
              <a:rPr b="1" dirty="0" lang="en-US" smtClean="0">
                <a:latin typeface="Calibri" pitchFamily="34" charset="0"/>
              </a:rPr>
              <a:t>DRUGS</a:t>
            </a:r>
            <a:r>
              <a:rPr dirty="0" lang="en-US" smtClean="0">
                <a:latin typeface="Calibri" pitchFamily="34" charset="0"/>
              </a:rPr>
              <a:t>: Basically supportive  treatment  helps  control to occur conservatively .They includes:-</a:t>
            </a:r>
          </a:p>
          <a:p>
            <a:pPr algn="just" lvl="0"/>
            <a:r>
              <a:rPr dirty="0" lang="en-US" smtClean="0">
                <a:latin typeface="Calibri" pitchFamily="34" charset="0"/>
              </a:rPr>
              <a:t>Vitamin B supplements : initially parentally, later orally as vitamin B complex.</a:t>
            </a:r>
          </a:p>
          <a:p>
            <a:pPr algn="just" lvl="0"/>
            <a:r>
              <a:rPr dirty="0" lang="en-US" smtClean="0">
                <a:latin typeface="Calibri" pitchFamily="34" charset="0"/>
              </a:rPr>
              <a:t>Antiemetics,e.g plasil 10mg TDS (8hrly) .</a:t>
            </a:r>
          </a:p>
          <a:p>
            <a:pPr algn="just" lvl="0"/>
            <a:r>
              <a:rPr dirty="0" lang="en-US" smtClean="0">
                <a:latin typeface="Calibri" pitchFamily="34" charset="0"/>
              </a:rPr>
              <a:t>Antihistamines e.g. promethazine [phenergan] 25mg 8 hrly 1.m.</a:t>
            </a:r>
          </a:p>
          <a:p>
            <a:pPr algn="just" lvl="0">
              <a:buFont typeface="Wingdings" pitchFamily="2" charset="2"/>
              <a:buChar char="Ø"/>
            </a:pPr>
            <a:r>
              <a:rPr dirty="0" lang="en-US" smtClean="0">
                <a:latin typeface="Calibri" pitchFamily="34" charset="0"/>
              </a:rPr>
              <a:t> Alternatively- low doses of psychotropic drugs can be used e.g. largactil 25mg every 12hourly.</a:t>
            </a:r>
          </a:p>
          <a:p>
            <a:pPr algn="just" lvl="0">
              <a:buFont typeface="Wingdings" pitchFamily="2" charset="2"/>
              <a:buChar char="v"/>
            </a:pPr>
            <a:r>
              <a:rPr dirty="0" lang="en-US" smtClean="0">
                <a:latin typeface="Calibri" pitchFamily="34" charset="0"/>
              </a:rPr>
              <a:t>Aim is to boost appetite &amp; control the condition generally.</a:t>
            </a:r>
          </a:p>
          <a:p>
            <a:pPr algn="just"/>
            <a:endParaRPr dirty="0" lang="en-US">
              <a:latin typeface="Calibri" pitchFamily="34" charset="0"/>
            </a:endParaRPr>
          </a:p>
        </p:txBody>
      </p:sp>
      <p:sp>
        <p:nvSpPr>
          <p:cNvPr id="104859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26" name=""/>
        <p:cNvGrpSpPr/>
        <p:nvPr/>
      </p:nvGrpSpPr>
      <p:grpSpPr>
        <a:xfrm>
          <a:off x="0" y="0"/>
          <a:ext cx="0" cy="0"/>
          <a:chOff x="0" y="0"/>
          <a:chExt cx="0" cy="0"/>
        </a:xfrm>
      </p:grpSpPr>
      <p:sp>
        <p:nvSpPr>
          <p:cNvPr id="1048597" name="Content Placeholder 2"/>
          <p:cNvSpPr>
            <a:spLocks noGrp="1"/>
          </p:cNvSpPr>
          <p:nvPr>
            <p:ph idx="1"/>
          </p:nvPr>
        </p:nvSpPr>
        <p:spPr>
          <a:xfrm>
            <a:off x="1809750" y="304800"/>
            <a:ext cx="9372600" cy="5867400"/>
          </a:xfrm>
        </p:spPr>
        <p:txBody>
          <a:bodyPr>
            <a:normAutofit/>
          </a:bodyPr>
          <a:p>
            <a:pPr algn="just" lvl="0"/>
            <a:r>
              <a:rPr dirty="0" lang="en-US" smtClean="0">
                <a:latin typeface="Calibri" pitchFamily="34" charset="0"/>
              </a:rPr>
              <a:t>Maintain high standards of hygiene to include oral toilet 6 hrly.</a:t>
            </a:r>
          </a:p>
          <a:p>
            <a:pPr algn="just" lvl="0"/>
            <a:r>
              <a:rPr dirty="0" lang="en-US" smtClean="0">
                <a:latin typeface="Calibri" pitchFamily="34" charset="0"/>
              </a:rPr>
              <a:t>Regularly evaluate the effectiveness of the treatment, through physical exam finding and  interviewing.</a:t>
            </a:r>
          </a:p>
          <a:p>
            <a:pPr algn="just" lvl="0"/>
            <a:r>
              <a:rPr dirty="0" lang="en-US" smtClean="0">
                <a:latin typeface="Calibri" pitchFamily="34" charset="0"/>
              </a:rPr>
              <a:t>As the condition gets controlled, re-introduce oral feeds gradually then discontinue  the drip.</a:t>
            </a:r>
          </a:p>
          <a:p>
            <a:pPr algn="just" lvl="0"/>
            <a:r>
              <a:rPr dirty="0" lang="en-US" smtClean="0">
                <a:latin typeface="Calibri" pitchFamily="34" charset="0"/>
              </a:rPr>
              <a:t>Encourage well balanced diet and plenty of fluids.</a:t>
            </a:r>
          </a:p>
          <a:p>
            <a:pPr algn="just"/>
            <a:endParaRPr dirty="0" lang="en-US">
              <a:latin typeface="Calibri" pitchFamily="34" charset="0"/>
            </a:endParaRPr>
          </a:p>
        </p:txBody>
      </p:sp>
      <p:sp>
        <p:nvSpPr>
          <p:cNvPr id="104859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28" name=""/>
        <p:cNvGrpSpPr/>
        <p:nvPr/>
      </p:nvGrpSpPr>
      <p:grpSpPr>
        <a:xfrm>
          <a:off x="0" y="0"/>
          <a:ext cx="0" cy="0"/>
          <a:chOff x="0" y="0"/>
          <a:chExt cx="0" cy="0"/>
        </a:xfrm>
      </p:grpSpPr>
      <p:sp>
        <p:nvSpPr>
          <p:cNvPr id="1048602" name="Content Placeholder 2"/>
          <p:cNvSpPr>
            <a:spLocks noGrp="1"/>
          </p:cNvSpPr>
          <p:nvPr>
            <p:ph idx="1"/>
          </p:nvPr>
        </p:nvSpPr>
        <p:spPr>
          <a:xfrm>
            <a:off x="1794509" y="609600"/>
            <a:ext cx="9372600" cy="5638800"/>
          </a:xfrm>
        </p:spPr>
        <p:txBody>
          <a:bodyPr>
            <a:normAutofit fontScale="94844" lnSpcReduction="10000"/>
          </a:bodyPr>
          <a:p>
            <a:pPr algn="just" lvl="0"/>
            <a:r>
              <a:rPr dirty="0" sz="3500" lang="en-US" smtClean="0"/>
              <a:t>Psychologically support her and family, to allay anxiety.</a:t>
            </a:r>
          </a:p>
          <a:p>
            <a:pPr algn="just" lvl="0"/>
            <a:r>
              <a:rPr dirty="0" sz="3500" lang="en-US" smtClean="0"/>
              <a:t>Encourage mobilization to prevent complications.</a:t>
            </a:r>
          </a:p>
          <a:p>
            <a:pPr algn="just" lvl="0"/>
            <a:r>
              <a:rPr dirty="0" sz="3500" lang="en-US" smtClean="0"/>
              <a:t>Create a relaxed or friendly environment, and enquire of the probable associated factors with the onset in order to control relapse.</a:t>
            </a:r>
          </a:p>
          <a:p>
            <a:pPr algn="just" lvl="0"/>
            <a:r>
              <a:rPr dirty="0" sz="3500" lang="en-US" smtClean="0"/>
              <a:t>If possible organize for home visit service for the continuity of  care after consultation with her &amp; family members. </a:t>
            </a:r>
          </a:p>
          <a:p>
            <a:pPr algn="just"/>
            <a:endParaRPr dirty="0" lang="en-US"/>
          </a:p>
        </p:txBody>
      </p:sp>
      <p:sp>
        <p:nvSpPr>
          <p:cNvPr id="104860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60" name=""/>
        <p:cNvGrpSpPr/>
        <p:nvPr/>
      </p:nvGrpSpPr>
      <p:grpSpPr>
        <a:xfrm>
          <a:off x="0" y="0"/>
          <a:ext cx="0" cy="0"/>
          <a:chOff x="0" y="0"/>
          <a:chExt cx="0" cy="0"/>
        </a:xfrm>
      </p:grpSpPr>
      <p:sp>
        <p:nvSpPr>
          <p:cNvPr id="1048680" name="Content Placeholder 2"/>
          <p:cNvSpPr>
            <a:spLocks noGrp="1"/>
          </p:cNvSpPr>
          <p:nvPr>
            <p:ph idx="1"/>
          </p:nvPr>
        </p:nvSpPr>
        <p:spPr>
          <a:xfrm>
            <a:off x="1794509" y="685800"/>
            <a:ext cx="9372600" cy="5562600"/>
          </a:xfrm>
        </p:spPr>
        <p:txBody>
          <a:bodyPr/>
          <a:p>
            <a:pPr lvl="0"/>
            <a:r>
              <a:rPr dirty="0" lang="en-US" smtClean="0"/>
              <a:t>As condition continues to stabilize, prepare her for discharge &amp; share on:-</a:t>
            </a:r>
          </a:p>
          <a:p>
            <a:pPr lvl="0">
              <a:buFont typeface="Wingdings" pitchFamily="2" charset="2"/>
              <a:buChar char="Ø"/>
            </a:pPr>
            <a:r>
              <a:rPr dirty="0" lang="en-US" smtClean="0"/>
              <a:t>Nutritious diet:-Using locally available &amp; affordable foods, to include hygiene as well as methods of preserving nutrients.</a:t>
            </a:r>
          </a:p>
          <a:p>
            <a:pPr lvl="0">
              <a:buFont typeface="Wingdings" pitchFamily="2" charset="2"/>
              <a:buChar char="Ø"/>
            </a:pPr>
            <a:r>
              <a:rPr dirty="0" lang="en-US" smtClean="0"/>
              <a:t>Generally measures of hygienic.</a:t>
            </a:r>
          </a:p>
          <a:p>
            <a:pPr lvl="0">
              <a:buFont typeface="Wingdings" pitchFamily="2" charset="2"/>
              <a:buChar char="Ø"/>
            </a:pPr>
            <a:r>
              <a:rPr dirty="0" lang="en-US" smtClean="0"/>
              <a:t>Relative rest</a:t>
            </a:r>
          </a:p>
          <a:p>
            <a:pPr>
              <a:buFont typeface="Wingdings" pitchFamily="2" charset="2"/>
              <a:buChar char="Ø"/>
            </a:pPr>
            <a:r>
              <a:rPr dirty="0" lang="en-US" smtClean="0"/>
              <a:t>Drug/medication compliance</a:t>
            </a:r>
            <a:endParaRPr dirty="0" lang="en-US"/>
          </a:p>
        </p:txBody>
      </p:sp>
      <p:sp>
        <p:nvSpPr>
          <p:cNvPr id="104868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661" name=""/>
        <p:cNvGrpSpPr/>
        <p:nvPr/>
      </p:nvGrpSpPr>
      <p:grpSpPr>
        <a:xfrm>
          <a:off x="0" y="0"/>
          <a:ext cx="0" cy="0"/>
          <a:chOff x="0" y="0"/>
          <a:chExt cx="0" cy="0"/>
        </a:xfrm>
      </p:grpSpPr>
      <p:sp>
        <p:nvSpPr>
          <p:cNvPr id="1048682" name="Content Placeholder 2"/>
          <p:cNvSpPr>
            <a:spLocks noGrp="1"/>
          </p:cNvSpPr>
          <p:nvPr>
            <p:ph idx="1"/>
          </p:nvPr>
        </p:nvSpPr>
        <p:spPr>
          <a:xfrm>
            <a:off x="1794509" y="304800"/>
            <a:ext cx="9372600" cy="5943600"/>
          </a:xfrm>
        </p:spPr>
        <p:txBody>
          <a:bodyPr>
            <a:normAutofit/>
          </a:bodyPr>
          <a:p>
            <a:pPr lvl="0">
              <a:buFont typeface="Wingdings" pitchFamily="2" charset="2"/>
              <a:buChar char="Ø"/>
            </a:pPr>
            <a:r>
              <a:rPr dirty="0" lang="en-US" smtClean="0"/>
              <a:t>Follow up schedule &amp; compliance to visits.</a:t>
            </a:r>
          </a:p>
          <a:p>
            <a:pPr lvl="0">
              <a:buFont typeface="Wingdings" pitchFamily="2" charset="2"/>
              <a:buChar char="Ø"/>
            </a:pPr>
            <a:r>
              <a:rPr dirty="0" lang="en-US" smtClean="0"/>
              <a:t>For relapse of symptoms seek medical attention.</a:t>
            </a:r>
          </a:p>
          <a:p>
            <a:r>
              <a:rPr dirty="0" lang="en-US" smtClean="0"/>
              <a:t>Thereafter the doctor discharges her, to continue with antenatal visits.</a:t>
            </a:r>
          </a:p>
          <a:p>
            <a:pPr>
              <a:buNone/>
            </a:pPr>
            <a:r>
              <a:rPr dirty="0" lang="en-US" smtClean="0"/>
              <a:t>  </a:t>
            </a:r>
            <a:r>
              <a:rPr b="1" dirty="0" lang="en-US" smtClean="0"/>
              <a:t>NB</a:t>
            </a:r>
            <a:r>
              <a:rPr dirty="0" lang="en-US" smtClean="0"/>
              <a:t>. For no improvement, therapeutic abortion is the best option to safe life, though its rarely necessary.</a:t>
            </a:r>
          </a:p>
          <a:p>
            <a:endParaRPr dirty="0" lang="en-US"/>
          </a:p>
        </p:txBody>
      </p:sp>
      <p:sp>
        <p:nvSpPr>
          <p:cNvPr id="104868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62" name=""/>
        <p:cNvGrpSpPr/>
        <p:nvPr/>
      </p:nvGrpSpPr>
      <p:grpSpPr>
        <a:xfrm>
          <a:off x="0" y="0"/>
          <a:ext cx="0" cy="0"/>
          <a:chOff x="0" y="0"/>
          <a:chExt cx="0" cy="0"/>
        </a:xfrm>
      </p:grpSpPr>
      <p:sp>
        <p:nvSpPr>
          <p:cNvPr id="1048684" name="Title 1"/>
          <p:cNvSpPr>
            <a:spLocks noGrp="1"/>
          </p:cNvSpPr>
          <p:nvPr>
            <p:ph type="title"/>
          </p:nvPr>
        </p:nvSpPr>
        <p:spPr/>
        <p:txBody>
          <a:bodyPr/>
          <a:p>
            <a:r>
              <a:rPr dirty="0" lang="en-US" smtClean="0"/>
              <a:t>	</a:t>
            </a:r>
            <a:r>
              <a:rPr b="1" dirty="0" lang="en-US" smtClean="0">
                <a:solidFill>
                  <a:srgbClr val="C00000"/>
                </a:solidFill>
              </a:rPr>
              <a:t> COMPLICATIONS</a:t>
            </a:r>
            <a:endParaRPr dirty="0" lang="en-US"/>
          </a:p>
        </p:txBody>
      </p:sp>
      <p:sp>
        <p:nvSpPr>
          <p:cNvPr id="1048685" name="Content Placeholder 2"/>
          <p:cNvSpPr>
            <a:spLocks noGrp="1"/>
          </p:cNvSpPr>
          <p:nvPr>
            <p:ph idx="1"/>
          </p:nvPr>
        </p:nvSpPr>
        <p:spPr>
          <a:xfrm>
            <a:off x="1333501" y="1143000"/>
            <a:ext cx="9833609" cy="5105400"/>
          </a:xfrm>
        </p:spPr>
        <p:txBody>
          <a:bodyPr>
            <a:normAutofit/>
          </a:bodyPr>
          <a:p>
            <a:r>
              <a:rPr dirty="0" lang="en-US" smtClean="0"/>
              <a:t>Spontaneous abortion because of gross intra- uterine malnutrition and poor exchange of gases for survival.</a:t>
            </a:r>
          </a:p>
          <a:p>
            <a:pPr lvl="0"/>
            <a:r>
              <a:rPr dirty="0" lang="en-US" smtClean="0"/>
              <a:t>Low birth weight due to either preterm labour or intra- uterine growth restriction (IUGR).</a:t>
            </a:r>
          </a:p>
          <a:p>
            <a:pPr lvl="0"/>
            <a:r>
              <a:rPr dirty="0" lang="en-US" smtClean="0"/>
              <a:t>Deep venous thrombosis due to hypovoluemia and dehydration hence blood viscosity.</a:t>
            </a:r>
          </a:p>
          <a:p>
            <a:pPr lvl="0"/>
            <a:r>
              <a:rPr dirty="0" lang="en-US" smtClean="0"/>
              <a:t>Pulmonary embolism as the clot dislodge hence block pulmonary vasculature.</a:t>
            </a:r>
          </a:p>
          <a:p>
            <a:endParaRPr dirty="0" lang="en-US"/>
          </a:p>
        </p:txBody>
      </p:sp>
      <p:sp>
        <p:nvSpPr>
          <p:cNvPr id="104868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63" name=""/>
        <p:cNvGrpSpPr/>
        <p:nvPr/>
      </p:nvGrpSpPr>
      <p:grpSpPr>
        <a:xfrm>
          <a:off x="0" y="0"/>
          <a:ext cx="0" cy="0"/>
          <a:chOff x="0" y="0"/>
          <a:chExt cx="0" cy="0"/>
        </a:xfrm>
      </p:grpSpPr>
      <p:sp>
        <p:nvSpPr>
          <p:cNvPr id="1048687" name="Content Placeholder 2"/>
          <p:cNvSpPr>
            <a:spLocks noGrp="1"/>
          </p:cNvSpPr>
          <p:nvPr>
            <p:ph idx="1"/>
          </p:nvPr>
        </p:nvSpPr>
        <p:spPr>
          <a:xfrm>
            <a:off x="1794509" y="304800"/>
            <a:ext cx="9372600" cy="5943600"/>
          </a:xfrm>
        </p:spPr>
        <p:txBody>
          <a:bodyPr>
            <a:normAutofit/>
          </a:bodyPr>
          <a:p>
            <a:pPr lvl="0"/>
            <a:r>
              <a:rPr dirty="0" sz="3600" lang="en-US" smtClean="0"/>
              <a:t>Wernickle’s encephalopathy, associated with inadequate levels of vitamin B, (thiamine) &amp; CHO ingestion.</a:t>
            </a:r>
          </a:p>
          <a:p>
            <a:pPr lvl="0">
              <a:buFont typeface="Wingdings" pitchFamily="2" charset="2"/>
              <a:buChar char="Ø"/>
            </a:pPr>
            <a:r>
              <a:rPr dirty="0" sz="3600" lang="en-US" smtClean="0"/>
              <a:t> Presents with:-</a:t>
            </a:r>
          </a:p>
          <a:p>
            <a:pPr lvl="0">
              <a:buFont typeface="Wingdings" pitchFamily="2" charset="2"/>
              <a:buChar char="ü"/>
            </a:pPr>
            <a:r>
              <a:rPr dirty="0" sz="3600" lang="en-US" smtClean="0"/>
              <a:t>Acute hemorrhagic encephalitis,</a:t>
            </a:r>
          </a:p>
          <a:p>
            <a:pPr lvl="0">
              <a:buFont typeface="Wingdings" pitchFamily="2" charset="2"/>
              <a:buChar char="ü"/>
            </a:pPr>
            <a:r>
              <a:rPr dirty="0" sz="3600" lang="en-US" smtClean="0"/>
              <a:t>Ataxia  ,i.e. loss of coordination.</a:t>
            </a:r>
          </a:p>
          <a:p>
            <a:pPr lvl="0">
              <a:buFont typeface="Wingdings" pitchFamily="2" charset="2"/>
              <a:buChar char="ü"/>
            </a:pPr>
            <a:r>
              <a:rPr dirty="0" sz="3600" lang="en-US" smtClean="0"/>
              <a:t>Ophthalmoplegia (eye paralysis) . Confusion.</a:t>
            </a:r>
          </a:p>
          <a:p>
            <a:endParaRPr dirty="0" lang="en-US"/>
          </a:p>
        </p:txBody>
      </p:sp>
      <p:sp>
        <p:nvSpPr>
          <p:cNvPr id="104868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664" name=""/>
        <p:cNvGrpSpPr/>
        <p:nvPr/>
      </p:nvGrpSpPr>
      <p:grpSpPr>
        <a:xfrm>
          <a:off x="0" y="0"/>
          <a:ext cx="0" cy="0"/>
          <a:chOff x="0" y="0"/>
          <a:chExt cx="0" cy="0"/>
        </a:xfrm>
      </p:grpSpPr>
      <p:sp>
        <p:nvSpPr>
          <p:cNvPr id="1048689" name="Content Placeholder 2"/>
          <p:cNvSpPr>
            <a:spLocks noGrp="1"/>
          </p:cNvSpPr>
          <p:nvPr>
            <p:ph idx="1"/>
          </p:nvPr>
        </p:nvSpPr>
        <p:spPr>
          <a:xfrm>
            <a:off x="1794509" y="457200"/>
            <a:ext cx="9372600" cy="5791200"/>
          </a:xfrm>
        </p:spPr>
        <p:txBody>
          <a:bodyPr/>
          <a:p>
            <a:pPr lvl="0"/>
            <a:r>
              <a:rPr dirty="0" lang="en-US" smtClean="0"/>
              <a:t>Mallory-Weiss syndrome or gastro- esophageal laceration syndrome.</a:t>
            </a:r>
          </a:p>
          <a:p>
            <a:pPr lvl="0">
              <a:buFont typeface="Wingdings" pitchFamily="2" charset="2"/>
              <a:buChar char="Ø"/>
            </a:pPr>
            <a:r>
              <a:rPr dirty="0" lang="en-US" smtClean="0"/>
              <a:t>It’s bleeding from tears in the mucosa at the junction of the stomach and esophagus due to severe retching, coughing or vomiting.</a:t>
            </a:r>
          </a:p>
          <a:p>
            <a:pPr lvl="0"/>
            <a:endParaRPr dirty="0" lang="en-US" smtClean="0"/>
          </a:p>
          <a:p>
            <a:pPr lvl="0">
              <a:buNone/>
            </a:pPr>
            <a:r>
              <a:rPr dirty="0" lang="en-US" smtClean="0"/>
              <a:t>			</a:t>
            </a:r>
          </a:p>
          <a:p>
            <a:endParaRPr dirty="0" lang="en-US"/>
          </a:p>
        </p:txBody>
      </p:sp>
      <p:sp>
        <p:nvSpPr>
          <p:cNvPr id="1048690" name="Horizontal Scroll 3"/>
          <p:cNvSpPr/>
          <p:nvPr/>
        </p:nvSpPr>
        <p:spPr>
          <a:xfrm>
            <a:off x="4191001" y="4572000"/>
            <a:ext cx="3905250" cy="1795272"/>
          </a:xfrm>
          <a:prstGeom prst="horizontalScroll">
            <a:avLst>
              <a:gd name="adj" fmla="val 9879"/>
            </a:avLst>
          </a:prstGeom>
          <a:ln>
            <a:solidFill>
              <a:srgbClr val="1B12CC"/>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8000" lang="en-US" smtClean="0">
                <a:solidFill>
                  <a:schemeClr val="accent5">
                    <a:lumMod val="50000"/>
                  </a:schemeClr>
                </a:solidFill>
              </a:rPr>
              <a:t>END</a:t>
            </a:r>
            <a:endParaRPr b="1" dirty="0" sz="8000" lang="en-US">
              <a:solidFill>
                <a:schemeClr val="accent5">
                  <a:lumMod val="50000"/>
                </a:schemeClr>
              </a:solidFill>
            </a:endParaRPr>
          </a:p>
        </p:txBody>
      </p:sp>
      <p:sp>
        <p:nvSpPr>
          <p:cNvPr id="104869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678" name=""/>
        <p:cNvGrpSpPr/>
        <p:nvPr/>
      </p:nvGrpSpPr>
      <p:grpSpPr>
        <a:xfrm>
          <a:off x="0" y="0"/>
          <a:ext cx="0" cy="0"/>
          <a:chOff x="0" y="0"/>
          <a:chExt cx="0" cy="0"/>
        </a:xfrm>
      </p:grpSpPr>
      <p:sp>
        <p:nvSpPr>
          <p:cNvPr id="1048724" name="Title 3"/>
          <p:cNvSpPr>
            <a:spLocks noGrp="1"/>
          </p:cNvSpPr>
          <p:nvPr>
            <p:ph type="ctrTitle"/>
          </p:nvPr>
        </p:nvSpPr>
        <p:spPr>
          <a:xfrm>
            <a:off x="2476500" y="990600"/>
            <a:ext cx="9258300" cy="2209800"/>
          </a:xfrm>
          <a:solidFill>
            <a:srgbClr val="FF0000"/>
          </a:solidFill>
          <a:ln>
            <a:noFill/>
          </a:ln>
          <a:effectLst>
            <a:outerShdw algn="ctr" blurRad="225425" dir="5220000" dist="50800">
              <a:srgbClr val="000000">
                <a:alpha val="33000"/>
              </a:srgbClr>
            </a:outerShdw>
          </a:effectLst>
          <a:scene3d>
            <a:camera prst="perspectiveFront" fov="3300000">
              <a:rot lat="486000" lon="19530000" rev="174000"/>
            </a:camera>
            <a:lightRig dir="t" rig="harsh">
              <a:rot lat="0" lon="0" rev="3000000"/>
            </a:lightRig>
          </a:scene3d>
          <a:sp3d extrusionH="254000" contourW="19050">
            <a:bevelT w="82550" h="44450" prst="angle"/>
            <a:bevelB w="82550" h="44450" prst="angle"/>
            <a:contourClr>
              <a:srgbClr val="FFFFFF"/>
            </a:contourClr>
          </a:sp3d>
        </p:spPr>
        <p:txBody>
          <a:bodyPr>
            <a:noAutofit/>
          </a:bodyPr>
          <a:p>
            <a:pPr algn="ctr"/>
            <a:r>
              <a:rPr b="1" dirty="0" sz="4800" lang="en-US" smtClean="0">
                <a:solidFill>
                  <a:schemeClr val="bg1"/>
                </a:solidFill>
                <a:effectLst>
                  <a:outerShdw algn="tl" blurRad="38100" dir="2700000" dist="38100">
                    <a:srgbClr val="000000">
                      <a:alpha val="43137"/>
                    </a:srgbClr>
                  </a:outerShdw>
                </a:effectLst>
                <a:latin typeface="Algerian" pitchFamily="82" charset="0"/>
              </a:rPr>
              <a:t>ANTEPARTUM HAEMORRHAGE (APH)</a:t>
            </a:r>
            <a:endParaRPr b="1" dirty="0" sz="4800" lang="en-US">
              <a:solidFill>
                <a:schemeClr val="bg1"/>
              </a:solidFill>
              <a:effectLst>
                <a:outerShdw algn="tl" blurRad="38100" dir="2700000" dist="38100">
                  <a:srgbClr val="000000">
                    <a:alpha val="43137"/>
                  </a:srgbClr>
                </a:outerShdw>
              </a:effectLst>
              <a:latin typeface="Algerian" pitchFamily="82" charset="0"/>
            </a:endParaRPr>
          </a:p>
        </p:txBody>
      </p:sp>
    </p:spTree>
  </p:cSld>
  <p:clrMapOvr>
    <a:masterClrMapping/>
  </p:clrMapOvr>
  <p:transition xmlns:p14="http://schemas.microsoft.com/office/powerpoint/2010/main" spd="slow">
    <p:strips dir="ru"/>
  </p:transition>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680" name=""/>
        <p:cNvGrpSpPr/>
        <p:nvPr/>
      </p:nvGrpSpPr>
      <p:grpSpPr>
        <a:xfrm>
          <a:off x="0" y="0"/>
          <a:ext cx="0" cy="0"/>
          <a:chOff x="0" y="0"/>
          <a:chExt cx="0" cy="0"/>
        </a:xfrm>
      </p:grpSpPr>
      <p:sp>
        <p:nvSpPr>
          <p:cNvPr id="1048730" name="Content Placeholder 2"/>
          <p:cNvSpPr>
            <a:spLocks noGrp="1"/>
          </p:cNvSpPr>
          <p:nvPr>
            <p:ph sz="quarter" idx="1"/>
          </p:nvPr>
        </p:nvSpPr>
        <p:spPr>
          <a:xfrm>
            <a:off x="228600" y="381000"/>
            <a:ext cx="10591799" cy="6324600"/>
          </a:xfrm>
        </p:spPr>
        <p:txBody>
          <a:bodyPr>
            <a:normAutofit/>
          </a:bodyPr>
          <a:p>
            <a:pPr algn="just">
              <a:buNone/>
            </a:pPr>
            <a:r>
              <a:rPr dirty="0" sz="3200" i="1" lang="en-US">
                <a:latin typeface="Calibri" pitchFamily="34" charset="0"/>
              </a:rPr>
              <a:t>Synonym</a:t>
            </a:r>
            <a:r>
              <a:rPr dirty="0" sz="3200" lang="en-US">
                <a:latin typeface="Calibri" pitchFamily="34" charset="0"/>
              </a:rPr>
              <a:t>: </a:t>
            </a:r>
            <a:r>
              <a:rPr b="1" dirty="0" sz="3200" lang="en-US" smtClean="0">
                <a:latin typeface="Calibri" pitchFamily="34" charset="0"/>
              </a:rPr>
              <a:t>Prepartum Haemorrhage.</a:t>
            </a:r>
            <a:endParaRPr b="1" dirty="0" sz="3200" lang="en-US">
              <a:latin typeface="Calibri" pitchFamily="34" charset="0"/>
            </a:endParaRPr>
          </a:p>
          <a:p>
            <a:pPr algn="just">
              <a:buNone/>
            </a:pPr>
            <a:r>
              <a:rPr dirty="0" sz="3200" i="1" lang="en-US">
                <a:solidFill>
                  <a:srgbClr val="C00000"/>
                </a:solidFill>
                <a:latin typeface="Calibri" pitchFamily="34" charset="0"/>
              </a:rPr>
              <a:t>             </a:t>
            </a:r>
            <a:r>
              <a:rPr b="1" dirty="0" sz="3200" lang="en-US">
                <a:solidFill>
                  <a:srgbClr val="C00000"/>
                </a:solidFill>
                <a:latin typeface="Calibri" pitchFamily="34" charset="0"/>
              </a:rPr>
              <a:t> </a:t>
            </a:r>
            <a:r>
              <a:rPr b="1" dirty="0" sz="3200" lang="en-US" smtClean="0">
                <a:solidFill>
                  <a:srgbClr val="C00000"/>
                </a:solidFill>
                <a:latin typeface="Calibri" pitchFamily="34" charset="0"/>
              </a:rPr>
              <a:t>DEFINITION</a:t>
            </a:r>
            <a:endParaRPr b="1" dirty="0" sz="3200" lang="en-US">
              <a:solidFill>
                <a:srgbClr val="C00000"/>
              </a:solidFill>
              <a:latin typeface="Calibri" pitchFamily="34" charset="0"/>
            </a:endParaRPr>
          </a:p>
          <a:p>
            <a:pPr algn="just"/>
            <a:r>
              <a:rPr dirty="0" sz="3200" lang="en-US">
                <a:latin typeface="Calibri" pitchFamily="34" charset="0"/>
              </a:rPr>
              <a:t>It’s bleeding from the genital tract after 24</a:t>
            </a:r>
            <a:r>
              <a:rPr baseline="30000" dirty="0" sz="3200" lang="en-US">
                <a:latin typeface="Calibri" pitchFamily="34" charset="0"/>
              </a:rPr>
              <a:t>th</a:t>
            </a:r>
            <a:r>
              <a:rPr dirty="0" sz="3200" lang="en-US">
                <a:latin typeface="Calibri" pitchFamily="34" charset="0"/>
              </a:rPr>
              <a:t> week of gestation, in late pregnancy and before the onset of labour.</a:t>
            </a:r>
          </a:p>
          <a:p>
            <a:pPr algn="just">
              <a:buNone/>
            </a:pPr>
            <a:r>
              <a:rPr dirty="0" sz="3200" lang="en-US" smtClean="0">
                <a:latin typeface="Calibri" pitchFamily="34" charset="0"/>
              </a:rPr>
              <a:t>  </a:t>
            </a:r>
            <a:r>
              <a:rPr b="1" dirty="0" sz="3200" lang="en-US" smtClean="0">
                <a:latin typeface="Calibri" pitchFamily="34" charset="0"/>
              </a:rPr>
              <a:t>NB :</a:t>
            </a:r>
          </a:p>
          <a:p>
            <a:pPr algn="just">
              <a:buFont typeface="Wingdings" pitchFamily="2" charset="2"/>
              <a:buChar char="v"/>
            </a:pPr>
            <a:r>
              <a:rPr dirty="0" sz="3200" lang="en-US" smtClean="0">
                <a:latin typeface="Calibri" pitchFamily="34" charset="0"/>
              </a:rPr>
              <a:t> </a:t>
            </a:r>
            <a:r>
              <a:rPr dirty="0" sz="3200" lang="en-US">
                <a:latin typeface="Calibri" pitchFamily="34" charset="0"/>
              </a:rPr>
              <a:t>Its 3 times more common in multiparous compared to </a:t>
            </a:r>
            <a:r>
              <a:rPr dirty="0" sz="3200" lang="en-US" smtClean="0">
                <a:latin typeface="Calibri" pitchFamily="34" charset="0"/>
              </a:rPr>
              <a:t>primiparous. </a:t>
            </a:r>
            <a:endParaRPr dirty="0" sz="3200" lang="en-US">
              <a:latin typeface="Calibri" pitchFamily="34" charset="0"/>
            </a:endParaRPr>
          </a:p>
          <a:p>
            <a:pPr algn="just">
              <a:buFont typeface="Wingdings" pitchFamily="2" charset="2"/>
              <a:buChar char="v"/>
            </a:pPr>
            <a:r>
              <a:rPr dirty="0" sz="3200" lang="en-US">
                <a:latin typeface="Calibri" pitchFamily="34" charset="0"/>
              </a:rPr>
              <a:t> </a:t>
            </a:r>
            <a:r>
              <a:rPr dirty="0" sz="3200" lang="en-US" smtClean="0">
                <a:latin typeface="Calibri" pitchFamily="34" charset="0"/>
              </a:rPr>
              <a:t>Its </a:t>
            </a:r>
            <a:r>
              <a:rPr dirty="0" sz="3200" lang="en-US">
                <a:latin typeface="Calibri" pitchFamily="34" charset="0"/>
              </a:rPr>
              <a:t>always an obstetrical emergency because of the risk of hypovoluemia especially that associated with </a:t>
            </a:r>
            <a:r>
              <a:rPr dirty="0" sz="3200" lang="en-US" smtClean="0">
                <a:latin typeface="Calibri" pitchFamily="34" charset="0"/>
              </a:rPr>
              <a:t>the placenta</a:t>
            </a:r>
            <a:r>
              <a:rPr dirty="0" sz="3200" lang="en-US">
                <a:latin typeface="Calibri" pitchFamily="34" charset="0"/>
              </a:rPr>
              <a:t>.</a:t>
            </a:r>
          </a:p>
          <a:p>
            <a:pPr algn="just"/>
            <a:endParaRPr dirty="0" sz="3200" lang="en-US">
              <a:latin typeface="Calibri" pitchFamily="34" charset="0"/>
            </a:endParaRPr>
          </a:p>
        </p:txBody>
      </p:sp>
      <p:sp>
        <p:nvSpPr>
          <p:cNvPr id="1048731"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681" name=""/>
        <p:cNvGrpSpPr/>
        <p:nvPr/>
      </p:nvGrpSpPr>
      <p:grpSpPr>
        <a:xfrm>
          <a:off x="0" y="0"/>
          <a:ext cx="0" cy="0"/>
          <a:chOff x="0" y="0"/>
          <a:chExt cx="0" cy="0"/>
        </a:xfrm>
      </p:grpSpPr>
      <p:sp>
        <p:nvSpPr>
          <p:cNvPr id="1048732" name="Title 1"/>
          <p:cNvSpPr>
            <a:spLocks noGrp="1"/>
          </p:cNvSpPr>
          <p:nvPr>
            <p:ph type="title"/>
          </p:nvPr>
        </p:nvSpPr>
        <p:spPr/>
        <p:txBody>
          <a:bodyPr>
            <a:normAutofit fontScale="90000"/>
          </a:bodyPr>
          <a:p>
            <a:pPr algn="ctr"/>
            <a:r>
              <a:rPr b="1" dirty="0" sz="4800" lang="en-US" smtClean="0">
                <a:solidFill>
                  <a:srgbClr val="002060"/>
                </a:solidFill>
              </a:rPr>
              <a:t>CLASSIFICATION/ MAJOR CAUSES OF </a:t>
            </a:r>
            <a:r>
              <a:rPr b="1" dirty="0" sz="4800" lang="en-US" err="1" smtClean="0">
                <a:solidFill>
                  <a:srgbClr val="002060"/>
                </a:solidFill>
              </a:rPr>
              <a:t>APH</a:t>
            </a:r>
            <a:endParaRPr b="1" dirty="0" lang="en-US">
              <a:solidFill>
                <a:srgbClr val="002060"/>
              </a:solidFill>
            </a:endParaRPr>
          </a:p>
        </p:txBody>
      </p:sp>
      <p:sp>
        <p:nvSpPr>
          <p:cNvPr id="1048733" name="Content Placeholder 2"/>
          <p:cNvSpPr>
            <a:spLocks noGrp="1"/>
          </p:cNvSpPr>
          <p:nvPr>
            <p:ph sz="quarter" idx="1"/>
          </p:nvPr>
        </p:nvSpPr>
        <p:spPr>
          <a:xfrm>
            <a:off x="190500" y="1600200"/>
            <a:ext cx="10763250" cy="4873752"/>
          </a:xfrm>
        </p:spPr>
        <p:txBody>
          <a:bodyPr>
            <a:normAutofit/>
          </a:bodyPr>
          <a:p>
            <a:pPr algn="just">
              <a:buFont typeface="Wingdings" pitchFamily="2" charset="2"/>
              <a:buChar char="v"/>
            </a:pPr>
            <a:r>
              <a:rPr dirty="0" sz="3600" lang="en-US" smtClean="0"/>
              <a:t>Based on the specific site of haemorrhage and location of the placenta;</a:t>
            </a:r>
          </a:p>
          <a:p>
            <a:r>
              <a:rPr dirty="0" sz="3600" lang="en-US" smtClean="0"/>
              <a:t>Placenta praevia</a:t>
            </a:r>
          </a:p>
          <a:p>
            <a:pPr lvl="0"/>
            <a:r>
              <a:rPr dirty="0" sz="3600" lang="en-US" smtClean="0"/>
              <a:t>Placental abruption \ abruptio placentae</a:t>
            </a:r>
          </a:p>
          <a:p>
            <a:pPr lvl="0"/>
            <a:r>
              <a:rPr dirty="0" sz="3600" lang="en-US" smtClean="0"/>
              <a:t>Incidental/ unclassified/extra placental bleeding.</a:t>
            </a:r>
          </a:p>
          <a:p>
            <a:endParaRPr dirty="0" lang="en-US"/>
          </a:p>
        </p:txBody>
      </p:sp>
      <p:sp>
        <p:nvSpPr>
          <p:cNvPr id="1048734"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682" name=""/>
        <p:cNvGrpSpPr/>
        <p:nvPr/>
      </p:nvGrpSpPr>
      <p:grpSpPr>
        <a:xfrm>
          <a:off x="0" y="0"/>
          <a:ext cx="0" cy="0"/>
          <a:chOff x="0" y="0"/>
          <a:chExt cx="0" cy="0"/>
        </a:xfrm>
      </p:grpSpPr>
      <p:sp>
        <p:nvSpPr>
          <p:cNvPr id="1048735" name="Title 1"/>
          <p:cNvSpPr>
            <a:spLocks noGrp="1"/>
          </p:cNvSpPr>
          <p:nvPr>
            <p:ph type="title"/>
          </p:nvPr>
        </p:nvSpPr>
        <p:spPr>
          <a:xfrm>
            <a:off x="476250" y="0"/>
            <a:ext cx="9334500" cy="1143000"/>
          </a:xfrm>
        </p:spPr>
        <p:txBody>
          <a:bodyPr/>
          <a:p>
            <a:r>
              <a:rPr b="1" dirty="0" lang="en-US" smtClean="0">
                <a:solidFill>
                  <a:srgbClr val="FF0000"/>
                </a:solidFill>
              </a:rPr>
              <a:t>CAUSES OF BLEEDING IN LATE PREGNANCY</a:t>
            </a:r>
            <a:endParaRPr b="1" dirty="0" lang="en-US">
              <a:solidFill>
                <a:srgbClr val="FF0000"/>
              </a:solidFill>
            </a:endParaRPr>
          </a:p>
        </p:txBody>
      </p:sp>
      <p:graphicFrame>
        <p:nvGraphicFramePr>
          <p:cNvPr id="4194304" name="Content Placeholder 3"/>
          <p:cNvGraphicFramePr>
            <a:graphicFrameLocks noGrp="1"/>
          </p:cNvGraphicFramePr>
          <p:nvPr>
            <p:ph sz="quarter" idx="1"/>
          </p:nvPr>
        </p:nvGraphicFramePr>
        <p:xfrm>
          <a:off x="285751" y="1143001"/>
          <a:ext cx="10668000" cy="5996950"/>
        </p:xfrm>
        <a:graphic>
          <a:graphicData uri="http://schemas.openxmlformats.org/drawingml/2006/table">
            <a:tbl>
              <a:tblPr firstRow="1" bandRow="1">
                <a:tableStyleId>{5C22544A-7EE6-4342-B048-85BDC9FD1C3A}</a:tableStyleId>
              </a:tblPr>
              <a:tblGrid>
                <a:gridCol w="5143500"/>
                <a:gridCol w="5524500"/>
              </a:tblGrid>
              <a:tr h="400051">
                <a:tc>
                  <a:txBody>
                    <a:bodyPr/>
                    <a:p>
                      <a:r>
                        <a:rPr dirty="0" sz="2000" lang="en-US" smtClean="0"/>
                        <a:t>CAUSE</a:t>
                      </a:r>
                      <a:endParaRPr dirty="0" sz="2000" lang="en-US"/>
                    </a:p>
                  </a:txBody>
                  <a:tcPr marL="114300" marR="114300"/>
                </a:tc>
                <a:tc>
                  <a:txBody>
                    <a:bodyPr/>
                    <a:p>
                      <a:r>
                        <a:rPr dirty="0" sz="2000" lang="en-US" smtClean="0"/>
                        <a:t>INCIDENCE %</a:t>
                      </a:r>
                      <a:endParaRPr dirty="0" sz="2000" lang="en-US"/>
                    </a:p>
                  </a:txBody>
                  <a:tcPr marL="114300" marR="114300"/>
                </a:tc>
              </a:tr>
              <a:tr h="400051">
                <a:tc>
                  <a:txBody>
                    <a:bodyPr/>
                    <a:p>
                      <a:r>
                        <a:rPr dirty="0" sz="2000" lang="en-US" smtClean="0"/>
                        <a:t>Placenta praevia</a:t>
                      </a:r>
                      <a:endParaRPr dirty="0" sz="2000" lang="en-US"/>
                    </a:p>
                  </a:txBody>
                  <a:tcPr marL="114300" marR="114300"/>
                </a:tc>
                <a:tc>
                  <a:txBody>
                    <a:bodyPr/>
                    <a:p>
                      <a:r>
                        <a:rPr dirty="0" sz="2000" lang="en-US" smtClean="0"/>
                        <a:t>31.1%</a:t>
                      </a:r>
                      <a:endParaRPr dirty="0" sz="2000" lang="en-US"/>
                    </a:p>
                  </a:txBody>
                  <a:tcPr marL="114300" marR="114300"/>
                </a:tc>
              </a:tr>
              <a:tr h="708660">
                <a:tc>
                  <a:txBody>
                    <a:bodyPr/>
                    <a:p>
                      <a:r>
                        <a:rPr dirty="0" sz="2000" lang="en-US" smtClean="0"/>
                        <a:t>Plantal abruption</a:t>
                      </a:r>
                      <a:endParaRPr dirty="0" sz="2000" lang="en-US"/>
                    </a:p>
                  </a:txBody>
                  <a:tcPr marL="114300" marR="114300"/>
                </a:tc>
                <a:tc>
                  <a:txBody>
                    <a:bodyPr/>
                    <a:p>
                      <a:r>
                        <a:rPr dirty="0" sz="2000" lang="en-US" smtClean="0"/>
                        <a:t>22%</a:t>
                      </a:r>
                    </a:p>
                    <a:p>
                      <a:endParaRPr dirty="0" sz="2000" lang="en-US"/>
                    </a:p>
                  </a:txBody>
                  <a:tcPr marL="114300" marR="114300"/>
                </a:tc>
              </a:tr>
              <a:tr h="708660">
                <a:tc>
                  <a:txBody>
                    <a:bodyPr/>
                    <a:p>
                      <a:r>
                        <a:rPr dirty="0" sz="2000" lang="en-US" smtClean="0"/>
                        <a:t>‘unclassified bleeding’</a:t>
                      </a:r>
                      <a:endParaRPr dirty="0" sz="2000" lang="en-US"/>
                    </a:p>
                  </a:txBody>
                  <a:tcPr marL="114300" marR="114300"/>
                </a:tc>
                <a:tc>
                  <a:txBody>
                    <a:bodyPr/>
                    <a:p>
                      <a:r>
                        <a:rPr dirty="0" sz="2000" lang="en-US" smtClean="0"/>
                        <a:t>47%</a:t>
                      </a:r>
                      <a:endParaRPr dirty="0" sz="2000" lang="en-US"/>
                    </a:p>
                  </a:txBody>
                  <a:tcPr marL="114300" marR="114300"/>
                </a:tc>
              </a:tr>
              <a:tr h="400051">
                <a:tc>
                  <a:txBody>
                    <a:bodyPr/>
                    <a:p>
                      <a:r>
                        <a:rPr dirty="0" sz="2000" lang="en-US" smtClean="0"/>
                        <a:t>Marginal</a:t>
                      </a:r>
                      <a:endParaRPr dirty="0" sz="2000" lang="en-US"/>
                    </a:p>
                  </a:txBody>
                  <a:tcPr marL="114300" marR="114300"/>
                </a:tc>
                <a:tc>
                  <a:txBody>
                    <a:bodyPr/>
                    <a:p>
                      <a:r>
                        <a:rPr dirty="0" sz="2000" lang="en-US" smtClean="0"/>
                        <a:t>60%</a:t>
                      </a:r>
                      <a:endParaRPr dirty="0" sz="2000" lang="en-US"/>
                    </a:p>
                  </a:txBody>
                  <a:tcPr marL="114300" marR="114300"/>
                </a:tc>
              </a:tr>
              <a:tr h="400051">
                <a:tc>
                  <a:txBody>
                    <a:bodyPr/>
                    <a:p>
                      <a:r>
                        <a:rPr dirty="0" sz="2000" lang="en-US" smtClean="0"/>
                        <a:t>Show</a:t>
                      </a:r>
                      <a:endParaRPr dirty="0" sz="2000" lang="en-US"/>
                    </a:p>
                  </a:txBody>
                  <a:tcPr marL="114300" marR="114300"/>
                </a:tc>
                <a:tc>
                  <a:txBody>
                    <a:bodyPr/>
                    <a:p>
                      <a:r>
                        <a:rPr dirty="0" sz="2000" lang="en-US" smtClean="0"/>
                        <a:t>20%</a:t>
                      </a:r>
                      <a:endParaRPr dirty="0" sz="2000" lang="en-US"/>
                    </a:p>
                  </a:txBody>
                  <a:tcPr marL="114300" marR="114300"/>
                </a:tc>
              </a:tr>
              <a:tr h="400051">
                <a:tc>
                  <a:txBody>
                    <a:bodyPr/>
                    <a:p>
                      <a:r>
                        <a:rPr dirty="0" sz="2000" lang="en-US" smtClean="0"/>
                        <a:t>Cervicitis</a:t>
                      </a:r>
                      <a:endParaRPr dirty="0" sz="2000" lang="en-US"/>
                    </a:p>
                  </a:txBody>
                  <a:tcPr marL="114300" marR="114300"/>
                </a:tc>
                <a:tc>
                  <a:txBody>
                    <a:bodyPr/>
                    <a:p>
                      <a:r>
                        <a:rPr dirty="0" sz="2000" lang="en-US" smtClean="0"/>
                        <a:t>8%</a:t>
                      </a:r>
                      <a:endParaRPr dirty="0" sz="2000" lang="en-US"/>
                    </a:p>
                  </a:txBody>
                  <a:tcPr marL="114300" marR="114300"/>
                </a:tc>
              </a:tr>
              <a:tr h="400051">
                <a:tc>
                  <a:txBody>
                    <a:bodyPr/>
                    <a:p>
                      <a:r>
                        <a:rPr dirty="0" sz="2000" lang="en-US" smtClean="0"/>
                        <a:t>Trauma</a:t>
                      </a:r>
                      <a:endParaRPr dirty="0" sz="2000" lang="en-US"/>
                    </a:p>
                  </a:txBody>
                  <a:tcPr marL="114300" marR="114300"/>
                </a:tc>
                <a:tc>
                  <a:txBody>
                    <a:bodyPr/>
                    <a:p>
                      <a:r>
                        <a:rPr dirty="0" sz="2000" lang="en-US" smtClean="0"/>
                        <a:t>5%</a:t>
                      </a:r>
                      <a:endParaRPr dirty="0" sz="2000" lang="en-US"/>
                    </a:p>
                  </a:txBody>
                  <a:tcPr marL="114300" marR="114300"/>
                </a:tc>
              </a:tr>
              <a:tr h="400051">
                <a:tc>
                  <a:txBody>
                    <a:bodyPr/>
                    <a:p>
                      <a:r>
                        <a:rPr dirty="0" sz="2000" lang="en-US" smtClean="0"/>
                        <a:t>Genital tumours</a:t>
                      </a:r>
                      <a:endParaRPr dirty="0" sz="2000" lang="en-US"/>
                    </a:p>
                  </a:txBody>
                  <a:tcPr marL="114300" marR="114300"/>
                </a:tc>
                <a:tc>
                  <a:txBody>
                    <a:bodyPr/>
                    <a:p>
                      <a:r>
                        <a:rPr dirty="0" sz="2000" lang="en-US" smtClean="0"/>
                        <a:t>0.5%</a:t>
                      </a:r>
                      <a:endParaRPr dirty="0" sz="2000" lang="en-US"/>
                    </a:p>
                  </a:txBody>
                  <a:tcPr marL="114300" marR="114300"/>
                </a:tc>
              </a:tr>
              <a:tr h="400051">
                <a:tc>
                  <a:txBody>
                    <a:bodyPr/>
                    <a:p>
                      <a:r>
                        <a:rPr dirty="0" sz="2000" lang="en-US" smtClean="0"/>
                        <a:t>Genital infections</a:t>
                      </a:r>
                      <a:endParaRPr dirty="0" sz="2000" lang="en-US"/>
                    </a:p>
                  </a:txBody>
                  <a:tcPr marL="114300" marR="114300"/>
                </a:tc>
                <a:tc>
                  <a:txBody>
                    <a:bodyPr/>
                    <a:p>
                      <a:r>
                        <a:rPr dirty="0" sz="2000" lang="en-US" smtClean="0"/>
                        <a:t>0.5%</a:t>
                      </a:r>
                      <a:endParaRPr dirty="0" sz="2000" lang="en-US"/>
                    </a:p>
                  </a:txBody>
                  <a:tcPr marL="114300" marR="114300"/>
                </a:tc>
              </a:tr>
              <a:tr h="400051">
                <a:tc>
                  <a:txBody>
                    <a:bodyPr/>
                    <a:p>
                      <a:r>
                        <a:rPr dirty="0" sz="2000" lang="en-US" smtClean="0"/>
                        <a:t>Haematuria</a:t>
                      </a:r>
                      <a:endParaRPr dirty="0" sz="2000" lang="en-US"/>
                    </a:p>
                  </a:txBody>
                  <a:tcPr marL="114300" marR="114300"/>
                </a:tc>
                <a:tc>
                  <a:txBody>
                    <a:bodyPr/>
                    <a:p>
                      <a:r>
                        <a:rPr dirty="0" sz="2000" lang="en-US" smtClean="0"/>
                        <a:t>0.5%</a:t>
                      </a:r>
                      <a:endParaRPr dirty="0" sz="2000" lang="en-US"/>
                    </a:p>
                  </a:txBody>
                  <a:tcPr marL="114300" marR="114300"/>
                </a:tc>
              </a:tr>
              <a:tr h="400051">
                <a:tc>
                  <a:txBody>
                    <a:bodyPr/>
                    <a:p>
                      <a:r>
                        <a:rPr dirty="0" sz="2000" lang="en-US" smtClean="0"/>
                        <a:t>Vasapraevia</a:t>
                      </a:r>
                      <a:endParaRPr dirty="0" sz="2000" lang="en-US"/>
                    </a:p>
                  </a:txBody>
                  <a:tcPr marL="114300" marR="114300"/>
                </a:tc>
                <a:tc>
                  <a:txBody>
                    <a:bodyPr/>
                    <a:p>
                      <a:r>
                        <a:rPr dirty="0" sz="2000" lang="en-US" smtClean="0"/>
                        <a:t>0.5%</a:t>
                      </a:r>
                      <a:endParaRPr dirty="0" sz="2000" lang="en-US"/>
                    </a:p>
                  </a:txBody>
                  <a:tcPr marL="114300" marR="114300"/>
                </a:tc>
              </a:tr>
              <a:tr h="579120">
                <a:tc>
                  <a:txBody>
                    <a:bodyPr/>
                    <a:p>
                      <a:r>
                        <a:rPr dirty="0" sz="2000" lang="en-US" smtClean="0"/>
                        <a:t>Others</a:t>
                      </a:r>
                      <a:endParaRPr dirty="0" sz="2000" lang="en-US"/>
                    </a:p>
                  </a:txBody>
                  <a:tcPr marL="114300" marR="114300"/>
                </a:tc>
                <a:tc>
                  <a:txBody>
                    <a:bodyPr/>
                    <a:p>
                      <a:r>
                        <a:rPr dirty="0" sz="2000" lang="en-US" smtClean="0"/>
                        <a:t>0.5%</a:t>
                      </a:r>
                      <a:endParaRPr dirty="0" sz="2000" lang="en-US"/>
                    </a:p>
                  </a:txBody>
                  <a:tcPr marL="114300" marR="114300"/>
                </a:tc>
              </a:tr>
            </a:tbl>
          </a:graphicData>
        </a:graphic>
      </p:graphicFrame>
      <p:sp>
        <p:nvSpPr>
          <p:cNvPr id="1048736" name="Footer Placeholder 2"/>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683" name=""/>
        <p:cNvGrpSpPr/>
        <p:nvPr/>
      </p:nvGrpSpPr>
      <p:grpSpPr>
        <a:xfrm>
          <a:off x="0" y="0"/>
          <a:ext cx="0" cy="0"/>
          <a:chOff x="0" y="0"/>
          <a:chExt cx="0" cy="0"/>
        </a:xfrm>
      </p:grpSpPr>
      <p:sp>
        <p:nvSpPr>
          <p:cNvPr id="1048737" name="Title 1"/>
          <p:cNvSpPr>
            <a:spLocks noGrp="1"/>
          </p:cNvSpPr>
          <p:nvPr>
            <p:ph type="title"/>
          </p:nvPr>
        </p:nvSpPr>
        <p:spPr/>
        <p:txBody>
          <a:bodyPr/>
          <a:p>
            <a:pPr algn="ctr"/>
            <a:r>
              <a:rPr b="1" dirty="0" sz="4800" lang="en-US" smtClean="0">
                <a:solidFill>
                  <a:srgbClr val="FF0000"/>
                </a:solidFill>
              </a:rPr>
              <a:t>1.PLACENTA PRAEVIA</a:t>
            </a:r>
            <a:endParaRPr b="1" dirty="0" lang="en-US">
              <a:solidFill>
                <a:srgbClr val="FF0000"/>
              </a:solidFill>
            </a:endParaRPr>
          </a:p>
        </p:txBody>
      </p:sp>
      <p:sp>
        <p:nvSpPr>
          <p:cNvPr id="1048738" name="Content Placeholder 2"/>
          <p:cNvSpPr>
            <a:spLocks noGrp="1"/>
          </p:cNvSpPr>
          <p:nvPr>
            <p:ph sz="quarter" idx="1"/>
          </p:nvPr>
        </p:nvSpPr>
        <p:spPr>
          <a:xfrm>
            <a:off x="285750" y="1600200"/>
            <a:ext cx="10477500" cy="4873752"/>
          </a:xfrm>
        </p:spPr>
        <p:txBody>
          <a:bodyPr>
            <a:normAutofit/>
          </a:bodyPr>
          <a:p>
            <a:pPr algn="just">
              <a:buNone/>
            </a:pPr>
            <a:r>
              <a:rPr dirty="0" sz="3200" i="1" lang="en-US" smtClean="0">
                <a:latin typeface="Calibri" pitchFamily="34" charset="0"/>
              </a:rPr>
              <a:t>	</a:t>
            </a:r>
            <a:r>
              <a:rPr dirty="0" sz="3200" lang="en-US" smtClean="0">
                <a:latin typeface="Calibri" pitchFamily="34" charset="0"/>
              </a:rPr>
              <a:t>Also referred to as unavoidable APH. </a:t>
            </a:r>
          </a:p>
          <a:p>
            <a:pPr algn="just">
              <a:buNone/>
            </a:pPr>
            <a:r>
              <a:rPr dirty="0" sz="3200" i="1" lang="en-US" smtClean="0">
                <a:latin typeface="Calibri" pitchFamily="34" charset="0"/>
              </a:rPr>
              <a:t>	</a:t>
            </a:r>
            <a:r>
              <a:rPr b="1" dirty="0" sz="3200" lang="en-US" smtClean="0">
                <a:solidFill>
                  <a:srgbClr val="C00000"/>
                </a:solidFill>
                <a:latin typeface="Calibri" pitchFamily="34" charset="0"/>
              </a:rPr>
              <a:t>DESCRIPTION</a:t>
            </a:r>
          </a:p>
          <a:p>
            <a:pPr algn="just"/>
            <a:r>
              <a:rPr dirty="0" sz="3200" lang="en-US" smtClean="0">
                <a:latin typeface="Calibri" pitchFamily="34" charset="0"/>
              </a:rPr>
              <a:t>It’s a situation where the placenta is either </a:t>
            </a:r>
            <a:r>
              <a:rPr b="1" dirty="0" sz="3200" lang="en-US" smtClean="0">
                <a:latin typeface="Calibri" pitchFamily="34" charset="0"/>
              </a:rPr>
              <a:t>partially</a:t>
            </a:r>
            <a:r>
              <a:rPr dirty="0" sz="3200" lang="en-US" smtClean="0">
                <a:latin typeface="Calibri" pitchFamily="34" charset="0"/>
              </a:rPr>
              <a:t> (partly) or </a:t>
            </a:r>
            <a:r>
              <a:rPr b="1" dirty="0" sz="3200" lang="en-US" smtClean="0">
                <a:latin typeface="Calibri" pitchFamily="34" charset="0"/>
              </a:rPr>
              <a:t>wholly</a:t>
            </a:r>
            <a:r>
              <a:rPr dirty="0" sz="3200" lang="en-US" smtClean="0">
                <a:latin typeface="Calibri" pitchFamily="34" charset="0"/>
              </a:rPr>
              <a:t> embedded in the lower uterine segment, either anteriorly or posteriorly. The former is less serious.</a:t>
            </a:r>
          </a:p>
          <a:p>
            <a:pPr algn="just">
              <a:buFont typeface="Wingdings" pitchFamily="2" charset="2"/>
              <a:buChar char="Ø"/>
            </a:pPr>
            <a:r>
              <a:rPr dirty="0" sz="3200" lang="en-US" smtClean="0">
                <a:latin typeface="Calibri" pitchFamily="34" charset="0"/>
              </a:rPr>
              <a:t>Normally ,as the segment prepares for the labour process, partial separation occurs  leading to bleeding.</a:t>
            </a:r>
          </a:p>
          <a:p>
            <a:pPr algn="just"/>
            <a:endParaRPr dirty="0" sz="3200" lang="en-US">
              <a:latin typeface="Calibri" pitchFamily="34" charset="0"/>
            </a:endParaRPr>
          </a:p>
        </p:txBody>
      </p:sp>
      <p:sp>
        <p:nvSpPr>
          <p:cNvPr id="1048739"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684" name=""/>
        <p:cNvGrpSpPr/>
        <p:nvPr/>
      </p:nvGrpSpPr>
      <p:grpSpPr>
        <a:xfrm>
          <a:off x="0" y="0"/>
          <a:ext cx="0" cy="0"/>
          <a:chOff x="0" y="0"/>
          <a:chExt cx="0" cy="0"/>
        </a:xfrm>
      </p:grpSpPr>
      <p:sp>
        <p:nvSpPr>
          <p:cNvPr id="1048740" name="Title 1"/>
          <p:cNvSpPr>
            <a:spLocks noGrp="1"/>
          </p:cNvSpPr>
          <p:nvPr>
            <p:ph type="title"/>
          </p:nvPr>
        </p:nvSpPr>
        <p:spPr/>
        <p:txBody>
          <a:bodyPr>
            <a:noAutofit/>
          </a:bodyPr>
          <a:p>
            <a:pPr algn="ctr"/>
            <a:r>
              <a:rPr dirty="0" sz="4800" lang="en-US" smtClean="0">
                <a:solidFill>
                  <a:srgbClr val="FF0000"/>
                </a:solidFill>
                <a:latin typeface="Aharoni" panose="02010803020104030203" pitchFamily="2" charset="-79"/>
                <a:cs typeface="Aharoni" panose="02010803020104030203" pitchFamily="2" charset="-79"/>
              </a:rPr>
              <a:t>CAUSES OF LOWER IMPLANTATION</a:t>
            </a:r>
            <a:endParaRPr dirty="0" sz="4800" lang="en-US">
              <a:solidFill>
                <a:srgbClr val="FF0000"/>
              </a:solidFill>
              <a:latin typeface="Aharoni" panose="02010803020104030203" pitchFamily="2" charset="-79"/>
              <a:cs typeface="Aharoni" panose="02010803020104030203" pitchFamily="2" charset="-79"/>
            </a:endParaRPr>
          </a:p>
        </p:txBody>
      </p:sp>
      <p:sp>
        <p:nvSpPr>
          <p:cNvPr id="1048741" name="Content Placeholder 2"/>
          <p:cNvSpPr>
            <a:spLocks noGrp="1"/>
          </p:cNvSpPr>
          <p:nvPr>
            <p:ph sz="quarter" idx="1"/>
          </p:nvPr>
        </p:nvSpPr>
        <p:spPr/>
        <p:txBody>
          <a:bodyPr>
            <a:normAutofit/>
          </a:bodyPr>
          <a:p>
            <a:pPr algn="just"/>
            <a:r>
              <a:rPr dirty="0" sz="3400" lang="en-US" smtClean="0"/>
              <a:t>Grandemultiparity , since upper segment  is already scarred by earlier implantations.</a:t>
            </a:r>
          </a:p>
          <a:p>
            <a:pPr algn="just" lvl="0"/>
            <a:r>
              <a:rPr dirty="0" sz="3400" lang="en-US" smtClean="0"/>
              <a:t>Multiple pregnancy, due to either large placenta or many placentae.</a:t>
            </a:r>
          </a:p>
          <a:p>
            <a:pPr algn="just" lvl="0"/>
            <a:r>
              <a:rPr dirty="0" sz="3400" lang="en-US" smtClean="0"/>
              <a:t>Placental abnormality e.g. succenturiate lobe and bipartite. </a:t>
            </a:r>
          </a:p>
          <a:p>
            <a:pPr algn="just" lvl="0"/>
            <a:r>
              <a:rPr dirty="0" sz="3400" lang="en-US" smtClean="0"/>
              <a:t>Repeated dilatation and curettage leaving the upper segment severely scarred.</a:t>
            </a:r>
          </a:p>
          <a:p>
            <a:pPr algn="just"/>
            <a:endParaRPr dirty="0" lang="en-US"/>
          </a:p>
        </p:txBody>
      </p:sp>
      <p:sp>
        <p:nvSpPr>
          <p:cNvPr id="1048742"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685" name=""/>
        <p:cNvGrpSpPr/>
        <p:nvPr/>
      </p:nvGrpSpPr>
      <p:grpSpPr>
        <a:xfrm>
          <a:off x="0" y="0"/>
          <a:ext cx="0" cy="0"/>
          <a:chOff x="0" y="0"/>
          <a:chExt cx="0" cy="0"/>
        </a:xfrm>
      </p:grpSpPr>
      <p:sp>
        <p:nvSpPr>
          <p:cNvPr id="1048743" name="Content Placeholder 2"/>
          <p:cNvSpPr>
            <a:spLocks noGrp="1"/>
          </p:cNvSpPr>
          <p:nvPr>
            <p:ph sz="quarter" idx="1"/>
          </p:nvPr>
        </p:nvSpPr>
        <p:spPr>
          <a:xfrm>
            <a:off x="571501" y="457200"/>
            <a:ext cx="9334500" cy="6016752"/>
          </a:xfrm>
        </p:spPr>
        <p:txBody>
          <a:bodyPr>
            <a:normAutofit/>
          </a:bodyPr>
          <a:p>
            <a:pPr algn="just" lvl="0"/>
            <a:r>
              <a:rPr dirty="0" sz="3200" lang="en-US" smtClean="0"/>
              <a:t>Assisted conception = multiple pregnancy.</a:t>
            </a:r>
          </a:p>
          <a:p>
            <a:pPr algn="just" lvl="0"/>
            <a:r>
              <a:rPr dirty="0" sz="3200" lang="en-US" smtClean="0"/>
              <a:t>Uterine structural abnormality e.g. bicornuated uterus.</a:t>
            </a:r>
          </a:p>
          <a:p>
            <a:pPr algn="just">
              <a:buNone/>
            </a:pPr>
            <a:r>
              <a:rPr dirty="0" sz="3200" i="1" lang="en-US" smtClean="0"/>
              <a:t>	</a:t>
            </a:r>
            <a:r>
              <a:rPr b="1" dirty="0" sz="3200" lang="en-US" smtClean="0">
                <a:solidFill>
                  <a:srgbClr val="C00000"/>
                </a:solidFill>
              </a:rPr>
              <a:t>CLNICAL FEATURES</a:t>
            </a:r>
          </a:p>
          <a:p>
            <a:pPr algn="just" lvl="0"/>
            <a:r>
              <a:rPr dirty="0" sz="3200" lang="en-US" smtClean="0"/>
              <a:t>History of </a:t>
            </a:r>
            <a:r>
              <a:rPr b="1" dirty="0" sz="3200" lang="en-US" smtClean="0"/>
              <a:t>painless</a:t>
            </a:r>
            <a:r>
              <a:rPr dirty="0" sz="3200" lang="en-US" smtClean="0"/>
              <a:t> vaginal bleeding at rest i.e. not associated any activity.</a:t>
            </a:r>
          </a:p>
          <a:p>
            <a:pPr algn="just" lvl="0"/>
            <a:r>
              <a:rPr b="1" dirty="0" sz="3200" lang="en-US" smtClean="0"/>
              <a:t>Bright red </a:t>
            </a:r>
            <a:r>
              <a:rPr dirty="0" sz="3200" lang="en-US" smtClean="0"/>
              <a:t>coloured loss , signifying  fresh bleeding and it could be slight or intermittent.</a:t>
            </a:r>
          </a:p>
          <a:p>
            <a:pPr algn="just"/>
            <a:r>
              <a:rPr dirty="0" sz="3200" lang="en-US" smtClean="0"/>
              <a:t>Uterus consistency  is normal &amp; no pain on palpation.</a:t>
            </a:r>
          </a:p>
          <a:p>
            <a:pPr algn="just" lvl="0"/>
            <a:endParaRPr dirty="0" sz="3200" lang="en-US" smtClean="0"/>
          </a:p>
          <a:p>
            <a:pPr algn="just" lvl="0"/>
            <a:endParaRPr dirty="0" sz="3200" lang="en-US" smtClean="0"/>
          </a:p>
          <a:p>
            <a:pPr algn="just"/>
            <a:endParaRPr dirty="0" sz="3200" lang="en-US"/>
          </a:p>
        </p:txBody>
      </p:sp>
      <p:sp>
        <p:nvSpPr>
          <p:cNvPr id="1048744"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686" name=""/>
        <p:cNvGrpSpPr/>
        <p:nvPr/>
      </p:nvGrpSpPr>
      <p:grpSpPr>
        <a:xfrm>
          <a:off x="0" y="0"/>
          <a:ext cx="0" cy="0"/>
          <a:chOff x="0" y="0"/>
          <a:chExt cx="0" cy="0"/>
        </a:xfrm>
      </p:grpSpPr>
      <p:sp>
        <p:nvSpPr>
          <p:cNvPr id="1048745" name="Content Placeholder 2"/>
          <p:cNvSpPr>
            <a:spLocks noGrp="1"/>
          </p:cNvSpPr>
          <p:nvPr>
            <p:ph sz="quarter" idx="1"/>
          </p:nvPr>
        </p:nvSpPr>
        <p:spPr>
          <a:xfrm>
            <a:off x="571501" y="381000"/>
            <a:ext cx="9334500" cy="6092952"/>
          </a:xfrm>
        </p:spPr>
        <p:txBody>
          <a:bodyPr>
            <a:normAutofit/>
          </a:bodyPr>
          <a:p>
            <a:pPr algn="just" lvl="0"/>
            <a:r>
              <a:rPr dirty="0" sz="3200" lang="en-US" smtClean="0"/>
              <a:t>Fetal parts palpation is normal, though malpresentation &amp; abnormal lie are common.</a:t>
            </a:r>
          </a:p>
          <a:p>
            <a:pPr algn="just" lvl="0"/>
            <a:r>
              <a:rPr dirty="0" sz="3200" lang="en-US" smtClean="0"/>
              <a:t>Fetal heart sound rate and rhythm are easily auscultated and the interpretation depends on the extent of separation.</a:t>
            </a:r>
          </a:p>
          <a:p>
            <a:pPr algn="just" lvl="0"/>
            <a:r>
              <a:rPr dirty="0" sz="3200" lang="en-US" smtClean="0"/>
              <a:t>Shock features correlates with amount of blood loss.</a:t>
            </a:r>
          </a:p>
          <a:p>
            <a:pPr algn="just">
              <a:buNone/>
            </a:pPr>
            <a:r>
              <a:rPr dirty="0" sz="3200" lang="en-US" smtClean="0"/>
              <a:t>	</a:t>
            </a:r>
            <a:r>
              <a:rPr b="1" dirty="0" sz="3200" lang="en-US" smtClean="0"/>
              <a:t>NB:</a:t>
            </a:r>
            <a:r>
              <a:rPr dirty="0" sz="3200" lang="en-US" smtClean="0"/>
              <a:t> Vaginal examination is contraindicated because of probability of severe bleeding from further separation.</a:t>
            </a:r>
          </a:p>
          <a:p>
            <a:pPr algn="just"/>
            <a:endParaRPr dirty="0" sz="3200" lang="en-US"/>
          </a:p>
        </p:txBody>
      </p:sp>
      <p:sp>
        <p:nvSpPr>
          <p:cNvPr id="1048746"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687" name=""/>
        <p:cNvGrpSpPr/>
        <p:nvPr/>
      </p:nvGrpSpPr>
      <p:grpSpPr>
        <a:xfrm>
          <a:off x="0" y="0"/>
          <a:ext cx="0" cy="0"/>
          <a:chOff x="0" y="0"/>
          <a:chExt cx="0" cy="0"/>
        </a:xfrm>
      </p:grpSpPr>
      <p:sp>
        <p:nvSpPr>
          <p:cNvPr id="1048747" name="Title 1"/>
          <p:cNvSpPr>
            <a:spLocks noGrp="1"/>
          </p:cNvSpPr>
          <p:nvPr>
            <p:ph type="title"/>
          </p:nvPr>
        </p:nvSpPr>
        <p:spPr>
          <a:xfrm>
            <a:off x="571501" y="0"/>
            <a:ext cx="9334500" cy="914400"/>
          </a:xfrm>
        </p:spPr>
        <p:txBody>
          <a:bodyPr/>
          <a:p>
            <a:r>
              <a:rPr b="1" dirty="0" lang="en-US" smtClean="0">
                <a:solidFill>
                  <a:srgbClr val="7030A0"/>
                </a:solidFill>
              </a:rPr>
              <a:t>DIAGNOSTIC FACTORS</a:t>
            </a:r>
            <a:endParaRPr b="1" dirty="0" lang="en-US">
              <a:solidFill>
                <a:srgbClr val="7030A0"/>
              </a:solidFill>
            </a:endParaRPr>
          </a:p>
        </p:txBody>
      </p:sp>
      <p:sp>
        <p:nvSpPr>
          <p:cNvPr id="1048748" name="Content Placeholder 2"/>
          <p:cNvSpPr>
            <a:spLocks noGrp="1"/>
          </p:cNvSpPr>
          <p:nvPr>
            <p:ph sz="quarter" idx="1"/>
          </p:nvPr>
        </p:nvSpPr>
        <p:spPr>
          <a:xfrm>
            <a:off x="285751" y="1066800"/>
            <a:ext cx="10668000" cy="5407152"/>
          </a:xfrm>
        </p:spPr>
        <p:txBody>
          <a:bodyPr>
            <a:normAutofit/>
          </a:bodyPr>
          <a:p>
            <a:pPr algn="just"/>
            <a:r>
              <a:rPr dirty="0" sz="3400" lang="en-US" smtClean="0"/>
              <a:t>History and physical examination finding= unstable lie, malpresentaton &amp; failure of presenting part to engage.</a:t>
            </a:r>
          </a:p>
          <a:p>
            <a:pPr algn="just" lvl="0"/>
            <a:r>
              <a:rPr dirty="0" sz="3400" lang="en-US" smtClean="0"/>
              <a:t>Radiological examination to confirm the diagnosis.</a:t>
            </a:r>
          </a:p>
          <a:p>
            <a:pPr algn="just">
              <a:buNone/>
            </a:pPr>
            <a:r>
              <a:rPr dirty="0" sz="3400" i="1" lang="en-US" smtClean="0"/>
              <a:t>	</a:t>
            </a:r>
            <a:r>
              <a:rPr b="1" dirty="0" sz="3400" lang="en-US" smtClean="0">
                <a:solidFill>
                  <a:srgbClr val="C00000"/>
                </a:solidFill>
              </a:rPr>
              <a:t>CLASIFICATON</a:t>
            </a:r>
          </a:p>
          <a:p>
            <a:pPr algn="just">
              <a:buFont typeface="Wingdings" pitchFamily="2" charset="2"/>
              <a:buChar char="v"/>
            </a:pPr>
            <a:r>
              <a:rPr dirty="0" sz="3400" lang="en-US" smtClean="0"/>
              <a:t>Based on how far the margin of placenta is, from the internal cervical OS.</a:t>
            </a:r>
          </a:p>
          <a:p>
            <a:pPr algn="just"/>
            <a:endParaRPr dirty="0" sz="3400" lang="en-US"/>
          </a:p>
        </p:txBody>
      </p:sp>
      <p:sp>
        <p:nvSpPr>
          <p:cNvPr id="1048749"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688" name=""/>
        <p:cNvGrpSpPr/>
        <p:nvPr/>
      </p:nvGrpSpPr>
      <p:grpSpPr>
        <a:xfrm>
          <a:off x="0" y="0"/>
          <a:ext cx="0" cy="0"/>
          <a:chOff x="0" y="0"/>
          <a:chExt cx="0" cy="0"/>
        </a:xfrm>
      </p:grpSpPr>
      <p:sp>
        <p:nvSpPr>
          <p:cNvPr id="1048750" name="Content Placeholder 2"/>
          <p:cNvSpPr>
            <a:spLocks noGrp="1"/>
          </p:cNvSpPr>
          <p:nvPr>
            <p:ph sz="quarter" idx="1"/>
          </p:nvPr>
        </p:nvSpPr>
        <p:spPr>
          <a:xfrm>
            <a:off x="0" y="3"/>
            <a:ext cx="11430000" cy="6858001"/>
          </a:xfrm>
        </p:spPr>
        <p:txBody>
          <a:bodyPr>
            <a:noAutofit/>
          </a:bodyPr>
          <a:p>
            <a:pPr>
              <a:buNone/>
            </a:pPr>
            <a:r>
              <a:rPr dirty="0" sz="2900" i="1" lang="en-US" smtClean="0">
                <a:latin typeface="Calibri" pitchFamily="34" charset="0"/>
              </a:rPr>
              <a:t>	</a:t>
            </a:r>
            <a:r>
              <a:rPr b="1" dirty="0" sz="2900" lang="en-US" smtClean="0">
                <a:latin typeface="Calibri" pitchFamily="34" charset="0"/>
              </a:rPr>
              <a:t>TYPE 1 (ONE)</a:t>
            </a:r>
          </a:p>
          <a:p>
            <a:r>
              <a:rPr dirty="0" sz="2900" lang="en-US" smtClean="0">
                <a:latin typeface="Calibri" pitchFamily="34" charset="0"/>
              </a:rPr>
              <a:t>Also referred to as lateral placenta praevia, because most the placental tissues are on the upper uterine segment.</a:t>
            </a:r>
          </a:p>
          <a:p>
            <a:pPr>
              <a:buFont typeface="Wingdings" pitchFamily="2" charset="2"/>
              <a:buChar char="Ø"/>
            </a:pPr>
            <a:r>
              <a:rPr dirty="0" sz="2900" lang="en-US" smtClean="0">
                <a:latin typeface="Calibri" pitchFamily="34" charset="0"/>
              </a:rPr>
              <a:t>Only the lower edge is on the lower segment.</a:t>
            </a:r>
          </a:p>
          <a:p>
            <a:pPr>
              <a:buFont typeface="Wingdings" pitchFamily="2" charset="2"/>
              <a:buChar char="Ø"/>
            </a:pPr>
            <a:r>
              <a:rPr dirty="0" sz="2900" lang="en-US" smtClean="0">
                <a:latin typeface="Calibri" pitchFamily="34" charset="0"/>
              </a:rPr>
              <a:t>Vaginal birth is possible.</a:t>
            </a:r>
          </a:p>
          <a:p>
            <a:r>
              <a:rPr dirty="0" sz="2900" lang="en-US" smtClean="0">
                <a:latin typeface="Calibri" pitchFamily="34" charset="0"/>
              </a:rPr>
              <a:t>Haemorrhage is minimal, hence fetal &amp; maternal condition is good.</a:t>
            </a:r>
          </a:p>
          <a:p>
            <a:pPr>
              <a:buNone/>
            </a:pPr>
            <a:r>
              <a:rPr b="1" dirty="0" sz="2900" lang="en-US" smtClean="0">
                <a:latin typeface="Calibri" pitchFamily="34" charset="0"/>
              </a:rPr>
              <a:t>	TYPE 2 (TWO)</a:t>
            </a:r>
          </a:p>
          <a:p>
            <a:r>
              <a:rPr dirty="0" sz="2900" lang="en-US" smtClean="0">
                <a:latin typeface="Calibri" pitchFamily="34" charset="0"/>
              </a:rPr>
              <a:t>Referred to as marginal placenta praevia.</a:t>
            </a:r>
          </a:p>
          <a:p>
            <a:pPr>
              <a:buFont typeface="Wingdings" pitchFamily="2" charset="2"/>
              <a:buChar char="Ø"/>
            </a:pPr>
            <a:r>
              <a:rPr dirty="0" sz="2900" lang="en-US" smtClean="0">
                <a:latin typeface="Calibri" pitchFamily="34" charset="0"/>
              </a:rPr>
              <a:t>A greater part of the placenta is located on the L.U.S, such that the lower margin extends  to the edge of the undilated internal cervical OS.</a:t>
            </a:r>
          </a:p>
          <a:p>
            <a:pPr>
              <a:buNone/>
            </a:pPr>
            <a:r>
              <a:rPr dirty="0" sz="2900" lang="en-US" smtClean="0">
                <a:latin typeface="Calibri" pitchFamily="34" charset="0"/>
              </a:rPr>
              <a:t> </a:t>
            </a:r>
          </a:p>
          <a:p>
            <a:endParaRPr dirty="0" sz="2900" lang="en-US">
              <a:latin typeface="Calibri" pitchFamily="34" charset="0"/>
            </a:endParaRPr>
          </a:p>
        </p:txBody>
      </p:sp>
      <p:sp>
        <p:nvSpPr>
          <p:cNvPr id="1048751"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689" name=""/>
        <p:cNvGrpSpPr/>
        <p:nvPr/>
      </p:nvGrpSpPr>
      <p:grpSpPr>
        <a:xfrm>
          <a:off x="0" y="0"/>
          <a:ext cx="0" cy="0"/>
          <a:chOff x="0" y="0"/>
          <a:chExt cx="0" cy="0"/>
        </a:xfrm>
      </p:grpSpPr>
      <p:sp>
        <p:nvSpPr>
          <p:cNvPr id="1048752" name="Content Placeholder 2"/>
          <p:cNvSpPr>
            <a:spLocks noGrp="1"/>
          </p:cNvSpPr>
          <p:nvPr>
            <p:ph sz="quarter" idx="1"/>
          </p:nvPr>
        </p:nvSpPr>
        <p:spPr>
          <a:xfrm>
            <a:off x="571501" y="228600"/>
            <a:ext cx="9334500" cy="6245352"/>
          </a:xfrm>
        </p:spPr>
        <p:txBody>
          <a:bodyPr>
            <a:normAutofit/>
          </a:bodyPr>
          <a:p>
            <a:r>
              <a:rPr dirty="0" sz="2800" lang="en-US" smtClean="0">
                <a:latin typeface="Calibri" pitchFamily="34" charset="0"/>
              </a:rPr>
              <a:t>Bleeding is moderate , so early features of fetal hypoxia, maternal  shock results from prolonged bleeding.</a:t>
            </a:r>
          </a:p>
          <a:p>
            <a:pPr>
              <a:buNone/>
            </a:pPr>
            <a:r>
              <a:rPr dirty="0" sz="2800" i="1" lang="en-US" smtClean="0">
                <a:latin typeface="Calibri" pitchFamily="34" charset="0"/>
              </a:rPr>
              <a:t>	</a:t>
            </a:r>
            <a:r>
              <a:rPr b="1" dirty="0" sz="2800" lang="en-US" smtClean="0">
                <a:latin typeface="Calibri" pitchFamily="34" charset="0"/>
              </a:rPr>
              <a:t>TYPE 3 (THREE)</a:t>
            </a:r>
          </a:p>
          <a:p>
            <a:r>
              <a:rPr dirty="0" sz="2800" lang="en-US" smtClean="0">
                <a:latin typeface="Calibri" pitchFamily="34" charset="0"/>
              </a:rPr>
              <a:t>Referred to as complete pl.praevia, because, placenta is located over the undilated cervical os, though not centrally.</a:t>
            </a:r>
          </a:p>
          <a:p>
            <a:r>
              <a:rPr dirty="0" sz="2800" lang="en-US" smtClean="0">
                <a:latin typeface="Calibri" pitchFamily="34" charset="0"/>
              </a:rPr>
              <a:t> Severe bleeding occur as the segment starts preparing for the labour process.</a:t>
            </a:r>
          </a:p>
          <a:p>
            <a:endParaRPr dirty="0" sz="2800" lang="en-US">
              <a:latin typeface="Calibri" pitchFamily="34" charset="0"/>
            </a:endParaRPr>
          </a:p>
        </p:txBody>
      </p:sp>
      <p:sp>
        <p:nvSpPr>
          <p:cNvPr id="1048753"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690" name=""/>
        <p:cNvGrpSpPr/>
        <p:nvPr/>
      </p:nvGrpSpPr>
      <p:grpSpPr>
        <a:xfrm>
          <a:off x="0" y="0"/>
          <a:ext cx="0" cy="0"/>
          <a:chOff x="0" y="0"/>
          <a:chExt cx="0" cy="0"/>
        </a:xfrm>
      </p:grpSpPr>
      <p:sp>
        <p:nvSpPr>
          <p:cNvPr id="1048754" name="Content Placeholder 2"/>
          <p:cNvSpPr>
            <a:spLocks noGrp="1"/>
          </p:cNvSpPr>
          <p:nvPr>
            <p:ph sz="quarter" idx="1"/>
          </p:nvPr>
        </p:nvSpPr>
        <p:spPr>
          <a:xfrm>
            <a:off x="571501" y="381000"/>
            <a:ext cx="9334500" cy="6092952"/>
          </a:xfrm>
        </p:spPr>
        <p:txBody>
          <a:bodyPr>
            <a:normAutofit/>
          </a:bodyPr>
          <a:p>
            <a:pPr>
              <a:buNone/>
            </a:pPr>
            <a:r>
              <a:rPr dirty="0" sz="3200" i="1" lang="en-US" smtClean="0">
                <a:latin typeface="Calibri" pitchFamily="34" charset="0"/>
              </a:rPr>
              <a:t>	</a:t>
            </a:r>
            <a:r>
              <a:rPr b="1" dirty="0" sz="3200" lang="en-US" smtClean="0">
                <a:latin typeface="Calibri" pitchFamily="34" charset="0"/>
              </a:rPr>
              <a:t>TYPE 4 (FOUR)</a:t>
            </a:r>
          </a:p>
          <a:p>
            <a:r>
              <a:rPr dirty="0" sz="3200" lang="en-US" smtClean="0">
                <a:latin typeface="Calibri" pitchFamily="34" charset="0"/>
              </a:rPr>
              <a:t>Referred to as central pl. praevia because placenta is centrally located over the internal cervical os. </a:t>
            </a:r>
          </a:p>
          <a:p>
            <a:r>
              <a:rPr dirty="0" sz="3200" lang="en-US" smtClean="0">
                <a:latin typeface="Calibri" pitchFamily="34" charset="0"/>
              </a:rPr>
              <a:t>Bleeding is usually torrential (profuse) hence automatically fatal to both.</a:t>
            </a:r>
          </a:p>
          <a:p>
            <a:pPr>
              <a:buNone/>
            </a:pPr>
            <a:r>
              <a:rPr dirty="0" sz="3200" lang="en-US" smtClean="0">
                <a:latin typeface="Calibri" pitchFamily="34" charset="0"/>
              </a:rPr>
              <a:t>  </a:t>
            </a:r>
            <a:r>
              <a:rPr b="1" dirty="0" sz="3200" lang="en-US" smtClean="0">
                <a:latin typeface="Calibri" pitchFamily="34" charset="0"/>
              </a:rPr>
              <a:t>NB: </a:t>
            </a:r>
            <a:r>
              <a:rPr dirty="0" sz="3200" lang="en-US" smtClean="0">
                <a:latin typeface="Calibri" pitchFamily="34" charset="0"/>
              </a:rPr>
              <a:t>Acronym for the  classification is </a:t>
            </a:r>
            <a:r>
              <a:rPr b="1" dirty="0" sz="3200" lang="en-US" smtClean="0">
                <a:latin typeface="Calibri" pitchFamily="34" charset="0"/>
              </a:rPr>
              <a:t>Lamacoce</a:t>
            </a:r>
            <a:r>
              <a:rPr dirty="0" sz="3200" lang="en-US" smtClean="0">
                <a:latin typeface="Calibri" pitchFamily="34" charset="0"/>
              </a:rPr>
              <a:t>.</a:t>
            </a:r>
          </a:p>
          <a:p>
            <a:endParaRPr dirty="0" sz="3200" lang="en-US">
              <a:latin typeface="Calibri" pitchFamily="34" charset="0"/>
            </a:endParaRPr>
          </a:p>
        </p:txBody>
      </p:sp>
      <p:sp>
        <p:nvSpPr>
          <p:cNvPr id="1048755"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691" name=""/>
        <p:cNvGrpSpPr/>
        <p:nvPr/>
      </p:nvGrpSpPr>
      <p:grpSpPr>
        <a:xfrm>
          <a:off x="0" y="0"/>
          <a:ext cx="0" cy="0"/>
          <a:chOff x="0" y="0"/>
          <a:chExt cx="0" cy="0"/>
        </a:xfrm>
      </p:grpSpPr>
      <p:sp>
        <p:nvSpPr>
          <p:cNvPr id="1048756" name="Title 1"/>
          <p:cNvSpPr>
            <a:spLocks noGrp="1"/>
          </p:cNvSpPr>
          <p:nvPr>
            <p:ph type="title"/>
          </p:nvPr>
        </p:nvSpPr>
        <p:spPr>
          <a:xfrm>
            <a:off x="571501" y="0"/>
            <a:ext cx="9334500" cy="762000"/>
          </a:xfrm>
        </p:spPr>
        <p:txBody>
          <a:bodyPr>
            <a:normAutofit/>
          </a:bodyPr>
          <a:p>
            <a:r>
              <a:rPr b="1" dirty="0" lang="en-US" smtClean="0">
                <a:solidFill>
                  <a:srgbClr val="7030A0"/>
                </a:solidFill>
              </a:rPr>
              <a:t>Diagrams :Pl. praevia Classes</a:t>
            </a:r>
            <a:endParaRPr b="1" dirty="0" lang="en-US">
              <a:solidFill>
                <a:srgbClr val="7030A0"/>
              </a:solidFill>
            </a:endParaRPr>
          </a:p>
        </p:txBody>
      </p:sp>
      <p:pic>
        <p:nvPicPr>
          <p:cNvPr id="2097153" name="Picture 2"/>
          <p:cNvPicPr>
            <a:picLocks noChangeAspect="1" noGrp="1" noChangeArrowheads="1"/>
          </p:cNvPicPr>
          <p:nvPr>
            <p:ph sz="quarter" idx="1"/>
          </p:nvPr>
        </p:nvPicPr>
        <p:blipFill>
          <a:blip xmlns:r="http://schemas.openxmlformats.org/officeDocument/2006/relationships" r:embed="rId1" cstate="print">
            <a:lum bright="-30000" contrast="20000"/>
          </a:blip>
          <a:srcRect/>
          <a:stretch>
            <a:fillRect/>
          </a:stretch>
        </p:blipFill>
        <p:spPr bwMode="auto">
          <a:xfrm>
            <a:off x="190500" y="914400"/>
            <a:ext cx="10953750" cy="5791200"/>
          </a:xfrm>
          <a:prstGeom prst="rect"/>
          <a:ln>
            <a:noFill/>
          </a:ln>
          <a:effectLst>
            <a:outerShdw algn="tl" blurRad="292100" dir="2700000" dist="139700" rotWithShape="0">
              <a:srgbClr val="333333">
                <a:alpha val="65000"/>
              </a:srgbClr>
            </a:outerShdw>
          </a:effectLst>
        </p:spPr>
      </p:pic>
      <p:sp>
        <p:nvSpPr>
          <p:cNvPr id="1048757" name="Footer Placeholder 2"/>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692" name=""/>
        <p:cNvGrpSpPr/>
        <p:nvPr/>
      </p:nvGrpSpPr>
      <p:grpSpPr>
        <a:xfrm>
          <a:off x="0" y="0"/>
          <a:ext cx="0" cy="0"/>
          <a:chOff x="0" y="0"/>
          <a:chExt cx="0" cy="0"/>
        </a:xfrm>
      </p:grpSpPr>
      <p:sp>
        <p:nvSpPr>
          <p:cNvPr id="1048758" name="Title 1"/>
          <p:cNvSpPr>
            <a:spLocks noGrp="1"/>
          </p:cNvSpPr>
          <p:nvPr>
            <p:ph type="title"/>
          </p:nvPr>
        </p:nvSpPr>
        <p:spPr/>
        <p:txBody>
          <a:bodyPr>
            <a:normAutofit/>
          </a:bodyPr>
          <a:p>
            <a:r>
              <a:rPr b="1" dirty="0" sz="4800" lang="en-US" smtClean="0">
                <a:solidFill>
                  <a:srgbClr val="7030A0"/>
                </a:solidFill>
              </a:rPr>
              <a:t>SPECIFIC MANAGEMENT</a:t>
            </a:r>
            <a:endParaRPr b="1" dirty="0" lang="en-US">
              <a:solidFill>
                <a:srgbClr val="7030A0"/>
              </a:solidFill>
            </a:endParaRPr>
          </a:p>
        </p:txBody>
      </p:sp>
      <p:sp>
        <p:nvSpPr>
          <p:cNvPr id="1048759" name="Content Placeholder 2"/>
          <p:cNvSpPr>
            <a:spLocks noGrp="1"/>
          </p:cNvSpPr>
          <p:nvPr>
            <p:ph sz="quarter" idx="1"/>
          </p:nvPr>
        </p:nvSpPr>
        <p:spPr>
          <a:xfrm>
            <a:off x="571500" y="1600209"/>
            <a:ext cx="10287000" cy="5105399"/>
          </a:xfrm>
        </p:spPr>
        <p:txBody>
          <a:bodyPr>
            <a:noAutofit/>
          </a:bodyPr>
          <a:p>
            <a:pPr>
              <a:buNone/>
            </a:pPr>
            <a:r>
              <a:rPr dirty="0" sz="3000" lang="en-US" smtClean="0"/>
              <a:t>Depends on:  *Amount of blood loss</a:t>
            </a:r>
          </a:p>
          <a:p>
            <a:pPr>
              <a:buNone/>
            </a:pPr>
            <a:r>
              <a:rPr dirty="0" sz="3000" lang="en-US" smtClean="0"/>
              <a:t>                      *Specific location of the placenta</a:t>
            </a:r>
          </a:p>
          <a:p>
            <a:pPr>
              <a:buNone/>
            </a:pPr>
            <a:r>
              <a:rPr dirty="0" sz="3000" lang="en-US" smtClean="0"/>
              <a:t>                      *Fetal &amp; maternal conditions</a:t>
            </a:r>
          </a:p>
          <a:p>
            <a:pPr>
              <a:buNone/>
            </a:pPr>
            <a:r>
              <a:rPr dirty="0" sz="3000" lang="en-US" smtClean="0"/>
              <a:t>                     *Fetal maturity if other factors favourable </a:t>
            </a:r>
          </a:p>
          <a:p>
            <a:r>
              <a:rPr dirty="0" sz="3000" lang="en-US" smtClean="0"/>
              <a:t>Sometimes the small( spotting) painless bleeding initially may be ignored. </a:t>
            </a:r>
          </a:p>
          <a:p>
            <a:r>
              <a:rPr dirty="0" sz="3000" lang="en-US" smtClean="0"/>
              <a:t>Then as the loss increases she becomes frightened and seek medical attention in the nearest health facility,  in most cases is accompanied.</a:t>
            </a:r>
          </a:p>
          <a:p>
            <a:endParaRPr dirty="0" sz="3000" lang="en-US"/>
          </a:p>
        </p:txBody>
      </p:sp>
      <p:sp>
        <p:nvSpPr>
          <p:cNvPr id="1048760"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693" name=""/>
        <p:cNvGrpSpPr/>
        <p:nvPr/>
      </p:nvGrpSpPr>
      <p:grpSpPr>
        <a:xfrm>
          <a:off x="0" y="0"/>
          <a:ext cx="0" cy="0"/>
          <a:chOff x="0" y="0"/>
          <a:chExt cx="0" cy="0"/>
        </a:xfrm>
      </p:grpSpPr>
      <p:sp>
        <p:nvSpPr>
          <p:cNvPr id="1048761" name="Content Placeholder 2"/>
          <p:cNvSpPr>
            <a:spLocks noGrp="1"/>
          </p:cNvSpPr>
          <p:nvPr>
            <p:ph sz="quarter" idx="1"/>
          </p:nvPr>
        </p:nvSpPr>
        <p:spPr>
          <a:xfrm>
            <a:off x="381000" y="304800"/>
            <a:ext cx="10382250" cy="6169152"/>
          </a:xfrm>
        </p:spPr>
        <p:txBody>
          <a:bodyPr>
            <a:normAutofit/>
          </a:bodyPr>
          <a:p>
            <a:pPr algn="just"/>
            <a:r>
              <a:rPr dirty="0" sz="3200" lang="en-US" smtClean="0"/>
              <a:t>Assess the situation through:</a:t>
            </a:r>
          </a:p>
          <a:p>
            <a:pPr algn="just" lvl="0">
              <a:buFont typeface="Wingdings" pitchFamily="2" charset="2"/>
              <a:buChar char="Ø"/>
            </a:pPr>
            <a:r>
              <a:rPr dirty="0" sz="3200" lang="en-US" smtClean="0"/>
              <a:t>History particularly of the chief complains, presenting complain and others, especially associated factors.</a:t>
            </a:r>
          </a:p>
          <a:p>
            <a:pPr algn="just" lvl="0">
              <a:buFont typeface="Wingdings" pitchFamily="2" charset="2"/>
              <a:buChar char="Ø"/>
            </a:pPr>
            <a:r>
              <a:rPr dirty="0" sz="3200" lang="en-US" smtClean="0"/>
              <a:t>Physical examination to include vital signs,  amount blood loss, FHS, fetal kick &amp; clinical anaemia but </a:t>
            </a:r>
            <a:r>
              <a:rPr b="1" dirty="0" sz="3200" lang="en-US" smtClean="0">
                <a:solidFill>
                  <a:srgbClr val="FF0000"/>
                </a:solidFill>
              </a:rPr>
              <a:t>no vaginal examination!</a:t>
            </a:r>
          </a:p>
          <a:p>
            <a:pPr algn="just" lvl="0">
              <a:buFont typeface="Wingdings" pitchFamily="2" charset="2"/>
              <a:buChar char="ü"/>
            </a:pPr>
            <a:r>
              <a:rPr dirty="0" sz="3200" lang="en-US" smtClean="0"/>
              <a:t>The aim is to make a diagnosis and evaluate for presence of shock.</a:t>
            </a:r>
          </a:p>
          <a:p>
            <a:pPr algn="just"/>
            <a:endParaRPr dirty="0" sz="3200" lang="en-US"/>
          </a:p>
        </p:txBody>
      </p:sp>
      <p:sp>
        <p:nvSpPr>
          <p:cNvPr id="1048762"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694" name=""/>
        <p:cNvGrpSpPr/>
        <p:nvPr/>
      </p:nvGrpSpPr>
      <p:grpSpPr>
        <a:xfrm>
          <a:off x="0" y="0"/>
          <a:ext cx="0" cy="0"/>
          <a:chOff x="0" y="0"/>
          <a:chExt cx="0" cy="0"/>
        </a:xfrm>
      </p:grpSpPr>
      <p:sp>
        <p:nvSpPr>
          <p:cNvPr id="1048763" name="Content Placeholder 2"/>
          <p:cNvSpPr>
            <a:spLocks noGrp="1"/>
          </p:cNvSpPr>
          <p:nvPr>
            <p:ph sz="quarter" idx="1"/>
          </p:nvPr>
        </p:nvSpPr>
        <p:spPr>
          <a:xfrm>
            <a:off x="381000" y="381000"/>
            <a:ext cx="10382250" cy="6092952"/>
          </a:xfrm>
        </p:spPr>
        <p:txBody>
          <a:bodyPr>
            <a:normAutofit/>
          </a:bodyPr>
          <a:p>
            <a:pPr algn="just" lvl="0"/>
            <a:r>
              <a:rPr dirty="0" sz="3200" lang="en-US" smtClean="0">
                <a:latin typeface="Calibri" pitchFamily="34" charset="0"/>
              </a:rPr>
              <a:t>If signs of shock are present then commence resuscitative measures which includes:</a:t>
            </a:r>
          </a:p>
          <a:p>
            <a:pPr algn="just">
              <a:buFont typeface="Wingdings" pitchFamily="2" charset="2"/>
              <a:buChar char="Ø"/>
            </a:pPr>
            <a:r>
              <a:rPr dirty="0" sz="3200" lang="en-US" smtClean="0">
                <a:latin typeface="Calibri" pitchFamily="34" charset="0"/>
              </a:rPr>
              <a:t>Lay her flat, in left lateral position in order to sustain circulation to vital organs.</a:t>
            </a:r>
          </a:p>
          <a:p>
            <a:pPr algn="just" lvl="0">
              <a:buFont typeface="Wingdings" pitchFamily="2" charset="2"/>
              <a:buChar char="Ø"/>
            </a:pPr>
            <a:r>
              <a:rPr dirty="0" sz="3200" lang="en-US" smtClean="0">
                <a:latin typeface="Calibri" pitchFamily="34" charset="0"/>
              </a:rPr>
              <a:t>Maintain relatively warm.</a:t>
            </a:r>
          </a:p>
          <a:p>
            <a:pPr algn="just" lvl="0">
              <a:buFont typeface="Wingdings" pitchFamily="2" charset="2"/>
              <a:buChar char="Ø"/>
            </a:pPr>
            <a:r>
              <a:rPr dirty="0" sz="3200" lang="en-US" smtClean="0">
                <a:latin typeface="Calibri" pitchFamily="34" charset="0"/>
              </a:rPr>
              <a:t>Prepare for possible blood transfusion.</a:t>
            </a:r>
          </a:p>
          <a:p>
            <a:pPr algn="just" lvl="0">
              <a:buFont typeface="Wingdings" pitchFamily="2" charset="2"/>
              <a:buChar char="Ø"/>
            </a:pPr>
            <a:r>
              <a:rPr dirty="0" sz="3200" lang="en-US" smtClean="0">
                <a:latin typeface="Calibri" pitchFamily="34" charset="0"/>
              </a:rPr>
              <a:t>Meanwhile, commence  plasma expanders awaiting blood for transfusion.</a:t>
            </a:r>
          </a:p>
          <a:p>
            <a:pPr algn="just" lvl="0"/>
            <a:r>
              <a:rPr dirty="0" sz="3200" lang="en-US" smtClean="0">
                <a:latin typeface="Calibri" pitchFamily="34" charset="0"/>
              </a:rPr>
              <a:t>Maintain a close record of observations to evaluate the progress.</a:t>
            </a:r>
          </a:p>
          <a:p>
            <a:pPr algn="just"/>
            <a:endParaRPr dirty="0" sz="3200" lang="en-US">
              <a:latin typeface="Calibri" pitchFamily="34" charset="0"/>
            </a:endParaRPr>
          </a:p>
        </p:txBody>
      </p:sp>
      <p:sp>
        <p:nvSpPr>
          <p:cNvPr id="1048764"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695" name=""/>
        <p:cNvGrpSpPr/>
        <p:nvPr/>
      </p:nvGrpSpPr>
      <p:grpSpPr>
        <a:xfrm>
          <a:off x="0" y="0"/>
          <a:ext cx="0" cy="0"/>
          <a:chOff x="0" y="0"/>
          <a:chExt cx="0" cy="0"/>
        </a:xfrm>
      </p:grpSpPr>
      <p:sp>
        <p:nvSpPr>
          <p:cNvPr id="1048765" name="Content Placeholder 2"/>
          <p:cNvSpPr>
            <a:spLocks noGrp="1"/>
          </p:cNvSpPr>
          <p:nvPr>
            <p:ph sz="quarter" idx="1"/>
          </p:nvPr>
        </p:nvSpPr>
        <p:spPr>
          <a:xfrm>
            <a:off x="571501" y="304800"/>
            <a:ext cx="9334500" cy="6169152"/>
          </a:xfrm>
        </p:spPr>
        <p:txBody>
          <a:bodyPr>
            <a:normAutofit/>
          </a:bodyPr>
          <a:p>
            <a:pPr algn="just"/>
            <a:r>
              <a:rPr dirty="0" sz="3200" lang="en-US" smtClean="0">
                <a:latin typeface="Calibri" pitchFamily="34" charset="0"/>
              </a:rPr>
              <a:t>Organize for a hospital setting transfer , in which the facility of choice should have ability for surgical intervention and equipped NBU.</a:t>
            </a:r>
          </a:p>
          <a:p>
            <a:pPr algn="just" lvl="0"/>
            <a:r>
              <a:rPr dirty="0" sz="3200" lang="en-US" smtClean="0">
                <a:latin typeface="Calibri" pitchFamily="34" charset="0"/>
              </a:rPr>
              <a:t>Offer psychological support.</a:t>
            </a:r>
          </a:p>
          <a:p>
            <a:pPr algn="just" lvl="0"/>
            <a:r>
              <a:rPr dirty="0" sz="3200" lang="en-US" smtClean="0">
                <a:latin typeface="Calibri" pitchFamily="34" charset="0"/>
              </a:rPr>
              <a:t>Encourage a relative to accompany the pt.</a:t>
            </a:r>
          </a:p>
          <a:p>
            <a:pPr algn="just">
              <a:buNone/>
            </a:pPr>
            <a:r>
              <a:rPr dirty="0" sz="3200" lang="en-US" smtClean="0">
                <a:latin typeface="Calibri" pitchFamily="34" charset="0"/>
              </a:rPr>
              <a:t>	</a:t>
            </a:r>
            <a:r>
              <a:rPr b="1" dirty="0" sz="3200" lang="en-US" smtClean="0">
                <a:latin typeface="Calibri" pitchFamily="34" charset="0"/>
              </a:rPr>
              <a:t>NB: </a:t>
            </a:r>
            <a:r>
              <a:rPr dirty="0" sz="3200" lang="en-US" smtClean="0">
                <a:latin typeface="Calibri" pitchFamily="34" charset="0"/>
              </a:rPr>
              <a:t>If bleeding is slight and shock absent, counsel on the importance of doctor’s review in a hospital setting, then refer and have a referral note written as well as the impression made.</a:t>
            </a:r>
          </a:p>
          <a:p>
            <a:pPr algn="just"/>
            <a:endParaRPr dirty="0" sz="3200" lang="en-US">
              <a:latin typeface="Calibri" pitchFamily="34" charset="0"/>
            </a:endParaRPr>
          </a:p>
        </p:txBody>
      </p:sp>
      <p:sp>
        <p:nvSpPr>
          <p:cNvPr id="1048766"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696" name=""/>
        <p:cNvGrpSpPr/>
        <p:nvPr/>
      </p:nvGrpSpPr>
      <p:grpSpPr>
        <a:xfrm>
          <a:off x="0" y="0"/>
          <a:ext cx="0" cy="0"/>
          <a:chOff x="0" y="0"/>
          <a:chExt cx="0" cy="0"/>
        </a:xfrm>
      </p:grpSpPr>
      <p:sp>
        <p:nvSpPr>
          <p:cNvPr id="1048767" name="Content Placeholder 2"/>
          <p:cNvSpPr>
            <a:spLocks noGrp="1"/>
          </p:cNvSpPr>
          <p:nvPr>
            <p:ph sz="quarter" idx="1"/>
          </p:nvPr>
        </p:nvSpPr>
        <p:spPr>
          <a:xfrm>
            <a:off x="571500" y="381009"/>
            <a:ext cx="10287000" cy="6019801"/>
          </a:xfrm>
        </p:spPr>
        <p:txBody>
          <a:bodyPr>
            <a:normAutofit/>
          </a:bodyPr>
          <a:p>
            <a:pPr algn="just">
              <a:buNone/>
            </a:pPr>
            <a:r>
              <a:rPr b="1" dirty="0" sz="3200" lang="en-US" smtClean="0">
                <a:solidFill>
                  <a:schemeClr val="accent6"/>
                </a:solidFill>
              </a:rPr>
              <a:t>		IN HOSPITAL</a:t>
            </a:r>
          </a:p>
          <a:p>
            <a:pPr algn="just"/>
            <a:r>
              <a:rPr dirty="0" sz="3200" lang="en-US" smtClean="0"/>
              <a:t>Immediate admission and reassessment of the condition </a:t>
            </a:r>
          </a:p>
          <a:p>
            <a:pPr algn="just"/>
            <a:r>
              <a:rPr dirty="0" sz="3200" lang="en-US" smtClean="0"/>
              <a:t>Inform Dr. urgently (immediately)</a:t>
            </a:r>
          </a:p>
          <a:p>
            <a:pPr algn="just"/>
            <a:r>
              <a:rPr dirty="0" sz="3200" lang="en-US" smtClean="0"/>
              <a:t>Maintain a record of observations.i.e. vital signs, FHS every hourly, fetal kick chart.</a:t>
            </a:r>
          </a:p>
          <a:p>
            <a:pPr algn="just"/>
            <a:r>
              <a:rPr dirty="0" sz="3200" lang="en-US" smtClean="0"/>
              <a:t>CT plasma expander depending on the situation. e.g. haemacel.</a:t>
            </a:r>
          </a:p>
          <a:p>
            <a:pPr algn="just"/>
            <a:r>
              <a:rPr dirty="0" sz="3200" lang="en-US" smtClean="0"/>
              <a:t>Encourage bed rest in lateral position and have used pads saved for assessment.</a:t>
            </a:r>
          </a:p>
          <a:p>
            <a:pPr algn="just"/>
            <a:endParaRPr dirty="0" sz="3200" lang="en-US"/>
          </a:p>
        </p:txBody>
      </p:sp>
      <p:sp>
        <p:nvSpPr>
          <p:cNvPr id="1048768"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697" name=""/>
        <p:cNvGrpSpPr/>
        <p:nvPr/>
      </p:nvGrpSpPr>
      <p:grpSpPr>
        <a:xfrm>
          <a:off x="0" y="0"/>
          <a:ext cx="0" cy="0"/>
          <a:chOff x="0" y="0"/>
          <a:chExt cx="0" cy="0"/>
        </a:xfrm>
      </p:grpSpPr>
      <p:sp>
        <p:nvSpPr>
          <p:cNvPr id="1048769" name="Content Placeholder 2"/>
          <p:cNvSpPr>
            <a:spLocks noGrp="1"/>
          </p:cNvSpPr>
          <p:nvPr>
            <p:ph sz="quarter" idx="1"/>
          </p:nvPr>
        </p:nvSpPr>
        <p:spPr>
          <a:xfrm>
            <a:off x="571501" y="304800"/>
            <a:ext cx="9334500" cy="6169152"/>
          </a:xfrm>
        </p:spPr>
        <p:txBody>
          <a:bodyPr>
            <a:normAutofit/>
          </a:bodyPr>
          <a:p>
            <a:pPr algn="just"/>
            <a:r>
              <a:rPr dirty="0" sz="3200" lang="en-US" smtClean="0"/>
              <a:t>Prepare for transfusion i.e request for HB and cross- match  if not earlier done.</a:t>
            </a:r>
          </a:p>
          <a:p>
            <a:pPr algn="just"/>
            <a:r>
              <a:rPr dirty="0" sz="3200" lang="en-US" smtClean="0"/>
              <a:t>Maintain high standards of hygiene. </a:t>
            </a:r>
          </a:p>
          <a:p>
            <a:pPr algn="just">
              <a:buFont typeface="Wingdings" pitchFamily="2" charset="2"/>
              <a:buChar char="v"/>
            </a:pPr>
            <a:r>
              <a:rPr dirty="0" sz="3200" lang="en-US" smtClean="0"/>
              <a:t>Actual (active) management depends on the amount of blood loss.</a:t>
            </a:r>
          </a:p>
          <a:p>
            <a:pPr algn="just">
              <a:buNone/>
            </a:pPr>
            <a:r>
              <a:rPr dirty="0" sz="3200" i="1" lang="en-US" smtClean="0"/>
              <a:t>	</a:t>
            </a:r>
            <a:r>
              <a:rPr b="1" dirty="0" sz="3200" i="1" lang="en-US" u="sng" smtClean="0"/>
              <a:t>Slight bleeding and not at term</a:t>
            </a:r>
          </a:p>
          <a:p>
            <a:pPr algn="just"/>
            <a:r>
              <a:rPr dirty="0" sz="3200" lang="en-US" smtClean="0"/>
              <a:t>Care is basically conservative which includes:-</a:t>
            </a:r>
          </a:p>
          <a:p>
            <a:pPr algn="just" lvl="0">
              <a:buFont typeface="Wingdings" pitchFamily="2" charset="2"/>
              <a:buChar char="Ø"/>
            </a:pPr>
            <a:r>
              <a:rPr dirty="0" sz="3200" lang="en-US" smtClean="0"/>
              <a:t>Complete bed rest to facilitate adequate blood flow to the  kidneys &amp; placenta.</a:t>
            </a:r>
          </a:p>
          <a:p>
            <a:pPr algn="just"/>
            <a:endParaRPr dirty="0" sz="3200" lang="en-US"/>
          </a:p>
        </p:txBody>
      </p:sp>
      <p:sp>
        <p:nvSpPr>
          <p:cNvPr id="1048770"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698" name=""/>
        <p:cNvGrpSpPr/>
        <p:nvPr/>
      </p:nvGrpSpPr>
      <p:grpSpPr>
        <a:xfrm>
          <a:off x="0" y="0"/>
          <a:ext cx="0" cy="0"/>
          <a:chOff x="0" y="0"/>
          <a:chExt cx="0" cy="0"/>
        </a:xfrm>
      </p:grpSpPr>
      <p:sp>
        <p:nvSpPr>
          <p:cNvPr id="1048771" name="Content Placeholder 2"/>
          <p:cNvSpPr>
            <a:spLocks noGrp="1"/>
          </p:cNvSpPr>
          <p:nvPr>
            <p:ph sz="quarter" idx="1"/>
          </p:nvPr>
        </p:nvSpPr>
        <p:spPr>
          <a:xfrm>
            <a:off x="571500" y="381000"/>
            <a:ext cx="10191750" cy="6092952"/>
          </a:xfrm>
        </p:spPr>
        <p:txBody>
          <a:bodyPr>
            <a:normAutofit/>
          </a:bodyPr>
          <a:p>
            <a:pPr algn="just" lvl="0"/>
            <a:r>
              <a:rPr dirty="0" sz="3200" lang="en-US" smtClean="0"/>
              <a:t>Observation in terms of :</a:t>
            </a:r>
          </a:p>
          <a:p>
            <a:pPr algn="just" lvl="0">
              <a:buFont typeface="Wingdings" pitchFamily="2" charset="2"/>
              <a:buChar char="Ø"/>
            </a:pPr>
            <a:r>
              <a:rPr dirty="0" sz="3200" lang="en-US" smtClean="0"/>
              <a:t> vital signs, FHS every 4 hourly.</a:t>
            </a:r>
          </a:p>
          <a:p>
            <a:pPr algn="just" lvl="0">
              <a:buFont typeface="Wingdings" pitchFamily="2" charset="2"/>
              <a:buChar char="Ø"/>
            </a:pPr>
            <a:r>
              <a:rPr dirty="0" sz="3200" lang="en-US" smtClean="0"/>
              <a:t> Instruct her to maintain fetal kick chart (N) 10-12 kicks in 24 hours. </a:t>
            </a:r>
          </a:p>
          <a:p>
            <a:pPr algn="just" lvl="0">
              <a:buFont typeface="Wingdings" pitchFamily="2" charset="2"/>
              <a:buChar char="Ø"/>
            </a:pPr>
            <a:r>
              <a:rPr dirty="0" sz="3200" lang="en-US" smtClean="0"/>
              <a:t>Used towels are kept( saved) for a specified duration to estimate amount of the loss.</a:t>
            </a:r>
          </a:p>
          <a:p>
            <a:pPr algn="just" lvl="0"/>
            <a:r>
              <a:rPr dirty="0" sz="3200" lang="en-US" smtClean="0"/>
              <a:t> Maintain record, interpret accurately, and consult PRN.</a:t>
            </a:r>
          </a:p>
          <a:p>
            <a:pPr algn="just"/>
            <a:endParaRPr dirty="0" sz="3200" lang="en-US"/>
          </a:p>
        </p:txBody>
      </p:sp>
      <p:sp>
        <p:nvSpPr>
          <p:cNvPr id="1048772"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699" name=""/>
        <p:cNvGrpSpPr/>
        <p:nvPr/>
      </p:nvGrpSpPr>
      <p:grpSpPr>
        <a:xfrm>
          <a:off x="0" y="0"/>
          <a:ext cx="0" cy="0"/>
          <a:chOff x="0" y="0"/>
          <a:chExt cx="0" cy="0"/>
        </a:xfrm>
      </p:grpSpPr>
      <p:sp>
        <p:nvSpPr>
          <p:cNvPr id="1048773" name="Content Placeholder 2"/>
          <p:cNvSpPr>
            <a:spLocks noGrp="1"/>
          </p:cNvSpPr>
          <p:nvPr>
            <p:ph sz="quarter" idx="1"/>
          </p:nvPr>
        </p:nvSpPr>
        <p:spPr>
          <a:xfrm>
            <a:off x="381000" y="381009"/>
            <a:ext cx="10763250" cy="6019801"/>
          </a:xfrm>
        </p:spPr>
        <p:txBody>
          <a:bodyPr>
            <a:normAutofit/>
          </a:bodyPr>
          <a:p>
            <a:pPr algn="just" lvl="0"/>
            <a:r>
              <a:rPr dirty="0" sz="3200" lang="en-US" smtClean="0"/>
              <a:t>Investigate for the exact cause of bleeding through:</a:t>
            </a:r>
          </a:p>
          <a:p>
            <a:pPr algn="just">
              <a:buFont typeface="Wingdings" pitchFamily="2" charset="2"/>
              <a:buChar char="Ø"/>
            </a:pPr>
            <a:r>
              <a:rPr dirty="0" sz="3200" lang="en-US" smtClean="0"/>
              <a:t>speculum examination to assess for possibility of extra-placental bleeding &amp; for cervical dilatation.</a:t>
            </a:r>
          </a:p>
          <a:p>
            <a:pPr algn="just">
              <a:buFont typeface="Wingdings" pitchFamily="2" charset="2"/>
              <a:buChar char="Ø"/>
            </a:pPr>
            <a:r>
              <a:rPr dirty="0" sz="3200" lang="en-US" smtClean="0"/>
              <a:t>Ultrasound to come up with the exact type + fetal maturity, hence plan the care appropriately.</a:t>
            </a:r>
          </a:p>
          <a:p>
            <a:pPr algn="just">
              <a:buFont typeface="Wingdings" pitchFamily="2" charset="2"/>
              <a:buChar char="Ø"/>
            </a:pPr>
            <a:r>
              <a:rPr dirty="0" sz="3200" lang="en-US" smtClean="0"/>
              <a:t>Hemoglobin and haematocrite (packed cell volume) weekly to assess the oxygen carrying capacity.</a:t>
            </a:r>
          </a:p>
          <a:p>
            <a:pPr algn="just"/>
            <a:endParaRPr dirty="0" sz="3200" lang="en-US"/>
          </a:p>
        </p:txBody>
      </p:sp>
      <p:sp>
        <p:nvSpPr>
          <p:cNvPr id="1048774"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700" name=""/>
        <p:cNvGrpSpPr/>
        <p:nvPr/>
      </p:nvGrpSpPr>
      <p:grpSpPr>
        <a:xfrm>
          <a:off x="0" y="0"/>
          <a:ext cx="0" cy="0"/>
          <a:chOff x="0" y="0"/>
          <a:chExt cx="0" cy="0"/>
        </a:xfrm>
      </p:grpSpPr>
      <p:sp>
        <p:nvSpPr>
          <p:cNvPr id="1048775" name="Content Placeholder 2"/>
          <p:cNvSpPr>
            <a:spLocks noGrp="1"/>
          </p:cNvSpPr>
          <p:nvPr>
            <p:ph sz="quarter" idx="1"/>
          </p:nvPr>
        </p:nvSpPr>
        <p:spPr>
          <a:xfrm>
            <a:off x="190500" y="381000"/>
            <a:ext cx="10668000" cy="6092952"/>
          </a:xfrm>
        </p:spPr>
        <p:txBody>
          <a:bodyPr>
            <a:normAutofit/>
          </a:bodyPr>
          <a:p>
            <a:pPr algn="just" lvl="0"/>
            <a:r>
              <a:rPr dirty="0" sz="3200" lang="en-US" smtClean="0"/>
              <a:t>Administer sedatives to allay anxiety, haematinics to control anaemia.</a:t>
            </a:r>
          </a:p>
          <a:p>
            <a:pPr algn="just" lvl="0"/>
            <a:r>
              <a:rPr dirty="0" sz="3200" lang="en-US" smtClean="0"/>
              <a:t>Emotionally support mother and close family members , likely to be anxious due to the hospital stay and prognosis.</a:t>
            </a:r>
          </a:p>
          <a:p>
            <a:pPr algn="just" lvl="0"/>
            <a:r>
              <a:rPr dirty="0" sz="3200" lang="en-US" smtClean="0"/>
              <a:t>Encourage a balanced diet and high standards of hygiene.</a:t>
            </a:r>
          </a:p>
          <a:p>
            <a:pPr algn="just"/>
            <a:r>
              <a:rPr dirty="0" sz="3200" lang="en-US" smtClean="0"/>
              <a:t>If bleeding stops, she is discharged to continue with antenatal services, until onset of true labour.</a:t>
            </a:r>
            <a:endParaRPr dirty="0" sz="3200" lang="en-US"/>
          </a:p>
        </p:txBody>
      </p:sp>
      <p:sp>
        <p:nvSpPr>
          <p:cNvPr id="1048776"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701" name=""/>
        <p:cNvGrpSpPr/>
        <p:nvPr/>
      </p:nvGrpSpPr>
      <p:grpSpPr>
        <a:xfrm>
          <a:off x="0" y="0"/>
          <a:ext cx="0" cy="0"/>
          <a:chOff x="0" y="0"/>
          <a:chExt cx="0" cy="0"/>
        </a:xfrm>
      </p:grpSpPr>
      <p:sp>
        <p:nvSpPr>
          <p:cNvPr id="1048777" name="Content Placeholder 2"/>
          <p:cNvSpPr>
            <a:spLocks noGrp="1"/>
          </p:cNvSpPr>
          <p:nvPr>
            <p:ph sz="quarter" idx="1"/>
          </p:nvPr>
        </p:nvSpPr>
        <p:spPr>
          <a:xfrm>
            <a:off x="285750" y="381009"/>
            <a:ext cx="10858500" cy="6019801"/>
          </a:xfrm>
        </p:spPr>
        <p:txBody>
          <a:bodyPr>
            <a:normAutofit/>
          </a:bodyPr>
          <a:p>
            <a:pPr lvl="0"/>
            <a:r>
              <a:rPr dirty="0" sz="3200" lang="en-US" smtClean="0">
                <a:latin typeface="Calibri" pitchFamily="34" charset="0"/>
              </a:rPr>
              <a:t>she is highly encouraged to seek medical attention in case of relapse or change in fetal kicks.</a:t>
            </a:r>
          </a:p>
          <a:p>
            <a:pPr lvl="0"/>
            <a:r>
              <a:rPr dirty="0" sz="3200" lang="en-US" smtClean="0">
                <a:latin typeface="Calibri" pitchFamily="34" charset="0"/>
              </a:rPr>
              <a:t>Also caution to abstain coitus and this is usually discussed with  her spouse as well, because it’s likely to bring about relapse of haemorrhage.</a:t>
            </a:r>
          </a:p>
          <a:p>
            <a:r>
              <a:rPr dirty="0" sz="3200" lang="en-US" smtClean="0">
                <a:latin typeface="Calibri" pitchFamily="34" charset="0"/>
              </a:rPr>
              <a:t>If bleeding worsens with time, emergency caesarean section is carried out.</a:t>
            </a:r>
          </a:p>
          <a:p>
            <a:pPr>
              <a:buFont typeface="Wingdings" pitchFamily="2" charset="2"/>
              <a:buChar char="Ø"/>
            </a:pPr>
            <a:r>
              <a:rPr dirty="0" sz="3200" lang="en-US" smtClean="0">
                <a:latin typeface="Calibri" pitchFamily="34" charset="0"/>
              </a:rPr>
              <a:t>Be ready to transfuse incase of profuse bleeding.</a:t>
            </a:r>
          </a:p>
          <a:p>
            <a:pPr>
              <a:buFont typeface="Wingdings" pitchFamily="2" charset="2"/>
              <a:buChar char="Ø"/>
            </a:pPr>
            <a:r>
              <a:rPr dirty="0" sz="3200" lang="en-US" smtClean="0">
                <a:latin typeface="Calibri" pitchFamily="34" charset="0"/>
              </a:rPr>
              <a:t>Prepare for resuscitation of both mother &amp; baby.</a:t>
            </a:r>
          </a:p>
          <a:p>
            <a:endParaRPr dirty="0" sz="3200" lang="en-US">
              <a:latin typeface="Calibri" pitchFamily="34" charset="0"/>
            </a:endParaRPr>
          </a:p>
        </p:txBody>
      </p:sp>
      <p:sp>
        <p:nvSpPr>
          <p:cNvPr id="1048778"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702" name=""/>
        <p:cNvGrpSpPr/>
        <p:nvPr/>
      </p:nvGrpSpPr>
      <p:grpSpPr>
        <a:xfrm>
          <a:off x="0" y="0"/>
          <a:ext cx="0" cy="0"/>
          <a:chOff x="0" y="0"/>
          <a:chExt cx="0" cy="0"/>
        </a:xfrm>
      </p:grpSpPr>
      <p:sp>
        <p:nvSpPr>
          <p:cNvPr id="1048779" name="Content Placeholder 2"/>
          <p:cNvSpPr>
            <a:spLocks noGrp="1"/>
          </p:cNvSpPr>
          <p:nvPr>
            <p:ph sz="quarter" idx="1"/>
          </p:nvPr>
        </p:nvSpPr>
        <p:spPr>
          <a:xfrm>
            <a:off x="285750" y="381003"/>
            <a:ext cx="10858500" cy="6172199"/>
          </a:xfrm>
        </p:spPr>
        <p:txBody>
          <a:bodyPr>
            <a:normAutofit/>
          </a:bodyPr>
          <a:p>
            <a:pPr algn="just"/>
            <a:r>
              <a:rPr dirty="0" sz="2800" lang="en-US" smtClean="0">
                <a:latin typeface="Calibri" pitchFamily="34" charset="0"/>
              </a:rPr>
              <a:t>Otherwise, if  haemorrhage stops spontaneous labour is expected to  occur by the 40</a:t>
            </a:r>
            <a:r>
              <a:rPr baseline="30000" dirty="0" sz="2800" lang="en-US" smtClean="0">
                <a:latin typeface="Calibri" pitchFamily="34" charset="0"/>
              </a:rPr>
              <a:t>th</a:t>
            </a:r>
            <a:r>
              <a:rPr dirty="0" sz="2800" lang="en-US" smtClean="0">
                <a:latin typeface="Calibri" pitchFamily="34" charset="0"/>
              </a:rPr>
              <a:t> week.</a:t>
            </a:r>
          </a:p>
          <a:p>
            <a:pPr algn="just"/>
            <a:r>
              <a:rPr dirty="0" sz="2800" lang="en-US" smtClean="0">
                <a:latin typeface="Calibri" pitchFamily="34" charset="0"/>
              </a:rPr>
              <a:t> If not, then induction is indicated so long as all other factors are favourable.</a:t>
            </a:r>
          </a:p>
          <a:p>
            <a:pPr algn="just" lvl="0"/>
            <a:r>
              <a:rPr dirty="0" sz="2800" lang="en-US" smtClean="0">
                <a:latin typeface="Calibri" pitchFamily="34" charset="0"/>
              </a:rPr>
              <a:t>Management of 1</a:t>
            </a:r>
            <a:r>
              <a:rPr baseline="30000" dirty="0" sz="2800" lang="en-US" smtClean="0">
                <a:latin typeface="Calibri" pitchFamily="34" charset="0"/>
              </a:rPr>
              <a:t>st</a:t>
            </a:r>
            <a:r>
              <a:rPr dirty="0" sz="2800" lang="en-US" smtClean="0">
                <a:latin typeface="Calibri" pitchFamily="34" charset="0"/>
              </a:rPr>
              <a:t> &amp; 2</a:t>
            </a:r>
            <a:r>
              <a:rPr baseline="30000" dirty="0" sz="2800" lang="en-US" smtClean="0">
                <a:latin typeface="Calibri" pitchFamily="34" charset="0"/>
              </a:rPr>
              <a:t>nd</a:t>
            </a:r>
            <a:r>
              <a:rPr dirty="0" sz="2800" lang="en-US" smtClean="0">
                <a:latin typeface="Calibri" pitchFamily="34" charset="0"/>
              </a:rPr>
              <a:t> stage are as usual to include active intervention for prolonged labour since the fetal condition is already compromised.</a:t>
            </a:r>
          </a:p>
          <a:p>
            <a:pPr algn="just" lvl="0"/>
            <a:r>
              <a:rPr dirty="0" sz="2800" lang="en-US" smtClean="0">
                <a:latin typeface="Calibri" pitchFamily="34" charset="0"/>
              </a:rPr>
              <a:t>In 3</a:t>
            </a:r>
            <a:r>
              <a:rPr baseline="30000" dirty="0" sz="2800" lang="en-US" smtClean="0">
                <a:latin typeface="Calibri" pitchFamily="34" charset="0"/>
              </a:rPr>
              <a:t>rd</a:t>
            </a:r>
            <a:r>
              <a:rPr dirty="0" sz="2800" lang="en-US" smtClean="0">
                <a:latin typeface="Calibri" pitchFamily="34" charset="0"/>
              </a:rPr>
              <a:t> stage, be prepared to handle postpartum haemorrhage because of the poor living ligature.</a:t>
            </a:r>
          </a:p>
          <a:p>
            <a:pPr algn="just" lvl="0">
              <a:buFont typeface="Wingdings" pitchFamily="2" charset="2"/>
              <a:buChar char="Ø"/>
            </a:pPr>
            <a:r>
              <a:rPr dirty="0" sz="2800" lang="en-US" smtClean="0">
                <a:latin typeface="Calibri" pitchFamily="34" charset="0"/>
              </a:rPr>
              <a:t>Thereafter,lochia is likely to be heavier.</a:t>
            </a:r>
          </a:p>
          <a:p>
            <a:pPr algn="just"/>
            <a:endParaRPr dirty="0" sz="2800" lang="en-US">
              <a:latin typeface="Calibri" pitchFamily="34" charset="0"/>
            </a:endParaRPr>
          </a:p>
        </p:txBody>
      </p:sp>
      <p:sp>
        <p:nvSpPr>
          <p:cNvPr id="1048780"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703" name=""/>
        <p:cNvGrpSpPr/>
        <p:nvPr/>
      </p:nvGrpSpPr>
      <p:grpSpPr>
        <a:xfrm>
          <a:off x="0" y="0"/>
          <a:ext cx="0" cy="0"/>
          <a:chOff x="0" y="0"/>
          <a:chExt cx="0" cy="0"/>
        </a:xfrm>
      </p:grpSpPr>
      <p:sp>
        <p:nvSpPr>
          <p:cNvPr id="1048781" name="Content Placeholder 2"/>
          <p:cNvSpPr>
            <a:spLocks noGrp="1"/>
          </p:cNvSpPr>
          <p:nvPr>
            <p:ph sz="quarter" idx="1"/>
          </p:nvPr>
        </p:nvSpPr>
        <p:spPr>
          <a:xfrm>
            <a:off x="571500" y="228603"/>
            <a:ext cx="10287000" cy="6400801"/>
          </a:xfrm>
        </p:spPr>
        <p:txBody>
          <a:bodyPr>
            <a:normAutofit/>
          </a:bodyPr>
          <a:p>
            <a:pPr algn="just">
              <a:buNone/>
            </a:pPr>
            <a:r>
              <a:rPr dirty="0" sz="3200" i="1" lang="en-US" smtClean="0"/>
              <a:t>	</a:t>
            </a:r>
            <a:r>
              <a:rPr b="1" dirty="0" sz="3200" i="1" lang="en-US" u="sng" smtClean="0"/>
              <a:t>MODERATE BLEEDING-TYPE 2</a:t>
            </a:r>
          </a:p>
          <a:p>
            <a:pPr algn="just" lvl="0"/>
            <a:r>
              <a:rPr dirty="0" sz="3200" lang="en-US" smtClean="0"/>
              <a:t>Assess fetal &amp; maternal conditions accurately.</a:t>
            </a:r>
          </a:p>
          <a:p>
            <a:pPr algn="just"/>
            <a:r>
              <a:rPr dirty="0" sz="3200" lang="en-US" smtClean="0"/>
              <a:t> Spontaneous delivery is possible for  anteriorly located placenta,fetal- maternal state not severely affected and labour progress is excellent.</a:t>
            </a:r>
          </a:p>
          <a:p>
            <a:pPr algn="just"/>
            <a:r>
              <a:rPr dirty="0" sz="3200" lang="en-US" smtClean="0"/>
              <a:t>Caesarean section is the management of choice in posteriorly located placenta because obstruction of labour occurs.</a:t>
            </a:r>
          </a:p>
          <a:p>
            <a:pPr algn="just">
              <a:buFont typeface="Wingdings" pitchFamily="2" charset="2"/>
              <a:buChar char="Ø"/>
            </a:pPr>
            <a:r>
              <a:rPr dirty="0" sz="3200" lang="en-US" smtClean="0"/>
              <a:t> So have specialized personnel to handle resuscitation effectively.</a:t>
            </a:r>
          </a:p>
          <a:p>
            <a:pPr algn="just">
              <a:buFont typeface="Wingdings" pitchFamily="2" charset="2"/>
              <a:buChar char="Ø"/>
            </a:pPr>
            <a:r>
              <a:rPr dirty="0" sz="3200" lang="en-US" smtClean="0"/>
              <a:t>Crossmatch at least 3 units of blood.</a:t>
            </a:r>
          </a:p>
          <a:p>
            <a:pPr algn="just"/>
            <a:endParaRPr dirty="0" sz="3200" lang="en-US"/>
          </a:p>
        </p:txBody>
      </p:sp>
      <p:sp>
        <p:nvSpPr>
          <p:cNvPr id="1048782"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704" name=""/>
        <p:cNvGrpSpPr/>
        <p:nvPr/>
      </p:nvGrpSpPr>
      <p:grpSpPr>
        <a:xfrm>
          <a:off x="0" y="0"/>
          <a:ext cx="0" cy="0"/>
          <a:chOff x="0" y="0"/>
          <a:chExt cx="0" cy="0"/>
        </a:xfrm>
      </p:grpSpPr>
      <p:sp>
        <p:nvSpPr>
          <p:cNvPr id="1048783" name="Content Placeholder 2"/>
          <p:cNvSpPr>
            <a:spLocks noGrp="1"/>
          </p:cNvSpPr>
          <p:nvPr>
            <p:ph sz="quarter" idx="1"/>
          </p:nvPr>
        </p:nvSpPr>
        <p:spPr>
          <a:xfrm>
            <a:off x="571500" y="304801"/>
            <a:ext cx="10287000" cy="6172200"/>
          </a:xfrm>
        </p:spPr>
        <p:txBody>
          <a:bodyPr>
            <a:normAutofit fontScale="94792" lnSpcReduction="20000"/>
          </a:bodyPr>
          <a:p>
            <a:pPr algn="just">
              <a:buNone/>
            </a:pPr>
            <a:r>
              <a:rPr dirty="0" i="1" lang="en-US" smtClean="0"/>
              <a:t>	</a:t>
            </a:r>
            <a:r>
              <a:rPr b="1" dirty="0" sz="3500" i="1" lang="en-US" u="sng" smtClean="0"/>
              <a:t>SEVERE BLEEDING </a:t>
            </a:r>
            <a:endParaRPr dirty="0" sz="3500" i="1" lang="en-US" u="sng" smtClean="0"/>
          </a:p>
          <a:p>
            <a:pPr algn="just"/>
            <a:r>
              <a:rPr dirty="0" sz="3500" lang="en-US" smtClean="0"/>
              <a:t>Caesarean section is the only mode of delivery irrespective of the fetal fate, due to torrential haemorrhage.</a:t>
            </a:r>
          </a:p>
          <a:p>
            <a:pPr algn="just" lvl="0"/>
            <a:r>
              <a:rPr dirty="0" sz="3500" lang="en-US" smtClean="0"/>
              <a:t>Therefore, the mother should be thoroughly informed in order to give consent in writing &amp; verbally.</a:t>
            </a:r>
          </a:p>
          <a:p>
            <a:pPr algn="just" lvl="0"/>
            <a:r>
              <a:rPr dirty="0" sz="3500" lang="en-US" smtClean="0"/>
              <a:t>Investigate thoroughly, in terms of  full haemogram, clotting profile, cross match at least 4 units, because of the high likelihood of severe P.P.H following placenta extraction.</a:t>
            </a:r>
          </a:p>
          <a:p>
            <a:pPr algn="just"/>
            <a:endParaRPr dirty="0" lang="en-US"/>
          </a:p>
        </p:txBody>
      </p:sp>
      <p:sp>
        <p:nvSpPr>
          <p:cNvPr id="1048784"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705" name=""/>
        <p:cNvGrpSpPr/>
        <p:nvPr/>
      </p:nvGrpSpPr>
      <p:grpSpPr>
        <a:xfrm>
          <a:off x="0" y="0"/>
          <a:ext cx="0" cy="0"/>
          <a:chOff x="0" y="0"/>
          <a:chExt cx="0" cy="0"/>
        </a:xfrm>
      </p:grpSpPr>
      <p:sp>
        <p:nvSpPr>
          <p:cNvPr id="1048785" name="Content Placeholder 2"/>
          <p:cNvSpPr>
            <a:spLocks noGrp="1"/>
          </p:cNvSpPr>
          <p:nvPr>
            <p:ph sz="quarter" idx="1"/>
          </p:nvPr>
        </p:nvSpPr>
        <p:spPr>
          <a:xfrm>
            <a:off x="285750" y="381007"/>
            <a:ext cx="10572750" cy="6324601"/>
          </a:xfrm>
        </p:spPr>
        <p:txBody>
          <a:bodyPr>
            <a:noAutofit/>
          </a:bodyPr>
          <a:p>
            <a:pPr algn="just" lvl="0"/>
            <a:r>
              <a:rPr dirty="0" sz="3200" lang="en-US" smtClean="0"/>
              <a:t>Be ready to resuscitate  fetus if still alive &amp; as well as the mother.</a:t>
            </a:r>
          </a:p>
          <a:p>
            <a:pPr algn="just" lvl="0"/>
            <a:r>
              <a:rPr dirty="0" sz="3200" lang="en-US" smtClean="0"/>
              <a:t>Post.OP care CT.</a:t>
            </a:r>
          </a:p>
          <a:p>
            <a:pPr algn="just">
              <a:buNone/>
            </a:pPr>
            <a:r>
              <a:rPr dirty="0" sz="3200" i="1" lang="en-US" smtClean="0"/>
              <a:t>	</a:t>
            </a:r>
            <a:r>
              <a:rPr b="1" dirty="0" sz="3200" lang="en-US" smtClean="0">
                <a:solidFill>
                  <a:srgbClr val="C00000"/>
                </a:solidFill>
              </a:rPr>
              <a:t>COMPLICATIONS</a:t>
            </a:r>
          </a:p>
          <a:p>
            <a:pPr algn="just" lvl="0"/>
            <a:r>
              <a:rPr dirty="0" sz="3200" lang="en-US" smtClean="0"/>
              <a:t>Postpartum haemorrhage, because of poor living ligature action.</a:t>
            </a:r>
          </a:p>
          <a:p>
            <a:pPr algn="just" lvl="0"/>
            <a:r>
              <a:rPr dirty="0" sz="3200" lang="en-US" smtClean="0"/>
              <a:t>Puerperal sepsis, due to urgency involved in saving life and also the low placental site.</a:t>
            </a:r>
          </a:p>
          <a:p>
            <a:pPr algn="just" lvl="0"/>
            <a:r>
              <a:rPr dirty="0" sz="3200" lang="en-US" smtClean="0"/>
              <a:t>Embolism either of air or amniotic fluid  because the sinuses don’t close instantly .</a:t>
            </a:r>
          </a:p>
          <a:p>
            <a:pPr algn="just" lvl="0"/>
            <a:endParaRPr dirty="0" sz="3200" lang="en-US" smtClean="0"/>
          </a:p>
          <a:p>
            <a:pPr algn="just"/>
            <a:endParaRPr dirty="0" sz="3200" lang="en-US"/>
          </a:p>
        </p:txBody>
      </p:sp>
      <p:sp>
        <p:nvSpPr>
          <p:cNvPr id="1048786"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706" name=""/>
        <p:cNvGrpSpPr/>
        <p:nvPr/>
      </p:nvGrpSpPr>
      <p:grpSpPr>
        <a:xfrm>
          <a:off x="0" y="0"/>
          <a:ext cx="0" cy="0"/>
          <a:chOff x="0" y="0"/>
          <a:chExt cx="0" cy="0"/>
        </a:xfrm>
      </p:grpSpPr>
      <p:sp>
        <p:nvSpPr>
          <p:cNvPr id="1048787" name="Content Placeholder 2"/>
          <p:cNvSpPr>
            <a:spLocks noGrp="1"/>
          </p:cNvSpPr>
          <p:nvPr>
            <p:ph sz="quarter" idx="1"/>
          </p:nvPr>
        </p:nvSpPr>
        <p:spPr>
          <a:xfrm>
            <a:off x="571501" y="457200"/>
            <a:ext cx="9334500" cy="6016752"/>
          </a:xfrm>
        </p:spPr>
        <p:txBody>
          <a:bodyPr>
            <a:normAutofit/>
          </a:bodyPr>
          <a:p>
            <a:pPr algn="just" lvl="0"/>
            <a:r>
              <a:rPr dirty="0" sz="3200" lang="en-US" smtClean="0"/>
              <a:t>Increased perinatal mortality rate because of the severe separation = severe fetal hypoxia= severe asphyxia or still birth .</a:t>
            </a:r>
          </a:p>
          <a:p>
            <a:pPr algn="just" lvl="0"/>
            <a:r>
              <a:rPr dirty="0" sz="3200" lang="en-US" smtClean="0"/>
              <a:t>Premature rupture of membranes, because of malpresentation hence intranatal infection.</a:t>
            </a:r>
          </a:p>
          <a:p>
            <a:pPr algn="just" lvl="0"/>
            <a:r>
              <a:rPr dirty="0" sz="3200" lang="en-US" smtClean="0"/>
              <a:t>High maternal mortality rate due to anaesthetic and surgical complications, severe haemorrhage &amp; sepsis.</a:t>
            </a:r>
          </a:p>
          <a:p>
            <a:pPr algn="just"/>
            <a:endParaRPr dirty="0" sz="3200" lang="en-US"/>
          </a:p>
        </p:txBody>
      </p:sp>
      <p:sp>
        <p:nvSpPr>
          <p:cNvPr id="1048788"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707" name=""/>
        <p:cNvGrpSpPr/>
        <p:nvPr/>
      </p:nvGrpSpPr>
      <p:grpSpPr>
        <a:xfrm>
          <a:off x="0" y="0"/>
          <a:ext cx="0" cy="0"/>
          <a:chOff x="0" y="0"/>
          <a:chExt cx="0" cy="0"/>
        </a:xfrm>
      </p:grpSpPr>
      <p:sp>
        <p:nvSpPr>
          <p:cNvPr id="1048789" name="Title 1"/>
          <p:cNvSpPr>
            <a:spLocks noGrp="1"/>
          </p:cNvSpPr>
          <p:nvPr>
            <p:ph type="title"/>
          </p:nvPr>
        </p:nvSpPr>
        <p:spPr>
          <a:ln>
            <a:noFill/>
          </a:ln>
        </p:spPr>
        <p:txBody>
          <a:bodyPr>
            <a:normAutofit/>
          </a:bodyPr>
          <a:p>
            <a:r>
              <a:rPr dirty="0" sz="4800" lang="en-US" smtClean="0">
                <a:solidFill>
                  <a:srgbClr val="7030A0"/>
                </a:solidFill>
              </a:rPr>
              <a:t>2. PLACENTAL ABRUPTION</a:t>
            </a:r>
            <a:endParaRPr dirty="0" lang="en-US">
              <a:solidFill>
                <a:srgbClr val="7030A0"/>
              </a:solidFill>
            </a:endParaRPr>
          </a:p>
        </p:txBody>
      </p:sp>
      <p:sp>
        <p:nvSpPr>
          <p:cNvPr id="1048790" name="Content Placeholder 2"/>
          <p:cNvSpPr>
            <a:spLocks noGrp="1"/>
          </p:cNvSpPr>
          <p:nvPr>
            <p:ph sz="quarter" idx="1"/>
          </p:nvPr>
        </p:nvSpPr>
        <p:spPr>
          <a:xfrm>
            <a:off x="285751" y="1600200"/>
            <a:ext cx="10382250" cy="4873752"/>
          </a:xfrm>
        </p:spPr>
        <p:txBody>
          <a:bodyPr>
            <a:normAutofit/>
          </a:bodyPr>
          <a:p>
            <a:pPr>
              <a:buNone/>
            </a:pPr>
            <a:r>
              <a:rPr dirty="0" lang="en-US" smtClean="0"/>
              <a:t>	</a:t>
            </a:r>
            <a:r>
              <a:rPr dirty="0" sz="4000" lang="en-US" smtClean="0"/>
              <a:t>Also referred to as accidental APH.</a:t>
            </a:r>
          </a:p>
          <a:p>
            <a:pPr>
              <a:buNone/>
            </a:pPr>
            <a:r>
              <a:rPr dirty="0" sz="4000" i="1" lang="en-US" smtClean="0"/>
              <a:t>	</a:t>
            </a:r>
            <a:r>
              <a:rPr b="1" dirty="0" sz="4000" lang="en-US" smtClean="0">
                <a:solidFill>
                  <a:srgbClr val="C00000"/>
                </a:solidFill>
              </a:rPr>
              <a:t>  DEFINITION</a:t>
            </a:r>
          </a:p>
          <a:p>
            <a:r>
              <a:rPr dirty="0" sz="4000" lang="en-US" smtClean="0"/>
              <a:t>Refers to premature separation of a </a:t>
            </a:r>
            <a:r>
              <a:rPr b="1" dirty="0" sz="4000" lang="en-US" smtClean="0"/>
              <a:t>normally situated </a:t>
            </a:r>
            <a:r>
              <a:rPr dirty="0" sz="4000" lang="en-US" smtClean="0"/>
              <a:t>placenta , usually after a gestation period of 24 weeks and before the onset of true labour.</a:t>
            </a:r>
          </a:p>
          <a:p>
            <a:pPr>
              <a:buNone/>
            </a:pPr>
            <a:endParaRPr dirty="0" lang="en-US">
              <a:solidFill>
                <a:srgbClr val="002060"/>
              </a:solidFill>
            </a:endParaRPr>
          </a:p>
        </p:txBody>
      </p:sp>
      <p:sp>
        <p:nvSpPr>
          <p:cNvPr id="1048791"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708" name=""/>
        <p:cNvGrpSpPr/>
        <p:nvPr/>
      </p:nvGrpSpPr>
      <p:grpSpPr>
        <a:xfrm>
          <a:off x="0" y="0"/>
          <a:ext cx="0" cy="0"/>
          <a:chOff x="0" y="0"/>
          <a:chExt cx="0" cy="0"/>
        </a:xfrm>
      </p:grpSpPr>
      <p:sp>
        <p:nvSpPr>
          <p:cNvPr id="1048792" name="Title 1"/>
          <p:cNvSpPr>
            <a:spLocks noGrp="1"/>
          </p:cNvSpPr>
          <p:nvPr>
            <p:ph type="title"/>
          </p:nvPr>
        </p:nvSpPr>
        <p:spPr>
          <a:xfrm>
            <a:off x="571501" y="0"/>
            <a:ext cx="9334500" cy="914400"/>
          </a:xfrm>
        </p:spPr>
        <p:txBody>
          <a:bodyPr/>
          <a:p>
            <a:r>
              <a:rPr b="1" dirty="0" lang="en-US" smtClean="0">
                <a:solidFill>
                  <a:srgbClr val="7030A0"/>
                </a:solidFill>
              </a:rPr>
              <a:t>PREDISPOSING  FACTORS</a:t>
            </a:r>
            <a:endParaRPr b="1" dirty="0" lang="en-US">
              <a:solidFill>
                <a:srgbClr val="7030A0"/>
              </a:solidFill>
            </a:endParaRPr>
          </a:p>
        </p:txBody>
      </p:sp>
      <p:sp>
        <p:nvSpPr>
          <p:cNvPr id="1048793" name="Content Placeholder 2"/>
          <p:cNvSpPr>
            <a:spLocks noGrp="1"/>
          </p:cNvSpPr>
          <p:nvPr>
            <p:ph sz="quarter" idx="1"/>
          </p:nvPr>
        </p:nvSpPr>
        <p:spPr>
          <a:xfrm>
            <a:off x="571501" y="1066800"/>
            <a:ext cx="9334500" cy="5407152"/>
          </a:xfrm>
        </p:spPr>
        <p:txBody>
          <a:bodyPr>
            <a:normAutofit/>
          </a:bodyPr>
          <a:p>
            <a:pPr algn="just" lvl="0"/>
            <a:r>
              <a:rPr dirty="0" sz="3200" lang="en-US" smtClean="0">
                <a:latin typeface="Calibri" pitchFamily="34" charset="0"/>
              </a:rPr>
              <a:t>Severe pregnancy induced hypertensive disoder, in which  vasoconstriction leads to bursting of vessels that supply the placental bed.</a:t>
            </a:r>
          </a:p>
          <a:p>
            <a:pPr algn="just" lvl="0"/>
            <a:r>
              <a:rPr dirty="0" sz="3200" lang="en-US" smtClean="0">
                <a:latin typeface="Calibri" pitchFamily="34" charset="0"/>
              </a:rPr>
              <a:t>Sudden reduction of uterine size e.g. when membranes prematurely in polyhydamnious.</a:t>
            </a:r>
          </a:p>
          <a:p>
            <a:pPr algn="just" lvl="0"/>
            <a:r>
              <a:rPr dirty="0" sz="3200" lang="en-US" smtClean="0">
                <a:latin typeface="Calibri" pitchFamily="34" charset="0"/>
              </a:rPr>
              <a:t>Direct trauma to the abdomen  though rare, due to  assault mainly intentional, or  a fall which is merely accidental.</a:t>
            </a:r>
          </a:p>
          <a:p>
            <a:pPr algn="just"/>
            <a:endParaRPr dirty="0" sz="3200" lang="en-US">
              <a:latin typeface="Calibri" pitchFamily="34" charset="0"/>
            </a:endParaRPr>
          </a:p>
        </p:txBody>
      </p:sp>
      <p:sp>
        <p:nvSpPr>
          <p:cNvPr id="1048794"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709" name=""/>
        <p:cNvGrpSpPr/>
        <p:nvPr/>
      </p:nvGrpSpPr>
      <p:grpSpPr>
        <a:xfrm>
          <a:off x="0" y="0"/>
          <a:ext cx="0" cy="0"/>
          <a:chOff x="0" y="0"/>
          <a:chExt cx="0" cy="0"/>
        </a:xfrm>
      </p:grpSpPr>
      <p:sp>
        <p:nvSpPr>
          <p:cNvPr id="1048795" name="Content Placeholder 2"/>
          <p:cNvSpPr>
            <a:spLocks noGrp="1"/>
          </p:cNvSpPr>
          <p:nvPr>
            <p:ph sz="quarter" idx="1"/>
          </p:nvPr>
        </p:nvSpPr>
        <p:spPr>
          <a:xfrm>
            <a:off x="571501" y="304800"/>
            <a:ext cx="9334500" cy="6169152"/>
          </a:xfrm>
        </p:spPr>
        <p:txBody>
          <a:bodyPr>
            <a:normAutofit/>
          </a:bodyPr>
          <a:p>
            <a:pPr algn="just" lvl="0"/>
            <a:r>
              <a:rPr dirty="0" sz="3200" lang="en-US" smtClean="0"/>
              <a:t>Strenuous physical efforts , affecting the abdominal muscles hence transmitted to placental site.</a:t>
            </a:r>
          </a:p>
          <a:p>
            <a:pPr algn="just" lvl="0"/>
            <a:r>
              <a:rPr dirty="0" sz="3200" lang="en-US" smtClean="0"/>
              <a:t>Malpresentation management, is terms of external cephalic version, since it involves applying traction to the placenta unknowingly hence abruption.</a:t>
            </a:r>
          </a:p>
          <a:p>
            <a:pPr algn="just" lvl="0"/>
            <a:r>
              <a:rPr dirty="0" sz="3200" lang="en-US" smtClean="0"/>
              <a:t>Smoking leading vasoconstriction, due to effect of nicotine.</a:t>
            </a:r>
          </a:p>
          <a:p>
            <a:pPr algn="just"/>
            <a:endParaRPr dirty="0" sz="3200" lang="en-US"/>
          </a:p>
        </p:txBody>
      </p:sp>
      <p:sp>
        <p:nvSpPr>
          <p:cNvPr id="1048796"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710" name=""/>
        <p:cNvGrpSpPr/>
        <p:nvPr/>
      </p:nvGrpSpPr>
      <p:grpSpPr>
        <a:xfrm>
          <a:off x="0" y="0"/>
          <a:ext cx="0" cy="0"/>
          <a:chOff x="0" y="0"/>
          <a:chExt cx="0" cy="0"/>
        </a:xfrm>
      </p:grpSpPr>
      <p:sp>
        <p:nvSpPr>
          <p:cNvPr id="1048797" name="Title 1"/>
          <p:cNvSpPr>
            <a:spLocks noGrp="1"/>
          </p:cNvSpPr>
          <p:nvPr>
            <p:ph type="title"/>
          </p:nvPr>
        </p:nvSpPr>
        <p:spPr/>
        <p:txBody>
          <a:bodyPr/>
          <a:p>
            <a:r>
              <a:rPr dirty="0" sz="4800" lang="en-US" smtClean="0">
                <a:solidFill>
                  <a:srgbClr val="FF0000"/>
                </a:solidFill>
              </a:rPr>
              <a:t>PATHOPHYSIOLOGY</a:t>
            </a:r>
            <a:endParaRPr dirty="0" lang="en-US">
              <a:solidFill>
                <a:srgbClr val="FF0000"/>
              </a:solidFill>
            </a:endParaRPr>
          </a:p>
        </p:txBody>
      </p:sp>
      <p:sp>
        <p:nvSpPr>
          <p:cNvPr id="1048798" name="Content Placeholder 2"/>
          <p:cNvSpPr>
            <a:spLocks noGrp="1"/>
          </p:cNvSpPr>
          <p:nvPr>
            <p:ph sz="quarter" idx="1"/>
          </p:nvPr>
        </p:nvSpPr>
        <p:spPr>
          <a:xfrm>
            <a:off x="476250" y="1447800"/>
            <a:ext cx="10287000" cy="5029200"/>
          </a:xfrm>
        </p:spPr>
        <p:txBody>
          <a:bodyPr>
            <a:noAutofit/>
          </a:bodyPr>
          <a:p>
            <a:r>
              <a:rPr dirty="0" sz="3600" lang="en-US" smtClean="0"/>
              <a:t>As placenta separates partially, bleeding from the torn maternal venous sinuses leads to collection of blood between the placental bed and the decidua.</a:t>
            </a:r>
          </a:p>
          <a:p>
            <a:r>
              <a:rPr dirty="0" sz="3600" lang="en-US" smtClean="0"/>
              <a:t>Further bleeding leads to extension of separation in which the rate of separation is determined by the amount of blood.</a:t>
            </a:r>
          </a:p>
          <a:p>
            <a:r>
              <a:rPr dirty="0" sz="3600" lang="en-US" smtClean="0"/>
              <a:t>Eventually the </a:t>
            </a:r>
            <a:r>
              <a:rPr b="1" dirty="0" sz="3600" i="1" lang="en-US" smtClean="0"/>
              <a:t>possible outcomes </a:t>
            </a:r>
            <a:r>
              <a:rPr dirty="0" sz="3600" lang="en-US" smtClean="0"/>
              <a:t>are:-</a:t>
            </a:r>
          </a:p>
          <a:p>
            <a:endParaRPr dirty="0" sz="3600" lang="en-US"/>
          </a:p>
        </p:txBody>
      </p:sp>
      <p:sp>
        <p:nvSpPr>
          <p:cNvPr id="1048799"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711" name=""/>
        <p:cNvGrpSpPr/>
        <p:nvPr/>
      </p:nvGrpSpPr>
      <p:grpSpPr>
        <a:xfrm>
          <a:off x="0" y="0"/>
          <a:ext cx="0" cy="0"/>
          <a:chOff x="0" y="0"/>
          <a:chExt cx="0" cy="0"/>
        </a:xfrm>
      </p:grpSpPr>
      <p:sp>
        <p:nvSpPr>
          <p:cNvPr id="1048800" name="Content Placeholder 2"/>
          <p:cNvSpPr>
            <a:spLocks noGrp="1"/>
          </p:cNvSpPr>
          <p:nvPr>
            <p:ph sz="quarter" idx="1"/>
          </p:nvPr>
        </p:nvSpPr>
        <p:spPr>
          <a:xfrm>
            <a:off x="285750" y="228609"/>
            <a:ext cx="10858500" cy="6324599"/>
          </a:xfrm>
        </p:spPr>
        <p:txBody>
          <a:bodyPr>
            <a:normAutofit/>
          </a:bodyPr>
          <a:p>
            <a:pPr lvl="0">
              <a:buFont typeface="Wingdings" pitchFamily="2" charset="2"/>
              <a:buChar char="Ø"/>
            </a:pPr>
            <a:r>
              <a:rPr dirty="0" sz="3200" lang="en-US" smtClean="0"/>
              <a:t>Some blood escapes from the placenta site, thus separate the membrane &amp; finally drain out per vagina.</a:t>
            </a:r>
          </a:p>
          <a:p>
            <a:pPr lvl="0">
              <a:buFont typeface="Wingdings" pitchFamily="2" charset="2"/>
              <a:buChar char="Ø"/>
            </a:pPr>
            <a:r>
              <a:rPr dirty="0" sz="3200" lang="en-US" smtClean="0"/>
              <a:t>In other situations, blood is retained behind the placenta.</a:t>
            </a:r>
          </a:p>
          <a:p>
            <a:pPr lvl="0">
              <a:buFont typeface="Wingdings" pitchFamily="2" charset="2"/>
              <a:buChar char="ü"/>
            </a:pPr>
            <a:r>
              <a:rPr dirty="0" sz="3200" lang="en-US" smtClean="0"/>
              <a:t>Plasma is forced into the myometrium , hence infiltrates muscle fibres ,  while the cells agglutinate. </a:t>
            </a:r>
          </a:p>
          <a:p>
            <a:pPr lvl="0">
              <a:buFont typeface="Wingdings" pitchFamily="2" charset="2"/>
              <a:buChar char="ü"/>
            </a:pPr>
            <a:r>
              <a:rPr dirty="0" sz="3200" lang="en-US" smtClean="0"/>
              <a:t>This causes marked damage on the uterus, hence demonstrated  by  bruised and oedematous  appearance on  inspection during caesarean section.</a:t>
            </a:r>
          </a:p>
          <a:p>
            <a:pPr lvl="0">
              <a:buFont typeface="Wingdings" pitchFamily="2" charset="2"/>
              <a:buChar char="Ø"/>
            </a:pPr>
            <a:endParaRPr dirty="0" sz="3200" lang="en-US" smtClean="0"/>
          </a:p>
          <a:p>
            <a:endParaRPr dirty="0" sz="3200" lang="en-US"/>
          </a:p>
        </p:txBody>
      </p:sp>
      <p:sp>
        <p:nvSpPr>
          <p:cNvPr id="1048801"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712" name=""/>
        <p:cNvGrpSpPr/>
        <p:nvPr/>
      </p:nvGrpSpPr>
      <p:grpSpPr>
        <a:xfrm>
          <a:off x="0" y="0"/>
          <a:ext cx="0" cy="0"/>
          <a:chOff x="0" y="0"/>
          <a:chExt cx="0" cy="0"/>
        </a:xfrm>
      </p:grpSpPr>
      <p:sp>
        <p:nvSpPr>
          <p:cNvPr id="1048802" name="Content Placeholder 2"/>
          <p:cNvSpPr>
            <a:spLocks noGrp="1"/>
          </p:cNvSpPr>
          <p:nvPr>
            <p:ph sz="quarter" idx="1"/>
          </p:nvPr>
        </p:nvSpPr>
        <p:spPr>
          <a:xfrm>
            <a:off x="571501" y="228600"/>
            <a:ext cx="9525000" cy="6245352"/>
          </a:xfrm>
        </p:spPr>
        <p:txBody>
          <a:bodyPr>
            <a:noAutofit/>
          </a:bodyPr>
          <a:p>
            <a:pPr lvl="0">
              <a:buFont typeface="Wingdings" pitchFamily="2" charset="2"/>
              <a:buChar char="ü"/>
            </a:pPr>
            <a:r>
              <a:rPr dirty="0" sz="3600" lang="en-US" smtClean="0"/>
              <a:t>This is collectively referred to as </a:t>
            </a:r>
            <a:r>
              <a:rPr b="1" dirty="0" sz="3600" lang="en-US" smtClean="0"/>
              <a:t>couvelaire uterus </a:t>
            </a:r>
            <a:r>
              <a:rPr dirty="0" sz="3600" lang="en-US" smtClean="0"/>
              <a:t>or </a:t>
            </a:r>
            <a:r>
              <a:rPr b="1" dirty="0" sz="3600" lang="en-US" smtClean="0"/>
              <a:t>uterus apoplexy</a:t>
            </a:r>
            <a:r>
              <a:rPr dirty="0" sz="3600" lang="en-US" smtClean="0"/>
              <a:t>. </a:t>
            </a:r>
          </a:p>
          <a:p>
            <a:pPr lvl="0">
              <a:buFont typeface="Courier New" pitchFamily="49" charset="0"/>
              <a:buChar char="o"/>
            </a:pPr>
            <a:r>
              <a:rPr dirty="0" sz="3600" lang="en-US" smtClean="0"/>
              <a:t>Vaginal bleeding is absent but features of hypovoluemic shock are present.</a:t>
            </a:r>
          </a:p>
          <a:p>
            <a:pPr lvl="0">
              <a:buFont typeface="Courier New" pitchFamily="49" charset="0"/>
              <a:buChar char="o"/>
            </a:pPr>
            <a:r>
              <a:rPr dirty="0" sz="3600" lang="en-US" smtClean="0"/>
              <a:t>Uterus is enlarged and extremely painful.</a:t>
            </a:r>
          </a:p>
          <a:p>
            <a:pPr>
              <a:buFont typeface="Wingdings" pitchFamily="2" charset="2"/>
              <a:buChar char="Ø"/>
            </a:pPr>
            <a:r>
              <a:rPr dirty="0" sz="3600" lang="en-US" smtClean="0"/>
              <a:t>A combination of the above 2. i.e. some blood drains and some is retained.</a:t>
            </a:r>
          </a:p>
          <a:p>
            <a:pPr>
              <a:buNone/>
            </a:pPr>
            <a:endParaRPr dirty="0" sz="3600" lang="en-US"/>
          </a:p>
        </p:txBody>
      </p:sp>
      <p:sp>
        <p:nvSpPr>
          <p:cNvPr id="1048803"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713" name=""/>
        <p:cNvGrpSpPr/>
        <p:nvPr/>
      </p:nvGrpSpPr>
      <p:grpSpPr>
        <a:xfrm>
          <a:off x="0" y="0"/>
          <a:ext cx="0" cy="0"/>
          <a:chOff x="0" y="0"/>
          <a:chExt cx="0" cy="0"/>
        </a:xfrm>
      </p:grpSpPr>
      <p:sp>
        <p:nvSpPr>
          <p:cNvPr id="1048804" name="Title 1"/>
          <p:cNvSpPr>
            <a:spLocks noGrp="1"/>
          </p:cNvSpPr>
          <p:nvPr>
            <p:ph type="title"/>
          </p:nvPr>
        </p:nvSpPr>
        <p:spPr/>
        <p:txBody>
          <a:bodyPr/>
          <a:p>
            <a:r>
              <a:rPr dirty="0" lang="en-US" smtClean="0">
                <a:solidFill>
                  <a:srgbClr val="FF0000"/>
                </a:solidFill>
              </a:rPr>
              <a:t>		</a:t>
            </a:r>
            <a:r>
              <a:rPr dirty="0" sz="4800" lang="en-US" smtClean="0">
                <a:solidFill>
                  <a:srgbClr val="FF0000"/>
                </a:solidFill>
              </a:rPr>
              <a:t> TYPES</a:t>
            </a:r>
            <a:r>
              <a:rPr dirty="0" sz="4800" i="1" lang="en-US" smtClean="0">
                <a:solidFill>
                  <a:srgbClr val="FF0000"/>
                </a:solidFill>
              </a:rPr>
              <a:t> </a:t>
            </a:r>
            <a:endParaRPr dirty="0" lang="en-US">
              <a:solidFill>
                <a:srgbClr val="FF0000"/>
              </a:solidFill>
            </a:endParaRPr>
          </a:p>
        </p:txBody>
      </p:sp>
      <p:sp>
        <p:nvSpPr>
          <p:cNvPr id="1048805" name="Content Placeholder 2"/>
          <p:cNvSpPr>
            <a:spLocks noGrp="1"/>
          </p:cNvSpPr>
          <p:nvPr>
            <p:ph sz="quarter" idx="1"/>
          </p:nvPr>
        </p:nvSpPr>
        <p:spPr/>
        <p:txBody>
          <a:bodyPr>
            <a:normAutofit fontScale="94792" lnSpcReduction="10000"/>
          </a:bodyPr>
          <a:p>
            <a:pPr>
              <a:buFont typeface="Wingdings" pitchFamily="2" charset="2"/>
              <a:buChar char="v"/>
            </a:pPr>
            <a:r>
              <a:rPr dirty="0" sz="3500" lang="en-US" smtClean="0"/>
              <a:t>Based on presence or absence of Per vaginal loss ,status of fetus &amp; mother.</a:t>
            </a:r>
          </a:p>
          <a:p>
            <a:pPr lvl="0"/>
            <a:r>
              <a:rPr b="1" dirty="0" sz="3500" lang="en-US" smtClean="0"/>
              <a:t>Revealed</a:t>
            </a:r>
            <a:r>
              <a:rPr dirty="0" sz="3500" lang="en-US" smtClean="0"/>
              <a:t>, PV loss observed  and it’s determined by the degree of separation.</a:t>
            </a:r>
          </a:p>
          <a:p>
            <a:pPr lvl="0"/>
            <a:r>
              <a:rPr b="1" dirty="0" sz="3500" lang="en-US" smtClean="0"/>
              <a:t>Concealed</a:t>
            </a:r>
            <a:r>
              <a:rPr dirty="0" sz="3500" lang="en-US" smtClean="0"/>
              <a:t>, no per vaginal lost, mother has pain on uterine palpation and uterus is enlarged. Severe shock is common.</a:t>
            </a:r>
          </a:p>
          <a:p>
            <a:pPr lvl="0"/>
            <a:r>
              <a:rPr b="1" dirty="0" sz="3500" lang="en-US" smtClean="0"/>
              <a:t>Mixed haemorrhage </a:t>
            </a:r>
            <a:r>
              <a:rPr dirty="0" sz="3500" lang="en-US" smtClean="0"/>
              <a:t>, some drain while rest is concealed.</a:t>
            </a:r>
          </a:p>
          <a:p>
            <a:endParaRPr dirty="0" lang="en-US"/>
          </a:p>
        </p:txBody>
      </p:sp>
      <p:sp>
        <p:nvSpPr>
          <p:cNvPr id="1048806"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714" name=""/>
        <p:cNvGrpSpPr/>
        <p:nvPr/>
      </p:nvGrpSpPr>
      <p:grpSpPr>
        <a:xfrm>
          <a:off x="0" y="0"/>
          <a:ext cx="0" cy="0"/>
          <a:chOff x="0" y="0"/>
          <a:chExt cx="0" cy="0"/>
        </a:xfrm>
      </p:grpSpPr>
      <p:sp>
        <p:nvSpPr>
          <p:cNvPr id="1048807" name="Content Placeholder 2"/>
          <p:cNvSpPr>
            <a:spLocks noGrp="1"/>
          </p:cNvSpPr>
          <p:nvPr>
            <p:ph sz="quarter" idx="1"/>
          </p:nvPr>
        </p:nvSpPr>
        <p:spPr>
          <a:xfrm>
            <a:off x="571501" y="381000"/>
            <a:ext cx="9334500" cy="6092952"/>
          </a:xfrm>
        </p:spPr>
        <p:txBody>
          <a:bodyPr>
            <a:normAutofit/>
          </a:bodyPr>
          <a:p>
            <a:pPr>
              <a:buNone/>
            </a:pPr>
            <a:r>
              <a:rPr b="1" dirty="0" sz="3600" lang="en-US" smtClean="0">
                <a:solidFill>
                  <a:schemeClr val="accent6"/>
                </a:solidFill>
              </a:rPr>
              <a:t>	NB:</a:t>
            </a:r>
            <a:r>
              <a:rPr dirty="0" sz="3600" lang="en-US" smtClean="0">
                <a:solidFill>
                  <a:schemeClr val="accent6"/>
                </a:solidFill>
              </a:rPr>
              <a:t>- </a:t>
            </a:r>
          </a:p>
          <a:p>
            <a:r>
              <a:rPr dirty="0" sz="3600" lang="en-US" smtClean="0"/>
              <a:t>Classification is also based on the degree of separation as well as the status of both fetus &amp; mother.</a:t>
            </a:r>
          </a:p>
          <a:p>
            <a:pPr>
              <a:buFont typeface="Wingdings" pitchFamily="2" charset="2"/>
              <a:buChar char="Ø"/>
            </a:pPr>
            <a:r>
              <a:rPr dirty="0" sz="3600" lang="en-US" smtClean="0"/>
              <a:t> (1) Mild</a:t>
            </a:r>
          </a:p>
          <a:p>
            <a:pPr>
              <a:buFont typeface="Wingdings" pitchFamily="2" charset="2"/>
              <a:buChar char="Ø"/>
            </a:pPr>
            <a:r>
              <a:rPr dirty="0" sz="3600" lang="en-US" smtClean="0"/>
              <a:t> (2) moderate</a:t>
            </a:r>
          </a:p>
          <a:p>
            <a:pPr>
              <a:buFont typeface="Wingdings" pitchFamily="2" charset="2"/>
              <a:buChar char="Ø"/>
            </a:pPr>
            <a:r>
              <a:rPr dirty="0" sz="3600" lang="en-US" smtClean="0"/>
              <a:t> (3) severe.</a:t>
            </a:r>
          </a:p>
          <a:p>
            <a:endParaRPr dirty="0" sz="3600" lang="en-US"/>
          </a:p>
        </p:txBody>
      </p:sp>
      <p:sp>
        <p:nvSpPr>
          <p:cNvPr id="1048808"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715" name=""/>
        <p:cNvGrpSpPr/>
        <p:nvPr/>
      </p:nvGrpSpPr>
      <p:grpSpPr>
        <a:xfrm>
          <a:off x="0" y="0"/>
          <a:ext cx="0" cy="0"/>
          <a:chOff x="0" y="0"/>
          <a:chExt cx="0" cy="0"/>
        </a:xfrm>
      </p:grpSpPr>
      <p:sp>
        <p:nvSpPr>
          <p:cNvPr id="1048809" name="Title 1"/>
          <p:cNvSpPr>
            <a:spLocks noGrp="1"/>
          </p:cNvSpPr>
          <p:nvPr>
            <p:ph type="title"/>
          </p:nvPr>
        </p:nvSpPr>
        <p:spPr>
          <a:xfrm>
            <a:off x="571501" y="0"/>
            <a:ext cx="9334500" cy="762000"/>
          </a:xfrm>
        </p:spPr>
        <p:txBody>
          <a:bodyPr/>
          <a:p>
            <a:r>
              <a:rPr b="1" dirty="0" lang="en-US" smtClean="0">
                <a:solidFill>
                  <a:srgbClr val="00B0F0"/>
                </a:solidFill>
              </a:rPr>
              <a:t>Diagrammatic representation</a:t>
            </a:r>
            <a:endParaRPr b="1" dirty="0" lang="en-US">
              <a:solidFill>
                <a:srgbClr val="00B0F0"/>
              </a:solidFill>
            </a:endParaRPr>
          </a:p>
        </p:txBody>
      </p:sp>
      <p:pic>
        <p:nvPicPr>
          <p:cNvPr id="2097154" name="Picture 2"/>
          <p:cNvPicPr>
            <a:picLocks noChangeAspect="1" noGrp="1" noChangeArrowheads="1"/>
          </p:cNvPicPr>
          <p:nvPr>
            <p:ph sz="quarter" idx="1"/>
          </p:nvPr>
        </p:nvPicPr>
        <p:blipFill>
          <a:blip xmlns:r="http://schemas.openxmlformats.org/officeDocument/2006/relationships" r:embed="rId1" cstate="print"/>
          <a:srcRect/>
          <a:stretch>
            <a:fillRect/>
          </a:stretch>
        </p:blipFill>
        <p:spPr bwMode="auto">
          <a:xfrm>
            <a:off x="381000" y="990600"/>
            <a:ext cx="10572750" cy="5715000"/>
          </a:xfrm>
          <a:prstGeom prst="rect"/>
          <a:ln w="228600" cap="sq" cmpd="thickThin">
            <a:solidFill>
              <a:srgbClr val="000000"/>
            </a:solidFill>
            <a:prstDash val="solid"/>
            <a:miter lim="800000"/>
          </a:ln>
          <a:effectLst>
            <a:innerShdw blurRad="76200">
              <a:srgbClr val="000000"/>
            </a:innerShdw>
          </a:effectLst>
        </p:spPr>
      </p:pic>
      <p:sp>
        <p:nvSpPr>
          <p:cNvPr id="1048810" name="Footer Placeholder 2"/>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716" name=""/>
        <p:cNvGrpSpPr/>
        <p:nvPr/>
      </p:nvGrpSpPr>
      <p:grpSpPr>
        <a:xfrm>
          <a:off x="0" y="0"/>
          <a:ext cx="0" cy="0"/>
          <a:chOff x="0" y="0"/>
          <a:chExt cx="0" cy="0"/>
        </a:xfrm>
      </p:grpSpPr>
      <p:sp>
        <p:nvSpPr>
          <p:cNvPr id="1048811" name="Content Placeholder 2"/>
          <p:cNvSpPr>
            <a:spLocks noGrp="1"/>
          </p:cNvSpPr>
          <p:nvPr>
            <p:ph sz="quarter" idx="1"/>
          </p:nvPr>
        </p:nvSpPr>
        <p:spPr/>
        <p:txBody>
          <a:bodyPr/>
          <a:p>
            <a:endParaRPr dirty="0" lang="en-US" smtClean="0"/>
          </a:p>
          <a:p>
            <a:endParaRPr dirty="0" lang="en-US" smtClean="0"/>
          </a:p>
          <a:p>
            <a:endParaRPr dirty="0" lang="en-US" smtClean="0"/>
          </a:p>
          <a:p>
            <a:endParaRPr dirty="0" lang="en-US" smtClean="0"/>
          </a:p>
          <a:p>
            <a:pPr>
              <a:buNone/>
            </a:pPr>
            <a:r>
              <a:rPr dirty="0" lang="en-US" smtClean="0"/>
              <a:t>				</a:t>
            </a:r>
            <a:endParaRPr dirty="0" lang="en-US"/>
          </a:p>
        </p:txBody>
      </p:sp>
      <p:pic>
        <p:nvPicPr>
          <p:cNvPr id="2097155" name="Picture 2"/>
          <p:cNvPicPr>
            <a:picLocks noChangeAspect="1" noChangeArrowheads="1"/>
          </p:cNvPicPr>
          <p:nvPr/>
        </p:nvPicPr>
        <p:blipFill>
          <a:blip xmlns:r="http://schemas.openxmlformats.org/officeDocument/2006/relationships" r:embed="rId1" cstate="print"/>
          <a:srcRect/>
          <a:stretch>
            <a:fillRect/>
          </a:stretch>
        </p:blipFill>
        <p:spPr bwMode="auto">
          <a:xfrm>
            <a:off x="285750" y="381000"/>
            <a:ext cx="10191750" cy="6019800"/>
          </a:xfrm>
          <a:prstGeom prst="rect"/>
          <a:noFill/>
          <a:ln w="9525">
            <a:noFill/>
            <a:miter lim="800000"/>
            <a:headEnd/>
            <a:tailEnd/>
          </a:ln>
          <a:effectLst/>
        </p:spPr>
      </p:pic>
      <p:sp>
        <p:nvSpPr>
          <p:cNvPr id="1048812"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717" name=""/>
        <p:cNvGrpSpPr/>
        <p:nvPr/>
      </p:nvGrpSpPr>
      <p:grpSpPr>
        <a:xfrm>
          <a:off x="0" y="0"/>
          <a:ext cx="0" cy="0"/>
          <a:chOff x="0" y="0"/>
          <a:chExt cx="0" cy="0"/>
        </a:xfrm>
      </p:grpSpPr>
      <p:sp>
        <p:nvSpPr>
          <p:cNvPr id="1048813" name="Content Placeholder 2"/>
          <p:cNvSpPr>
            <a:spLocks noGrp="1"/>
          </p:cNvSpPr>
          <p:nvPr>
            <p:ph sz="quarter" idx="1"/>
          </p:nvPr>
        </p:nvSpPr>
        <p:spPr/>
        <p:txBody>
          <a:bodyPr/>
          <a:p>
            <a:pPr>
              <a:buNone/>
            </a:pPr>
            <a:endParaRPr dirty="0" lang="en-US" smtClean="0"/>
          </a:p>
          <a:p>
            <a:pPr>
              <a:buNone/>
            </a:pPr>
            <a:endParaRPr dirty="0" lang="en-US" smtClean="0"/>
          </a:p>
          <a:p>
            <a:pPr>
              <a:buNone/>
            </a:pPr>
            <a:endParaRPr dirty="0" lang="en-US" smtClean="0"/>
          </a:p>
          <a:p>
            <a:pPr>
              <a:buNone/>
            </a:pPr>
            <a:r>
              <a:rPr dirty="0" lang="en-US" smtClean="0"/>
              <a:t>					</a:t>
            </a:r>
            <a:endParaRPr dirty="0" lang="en-US"/>
          </a:p>
        </p:txBody>
      </p:sp>
      <p:pic>
        <p:nvPicPr>
          <p:cNvPr id="2097156" name="Picture 3"/>
          <p:cNvPicPr>
            <a:picLocks noChangeAspect="1" noChangeArrowheads="1"/>
          </p:cNvPicPr>
          <p:nvPr/>
        </p:nvPicPr>
        <p:blipFill>
          <a:blip xmlns:r="http://schemas.openxmlformats.org/officeDocument/2006/relationships" r:embed="rId1" cstate="print"/>
          <a:srcRect/>
          <a:stretch>
            <a:fillRect/>
          </a:stretch>
        </p:blipFill>
        <p:spPr bwMode="auto">
          <a:xfrm>
            <a:off x="285750" y="381000"/>
            <a:ext cx="10572750" cy="6096000"/>
          </a:xfrm>
          <a:prstGeom prst="rect"/>
          <a:noFill/>
          <a:ln w="9525">
            <a:noFill/>
            <a:miter lim="800000"/>
            <a:headEnd/>
            <a:tailEnd/>
          </a:ln>
          <a:effectLst/>
        </p:spPr>
      </p:pic>
      <p:sp>
        <p:nvSpPr>
          <p:cNvPr id="1048814"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718" name=""/>
        <p:cNvGrpSpPr/>
        <p:nvPr/>
      </p:nvGrpSpPr>
      <p:grpSpPr>
        <a:xfrm>
          <a:off x="0" y="0"/>
          <a:ext cx="0" cy="0"/>
          <a:chOff x="0" y="0"/>
          <a:chExt cx="0" cy="0"/>
        </a:xfrm>
      </p:grpSpPr>
      <p:sp>
        <p:nvSpPr>
          <p:cNvPr id="1048815" name="Title 1"/>
          <p:cNvSpPr>
            <a:spLocks noGrp="1"/>
          </p:cNvSpPr>
          <p:nvPr>
            <p:ph type="title"/>
          </p:nvPr>
        </p:nvSpPr>
        <p:spPr>
          <a:xfrm>
            <a:off x="571501" y="304806"/>
            <a:ext cx="9334500" cy="1112839"/>
          </a:xfrm>
        </p:spPr>
        <p:txBody>
          <a:bodyPr>
            <a:normAutofit/>
          </a:bodyPr>
          <a:p>
            <a:r>
              <a:rPr b="1" dirty="0" lang="en-US" smtClean="0">
                <a:solidFill>
                  <a:srgbClr val="00B0F0"/>
                </a:solidFill>
              </a:rPr>
              <a:t>	</a:t>
            </a:r>
            <a:r>
              <a:rPr b="1" dirty="0" sz="4800" lang="en-US" smtClean="0">
                <a:solidFill>
                  <a:srgbClr val="00B0F0"/>
                </a:solidFill>
              </a:rPr>
              <a:t> CLINICAL FEATURES</a:t>
            </a:r>
            <a:endParaRPr b="1" dirty="0" lang="en-US">
              <a:solidFill>
                <a:srgbClr val="00B0F0"/>
              </a:solidFill>
            </a:endParaRPr>
          </a:p>
        </p:txBody>
      </p:sp>
      <p:sp>
        <p:nvSpPr>
          <p:cNvPr id="1048816" name="Content Placeholder 2"/>
          <p:cNvSpPr>
            <a:spLocks noGrp="1"/>
          </p:cNvSpPr>
          <p:nvPr>
            <p:ph sz="quarter" idx="1"/>
          </p:nvPr>
        </p:nvSpPr>
        <p:spPr>
          <a:xfrm>
            <a:off x="533400" y="1447800"/>
            <a:ext cx="10325100" cy="5181609"/>
          </a:xfrm>
        </p:spPr>
        <p:txBody>
          <a:bodyPr>
            <a:normAutofit/>
          </a:bodyPr>
          <a:p>
            <a:pPr algn="just" lvl="0"/>
            <a:r>
              <a:rPr dirty="0" sz="3500" lang="en-US" smtClean="0"/>
              <a:t>Lost blood is dark coloured, either slight or moderate and accompanied by some degree of pain.</a:t>
            </a:r>
          </a:p>
          <a:p>
            <a:pPr algn="just" lvl="0"/>
            <a:r>
              <a:rPr dirty="0" sz="3500" lang="en-US" smtClean="0"/>
              <a:t>Failure of the vaginal loss (blood) to clot because of hypofibrinogennaemia.</a:t>
            </a:r>
          </a:p>
          <a:p>
            <a:pPr algn="just" lvl="0"/>
            <a:r>
              <a:rPr dirty="0" sz="3500" lang="en-US" smtClean="0"/>
              <a:t>Severe state of shock and anaemia , accompanied by either none or very slight per vaginal bleeding.</a:t>
            </a:r>
          </a:p>
          <a:p>
            <a:pPr algn="just"/>
            <a:r>
              <a:rPr dirty="0" sz="3500" lang="en-US" smtClean="0"/>
              <a:t>Enlargement and extreme tension of the uterus (abdomen) on inspection</a:t>
            </a:r>
            <a:r>
              <a:rPr dirty="0" lang="en-US" smtClean="0"/>
              <a:t>.</a:t>
            </a:r>
          </a:p>
          <a:p>
            <a:pPr algn="just">
              <a:buNone/>
            </a:pPr>
            <a:endParaRPr dirty="0" lang="en-US" smtClean="0"/>
          </a:p>
          <a:p>
            <a:pPr algn="just"/>
            <a:endParaRPr dirty="0" lang="en-US"/>
          </a:p>
        </p:txBody>
      </p:sp>
      <p:sp>
        <p:nvSpPr>
          <p:cNvPr id="1048817"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719" name=""/>
        <p:cNvGrpSpPr/>
        <p:nvPr/>
      </p:nvGrpSpPr>
      <p:grpSpPr>
        <a:xfrm>
          <a:off x="0" y="0"/>
          <a:ext cx="0" cy="0"/>
          <a:chOff x="0" y="0"/>
          <a:chExt cx="0" cy="0"/>
        </a:xfrm>
      </p:grpSpPr>
      <p:sp>
        <p:nvSpPr>
          <p:cNvPr id="1048818" name="Content Placeholder 2"/>
          <p:cNvSpPr>
            <a:spLocks noGrp="1"/>
          </p:cNvSpPr>
          <p:nvPr>
            <p:ph sz="quarter" idx="1"/>
          </p:nvPr>
        </p:nvSpPr>
        <p:spPr>
          <a:xfrm>
            <a:off x="285750" y="215900"/>
            <a:ext cx="10560050" cy="6489700"/>
          </a:xfrm>
        </p:spPr>
        <p:txBody>
          <a:bodyPr>
            <a:noAutofit/>
          </a:bodyPr>
          <a:p>
            <a:pPr algn="just" lvl="0"/>
            <a:r>
              <a:rPr dirty="0" sz="3200" lang="en-US" smtClean="0"/>
              <a:t>Excruciating abdominal pain due to inadequate supply of O2 and nutrients to the uterine muscle.</a:t>
            </a:r>
          </a:p>
          <a:p>
            <a:pPr algn="just" lvl="0"/>
            <a:r>
              <a:rPr dirty="0" sz="3200" lang="en-US" smtClean="0"/>
              <a:t>Difficult in locating fetal parts because of severe pain &amp; muscle guarding expressed by the mother.</a:t>
            </a:r>
          </a:p>
          <a:p>
            <a:pPr algn="just" lvl="0"/>
            <a:r>
              <a:rPr dirty="0" sz="3200" lang="en-US" smtClean="0"/>
              <a:t>Fetal heart sounds are not easily located and hypoxia is commonly noted.</a:t>
            </a:r>
          </a:p>
          <a:p>
            <a:pPr algn="just" lvl="0">
              <a:buFont typeface="Wingdings" pitchFamily="2" charset="2"/>
              <a:buChar char="Ø"/>
            </a:pPr>
            <a:r>
              <a:rPr dirty="0" sz="3200" lang="en-US" smtClean="0"/>
              <a:t> In severe cases, if they are not heard= I.U.F.D.</a:t>
            </a:r>
          </a:p>
          <a:p>
            <a:pPr algn="just"/>
            <a:r>
              <a:rPr dirty="0" sz="3200" lang="en-US" smtClean="0"/>
              <a:t>Uterus is</a:t>
            </a:r>
            <a:r>
              <a:rPr b="1" dirty="0" sz="3200" lang="en-US" smtClean="0"/>
              <a:t> hard </a:t>
            </a:r>
            <a:r>
              <a:rPr dirty="0" sz="3200" lang="en-US" smtClean="0"/>
              <a:t>and</a:t>
            </a:r>
            <a:r>
              <a:rPr b="1" dirty="0" sz="3200" lang="en-US" smtClean="0"/>
              <a:t> woody</a:t>
            </a:r>
            <a:r>
              <a:rPr dirty="0" sz="3200" lang="en-US" smtClean="0"/>
              <a:t> which is collectively referred to as </a:t>
            </a:r>
            <a:r>
              <a:rPr b="1" dirty="0" sz="3200" lang="en-US" smtClean="0"/>
              <a:t>board- like consistency </a:t>
            </a:r>
            <a:r>
              <a:rPr dirty="0" sz="3200" lang="en-US" smtClean="0"/>
              <a:t>because of its severe damage.</a:t>
            </a:r>
            <a:endParaRPr dirty="0" sz="3200" lang="en-US"/>
          </a:p>
        </p:txBody>
      </p:sp>
      <p:sp>
        <p:nvSpPr>
          <p:cNvPr id="1048819"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720" name=""/>
        <p:cNvGrpSpPr/>
        <p:nvPr/>
      </p:nvGrpSpPr>
      <p:grpSpPr>
        <a:xfrm>
          <a:off x="0" y="0"/>
          <a:ext cx="0" cy="0"/>
          <a:chOff x="0" y="0"/>
          <a:chExt cx="0" cy="0"/>
        </a:xfrm>
      </p:grpSpPr>
      <p:sp>
        <p:nvSpPr>
          <p:cNvPr id="1048820" name="Title 1"/>
          <p:cNvSpPr>
            <a:spLocks noGrp="1"/>
          </p:cNvSpPr>
          <p:nvPr>
            <p:ph type="title"/>
          </p:nvPr>
        </p:nvSpPr>
        <p:spPr/>
        <p:txBody>
          <a:bodyPr/>
          <a:p>
            <a:r>
              <a:rPr b="1" dirty="0" lang="en-US" smtClean="0">
                <a:solidFill>
                  <a:srgbClr val="0070C0"/>
                </a:solidFill>
              </a:rPr>
              <a:t>	 DIAGNOSTIC FACTORS</a:t>
            </a:r>
            <a:endParaRPr b="1" dirty="0" lang="en-US">
              <a:solidFill>
                <a:srgbClr val="0070C0"/>
              </a:solidFill>
            </a:endParaRPr>
          </a:p>
        </p:txBody>
      </p:sp>
      <p:sp>
        <p:nvSpPr>
          <p:cNvPr id="1048821" name="Content Placeholder 2"/>
          <p:cNvSpPr>
            <a:spLocks noGrp="1"/>
          </p:cNvSpPr>
          <p:nvPr>
            <p:ph sz="quarter" idx="1"/>
          </p:nvPr>
        </p:nvSpPr>
        <p:spPr>
          <a:xfrm>
            <a:off x="571501" y="1600200"/>
            <a:ext cx="9334500" cy="4873752"/>
          </a:xfrm>
        </p:spPr>
        <p:txBody>
          <a:bodyPr>
            <a:normAutofit/>
          </a:bodyPr>
          <a:p>
            <a:pPr algn="just" lvl="0"/>
            <a:r>
              <a:rPr dirty="0" sz="3200" lang="en-US" smtClean="0"/>
              <a:t>History, that is suggestive  of  excessive strain of the uterus, trauma.</a:t>
            </a:r>
          </a:p>
          <a:p>
            <a:pPr algn="just" lvl="0"/>
            <a:r>
              <a:rPr dirty="0" sz="3200" lang="en-US" smtClean="0"/>
              <a:t>Physical examination, for signs of vasoconstriction and  trauma abdomen.</a:t>
            </a:r>
          </a:p>
          <a:p>
            <a:pPr algn="just" lvl="0"/>
            <a:r>
              <a:rPr dirty="0" sz="3200" lang="en-US" smtClean="0"/>
              <a:t>Radiological examination, to confirm the;</a:t>
            </a:r>
          </a:p>
          <a:p>
            <a:pPr algn="just" lvl="0">
              <a:buFont typeface="Wingdings" pitchFamily="2" charset="2"/>
              <a:buChar char="Ø"/>
            </a:pPr>
            <a:r>
              <a:rPr dirty="0" sz="3200" lang="en-US" smtClean="0"/>
              <a:t> Site, hence R/o Placenta praevia.</a:t>
            </a:r>
          </a:p>
          <a:p>
            <a:pPr algn="just" lvl="0">
              <a:buFont typeface="Wingdings" pitchFamily="2" charset="2"/>
              <a:buChar char="Ø"/>
            </a:pPr>
            <a:r>
              <a:rPr dirty="0" sz="3200" lang="en-US" smtClean="0"/>
              <a:t>Extent of separation.</a:t>
            </a:r>
          </a:p>
          <a:p>
            <a:pPr algn="just">
              <a:buFont typeface="Wingdings" pitchFamily="2" charset="2"/>
              <a:buChar char="Ø"/>
            </a:pPr>
            <a:r>
              <a:rPr dirty="0" sz="3200" lang="en-US" smtClean="0"/>
              <a:t>Fate of the fetus.</a:t>
            </a:r>
          </a:p>
          <a:p>
            <a:pPr algn="just"/>
            <a:endParaRPr dirty="0" sz="3200" lang="en-US"/>
          </a:p>
        </p:txBody>
      </p:sp>
      <p:sp>
        <p:nvSpPr>
          <p:cNvPr id="1048822"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721" name=""/>
        <p:cNvGrpSpPr/>
        <p:nvPr/>
      </p:nvGrpSpPr>
      <p:grpSpPr>
        <a:xfrm>
          <a:off x="0" y="0"/>
          <a:ext cx="0" cy="0"/>
          <a:chOff x="0" y="0"/>
          <a:chExt cx="0" cy="0"/>
        </a:xfrm>
      </p:grpSpPr>
      <p:sp>
        <p:nvSpPr>
          <p:cNvPr id="1048823" name="Title 1"/>
          <p:cNvSpPr>
            <a:spLocks noGrp="1"/>
          </p:cNvSpPr>
          <p:nvPr>
            <p:ph type="title"/>
          </p:nvPr>
        </p:nvSpPr>
        <p:spPr>
          <a:xfrm>
            <a:off x="666750" y="228608"/>
            <a:ext cx="9239250" cy="1189039"/>
          </a:xfrm>
        </p:spPr>
        <p:txBody>
          <a:bodyPr>
            <a:normAutofit/>
          </a:bodyPr>
          <a:p>
            <a:r>
              <a:rPr b="1" dirty="0" sz="4800" lang="en-US" smtClean="0">
                <a:solidFill>
                  <a:srgbClr val="0070C0"/>
                </a:solidFill>
              </a:rPr>
              <a:t>SPECIFIC MANAGEMENT</a:t>
            </a:r>
            <a:endParaRPr b="1" dirty="0" lang="en-US">
              <a:solidFill>
                <a:srgbClr val="0070C0"/>
              </a:solidFill>
            </a:endParaRPr>
          </a:p>
        </p:txBody>
      </p:sp>
      <p:sp>
        <p:nvSpPr>
          <p:cNvPr id="1048824" name="Content Placeholder 2"/>
          <p:cNvSpPr>
            <a:spLocks noGrp="1"/>
          </p:cNvSpPr>
          <p:nvPr>
            <p:ph sz="quarter" idx="1"/>
          </p:nvPr>
        </p:nvSpPr>
        <p:spPr>
          <a:xfrm>
            <a:off x="304800" y="1447800"/>
            <a:ext cx="10515600" cy="4953001"/>
          </a:xfrm>
        </p:spPr>
        <p:txBody>
          <a:bodyPr>
            <a:normAutofit/>
          </a:bodyPr>
          <a:p>
            <a:pPr algn="just">
              <a:buNone/>
            </a:pPr>
            <a:r>
              <a:rPr b="1" dirty="0" sz="3200" lang="en-US" smtClean="0"/>
              <a:t>	</a:t>
            </a:r>
            <a:r>
              <a:rPr dirty="0" sz="3200" lang="en-US" smtClean="0"/>
              <a:t>Aims- To ensure life birth.</a:t>
            </a:r>
          </a:p>
          <a:p>
            <a:pPr algn="just">
              <a:buNone/>
            </a:pPr>
            <a:r>
              <a:rPr dirty="0" sz="3200" lang="en-US" smtClean="0"/>
              <a:t>             -Prevent postpartum haemorrhage = fatal.</a:t>
            </a:r>
          </a:p>
          <a:p>
            <a:pPr algn="just"/>
            <a:r>
              <a:rPr dirty="0" sz="3200" lang="en-US" smtClean="0"/>
              <a:t>Per vaginal bleeding prenatally is frightening to the mother and spouse or relative hence will seek help from the nearest health facility.</a:t>
            </a:r>
          </a:p>
          <a:p>
            <a:pPr algn="just"/>
            <a:r>
              <a:rPr dirty="0" sz="3200" lang="en-US" smtClean="0"/>
              <a:t> So caring attitude and confident of the service provider helps to allay anxiety.</a:t>
            </a:r>
          </a:p>
          <a:p>
            <a:pPr algn="just"/>
            <a:r>
              <a:rPr dirty="0" sz="3200" lang="en-US" smtClean="0"/>
              <a:t>Assess the situation quickly and resuscitate appropriately. </a:t>
            </a:r>
          </a:p>
          <a:p>
            <a:pPr algn="just"/>
            <a:r>
              <a:rPr dirty="0" sz="3200" lang="en-US" smtClean="0"/>
              <a:t>Meanwhile organize for hospital referral. </a:t>
            </a:r>
            <a:endParaRPr dirty="0" sz="3200" lang="en-US"/>
          </a:p>
        </p:txBody>
      </p:sp>
      <p:sp>
        <p:nvSpPr>
          <p:cNvPr id="1048825"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722" name=""/>
        <p:cNvGrpSpPr/>
        <p:nvPr/>
      </p:nvGrpSpPr>
      <p:grpSpPr>
        <a:xfrm>
          <a:off x="0" y="0"/>
          <a:ext cx="0" cy="0"/>
          <a:chOff x="0" y="0"/>
          <a:chExt cx="0" cy="0"/>
        </a:xfrm>
      </p:grpSpPr>
      <p:sp>
        <p:nvSpPr>
          <p:cNvPr id="1048826" name="Content Placeholder 2"/>
          <p:cNvSpPr>
            <a:spLocks noGrp="1"/>
          </p:cNvSpPr>
          <p:nvPr>
            <p:ph sz="quarter" idx="1"/>
          </p:nvPr>
        </p:nvSpPr>
        <p:spPr>
          <a:xfrm>
            <a:off x="571500" y="381000"/>
            <a:ext cx="10325100" cy="6019810"/>
          </a:xfrm>
        </p:spPr>
        <p:txBody>
          <a:bodyPr>
            <a:normAutofit/>
          </a:bodyPr>
          <a:p>
            <a:pPr algn="just"/>
            <a:r>
              <a:rPr dirty="0" sz="3200" lang="en-US" smtClean="0"/>
              <a:t>If in shock, commence intravenous infusion to support Circulation of the vital organs to include the placenta.</a:t>
            </a:r>
          </a:p>
          <a:p>
            <a:pPr algn="just"/>
            <a:r>
              <a:rPr dirty="0" sz="3200" lang="en-US" smtClean="0"/>
              <a:t> Maintain relatively warm.</a:t>
            </a:r>
          </a:p>
          <a:p>
            <a:pPr algn="just"/>
            <a:r>
              <a:rPr dirty="0" sz="3200" lang="en-US" smtClean="0"/>
              <a:t> Regularly monitor the progression of shock through either ¼ hrly or ½ hrly vital signs.</a:t>
            </a:r>
          </a:p>
          <a:p>
            <a:pPr algn="just"/>
            <a:r>
              <a:rPr dirty="0" sz="3200" lang="en-US" smtClean="0"/>
              <a:t>Monitor fetal heart sounds through a cardiotocograph machine, if not available ½hrly  using pinard fetalscope.</a:t>
            </a:r>
          </a:p>
          <a:p>
            <a:pPr algn="just"/>
            <a:r>
              <a:rPr dirty="0" sz="3200" lang="en-US" smtClean="0"/>
              <a:t> Administer analgesics appropriately. </a:t>
            </a:r>
          </a:p>
          <a:p>
            <a:pPr algn="just"/>
            <a:endParaRPr dirty="0" sz="3200" lang="en-US"/>
          </a:p>
        </p:txBody>
      </p:sp>
      <p:sp>
        <p:nvSpPr>
          <p:cNvPr id="1048827"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723" name=""/>
        <p:cNvGrpSpPr/>
        <p:nvPr/>
      </p:nvGrpSpPr>
      <p:grpSpPr>
        <a:xfrm>
          <a:off x="0" y="0"/>
          <a:ext cx="0" cy="0"/>
          <a:chOff x="0" y="0"/>
          <a:chExt cx="0" cy="0"/>
        </a:xfrm>
      </p:grpSpPr>
      <p:sp>
        <p:nvSpPr>
          <p:cNvPr id="1048828" name="Content Placeholder 2"/>
          <p:cNvSpPr>
            <a:spLocks noGrp="1"/>
          </p:cNvSpPr>
          <p:nvPr>
            <p:ph sz="quarter" idx="1"/>
          </p:nvPr>
        </p:nvSpPr>
        <p:spPr>
          <a:xfrm>
            <a:off x="571501" y="533400"/>
            <a:ext cx="9334500" cy="5940552"/>
          </a:xfrm>
        </p:spPr>
        <p:txBody>
          <a:bodyPr>
            <a:normAutofit/>
          </a:bodyPr>
          <a:p>
            <a:pPr algn="just"/>
            <a:r>
              <a:rPr dirty="0" sz="3200" lang="en-US" smtClean="0"/>
              <a:t>Not in shock, prevent it and refer her to a hospital for further management.</a:t>
            </a:r>
          </a:p>
          <a:p>
            <a:pPr algn="just"/>
            <a:r>
              <a:rPr dirty="0" sz="3200" lang="en-US" smtClean="0"/>
              <a:t>In hospital, immediately admit and reassess the condition through vital signs, F.H.S rate.</a:t>
            </a:r>
          </a:p>
          <a:p>
            <a:pPr algn="just"/>
            <a:r>
              <a:rPr dirty="0" sz="3200" lang="en-US" smtClean="0"/>
              <a:t>Physical exam findings, particularly on abdominal examination &amp; the inspection of the loss.</a:t>
            </a:r>
          </a:p>
          <a:p>
            <a:pPr algn="just"/>
            <a:r>
              <a:rPr dirty="0" sz="3200" lang="en-US" smtClean="0"/>
              <a:t>Review the referral note as well, to avoid unnecessary interventions.</a:t>
            </a:r>
          </a:p>
          <a:p>
            <a:pPr algn="just"/>
            <a:endParaRPr dirty="0" sz="3200" lang="en-US"/>
          </a:p>
        </p:txBody>
      </p:sp>
      <p:sp>
        <p:nvSpPr>
          <p:cNvPr id="1048829"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724" name=""/>
        <p:cNvGrpSpPr/>
        <p:nvPr/>
      </p:nvGrpSpPr>
      <p:grpSpPr>
        <a:xfrm>
          <a:off x="0" y="0"/>
          <a:ext cx="0" cy="0"/>
          <a:chOff x="0" y="0"/>
          <a:chExt cx="0" cy="0"/>
        </a:xfrm>
      </p:grpSpPr>
      <p:sp>
        <p:nvSpPr>
          <p:cNvPr id="1048830" name="Content Placeholder 2"/>
          <p:cNvSpPr>
            <a:spLocks noGrp="1"/>
          </p:cNvSpPr>
          <p:nvPr>
            <p:ph sz="quarter" idx="1"/>
          </p:nvPr>
        </p:nvSpPr>
        <p:spPr>
          <a:xfrm>
            <a:off x="285750" y="381001"/>
            <a:ext cx="10858500" cy="6019800"/>
          </a:xfrm>
        </p:spPr>
        <p:txBody>
          <a:bodyPr>
            <a:normAutofit/>
          </a:bodyPr>
          <a:p>
            <a:r>
              <a:rPr dirty="0" sz="3500" lang="en-US" smtClean="0"/>
              <a:t>Inform doctor immediately and continue resuscitative measures if still in shock.</a:t>
            </a:r>
          </a:p>
          <a:p>
            <a:r>
              <a:rPr dirty="0" sz="3500" lang="en-US" smtClean="0"/>
              <a:t>Administer analgesics such as pethidine 100mg 1.m stat or morphine 15mg stat, if fetal condition is satisfactory or  dead.</a:t>
            </a:r>
          </a:p>
          <a:p>
            <a:r>
              <a:rPr dirty="0" sz="3500" lang="en-US" smtClean="0"/>
              <a:t>Investigate through= Grouping &amp; cross match if not done earlier.</a:t>
            </a:r>
            <a:r>
              <a:rPr b="1" dirty="0" sz="3600" lang="en-US" smtClean="0">
                <a:solidFill>
                  <a:srgbClr val="C00000"/>
                </a:solidFill>
              </a:rPr>
              <a:t> </a:t>
            </a:r>
            <a:endParaRPr dirty="0" sz="3500" lang="en-US" smtClean="0"/>
          </a:p>
          <a:p>
            <a:pPr>
              <a:buFont typeface="Wingdings" pitchFamily="2" charset="2"/>
              <a:buChar char="Ø"/>
            </a:pPr>
            <a:r>
              <a:rPr dirty="0" sz="3500" lang="en-US" smtClean="0"/>
              <a:t>Clotting profile.           </a:t>
            </a:r>
          </a:p>
          <a:p>
            <a:pPr>
              <a:buFont typeface="Wingdings" pitchFamily="2" charset="2"/>
              <a:buChar char="Ø"/>
            </a:pPr>
            <a:r>
              <a:rPr dirty="0" sz="3500" lang="en-US" smtClean="0"/>
              <a:t>Full haemogram.</a:t>
            </a:r>
          </a:p>
          <a:p>
            <a:pPr>
              <a:buFont typeface="Wingdings" pitchFamily="2" charset="2"/>
              <a:buChar char="Ø"/>
            </a:pPr>
            <a:r>
              <a:rPr dirty="0" sz="3500" lang="en-US" smtClean="0"/>
              <a:t> Urea &amp; electrolyte balance to evaluate renal functions</a:t>
            </a:r>
          </a:p>
          <a:p>
            <a:endParaRPr dirty="0" lang="en-US"/>
          </a:p>
        </p:txBody>
      </p:sp>
      <p:sp>
        <p:nvSpPr>
          <p:cNvPr id="1048831"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725" name=""/>
        <p:cNvGrpSpPr/>
        <p:nvPr/>
      </p:nvGrpSpPr>
      <p:grpSpPr>
        <a:xfrm>
          <a:off x="0" y="0"/>
          <a:ext cx="0" cy="0"/>
          <a:chOff x="0" y="0"/>
          <a:chExt cx="0" cy="0"/>
        </a:xfrm>
      </p:grpSpPr>
      <p:sp>
        <p:nvSpPr>
          <p:cNvPr id="1048832" name="Content Placeholder 2"/>
          <p:cNvSpPr>
            <a:spLocks noGrp="1"/>
          </p:cNvSpPr>
          <p:nvPr>
            <p:ph sz="quarter" idx="1"/>
          </p:nvPr>
        </p:nvSpPr>
        <p:spPr>
          <a:xfrm>
            <a:off x="571500" y="304801"/>
            <a:ext cx="10287000" cy="6400800"/>
          </a:xfrm>
        </p:spPr>
        <p:txBody>
          <a:bodyPr>
            <a:normAutofit/>
          </a:bodyPr>
          <a:p>
            <a:pPr algn="just"/>
            <a:r>
              <a:rPr dirty="0" sz="3200" lang="en-US" smtClean="0"/>
              <a:t>Administer plasma expanders e.g. haemacel, awaiting blood for transfusion to be available and safe. Transfuse as soon as it’s safe and available.</a:t>
            </a:r>
          </a:p>
          <a:p>
            <a:pPr algn="just">
              <a:buNone/>
            </a:pPr>
            <a:r>
              <a:rPr b="1" dirty="0" sz="3200" lang="en-US" smtClean="0">
                <a:solidFill>
                  <a:schemeClr val="accent5"/>
                </a:solidFill>
              </a:rPr>
              <a:t>NB</a:t>
            </a:r>
            <a:r>
              <a:rPr dirty="0" sz="3200" lang="en-US" smtClean="0"/>
              <a:t>. Haemacel is preferred because it doesn’t interfere with platelets function and  it also improves renal function.</a:t>
            </a:r>
          </a:p>
          <a:p>
            <a:pPr algn="just"/>
            <a:r>
              <a:rPr dirty="0" sz="3200" lang="en-US" smtClean="0"/>
              <a:t>Regularly maintain records of observation in order to evaluate the progress.</a:t>
            </a:r>
          </a:p>
          <a:p>
            <a:pPr algn="just">
              <a:buFont typeface="Wingdings" pitchFamily="2" charset="2"/>
              <a:buChar char="Ø"/>
            </a:pPr>
            <a:r>
              <a:rPr dirty="0" sz="3200" lang="en-US" smtClean="0"/>
              <a:t>Records are of: vital sign, fetal condition, blood loss, state of shock, treatment given, urinalysis findings &amp; abdominal examination findings.</a:t>
            </a:r>
          </a:p>
          <a:p>
            <a:pPr algn="just">
              <a:buFont typeface="Wingdings" pitchFamily="2" charset="2"/>
              <a:buChar char="v"/>
            </a:pPr>
            <a:r>
              <a:rPr dirty="0" sz="3200" lang="en-US" smtClean="0"/>
              <a:t>Generally consult as necessary.</a:t>
            </a:r>
          </a:p>
          <a:p>
            <a:pPr algn="just"/>
            <a:endParaRPr dirty="0" sz="3200" lang="en-US"/>
          </a:p>
        </p:txBody>
      </p:sp>
      <p:sp>
        <p:nvSpPr>
          <p:cNvPr id="1048833"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726" name=""/>
        <p:cNvGrpSpPr/>
        <p:nvPr/>
      </p:nvGrpSpPr>
      <p:grpSpPr>
        <a:xfrm>
          <a:off x="0" y="0"/>
          <a:ext cx="0" cy="0"/>
          <a:chOff x="0" y="0"/>
          <a:chExt cx="0" cy="0"/>
        </a:xfrm>
      </p:grpSpPr>
      <p:sp>
        <p:nvSpPr>
          <p:cNvPr id="1048834" name="Content Placeholder 2"/>
          <p:cNvSpPr>
            <a:spLocks noGrp="1"/>
          </p:cNvSpPr>
          <p:nvPr>
            <p:ph sz="quarter" idx="1"/>
          </p:nvPr>
        </p:nvSpPr>
        <p:spPr>
          <a:xfrm>
            <a:off x="476250" y="228600"/>
            <a:ext cx="9429750" cy="6245352"/>
          </a:xfrm>
        </p:spPr>
        <p:txBody>
          <a:bodyPr>
            <a:normAutofit/>
          </a:bodyPr>
          <a:p>
            <a:pPr algn="just"/>
            <a:r>
              <a:rPr dirty="0" sz="3200" lang="en-US" smtClean="0"/>
              <a:t>Test all urine specimens for protenuria and its presence indicate tubular necrosis indicating renal failure. </a:t>
            </a:r>
          </a:p>
          <a:p>
            <a:pPr algn="just"/>
            <a:r>
              <a:rPr dirty="0" sz="3200" lang="en-US" smtClean="0"/>
              <a:t>Maintain high standards of hygiene hence prevent infection.</a:t>
            </a:r>
          </a:p>
          <a:p>
            <a:pPr algn="just"/>
            <a:r>
              <a:rPr dirty="0" sz="3200" lang="en-US" smtClean="0"/>
              <a:t>Encourage a well balanced diet, to meet her daily requirements and that of the fetus.</a:t>
            </a:r>
          </a:p>
          <a:p>
            <a:pPr algn="just"/>
            <a:r>
              <a:rPr dirty="0" sz="3200" lang="en-US" smtClean="0"/>
              <a:t>Offer psychological support to her and close relative in order to allay anxiety.</a:t>
            </a:r>
          </a:p>
          <a:p>
            <a:pPr algn="just"/>
            <a:endParaRPr dirty="0" sz="3200" lang="en-US"/>
          </a:p>
        </p:txBody>
      </p:sp>
      <p:sp>
        <p:nvSpPr>
          <p:cNvPr id="1048835"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727" name=""/>
        <p:cNvGrpSpPr/>
        <p:nvPr/>
      </p:nvGrpSpPr>
      <p:grpSpPr>
        <a:xfrm>
          <a:off x="0" y="0"/>
          <a:ext cx="0" cy="0"/>
          <a:chOff x="0" y="0"/>
          <a:chExt cx="0" cy="0"/>
        </a:xfrm>
      </p:grpSpPr>
      <p:sp>
        <p:nvSpPr>
          <p:cNvPr id="1048836" name="Content Placeholder 2"/>
          <p:cNvSpPr>
            <a:spLocks noGrp="1"/>
          </p:cNvSpPr>
          <p:nvPr>
            <p:ph sz="quarter" idx="1"/>
          </p:nvPr>
        </p:nvSpPr>
        <p:spPr>
          <a:xfrm>
            <a:off x="381000" y="152400"/>
            <a:ext cx="9525000" cy="6321552"/>
          </a:xfrm>
        </p:spPr>
        <p:txBody>
          <a:bodyPr>
            <a:normAutofit/>
          </a:bodyPr>
          <a:p>
            <a:pPr algn="just"/>
            <a:r>
              <a:rPr dirty="0" sz="3200" lang="en-US" smtClean="0"/>
              <a:t>As the condition gets stabilized prepare her for ultrasound to confirm the diagnosis, state of the fetus and degree of separation.</a:t>
            </a:r>
          </a:p>
          <a:p>
            <a:pPr algn="just"/>
            <a:r>
              <a:rPr dirty="0" sz="3200" lang="en-US" smtClean="0"/>
              <a:t>The actual care depends on the extent of separation as follows:</a:t>
            </a:r>
          </a:p>
          <a:p>
            <a:pPr algn="just">
              <a:buNone/>
            </a:pPr>
            <a:r>
              <a:rPr b="1" dirty="0" sz="3200" i="1" lang="en-US" u="sng" smtClean="0"/>
              <a:t>	1. Mild: Slight Separation Less Than A Quarter</a:t>
            </a:r>
            <a:r>
              <a:rPr dirty="0" sz="3200" lang="en-US" smtClean="0"/>
              <a:t>.</a:t>
            </a:r>
          </a:p>
          <a:p>
            <a:pPr algn="just"/>
            <a:r>
              <a:rPr dirty="0" sz="3200" lang="en-US" smtClean="0"/>
              <a:t>Fetal, maternal conditions are good and uterus normal in consistency.</a:t>
            </a:r>
          </a:p>
          <a:p>
            <a:pPr algn="just"/>
            <a:r>
              <a:rPr dirty="0" sz="3200" lang="en-US" smtClean="0"/>
              <a:t> So care is basically conservative in nature.</a:t>
            </a:r>
          </a:p>
          <a:p>
            <a:pPr algn="just"/>
            <a:endParaRPr dirty="0" sz="3200" lang="en-US" smtClean="0"/>
          </a:p>
          <a:p>
            <a:pPr algn="just"/>
            <a:endParaRPr dirty="0" sz="3200" lang="en-US"/>
          </a:p>
        </p:txBody>
      </p:sp>
      <p:sp>
        <p:nvSpPr>
          <p:cNvPr id="1048837"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728" name=""/>
        <p:cNvGrpSpPr/>
        <p:nvPr/>
      </p:nvGrpSpPr>
      <p:grpSpPr>
        <a:xfrm>
          <a:off x="0" y="0"/>
          <a:ext cx="0" cy="0"/>
          <a:chOff x="0" y="0"/>
          <a:chExt cx="0" cy="0"/>
        </a:xfrm>
      </p:grpSpPr>
      <p:sp>
        <p:nvSpPr>
          <p:cNvPr id="1048838" name="Content Placeholder 2"/>
          <p:cNvSpPr>
            <a:spLocks noGrp="1"/>
          </p:cNvSpPr>
          <p:nvPr>
            <p:ph sz="quarter" idx="1"/>
          </p:nvPr>
        </p:nvSpPr>
        <p:spPr>
          <a:xfrm>
            <a:off x="285750" y="304800"/>
            <a:ext cx="9620250" cy="6169152"/>
          </a:xfrm>
        </p:spPr>
        <p:txBody>
          <a:bodyPr>
            <a:normAutofit/>
          </a:bodyPr>
          <a:p>
            <a:pPr algn="just">
              <a:buNone/>
            </a:pPr>
            <a:r>
              <a:rPr dirty="0" sz="3200" lang="en-US" smtClean="0"/>
              <a:t>	Therefore instruct the patient to:-</a:t>
            </a:r>
          </a:p>
          <a:p>
            <a:pPr algn="just" lvl="0"/>
            <a:r>
              <a:rPr dirty="0" sz="3200" lang="en-US" smtClean="0"/>
              <a:t>Maintain relative bed rest hence improve blood supply to the placental bed &amp; kidneys.</a:t>
            </a:r>
          </a:p>
          <a:p>
            <a:pPr algn="just" lvl="0"/>
            <a:r>
              <a:rPr dirty="0" sz="3200" lang="en-US" smtClean="0"/>
              <a:t>Maintain a fetal kick chart and report when they  are either less or excessive. </a:t>
            </a:r>
          </a:p>
          <a:p>
            <a:pPr algn="just" lvl="0"/>
            <a:r>
              <a:rPr dirty="0" sz="3200" lang="en-US" smtClean="0"/>
              <a:t>Well balanced diet, but for hypertensive  to have low salt.</a:t>
            </a:r>
          </a:p>
          <a:p>
            <a:pPr algn="just" lvl="0"/>
            <a:r>
              <a:rPr dirty="0" sz="3200" lang="en-US" smtClean="0"/>
              <a:t>Maintain high standards of hygiene and safe used towels.</a:t>
            </a:r>
          </a:p>
          <a:p>
            <a:pPr algn="just"/>
            <a:endParaRPr dirty="0" sz="3200" lang="en-US"/>
          </a:p>
        </p:txBody>
      </p:sp>
      <p:sp>
        <p:nvSpPr>
          <p:cNvPr id="1048839"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729" name=""/>
        <p:cNvGrpSpPr/>
        <p:nvPr/>
      </p:nvGrpSpPr>
      <p:grpSpPr>
        <a:xfrm>
          <a:off x="0" y="0"/>
          <a:ext cx="0" cy="0"/>
          <a:chOff x="0" y="0"/>
          <a:chExt cx="0" cy="0"/>
        </a:xfrm>
      </p:grpSpPr>
      <p:sp>
        <p:nvSpPr>
          <p:cNvPr id="1048840" name="Content Placeholder 2"/>
          <p:cNvSpPr>
            <a:spLocks noGrp="1"/>
          </p:cNvSpPr>
          <p:nvPr>
            <p:ph sz="quarter" idx="1"/>
          </p:nvPr>
        </p:nvSpPr>
        <p:spPr>
          <a:xfrm>
            <a:off x="285750" y="304809"/>
            <a:ext cx="10572750" cy="6400799"/>
          </a:xfrm>
        </p:spPr>
        <p:txBody>
          <a:bodyPr>
            <a:normAutofit/>
          </a:bodyPr>
          <a:p>
            <a:pPr algn="just"/>
            <a:r>
              <a:rPr dirty="0" sz="3200" lang="en-US" smtClean="0"/>
              <a:t>Regularly interact to allay anxiety.</a:t>
            </a:r>
          </a:p>
          <a:p>
            <a:pPr algn="just"/>
            <a:r>
              <a:rPr dirty="0" sz="3200" lang="en-US" smtClean="0"/>
              <a:t>Perform daily evaluation of her condition through physical examination and interview to determine progression.</a:t>
            </a:r>
          </a:p>
          <a:p>
            <a:pPr algn="just">
              <a:buNone/>
            </a:pPr>
            <a:r>
              <a:rPr b="1" dirty="0" sz="3200" lang="en-US" smtClean="0">
                <a:solidFill>
                  <a:schemeClr val="accent5"/>
                </a:solidFill>
              </a:rPr>
              <a:t>NB </a:t>
            </a:r>
            <a:r>
              <a:rPr b="1" dirty="0" sz="3200" lang="en-US" smtClean="0"/>
              <a:t>:</a:t>
            </a:r>
            <a:r>
              <a:rPr dirty="0" sz="3200" lang="en-US" smtClean="0"/>
              <a:t>These measures are meant to prolong pregnancy to term.</a:t>
            </a:r>
          </a:p>
          <a:p>
            <a:pPr algn="just" lvl="0">
              <a:buNone/>
            </a:pPr>
            <a:r>
              <a:rPr dirty="0" sz="3200" i="1" lang="en-US" smtClean="0"/>
              <a:t>	</a:t>
            </a:r>
            <a:r>
              <a:rPr dirty="0" sz="3200" i="1" lang="en-US" u="sng" smtClean="0"/>
              <a:t>At term</a:t>
            </a:r>
          </a:p>
          <a:p>
            <a:pPr algn="just"/>
            <a:r>
              <a:rPr dirty="0" sz="3200" lang="en-US" smtClean="0"/>
              <a:t>Spontaneous labour is expected to occur by the 40</a:t>
            </a:r>
            <a:r>
              <a:rPr baseline="30000" dirty="0" sz="3200" lang="en-US" smtClean="0"/>
              <a:t>th</a:t>
            </a:r>
            <a:r>
              <a:rPr dirty="0" sz="3200" lang="en-US" smtClean="0"/>
              <a:t> week.</a:t>
            </a:r>
          </a:p>
          <a:p>
            <a:pPr algn="just"/>
            <a:r>
              <a:rPr dirty="0" sz="3200" lang="en-US" smtClean="0"/>
              <a:t>If not, then induction is indicated because post-datism endangers  fetal life.</a:t>
            </a:r>
          </a:p>
          <a:p>
            <a:pPr algn="just"/>
            <a:endParaRPr dirty="0" sz="3200" lang="en-US" smtClean="0"/>
          </a:p>
          <a:p>
            <a:pPr algn="just"/>
            <a:endParaRPr dirty="0" sz="3200" lang="en-US"/>
          </a:p>
        </p:txBody>
      </p:sp>
      <p:sp>
        <p:nvSpPr>
          <p:cNvPr id="1048841"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730" name=""/>
        <p:cNvGrpSpPr/>
        <p:nvPr/>
      </p:nvGrpSpPr>
      <p:grpSpPr>
        <a:xfrm>
          <a:off x="0" y="0"/>
          <a:ext cx="0" cy="0"/>
          <a:chOff x="0" y="0"/>
          <a:chExt cx="0" cy="0"/>
        </a:xfrm>
      </p:grpSpPr>
      <p:sp>
        <p:nvSpPr>
          <p:cNvPr id="1048842" name="Content Placeholder 2"/>
          <p:cNvSpPr>
            <a:spLocks noGrp="1"/>
          </p:cNvSpPr>
          <p:nvPr>
            <p:ph sz="quarter" idx="1"/>
          </p:nvPr>
        </p:nvSpPr>
        <p:spPr>
          <a:xfrm>
            <a:off x="381000" y="228600"/>
            <a:ext cx="9525000" cy="6245352"/>
          </a:xfrm>
        </p:spPr>
        <p:txBody>
          <a:bodyPr>
            <a:normAutofit/>
          </a:bodyPr>
          <a:p>
            <a:pPr algn="just" lvl="0"/>
            <a:r>
              <a:rPr dirty="0" sz="3200" lang="en-US" smtClean="0"/>
              <a:t>First stage: Nothing unusual.</a:t>
            </a:r>
          </a:p>
          <a:p>
            <a:pPr algn="just" lvl="0"/>
            <a:r>
              <a:rPr dirty="0" sz="3200" lang="en-US" smtClean="0"/>
              <a:t>2</a:t>
            </a:r>
            <a:r>
              <a:rPr baseline="30000" dirty="0" sz="3200" lang="en-US" smtClean="0"/>
              <a:t>nd</a:t>
            </a:r>
            <a:r>
              <a:rPr dirty="0" sz="3200" lang="en-US" smtClean="0"/>
              <a:t> stage:- Prepare to receive an asphyxiated baby.</a:t>
            </a:r>
          </a:p>
          <a:p>
            <a:pPr algn="just" lvl="0"/>
            <a:r>
              <a:rPr dirty="0" sz="3200" lang="en-US" smtClean="0"/>
              <a:t>3</a:t>
            </a:r>
            <a:r>
              <a:rPr baseline="30000" dirty="0" sz="3200" lang="en-US" smtClean="0"/>
              <a:t>rd</a:t>
            </a:r>
            <a:r>
              <a:rPr dirty="0" sz="3200" lang="en-US" smtClean="0"/>
              <a:t> stage:- Be ready to handle PPH, because living ligature action is already interfered with.</a:t>
            </a:r>
          </a:p>
          <a:p>
            <a:pPr algn="just"/>
            <a:r>
              <a:rPr dirty="0" sz="3200" lang="en-US" smtClean="0"/>
              <a:t>Thereafter continue  synitocinon drip for at least 2 hours, to have uterus well contracted hence control bleeding.</a:t>
            </a:r>
          </a:p>
          <a:p>
            <a:pPr algn="just"/>
            <a:endParaRPr dirty="0" sz="3200" lang="en-US"/>
          </a:p>
        </p:txBody>
      </p:sp>
      <p:sp>
        <p:nvSpPr>
          <p:cNvPr id="1048843"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731" name=""/>
        <p:cNvGrpSpPr/>
        <p:nvPr/>
      </p:nvGrpSpPr>
      <p:grpSpPr>
        <a:xfrm>
          <a:off x="0" y="0"/>
          <a:ext cx="0" cy="0"/>
          <a:chOff x="0" y="0"/>
          <a:chExt cx="0" cy="0"/>
        </a:xfrm>
      </p:grpSpPr>
      <p:sp>
        <p:nvSpPr>
          <p:cNvPr id="1048844" name="Content Placeholder 2"/>
          <p:cNvSpPr>
            <a:spLocks noGrp="1"/>
          </p:cNvSpPr>
          <p:nvPr>
            <p:ph sz="quarter" idx="1"/>
          </p:nvPr>
        </p:nvSpPr>
        <p:spPr>
          <a:xfrm>
            <a:off x="571501" y="152400"/>
            <a:ext cx="9334500" cy="6321552"/>
          </a:xfrm>
        </p:spPr>
        <p:txBody>
          <a:bodyPr>
            <a:normAutofit/>
          </a:bodyPr>
          <a:p>
            <a:pPr>
              <a:buNone/>
            </a:pPr>
            <a:r>
              <a:rPr b="1" dirty="0" sz="3600" i="1" lang="en-US" u="sng" smtClean="0"/>
              <a:t>2.Moderate:separation Is ≈1/4≈ 1 L Of Blood Loss</a:t>
            </a:r>
          </a:p>
          <a:p>
            <a:r>
              <a:rPr dirty="0" sz="3600" lang="en-US" smtClean="0"/>
              <a:t>Patient will present with signs of shock though not profound.</a:t>
            </a:r>
          </a:p>
          <a:p>
            <a:r>
              <a:rPr dirty="0" sz="3600" lang="en-US" smtClean="0"/>
              <a:t>Tenderness &amp; muscle guarding on palpation, as well as fetal hypoxia.</a:t>
            </a:r>
          </a:p>
          <a:p>
            <a:r>
              <a:rPr dirty="0" sz="3600" lang="en-US" smtClean="0"/>
              <a:t>So active care should be instituted immediately and it includes:-</a:t>
            </a:r>
          </a:p>
          <a:p>
            <a:endParaRPr dirty="0" sz="3600" lang="en-US"/>
          </a:p>
        </p:txBody>
      </p:sp>
      <p:sp>
        <p:nvSpPr>
          <p:cNvPr id="1048845"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732" name=""/>
        <p:cNvGrpSpPr/>
        <p:nvPr/>
      </p:nvGrpSpPr>
      <p:grpSpPr>
        <a:xfrm>
          <a:off x="0" y="0"/>
          <a:ext cx="0" cy="0"/>
          <a:chOff x="0" y="0"/>
          <a:chExt cx="0" cy="0"/>
        </a:xfrm>
      </p:grpSpPr>
      <p:sp>
        <p:nvSpPr>
          <p:cNvPr id="1048846" name="Content Placeholder 2"/>
          <p:cNvSpPr>
            <a:spLocks noGrp="1"/>
          </p:cNvSpPr>
          <p:nvPr>
            <p:ph sz="quarter" idx="1"/>
          </p:nvPr>
        </p:nvSpPr>
        <p:spPr>
          <a:xfrm>
            <a:off x="285750" y="304800"/>
            <a:ext cx="9620250" cy="6169152"/>
          </a:xfrm>
        </p:spPr>
        <p:txBody>
          <a:bodyPr>
            <a:normAutofit/>
          </a:bodyPr>
          <a:p>
            <a:pPr lvl="0"/>
            <a:r>
              <a:rPr dirty="0" sz="3200" lang="en-US" smtClean="0"/>
              <a:t>P lasma expanders to reduce the degree of shock.</a:t>
            </a:r>
          </a:p>
          <a:p>
            <a:pPr lvl="0"/>
            <a:r>
              <a:rPr dirty="0" sz="3200" lang="en-US" smtClean="0"/>
              <a:t>Transfuse blood PRN.</a:t>
            </a:r>
          </a:p>
          <a:p>
            <a:pPr lvl="0"/>
            <a:r>
              <a:rPr dirty="0" sz="3200" lang="en-US" smtClean="0"/>
              <a:t>Closely monitor maternal and fetal  condition.</a:t>
            </a:r>
          </a:p>
          <a:p>
            <a:pPr lvl="0"/>
            <a:r>
              <a:rPr dirty="0" sz="3200" lang="en-US" smtClean="0"/>
              <a:t>Prepare for emergency caesarean section and cross match at least 3 units.</a:t>
            </a:r>
          </a:p>
          <a:p>
            <a:pPr lvl="0"/>
            <a:r>
              <a:rPr dirty="0" sz="3200" lang="en-US" smtClean="0"/>
              <a:t>Be ready to resuscitate the new born and thereafter transfer to NBU for continuity of care.</a:t>
            </a:r>
          </a:p>
          <a:p>
            <a:endParaRPr dirty="0" sz="3200" lang="en-US"/>
          </a:p>
        </p:txBody>
      </p:sp>
      <p:sp>
        <p:nvSpPr>
          <p:cNvPr id="1048847"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733" name=""/>
        <p:cNvGrpSpPr/>
        <p:nvPr/>
      </p:nvGrpSpPr>
      <p:grpSpPr>
        <a:xfrm>
          <a:off x="0" y="0"/>
          <a:ext cx="0" cy="0"/>
          <a:chOff x="0" y="0"/>
          <a:chExt cx="0" cy="0"/>
        </a:xfrm>
      </p:grpSpPr>
      <p:sp>
        <p:nvSpPr>
          <p:cNvPr id="1048848" name="Content Placeholder 2"/>
          <p:cNvSpPr>
            <a:spLocks noGrp="1"/>
          </p:cNvSpPr>
          <p:nvPr>
            <p:ph sz="quarter" idx="1"/>
          </p:nvPr>
        </p:nvSpPr>
        <p:spPr>
          <a:xfrm>
            <a:off x="571501" y="304800"/>
            <a:ext cx="9334500" cy="6169152"/>
          </a:xfrm>
        </p:spPr>
        <p:txBody>
          <a:bodyPr>
            <a:normAutofit/>
          </a:bodyPr>
          <a:p>
            <a:pPr algn="just"/>
            <a:r>
              <a:rPr dirty="0" sz="3600" lang="en-US" smtClean="0"/>
              <a:t> For confirmed intrauterine fetus death  and  maternal condition is stable, thoroughly explain the situation.</a:t>
            </a:r>
          </a:p>
          <a:p>
            <a:pPr algn="just"/>
            <a:r>
              <a:rPr dirty="0" sz="3600" lang="en-US" smtClean="0"/>
              <a:t>Labour is induced if all other factors are favourable.</a:t>
            </a:r>
          </a:p>
          <a:p>
            <a:pPr algn="just"/>
            <a:r>
              <a:rPr dirty="0" sz="3600" lang="en-US" smtClean="0"/>
              <a:t>Get ready to actively control haemorrhage during and after 3</a:t>
            </a:r>
            <a:r>
              <a:rPr baseline="30000" dirty="0" sz="3600" lang="en-US" smtClean="0"/>
              <a:t>rd</a:t>
            </a:r>
            <a:r>
              <a:rPr dirty="0" sz="3600" lang="en-US" smtClean="0"/>
              <a:t> stage.</a:t>
            </a:r>
          </a:p>
          <a:p>
            <a:pPr algn="just"/>
            <a:endParaRPr dirty="0" sz="3600" lang="en-US"/>
          </a:p>
        </p:txBody>
      </p:sp>
      <p:sp>
        <p:nvSpPr>
          <p:cNvPr id="1048849"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734" name=""/>
        <p:cNvGrpSpPr/>
        <p:nvPr/>
      </p:nvGrpSpPr>
      <p:grpSpPr>
        <a:xfrm>
          <a:off x="0" y="0"/>
          <a:ext cx="0" cy="0"/>
          <a:chOff x="0" y="0"/>
          <a:chExt cx="0" cy="0"/>
        </a:xfrm>
      </p:grpSpPr>
      <p:sp>
        <p:nvSpPr>
          <p:cNvPr id="1048850" name="Content Placeholder 2"/>
          <p:cNvSpPr>
            <a:spLocks noGrp="1"/>
          </p:cNvSpPr>
          <p:nvPr>
            <p:ph sz="quarter" idx="1"/>
          </p:nvPr>
        </p:nvSpPr>
        <p:spPr>
          <a:xfrm>
            <a:off x="285750" y="152403"/>
            <a:ext cx="10572750" cy="6553201"/>
          </a:xfrm>
        </p:spPr>
        <p:txBody>
          <a:bodyPr>
            <a:normAutofit/>
          </a:bodyPr>
          <a:p>
            <a:pPr>
              <a:buNone/>
            </a:pPr>
            <a:r>
              <a:rPr dirty="0" sz="3200" i="1" lang="en-US" smtClean="0"/>
              <a:t>	</a:t>
            </a:r>
            <a:r>
              <a:rPr b="1" dirty="0" sz="3200" i="1" lang="en-US" u="sng" smtClean="0"/>
              <a:t>3.Severe≈ 2/3 of separation have occurred, hence  about 2 litres or more of blood loss.</a:t>
            </a:r>
          </a:p>
          <a:p>
            <a:r>
              <a:rPr dirty="0" sz="3200" lang="en-US" smtClean="0"/>
              <a:t>This is an acute obstetrical emergency; since mother’s life is in great danger.</a:t>
            </a:r>
          </a:p>
          <a:p>
            <a:r>
              <a:rPr dirty="0" sz="3200" lang="en-US" smtClean="0"/>
              <a:t>Most or all the blood may be concealed hence she presents with:-</a:t>
            </a:r>
          </a:p>
          <a:p>
            <a:pPr lvl="0"/>
            <a:r>
              <a:rPr dirty="0" sz="3200" lang="en-US" smtClean="0"/>
              <a:t>Severe state of shock, beyond the expectation per visible loss.</a:t>
            </a:r>
          </a:p>
          <a:p>
            <a:r>
              <a:rPr dirty="0" sz="3200" lang="en-US" smtClean="0"/>
              <a:t>Severe abdominal pain, excruciating in nature and accompanied by tenderness.</a:t>
            </a:r>
          </a:p>
          <a:p>
            <a:pPr lvl="0"/>
            <a:endParaRPr dirty="0" sz="3200" lang="en-US" smtClean="0"/>
          </a:p>
          <a:p>
            <a:endParaRPr dirty="0" sz="3200" lang="en-US" smtClean="0"/>
          </a:p>
          <a:p>
            <a:endParaRPr dirty="0" sz="3200" lang="en-US"/>
          </a:p>
        </p:txBody>
      </p:sp>
      <p:sp>
        <p:nvSpPr>
          <p:cNvPr id="1048851"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735" name=""/>
        <p:cNvGrpSpPr/>
        <p:nvPr/>
      </p:nvGrpSpPr>
      <p:grpSpPr>
        <a:xfrm>
          <a:off x="0" y="0"/>
          <a:ext cx="0" cy="0"/>
          <a:chOff x="0" y="0"/>
          <a:chExt cx="0" cy="0"/>
        </a:xfrm>
      </p:grpSpPr>
      <p:sp>
        <p:nvSpPr>
          <p:cNvPr id="1048852" name="Content Placeholder 2"/>
          <p:cNvSpPr>
            <a:spLocks noGrp="1"/>
          </p:cNvSpPr>
          <p:nvPr>
            <p:ph sz="quarter" idx="1"/>
          </p:nvPr>
        </p:nvSpPr>
        <p:spPr>
          <a:xfrm>
            <a:off x="190500" y="304800"/>
            <a:ext cx="9715500" cy="6169152"/>
          </a:xfrm>
        </p:spPr>
        <p:txBody>
          <a:bodyPr>
            <a:normAutofit/>
          </a:bodyPr>
          <a:p>
            <a:pPr algn="just" lvl="0"/>
            <a:r>
              <a:rPr dirty="0" sz="3200" lang="en-US" smtClean="0"/>
              <a:t>Fetus is dead in most cases, if not , then is severely hypoxic.</a:t>
            </a:r>
          </a:p>
          <a:p>
            <a:pPr algn="just" lvl="0"/>
            <a:r>
              <a:rPr dirty="0" sz="3200" lang="en-US" smtClean="0"/>
              <a:t>Uterus has a woody or board- like consistency.</a:t>
            </a:r>
          </a:p>
          <a:p>
            <a:pPr algn="just" lvl="0"/>
            <a:r>
              <a:rPr dirty="0" sz="3200" lang="en-US" smtClean="0"/>
              <a:t>Coagulation defect and signs of  renal failure are present, indicating severe haemorrhage.</a:t>
            </a:r>
          </a:p>
          <a:p>
            <a:pPr algn="just"/>
            <a:r>
              <a:rPr dirty="0" sz="3200" lang="en-US" smtClean="0"/>
              <a:t>Cross match several units i.e. 5 &amp; above   in preparation for transfusion.</a:t>
            </a:r>
          </a:p>
          <a:p>
            <a:pPr algn="just"/>
            <a:r>
              <a:rPr dirty="0" sz="3200" lang="en-US" smtClean="0"/>
              <a:t>Caesarean section is the best mode of treatment .</a:t>
            </a:r>
          </a:p>
          <a:p>
            <a:pPr algn="just" lvl="0"/>
            <a:endParaRPr dirty="0" sz="3200" lang="en-US" smtClean="0"/>
          </a:p>
          <a:p>
            <a:pPr algn="just"/>
            <a:endParaRPr dirty="0" sz="3200" lang="en-US"/>
          </a:p>
        </p:txBody>
      </p:sp>
      <p:sp>
        <p:nvSpPr>
          <p:cNvPr id="1048853"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736" name=""/>
        <p:cNvGrpSpPr/>
        <p:nvPr/>
      </p:nvGrpSpPr>
      <p:grpSpPr>
        <a:xfrm>
          <a:off x="0" y="0"/>
          <a:ext cx="0" cy="0"/>
          <a:chOff x="0" y="0"/>
          <a:chExt cx="0" cy="0"/>
        </a:xfrm>
      </p:grpSpPr>
      <p:sp>
        <p:nvSpPr>
          <p:cNvPr id="1048854" name="Content Placeholder 2"/>
          <p:cNvSpPr>
            <a:spLocks noGrp="1"/>
          </p:cNvSpPr>
          <p:nvPr>
            <p:ph sz="quarter" idx="1"/>
          </p:nvPr>
        </p:nvSpPr>
        <p:spPr>
          <a:xfrm>
            <a:off x="571501" y="228600"/>
            <a:ext cx="9334500" cy="6245352"/>
          </a:xfrm>
        </p:spPr>
        <p:txBody>
          <a:bodyPr>
            <a:noAutofit/>
          </a:bodyPr>
          <a:p>
            <a:pPr algn="just"/>
            <a:r>
              <a:rPr dirty="0" sz="3300" lang="en-US" smtClean="0"/>
              <a:t>Before then, transfuse with fresh whole blood to provide adequate clotting factors and reverse shock.</a:t>
            </a:r>
          </a:p>
          <a:p>
            <a:pPr algn="just">
              <a:buFont typeface="Wingdings" pitchFamily="2" charset="2"/>
              <a:buChar char="Ø"/>
            </a:pPr>
            <a:r>
              <a:rPr dirty="0" sz="3300" lang="en-US" smtClean="0"/>
              <a:t>Rate of transfusion ranges between 2-4 hours per unit (500ml) in  order to control shock as well  stabilize condition.</a:t>
            </a:r>
          </a:p>
          <a:p>
            <a:pPr algn="just"/>
            <a:r>
              <a:rPr dirty="0" sz="3300" lang="en-US" smtClean="0"/>
              <a:t>Inform specialized personel regarding the resuscitation of the mother.</a:t>
            </a:r>
          </a:p>
          <a:p>
            <a:pPr algn="just"/>
            <a:endParaRPr dirty="0" sz="3300" lang="en-US"/>
          </a:p>
        </p:txBody>
      </p:sp>
      <p:sp>
        <p:nvSpPr>
          <p:cNvPr id="1048855"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737" name=""/>
        <p:cNvGrpSpPr/>
        <p:nvPr/>
      </p:nvGrpSpPr>
      <p:grpSpPr>
        <a:xfrm>
          <a:off x="0" y="0"/>
          <a:ext cx="0" cy="0"/>
          <a:chOff x="0" y="0"/>
          <a:chExt cx="0" cy="0"/>
        </a:xfrm>
      </p:grpSpPr>
      <p:sp>
        <p:nvSpPr>
          <p:cNvPr id="1048856" name="Content Placeholder 2"/>
          <p:cNvSpPr>
            <a:spLocks noGrp="1"/>
          </p:cNvSpPr>
          <p:nvPr>
            <p:ph sz="quarter" idx="1"/>
          </p:nvPr>
        </p:nvSpPr>
        <p:spPr>
          <a:xfrm>
            <a:off x="381000" y="228600"/>
            <a:ext cx="9525000" cy="6245352"/>
          </a:xfrm>
        </p:spPr>
        <p:txBody>
          <a:bodyPr>
            <a:normAutofit/>
          </a:bodyPr>
          <a:p>
            <a:pPr algn="just"/>
            <a:r>
              <a:rPr dirty="0" sz="3200" lang="en-US" smtClean="0"/>
              <a:t>Mother alert, discuss on the need for surgical delivery hence she gives informed consent.</a:t>
            </a:r>
          </a:p>
          <a:p>
            <a:pPr algn="just"/>
            <a:r>
              <a:rPr dirty="0" sz="3200" lang="en-US" smtClean="0"/>
              <a:t> keep relatives informed of the situation and allay anxiety.</a:t>
            </a:r>
          </a:p>
          <a:p>
            <a:pPr algn="just"/>
            <a:r>
              <a:rPr dirty="0" sz="3200" lang="en-US" smtClean="0"/>
              <a:t>Strictly monitor the progress and report/ consult PRN.</a:t>
            </a:r>
          </a:p>
          <a:p>
            <a:pPr algn="just"/>
            <a:r>
              <a:rPr dirty="0" sz="3200" lang="en-US" smtClean="0"/>
              <a:t>As soon as surgery is safe, prepare the mother and wheel  to theatre, together with the clinical notes.</a:t>
            </a:r>
            <a:endParaRPr dirty="0" sz="3200" lang="en-US"/>
          </a:p>
        </p:txBody>
      </p:sp>
      <p:sp>
        <p:nvSpPr>
          <p:cNvPr id="1048857"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738" name=""/>
        <p:cNvGrpSpPr/>
        <p:nvPr/>
      </p:nvGrpSpPr>
      <p:grpSpPr>
        <a:xfrm>
          <a:off x="0" y="0"/>
          <a:ext cx="0" cy="0"/>
          <a:chOff x="0" y="0"/>
          <a:chExt cx="0" cy="0"/>
        </a:xfrm>
      </p:grpSpPr>
      <p:sp>
        <p:nvSpPr>
          <p:cNvPr id="1048858" name="Content Placeholder 2"/>
          <p:cNvSpPr>
            <a:spLocks noGrp="1"/>
          </p:cNvSpPr>
          <p:nvPr>
            <p:ph sz="quarter" idx="1"/>
          </p:nvPr>
        </p:nvSpPr>
        <p:spPr>
          <a:xfrm>
            <a:off x="571501" y="152400"/>
            <a:ext cx="9334500" cy="6321552"/>
          </a:xfrm>
        </p:spPr>
        <p:txBody>
          <a:bodyPr>
            <a:noAutofit/>
          </a:bodyPr>
          <a:p>
            <a:pPr algn="just"/>
            <a:r>
              <a:rPr dirty="0" sz="3300" lang="en-US" smtClean="0"/>
              <a:t>Following extraction of the fetus, uterotonic agent, mostly synitocinon drip, is administered to enhance contraction of the uterus.</a:t>
            </a:r>
          </a:p>
          <a:p>
            <a:pPr algn="just"/>
            <a:r>
              <a:rPr dirty="0" sz="3300" lang="en-US" smtClean="0"/>
              <a:t>For life birth, resuscitate and transfer to NBU for further management.</a:t>
            </a:r>
          </a:p>
          <a:p>
            <a:pPr algn="just"/>
            <a:r>
              <a:rPr dirty="0" sz="3300" lang="en-US" smtClean="0"/>
              <a:t>Post- operatively, CT with close observations to assess for the state of shock,  of uterus,  urinary out and op-site for haemorrhage.</a:t>
            </a:r>
            <a:endParaRPr dirty="0" sz="3300" lang="en-US"/>
          </a:p>
        </p:txBody>
      </p:sp>
      <p:sp>
        <p:nvSpPr>
          <p:cNvPr id="1048859"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739" name=""/>
        <p:cNvGrpSpPr/>
        <p:nvPr/>
      </p:nvGrpSpPr>
      <p:grpSpPr>
        <a:xfrm>
          <a:off x="0" y="0"/>
          <a:ext cx="0" cy="0"/>
          <a:chOff x="0" y="0"/>
          <a:chExt cx="0" cy="0"/>
        </a:xfrm>
      </p:grpSpPr>
      <p:sp>
        <p:nvSpPr>
          <p:cNvPr id="1048860" name="Content Placeholder 2"/>
          <p:cNvSpPr>
            <a:spLocks noGrp="1"/>
          </p:cNvSpPr>
          <p:nvPr>
            <p:ph sz="quarter" idx="1"/>
          </p:nvPr>
        </p:nvSpPr>
        <p:spPr>
          <a:xfrm>
            <a:off x="571501" y="381000"/>
            <a:ext cx="9334500" cy="6092952"/>
          </a:xfrm>
        </p:spPr>
        <p:txBody>
          <a:bodyPr>
            <a:normAutofit/>
          </a:bodyPr>
          <a:p>
            <a:pPr>
              <a:buFont typeface="Wingdings" pitchFamily="2" charset="2"/>
              <a:buChar char="Ø"/>
            </a:pPr>
            <a:r>
              <a:rPr dirty="0" sz="3300" lang="en-US" smtClean="0"/>
              <a:t>Presence of haemorrhage may indicate poor clotting mechanism . </a:t>
            </a:r>
          </a:p>
          <a:p>
            <a:r>
              <a:rPr dirty="0" sz="3300" lang="en-US" smtClean="0"/>
              <a:t> Rest of the care CT as for any other operation case in terms of:</a:t>
            </a:r>
          </a:p>
          <a:p>
            <a:pPr lvl="0">
              <a:buFont typeface="Wingdings" pitchFamily="2" charset="2"/>
              <a:buChar char="Ø"/>
            </a:pPr>
            <a:r>
              <a:rPr dirty="0" sz="3300" lang="en-US" smtClean="0"/>
              <a:t>Close monitoring of vital signs for the 1</a:t>
            </a:r>
            <a:r>
              <a:rPr baseline="30000" dirty="0" sz="3300" lang="en-US" smtClean="0"/>
              <a:t>st</a:t>
            </a:r>
            <a:r>
              <a:rPr dirty="0" sz="3300" lang="en-US" smtClean="0"/>
              <a:t> 48hrs.</a:t>
            </a:r>
          </a:p>
          <a:p>
            <a:pPr lvl="0">
              <a:buFont typeface="Wingdings" pitchFamily="2" charset="2"/>
              <a:buChar char="Ø"/>
            </a:pPr>
            <a:r>
              <a:rPr dirty="0" sz="3300" lang="en-US" smtClean="0"/>
              <a:t>CT intravenous fluids till bowel sounds are heard.</a:t>
            </a:r>
          </a:p>
          <a:p>
            <a:pPr lvl="0">
              <a:buFont typeface="Wingdings" pitchFamily="2" charset="2"/>
              <a:buChar char="Ø"/>
            </a:pPr>
            <a:r>
              <a:rPr dirty="0" sz="3300" lang="en-US" smtClean="0"/>
              <a:t>Nutrition.</a:t>
            </a:r>
          </a:p>
          <a:p>
            <a:endParaRPr dirty="0" lang="en-US"/>
          </a:p>
        </p:txBody>
      </p:sp>
      <p:sp>
        <p:nvSpPr>
          <p:cNvPr id="1048861"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740" name=""/>
        <p:cNvGrpSpPr/>
        <p:nvPr/>
      </p:nvGrpSpPr>
      <p:grpSpPr>
        <a:xfrm>
          <a:off x="0" y="0"/>
          <a:ext cx="0" cy="0"/>
          <a:chOff x="0" y="0"/>
          <a:chExt cx="0" cy="0"/>
        </a:xfrm>
      </p:grpSpPr>
      <p:sp>
        <p:nvSpPr>
          <p:cNvPr id="1048862" name="Content Placeholder 2"/>
          <p:cNvSpPr>
            <a:spLocks noGrp="1"/>
          </p:cNvSpPr>
          <p:nvPr>
            <p:ph sz="quarter" idx="1"/>
          </p:nvPr>
        </p:nvSpPr>
        <p:spPr>
          <a:xfrm>
            <a:off x="381000" y="228600"/>
            <a:ext cx="9525000" cy="6245352"/>
          </a:xfrm>
        </p:spPr>
        <p:txBody>
          <a:bodyPr>
            <a:normAutofit/>
          </a:bodyPr>
          <a:p>
            <a:pPr lvl="0">
              <a:buFont typeface="Wingdings" pitchFamily="2" charset="2"/>
              <a:buChar char="Ø"/>
            </a:pPr>
            <a:r>
              <a:rPr dirty="0" sz="3200" lang="en-US" smtClean="0"/>
              <a:t>Psychological support.</a:t>
            </a:r>
          </a:p>
          <a:p>
            <a:pPr lvl="0">
              <a:buFont typeface="Wingdings" pitchFamily="2" charset="2"/>
              <a:buChar char="Ø"/>
            </a:pPr>
            <a:r>
              <a:rPr dirty="0" sz="3200" lang="en-US" smtClean="0"/>
              <a:t>Hygiene.</a:t>
            </a:r>
          </a:p>
          <a:p>
            <a:pPr lvl="0">
              <a:buFont typeface="Wingdings" pitchFamily="2" charset="2"/>
              <a:buChar char="Ø"/>
            </a:pPr>
            <a:r>
              <a:rPr dirty="0" sz="3200" lang="en-US" smtClean="0"/>
              <a:t>Care of the infant.</a:t>
            </a:r>
          </a:p>
          <a:p>
            <a:pPr lvl="0">
              <a:buFont typeface="Wingdings" pitchFamily="2" charset="2"/>
              <a:buChar char="Ø"/>
            </a:pPr>
            <a:r>
              <a:rPr dirty="0" sz="3200" lang="en-US" smtClean="0"/>
              <a:t>Medication/ drugs.</a:t>
            </a:r>
          </a:p>
          <a:p>
            <a:pPr lvl="0">
              <a:buFont typeface="Wingdings" pitchFamily="2" charset="2"/>
              <a:buChar char="Ø"/>
            </a:pPr>
            <a:r>
              <a:rPr dirty="0" sz="3200" lang="en-US" smtClean="0"/>
              <a:t>Discharge plan .</a:t>
            </a:r>
          </a:p>
          <a:p>
            <a:pPr>
              <a:buNone/>
            </a:pPr>
            <a:r>
              <a:rPr dirty="0" sz="3200" i="1" lang="en-US" smtClean="0"/>
              <a:t>	</a:t>
            </a:r>
            <a:r>
              <a:rPr b="1" dirty="0" sz="3200" lang="en-US" smtClean="0">
                <a:solidFill>
                  <a:srgbClr val="C00000"/>
                </a:solidFill>
              </a:rPr>
              <a:t>COMPLICATIONS</a:t>
            </a:r>
          </a:p>
          <a:p>
            <a:r>
              <a:rPr dirty="0" sz="3200" lang="en-US" smtClean="0"/>
              <a:t>Sheehan’s syndrome occurs due to necrosis of pituitary gland especially the anterior lobe as a result of hypovoluemia.</a:t>
            </a:r>
          </a:p>
          <a:p>
            <a:pPr>
              <a:buFont typeface="Wingdings" pitchFamily="2" charset="2"/>
              <a:buChar char="Ø"/>
            </a:pPr>
            <a:endParaRPr dirty="0" sz="3200" lang="en-US"/>
          </a:p>
        </p:txBody>
      </p:sp>
      <p:sp>
        <p:nvSpPr>
          <p:cNvPr id="1048863"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741" name=""/>
        <p:cNvGrpSpPr/>
        <p:nvPr/>
      </p:nvGrpSpPr>
      <p:grpSpPr>
        <a:xfrm>
          <a:off x="0" y="0"/>
          <a:ext cx="0" cy="0"/>
          <a:chOff x="0" y="0"/>
          <a:chExt cx="0" cy="0"/>
        </a:xfrm>
      </p:grpSpPr>
      <p:sp>
        <p:nvSpPr>
          <p:cNvPr id="1048864" name="Content Placeholder 2"/>
          <p:cNvSpPr>
            <a:spLocks noGrp="1"/>
          </p:cNvSpPr>
          <p:nvPr>
            <p:ph sz="quarter" idx="1"/>
          </p:nvPr>
        </p:nvSpPr>
        <p:spPr>
          <a:xfrm>
            <a:off x="381000" y="304800"/>
            <a:ext cx="9525000" cy="6169152"/>
          </a:xfrm>
        </p:spPr>
        <p:txBody>
          <a:bodyPr>
            <a:normAutofit/>
          </a:bodyPr>
          <a:p>
            <a:pPr algn="just" lvl="0">
              <a:buFont typeface="Wingdings" pitchFamily="2" charset="2"/>
              <a:buChar char="Ø"/>
            </a:pPr>
            <a:r>
              <a:rPr dirty="0" sz="3200" lang="en-US" smtClean="0"/>
              <a:t>A mild case  presents with failed lactation and amenorrhea, and a severe case with premature menopausal features.</a:t>
            </a:r>
          </a:p>
          <a:p>
            <a:pPr algn="just" lvl="0"/>
            <a:r>
              <a:rPr dirty="0" sz="3200" lang="en-US" smtClean="0"/>
              <a:t>Post partum hemorrhage due to impaired living ligature action and disseminated intravascular coagulation.</a:t>
            </a:r>
          </a:p>
          <a:p>
            <a:pPr algn="just"/>
            <a:r>
              <a:rPr dirty="0" sz="3200" lang="en-US" smtClean="0"/>
              <a:t>Dissemination intravascular coagulation (DIC) characterized by massive hemorrhage from all body orifices.</a:t>
            </a:r>
            <a:endParaRPr dirty="0" sz="3200" lang="en-US"/>
          </a:p>
        </p:txBody>
      </p:sp>
      <p:sp>
        <p:nvSpPr>
          <p:cNvPr id="1048865"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742" name=""/>
        <p:cNvGrpSpPr/>
        <p:nvPr/>
      </p:nvGrpSpPr>
      <p:grpSpPr>
        <a:xfrm>
          <a:off x="0" y="0"/>
          <a:ext cx="0" cy="0"/>
          <a:chOff x="0" y="0"/>
          <a:chExt cx="0" cy="0"/>
        </a:xfrm>
      </p:grpSpPr>
      <p:sp>
        <p:nvSpPr>
          <p:cNvPr id="1048866" name="Content Placeholder 2"/>
          <p:cNvSpPr>
            <a:spLocks noGrp="1"/>
          </p:cNvSpPr>
          <p:nvPr>
            <p:ph sz="quarter" idx="1"/>
          </p:nvPr>
        </p:nvSpPr>
        <p:spPr>
          <a:xfrm>
            <a:off x="285750" y="381001"/>
            <a:ext cx="10763250" cy="6019800"/>
          </a:xfrm>
        </p:spPr>
        <p:txBody>
          <a:bodyPr/>
          <a:p>
            <a:pPr algn="just" lvl="0">
              <a:buFont typeface="Wingdings" pitchFamily="2" charset="2"/>
              <a:buChar char="Ø"/>
            </a:pPr>
            <a:r>
              <a:rPr dirty="0" sz="3400" lang="en-US" smtClean="0"/>
              <a:t>Common in moderate to severe placental abruption ,due to  tissue damage at the placental site hence high levels of thromboplastin in the circulation.</a:t>
            </a:r>
          </a:p>
          <a:p>
            <a:pPr algn="just" lvl="0"/>
            <a:r>
              <a:rPr dirty="0" sz="3400" lang="en-US" smtClean="0"/>
              <a:t>Renal failure due to poor perfusion of the kidneys since hypovoluemia is present.</a:t>
            </a:r>
          </a:p>
          <a:p>
            <a:pPr algn="just">
              <a:buNone/>
            </a:pPr>
            <a:r>
              <a:rPr dirty="0" sz="3400" lang="en-US" smtClean="0">
                <a:solidFill>
                  <a:srgbClr val="7030A0"/>
                </a:solidFill>
              </a:rPr>
              <a:t>	Assignment:-</a:t>
            </a:r>
            <a:r>
              <a:rPr dirty="0" sz="3400" lang="en-US" smtClean="0"/>
              <a:t> Read on assessment of mother’s &amp; fetal conditions.</a:t>
            </a:r>
          </a:p>
          <a:p>
            <a:pPr algn="just"/>
            <a:endParaRPr dirty="0" lang="en-US"/>
          </a:p>
        </p:txBody>
      </p:sp>
      <p:sp>
        <p:nvSpPr>
          <p:cNvPr id="1048867"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743" name=""/>
        <p:cNvGrpSpPr/>
        <p:nvPr/>
      </p:nvGrpSpPr>
      <p:grpSpPr>
        <a:xfrm>
          <a:off x="0" y="0"/>
          <a:ext cx="0" cy="0"/>
          <a:chOff x="0" y="0"/>
          <a:chExt cx="0" cy="0"/>
        </a:xfrm>
      </p:grpSpPr>
      <p:sp>
        <p:nvSpPr>
          <p:cNvPr id="1048868" name="Title 1"/>
          <p:cNvSpPr>
            <a:spLocks noGrp="1"/>
          </p:cNvSpPr>
          <p:nvPr>
            <p:ph type="title"/>
          </p:nvPr>
        </p:nvSpPr>
        <p:spPr/>
        <p:txBody>
          <a:bodyPr>
            <a:noAutofit/>
          </a:bodyPr>
          <a:p>
            <a:r>
              <a:rPr b="1" dirty="0" sz="3200" lang="en-US" smtClean="0">
                <a:solidFill>
                  <a:srgbClr val="FF0000"/>
                </a:solidFill>
              </a:rPr>
              <a:t>3.INCIDENTAL (EXTRA-PLACENTAL) HAEMORRHAGE</a:t>
            </a:r>
            <a:endParaRPr b="1" dirty="0" sz="3200" lang="en-US">
              <a:solidFill>
                <a:srgbClr val="FF0000"/>
              </a:solidFill>
            </a:endParaRPr>
          </a:p>
        </p:txBody>
      </p:sp>
      <p:sp>
        <p:nvSpPr>
          <p:cNvPr id="1048869" name="Content Placeholder 2"/>
          <p:cNvSpPr>
            <a:spLocks noGrp="1"/>
          </p:cNvSpPr>
          <p:nvPr>
            <p:ph sz="quarter" idx="1"/>
          </p:nvPr>
        </p:nvSpPr>
        <p:spPr/>
        <p:txBody>
          <a:bodyPr>
            <a:normAutofit/>
          </a:bodyPr>
          <a:p>
            <a:pPr algn="just">
              <a:buFont typeface="Wingdings" pitchFamily="2" charset="2"/>
              <a:buChar char="v"/>
            </a:pPr>
            <a:r>
              <a:rPr dirty="0" sz="3200" lang="en-US" smtClean="0"/>
              <a:t>Bleeding is not related to the placental site, but occurs along the genital tract so the loss is from a local lesion.</a:t>
            </a:r>
          </a:p>
          <a:p>
            <a:pPr algn="just">
              <a:buNone/>
            </a:pPr>
            <a:r>
              <a:rPr dirty="0" sz="3200" i="1" lang="en-US" smtClean="0"/>
              <a:t>	  </a:t>
            </a:r>
            <a:r>
              <a:rPr b="1" dirty="0" sz="3200" lang="en-US" smtClean="0">
                <a:solidFill>
                  <a:srgbClr val="C00000"/>
                </a:solidFill>
              </a:rPr>
              <a:t>CAUSES</a:t>
            </a:r>
          </a:p>
          <a:p>
            <a:pPr algn="just" lvl="0"/>
            <a:r>
              <a:rPr dirty="0" sz="3200" lang="en-US" smtClean="0"/>
              <a:t>Cervical lesion in terms of:- erosion, polyps or tumour , particularly carcinoma of cervix.</a:t>
            </a:r>
          </a:p>
          <a:p>
            <a:pPr algn="just" lvl="0"/>
            <a:r>
              <a:rPr dirty="0" sz="3200" lang="en-US" smtClean="0"/>
              <a:t>Vulvo-vaginitis, refers to inflammation of vulva and vagina.</a:t>
            </a:r>
          </a:p>
          <a:p>
            <a:pPr algn="just"/>
            <a:endParaRPr dirty="0" sz="3200" lang="en-US" smtClean="0"/>
          </a:p>
          <a:p>
            <a:pPr algn="just">
              <a:buNone/>
            </a:pPr>
            <a:endParaRPr b="1" dirty="0" sz="3200" lang="en-US">
              <a:solidFill>
                <a:srgbClr val="002060"/>
              </a:solidFill>
            </a:endParaRPr>
          </a:p>
        </p:txBody>
      </p:sp>
      <p:sp>
        <p:nvSpPr>
          <p:cNvPr id="1048870" name="Footer Placeholder 3"/>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744" name=""/>
        <p:cNvGrpSpPr/>
        <p:nvPr/>
      </p:nvGrpSpPr>
      <p:grpSpPr>
        <a:xfrm>
          <a:off x="0" y="0"/>
          <a:ext cx="0" cy="0"/>
          <a:chOff x="0" y="0"/>
          <a:chExt cx="0" cy="0"/>
        </a:xfrm>
      </p:grpSpPr>
      <p:sp>
        <p:nvSpPr>
          <p:cNvPr id="1048871" name="Content Placeholder 2"/>
          <p:cNvSpPr>
            <a:spLocks noGrp="1"/>
          </p:cNvSpPr>
          <p:nvPr>
            <p:ph sz="quarter" idx="1"/>
          </p:nvPr>
        </p:nvSpPr>
        <p:spPr>
          <a:xfrm>
            <a:off x="285750" y="304805"/>
            <a:ext cx="10572750" cy="6553201"/>
          </a:xfrm>
        </p:spPr>
        <p:txBody>
          <a:bodyPr>
            <a:normAutofit/>
          </a:bodyPr>
          <a:p>
            <a:pPr algn="just">
              <a:buNone/>
            </a:pPr>
            <a:r>
              <a:rPr dirty="0" sz="3200" i="1" lang="en-US" smtClean="0"/>
              <a:t>	</a:t>
            </a:r>
            <a:r>
              <a:rPr b="1" dirty="0" sz="3200" lang="en-US" smtClean="0">
                <a:solidFill>
                  <a:srgbClr val="C00000"/>
                </a:solidFill>
              </a:rPr>
              <a:t>DIAGNOSTIC FACTORS</a:t>
            </a:r>
            <a:endParaRPr dirty="0" sz="3200" i="1" lang="en-US" smtClean="0"/>
          </a:p>
          <a:p>
            <a:pPr algn="just" lvl="0"/>
            <a:r>
              <a:rPr dirty="0" sz="3200" lang="en-US" smtClean="0"/>
              <a:t>History of dyspareunia.</a:t>
            </a:r>
          </a:p>
          <a:p>
            <a:pPr algn="just" lvl="0"/>
            <a:r>
              <a:rPr dirty="0" sz="3200" lang="en-US" smtClean="0"/>
              <a:t>Identification of lesion through speculum examination.</a:t>
            </a:r>
          </a:p>
          <a:p>
            <a:pPr algn="just" lvl="0"/>
            <a:r>
              <a:rPr dirty="0" sz="3200" lang="en-US" smtClean="0"/>
              <a:t>Haemorrhage  is usually minimal with no effect on fetus and mother.</a:t>
            </a:r>
          </a:p>
          <a:p>
            <a:pPr algn="just">
              <a:buNone/>
            </a:pPr>
            <a:r>
              <a:rPr dirty="0" sz="3200" i="1" lang="en-US" smtClean="0"/>
              <a:t>        </a:t>
            </a:r>
            <a:r>
              <a:rPr b="1" dirty="0" sz="3200" lang="en-US" smtClean="0">
                <a:solidFill>
                  <a:srgbClr val="C00000"/>
                </a:solidFill>
              </a:rPr>
              <a:t>SPECIFIC MANAGEMENT</a:t>
            </a:r>
          </a:p>
          <a:p>
            <a:pPr algn="just">
              <a:buFont typeface="Wingdings" pitchFamily="2" charset="2"/>
              <a:buChar char="v"/>
            </a:pPr>
            <a:r>
              <a:rPr dirty="0" sz="3200" lang="en-US" smtClean="0"/>
              <a:t>Determine by the cause, so refer to the doctor.</a:t>
            </a:r>
          </a:p>
          <a:p>
            <a:pPr algn="just" lvl="0"/>
            <a:r>
              <a:rPr dirty="0" sz="3200" lang="en-US" smtClean="0"/>
              <a:t>Cervical erosion/ polyp ,cauterization / excision are respectively performed.</a:t>
            </a:r>
          </a:p>
          <a:p>
            <a:pPr algn="just"/>
            <a:endParaRPr dirty="0" sz="3200" lang="en-US"/>
          </a:p>
        </p:txBody>
      </p:sp>
      <p:sp>
        <p:nvSpPr>
          <p:cNvPr id="1048872"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745" name=""/>
        <p:cNvGrpSpPr/>
        <p:nvPr/>
      </p:nvGrpSpPr>
      <p:grpSpPr>
        <a:xfrm>
          <a:off x="0" y="0"/>
          <a:ext cx="0" cy="0"/>
          <a:chOff x="0" y="0"/>
          <a:chExt cx="0" cy="0"/>
        </a:xfrm>
      </p:grpSpPr>
      <p:sp>
        <p:nvSpPr>
          <p:cNvPr id="1048873" name="Content Placeholder 2"/>
          <p:cNvSpPr>
            <a:spLocks noGrp="1"/>
          </p:cNvSpPr>
          <p:nvPr>
            <p:ph sz="quarter" idx="1"/>
          </p:nvPr>
        </p:nvSpPr>
        <p:spPr>
          <a:xfrm>
            <a:off x="571500" y="381000"/>
            <a:ext cx="10325099" cy="6092952"/>
          </a:xfrm>
        </p:spPr>
        <p:txBody>
          <a:bodyPr>
            <a:normAutofit/>
          </a:bodyPr>
          <a:p>
            <a:pPr algn="just" lvl="0"/>
            <a:r>
              <a:rPr dirty="0" sz="3200" lang="en-US" smtClean="0"/>
              <a:t>For cervical carcinoma, termination of pregnancy is highly recommended  because it worsens the condition. </a:t>
            </a:r>
          </a:p>
          <a:p>
            <a:pPr algn="just" lvl="0">
              <a:buFont typeface="Wingdings" pitchFamily="2" charset="2"/>
              <a:buChar char="Ø"/>
            </a:pPr>
            <a:r>
              <a:rPr dirty="0" sz="3200" lang="en-US" smtClean="0"/>
              <a:t>The mother and her partner should be directly involved in the decision.</a:t>
            </a:r>
          </a:p>
          <a:p>
            <a:pPr algn="just" lvl="0">
              <a:buFont typeface="Wingdings" pitchFamily="2" charset="2"/>
              <a:buChar char="Ø"/>
            </a:pPr>
            <a:r>
              <a:rPr dirty="0" sz="3200" lang="en-US" smtClean="0"/>
              <a:t> Respective treatment depends on the spread of cancer cells.</a:t>
            </a:r>
          </a:p>
          <a:p>
            <a:pPr algn="just"/>
            <a:r>
              <a:rPr dirty="0" sz="3200" lang="en-US" smtClean="0"/>
              <a:t>For vulvo-vaginitis ,investigate the causative organisms and prescribe the appropriate antibiotic therapy.</a:t>
            </a:r>
          </a:p>
          <a:p>
            <a:pPr algn="just"/>
            <a:endParaRPr dirty="0" sz="3200" lang="en-US"/>
          </a:p>
        </p:txBody>
      </p:sp>
      <p:sp>
        <p:nvSpPr>
          <p:cNvPr id="1048874"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746" name=""/>
        <p:cNvGrpSpPr/>
        <p:nvPr/>
      </p:nvGrpSpPr>
      <p:grpSpPr>
        <a:xfrm>
          <a:off x="0" y="0"/>
          <a:ext cx="0" cy="0"/>
          <a:chOff x="0" y="0"/>
          <a:chExt cx="0" cy="0"/>
        </a:xfrm>
      </p:grpSpPr>
      <p:sp>
        <p:nvSpPr>
          <p:cNvPr id="1048875" name="Content Placeholder 2"/>
          <p:cNvSpPr>
            <a:spLocks noGrp="1"/>
          </p:cNvSpPr>
          <p:nvPr>
            <p:ph sz="quarter" idx="1"/>
          </p:nvPr>
        </p:nvSpPr>
        <p:spPr>
          <a:xfrm>
            <a:off x="571501" y="457200"/>
            <a:ext cx="9334500" cy="6016752"/>
          </a:xfrm>
        </p:spPr>
        <p:txBody>
          <a:bodyPr>
            <a:normAutofit/>
          </a:bodyPr>
          <a:p>
            <a:pPr algn="just" lvl="0"/>
            <a:r>
              <a:rPr dirty="0" sz="3200" lang="en-US" smtClean="0"/>
              <a:t> To prevent  re- infection  emphasise on 4C i.e counseling, contact tracing, compliance and condom use hence pregnancy continues.</a:t>
            </a:r>
          </a:p>
          <a:p>
            <a:pPr algn="just">
              <a:buNone/>
            </a:pPr>
            <a:r>
              <a:rPr dirty="0" sz="3200" i="1" lang="en-US" smtClean="0"/>
              <a:t>	</a:t>
            </a:r>
            <a:r>
              <a:rPr b="1" dirty="0" sz="3200" lang="en-US" smtClean="0">
                <a:solidFill>
                  <a:srgbClr val="C00000"/>
                </a:solidFill>
              </a:rPr>
              <a:t>COMPLICATION</a:t>
            </a:r>
          </a:p>
          <a:p>
            <a:pPr algn="just"/>
            <a:r>
              <a:rPr dirty="0" sz="3200" lang="en-US" smtClean="0"/>
              <a:t>Stenosis of the affected area leading to obstructed labour.</a:t>
            </a:r>
          </a:p>
          <a:p>
            <a:pPr algn="just"/>
            <a:endParaRPr dirty="0" sz="3200" lang="en-US" smtClean="0"/>
          </a:p>
          <a:p>
            <a:pPr algn="just">
              <a:buNone/>
            </a:pPr>
            <a:r>
              <a:rPr dirty="0" sz="3200" lang="en-US" smtClean="0"/>
              <a:t>			</a:t>
            </a:r>
          </a:p>
          <a:p>
            <a:pPr algn="just">
              <a:buNone/>
            </a:pPr>
            <a:endParaRPr dirty="0" sz="3200" lang="en-US"/>
          </a:p>
        </p:txBody>
      </p:sp>
      <p:sp>
        <p:nvSpPr>
          <p:cNvPr id="1048876" name="Horizontal Scroll 4"/>
          <p:cNvSpPr/>
          <p:nvPr/>
        </p:nvSpPr>
        <p:spPr>
          <a:xfrm>
            <a:off x="4095750" y="4724400"/>
            <a:ext cx="3524250" cy="1795272"/>
          </a:xfrm>
          <a:prstGeom prst="horizontalScro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8000" lang="en-US" smtClean="0">
                <a:solidFill>
                  <a:srgbClr val="7030A0"/>
                </a:solidFill>
              </a:rPr>
              <a:t>END</a:t>
            </a:r>
            <a:endParaRPr b="1" dirty="0" sz="8000" lang="en-US">
              <a:solidFill>
                <a:srgbClr val="7030A0"/>
              </a:solidFill>
            </a:endParaRPr>
          </a:p>
        </p:txBody>
      </p:sp>
      <p:sp>
        <p:nvSpPr>
          <p:cNvPr id="1048877" name="Footer Placeholder 1"/>
          <p:cNvSpPr>
            <a:spLocks noGrp="1"/>
          </p:cNvSpPr>
          <p:nvPr>
            <p:ph type="ftr" sz="quarter" idx="16"/>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761" name=""/>
        <p:cNvGrpSpPr/>
        <p:nvPr/>
      </p:nvGrpSpPr>
      <p:grpSpPr>
        <a:xfrm>
          <a:off x="0" y="0"/>
          <a:ext cx="0" cy="0"/>
          <a:chOff x="0" y="0"/>
          <a:chExt cx="0" cy="0"/>
        </a:xfrm>
      </p:grpSpPr>
      <p:sp>
        <p:nvSpPr>
          <p:cNvPr id="1048892" name="Title 1"/>
          <p:cNvSpPr>
            <a:spLocks noGrp="1"/>
          </p:cNvSpPr>
          <p:nvPr>
            <p:ph type="ctrTitle"/>
          </p:nvPr>
        </p:nvSpPr>
        <p:spPr>
          <a:xfrm>
            <a:off x="571501" y="1981200"/>
            <a:ext cx="9814559" cy="1828800"/>
          </a:xfrm>
          <a:solidFill>
            <a:schemeClr val="accent4">
              <a:lumMod val="40000"/>
              <a:lumOff val="60000"/>
            </a:schemeClr>
          </a:solidFill>
          <a:ln w="76200">
            <a:solidFill>
              <a:srgbClr val="002060"/>
            </a:solidFill>
          </a:ln>
          <a:scene3d>
            <a:camera prst="perspectiveLeft"/>
            <a:lightRig dir="t" rig="threePt"/>
          </a:scene3d>
        </p:spPr>
        <p:txBody>
          <a:bodyPr>
            <a:prstTxWarp prst="textPlain">
              <a:avLst>
                <a:gd fmla="val 50188" name="adj"/>
              </a:avLst>
            </a:prstTxWarp>
          </a:bodyPr>
          <a:p>
            <a:r>
              <a:rPr dirty="0" sz="6000" lang="en-US" spc="300" smtClean="0">
                <a:ln>
                  <a:solidFill>
                    <a:schemeClr val="accent2">
                      <a:lumMod val="60000"/>
                      <a:lumOff val="40000"/>
                    </a:schemeClr>
                  </a:solidFill>
                </a:ln>
                <a:solidFill>
                  <a:srgbClr val="FF33CC"/>
                </a:solidFill>
                <a:latin typeface="Algerian" pitchFamily="82" charset="0"/>
              </a:rPr>
              <a:t>PRE-ECLAMPSIA</a:t>
            </a:r>
            <a:endParaRPr dirty="0" lang="en-US">
              <a:ln>
                <a:solidFill>
                  <a:schemeClr val="accent2">
                    <a:lumMod val="60000"/>
                    <a:lumOff val="40000"/>
                  </a:schemeClr>
                </a:solidFill>
              </a:ln>
              <a:solidFill>
                <a:srgbClr val="FF33CC"/>
              </a:solidFill>
              <a:latin typeface="Algerian" pitchFamily="82" charset="0"/>
            </a:endParaRPr>
          </a:p>
        </p:txBody>
      </p:sp>
    </p:spTree>
  </p:cSld>
  <p:clrMapOvr>
    <a:masterClrMapping/>
  </p:clrMapOvr>
  <p:transition xmlns:p14="http://schemas.microsoft.com/office/powerpoint/2010/main" spd="slow">
    <p:strips dir="ru"/>
  </p:transition>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763" name=""/>
        <p:cNvGrpSpPr/>
        <p:nvPr/>
      </p:nvGrpSpPr>
      <p:grpSpPr>
        <a:xfrm>
          <a:off x="0" y="0"/>
          <a:ext cx="0" cy="0"/>
          <a:chOff x="0" y="0"/>
          <a:chExt cx="0" cy="0"/>
        </a:xfrm>
      </p:grpSpPr>
      <p:sp>
        <p:nvSpPr>
          <p:cNvPr id="1048898" name="Title 5"/>
          <p:cNvSpPr>
            <a:spLocks noGrp="1"/>
          </p:cNvSpPr>
          <p:nvPr>
            <p:ph type="title"/>
          </p:nvPr>
        </p:nvSpPr>
        <p:spPr>
          <a:xfrm>
            <a:off x="571500" y="228600"/>
            <a:ext cx="10287000" cy="914400"/>
          </a:xfrm>
        </p:spPr>
        <p:txBody>
          <a:bodyPr/>
          <a:p>
            <a:r>
              <a:rPr dirty="0" lang="en-US" smtClean="0"/>
              <a:t>		</a:t>
            </a:r>
            <a:r>
              <a:rPr b="1" dirty="0" sz="5400" lang="en-US" smtClean="0">
                <a:solidFill>
                  <a:srgbClr val="FF0000"/>
                </a:solidFill>
              </a:rPr>
              <a:t> DESCRIPTION</a:t>
            </a:r>
            <a:endParaRPr dirty="0" lang="en-US"/>
          </a:p>
        </p:txBody>
      </p:sp>
      <p:sp>
        <p:nvSpPr>
          <p:cNvPr id="1048899" name="Content Placeholder 2"/>
          <p:cNvSpPr>
            <a:spLocks noGrp="1"/>
          </p:cNvSpPr>
          <p:nvPr>
            <p:ph idx="1"/>
          </p:nvPr>
        </p:nvSpPr>
        <p:spPr>
          <a:xfrm>
            <a:off x="571500" y="1143000"/>
            <a:ext cx="10287000" cy="5410200"/>
          </a:xfrm>
        </p:spPr>
        <p:txBody>
          <a:bodyPr>
            <a:noAutofit/>
          </a:bodyPr>
          <a:p>
            <a:pPr algn="just"/>
            <a:r>
              <a:rPr dirty="0" sz="3200" lang="en-US" smtClean="0"/>
              <a:t>It’s </a:t>
            </a:r>
            <a:r>
              <a:rPr dirty="0" sz="3200" lang="en-US"/>
              <a:t>among the hypertension </a:t>
            </a:r>
            <a:r>
              <a:rPr dirty="0" sz="3200" lang="en-US" smtClean="0"/>
              <a:t>disorders and  occurs </a:t>
            </a:r>
            <a:r>
              <a:rPr dirty="0" sz="3200" lang="en-US"/>
              <a:t>only in pregnancy </a:t>
            </a:r>
            <a:r>
              <a:rPr dirty="0" sz="3200" lang="en-US" smtClean="0"/>
              <a:t>.</a:t>
            </a:r>
          </a:p>
          <a:p>
            <a:pPr algn="just"/>
            <a:r>
              <a:rPr dirty="0" sz="3200" lang="en-US" smtClean="0"/>
              <a:t>Onset </a:t>
            </a:r>
            <a:r>
              <a:rPr dirty="0" sz="3200" lang="en-US"/>
              <a:t>is commonly between 26</a:t>
            </a:r>
            <a:r>
              <a:rPr baseline="30000" dirty="0" sz="3200" lang="en-US"/>
              <a:t>th</a:t>
            </a:r>
            <a:r>
              <a:rPr dirty="0" sz="3200" lang="en-US"/>
              <a:t>-28</a:t>
            </a:r>
            <a:r>
              <a:rPr baseline="30000" dirty="0" sz="3200" lang="en-US"/>
              <a:t>th</a:t>
            </a:r>
            <a:r>
              <a:rPr dirty="0" sz="3200" lang="en-US"/>
              <a:t> </a:t>
            </a:r>
            <a:r>
              <a:rPr dirty="0" sz="3200" lang="en-US" smtClean="0"/>
              <a:t>weeks </a:t>
            </a:r>
            <a:r>
              <a:rPr dirty="0" sz="3200" lang="en-US"/>
              <a:t>and </a:t>
            </a:r>
            <a:r>
              <a:rPr dirty="0" sz="3200" lang="en-US" smtClean="0"/>
              <a:t>rarely </a:t>
            </a:r>
            <a:r>
              <a:rPr dirty="0" sz="3200" lang="en-US"/>
              <a:t>at 22 weeks. </a:t>
            </a:r>
            <a:endParaRPr dirty="0" sz="3200" lang="en-US" smtClean="0"/>
          </a:p>
          <a:p>
            <a:pPr algn="just"/>
            <a:r>
              <a:rPr dirty="0" sz="3200" lang="en-US" smtClean="0"/>
              <a:t>It’s </a:t>
            </a:r>
            <a:r>
              <a:rPr dirty="0" sz="3200" lang="en-US"/>
              <a:t>characterized basically by </a:t>
            </a:r>
            <a:r>
              <a:rPr b="1" dirty="0" sz="3200" lang="en-US"/>
              <a:t>hypertension and </a:t>
            </a:r>
            <a:r>
              <a:rPr b="1" dirty="0" sz="3200" lang="en-US" smtClean="0"/>
              <a:t>proteinuria </a:t>
            </a:r>
            <a:r>
              <a:rPr b="1" dirty="0" sz="3200" lang="en-US"/>
              <a:t>with or without oedema.</a:t>
            </a:r>
          </a:p>
          <a:p>
            <a:pPr algn="just"/>
            <a:endParaRPr dirty="0" sz="3200" lang="en-US"/>
          </a:p>
        </p:txBody>
      </p:sp>
      <p:sp>
        <p:nvSpPr>
          <p:cNvPr id="104890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764" name=""/>
        <p:cNvGrpSpPr/>
        <p:nvPr/>
      </p:nvGrpSpPr>
      <p:grpSpPr>
        <a:xfrm>
          <a:off x="0" y="0"/>
          <a:ext cx="0" cy="0"/>
          <a:chOff x="0" y="0"/>
          <a:chExt cx="0" cy="0"/>
        </a:xfrm>
      </p:grpSpPr>
      <p:sp>
        <p:nvSpPr>
          <p:cNvPr id="1048901" name="Title 1"/>
          <p:cNvSpPr>
            <a:spLocks noGrp="1"/>
          </p:cNvSpPr>
          <p:nvPr>
            <p:ph type="title"/>
          </p:nvPr>
        </p:nvSpPr>
        <p:spPr/>
        <p:txBody>
          <a:bodyPr>
            <a:normAutofit/>
          </a:bodyPr>
          <a:p>
            <a:pPr algn="ctr"/>
            <a:r>
              <a:rPr dirty="0" lang="en-US" smtClean="0"/>
              <a:t> </a:t>
            </a:r>
            <a:r>
              <a:rPr b="1" dirty="0" sz="5400" lang="en-US" smtClean="0">
                <a:solidFill>
                  <a:srgbClr val="FF0000"/>
                </a:solidFill>
              </a:rPr>
              <a:t>PREDISPOSING FACTORS</a:t>
            </a:r>
            <a:endParaRPr dirty="0" lang="en-US">
              <a:solidFill>
                <a:srgbClr val="FF0000"/>
              </a:solidFill>
            </a:endParaRPr>
          </a:p>
        </p:txBody>
      </p:sp>
      <p:sp>
        <p:nvSpPr>
          <p:cNvPr id="1048902" name="Content Placeholder 2"/>
          <p:cNvSpPr>
            <a:spLocks noGrp="1"/>
          </p:cNvSpPr>
          <p:nvPr>
            <p:ph idx="1"/>
          </p:nvPr>
        </p:nvSpPr>
        <p:spPr/>
        <p:txBody>
          <a:bodyPr>
            <a:normAutofit/>
          </a:bodyPr>
          <a:p>
            <a:pPr algn="just" lvl="0"/>
            <a:r>
              <a:rPr dirty="0" sz="3200" lang="en-US" smtClean="0"/>
              <a:t>Pre pregnancy hypertension also referred to as existing or chronic hypertension before conception, because of damage of the various endothelium.</a:t>
            </a:r>
          </a:p>
          <a:p>
            <a:pPr algn="just" lvl="0"/>
            <a:r>
              <a:rPr dirty="0" sz="3200" lang="en-US" smtClean="0"/>
              <a:t>Previous history of pre-eclampsia, because of probability of re-occurrence.</a:t>
            </a:r>
          </a:p>
          <a:p>
            <a:pPr algn="just" lvl="0"/>
            <a:r>
              <a:rPr dirty="0" sz="3200" lang="en-US" smtClean="0"/>
              <a:t>Family history of pre-eclampsia mostly within her nuclear family of origin.</a:t>
            </a:r>
          </a:p>
          <a:p>
            <a:pPr algn="just"/>
            <a:endParaRPr dirty="0" lang="en-US"/>
          </a:p>
        </p:txBody>
      </p:sp>
      <p:sp>
        <p:nvSpPr>
          <p:cNvPr id="104890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765" name=""/>
        <p:cNvGrpSpPr/>
        <p:nvPr/>
      </p:nvGrpSpPr>
      <p:grpSpPr>
        <a:xfrm>
          <a:off x="0" y="0"/>
          <a:ext cx="0" cy="0"/>
          <a:chOff x="0" y="0"/>
          <a:chExt cx="0" cy="0"/>
        </a:xfrm>
      </p:grpSpPr>
      <p:sp>
        <p:nvSpPr>
          <p:cNvPr id="1048904" name="Content Placeholder 2"/>
          <p:cNvSpPr>
            <a:spLocks noGrp="1"/>
          </p:cNvSpPr>
          <p:nvPr>
            <p:ph idx="1"/>
          </p:nvPr>
        </p:nvSpPr>
        <p:spPr>
          <a:xfrm>
            <a:off x="571500" y="685800"/>
            <a:ext cx="10287000" cy="5638800"/>
          </a:xfrm>
        </p:spPr>
        <p:txBody>
          <a:bodyPr>
            <a:normAutofit/>
          </a:bodyPr>
          <a:p>
            <a:pPr algn="just" lvl="0"/>
            <a:r>
              <a:rPr dirty="0" sz="3200" lang="en-US" smtClean="0"/>
              <a:t>Renal diseases due to high release of angiotensin II.</a:t>
            </a:r>
          </a:p>
          <a:p>
            <a:pPr algn="just" lvl="0"/>
            <a:r>
              <a:rPr dirty="0" sz="3200" lang="en-US" smtClean="0"/>
              <a:t>Diabetes mellitus due to endothelial cells dysfunction and also large placental mass. </a:t>
            </a:r>
          </a:p>
          <a:p>
            <a:pPr algn="just" lvl="0"/>
            <a:r>
              <a:rPr dirty="0" sz="3200" lang="en-US" smtClean="0"/>
              <a:t>Multiple pregnancy, large placental mass hence possibility vasoconstriction.</a:t>
            </a:r>
          </a:p>
          <a:p>
            <a:pPr algn="just" lvl="0"/>
            <a:r>
              <a:rPr dirty="0" sz="3200" lang="en-US" smtClean="0"/>
              <a:t>Hydatidform mole.</a:t>
            </a:r>
          </a:p>
          <a:p>
            <a:pPr algn="just" lvl="0"/>
            <a:r>
              <a:rPr dirty="0" sz="3200" lang="en-US" smtClean="0"/>
              <a:t>Maternal age below 20 years and above 35 years. Low age has negative impact on pregnancy, while high age there is possibility of chronic HTN.</a:t>
            </a:r>
          </a:p>
          <a:p>
            <a:pPr algn="just"/>
            <a:endParaRPr dirty="0" sz="3200" lang="en-US"/>
          </a:p>
        </p:txBody>
      </p:sp>
      <p:sp>
        <p:nvSpPr>
          <p:cNvPr id="104890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766" name=""/>
        <p:cNvGrpSpPr/>
        <p:nvPr/>
      </p:nvGrpSpPr>
      <p:grpSpPr>
        <a:xfrm>
          <a:off x="0" y="0"/>
          <a:ext cx="0" cy="0"/>
          <a:chOff x="0" y="0"/>
          <a:chExt cx="0" cy="0"/>
        </a:xfrm>
      </p:grpSpPr>
      <p:sp>
        <p:nvSpPr>
          <p:cNvPr id="1048906" name="Content Placeholder 2"/>
          <p:cNvSpPr>
            <a:spLocks noGrp="1"/>
          </p:cNvSpPr>
          <p:nvPr>
            <p:ph idx="1"/>
          </p:nvPr>
        </p:nvSpPr>
        <p:spPr>
          <a:xfrm>
            <a:off x="285751" y="838200"/>
            <a:ext cx="10953750" cy="5715000"/>
          </a:xfrm>
        </p:spPr>
        <p:txBody>
          <a:bodyPr>
            <a:noAutofit/>
          </a:bodyPr>
          <a:p>
            <a:pPr algn="just" lvl="0"/>
            <a:r>
              <a:rPr dirty="0" sz="3100" lang="en-US" smtClean="0"/>
              <a:t>Being a </a:t>
            </a:r>
            <a:r>
              <a:rPr dirty="0" sz="3100" lang="en-US" err="1" smtClean="0"/>
              <a:t>primigravida</a:t>
            </a:r>
            <a:r>
              <a:rPr dirty="0" sz="3100" lang="en-US" smtClean="0"/>
              <a:t> because of the maternal immune response to fetal antigen from the father.</a:t>
            </a:r>
          </a:p>
          <a:p>
            <a:pPr algn="just"/>
            <a:r>
              <a:rPr dirty="0" sz="3100" lang="en-US" smtClean="0"/>
              <a:t>Change of male partner: The fetal antigen from the sperm sensitizes the production of antibodies by the maternal body hence endothelial cells dysfunction leading  to high sensitivity to </a:t>
            </a:r>
            <a:r>
              <a:rPr dirty="0" sz="3100" lang="en-US" err="1" smtClean="0"/>
              <a:t>angiotension</a:t>
            </a:r>
            <a:r>
              <a:rPr dirty="0" sz="3100" lang="en-US" smtClean="0"/>
              <a:t> II= HTN.</a:t>
            </a:r>
          </a:p>
          <a:p>
            <a:pPr algn="just">
              <a:buNone/>
            </a:pPr>
            <a:r>
              <a:rPr dirty="0" sz="3100" lang="en-US" smtClean="0"/>
              <a:t>		</a:t>
            </a:r>
            <a:r>
              <a:rPr b="1" dirty="0" sz="3100" lang="en-US" smtClean="0">
                <a:solidFill>
                  <a:srgbClr val="FF0000"/>
                </a:solidFill>
              </a:rPr>
              <a:t>AETIOLOGY</a:t>
            </a:r>
          </a:p>
          <a:p>
            <a:pPr algn="just"/>
            <a:r>
              <a:rPr dirty="0" sz="3100" lang="en-US" smtClean="0"/>
              <a:t>Development of pre-</a:t>
            </a:r>
            <a:r>
              <a:rPr dirty="0" sz="3100" lang="en-US" err="1" smtClean="0"/>
              <a:t>eclampsia</a:t>
            </a:r>
            <a:r>
              <a:rPr dirty="0" sz="3100" lang="en-US" smtClean="0"/>
              <a:t> basically occurs in two stages namely:</a:t>
            </a:r>
          </a:p>
          <a:p>
            <a:pPr algn="just">
              <a:buNone/>
            </a:pPr>
            <a:r>
              <a:rPr dirty="0" sz="3100" lang="en-US" smtClean="0"/>
              <a:t> </a:t>
            </a:r>
            <a:endParaRPr dirty="0" sz="3100" lang="en-US"/>
          </a:p>
        </p:txBody>
      </p:sp>
      <p:sp>
        <p:nvSpPr>
          <p:cNvPr id="104890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767" name=""/>
        <p:cNvGrpSpPr/>
        <p:nvPr/>
      </p:nvGrpSpPr>
      <p:grpSpPr>
        <a:xfrm>
          <a:off x="0" y="0"/>
          <a:ext cx="0" cy="0"/>
          <a:chOff x="0" y="0"/>
          <a:chExt cx="0" cy="0"/>
        </a:xfrm>
      </p:grpSpPr>
      <p:sp>
        <p:nvSpPr>
          <p:cNvPr id="1048908" name="Content Placeholder 2"/>
          <p:cNvSpPr>
            <a:spLocks noGrp="1"/>
          </p:cNvSpPr>
          <p:nvPr>
            <p:ph idx="1"/>
          </p:nvPr>
        </p:nvSpPr>
        <p:spPr>
          <a:xfrm>
            <a:off x="571500" y="990600"/>
            <a:ext cx="10287000" cy="5334000"/>
          </a:xfrm>
        </p:spPr>
        <p:txBody>
          <a:bodyPr>
            <a:normAutofit/>
          </a:bodyPr>
          <a:p>
            <a:pPr algn="just">
              <a:buNone/>
            </a:pPr>
            <a:r>
              <a:rPr dirty="0" i="1" lang="en-US" smtClean="0"/>
              <a:t>	</a:t>
            </a:r>
            <a:r>
              <a:rPr b="1" dirty="0" sz="3200" i="1" lang="en-US" smtClean="0"/>
              <a:t>STAGE I</a:t>
            </a:r>
          </a:p>
          <a:p>
            <a:pPr algn="just"/>
            <a:r>
              <a:rPr dirty="0" sz="3200" lang="en-US" smtClean="0"/>
              <a:t>Early in pregnancy as the decidua gets invaded by the </a:t>
            </a:r>
            <a:r>
              <a:rPr dirty="0" sz="3200" lang="en-US" err="1" smtClean="0"/>
              <a:t>syncytiotrophoblast</a:t>
            </a:r>
            <a:r>
              <a:rPr dirty="0" sz="3200" lang="en-US" smtClean="0"/>
              <a:t> for implantation to occur . </a:t>
            </a:r>
          </a:p>
          <a:p>
            <a:pPr algn="just"/>
            <a:r>
              <a:rPr dirty="0" sz="3200" lang="en-US" smtClean="0"/>
              <a:t>The erosion of the muscular wall &amp; endothelium of the spinal arteries is abnormal.</a:t>
            </a:r>
          </a:p>
          <a:p>
            <a:pPr algn="just"/>
            <a:r>
              <a:rPr dirty="0" sz="3200" lang="en-US" smtClean="0"/>
              <a:t>Finally the  placenta is not appropriately supplied by oxygen though no features are detected clinically.</a:t>
            </a:r>
          </a:p>
        </p:txBody>
      </p:sp>
      <p:sp>
        <p:nvSpPr>
          <p:cNvPr id="104890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768" name=""/>
        <p:cNvGrpSpPr/>
        <p:nvPr/>
      </p:nvGrpSpPr>
      <p:grpSpPr>
        <a:xfrm>
          <a:off x="0" y="0"/>
          <a:ext cx="0" cy="0"/>
          <a:chOff x="0" y="0"/>
          <a:chExt cx="0" cy="0"/>
        </a:xfrm>
      </p:grpSpPr>
      <p:sp>
        <p:nvSpPr>
          <p:cNvPr id="1048910" name="Content Placeholder 2"/>
          <p:cNvSpPr>
            <a:spLocks noGrp="1"/>
          </p:cNvSpPr>
          <p:nvPr>
            <p:ph idx="1"/>
          </p:nvPr>
        </p:nvSpPr>
        <p:spPr>
          <a:xfrm>
            <a:off x="571500" y="838200"/>
            <a:ext cx="10287000" cy="5486400"/>
          </a:xfrm>
        </p:spPr>
        <p:txBody>
          <a:bodyPr>
            <a:normAutofit/>
          </a:bodyPr>
          <a:p>
            <a:pPr algn="just">
              <a:buNone/>
            </a:pPr>
            <a:r>
              <a:rPr b="1" dirty="0" sz="3200" lang="en-US" smtClean="0"/>
              <a:t>	STAGE II</a:t>
            </a:r>
            <a:endParaRPr dirty="0" sz="3200" i="1" lang="en-US" smtClean="0"/>
          </a:p>
          <a:p>
            <a:pPr algn="just"/>
            <a:r>
              <a:rPr dirty="0" sz="3200" lang="en-US" smtClean="0"/>
              <a:t> Occurs between 16</a:t>
            </a:r>
            <a:r>
              <a:rPr baseline="30000" dirty="0" sz="3200" lang="en-US" smtClean="0"/>
              <a:t>th</a:t>
            </a:r>
            <a:r>
              <a:rPr dirty="0" sz="3200" lang="en-US" smtClean="0"/>
              <a:t>-20</a:t>
            </a:r>
            <a:r>
              <a:rPr baseline="30000" dirty="0" sz="3200" lang="en-US" smtClean="0"/>
              <a:t>th</a:t>
            </a:r>
            <a:r>
              <a:rPr dirty="0" sz="3200" lang="en-US" smtClean="0"/>
              <a:t> week the oxidatively stressed [inadequately oxygen supplied placenta ] placenta, releases factors leading to damage of endothelia cells which form endothelium ,in the maternal circulation.</a:t>
            </a:r>
          </a:p>
          <a:p>
            <a:pPr algn="just">
              <a:buFont typeface="Wingdings" pitchFamily="2" charset="2"/>
              <a:buChar char="ü"/>
            </a:pPr>
            <a:r>
              <a:rPr dirty="0" sz="3200" lang="en-US" smtClean="0"/>
              <a:t>Eventually the endothelial cells dysfunction and maternal systemic inflammatory response lead to clinical features of pre-</a:t>
            </a:r>
            <a:r>
              <a:rPr dirty="0" sz="3200" lang="en-US" err="1" smtClean="0"/>
              <a:t>eclampsia</a:t>
            </a:r>
            <a:r>
              <a:rPr dirty="0" sz="3200" lang="en-US" smtClean="0"/>
              <a:t>.</a:t>
            </a:r>
          </a:p>
          <a:p>
            <a:pPr algn="just"/>
            <a:endParaRPr dirty="0" lang="en-US"/>
          </a:p>
        </p:txBody>
      </p:sp>
      <p:sp>
        <p:nvSpPr>
          <p:cNvPr id="104891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769" name=""/>
        <p:cNvGrpSpPr/>
        <p:nvPr/>
      </p:nvGrpSpPr>
      <p:grpSpPr>
        <a:xfrm>
          <a:off x="0" y="0"/>
          <a:ext cx="0" cy="0"/>
          <a:chOff x="0" y="0"/>
          <a:chExt cx="0" cy="0"/>
        </a:xfrm>
      </p:grpSpPr>
      <p:sp>
        <p:nvSpPr>
          <p:cNvPr id="1048912" name="Content Placeholder 2"/>
          <p:cNvSpPr>
            <a:spLocks noGrp="1"/>
          </p:cNvSpPr>
          <p:nvPr>
            <p:ph idx="1"/>
          </p:nvPr>
        </p:nvSpPr>
        <p:spPr>
          <a:xfrm>
            <a:off x="381000" y="762000"/>
            <a:ext cx="10763250" cy="5562600"/>
          </a:xfrm>
        </p:spPr>
        <p:txBody>
          <a:bodyPr>
            <a:normAutofit/>
          </a:bodyPr>
          <a:p>
            <a:pPr algn="just">
              <a:buNone/>
            </a:pPr>
            <a:r>
              <a:rPr b="1" dirty="0" sz="3200" lang="en-US" smtClean="0"/>
              <a:t>	GENERAL CLINICAL FEATURES.</a:t>
            </a:r>
            <a:endParaRPr dirty="0" sz="3200" lang="en-US" smtClean="0"/>
          </a:p>
          <a:p>
            <a:pPr algn="just" lvl="0"/>
            <a:r>
              <a:rPr dirty="0" sz="3200" lang="en-US" smtClean="0"/>
              <a:t>Hypertension:- Bp reading are 140/90 mmhg &amp; above, taken on two consecutive occasions, at least 2- 4 hrs apart.</a:t>
            </a:r>
          </a:p>
          <a:p>
            <a:pPr algn="just" lvl="0"/>
            <a:r>
              <a:rPr dirty="0" sz="3200" lang="en-US" smtClean="0"/>
              <a:t>Excessive weight gain:- Due to fluid retention.</a:t>
            </a:r>
          </a:p>
          <a:p>
            <a:pPr algn="just" lvl="0"/>
            <a:r>
              <a:rPr dirty="0" sz="3200" lang="en-US" err="1" smtClean="0"/>
              <a:t>Oedema</a:t>
            </a:r>
            <a:r>
              <a:rPr dirty="0" sz="3200" lang="en-US" smtClean="0"/>
              <a:t>:- Initially of ankles, later fingers, face &amp; legs.</a:t>
            </a:r>
          </a:p>
          <a:p>
            <a:pPr algn="just" lvl="0">
              <a:buFont typeface="Wingdings" pitchFamily="2" charset="2"/>
              <a:buChar char="Ø"/>
            </a:pPr>
            <a:r>
              <a:rPr dirty="0" sz="3200" lang="en-US" smtClean="0"/>
              <a:t>Finally becomes generalized </a:t>
            </a:r>
            <a:r>
              <a:rPr dirty="0" sz="3200" lang="en-US" err="1" smtClean="0"/>
              <a:t>oedema</a:t>
            </a:r>
            <a:r>
              <a:rPr dirty="0" sz="3200" lang="en-US" smtClean="0"/>
              <a:t> to include abdomen, sacral region &amp; vulva, results from severe fluid retention.</a:t>
            </a:r>
          </a:p>
          <a:p>
            <a:pPr algn="just" lvl="0"/>
            <a:endParaRPr dirty="0" sz="3200" lang="en-US" smtClean="0"/>
          </a:p>
          <a:p>
            <a:pPr algn="just"/>
            <a:endParaRPr dirty="0" sz="3200" lang="en-US"/>
          </a:p>
        </p:txBody>
      </p:sp>
      <p:sp>
        <p:nvSpPr>
          <p:cNvPr id="104891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770" name=""/>
        <p:cNvGrpSpPr/>
        <p:nvPr/>
      </p:nvGrpSpPr>
      <p:grpSpPr>
        <a:xfrm>
          <a:off x="0" y="0"/>
          <a:ext cx="0" cy="0"/>
          <a:chOff x="0" y="0"/>
          <a:chExt cx="0" cy="0"/>
        </a:xfrm>
      </p:grpSpPr>
      <p:sp>
        <p:nvSpPr>
          <p:cNvPr id="1048914" name="Content Placeholder 2"/>
          <p:cNvSpPr>
            <a:spLocks noGrp="1"/>
          </p:cNvSpPr>
          <p:nvPr>
            <p:ph idx="1"/>
          </p:nvPr>
        </p:nvSpPr>
        <p:spPr>
          <a:xfrm>
            <a:off x="571500" y="914400"/>
            <a:ext cx="10287000" cy="5410200"/>
          </a:xfrm>
        </p:spPr>
        <p:txBody>
          <a:bodyPr>
            <a:normAutofit/>
          </a:bodyPr>
          <a:p>
            <a:pPr algn="just"/>
            <a:r>
              <a:rPr dirty="0" sz="3600" lang="en-US" smtClean="0"/>
              <a:t>Fatigue:-Due to inadequate blood supply to body tissues.</a:t>
            </a:r>
          </a:p>
          <a:p>
            <a:pPr algn="just"/>
            <a:r>
              <a:rPr dirty="0" sz="3600" lang="en-US" smtClean="0"/>
              <a:t>Abdominal discomforts:- Reported as  indigestion, stomachache &amp; constipation because of poor blood supply.</a:t>
            </a:r>
          </a:p>
          <a:p>
            <a:pPr algn="just" lvl="0"/>
            <a:r>
              <a:rPr dirty="0" sz="3600" lang="en-US" smtClean="0"/>
              <a:t>Palpitations :-because of increased  peripheral resistance.</a:t>
            </a:r>
          </a:p>
          <a:p>
            <a:pPr algn="just"/>
            <a:endParaRPr dirty="0" lang="en-US"/>
          </a:p>
        </p:txBody>
      </p:sp>
      <p:sp>
        <p:nvSpPr>
          <p:cNvPr id="104891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771" name=""/>
        <p:cNvGrpSpPr/>
        <p:nvPr/>
      </p:nvGrpSpPr>
      <p:grpSpPr>
        <a:xfrm>
          <a:off x="0" y="0"/>
          <a:ext cx="0" cy="0"/>
          <a:chOff x="0" y="0"/>
          <a:chExt cx="0" cy="0"/>
        </a:xfrm>
      </p:grpSpPr>
      <p:sp>
        <p:nvSpPr>
          <p:cNvPr id="1048916" name="Content Placeholder 2"/>
          <p:cNvSpPr>
            <a:spLocks noGrp="1"/>
          </p:cNvSpPr>
          <p:nvPr>
            <p:ph idx="1"/>
          </p:nvPr>
        </p:nvSpPr>
        <p:spPr>
          <a:xfrm>
            <a:off x="571500" y="838200"/>
            <a:ext cx="10287000" cy="5486400"/>
          </a:xfrm>
        </p:spPr>
        <p:txBody>
          <a:bodyPr>
            <a:normAutofit/>
          </a:bodyPr>
          <a:p>
            <a:pPr algn="just" lvl="0"/>
            <a:r>
              <a:rPr dirty="0" sz="3200" lang="en-US" smtClean="0"/>
              <a:t>Visual disturbances:- Blurred vision, flash light and double vision. Sometimes temporary blindness.</a:t>
            </a:r>
          </a:p>
          <a:p>
            <a:pPr algn="just" lvl="0"/>
            <a:r>
              <a:rPr dirty="0" sz="3200" lang="en-US" smtClean="0"/>
              <a:t>Headache:-either </a:t>
            </a:r>
            <a:r>
              <a:rPr b="1" dirty="0" sz="3200" lang="en-US" smtClean="0"/>
              <a:t>frontal or occipital </a:t>
            </a:r>
            <a:r>
              <a:rPr dirty="0" sz="3200" lang="en-US" smtClean="0"/>
              <a:t>because of raised/ increased  intracranial pressure.</a:t>
            </a:r>
          </a:p>
          <a:p>
            <a:pPr algn="just" lvl="0"/>
            <a:r>
              <a:rPr dirty="0" sz="3200" lang="en-US" smtClean="0"/>
              <a:t> </a:t>
            </a:r>
            <a:r>
              <a:rPr dirty="0" sz="3200" lang="en-US" err="1" smtClean="0"/>
              <a:t>Proteinuria</a:t>
            </a:r>
            <a:r>
              <a:rPr dirty="0" sz="3200" lang="en-US" smtClean="0"/>
              <a:t> : Signifying renal damage.</a:t>
            </a:r>
          </a:p>
          <a:p>
            <a:pPr algn="just" lvl="0"/>
            <a:r>
              <a:rPr dirty="0" sz="3200" lang="en-US" smtClean="0"/>
              <a:t>Severe epigastric pain &amp; sometimes tinge of jaundice  , due to liver involvement.</a:t>
            </a:r>
          </a:p>
          <a:p>
            <a:pPr algn="just" lvl="0"/>
            <a:endParaRPr dirty="0" sz="3200" lang="en-US" smtClean="0"/>
          </a:p>
          <a:p>
            <a:pPr algn="just"/>
            <a:endParaRPr dirty="0" lang="en-US"/>
          </a:p>
        </p:txBody>
      </p:sp>
      <p:sp>
        <p:nvSpPr>
          <p:cNvPr id="104891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772" name=""/>
        <p:cNvGrpSpPr/>
        <p:nvPr/>
      </p:nvGrpSpPr>
      <p:grpSpPr>
        <a:xfrm>
          <a:off x="0" y="0"/>
          <a:ext cx="0" cy="0"/>
          <a:chOff x="0" y="0"/>
          <a:chExt cx="0" cy="0"/>
        </a:xfrm>
      </p:grpSpPr>
      <p:sp>
        <p:nvSpPr>
          <p:cNvPr id="1048918" name="Title 1"/>
          <p:cNvSpPr>
            <a:spLocks noGrp="1"/>
          </p:cNvSpPr>
          <p:nvPr>
            <p:ph type="title"/>
          </p:nvPr>
        </p:nvSpPr>
        <p:spPr>
          <a:xfrm>
            <a:off x="571500" y="228600"/>
            <a:ext cx="10287000" cy="1143000"/>
          </a:xfrm>
        </p:spPr>
        <p:txBody>
          <a:bodyPr>
            <a:normAutofit/>
          </a:bodyPr>
          <a:p>
            <a:r>
              <a:rPr dirty="0" lang="en-US" smtClean="0"/>
              <a:t>	</a:t>
            </a:r>
            <a:r>
              <a:rPr b="1" dirty="0" sz="5400" lang="en-US" smtClean="0"/>
              <a:t> </a:t>
            </a:r>
            <a:r>
              <a:rPr b="1" dirty="0" sz="4400" lang="en-US" smtClean="0">
                <a:solidFill>
                  <a:srgbClr val="FF0000"/>
                </a:solidFill>
              </a:rPr>
              <a:t>DIAGNOSTIC FACTORS</a:t>
            </a:r>
            <a:endParaRPr dirty="0" sz="4400" lang="en-US">
              <a:solidFill>
                <a:srgbClr val="FF0000"/>
              </a:solidFill>
            </a:endParaRPr>
          </a:p>
        </p:txBody>
      </p:sp>
      <p:sp>
        <p:nvSpPr>
          <p:cNvPr id="1048919" name="Content Placeholder 2"/>
          <p:cNvSpPr>
            <a:spLocks noGrp="1"/>
          </p:cNvSpPr>
          <p:nvPr>
            <p:ph idx="1"/>
          </p:nvPr>
        </p:nvSpPr>
        <p:spPr>
          <a:xfrm>
            <a:off x="190500" y="1371600"/>
            <a:ext cx="10953750" cy="5105400"/>
          </a:xfrm>
        </p:spPr>
        <p:txBody>
          <a:bodyPr>
            <a:normAutofit lnSpcReduction="10000"/>
          </a:bodyPr>
          <a:p>
            <a:pPr algn="just">
              <a:buNone/>
            </a:pPr>
            <a:r>
              <a:rPr dirty="0" sz="3000" i="1" lang="en-US" smtClean="0"/>
              <a:t>	</a:t>
            </a:r>
            <a:r>
              <a:rPr b="1" dirty="0" sz="3000" i="1" lang="en-US" u="sng" smtClean="0"/>
              <a:t>1) HYPERTENSION</a:t>
            </a:r>
            <a:endParaRPr b="1" dirty="0" sz="3000" lang="en-US" u="sng" smtClean="0"/>
          </a:p>
          <a:p>
            <a:pPr algn="just"/>
            <a:r>
              <a:rPr dirty="0" sz="3000" lang="en-US" smtClean="0"/>
              <a:t>BP readings are of 140/90 mmhg or greater, measured on two consecutive </a:t>
            </a:r>
            <a:r>
              <a:rPr dirty="0" sz="3000" lang="en-US" err="1" smtClean="0"/>
              <a:t>occassions</a:t>
            </a:r>
            <a:r>
              <a:rPr dirty="0" sz="3000" lang="en-US" smtClean="0"/>
              <a:t>, 2-4 hrs apart.</a:t>
            </a:r>
          </a:p>
          <a:p>
            <a:pPr algn="just"/>
            <a:r>
              <a:rPr dirty="0" sz="3000" lang="en-US" smtClean="0"/>
              <a:t>Specifically diagnosis is based on a rise of systolic pressure with 30mmhg &amp; diastolic pressure with 15mmhg above the normal values, for that client, at least 2 occasions, 4 hours or more apart.</a:t>
            </a:r>
          </a:p>
          <a:p>
            <a:pPr algn="just"/>
            <a:r>
              <a:rPr dirty="0" sz="3000" lang="en-US" smtClean="0"/>
              <a:t>Alternatively a single episode of diastolic pressure of 100 mmhg is diagnostic.</a:t>
            </a:r>
          </a:p>
          <a:p>
            <a:pPr algn="just">
              <a:buNone/>
            </a:pPr>
            <a:r>
              <a:rPr dirty="0" sz="3000" lang="en-US" smtClean="0"/>
              <a:t>	</a:t>
            </a:r>
            <a:r>
              <a:rPr b="1" dirty="0" sz="3000" lang="en-US" smtClean="0"/>
              <a:t>NB</a:t>
            </a:r>
            <a:r>
              <a:rPr dirty="0" sz="3000" lang="en-US" smtClean="0"/>
              <a:t>: Rise can be gradual or sudden, for the gradual, the mother has no symptoms.</a:t>
            </a:r>
          </a:p>
          <a:p>
            <a:pPr algn="just"/>
            <a:endParaRPr dirty="0" lang="en-US"/>
          </a:p>
        </p:txBody>
      </p:sp>
      <p:sp>
        <p:nvSpPr>
          <p:cNvPr id="104892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773" name=""/>
        <p:cNvGrpSpPr/>
        <p:nvPr/>
      </p:nvGrpSpPr>
      <p:grpSpPr>
        <a:xfrm>
          <a:off x="0" y="0"/>
          <a:ext cx="0" cy="0"/>
          <a:chOff x="0" y="0"/>
          <a:chExt cx="0" cy="0"/>
        </a:xfrm>
      </p:grpSpPr>
      <p:sp>
        <p:nvSpPr>
          <p:cNvPr id="1048921" name="Content Placeholder 2"/>
          <p:cNvSpPr>
            <a:spLocks noGrp="1"/>
          </p:cNvSpPr>
          <p:nvPr>
            <p:ph idx="1"/>
          </p:nvPr>
        </p:nvSpPr>
        <p:spPr>
          <a:xfrm>
            <a:off x="285750" y="685800"/>
            <a:ext cx="10858500" cy="5791200"/>
          </a:xfrm>
        </p:spPr>
        <p:txBody>
          <a:bodyPr>
            <a:noAutofit/>
          </a:bodyPr>
          <a:p>
            <a:pPr algn="just">
              <a:buNone/>
            </a:pPr>
            <a:r>
              <a:rPr b="1" dirty="0" sz="3200" lang="en-US" smtClean="0"/>
              <a:t>	</a:t>
            </a:r>
            <a:r>
              <a:rPr b="1" dirty="0" sz="3200" i="1" lang="en-US" u="sng" smtClean="0"/>
              <a:t> 2.PROTENURIA</a:t>
            </a:r>
          </a:p>
          <a:p>
            <a:pPr algn="just"/>
            <a:r>
              <a:rPr dirty="0" sz="3200" lang="en-US" smtClean="0"/>
              <a:t>Refers to presence of detectable protein of 1 (one) plus(+) or more on a reagent/ strip testing, in  clean catch urine specimens [</a:t>
            </a:r>
            <a:r>
              <a:rPr dirty="0" sz="3200" lang="en-US" err="1" smtClean="0"/>
              <a:t>m.s.s.u</a:t>
            </a:r>
            <a:r>
              <a:rPr dirty="0" sz="3200" lang="en-US" smtClean="0"/>
              <a:t>] taken at least 4 hours apart.</a:t>
            </a:r>
          </a:p>
          <a:p>
            <a:pPr algn="just"/>
            <a:r>
              <a:rPr dirty="0" sz="3200" lang="en-US" smtClean="0">
                <a:solidFill>
                  <a:srgbClr val="FF0000"/>
                </a:solidFill>
              </a:rPr>
              <a:t>OR: </a:t>
            </a:r>
            <a:r>
              <a:rPr dirty="0" sz="3200" lang="en-US" smtClean="0"/>
              <a:t>Protein excretion of 300mg or more in a 24 hours collection of specimen of urine.</a:t>
            </a:r>
          </a:p>
          <a:p>
            <a:pPr algn="just"/>
            <a:r>
              <a:rPr dirty="0" sz="3200" lang="en-US" smtClean="0"/>
              <a:t>This occurs because of</a:t>
            </a:r>
            <a:r>
              <a:rPr dirty="0" sz="3200" lang="en-US" smtClean="0">
                <a:solidFill>
                  <a:srgbClr val="0070C0"/>
                </a:solidFill>
              </a:rPr>
              <a:t> </a:t>
            </a:r>
            <a:r>
              <a:rPr dirty="0" sz="3200" lang="en-US" err="1" smtClean="0">
                <a:solidFill>
                  <a:srgbClr val="0070C0"/>
                </a:solidFill>
              </a:rPr>
              <a:t>glomeruloendotheliosis</a:t>
            </a:r>
            <a:r>
              <a:rPr dirty="0" sz="3200" lang="en-US" smtClean="0">
                <a:solidFill>
                  <a:srgbClr val="0070C0"/>
                </a:solidFill>
              </a:rPr>
              <a:t> </a:t>
            </a:r>
            <a:r>
              <a:rPr dirty="0" sz="3200" lang="en-US" smtClean="0"/>
              <a:t>[glomerular </a:t>
            </a:r>
            <a:r>
              <a:rPr dirty="0" sz="3200" lang="en-US" err="1" smtClean="0"/>
              <a:t>endotherial</a:t>
            </a:r>
            <a:r>
              <a:rPr dirty="0" sz="3200" lang="en-US" smtClean="0"/>
              <a:t> damage] resulting from decreased renal blood flow.</a:t>
            </a:r>
          </a:p>
          <a:p>
            <a:pPr algn="just"/>
            <a:endParaRPr dirty="0" sz="3200" lang="en-US"/>
          </a:p>
        </p:txBody>
      </p:sp>
      <p:sp>
        <p:nvSpPr>
          <p:cNvPr id="104892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774" name=""/>
        <p:cNvGrpSpPr/>
        <p:nvPr/>
      </p:nvGrpSpPr>
      <p:grpSpPr>
        <a:xfrm>
          <a:off x="0" y="0"/>
          <a:ext cx="0" cy="0"/>
          <a:chOff x="0" y="0"/>
          <a:chExt cx="0" cy="0"/>
        </a:xfrm>
      </p:grpSpPr>
      <p:sp>
        <p:nvSpPr>
          <p:cNvPr id="1048923" name="Content Placeholder 2"/>
          <p:cNvSpPr>
            <a:spLocks noGrp="1"/>
          </p:cNvSpPr>
          <p:nvPr>
            <p:ph idx="1"/>
          </p:nvPr>
        </p:nvSpPr>
        <p:spPr>
          <a:xfrm>
            <a:off x="571500" y="762000"/>
            <a:ext cx="10287000" cy="5562600"/>
          </a:xfrm>
        </p:spPr>
        <p:txBody>
          <a:bodyPr>
            <a:normAutofit/>
          </a:bodyPr>
          <a:p>
            <a:pPr algn="just"/>
            <a:r>
              <a:rPr dirty="0" sz="3200" lang="en-US" smtClean="0"/>
              <a:t>This indicates that the fetus is in danger.</a:t>
            </a:r>
          </a:p>
          <a:p>
            <a:pPr algn="just">
              <a:buNone/>
            </a:pPr>
            <a:r>
              <a:rPr dirty="0" sz="3200" lang="en-US" smtClean="0"/>
              <a:t>	</a:t>
            </a:r>
            <a:r>
              <a:rPr dirty="0" sz="3200" lang="en-US" smtClean="0">
                <a:solidFill>
                  <a:srgbClr val="FF0000"/>
                </a:solidFill>
              </a:rPr>
              <a:t>NB: </a:t>
            </a:r>
            <a:r>
              <a:rPr dirty="0" sz="3200" lang="en-US" smtClean="0"/>
              <a:t>Upper U.T.I &amp; leakage of membrane should be absent.</a:t>
            </a:r>
            <a:endParaRPr dirty="0" sz="3200" i="1" lang="en-US" smtClean="0"/>
          </a:p>
          <a:p>
            <a:pPr algn="just">
              <a:buNone/>
            </a:pPr>
            <a:r>
              <a:rPr b="1" dirty="0" sz="3200" i="1" lang="en-US" smtClean="0"/>
              <a:t>	</a:t>
            </a:r>
            <a:r>
              <a:rPr b="1" dirty="0" sz="3200" i="1" lang="en-US" u="sng" smtClean="0"/>
              <a:t> 3.OEDEMA</a:t>
            </a:r>
          </a:p>
          <a:p>
            <a:pPr algn="just"/>
            <a:r>
              <a:rPr dirty="0" sz="3200" lang="en-US" smtClean="0"/>
              <a:t>Indicates high rate of fluid </a:t>
            </a:r>
            <a:r>
              <a:rPr dirty="0" sz="3200" lang="en-US" err="1" smtClean="0"/>
              <a:t>retension</a:t>
            </a:r>
            <a:r>
              <a:rPr dirty="0" sz="3200" lang="en-US" smtClean="0"/>
              <a:t>.</a:t>
            </a:r>
          </a:p>
          <a:p>
            <a:pPr algn="just"/>
            <a:r>
              <a:rPr dirty="0" sz="3200" lang="en-US" smtClean="0"/>
              <a:t>Most affected areas are:- legs, face, hands, abdomen, sacral &amp; vulva.</a:t>
            </a:r>
          </a:p>
          <a:p>
            <a:pPr algn="just"/>
            <a:r>
              <a:rPr b="1" dirty="0" sz="3200" lang="en-US" smtClean="0"/>
              <a:t>Currently not taken as the cardinal diagnostic features</a:t>
            </a:r>
            <a:r>
              <a:rPr dirty="0" sz="3200" lang="en-US" smtClean="0"/>
              <a:t>.</a:t>
            </a:r>
          </a:p>
          <a:p>
            <a:pPr algn="just"/>
            <a:endParaRPr dirty="0" sz="3200" lang="en-US"/>
          </a:p>
        </p:txBody>
      </p:sp>
      <p:sp>
        <p:nvSpPr>
          <p:cNvPr id="104892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777" name=""/>
        <p:cNvGrpSpPr/>
        <p:nvPr/>
      </p:nvGrpSpPr>
      <p:grpSpPr>
        <a:xfrm>
          <a:off x="0" y="0"/>
          <a:ext cx="0" cy="0"/>
          <a:chOff x="0" y="0"/>
          <a:chExt cx="0" cy="0"/>
        </a:xfrm>
      </p:grpSpPr>
      <p:sp>
        <p:nvSpPr>
          <p:cNvPr id="1048928" name="Content Placeholder 2"/>
          <p:cNvSpPr>
            <a:spLocks noGrp="1"/>
          </p:cNvSpPr>
          <p:nvPr>
            <p:ph idx="1"/>
          </p:nvPr>
        </p:nvSpPr>
        <p:spPr>
          <a:xfrm>
            <a:off x="190500" y="838200"/>
            <a:ext cx="10953750" cy="5715000"/>
          </a:xfrm>
        </p:spPr>
        <p:txBody>
          <a:bodyPr>
            <a:noAutofit/>
          </a:bodyPr>
          <a:p>
            <a:pPr algn="just">
              <a:buNone/>
            </a:pPr>
            <a:r>
              <a:rPr dirty="0" sz="2900" i="1" lang="en-US" smtClean="0"/>
              <a:t>	</a:t>
            </a:r>
            <a:r>
              <a:rPr b="1" dirty="0" sz="2900" lang="en-US" smtClean="0"/>
              <a:t>LABORATORY TEST</a:t>
            </a:r>
            <a:endParaRPr dirty="0" sz="2900" lang="en-US" smtClean="0"/>
          </a:p>
          <a:p>
            <a:pPr algn="just" lvl="0"/>
            <a:r>
              <a:rPr dirty="0" sz="2900" lang="en-US" smtClean="0"/>
              <a:t>Increased hemoglobin &amp; haematocrite level.</a:t>
            </a:r>
          </a:p>
          <a:p>
            <a:pPr algn="just" lvl="0"/>
            <a:r>
              <a:rPr dirty="0" sz="2900" lang="en-US" smtClean="0"/>
              <a:t>Thrombocytopenia.</a:t>
            </a:r>
          </a:p>
          <a:p>
            <a:pPr algn="just" lvl="0"/>
            <a:r>
              <a:rPr dirty="0" sz="2900" lang="en-US" smtClean="0"/>
              <a:t>Prolonged clotting time due to over consumption of fibrinogen, since there is high release of  thromboplastin from damaged blood vessels.</a:t>
            </a:r>
          </a:p>
          <a:p>
            <a:pPr algn="just" lvl="0"/>
            <a:r>
              <a:rPr dirty="0" sz="2900" lang="en-US" smtClean="0"/>
              <a:t>High serum </a:t>
            </a:r>
            <a:r>
              <a:rPr dirty="0" sz="2900" lang="en-US" err="1" smtClean="0"/>
              <a:t>creatinine</a:t>
            </a:r>
            <a:r>
              <a:rPr dirty="0" sz="2900" lang="en-US" smtClean="0"/>
              <a:t> levels (&gt;90 </a:t>
            </a:r>
            <a:r>
              <a:rPr dirty="0" sz="2900" lang="en-US" err="1" smtClean="0"/>
              <a:t>mmol</a:t>
            </a:r>
            <a:r>
              <a:rPr dirty="0" sz="2900" lang="en-US" smtClean="0"/>
              <a:t>/L) &amp; urea levels due to  poor blood flow to the kidneys.</a:t>
            </a:r>
          </a:p>
          <a:p>
            <a:pPr algn="just" lvl="0"/>
            <a:r>
              <a:rPr dirty="0" sz="2900" lang="en-US" smtClean="0"/>
              <a:t>Increased serum uric acid level.</a:t>
            </a:r>
          </a:p>
          <a:p>
            <a:pPr algn="just" lvl="0"/>
            <a:r>
              <a:rPr dirty="0" sz="2900" lang="en-US" smtClean="0"/>
              <a:t>Abnormal liver function test results.</a:t>
            </a:r>
          </a:p>
          <a:p>
            <a:pPr algn="just"/>
            <a:endParaRPr dirty="0" sz="2900" lang="en-US"/>
          </a:p>
        </p:txBody>
      </p:sp>
      <p:sp>
        <p:nvSpPr>
          <p:cNvPr id="104892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778" name=""/>
        <p:cNvGrpSpPr/>
        <p:nvPr/>
      </p:nvGrpSpPr>
      <p:grpSpPr>
        <a:xfrm>
          <a:off x="0" y="0"/>
          <a:ext cx="0" cy="0"/>
          <a:chOff x="0" y="0"/>
          <a:chExt cx="0" cy="0"/>
        </a:xfrm>
      </p:grpSpPr>
      <p:sp>
        <p:nvSpPr>
          <p:cNvPr id="1048930" name="Title 1"/>
          <p:cNvSpPr>
            <a:spLocks noGrp="1"/>
          </p:cNvSpPr>
          <p:nvPr>
            <p:ph type="title"/>
          </p:nvPr>
        </p:nvSpPr>
        <p:spPr/>
        <p:txBody>
          <a:bodyPr/>
          <a:p>
            <a:r>
              <a:rPr dirty="0" lang="en-US" smtClean="0"/>
              <a:t>	</a:t>
            </a:r>
            <a:r>
              <a:rPr b="1" dirty="0" lang="en-US" smtClean="0">
                <a:solidFill>
                  <a:srgbClr val="C00000"/>
                </a:solidFill>
              </a:rPr>
              <a:t> PATHOPHYSIOLOGY</a:t>
            </a:r>
            <a:endParaRPr dirty="0" lang="en-US"/>
          </a:p>
        </p:txBody>
      </p:sp>
      <p:sp>
        <p:nvSpPr>
          <p:cNvPr id="1048931" name="Content Placeholder 2"/>
          <p:cNvSpPr>
            <a:spLocks noGrp="1"/>
          </p:cNvSpPr>
          <p:nvPr>
            <p:ph idx="1"/>
          </p:nvPr>
        </p:nvSpPr>
        <p:spPr>
          <a:xfrm>
            <a:off x="0" y="1752600"/>
            <a:ext cx="11430000" cy="4572000"/>
          </a:xfrm>
        </p:spPr>
        <p:txBody>
          <a:bodyPr>
            <a:noAutofit/>
          </a:bodyPr>
          <a:p>
            <a:r>
              <a:rPr dirty="0" sz="3400" lang="en-US" smtClean="0"/>
              <a:t>Refers to pathological changes brought about by severe state of pre-</a:t>
            </a:r>
            <a:r>
              <a:rPr dirty="0" sz="3400" lang="en-US" err="1" smtClean="0"/>
              <a:t>eclampsia</a:t>
            </a:r>
            <a:r>
              <a:rPr dirty="0" sz="3400" lang="en-US" smtClean="0"/>
              <a:t> leading to multisystem disorders [effects].</a:t>
            </a:r>
          </a:p>
          <a:p>
            <a:pPr lvl="0">
              <a:buNone/>
            </a:pPr>
            <a:r>
              <a:rPr dirty="0" sz="3400" i="1" lang="en-US" smtClean="0"/>
              <a:t>	</a:t>
            </a:r>
            <a:r>
              <a:rPr b="1" dirty="0" sz="3400" i="1" lang="en-US" smtClean="0"/>
              <a:t>1.CARDIOVASCULAR</a:t>
            </a:r>
          </a:p>
          <a:p>
            <a:pPr>
              <a:buFont typeface="Wingdings" pitchFamily="2" charset="2"/>
              <a:buChar char="v"/>
            </a:pPr>
            <a:r>
              <a:rPr dirty="0" sz="3400" lang="en-US" smtClean="0"/>
              <a:t>General vasoconstriction leads to:</a:t>
            </a:r>
          </a:p>
          <a:p>
            <a:r>
              <a:rPr dirty="0" sz="3400" lang="en-US" smtClean="0">
                <a:solidFill>
                  <a:srgbClr val="7030A0"/>
                </a:solidFill>
              </a:rPr>
              <a:t>Enlargement of the heart </a:t>
            </a:r>
            <a:r>
              <a:rPr dirty="0" sz="3400" lang="en-US" smtClean="0"/>
              <a:t>as it attempts to counteract the increased peripheral resistance.</a:t>
            </a:r>
          </a:p>
          <a:p>
            <a:pPr>
              <a:buNone/>
            </a:pPr>
            <a:endParaRPr dirty="0" sz="3400" lang="en-US" smtClean="0"/>
          </a:p>
          <a:p>
            <a:pPr>
              <a:buNone/>
            </a:pPr>
            <a:endParaRPr dirty="0" sz="3400" lang="en-US" smtClean="0"/>
          </a:p>
        </p:txBody>
      </p:sp>
      <p:sp>
        <p:nvSpPr>
          <p:cNvPr id="104893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779" name=""/>
        <p:cNvGrpSpPr/>
        <p:nvPr/>
      </p:nvGrpSpPr>
      <p:grpSpPr>
        <a:xfrm>
          <a:off x="0" y="0"/>
          <a:ext cx="0" cy="0"/>
          <a:chOff x="0" y="0"/>
          <a:chExt cx="0" cy="0"/>
        </a:xfrm>
      </p:grpSpPr>
      <p:sp>
        <p:nvSpPr>
          <p:cNvPr id="1048933" name="Content Placeholder 2"/>
          <p:cNvSpPr>
            <a:spLocks noGrp="1"/>
          </p:cNvSpPr>
          <p:nvPr>
            <p:ph idx="1"/>
          </p:nvPr>
        </p:nvSpPr>
        <p:spPr>
          <a:xfrm>
            <a:off x="285750" y="762000"/>
            <a:ext cx="10572750" cy="5791200"/>
          </a:xfrm>
        </p:spPr>
        <p:txBody>
          <a:bodyPr>
            <a:noAutofit/>
          </a:bodyPr>
          <a:p>
            <a:pPr algn="just" lvl="0"/>
            <a:r>
              <a:rPr dirty="0" sz="3200" lang="en-US" smtClean="0">
                <a:solidFill>
                  <a:srgbClr val="7030A0"/>
                </a:solidFill>
              </a:rPr>
              <a:t>General </a:t>
            </a:r>
            <a:r>
              <a:rPr dirty="0" sz="3200" lang="en-US" err="1" smtClean="0">
                <a:solidFill>
                  <a:srgbClr val="7030A0"/>
                </a:solidFill>
              </a:rPr>
              <a:t>oedema</a:t>
            </a:r>
            <a:r>
              <a:rPr dirty="0" sz="3200" lang="en-US" smtClean="0"/>
              <a:t>, due to increased capillary permeability &amp; loss of plasma proteins.</a:t>
            </a:r>
          </a:p>
          <a:p>
            <a:pPr algn="just" lvl="0"/>
            <a:r>
              <a:rPr dirty="0" sz="3200" lang="en-US" smtClean="0"/>
              <a:t> </a:t>
            </a:r>
            <a:r>
              <a:rPr dirty="0" sz="3200" lang="en-US" smtClean="0">
                <a:solidFill>
                  <a:srgbClr val="7030A0"/>
                </a:solidFill>
              </a:rPr>
              <a:t>Increased coagulation activation</a:t>
            </a:r>
            <a:r>
              <a:rPr dirty="0" sz="3200" lang="en-US" smtClean="0"/>
              <a:t> due to damage of blood vessels &amp; other tissues hence high probability of DIC.</a:t>
            </a:r>
          </a:p>
          <a:p>
            <a:pPr algn="just">
              <a:buNone/>
            </a:pPr>
            <a:r>
              <a:rPr b="1" dirty="0" sz="3200" i="1" lang="en-US" smtClean="0"/>
              <a:t>2.RENAL</a:t>
            </a:r>
          </a:p>
          <a:p>
            <a:pPr algn="just">
              <a:buFont typeface="Wingdings" pitchFamily="2" charset="2"/>
              <a:buChar char="v"/>
            </a:pPr>
            <a:r>
              <a:rPr dirty="0" sz="3200" lang="en-US" smtClean="0"/>
              <a:t>Reduced blood supply makes the afferent arterioles go into vasospasm leading to damage of </a:t>
            </a:r>
            <a:r>
              <a:rPr dirty="0" sz="3200" lang="en-US" err="1" smtClean="0"/>
              <a:t>glomerular</a:t>
            </a:r>
            <a:r>
              <a:rPr dirty="0" sz="3200" lang="en-US" smtClean="0"/>
              <a:t> filtering bed hence: </a:t>
            </a:r>
          </a:p>
          <a:p>
            <a:pPr algn="just" lvl="0"/>
            <a:endParaRPr dirty="0" sz="3200" lang="en-US" smtClean="0"/>
          </a:p>
          <a:p>
            <a:pPr algn="just"/>
            <a:endParaRPr dirty="0" sz="3200" lang="en-US"/>
          </a:p>
        </p:txBody>
      </p:sp>
      <p:sp>
        <p:nvSpPr>
          <p:cNvPr id="104893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780" name=""/>
        <p:cNvGrpSpPr/>
        <p:nvPr/>
      </p:nvGrpSpPr>
      <p:grpSpPr>
        <a:xfrm>
          <a:off x="0" y="0"/>
          <a:ext cx="0" cy="0"/>
          <a:chOff x="0" y="0"/>
          <a:chExt cx="0" cy="0"/>
        </a:xfrm>
      </p:grpSpPr>
      <p:sp>
        <p:nvSpPr>
          <p:cNvPr id="1048935" name="Content Placeholder 2"/>
          <p:cNvSpPr>
            <a:spLocks noGrp="1"/>
          </p:cNvSpPr>
          <p:nvPr>
            <p:ph idx="1"/>
          </p:nvPr>
        </p:nvSpPr>
        <p:spPr>
          <a:xfrm>
            <a:off x="190500" y="838200"/>
            <a:ext cx="10763250" cy="5486400"/>
          </a:xfrm>
        </p:spPr>
        <p:txBody>
          <a:bodyPr>
            <a:normAutofit/>
          </a:bodyPr>
          <a:p>
            <a:r>
              <a:rPr dirty="0" sz="2800" lang="en-US" err="1" smtClean="0">
                <a:solidFill>
                  <a:srgbClr val="7030A0"/>
                </a:solidFill>
              </a:rPr>
              <a:t>Proteinuria</a:t>
            </a:r>
            <a:r>
              <a:rPr dirty="0" sz="2800" lang="en-US" smtClean="0"/>
              <a:t>.</a:t>
            </a:r>
          </a:p>
          <a:p>
            <a:pPr lvl="0"/>
            <a:r>
              <a:rPr dirty="0" sz="2800" lang="en-US" smtClean="0">
                <a:solidFill>
                  <a:srgbClr val="7030A0"/>
                </a:solidFill>
              </a:rPr>
              <a:t>Reduced </a:t>
            </a:r>
            <a:r>
              <a:rPr dirty="0" sz="2800" lang="en-US" err="1" smtClean="0">
                <a:solidFill>
                  <a:srgbClr val="7030A0"/>
                </a:solidFill>
              </a:rPr>
              <a:t>creatinine</a:t>
            </a:r>
            <a:r>
              <a:rPr dirty="0" sz="2800" lang="en-US" smtClean="0">
                <a:solidFill>
                  <a:srgbClr val="7030A0"/>
                </a:solidFill>
              </a:rPr>
              <a:t> clearance &amp; urea excretion</a:t>
            </a:r>
            <a:r>
              <a:rPr dirty="0" sz="2800" lang="en-US" smtClean="0"/>
              <a:t>.</a:t>
            </a:r>
          </a:p>
          <a:p>
            <a:pPr lvl="0">
              <a:buFont typeface="Wingdings" pitchFamily="2" charset="2"/>
              <a:buChar char="ü"/>
            </a:pPr>
            <a:r>
              <a:rPr dirty="0" sz="2800" lang="en-US" smtClean="0"/>
              <a:t>Therefore serum </a:t>
            </a:r>
            <a:r>
              <a:rPr dirty="0" sz="2800" lang="en-US" err="1" smtClean="0"/>
              <a:t>creatinine</a:t>
            </a:r>
            <a:r>
              <a:rPr dirty="0" sz="2800" lang="en-US" smtClean="0"/>
              <a:t> &amp; uric acid levels increases.</a:t>
            </a:r>
          </a:p>
          <a:p>
            <a:pPr lvl="0"/>
            <a:r>
              <a:rPr dirty="0" sz="2800" lang="en-US" err="1" smtClean="0">
                <a:solidFill>
                  <a:srgbClr val="7030A0"/>
                </a:solidFill>
              </a:rPr>
              <a:t>Oliguria</a:t>
            </a:r>
            <a:r>
              <a:rPr dirty="0" sz="2800" lang="en-US" smtClean="0"/>
              <a:t>:- urinary output ranges between 400-500ml in 24hrs.</a:t>
            </a:r>
          </a:p>
          <a:p>
            <a:pPr>
              <a:buNone/>
            </a:pPr>
            <a:r>
              <a:rPr b="1" dirty="0" sz="2800" i="1" lang="en-US" smtClean="0"/>
              <a:t>	3.RESPIRATORY</a:t>
            </a:r>
          </a:p>
          <a:p>
            <a:r>
              <a:rPr dirty="0" sz="2800" lang="en-US" smtClean="0">
                <a:solidFill>
                  <a:srgbClr val="7030A0"/>
                </a:solidFill>
              </a:rPr>
              <a:t>Pulmonary </a:t>
            </a:r>
            <a:r>
              <a:rPr dirty="0" sz="2800" lang="en-US" err="1" smtClean="0">
                <a:solidFill>
                  <a:srgbClr val="7030A0"/>
                </a:solidFill>
              </a:rPr>
              <a:t>oedema</a:t>
            </a:r>
            <a:r>
              <a:rPr dirty="0" sz="2800" lang="en-US" smtClean="0">
                <a:solidFill>
                  <a:srgbClr val="7030A0"/>
                </a:solidFill>
              </a:rPr>
              <a:t> </a:t>
            </a:r>
            <a:r>
              <a:rPr dirty="0" sz="2800" lang="en-US" smtClean="0"/>
              <a:t>due to damage of blood vessels &amp; low osmotic pressure.</a:t>
            </a:r>
          </a:p>
          <a:p>
            <a:r>
              <a:rPr dirty="0" sz="2800" lang="en-US" smtClean="0">
                <a:solidFill>
                  <a:srgbClr val="7030A0"/>
                </a:solidFill>
              </a:rPr>
              <a:t>Cyanosis</a:t>
            </a:r>
            <a:r>
              <a:rPr dirty="0" sz="2800" lang="en-US" smtClean="0"/>
              <a:t> , because of impaired oxygen supply.</a:t>
            </a:r>
            <a:endParaRPr dirty="0" sz="2800" i="1" lang="en-US" smtClean="0"/>
          </a:p>
          <a:p>
            <a:endParaRPr dirty="0" sz="2800" lang="en-US" smtClean="0"/>
          </a:p>
          <a:p>
            <a:endParaRPr dirty="0" sz="2800" lang="en-US"/>
          </a:p>
        </p:txBody>
      </p:sp>
      <p:sp>
        <p:nvSpPr>
          <p:cNvPr id="104893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781" name=""/>
        <p:cNvGrpSpPr/>
        <p:nvPr/>
      </p:nvGrpSpPr>
      <p:grpSpPr>
        <a:xfrm>
          <a:off x="0" y="0"/>
          <a:ext cx="0" cy="0"/>
          <a:chOff x="0" y="0"/>
          <a:chExt cx="0" cy="0"/>
        </a:xfrm>
      </p:grpSpPr>
      <p:sp>
        <p:nvSpPr>
          <p:cNvPr id="1048937" name="Content Placeholder 2"/>
          <p:cNvSpPr>
            <a:spLocks noGrp="1"/>
          </p:cNvSpPr>
          <p:nvPr>
            <p:ph idx="1"/>
          </p:nvPr>
        </p:nvSpPr>
        <p:spPr>
          <a:xfrm>
            <a:off x="571500" y="914400"/>
            <a:ext cx="10287000" cy="5410200"/>
          </a:xfrm>
        </p:spPr>
        <p:txBody>
          <a:bodyPr>
            <a:normAutofit/>
          </a:bodyPr>
          <a:p>
            <a:pPr>
              <a:buNone/>
            </a:pPr>
            <a:r>
              <a:rPr b="1" dirty="0" sz="3200" i="1" lang="en-US" smtClean="0"/>
              <a:t>	4.GASTRO-INTESTINAL</a:t>
            </a:r>
          </a:p>
          <a:p>
            <a:r>
              <a:rPr dirty="0" sz="3200" lang="en-US" smtClean="0"/>
              <a:t>Inadequate perfusion leads to </a:t>
            </a:r>
            <a:r>
              <a:rPr dirty="0" sz="3200" lang="en-US" err="1" smtClean="0"/>
              <a:t>oedema</a:t>
            </a:r>
            <a:r>
              <a:rPr dirty="0" sz="3200" lang="en-US" smtClean="0"/>
              <a:t> of the liver particularly, hence:</a:t>
            </a:r>
          </a:p>
          <a:p>
            <a:pPr>
              <a:buFont typeface="Wingdings" pitchFamily="2" charset="2"/>
              <a:buChar char="ü"/>
            </a:pPr>
            <a:r>
              <a:rPr dirty="0" sz="3200" lang="en-US" smtClean="0">
                <a:solidFill>
                  <a:srgbClr val="7030A0"/>
                </a:solidFill>
              </a:rPr>
              <a:t>Epigastric pain.</a:t>
            </a:r>
          </a:p>
          <a:p>
            <a:pPr>
              <a:buFont typeface="Wingdings" pitchFamily="2" charset="2"/>
              <a:buChar char="ü"/>
            </a:pPr>
            <a:r>
              <a:rPr dirty="0" sz="3200" lang="en-US" err="1" smtClean="0">
                <a:solidFill>
                  <a:srgbClr val="7030A0"/>
                </a:solidFill>
              </a:rPr>
              <a:t>Intracapsular</a:t>
            </a:r>
            <a:r>
              <a:rPr dirty="0" sz="3200" lang="en-US" smtClean="0">
                <a:solidFill>
                  <a:srgbClr val="7030A0"/>
                </a:solidFill>
              </a:rPr>
              <a:t> hemorrhage.</a:t>
            </a:r>
          </a:p>
          <a:p>
            <a:pPr>
              <a:buFont typeface="Wingdings" pitchFamily="2" charset="2"/>
              <a:buChar char="ü"/>
            </a:pPr>
            <a:r>
              <a:rPr dirty="0" sz="3200" lang="en-US" smtClean="0">
                <a:solidFill>
                  <a:srgbClr val="7030A0"/>
                </a:solidFill>
              </a:rPr>
              <a:t>Altered liver function test results.</a:t>
            </a:r>
          </a:p>
          <a:p>
            <a:pPr>
              <a:buFont typeface="Wingdings" pitchFamily="2" charset="2"/>
              <a:buChar char="ü"/>
            </a:pPr>
            <a:r>
              <a:rPr dirty="0" sz="3200" lang="en-US" smtClean="0">
                <a:solidFill>
                  <a:srgbClr val="7030A0"/>
                </a:solidFill>
              </a:rPr>
              <a:t>Sometime jaundice</a:t>
            </a:r>
            <a:r>
              <a:rPr dirty="0" sz="3200" lang="en-US" smtClean="0"/>
              <a:t>.</a:t>
            </a:r>
          </a:p>
          <a:p>
            <a:endParaRPr dirty="0" sz="3200" lang="en-US"/>
          </a:p>
        </p:txBody>
      </p:sp>
      <p:sp>
        <p:nvSpPr>
          <p:cNvPr id="104893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782" name=""/>
        <p:cNvGrpSpPr/>
        <p:nvPr/>
      </p:nvGrpSpPr>
      <p:grpSpPr>
        <a:xfrm>
          <a:off x="0" y="0"/>
          <a:ext cx="0" cy="0"/>
          <a:chOff x="0" y="0"/>
          <a:chExt cx="0" cy="0"/>
        </a:xfrm>
      </p:grpSpPr>
      <p:sp>
        <p:nvSpPr>
          <p:cNvPr id="1048939" name="Content Placeholder 2"/>
          <p:cNvSpPr>
            <a:spLocks noGrp="1"/>
          </p:cNvSpPr>
          <p:nvPr>
            <p:ph idx="1"/>
          </p:nvPr>
        </p:nvSpPr>
        <p:spPr>
          <a:xfrm>
            <a:off x="571500" y="762000"/>
            <a:ext cx="10287000" cy="5943600"/>
          </a:xfrm>
        </p:spPr>
        <p:txBody>
          <a:bodyPr>
            <a:normAutofit/>
          </a:bodyPr>
          <a:p>
            <a:pPr>
              <a:buNone/>
            </a:pPr>
            <a:r>
              <a:rPr dirty="0" i="1" lang="en-US" smtClean="0"/>
              <a:t>	</a:t>
            </a:r>
            <a:r>
              <a:rPr b="1" dirty="0" sz="2900" i="1" lang="en-US" smtClean="0"/>
              <a:t>5.CENTRAL NERVOUS SYTEM</a:t>
            </a:r>
          </a:p>
          <a:p>
            <a:pPr>
              <a:buFont typeface="Wingdings" pitchFamily="2" charset="2"/>
              <a:buChar char="v"/>
            </a:pPr>
            <a:r>
              <a:rPr dirty="0" sz="2900" lang="en-US" smtClean="0"/>
              <a:t>Hypertension and </a:t>
            </a:r>
            <a:r>
              <a:rPr dirty="0" sz="2900" lang="en-US" err="1" smtClean="0"/>
              <a:t>cerebrovascular</a:t>
            </a:r>
            <a:r>
              <a:rPr dirty="0" sz="2900" lang="en-US" smtClean="0"/>
              <a:t> </a:t>
            </a:r>
            <a:r>
              <a:rPr dirty="0" sz="2900" lang="en-US" err="1" smtClean="0"/>
              <a:t>endotherial</a:t>
            </a:r>
            <a:r>
              <a:rPr dirty="0" sz="2900" lang="en-US" smtClean="0"/>
              <a:t> dysfunction increases the blood-brain barrier permeability leading to cerebral </a:t>
            </a:r>
            <a:r>
              <a:rPr dirty="0" sz="2900" lang="en-US" err="1" smtClean="0"/>
              <a:t>oedema</a:t>
            </a:r>
            <a:r>
              <a:rPr dirty="0" sz="2900" lang="en-US" smtClean="0"/>
              <a:t> and </a:t>
            </a:r>
            <a:r>
              <a:rPr dirty="0" sz="2900" lang="en-US" err="1" smtClean="0"/>
              <a:t>microhaemorrhage</a:t>
            </a:r>
            <a:r>
              <a:rPr dirty="0" sz="2900" lang="en-US" smtClean="0"/>
              <a:t>.</a:t>
            </a:r>
          </a:p>
          <a:p>
            <a:r>
              <a:rPr dirty="0" sz="2900" lang="en-US" smtClean="0"/>
              <a:t>Generally leads to:-</a:t>
            </a:r>
          </a:p>
          <a:p>
            <a:pPr lvl="0">
              <a:buFont typeface="Wingdings" pitchFamily="2" charset="2"/>
              <a:buChar char="ü"/>
            </a:pPr>
            <a:r>
              <a:rPr dirty="0" sz="2900" lang="en-US" smtClean="0">
                <a:solidFill>
                  <a:srgbClr val="7030A0"/>
                </a:solidFill>
              </a:rPr>
              <a:t>Headaches</a:t>
            </a:r>
          </a:p>
          <a:p>
            <a:pPr lvl="0">
              <a:buFont typeface="Wingdings" pitchFamily="2" charset="2"/>
              <a:buChar char="ü"/>
            </a:pPr>
            <a:r>
              <a:rPr dirty="0" sz="2900" lang="en-US" smtClean="0">
                <a:solidFill>
                  <a:srgbClr val="7030A0"/>
                </a:solidFill>
              </a:rPr>
              <a:t>Visual disturbances</a:t>
            </a:r>
            <a:r>
              <a:rPr dirty="0" sz="2900" lang="en-US" smtClean="0"/>
              <a:t>.</a:t>
            </a:r>
          </a:p>
          <a:p>
            <a:pPr lvl="0">
              <a:buFont typeface="Wingdings" pitchFamily="2" charset="2"/>
              <a:buChar char="ü"/>
            </a:pPr>
            <a:r>
              <a:rPr dirty="0" sz="2900" lang="en-US" smtClean="0">
                <a:solidFill>
                  <a:srgbClr val="7030A0"/>
                </a:solidFill>
              </a:rPr>
              <a:t>Cerebral thrombosis </a:t>
            </a:r>
            <a:r>
              <a:rPr dirty="0" sz="2900" lang="en-US" smtClean="0"/>
              <a:t>because of fibrin &amp; platelets deposition hence postpartum eclampsia.</a:t>
            </a:r>
          </a:p>
          <a:p>
            <a:pPr lvl="0">
              <a:buFont typeface="Wingdings" pitchFamily="2" charset="2"/>
              <a:buChar char="ü"/>
            </a:pPr>
            <a:r>
              <a:rPr dirty="0" sz="2900" lang="en-US" smtClean="0">
                <a:solidFill>
                  <a:srgbClr val="7030A0"/>
                </a:solidFill>
              </a:rPr>
              <a:t>Convulsions</a:t>
            </a:r>
            <a:r>
              <a:rPr dirty="0" sz="2900" lang="en-US" smtClean="0"/>
              <a:t>.</a:t>
            </a:r>
          </a:p>
          <a:p>
            <a:endParaRPr dirty="0" lang="en-US"/>
          </a:p>
        </p:txBody>
      </p:sp>
      <p:sp>
        <p:nvSpPr>
          <p:cNvPr id="104894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783" name=""/>
        <p:cNvGrpSpPr/>
        <p:nvPr/>
      </p:nvGrpSpPr>
      <p:grpSpPr>
        <a:xfrm>
          <a:off x="0" y="0"/>
          <a:ext cx="0" cy="0"/>
          <a:chOff x="0" y="0"/>
          <a:chExt cx="0" cy="0"/>
        </a:xfrm>
      </p:grpSpPr>
      <p:sp>
        <p:nvSpPr>
          <p:cNvPr id="1048941" name="Content Placeholder 2"/>
          <p:cNvSpPr>
            <a:spLocks noGrp="1"/>
          </p:cNvSpPr>
          <p:nvPr>
            <p:ph idx="1"/>
          </p:nvPr>
        </p:nvSpPr>
        <p:spPr>
          <a:xfrm>
            <a:off x="571500" y="838200"/>
            <a:ext cx="10287000" cy="5638800"/>
          </a:xfrm>
        </p:spPr>
        <p:txBody>
          <a:bodyPr>
            <a:normAutofit/>
          </a:bodyPr>
          <a:p>
            <a:pPr>
              <a:buNone/>
            </a:pPr>
            <a:r>
              <a:rPr b="1" dirty="0" sz="2800" i="1" lang="en-US" smtClean="0"/>
              <a:t>	6.REPRODUCTION SYSTEM</a:t>
            </a:r>
          </a:p>
          <a:p>
            <a:r>
              <a:rPr dirty="0" sz="2800" lang="en-US" smtClean="0"/>
              <a:t>Reduced blood supply to placental tissues and increased pressure within the vessels at the placental leads to:</a:t>
            </a:r>
          </a:p>
          <a:p>
            <a:pPr>
              <a:buFont typeface="Wingdings" pitchFamily="2" charset="2"/>
              <a:buChar char="Ø"/>
            </a:pPr>
            <a:r>
              <a:rPr dirty="0" sz="2800" lang="en-US" smtClean="0"/>
              <a:t> </a:t>
            </a:r>
            <a:r>
              <a:rPr dirty="0" sz="2800" lang="en-US" smtClean="0">
                <a:solidFill>
                  <a:srgbClr val="7030A0"/>
                </a:solidFill>
              </a:rPr>
              <a:t>Infarcts formation</a:t>
            </a:r>
            <a:r>
              <a:rPr dirty="0" sz="2800" lang="en-US" smtClean="0"/>
              <a:t>, hence intrauterine growth restricts.</a:t>
            </a:r>
          </a:p>
          <a:p>
            <a:pPr>
              <a:buFont typeface="Wingdings" pitchFamily="2" charset="2"/>
              <a:buChar char="Ø"/>
            </a:pPr>
            <a:r>
              <a:rPr dirty="0" sz="2800" lang="en-US" smtClean="0"/>
              <a:t> </a:t>
            </a:r>
            <a:r>
              <a:rPr dirty="0" sz="2800" lang="en-US" smtClean="0">
                <a:solidFill>
                  <a:srgbClr val="7030A0"/>
                </a:solidFill>
              </a:rPr>
              <a:t>Impaired hormonal production </a:t>
            </a:r>
            <a:r>
              <a:rPr dirty="0" sz="2800" lang="en-US" smtClean="0"/>
              <a:t>, affects fetal survival  hence premature labour =early birth.</a:t>
            </a:r>
          </a:p>
          <a:p>
            <a:pPr>
              <a:buFont typeface="Wingdings" pitchFamily="2" charset="2"/>
              <a:buChar char="Ø"/>
            </a:pPr>
            <a:r>
              <a:rPr dirty="0" sz="2800" lang="en-US" smtClean="0"/>
              <a:t> </a:t>
            </a:r>
            <a:r>
              <a:rPr dirty="0" sz="2800" lang="en-US" smtClean="0">
                <a:solidFill>
                  <a:srgbClr val="7030A0"/>
                </a:solidFill>
              </a:rPr>
              <a:t>Placental abruption</a:t>
            </a:r>
            <a:r>
              <a:rPr dirty="0" sz="2800" lang="en-US" smtClean="0"/>
              <a:t>, some vessels burst at the placental bed leading to APH.</a:t>
            </a:r>
          </a:p>
          <a:p>
            <a:endParaRPr dirty="0" sz="2800" lang="en-US"/>
          </a:p>
        </p:txBody>
      </p:sp>
      <p:sp>
        <p:nvSpPr>
          <p:cNvPr id="104894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784" name=""/>
        <p:cNvGrpSpPr/>
        <p:nvPr/>
      </p:nvGrpSpPr>
      <p:grpSpPr>
        <a:xfrm>
          <a:off x="0" y="0"/>
          <a:ext cx="0" cy="0"/>
          <a:chOff x="0" y="0"/>
          <a:chExt cx="0" cy="0"/>
        </a:xfrm>
      </p:grpSpPr>
      <p:sp>
        <p:nvSpPr>
          <p:cNvPr id="1048943" name="Title 1"/>
          <p:cNvSpPr>
            <a:spLocks noGrp="1"/>
          </p:cNvSpPr>
          <p:nvPr>
            <p:ph type="title"/>
          </p:nvPr>
        </p:nvSpPr>
        <p:spPr/>
        <p:txBody>
          <a:bodyPr/>
          <a:p>
            <a:r>
              <a:rPr dirty="0" lang="en-US" smtClean="0"/>
              <a:t>	</a:t>
            </a:r>
            <a:r>
              <a:rPr b="1" dirty="0" sz="5400" lang="en-US" smtClean="0">
                <a:solidFill>
                  <a:srgbClr val="C00000"/>
                </a:solidFill>
              </a:rPr>
              <a:t> CLASSIFICATION</a:t>
            </a:r>
            <a:endParaRPr dirty="0" lang="en-US"/>
          </a:p>
        </p:txBody>
      </p:sp>
      <p:sp>
        <p:nvSpPr>
          <p:cNvPr id="1048944" name="Content Placeholder 2"/>
          <p:cNvSpPr>
            <a:spLocks noGrp="1"/>
          </p:cNvSpPr>
          <p:nvPr>
            <p:ph idx="1"/>
          </p:nvPr>
        </p:nvSpPr>
        <p:spPr/>
        <p:txBody>
          <a:bodyPr/>
          <a:p>
            <a:pPr>
              <a:buNone/>
            </a:pPr>
            <a:r>
              <a:rPr b="1" dirty="0" lang="en-US" smtClean="0"/>
              <a:t>	</a:t>
            </a:r>
            <a:r>
              <a:rPr b="1" dirty="0" sz="2700" lang="en-US" smtClean="0"/>
              <a:t>	</a:t>
            </a:r>
            <a:r>
              <a:rPr b="1" dirty="0" sz="3200" lang="en-US" smtClean="0"/>
              <a:t>1. MILD    </a:t>
            </a:r>
          </a:p>
          <a:p>
            <a:pPr>
              <a:buFont typeface="Wingdings" pitchFamily="2" charset="2"/>
              <a:buChar char="v"/>
            </a:pPr>
            <a:r>
              <a:rPr dirty="0" sz="2700" lang="en-US" smtClean="0"/>
              <a:t>characterized by:-</a:t>
            </a:r>
          </a:p>
          <a:p>
            <a:pPr lvl="0"/>
            <a:r>
              <a:rPr dirty="0" sz="2700" lang="en-US" smtClean="0"/>
              <a:t>BP reading of 140/90mmhg.</a:t>
            </a:r>
          </a:p>
          <a:p>
            <a:pPr lvl="0"/>
            <a:r>
              <a:rPr dirty="0" sz="2700" lang="en-US" smtClean="0"/>
              <a:t>Protenuria ranges between  trace to 1+.</a:t>
            </a:r>
          </a:p>
          <a:p>
            <a:pPr lvl="0"/>
            <a:r>
              <a:rPr dirty="0" sz="2700" lang="en-US" err="1" smtClean="0"/>
              <a:t>Oedema</a:t>
            </a:r>
            <a:r>
              <a:rPr dirty="0" sz="2700" lang="en-US" smtClean="0"/>
              <a:t>, marked on the ankles, feet and sometimes </a:t>
            </a:r>
            <a:r>
              <a:rPr dirty="0" sz="2700" lang="en-US" err="1" smtClean="0"/>
              <a:t>pretibial</a:t>
            </a:r>
            <a:r>
              <a:rPr dirty="0" sz="2700" lang="en-US" smtClean="0"/>
              <a:t> region.</a:t>
            </a:r>
          </a:p>
          <a:p>
            <a:pPr lvl="0"/>
            <a:r>
              <a:rPr dirty="0" sz="2700" lang="en-US" smtClean="0"/>
              <a:t> No complains are presented, features are noted (elicited) during a routine antenatal service.</a:t>
            </a:r>
          </a:p>
          <a:p>
            <a:pPr lvl="0"/>
            <a:r>
              <a:rPr dirty="0" sz="2700" lang="en-US" smtClean="0"/>
              <a:t> However close follow is important.</a:t>
            </a:r>
          </a:p>
          <a:p>
            <a:endParaRPr dirty="0" lang="en-US"/>
          </a:p>
        </p:txBody>
      </p:sp>
      <p:sp>
        <p:nvSpPr>
          <p:cNvPr id="104894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785" name=""/>
        <p:cNvGrpSpPr/>
        <p:nvPr/>
      </p:nvGrpSpPr>
      <p:grpSpPr>
        <a:xfrm>
          <a:off x="0" y="0"/>
          <a:ext cx="0" cy="0"/>
          <a:chOff x="0" y="0"/>
          <a:chExt cx="0" cy="0"/>
        </a:xfrm>
      </p:grpSpPr>
      <p:sp>
        <p:nvSpPr>
          <p:cNvPr id="1048946" name="Content Placeholder 2"/>
          <p:cNvSpPr>
            <a:spLocks noGrp="1"/>
          </p:cNvSpPr>
          <p:nvPr>
            <p:ph idx="1"/>
          </p:nvPr>
        </p:nvSpPr>
        <p:spPr>
          <a:xfrm>
            <a:off x="571500" y="838200"/>
            <a:ext cx="10287000" cy="5486400"/>
          </a:xfrm>
        </p:spPr>
        <p:txBody>
          <a:bodyPr>
            <a:normAutofit/>
          </a:bodyPr>
          <a:p>
            <a:pPr>
              <a:buNone/>
            </a:pPr>
            <a:r>
              <a:rPr dirty="0" lang="en-US" smtClean="0"/>
              <a:t>	</a:t>
            </a:r>
            <a:r>
              <a:rPr b="1" dirty="0" sz="3200" lang="en-US" smtClean="0"/>
              <a:t>2. MODERATE</a:t>
            </a:r>
          </a:p>
          <a:p>
            <a:pPr lvl="0"/>
            <a:r>
              <a:rPr dirty="0" sz="3200" lang="en-US" smtClean="0"/>
              <a:t>BP readings are of 150/100mmhg.</a:t>
            </a:r>
          </a:p>
          <a:p>
            <a:pPr lvl="0">
              <a:buFont typeface="Wingdings" pitchFamily="2" charset="2"/>
              <a:buChar char="ü"/>
            </a:pPr>
            <a:r>
              <a:rPr dirty="0" sz="3200" lang="en-US" smtClean="0"/>
              <a:t>Specifically  rise in both systolic &amp; diastolic pressure with about 20mmhg is noted.</a:t>
            </a:r>
          </a:p>
          <a:p>
            <a:pPr lvl="0"/>
            <a:r>
              <a:rPr dirty="0" sz="3200" lang="en-US" err="1" smtClean="0"/>
              <a:t>Proteinuria</a:t>
            </a:r>
            <a:r>
              <a:rPr dirty="0" sz="3200" lang="en-US" smtClean="0"/>
              <a:t> ranges between 1+ to  2+.</a:t>
            </a:r>
          </a:p>
          <a:p>
            <a:pPr lvl="0"/>
            <a:r>
              <a:rPr dirty="0" sz="3200" lang="en-US" err="1" smtClean="0"/>
              <a:t>Oedema</a:t>
            </a:r>
            <a:r>
              <a:rPr dirty="0" sz="3200" lang="en-US" smtClean="0"/>
              <a:t> is marked on legs fingers and face hence denoted as (++) .</a:t>
            </a:r>
          </a:p>
          <a:p>
            <a:pPr lvl="0"/>
            <a:r>
              <a:rPr dirty="0" sz="3200" lang="en-US" smtClean="0"/>
              <a:t>Mother aware of the symptoms.</a:t>
            </a:r>
          </a:p>
          <a:p>
            <a:endParaRPr dirty="0" lang="en-US"/>
          </a:p>
        </p:txBody>
      </p:sp>
      <p:sp>
        <p:nvSpPr>
          <p:cNvPr id="104894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786" name=""/>
        <p:cNvGrpSpPr/>
        <p:nvPr/>
      </p:nvGrpSpPr>
      <p:grpSpPr>
        <a:xfrm>
          <a:off x="0" y="0"/>
          <a:ext cx="0" cy="0"/>
          <a:chOff x="0" y="0"/>
          <a:chExt cx="0" cy="0"/>
        </a:xfrm>
      </p:grpSpPr>
      <p:sp>
        <p:nvSpPr>
          <p:cNvPr id="1048948" name="Content Placeholder 2"/>
          <p:cNvSpPr>
            <a:spLocks noGrp="1"/>
          </p:cNvSpPr>
          <p:nvPr>
            <p:ph idx="1"/>
          </p:nvPr>
        </p:nvSpPr>
        <p:spPr>
          <a:xfrm>
            <a:off x="571500" y="838200"/>
            <a:ext cx="10287000" cy="5486400"/>
          </a:xfrm>
        </p:spPr>
        <p:txBody>
          <a:bodyPr/>
          <a:p>
            <a:pPr>
              <a:buNone/>
            </a:pPr>
            <a:r>
              <a:rPr dirty="0" lang="en-US" smtClean="0"/>
              <a:t>	</a:t>
            </a:r>
            <a:r>
              <a:rPr b="1" dirty="0" sz="3200" lang="en-US" smtClean="0"/>
              <a:t>3. SEVERE</a:t>
            </a:r>
          </a:p>
          <a:p>
            <a:pPr lvl="0"/>
            <a:r>
              <a:rPr dirty="0" sz="3200" lang="en-US" smtClean="0"/>
              <a:t>BP 160/100mmhg and above.</a:t>
            </a:r>
          </a:p>
          <a:p>
            <a:pPr lvl="0"/>
            <a:r>
              <a:rPr dirty="0" sz="3200" lang="en-US" err="1" smtClean="0"/>
              <a:t>Oedema</a:t>
            </a:r>
            <a:r>
              <a:rPr dirty="0" sz="3200" lang="en-US" smtClean="0"/>
              <a:t>  is gross, i.e. involves also, abdomen, sacral region &amp; sometimes vulva.</a:t>
            </a:r>
          </a:p>
          <a:p>
            <a:pPr lvl="0"/>
            <a:r>
              <a:rPr dirty="0" sz="3200" lang="en-US" err="1" smtClean="0"/>
              <a:t>Proteinuria</a:t>
            </a:r>
            <a:r>
              <a:rPr dirty="0" sz="3200" lang="en-US" smtClean="0"/>
              <a:t> 2+ and above (3+).</a:t>
            </a:r>
          </a:p>
          <a:p>
            <a:pPr lvl="0"/>
            <a:r>
              <a:rPr dirty="0" sz="3200" lang="en-US" smtClean="0"/>
              <a:t>Presents with various feature  as per  clinical features. </a:t>
            </a:r>
          </a:p>
          <a:p>
            <a:endParaRPr dirty="0" lang="en-US"/>
          </a:p>
        </p:txBody>
      </p:sp>
      <p:sp>
        <p:nvSpPr>
          <p:cNvPr id="104894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787" name=""/>
        <p:cNvGrpSpPr/>
        <p:nvPr/>
      </p:nvGrpSpPr>
      <p:grpSpPr>
        <a:xfrm>
          <a:off x="0" y="0"/>
          <a:ext cx="0" cy="0"/>
          <a:chOff x="0" y="0"/>
          <a:chExt cx="0" cy="0"/>
        </a:xfrm>
      </p:grpSpPr>
      <p:sp>
        <p:nvSpPr>
          <p:cNvPr id="1048950" name="Title 1"/>
          <p:cNvSpPr>
            <a:spLocks noGrp="1"/>
          </p:cNvSpPr>
          <p:nvPr>
            <p:ph type="title"/>
          </p:nvPr>
        </p:nvSpPr>
        <p:spPr/>
        <p:txBody>
          <a:bodyPr>
            <a:normAutofit fontScale="90000"/>
          </a:bodyPr>
          <a:p>
            <a:r>
              <a:rPr dirty="0" lang="en-US" smtClean="0"/>
              <a:t>	</a:t>
            </a:r>
            <a:r>
              <a:rPr b="1" dirty="0" sz="5400" lang="en-US" smtClean="0">
                <a:solidFill>
                  <a:srgbClr val="C00000"/>
                </a:solidFill>
              </a:rPr>
              <a:t> </a:t>
            </a:r>
            <a:br>
              <a:rPr b="1" dirty="0" sz="5400" lang="en-US" smtClean="0">
                <a:solidFill>
                  <a:srgbClr val="C00000"/>
                </a:solidFill>
              </a:rPr>
            </a:br>
            <a:r>
              <a:rPr b="1" dirty="0" sz="5400" lang="en-US" smtClean="0">
                <a:solidFill>
                  <a:srgbClr val="C00000"/>
                </a:solidFill>
              </a:rPr>
              <a:t>  SPECIFIC MANAGEMENT</a:t>
            </a:r>
            <a:endParaRPr dirty="0" lang="en-US"/>
          </a:p>
        </p:txBody>
      </p:sp>
      <p:sp>
        <p:nvSpPr>
          <p:cNvPr id="1048951" name="Content Placeholder 2"/>
          <p:cNvSpPr>
            <a:spLocks noGrp="1"/>
          </p:cNvSpPr>
          <p:nvPr>
            <p:ph idx="1"/>
          </p:nvPr>
        </p:nvSpPr>
        <p:spPr/>
        <p:txBody>
          <a:bodyPr>
            <a:normAutofit/>
          </a:bodyPr>
          <a:p>
            <a:pPr>
              <a:buNone/>
            </a:pPr>
            <a:r>
              <a:rPr dirty="0" i="1" lang="en-US" smtClean="0"/>
              <a:t>	</a:t>
            </a:r>
            <a:r>
              <a:rPr b="1" dirty="0" sz="3200" lang="en-US" smtClean="0"/>
              <a:t>	</a:t>
            </a:r>
            <a:r>
              <a:rPr b="1" dirty="0" sz="3200" lang="en-US" smtClean="0">
                <a:ln>
                  <a:solidFill>
                    <a:schemeClr val="tx1"/>
                  </a:solidFill>
                  <a:prstDash val="sysDot"/>
                </a:ln>
              </a:rPr>
              <a:t>OBJECTIVES</a:t>
            </a:r>
          </a:p>
          <a:p>
            <a:r>
              <a:rPr dirty="0" sz="3200" lang="en-US" smtClean="0"/>
              <a:t> Provide rest and a quiet environment hence control BP.</a:t>
            </a:r>
          </a:p>
          <a:p>
            <a:r>
              <a:rPr dirty="0" sz="3200" lang="en-US" smtClean="0"/>
              <a:t> Monitor disease process and take appropriate interventions  as necessary.</a:t>
            </a:r>
          </a:p>
          <a:p>
            <a:r>
              <a:rPr dirty="0" sz="3200" lang="en-US" smtClean="0"/>
              <a:t> Prolong pregnancy hence improve the survival rate of the fetus while also safeguarding maternal life.</a:t>
            </a:r>
          </a:p>
          <a:p>
            <a:endParaRPr dirty="0" lang="en-US"/>
          </a:p>
        </p:txBody>
      </p:sp>
      <p:sp>
        <p:nvSpPr>
          <p:cNvPr id="104895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788" name=""/>
        <p:cNvGrpSpPr/>
        <p:nvPr/>
      </p:nvGrpSpPr>
      <p:grpSpPr>
        <a:xfrm>
          <a:off x="0" y="0"/>
          <a:ext cx="0" cy="0"/>
          <a:chOff x="0" y="0"/>
          <a:chExt cx="0" cy="0"/>
        </a:xfrm>
      </p:grpSpPr>
      <p:sp>
        <p:nvSpPr>
          <p:cNvPr id="1048953" name="Content Placeholder 2"/>
          <p:cNvSpPr>
            <a:spLocks noGrp="1"/>
          </p:cNvSpPr>
          <p:nvPr>
            <p:ph idx="1"/>
          </p:nvPr>
        </p:nvSpPr>
        <p:spPr>
          <a:xfrm>
            <a:off x="190500" y="609600"/>
            <a:ext cx="10953750" cy="5943600"/>
          </a:xfrm>
        </p:spPr>
        <p:txBody>
          <a:bodyPr>
            <a:normAutofit/>
          </a:bodyPr>
          <a:p>
            <a:pPr>
              <a:buNone/>
            </a:pPr>
            <a:r>
              <a:rPr dirty="0" sz="2900" i="1" lang="en-US" smtClean="0"/>
              <a:t>	</a:t>
            </a:r>
            <a:r>
              <a:rPr b="1" dirty="0" sz="2900" i="1" lang="en-US" u="sng" smtClean="0"/>
              <a:t>ANTENATALLY</a:t>
            </a:r>
          </a:p>
          <a:p>
            <a:pPr>
              <a:buNone/>
            </a:pPr>
            <a:r>
              <a:rPr b="1" dirty="0" sz="2900" lang="en-US" smtClean="0"/>
              <a:t>	MILD</a:t>
            </a:r>
          </a:p>
          <a:p>
            <a:pPr>
              <a:buFont typeface="Wingdings" pitchFamily="2" charset="2"/>
              <a:buChar char="v"/>
            </a:pPr>
            <a:r>
              <a:rPr dirty="0" sz="2900" lang="en-US" smtClean="0"/>
              <a:t>Closely monitor  noted signs through weekly ANC and advise on:</a:t>
            </a:r>
          </a:p>
          <a:p>
            <a:r>
              <a:rPr dirty="0" sz="2900" lang="en-US" smtClean="0"/>
              <a:t>Bed rest, in LT lateral position during the greater part of the day to improve renal and placental blood supply.</a:t>
            </a:r>
          </a:p>
          <a:p>
            <a:pPr>
              <a:buFont typeface="Wingdings" pitchFamily="2" charset="2"/>
              <a:buChar char="Ø"/>
            </a:pPr>
            <a:r>
              <a:rPr dirty="0" sz="2900" lang="en-US" smtClean="0"/>
              <a:t>To facilitate this, emphasis on:</a:t>
            </a:r>
          </a:p>
          <a:p>
            <a:pPr>
              <a:buFont typeface="Wingdings" pitchFamily="2" charset="2"/>
              <a:buChar char="ü"/>
            </a:pPr>
            <a:r>
              <a:rPr dirty="0" sz="2900" lang="en-US" smtClean="0"/>
              <a:t>On having a house help.</a:t>
            </a:r>
          </a:p>
          <a:p>
            <a:pPr>
              <a:buFont typeface="Wingdings" pitchFamily="2" charset="2"/>
              <a:buChar char="ü"/>
            </a:pPr>
            <a:r>
              <a:rPr dirty="0" sz="2900" lang="en-US" smtClean="0"/>
              <a:t>Administer sedatives </a:t>
            </a:r>
            <a:r>
              <a:rPr dirty="0" sz="2900" lang="en-US" err="1" smtClean="0"/>
              <a:t>e.g</a:t>
            </a:r>
            <a:r>
              <a:rPr dirty="0" sz="2900" lang="en-US" smtClean="0"/>
              <a:t> </a:t>
            </a:r>
            <a:r>
              <a:rPr dirty="0" sz="2900" lang="en-US" err="1" smtClean="0"/>
              <a:t>phenobarbitone</a:t>
            </a:r>
            <a:r>
              <a:rPr dirty="0" sz="2900" lang="en-US" smtClean="0"/>
              <a:t> 30mg every 8 hrly. Aim is to ensure rest and sleep.</a:t>
            </a:r>
          </a:p>
          <a:p>
            <a:endParaRPr dirty="0" sz="2900" lang="en-US"/>
          </a:p>
        </p:txBody>
      </p:sp>
      <p:sp>
        <p:nvSpPr>
          <p:cNvPr id="104895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789" name=""/>
        <p:cNvGrpSpPr/>
        <p:nvPr/>
      </p:nvGrpSpPr>
      <p:grpSpPr>
        <a:xfrm>
          <a:off x="0" y="0"/>
          <a:ext cx="0" cy="0"/>
          <a:chOff x="0" y="0"/>
          <a:chExt cx="0" cy="0"/>
        </a:xfrm>
      </p:grpSpPr>
      <p:sp>
        <p:nvSpPr>
          <p:cNvPr id="1048955" name="Content Placeholder 2"/>
          <p:cNvSpPr>
            <a:spLocks noGrp="1"/>
          </p:cNvSpPr>
          <p:nvPr>
            <p:ph idx="1"/>
          </p:nvPr>
        </p:nvSpPr>
        <p:spPr>
          <a:xfrm>
            <a:off x="190501" y="609600"/>
            <a:ext cx="10858500" cy="5715000"/>
          </a:xfrm>
        </p:spPr>
        <p:txBody>
          <a:bodyPr>
            <a:normAutofit/>
          </a:bodyPr>
          <a:p>
            <a:pPr algn="just">
              <a:buFont typeface="Wingdings" pitchFamily="2" charset="2"/>
              <a:buChar char="ü"/>
            </a:pPr>
            <a:r>
              <a:rPr dirty="0" sz="3200" lang="en-US" smtClean="0"/>
              <a:t>Balance diet with extra proteins, </a:t>
            </a:r>
            <a:r>
              <a:rPr dirty="0" sz="3200" lang="en-US" err="1" smtClean="0"/>
              <a:t>fibre</a:t>
            </a:r>
            <a:r>
              <a:rPr dirty="0" sz="3200" lang="en-US" smtClean="0"/>
              <a:t>, low in salt and carbohydrates.</a:t>
            </a:r>
          </a:p>
          <a:p>
            <a:pPr algn="just">
              <a:buFont typeface="Wingdings" pitchFamily="2" charset="2"/>
              <a:buChar char="ü"/>
            </a:pPr>
            <a:r>
              <a:rPr dirty="0" sz="3200" lang="en-US" smtClean="0"/>
              <a:t>To monitor the fetal kicks and report to hospital if they are noted to be decreasing or are absent.</a:t>
            </a:r>
          </a:p>
          <a:p>
            <a:pPr algn="just">
              <a:buNone/>
            </a:pPr>
            <a:r>
              <a:rPr b="1" dirty="0" sz="3200" lang="en-US" smtClean="0"/>
              <a:t>	MODERATE</a:t>
            </a:r>
            <a:r>
              <a:rPr dirty="0" sz="3200" lang="en-US" smtClean="0"/>
              <a:t> </a:t>
            </a:r>
          </a:p>
          <a:p>
            <a:pPr algn="just"/>
            <a:r>
              <a:rPr dirty="0" sz="3200" lang="en-US" smtClean="0"/>
              <a:t>Requires admission to hospital.</a:t>
            </a:r>
          </a:p>
          <a:p>
            <a:pPr algn="just"/>
            <a:r>
              <a:rPr dirty="0" sz="3200" lang="en-US" smtClean="0"/>
              <a:t>Inform the doctor.</a:t>
            </a:r>
          </a:p>
          <a:p>
            <a:pPr algn="just"/>
            <a:r>
              <a:rPr dirty="0" sz="3200" lang="en-US" smtClean="0"/>
              <a:t>Nursed in a quiet area, preferably dim lit to facilitate rest &amp; sleep.</a:t>
            </a:r>
          </a:p>
          <a:p>
            <a:pPr algn="just">
              <a:buFont typeface="Wingdings" pitchFamily="2" charset="2"/>
              <a:buChar char="ü"/>
            </a:pPr>
            <a:r>
              <a:rPr dirty="0" sz="3200" lang="en-US" smtClean="0"/>
              <a:t> Control visitors &amp; administer sedatives as well.</a:t>
            </a:r>
          </a:p>
          <a:p>
            <a:pPr algn="just"/>
            <a:endParaRPr dirty="0" sz="3200" lang="en-US"/>
          </a:p>
        </p:txBody>
      </p:sp>
      <p:sp>
        <p:nvSpPr>
          <p:cNvPr id="104895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790" name=""/>
        <p:cNvGrpSpPr/>
        <p:nvPr/>
      </p:nvGrpSpPr>
      <p:grpSpPr>
        <a:xfrm>
          <a:off x="0" y="0"/>
          <a:ext cx="0" cy="0"/>
          <a:chOff x="0" y="0"/>
          <a:chExt cx="0" cy="0"/>
        </a:xfrm>
      </p:grpSpPr>
      <p:sp>
        <p:nvSpPr>
          <p:cNvPr id="1048957" name="Content Placeholder 2"/>
          <p:cNvSpPr>
            <a:spLocks noGrp="1"/>
          </p:cNvSpPr>
          <p:nvPr>
            <p:ph idx="1"/>
          </p:nvPr>
        </p:nvSpPr>
        <p:spPr>
          <a:xfrm>
            <a:off x="285750" y="685800"/>
            <a:ext cx="10858500" cy="5867400"/>
          </a:xfrm>
        </p:spPr>
        <p:txBody>
          <a:bodyPr>
            <a:normAutofit/>
          </a:bodyPr>
          <a:p>
            <a:pPr algn="just"/>
            <a:r>
              <a:rPr dirty="0" sz="3200" lang="en-US" smtClean="0">
                <a:latin typeface="+mj-lt"/>
              </a:rPr>
              <a:t>Closely monitor fetal and maternal condition through:</a:t>
            </a:r>
          </a:p>
          <a:p>
            <a:pPr algn="just">
              <a:buFont typeface="Wingdings" pitchFamily="2" charset="2"/>
              <a:buChar char="Ø"/>
            </a:pPr>
            <a:r>
              <a:rPr dirty="0" sz="3200" lang="en-US" smtClean="0">
                <a:latin typeface="+mj-lt"/>
              </a:rPr>
              <a:t>Fetal :- 4hrly F.H.S,  fetal kick chart, ultrasound to monitor fetal growth, particularly where control is not being achieved, cardiotocograph for sign of fetal hypoxia.</a:t>
            </a:r>
          </a:p>
          <a:p>
            <a:pPr algn="just">
              <a:buFont typeface="Wingdings" pitchFamily="2" charset="2"/>
              <a:buChar char="Ø"/>
            </a:pPr>
            <a:r>
              <a:rPr dirty="0" sz="3200" lang="en-US" smtClean="0">
                <a:latin typeface="+mj-lt"/>
              </a:rPr>
              <a:t>Maternal:- 4 hourly vital signs especially BP.</a:t>
            </a:r>
          </a:p>
          <a:p>
            <a:pPr algn="just">
              <a:buFont typeface="Wingdings" pitchFamily="2" charset="2"/>
              <a:buChar char="ü"/>
            </a:pPr>
            <a:r>
              <a:rPr dirty="0" sz="3200" lang="en-US" smtClean="0">
                <a:latin typeface="+mj-lt"/>
              </a:rPr>
              <a:t>12 hourly  urinalysis for </a:t>
            </a:r>
            <a:r>
              <a:rPr dirty="0" sz="3200" lang="en-US" err="1" smtClean="0">
                <a:latin typeface="+mj-lt"/>
              </a:rPr>
              <a:t>proteinuria</a:t>
            </a:r>
            <a:r>
              <a:rPr dirty="0" sz="3200" lang="en-US" smtClean="0">
                <a:latin typeface="+mj-lt"/>
              </a:rPr>
              <a:t>.</a:t>
            </a:r>
          </a:p>
          <a:p>
            <a:pPr algn="just">
              <a:buFont typeface="Wingdings" pitchFamily="2" charset="2"/>
              <a:buChar char="ü"/>
            </a:pPr>
            <a:r>
              <a:rPr dirty="0" sz="3200" lang="en-US" smtClean="0">
                <a:latin typeface="+mj-lt"/>
              </a:rPr>
              <a:t> Occasionally, 24 hours urine collection &amp; request for protein levels, &amp; </a:t>
            </a:r>
            <a:r>
              <a:rPr dirty="0" sz="3200" lang="en-US" err="1" smtClean="0">
                <a:latin typeface="+mj-lt"/>
              </a:rPr>
              <a:t>creatinine</a:t>
            </a:r>
            <a:r>
              <a:rPr dirty="0" sz="3200" lang="en-US" smtClean="0">
                <a:latin typeface="+mj-lt"/>
              </a:rPr>
              <a:t> clearance.</a:t>
            </a:r>
          </a:p>
          <a:p>
            <a:pPr algn="just"/>
            <a:r>
              <a:rPr dirty="0" sz="3200" lang="en-US" smtClean="0">
                <a:latin typeface="+mj-lt"/>
              </a:rPr>
              <a:t>Maintain records and consult PRN.</a:t>
            </a:r>
          </a:p>
          <a:p>
            <a:pPr algn="just"/>
            <a:endParaRPr dirty="0" sz="3200" lang="en-US">
              <a:latin typeface="+mj-lt"/>
            </a:endParaRPr>
          </a:p>
        </p:txBody>
      </p:sp>
      <p:sp>
        <p:nvSpPr>
          <p:cNvPr id="104895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791" name=""/>
        <p:cNvGrpSpPr/>
        <p:nvPr/>
      </p:nvGrpSpPr>
      <p:grpSpPr>
        <a:xfrm>
          <a:off x="0" y="0"/>
          <a:ext cx="0" cy="0"/>
          <a:chOff x="0" y="0"/>
          <a:chExt cx="0" cy="0"/>
        </a:xfrm>
      </p:grpSpPr>
      <p:sp>
        <p:nvSpPr>
          <p:cNvPr id="1048959" name="Content Placeholder 2"/>
          <p:cNvSpPr>
            <a:spLocks noGrp="1"/>
          </p:cNvSpPr>
          <p:nvPr>
            <p:ph idx="1"/>
          </p:nvPr>
        </p:nvSpPr>
        <p:spPr>
          <a:xfrm>
            <a:off x="571500" y="838200"/>
            <a:ext cx="10287000" cy="5486400"/>
          </a:xfrm>
        </p:spPr>
        <p:txBody>
          <a:bodyPr>
            <a:normAutofit/>
          </a:bodyPr>
          <a:p>
            <a:pPr algn="just"/>
            <a:r>
              <a:rPr dirty="0" sz="3200" lang="en-US" smtClean="0"/>
              <a:t>Drugs:</a:t>
            </a:r>
          </a:p>
          <a:p>
            <a:pPr algn="just">
              <a:buFont typeface="Wingdings" pitchFamily="2" charset="2"/>
              <a:buChar char="Ø"/>
            </a:pPr>
            <a:r>
              <a:rPr dirty="0" sz="3200" lang="en-US" smtClean="0"/>
              <a:t> Administer antihypertensive e.g. </a:t>
            </a:r>
            <a:r>
              <a:rPr dirty="0" sz="3200" lang="en-US" err="1" smtClean="0"/>
              <a:t>Aldomet</a:t>
            </a:r>
            <a:r>
              <a:rPr dirty="0" sz="3200" lang="en-US" smtClean="0"/>
              <a:t> 250-500mg TDS or </a:t>
            </a:r>
            <a:r>
              <a:rPr dirty="0" sz="3200" lang="en-US" err="1" smtClean="0"/>
              <a:t>nifedipine</a:t>
            </a:r>
            <a:r>
              <a:rPr dirty="0" sz="3200" lang="en-US" smtClean="0"/>
              <a:t> 20mg BD.</a:t>
            </a:r>
          </a:p>
          <a:p>
            <a:pPr algn="just">
              <a:buFont typeface="Wingdings" pitchFamily="2" charset="2"/>
              <a:buChar char="Ø"/>
            </a:pPr>
            <a:r>
              <a:rPr dirty="0" sz="3200" lang="en-US" smtClean="0"/>
              <a:t>Sedatives-</a:t>
            </a:r>
            <a:r>
              <a:rPr dirty="0" sz="3200" lang="en-US" err="1" smtClean="0"/>
              <a:t>phenorbarbitone</a:t>
            </a:r>
            <a:r>
              <a:rPr dirty="0" sz="3200" lang="en-US" smtClean="0"/>
              <a:t>.</a:t>
            </a:r>
          </a:p>
          <a:p>
            <a:pPr algn="just"/>
            <a:r>
              <a:rPr dirty="0" sz="3200" lang="en-US" smtClean="0"/>
              <a:t>Offer psychological support to control anxiety.</a:t>
            </a:r>
          </a:p>
          <a:p>
            <a:pPr algn="just"/>
            <a:r>
              <a:rPr dirty="0" sz="3200" lang="en-US" smtClean="0"/>
              <a:t>Maintain fluid balance chart and weigh on alternate days to monitor </a:t>
            </a:r>
            <a:r>
              <a:rPr dirty="0" sz="3200" lang="en-US" err="1" smtClean="0"/>
              <a:t>oedema</a:t>
            </a:r>
            <a:r>
              <a:rPr dirty="0" sz="3200" lang="en-US" smtClean="0"/>
              <a:t>.</a:t>
            </a:r>
          </a:p>
          <a:p>
            <a:pPr algn="just"/>
            <a:r>
              <a:rPr dirty="0" sz="3200" lang="en-US" smtClean="0"/>
              <a:t>Regularly evaluate the progress through interviewing and physical examination findings.</a:t>
            </a:r>
          </a:p>
          <a:p>
            <a:pPr algn="just"/>
            <a:endParaRPr dirty="0" lang="en-US"/>
          </a:p>
        </p:txBody>
      </p:sp>
      <p:sp>
        <p:nvSpPr>
          <p:cNvPr id="104896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792" name=""/>
        <p:cNvGrpSpPr/>
        <p:nvPr/>
      </p:nvGrpSpPr>
      <p:grpSpPr>
        <a:xfrm>
          <a:off x="0" y="0"/>
          <a:ext cx="0" cy="0"/>
          <a:chOff x="0" y="0"/>
          <a:chExt cx="0" cy="0"/>
        </a:xfrm>
      </p:grpSpPr>
      <p:sp>
        <p:nvSpPr>
          <p:cNvPr id="1048961" name="Content Placeholder 2"/>
          <p:cNvSpPr>
            <a:spLocks noGrp="1"/>
          </p:cNvSpPr>
          <p:nvPr>
            <p:ph idx="1"/>
          </p:nvPr>
        </p:nvSpPr>
        <p:spPr>
          <a:xfrm>
            <a:off x="571500" y="609600"/>
            <a:ext cx="10287000" cy="5943600"/>
          </a:xfrm>
        </p:spPr>
        <p:txBody>
          <a:bodyPr>
            <a:normAutofit/>
          </a:bodyPr>
          <a:p>
            <a:pPr algn="just"/>
            <a:r>
              <a:rPr dirty="0" sz="3200" lang="en-US" smtClean="0"/>
              <a:t>Control achieved before term, discharge  to continue with review visits at the antenatal clinic. </a:t>
            </a:r>
          </a:p>
          <a:p>
            <a:pPr algn="just">
              <a:buFont typeface="Wingdings" pitchFamily="2" charset="2"/>
              <a:buChar char="Ø"/>
            </a:pPr>
            <a:r>
              <a:rPr dirty="0" sz="3200" lang="en-US" smtClean="0"/>
              <a:t>Encourage to report back incase of abnormality.</a:t>
            </a:r>
          </a:p>
          <a:p>
            <a:pPr algn="just"/>
            <a:r>
              <a:rPr dirty="0" sz="3200" lang="en-US" smtClean="0"/>
              <a:t>Control not well achieved and at term.</a:t>
            </a:r>
          </a:p>
          <a:p>
            <a:pPr algn="just">
              <a:buFont typeface="Wingdings" pitchFamily="2" charset="2"/>
              <a:buChar char="Ø"/>
            </a:pPr>
            <a:r>
              <a:rPr dirty="0" sz="3200" lang="en-US" smtClean="0"/>
              <a:t> Either induction is attempted at 38 weeks, but if   complications then emergency caesarean section is carried out.</a:t>
            </a:r>
          </a:p>
          <a:p>
            <a:pPr algn="just">
              <a:buNone/>
            </a:pPr>
            <a:r>
              <a:rPr dirty="0" sz="3200" lang="en-US" smtClean="0"/>
              <a:t>	</a:t>
            </a:r>
            <a:r>
              <a:rPr b="1" dirty="0" sz="3200" lang="en-US" smtClean="0"/>
              <a:t>NB</a:t>
            </a:r>
            <a:r>
              <a:rPr dirty="0" sz="3200" lang="en-US" smtClean="0"/>
              <a:t>: Induction at 38 weeks is aimed at preventing I.U.F.D thereafter, since placental functions are impaired.</a:t>
            </a:r>
          </a:p>
          <a:p>
            <a:pPr algn="just"/>
            <a:endParaRPr dirty="0" sz="3200" lang="en-US"/>
          </a:p>
        </p:txBody>
      </p:sp>
      <p:sp>
        <p:nvSpPr>
          <p:cNvPr id="104896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793" name=""/>
        <p:cNvGrpSpPr/>
        <p:nvPr/>
      </p:nvGrpSpPr>
      <p:grpSpPr>
        <a:xfrm>
          <a:off x="0" y="0"/>
          <a:ext cx="0" cy="0"/>
          <a:chOff x="0" y="0"/>
          <a:chExt cx="0" cy="0"/>
        </a:xfrm>
      </p:grpSpPr>
      <p:sp>
        <p:nvSpPr>
          <p:cNvPr id="1048963" name="Content Placeholder 2"/>
          <p:cNvSpPr>
            <a:spLocks noGrp="1"/>
          </p:cNvSpPr>
          <p:nvPr>
            <p:ph idx="1"/>
          </p:nvPr>
        </p:nvSpPr>
        <p:spPr>
          <a:xfrm>
            <a:off x="571500" y="990600"/>
            <a:ext cx="10287000" cy="5334000"/>
          </a:xfrm>
        </p:spPr>
        <p:txBody>
          <a:bodyPr>
            <a:normAutofit/>
          </a:bodyPr>
          <a:p>
            <a:pPr>
              <a:buNone/>
            </a:pPr>
            <a:r>
              <a:rPr dirty="0" lang="en-US" smtClean="0"/>
              <a:t>	</a:t>
            </a:r>
            <a:r>
              <a:rPr b="1" dirty="0" sz="3200" lang="en-US" smtClean="0"/>
              <a:t>SEVERE</a:t>
            </a:r>
            <a:r>
              <a:rPr dirty="0" sz="3200" lang="en-US" smtClean="0"/>
              <a:t>:</a:t>
            </a:r>
          </a:p>
          <a:p>
            <a:r>
              <a:rPr dirty="0" sz="3200" lang="en-US" smtClean="0"/>
              <a:t>Admit at first contact because she is at the verge of developing eclampsia.</a:t>
            </a:r>
          </a:p>
          <a:p>
            <a:r>
              <a:rPr dirty="0" sz="3200" lang="en-US" smtClean="0"/>
              <a:t>Inform the doctor immediately for medical management.</a:t>
            </a:r>
          </a:p>
          <a:p>
            <a:r>
              <a:rPr dirty="0" sz="3200" lang="en-US" smtClean="0"/>
              <a:t>Nurse in a quite dimmed lit area and on complete bed rest.</a:t>
            </a:r>
          </a:p>
          <a:p>
            <a:r>
              <a:rPr dirty="0" sz="3200" lang="en-US" smtClean="0"/>
              <a:t>Encourage lateral position to improve blood supply to kidneys &amp; placental bed.</a:t>
            </a:r>
          </a:p>
          <a:p>
            <a:endParaRPr dirty="0" lang="en-US"/>
          </a:p>
        </p:txBody>
      </p:sp>
      <p:sp>
        <p:nvSpPr>
          <p:cNvPr id="104896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794" name=""/>
        <p:cNvGrpSpPr/>
        <p:nvPr/>
      </p:nvGrpSpPr>
      <p:grpSpPr>
        <a:xfrm>
          <a:off x="0" y="0"/>
          <a:ext cx="0" cy="0"/>
          <a:chOff x="0" y="0"/>
          <a:chExt cx="0" cy="0"/>
        </a:xfrm>
      </p:grpSpPr>
      <p:sp>
        <p:nvSpPr>
          <p:cNvPr id="1048965" name="Content Placeholder 2"/>
          <p:cNvSpPr>
            <a:spLocks noGrp="1"/>
          </p:cNvSpPr>
          <p:nvPr>
            <p:ph idx="1"/>
          </p:nvPr>
        </p:nvSpPr>
        <p:spPr>
          <a:xfrm>
            <a:off x="285750" y="685800"/>
            <a:ext cx="10858500" cy="5943600"/>
          </a:xfrm>
        </p:spPr>
        <p:txBody>
          <a:bodyPr>
            <a:noAutofit/>
          </a:bodyPr>
          <a:p>
            <a:pPr algn="just"/>
            <a:r>
              <a:rPr dirty="0" sz="3200" lang="en-US" smtClean="0"/>
              <a:t>Maintain records  of observations and consult PRN.</a:t>
            </a:r>
          </a:p>
          <a:p>
            <a:pPr algn="just">
              <a:buFont typeface="Wingdings" pitchFamily="2" charset="2"/>
              <a:buChar char="Ø"/>
            </a:pPr>
            <a:r>
              <a:rPr dirty="0" sz="3200" lang="en-US" smtClean="0"/>
              <a:t>Vital signs every2 hours.</a:t>
            </a:r>
          </a:p>
          <a:p>
            <a:pPr algn="just">
              <a:buFont typeface="Wingdings" pitchFamily="2" charset="2"/>
              <a:buChar char="Ø"/>
            </a:pPr>
            <a:r>
              <a:rPr dirty="0" sz="3200" lang="en-US" smtClean="0"/>
              <a:t>Urinalysis on every specimen.</a:t>
            </a:r>
          </a:p>
          <a:p>
            <a:pPr algn="just">
              <a:buFont typeface="Wingdings" pitchFamily="2" charset="2"/>
              <a:buChar char="Ø"/>
            </a:pPr>
            <a:r>
              <a:rPr dirty="0" sz="3200" lang="en-US" smtClean="0"/>
              <a:t>State of </a:t>
            </a:r>
            <a:r>
              <a:rPr dirty="0" sz="3200" lang="en-US" err="1" smtClean="0"/>
              <a:t>oedema</a:t>
            </a:r>
            <a:r>
              <a:rPr dirty="0" sz="3200" lang="en-US" smtClean="0"/>
              <a:t> through </a:t>
            </a:r>
            <a:r>
              <a:rPr dirty="0" sz="3200" lang="en-US" err="1" smtClean="0"/>
              <a:t>phy</a:t>
            </a:r>
            <a:r>
              <a:rPr dirty="0" sz="3200" lang="en-US" smtClean="0"/>
              <a:t> exam + daily weighing.</a:t>
            </a:r>
          </a:p>
          <a:p>
            <a:pPr algn="just">
              <a:buFont typeface="Wingdings" pitchFamily="2" charset="2"/>
              <a:buChar char="Ø"/>
            </a:pPr>
            <a:r>
              <a:rPr dirty="0" sz="3200" lang="en-US" smtClean="0"/>
              <a:t>Fluid chart &amp; for gross </a:t>
            </a:r>
            <a:r>
              <a:rPr dirty="0" sz="3200" lang="en-US" err="1" smtClean="0"/>
              <a:t>oedema</a:t>
            </a:r>
            <a:r>
              <a:rPr dirty="0" sz="3200" lang="en-US" smtClean="0"/>
              <a:t>, restrict fluid intake to 2L×24hrs.</a:t>
            </a:r>
          </a:p>
          <a:p>
            <a:pPr algn="just"/>
            <a:r>
              <a:rPr dirty="0" sz="3200" lang="en-US" smtClean="0"/>
              <a:t>Enquire for  symptoms  e.g. headache, epigastric pain etc.</a:t>
            </a:r>
          </a:p>
          <a:p>
            <a:pPr algn="just"/>
            <a:r>
              <a:rPr dirty="0" sz="3200" lang="en-US" smtClean="0"/>
              <a:t>Fetal:-F.H.S every 3hrs, fetal kick/movement, instruct client on maintaining record.</a:t>
            </a:r>
          </a:p>
          <a:p>
            <a:pPr algn="just"/>
            <a:endParaRPr dirty="0" sz="3200" lang="en-US"/>
          </a:p>
        </p:txBody>
      </p:sp>
      <p:sp>
        <p:nvSpPr>
          <p:cNvPr id="104896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795" name=""/>
        <p:cNvGrpSpPr/>
        <p:nvPr/>
      </p:nvGrpSpPr>
      <p:grpSpPr>
        <a:xfrm>
          <a:off x="0" y="0"/>
          <a:ext cx="0" cy="0"/>
          <a:chOff x="0" y="0"/>
          <a:chExt cx="0" cy="0"/>
        </a:xfrm>
      </p:grpSpPr>
      <p:sp>
        <p:nvSpPr>
          <p:cNvPr id="1048967" name="Content Placeholder 2"/>
          <p:cNvSpPr>
            <a:spLocks noGrp="1"/>
          </p:cNvSpPr>
          <p:nvPr>
            <p:ph idx="1"/>
          </p:nvPr>
        </p:nvSpPr>
        <p:spPr>
          <a:xfrm>
            <a:off x="285750" y="838200"/>
            <a:ext cx="10572750" cy="5638800"/>
          </a:xfrm>
        </p:spPr>
        <p:txBody>
          <a:bodyPr>
            <a:noAutofit/>
          </a:bodyPr>
          <a:p>
            <a:r>
              <a:rPr dirty="0" sz="3200" lang="en-US" smtClean="0"/>
              <a:t>If </a:t>
            </a:r>
            <a:r>
              <a:rPr dirty="0" sz="3200" lang="en-US" err="1" smtClean="0"/>
              <a:t>facilates</a:t>
            </a:r>
            <a:r>
              <a:rPr dirty="0" sz="3200" lang="en-US" smtClean="0"/>
              <a:t> are  available ,occasionally carry out:</a:t>
            </a:r>
          </a:p>
          <a:p>
            <a:pPr>
              <a:buFont typeface="Wingdings" pitchFamily="2" charset="2"/>
              <a:buChar char="Ø"/>
            </a:pPr>
            <a:r>
              <a:rPr dirty="0" sz="3200" lang="en-US" err="1" smtClean="0"/>
              <a:t>Cardiotocography</a:t>
            </a:r>
            <a:r>
              <a:rPr dirty="0" sz="3200" lang="en-US" smtClean="0"/>
              <a:t>.</a:t>
            </a:r>
          </a:p>
          <a:p>
            <a:pPr>
              <a:buFont typeface="Wingdings" pitchFamily="2" charset="2"/>
              <a:buChar char="Ø"/>
            </a:pPr>
            <a:r>
              <a:rPr dirty="0" sz="3200" lang="en-US" smtClean="0"/>
              <a:t>Doppler ultrasound, to measure the efficiency of blood flow to the placenta, hence determine fate of the fetus &amp; effect delivery appropriately.</a:t>
            </a:r>
          </a:p>
          <a:p>
            <a:r>
              <a:rPr dirty="0" sz="3200" lang="en-US" smtClean="0"/>
              <a:t>Diet, as in mild</a:t>
            </a:r>
          </a:p>
          <a:p>
            <a:r>
              <a:rPr dirty="0" sz="3200" lang="en-US" smtClean="0"/>
              <a:t>Psychological support.</a:t>
            </a:r>
          </a:p>
          <a:p>
            <a:r>
              <a:rPr dirty="0" sz="3200" lang="en-US" smtClean="0"/>
              <a:t>Hygiene</a:t>
            </a:r>
          </a:p>
          <a:p>
            <a:endParaRPr dirty="0" sz="3200" lang="en-US"/>
          </a:p>
        </p:txBody>
      </p:sp>
      <p:sp>
        <p:nvSpPr>
          <p:cNvPr id="104896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796" name=""/>
        <p:cNvGrpSpPr/>
        <p:nvPr/>
      </p:nvGrpSpPr>
      <p:grpSpPr>
        <a:xfrm>
          <a:off x="0" y="0"/>
          <a:ext cx="0" cy="0"/>
          <a:chOff x="0" y="0"/>
          <a:chExt cx="0" cy="0"/>
        </a:xfrm>
      </p:grpSpPr>
      <p:sp>
        <p:nvSpPr>
          <p:cNvPr id="1048969" name="Content Placeholder 2"/>
          <p:cNvSpPr>
            <a:spLocks noGrp="1"/>
          </p:cNvSpPr>
          <p:nvPr>
            <p:ph idx="1"/>
          </p:nvPr>
        </p:nvSpPr>
        <p:spPr>
          <a:xfrm>
            <a:off x="285750" y="685800"/>
            <a:ext cx="10858500" cy="5867400"/>
          </a:xfrm>
        </p:spPr>
        <p:txBody>
          <a:bodyPr>
            <a:normAutofit/>
          </a:bodyPr>
          <a:p>
            <a:pPr>
              <a:buNone/>
            </a:pPr>
            <a:r>
              <a:rPr b="1" dirty="0" sz="3200" lang="en-US" smtClean="0">
                <a:solidFill>
                  <a:srgbClr val="FF33CC"/>
                </a:solidFill>
              </a:rPr>
              <a:t>		DRUGS:-</a:t>
            </a:r>
          </a:p>
          <a:p>
            <a:r>
              <a:rPr dirty="0" sz="3200" lang="en-US" smtClean="0"/>
              <a:t>Parental antihypertensive </a:t>
            </a:r>
            <a:r>
              <a:rPr dirty="0" sz="3200" lang="en-US" err="1" smtClean="0"/>
              <a:t>i.e.hydrallazine</a:t>
            </a:r>
            <a:r>
              <a:rPr dirty="0" sz="3200" lang="en-US" smtClean="0"/>
              <a:t> 10mg </a:t>
            </a:r>
            <a:r>
              <a:rPr dirty="0" sz="3200" lang="en-US" err="1" smtClean="0"/>
              <a:t>i.v</a:t>
            </a:r>
            <a:r>
              <a:rPr dirty="0" sz="3200" lang="en-US" smtClean="0"/>
              <a:t> slowly stat. </a:t>
            </a:r>
          </a:p>
          <a:p>
            <a:r>
              <a:rPr dirty="0" sz="3200" lang="en-US" smtClean="0"/>
              <a:t> Alternatively, magnesium sulphate 20% solution 4gm IV for 10-15 minutes.</a:t>
            </a:r>
          </a:p>
          <a:p>
            <a:pPr>
              <a:buFont typeface="Wingdings" pitchFamily="2" charset="2"/>
              <a:buChar char="Ø"/>
            </a:pPr>
            <a:r>
              <a:rPr dirty="0" sz="3200" lang="en-US" smtClean="0"/>
              <a:t> Then follow promptly with 10 gm of 50% solution MgSo4 , 5gm on each buttock, deep IM with 2% </a:t>
            </a:r>
            <a:r>
              <a:rPr dirty="0" sz="3200" lang="en-US" err="1" smtClean="0"/>
              <a:t>lignocaine</a:t>
            </a:r>
            <a:r>
              <a:rPr dirty="0" sz="3200" lang="en-US" smtClean="0"/>
              <a:t> in the same syringe.</a:t>
            </a:r>
          </a:p>
          <a:p>
            <a:pPr>
              <a:buNone/>
            </a:pPr>
            <a:r>
              <a:rPr b="1" dirty="0" sz="3200" lang="en-US" err="1" smtClean="0">
                <a:solidFill>
                  <a:srgbClr val="FF33CC"/>
                </a:solidFill>
              </a:rPr>
              <a:t>NB</a:t>
            </a:r>
            <a:r>
              <a:rPr dirty="0" sz="3200" lang="en-US" err="1" smtClean="0"/>
              <a:t>:Observe</a:t>
            </a:r>
            <a:r>
              <a:rPr dirty="0" sz="3200" lang="en-US" smtClean="0"/>
              <a:t> usual precautions before  giving mgso4.</a:t>
            </a:r>
          </a:p>
        </p:txBody>
      </p:sp>
      <p:sp>
        <p:nvSpPr>
          <p:cNvPr id="104897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797" name=""/>
        <p:cNvGrpSpPr/>
        <p:nvPr/>
      </p:nvGrpSpPr>
      <p:grpSpPr>
        <a:xfrm>
          <a:off x="0" y="0"/>
          <a:ext cx="0" cy="0"/>
          <a:chOff x="0" y="0"/>
          <a:chExt cx="0" cy="0"/>
        </a:xfrm>
      </p:grpSpPr>
      <p:sp>
        <p:nvSpPr>
          <p:cNvPr id="1048971" name="Content Placeholder 2"/>
          <p:cNvSpPr>
            <a:spLocks noGrp="1"/>
          </p:cNvSpPr>
          <p:nvPr>
            <p:ph idx="1"/>
          </p:nvPr>
        </p:nvSpPr>
        <p:spPr>
          <a:xfrm>
            <a:off x="571500" y="838200"/>
            <a:ext cx="10287000" cy="5486400"/>
          </a:xfrm>
        </p:spPr>
        <p:txBody>
          <a:bodyPr>
            <a:normAutofit/>
          </a:bodyPr>
          <a:p>
            <a:pPr algn="just"/>
            <a:r>
              <a:rPr dirty="0" sz="3200" lang="en-US" smtClean="0"/>
              <a:t>closely monitors BP every 15 to 30 minutes in order to diagnose signs of sudden hypotension which is dangerous to both mother &amp; fetus.</a:t>
            </a:r>
          </a:p>
          <a:p>
            <a:pPr algn="just"/>
            <a:r>
              <a:rPr dirty="0" sz="3200" lang="en-US" smtClean="0"/>
              <a:t>As soon as the diastolic pressure stabilizes to a range of 90-100mhg then change to oral antihypertensive e.g. </a:t>
            </a:r>
            <a:r>
              <a:rPr dirty="0" sz="3200" lang="en-US" err="1" smtClean="0"/>
              <a:t>aldomet</a:t>
            </a:r>
            <a:r>
              <a:rPr dirty="0" sz="3200" lang="en-US" smtClean="0"/>
              <a:t> 500mg TDS or </a:t>
            </a:r>
            <a:r>
              <a:rPr dirty="0" sz="3200" lang="en-US" err="1" smtClean="0"/>
              <a:t>nifedipine</a:t>
            </a:r>
            <a:r>
              <a:rPr dirty="0" sz="3200" lang="en-US" smtClean="0"/>
              <a:t> 20mg BD either sublingually or orally.</a:t>
            </a:r>
          </a:p>
          <a:p>
            <a:pPr algn="just"/>
            <a:r>
              <a:rPr dirty="0" sz="3200" lang="en-US" smtClean="0"/>
              <a:t>Sedation  e.g. </a:t>
            </a:r>
            <a:r>
              <a:rPr dirty="0" sz="3200" lang="en-US" err="1" smtClean="0"/>
              <a:t>phenobarbitone</a:t>
            </a:r>
            <a:r>
              <a:rPr dirty="0" sz="3200" lang="en-US" smtClean="0"/>
              <a:t> 30mg TDS.</a:t>
            </a:r>
          </a:p>
          <a:p>
            <a:pPr algn="just"/>
            <a:endParaRPr dirty="0" lang="en-US"/>
          </a:p>
        </p:txBody>
      </p:sp>
      <p:sp>
        <p:nvSpPr>
          <p:cNvPr id="104897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798" name=""/>
        <p:cNvGrpSpPr/>
        <p:nvPr/>
      </p:nvGrpSpPr>
      <p:grpSpPr>
        <a:xfrm>
          <a:off x="0" y="0"/>
          <a:ext cx="0" cy="0"/>
          <a:chOff x="0" y="0"/>
          <a:chExt cx="0" cy="0"/>
        </a:xfrm>
      </p:grpSpPr>
      <p:sp>
        <p:nvSpPr>
          <p:cNvPr id="1048973" name="Content Placeholder 2"/>
          <p:cNvSpPr>
            <a:spLocks noGrp="1"/>
          </p:cNvSpPr>
          <p:nvPr>
            <p:ph idx="1"/>
          </p:nvPr>
        </p:nvSpPr>
        <p:spPr>
          <a:xfrm>
            <a:off x="571500" y="990600"/>
            <a:ext cx="10287000" cy="5334000"/>
          </a:xfrm>
        </p:spPr>
        <p:txBody>
          <a:bodyPr>
            <a:normAutofit/>
          </a:bodyPr>
          <a:p>
            <a:pPr algn="just"/>
            <a:r>
              <a:rPr dirty="0" sz="3200" lang="en-US" smtClean="0"/>
              <a:t>For  preterm delivery anticipation, administer steroid=</a:t>
            </a:r>
            <a:r>
              <a:rPr dirty="0" sz="3200" lang="en-US" err="1" smtClean="0"/>
              <a:t>dexamethesone</a:t>
            </a:r>
            <a:r>
              <a:rPr dirty="0" sz="3200" lang="en-US" smtClean="0"/>
              <a:t> 4mg BD 1.m for 4/7 to prevent respiratory distress syndrome.</a:t>
            </a:r>
          </a:p>
          <a:p>
            <a:pPr algn="just">
              <a:buFont typeface="Wingdings" pitchFamily="2" charset="2"/>
              <a:buChar char="Ø"/>
            </a:pPr>
            <a:r>
              <a:rPr dirty="0" sz="3200" lang="en-US" smtClean="0"/>
              <a:t> However, the condition is a stressor leading early maturation of the lungs, so not always necessary.</a:t>
            </a:r>
          </a:p>
          <a:p>
            <a:pPr algn="just"/>
            <a:r>
              <a:rPr dirty="0" sz="3200" lang="en-US" smtClean="0"/>
              <a:t>Evaluate the progress daily.</a:t>
            </a:r>
          </a:p>
        </p:txBody>
      </p:sp>
      <p:sp>
        <p:nvSpPr>
          <p:cNvPr id="104897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799" name=""/>
        <p:cNvGrpSpPr/>
        <p:nvPr/>
      </p:nvGrpSpPr>
      <p:grpSpPr>
        <a:xfrm>
          <a:off x="0" y="0"/>
          <a:ext cx="0" cy="0"/>
          <a:chOff x="0" y="0"/>
          <a:chExt cx="0" cy="0"/>
        </a:xfrm>
      </p:grpSpPr>
      <p:sp>
        <p:nvSpPr>
          <p:cNvPr id="1048975" name="Content Placeholder 2"/>
          <p:cNvSpPr>
            <a:spLocks noGrp="1"/>
          </p:cNvSpPr>
          <p:nvPr>
            <p:ph idx="1"/>
          </p:nvPr>
        </p:nvSpPr>
        <p:spPr>
          <a:xfrm>
            <a:off x="571500" y="762000"/>
            <a:ext cx="10287000" cy="5562600"/>
          </a:xfrm>
        </p:spPr>
        <p:txBody>
          <a:bodyPr>
            <a:normAutofit/>
          </a:bodyPr>
          <a:p>
            <a:r>
              <a:rPr dirty="0" sz="3600" lang="en-US" smtClean="0"/>
              <a:t>As the condition gets controlled re-introduce to limited daily activity and allow pregnancy to continue to term.</a:t>
            </a:r>
          </a:p>
          <a:p>
            <a:r>
              <a:rPr dirty="0" sz="3600" lang="en-US" smtClean="0"/>
              <a:t>However if she is admitted at term or condition doesn’t improve irrespective of the gestation age emergency caesarean section is highly recommended.</a:t>
            </a:r>
          </a:p>
          <a:p>
            <a:endParaRPr dirty="0" sz="3600" lang="en-US"/>
          </a:p>
        </p:txBody>
      </p:sp>
      <p:sp>
        <p:nvSpPr>
          <p:cNvPr id="104897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801" name=""/>
        <p:cNvGrpSpPr/>
        <p:nvPr/>
      </p:nvGrpSpPr>
      <p:grpSpPr>
        <a:xfrm>
          <a:off x="0" y="0"/>
          <a:ext cx="0" cy="0"/>
          <a:chOff x="0" y="0"/>
          <a:chExt cx="0" cy="0"/>
        </a:xfrm>
      </p:grpSpPr>
      <p:sp>
        <p:nvSpPr>
          <p:cNvPr id="1048983" name="Content Placeholder 2"/>
          <p:cNvSpPr>
            <a:spLocks noGrp="1"/>
          </p:cNvSpPr>
          <p:nvPr>
            <p:ph sz="half" idx="1"/>
          </p:nvPr>
        </p:nvSpPr>
        <p:spPr>
          <a:xfrm>
            <a:off x="0" y="0"/>
            <a:ext cx="5429250" cy="6858000"/>
          </a:xfrm>
        </p:spPr>
        <p:txBody>
          <a:bodyPr>
            <a:noAutofit/>
          </a:bodyPr>
          <a:p>
            <a:pPr>
              <a:buNone/>
            </a:pPr>
            <a:r>
              <a:rPr b="1" dirty="0" sz="2800" lang="en-US" smtClean="0"/>
              <a:t>	</a:t>
            </a:r>
            <a:r>
              <a:rPr b="1" dirty="0" sz="2800" lang="en-US" u="sng" smtClean="0"/>
              <a:t>LABOUR/ INTRAPARTUM CARE</a:t>
            </a:r>
          </a:p>
          <a:p>
            <a:r>
              <a:rPr dirty="0" sz="2800" lang="en-US" smtClean="0"/>
              <a:t>The mode of delivery is dependent on the maternal &amp; fetal condition as well as the gestation of the pregnancy, regardless of the classification &amp; where possible, spontaneous onset of </a:t>
            </a:r>
            <a:r>
              <a:rPr dirty="0" sz="2800" lang="en-US" err="1" smtClean="0"/>
              <a:t>labour</a:t>
            </a:r>
            <a:r>
              <a:rPr dirty="0" sz="2800" lang="en-US" smtClean="0"/>
              <a:t> &amp; vaginal birth is preferable. </a:t>
            </a:r>
          </a:p>
          <a:p>
            <a:pPr>
              <a:buNone/>
            </a:pPr>
            <a:endParaRPr dirty="0" sz="2800" lang="en-US" smtClean="0"/>
          </a:p>
          <a:p>
            <a:pPr>
              <a:buNone/>
            </a:pPr>
            <a:r>
              <a:rPr dirty="0" sz="2800" lang="en-US" smtClean="0"/>
              <a:t>	</a:t>
            </a:r>
            <a:endParaRPr dirty="0" sz="2800" lang="en-US"/>
          </a:p>
        </p:txBody>
      </p:sp>
      <p:sp>
        <p:nvSpPr>
          <p:cNvPr id="1048984" name="Content Placeholder 6"/>
          <p:cNvSpPr>
            <a:spLocks noGrp="1"/>
          </p:cNvSpPr>
          <p:nvPr>
            <p:ph sz="half" idx="2"/>
          </p:nvPr>
        </p:nvSpPr>
        <p:spPr>
          <a:xfrm>
            <a:off x="5334000" y="0"/>
            <a:ext cx="6096000" cy="6858000"/>
          </a:xfrm>
          <a:solidFill>
            <a:schemeClr val="tx1"/>
          </a:solidFill>
        </p:spPr>
        <p:txBody>
          <a:bodyPr>
            <a:noAutofit/>
          </a:bodyPr>
          <a:p>
            <a:pPr>
              <a:buNone/>
            </a:pPr>
            <a:r>
              <a:rPr b="1" dirty="0" sz="2800" lang="en-US" u="sng" smtClean="0">
                <a:solidFill>
                  <a:srgbClr val="FFFF00"/>
                </a:solidFill>
                <a:latin typeface="Aharoni" pitchFamily="2" charset="-79"/>
                <a:cs typeface="Aharoni" pitchFamily="2" charset="-79"/>
              </a:rPr>
              <a:t>Indications for </a:t>
            </a:r>
            <a:r>
              <a:rPr b="1" dirty="0" sz="2800" lang="en-US" err="1" u="sng" smtClean="0">
                <a:solidFill>
                  <a:srgbClr val="FFFF00"/>
                </a:solidFill>
                <a:latin typeface="Aharoni" pitchFamily="2" charset="-79"/>
                <a:cs typeface="Aharoni" pitchFamily="2" charset="-79"/>
              </a:rPr>
              <a:t>delievery</a:t>
            </a:r>
            <a:r>
              <a:rPr b="1" dirty="0" sz="2800" lang="en-US" u="sng" smtClean="0">
                <a:solidFill>
                  <a:srgbClr val="FFFF00"/>
                </a:solidFill>
                <a:latin typeface="Aharoni" pitchFamily="2" charset="-79"/>
                <a:cs typeface="Aharoni" pitchFamily="2" charset="-79"/>
              </a:rPr>
              <a:t> in pre-</a:t>
            </a:r>
            <a:r>
              <a:rPr b="1" dirty="0" sz="2800" lang="en-US" err="1" u="sng" smtClean="0">
                <a:solidFill>
                  <a:srgbClr val="FFFF00"/>
                </a:solidFill>
                <a:latin typeface="Aharoni" pitchFamily="2" charset="-79"/>
                <a:cs typeface="Aharoni" pitchFamily="2" charset="-79"/>
              </a:rPr>
              <a:t>eclampsia</a:t>
            </a:r>
            <a:r>
              <a:rPr b="1" dirty="0" sz="2800" lang="en-US" u="sng" smtClean="0">
                <a:solidFill>
                  <a:srgbClr val="FFFF00"/>
                </a:solidFill>
                <a:latin typeface="Aharoni" pitchFamily="2" charset="-79"/>
                <a:cs typeface="Aharoni" pitchFamily="2" charset="-79"/>
              </a:rPr>
              <a:t> are:-</a:t>
            </a:r>
          </a:p>
          <a:p>
            <a:pPr>
              <a:buFont typeface="Wingdings" pitchFamily="2" charset="2"/>
              <a:buChar char="v"/>
            </a:pPr>
            <a:r>
              <a:rPr dirty="0" sz="2800" lang="en-US" smtClean="0">
                <a:solidFill>
                  <a:schemeClr val="bg1"/>
                </a:solidFill>
              </a:rPr>
              <a:t>Pregnancy ≥ 32 wks in severe pre-</a:t>
            </a:r>
            <a:r>
              <a:rPr dirty="0" sz="2800" lang="en-US" err="1" smtClean="0">
                <a:solidFill>
                  <a:schemeClr val="bg1"/>
                </a:solidFill>
              </a:rPr>
              <a:t>eclampsia</a:t>
            </a:r>
            <a:endParaRPr dirty="0" sz="2800" lang="en-US" smtClean="0">
              <a:solidFill>
                <a:schemeClr val="bg1"/>
              </a:solidFill>
            </a:endParaRPr>
          </a:p>
          <a:p>
            <a:pPr>
              <a:buFont typeface="Wingdings" pitchFamily="2" charset="2"/>
              <a:buChar char="v"/>
            </a:pPr>
            <a:r>
              <a:rPr dirty="0" sz="2800" lang="en-US" smtClean="0">
                <a:solidFill>
                  <a:schemeClr val="bg1"/>
                </a:solidFill>
              </a:rPr>
              <a:t>Estimated fetal wt ≥1.5 kg in severe pre-</a:t>
            </a:r>
            <a:r>
              <a:rPr dirty="0" sz="2800" lang="en-US" err="1" smtClean="0">
                <a:solidFill>
                  <a:schemeClr val="bg1"/>
                </a:solidFill>
              </a:rPr>
              <a:t>eclampsia</a:t>
            </a:r>
            <a:endParaRPr dirty="0" sz="2800" lang="en-US" smtClean="0">
              <a:solidFill>
                <a:schemeClr val="bg1"/>
              </a:solidFill>
            </a:endParaRPr>
          </a:p>
          <a:p>
            <a:pPr>
              <a:buFont typeface="Wingdings" pitchFamily="2" charset="2"/>
              <a:buChar char="v"/>
            </a:pPr>
            <a:r>
              <a:rPr dirty="0" sz="2800" lang="en-US" err="1" smtClean="0">
                <a:solidFill>
                  <a:schemeClr val="bg1"/>
                </a:solidFill>
              </a:rPr>
              <a:t>Eclampsia</a:t>
            </a:r>
            <a:endParaRPr dirty="0" sz="2800" lang="en-US" smtClean="0">
              <a:solidFill>
                <a:schemeClr val="bg1"/>
              </a:solidFill>
            </a:endParaRPr>
          </a:p>
          <a:p>
            <a:pPr>
              <a:buFont typeface="Wingdings" pitchFamily="2" charset="2"/>
              <a:buChar char="v"/>
            </a:pPr>
            <a:r>
              <a:rPr dirty="0" sz="2800" lang="en-US" smtClean="0">
                <a:solidFill>
                  <a:schemeClr val="bg1"/>
                </a:solidFill>
              </a:rPr>
              <a:t>Cerebral </a:t>
            </a:r>
            <a:r>
              <a:rPr dirty="0" sz="2800" lang="en-US" err="1" smtClean="0">
                <a:solidFill>
                  <a:schemeClr val="bg1"/>
                </a:solidFill>
              </a:rPr>
              <a:t>oedema</a:t>
            </a:r>
            <a:endParaRPr dirty="0" sz="2800" lang="en-US" smtClean="0">
              <a:solidFill>
                <a:schemeClr val="bg1"/>
              </a:solidFill>
            </a:endParaRPr>
          </a:p>
          <a:p>
            <a:pPr>
              <a:buFont typeface="Wingdings" pitchFamily="2" charset="2"/>
              <a:buChar char="v"/>
            </a:pPr>
            <a:r>
              <a:rPr dirty="0" sz="2800" lang="en-US" smtClean="0">
                <a:solidFill>
                  <a:schemeClr val="bg1"/>
                </a:solidFill>
              </a:rPr>
              <a:t>H.E.L.L.P syndrome</a:t>
            </a:r>
          </a:p>
          <a:p>
            <a:pPr>
              <a:buFont typeface="Wingdings" pitchFamily="2" charset="2"/>
              <a:buChar char="v"/>
            </a:pPr>
            <a:r>
              <a:rPr dirty="0" sz="2800" lang="en-US" smtClean="0">
                <a:solidFill>
                  <a:schemeClr val="bg1"/>
                </a:solidFill>
              </a:rPr>
              <a:t>Renal dysfunction</a:t>
            </a:r>
          </a:p>
          <a:p>
            <a:pPr>
              <a:buFont typeface="Wingdings" pitchFamily="2" charset="2"/>
              <a:buChar char="v"/>
            </a:pPr>
            <a:r>
              <a:rPr dirty="0" sz="2800" lang="en-US" err="1" smtClean="0">
                <a:solidFill>
                  <a:schemeClr val="bg1"/>
                </a:solidFill>
              </a:rPr>
              <a:t>Thrombocytopaenia</a:t>
            </a:r>
            <a:endParaRPr dirty="0" sz="2800" lang="en-US" smtClean="0">
              <a:solidFill>
                <a:schemeClr val="bg1"/>
              </a:solidFill>
            </a:endParaRPr>
          </a:p>
          <a:p>
            <a:pPr>
              <a:buFont typeface="Wingdings" pitchFamily="2" charset="2"/>
              <a:buChar char="v"/>
            </a:pPr>
            <a:r>
              <a:rPr dirty="0" sz="2800" lang="en-US" smtClean="0">
                <a:solidFill>
                  <a:schemeClr val="bg1"/>
                </a:solidFill>
              </a:rPr>
              <a:t>Uncontrollable HTN</a:t>
            </a:r>
          </a:p>
          <a:p>
            <a:pPr>
              <a:buFont typeface="Wingdings" pitchFamily="2" charset="2"/>
              <a:buChar char="v"/>
            </a:pPr>
            <a:r>
              <a:rPr dirty="0" sz="2800" lang="en-US" smtClean="0">
                <a:solidFill>
                  <a:schemeClr val="bg1"/>
                </a:solidFill>
              </a:rPr>
              <a:t>Fetal compromise</a:t>
            </a:r>
          </a:p>
          <a:p>
            <a:pPr>
              <a:buFont typeface="Wingdings" pitchFamily="2" charset="2"/>
              <a:buChar char="v"/>
            </a:pPr>
            <a:r>
              <a:rPr dirty="0" sz="2800" lang="en-US" smtClean="0">
                <a:solidFill>
                  <a:schemeClr val="bg1"/>
                </a:solidFill>
              </a:rPr>
              <a:t>Dead fetus</a:t>
            </a:r>
          </a:p>
          <a:p>
            <a:endParaRPr dirty="0" sz="2800" lang="en-US">
              <a:solidFill>
                <a:schemeClr val="bg1"/>
              </a:solidFill>
            </a:endParaRPr>
          </a:p>
        </p:txBody>
      </p:sp>
      <p:sp>
        <p:nvSpPr>
          <p:cNvPr id="104898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804" name=""/>
        <p:cNvGrpSpPr/>
        <p:nvPr/>
      </p:nvGrpSpPr>
      <p:grpSpPr>
        <a:xfrm>
          <a:off x="0" y="0"/>
          <a:ext cx="0" cy="0"/>
          <a:chOff x="0" y="0"/>
          <a:chExt cx="0" cy="0"/>
        </a:xfrm>
      </p:grpSpPr>
      <p:sp>
        <p:nvSpPr>
          <p:cNvPr id="1048989" name="Content Placeholder 2"/>
          <p:cNvSpPr>
            <a:spLocks noGrp="1"/>
          </p:cNvSpPr>
          <p:nvPr>
            <p:ph idx="1"/>
          </p:nvPr>
        </p:nvSpPr>
        <p:spPr>
          <a:xfrm>
            <a:off x="285750" y="685800"/>
            <a:ext cx="10572750" cy="5638800"/>
          </a:xfrm>
        </p:spPr>
        <p:txBody>
          <a:bodyPr>
            <a:normAutofit/>
          </a:bodyPr>
          <a:p>
            <a:pPr>
              <a:buNone/>
            </a:pPr>
            <a:r>
              <a:rPr b="1" dirty="0" sz="2800" i="1" lang="en-US" smtClean="0"/>
              <a:t>First stage</a:t>
            </a:r>
            <a:r>
              <a:rPr dirty="0" sz="2800" lang="en-US" smtClean="0"/>
              <a:t>:</a:t>
            </a:r>
          </a:p>
          <a:p>
            <a:r>
              <a:rPr dirty="0" sz="2800" lang="en-US" smtClean="0"/>
              <a:t> Usual care is given and have resuscitative equipment within reach because sudden </a:t>
            </a:r>
            <a:r>
              <a:rPr dirty="0" sz="2800" lang="en-US" err="1" smtClean="0"/>
              <a:t>eclampsia</a:t>
            </a:r>
            <a:r>
              <a:rPr dirty="0" sz="2800" lang="en-US" smtClean="0"/>
              <a:t> may occur.</a:t>
            </a:r>
          </a:p>
          <a:p>
            <a:pPr>
              <a:buFont typeface="Wingdings" pitchFamily="2" charset="2"/>
              <a:buChar char="Ø"/>
            </a:pPr>
            <a:r>
              <a:rPr dirty="0" sz="2800" lang="en-US" smtClean="0"/>
              <a:t>They include: </a:t>
            </a:r>
          </a:p>
          <a:p>
            <a:pPr>
              <a:buFont typeface="Wingdings" pitchFamily="2" charset="2"/>
              <a:buChar char="ü"/>
            </a:pPr>
            <a:r>
              <a:rPr dirty="0" sz="2800" lang="en-US" smtClean="0"/>
              <a:t>Anticonvulsants, </a:t>
            </a:r>
            <a:r>
              <a:rPr dirty="0" sz="2800" lang="en-US" err="1" smtClean="0"/>
              <a:t>e.g</a:t>
            </a:r>
            <a:r>
              <a:rPr dirty="0" sz="2800" lang="en-US" smtClean="0"/>
              <a:t> </a:t>
            </a:r>
            <a:r>
              <a:rPr dirty="0" sz="2800" lang="en-US" err="1" smtClean="0"/>
              <a:t>parenteral</a:t>
            </a:r>
            <a:r>
              <a:rPr dirty="0" sz="2800" lang="en-US" smtClean="0"/>
              <a:t> magnesium </a:t>
            </a:r>
            <a:r>
              <a:rPr dirty="0" sz="2800" lang="en-US" err="1" smtClean="0"/>
              <a:t>sulphate</a:t>
            </a:r>
            <a:r>
              <a:rPr dirty="0" sz="2800" lang="en-US" smtClean="0"/>
              <a:t>.</a:t>
            </a:r>
          </a:p>
          <a:p>
            <a:pPr>
              <a:buFont typeface="Wingdings" pitchFamily="2" charset="2"/>
              <a:buChar char="ü"/>
            </a:pPr>
            <a:r>
              <a:rPr dirty="0" sz="2800" lang="en-US" err="1" smtClean="0"/>
              <a:t>Antihypertensives</a:t>
            </a:r>
            <a:r>
              <a:rPr dirty="0" sz="2800" lang="en-US" smtClean="0"/>
              <a:t> </a:t>
            </a:r>
            <a:r>
              <a:rPr dirty="0" sz="2800" lang="en-US" err="1" smtClean="0"/>
              <a:t>e.g</a:t>
            </a:r>
            <a:r>
              <a:rPr dirty="0" sz="2800" lang="en-US" smtClean="0"/>
              <a:t> </a:t>
            </a:r>
            <a:r>
              <a:rPr dirty="0" sz="2800" lang="en-US" err="1" smtClean="0"/>
              <a:t>apressoline</a:t>
            </a:r>
            <a:r>
              <a:rPr dirty="0" sz="2800" lang="en-US" smtClean="0"/>
              <a:t> (</a:t>
            </a:r>
            <a:r>
              <a:rPr dirty="0" sz="2800" lang="en-US" err="1" smtClean="0"/>
              <a:t>hydrallazine</a:t>
            </a:r>
            <a:r>
              <a:rPr dirty="0" sz="2800" lang="en-US" smtClean="0"/>
              <a:t>). </a:t>
            </a:r>
          </a:p>
          <a:p>
            <a:pPr>
              <a:buFont typeface="Wingdings" pitchFamily="2" charset="2"/>
              <a:buChar char="ü"/>
            </a:pPr>
            <a:r>
              <a:rPr dirty="0" sz="2800" lang="en-US" smtClean="0"/>
              <a:t>Sedatives </a:t>
            </a:r>
            <a:r>
              <a:rPr dirty="0" sz="2800" lang="en-US" err="1" smtClean="0"/>
              <a:t>e.g</a:t>
            </a:r>
            <a:r>
              <a:rPr dirty="0" sz="2800" lang="en-US" smtClean="0"/>
              <a:t> </a:t>
            </a:r>
            <a:r>
              <a:rPr dirty="0" sz="2800" lang="en-US" err="1" smtClean="0"/>
              <a:t>parenteral</a:t>
            </a:r>
            <a:r>
              <a:rPr dirty="0" sz="2800" lang="en-US" smtClean="0"/>
              <a:t> </a:t>
            </a:r>
            <a:r>
              <a:rPr dirty="0" sz="2800" lang="en-US" err="1" smtClean="0"/>
              <a:t>phenobarbitone</a:t>
            </a:r>
            <a:r>
              <a:rPr dirty="0" sz="2800" lang="en-US" smtClean="0"/>
              <a:t>.</a:t>
            </a:r>
          </a:p>
          <a:p>
            <a:pPr>
              <a:buFont typeface="Wingdings" pitchFamily="2" charset="2"/>
              <a:buChar char="v"/>
            </a:pPr>
            <a:r>
              <a:rPr dirty="0" sz="2800" lang="en-US" smtClean="0"/>
              <a:t>To handle the emergency to the best:-</a:t>
            </a:r>
          </a:p>
          <a:p>
            <a:endParaRPr dirty="0" sz="2800" lang="en-US"/>
          </a:p>
        </p:txBody>
      </p:sp>
      <p:sp>
        <p:nvSpPr>
          <p:cNvPr id="104899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805" name=""/>
        <p:cNvGrpSpPr/>
        <p:nvPr/>
      </p:nvGrpSpPr>
      <p:grpSpPr>
        <a:xfrm>
          <a:off x="0" y="0"/>
          <a:ext cx="0" cy="0"/>
          <a:chOff x="0" y="0"/>
          <a:chExt cx="0" cy="0"/>
        </a:xfrm>
      </p:grpSpPr>
      <p:sp>
        <p:nvSpPr>
          <p:cNvPr id="1048991" name="Content Placeholder 2"/>
          <p:cNvSpPr>
            <a:spLocks noGrp="1"/>
          </p:cNvSpPr>
          <p:nvPr>
            <p:ph idx="1"/>
          </p:nvPr>
        </p:nvSpPr>
        <p:spPr>
          <a:xfrm>
            <a:off x="190500" y="609600"/>
            <a:ext cx="10953750" cy="5943600"/>
          </a:xfrm>
        </p:spPr>
        <p:txBody>
          <a:bodyPr>
            <a:noAutofit/>
          </a:bodyPr>
          <a:p>
            <a:pPr>
              <a:buFont typeface="Wingdings" pitchFamily="2" charset="2"/>
              <a:buChar char="ü"/>
            </a:pPr>
            <a:r>
              <a:rPr dirty="0" sz="2800" lang="en-US" smtClean="0"/>
              <a:t>various instruments should be available:-artificial airway, mouth gag padded </a:t>
            </a:r>
            <a:r>
              <a:rPr dirty="0" sz="2800" lang="en-US" err="1" smtClean="0"/>
              <a:t>spatulla</a:t>
            </a:r>
            <a:r>
              <a:rPr dirty="0" sz="2800" lang="en-US" smtClean="0"/>
              <a:t>. </a:t>
            </a:r>
          </a:p>
          <a:p>
            <a:pPr>
              <a:buFont typeface="Wingdings" pitchFamily="2" charset="2"/>
              <a:buChar char="ü"/>
            </a:pPr>
            <a:r>
              <a:rPr dirty="0" sz="2800" lang="en-US" smtClean="0"/>
              <a:t>Other resources are </a:t>
            </a:r>
            <a:r>
              <a:rPr dirty="0" sz="2800" lang="en-US" err="1" smtClean="0"/>
              <a:t>gauze,cotton</a:t>
            </a:r>
            <a:r>
              <a:rPr dirty="0" sz="2800" lang="en-US" smtClean="0"/>
              <a:t> wool, gloves,branula,syringe &amp; needles,strapping and intravenous infusion  of normal saline 1/2litre or </a:t>
            </a:r>
            <a:r>
              <a:rPr dirty="0" sz="2800" lang="en-US" err="1" smtClean="0"/>
              <a:t>hartman’s</a:t>
            </a:r>
            <a:r>
              <a:rPr dirty="0" sz="2800" lang="en-US" smtClean="0"/>
              <a:t> solution.</a:t>
            </a:r>
          </a:p>
          <a:p>
            <a:r>
              <a:rPr dirty="0" sz="2800" lang="en-US" err="1" smtClean="0"/>
              <a:t>Oxygen+apparatus</a:t>
            </a:r>
            <a:r>
              <a:rPr dirty="0" sz="2800" lang="en-US" smtClean="0"/>
              <a:t>, suction machine + correct  </a:t>
            </a:r>
            <a:r>
              <a:rPr dirty="0" sz="2800" lang="en-US" err="1" smtClean="0"/>
              <a:t>tubings</a:t>
            </a:r>
            <a:r>
              <a:rPr dirty="0" sz="2800" lang="en-US" smtClean="0"/>
              <a:t>.</a:t>
            </a:r>
          </a:p>
          <a:p>
            <a:r>
              <a:rPr dirty="0" sz="2800" lang="en-US" smtClean="0"/>
              <a:t>Closely monitor BP every 2 hours, fetal heart sound 1/4hrly and general progress of labour, maintain records &amp; consult.</a:t>
            </a:r>
          </a:p>
          <a:p>
            <a:r>
              <a:rPr dirty="0" sz="2800" lang="en-US" smtClean="0"/>
              <a:t>Withhold oral feeds , instead commence intravenous infusion of 10% dextrose to provide energy.</a:t>
            </a:r>
          </a:p>
          <a:p>
            <a:endParaRPr dirty="0" sz="2800" lang="en-US"/>
          </a:p>
        </p:txBody>
      </p:sp>
      <p:sp>
        <p:nvSpPr>
          <p:cNvPr id="104899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806" name=""/>
        <p:cNvGrpSpPr/>
        <p:nvPr/>
      </p:nvGrpSpPr>
      <p:grpSpPr>
        <a:xfrm>
          <a:off x="0" y="0"/>
          <a:ext cx="0" cy="0"/>
          <a:chOff x="0" y="0"/>
          <a:chExt cx="0" cy="0"/>
        </a:xfrm>
      </p:grpSpPr>
      <p:sp>
        <p:nvSpPr>
          <p:cNvPr id="1048993" name="Content Placeholder 2"/>
          <p:cNvSpPr>
            <a:spLocks noGrp="1"/>
          </p:cNvSpPr>
          <p:nvPr>
            <p:ph idx="1"/>
          </p:nvPr>
        </p:nvSpPr>
        <p:spPr>
          <a:xfrm>
            <a:off x="285750" y="1447800"/>
            <a:ext cx="10572750" cy="5105400"/>
          </a:xfrm>
        </p:spPr>
        <p:txBody>
          <a:bodyPr>
            <a:normAutofit/>
          </a:bodyPr>
          <a:p>
            <a:r>
              <a:rPr dirty="0" sz="3200" lang="en-US" smtClean="0"/>
              <a:t>Keep doctor informed of the progress and report promptly:-</a:t>
            </a:r>
          </a:p>
          <a:p>
            <a:pPr>
              <a:buFont typeface="Wingdings" pitchFamily="2" charset="2"/>
              <a:buChar char="Ø"/>
            </a:pPr>
            <a:r>
              <a:rPr dirty="0" sz="3200" lang="en-US" smtClean="0"/>
              <a:t>Sudden sharp rise of BP.</a:t>
            </a:r>
          </a:p>
          <a:p>
            <a:pPr>
              <a:buFont typeface="Wingdings" pitchFamily="2" charset="2"/>
              <a:buChar char="Ø"/>
            </a:pPr>
            <a:r>
              <a:rPr dirty="0" sz="3200" lang="en-US" smtClean="0"/>
              <a:t>Restless/abnormal eyes movements.</a:t>
            </a:r>
          </a:p>
          <a:p>
            <a:pPr>
              <a:buFont typeface="Wingdings" pitchFamily="2" charset="2"/>
              <a:buChar char="Ø"/>
            </a:pPr>
            <a:r>
              <a:rPr dirty="0" sz="3200" lang="en-US" smtClean="0"/>
              <a:t>Fetal hypoxia signs.</a:t>
            </a:r>
          </a:p>
          <a:p>
            <a:pPr>
              <a:buFont typeface="Wingdings" pitchFamily="2" charset="2"/>
              <a:buChar char="Ø"/>
            </a:pPr>
            <a:r>
              <a:rPr dirty="0" sz="3200" lang="en-US" err="1" smtClean="0"/>
              <a:t>Intrapartum</a:t>
            </a:r>
            <a:r>
              <a:rPr dirty="0" sz="3200" lang="en-US" smtClean="0"/>
              <a:t> </a:t>
            </a:r>
            <a:r>
              <a:rPr dirty="0" sz="3200" lang="en-US" err="1" smtClean="0"/>
              <a:t>haemorrhage</a:t>
            </a:r>
            <a:r>
              <a:rPr dirty="0" sz="3200" lang="en-US" smtClean="0"/>
              <a:t>=placental separation.</a:t>
            </a:r>
          </a:p>
          <a:p>
            <a:r>
              <a:rPr dirty="0" sz="3200" lang="en-US" smtClean="0"/>
              <a:t>If fetal hypoxia occurs at the end of 1</a:t>
            </a:r>
            <a:r>
              <a:rPr baseline="30000" dirty="0" sz="3200" lang="en-US" smtClean="0"/>
              <a:t>st</a:t>
            </a:r>
            <a:r>
              <a:rPr dirty="0" sz="3200" lang="en-US" smtClean="0"/>
              <a:t> </a:t>
            </a:r>
            <a:r>
              <a:rPr dirty="0" sz="3200" lang="en-US" err="1" smtClean="0"/>
              <a:t>stage,increase</a:t>
            </a:r>
            <a:r>
              <a:rPr dirty="0" sz="3200" lang="en-US" smtClean="0"/>
              <a:t> the rate of the </a:t>
            </a:r>
            <a:r>
              <a:rPr dirty="0" sz="3200" lang="en-US" err="1" smtClean="0"/>
              <a:t>drip,administer</a:t>
            </a:r>
            <a:r>
              <a:rPr dirty="0" sz="3200" lang="en-US" smtClean="0"/>
              <a:t> </a:t>
            </a:r>
            <a:r>
              <a:rPr dirty="0" sz="3200" lang="en-US" err="1" smtClean="0"/>
              <a:t>oxygen,prepare</a:t>
            </a:r>
            <a:r>
              <a:rPr dirty="0" sz="3200" lang="en-US" smtClean="0"/>
              <a:t> for neonatal resuscitation.</a:t>
            </a:r>
          </a:p>
          <a:p>
            <a:endParaRPr dirty="0" sz="3200" lang="en-US"/>
          </a:p>
        </p:txBody>
      </p:sp>
      <p:sp>
        <p:nvSpPr>
          <p:cNvPr id="104899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807" name=""/>
        <p:cNvGrpSpPr/>
        <p:nvPr/>
      </p:nvGrpSpPr>
      <p:grpSpPr>
        <a:xfrm>
          <a:off x="0" y="0"/>
          <a:ext cx="0" cy="0"/>
          <a:chOff x="0" y="0"/>
          <a:chExt cx="0" cy="0"/>
        </a:xfrm>
      </p:grpSpPr>
      <p:sp>
        <p:nvSpPr>
          <p:cNvPr id="1048995" name="Content Placeholder 2"/>
          <p:cNvSpPr>
            <a:spLocks noGrp="1"/>
          </p:cNvSpPr>
          <p:nvPr>
            <p:ph idx="1"/>
          </p:nvPr>
        </p:nvSpPr>
        <p:spPr>
          <a:xfrm>
            <a:off x="285750" y="609600"/>
            <a:ext cx="10858500" cy="6019800"/>
          </a:xfrm>
        </p:spPr>
        <p:txBody>
          <a:bodyPr/>
          <a:p>
            <a:pPr>
              <a:buNone/>
            </a:pPr>
            <a:r>
              <a:rPr b="1" dirty="0" i="1" lang="en-US" smtClean="0"/>
              <a:t>	</a:t>
            </a:r>
            <a:r>
              <a:rPr b="1" dirty="0" sz="3200" i="1" lang="en-US" smtClean="0"/>
              <a:t>2</a:t>
            </a:r>
            <a:r>
              <a:rPr baseline="30000" b="1" dirty="0" sz="3200" i="1" lang="en-US" smtClean="0"/>
              <a:t>ND</a:t>
            </a:r>
            <a:r>
              <a:rPr b="1" dirty="0" sz="3200" i="1" lang="en-US" smtClean="0"/>
              <a:t> STAGE</a:t>
            </a:r>
          </a:p>
          <a:p>
            <a:r>
              <a:rPr dirty="0" sz="3200" lang="en-US" smtClean="0"/>
              <a:t>Preparation as usual but be ready to resuscitate also the mother.</a:t>
            </a:r>
          </a:p>
          <a:p>
            <a:r>
              <a:rPr dirty="0" sz="3200" lang="en-US" smtClean="0"/>
              <a:t>Closely monitor maternal &amp; fetal conditions to early diagnose signs of impending eclampsia &amp; fetal hypoxia respectively.</a:t>
            </a:r>
          </a:p>
          <a:p>
            <a:r>
              <a:rPr dirty="0" sz="3200" lang="en-US" smtClean="0"/>
              <a:t>Hasten delivery through elective </a:t>
            </a:r>
            <a:r>
              <a:rPr dirty="0" sz="3200" lang="en-US" err="1" smtClean="0"/>
              <a:t>episiostomy</a:t>
            </a:r>
            <a:r>
              <a:rPr dirty="0" sz="3200" lang="en-US" smtClean="0"/>
              <a:t> and vacuum extraction.</a:t>
            </a:r>
          </a:p>
          <a:p>
            <a:endParaRPr dirty="0" lang="en-US"/>
          </a:p>
        </p:txBody>
      </p:sp>
      <p:sp>
        <p:nvSpPr>
          <p:cNvPr id="104899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808" name=""/>
        <p:cNvGrpSpPr/>
        <p:nvPr/>
      </p:nvGrpSpPr>
      <p:grpSpPr>
        <a:xfrm>
          <a:off x="0" y="0"/>
          <a:ext cx="0" cy="0"/>
          <a:chOff x="0" y="0"/>
          <a:chExt cx="0" cy="0"/>
        </a:xfrm>
      </p:grpSpPr>
      <p:sp>
        <p:nvSpPr>
          <p:cNvPr id="1048997" name="Content Placeholder 2"/>
          <p:cNvSpPr>
            <a:spLocks noGrp="1"/>
          </p:cNvSpPr>
          <p:nvPr>
            <p:ph idx="1"/>
          </p:nvPr>
        </p:nvSpPr>
        <p:spPr>
          <a:xfrm>
            <a:off x="190500" y="1447800"/>
            <a:ext cx="10953750" cy="5181600"/>
          </a:xfrm>
        </p:spPr>
        <p:txBody>
          <a:bodyPr>
            <a:normAutofit/>
          </a:bodyPr>
          <a:p>
            <a:pPr>
              <a:buNone/>
            </a:pPr>
            <a:r>
              <a:rPr dirty="0" sz="2900" i="1" lang="en-US" smtClean="0"/>
              <a:t>	</a:t>
            </a:r>
            <a:r>
              <a:rPr b="1" dirty="0" sz="2900" i="1" lang="en-US" smtClean="0"/>
              <a:t>3</a:t>
            </a:r>
            <a:r>
              <a:rPr baseline="30000" b="1" dirty="0" sz="2900" i="1" lang="en-US" smtClean="0"/>
              <a:t>RD</a:t>
            </a:r>
            <a:r>
              <a:rPr b="1" dirty="0" sz="2900" i="1" lang="en-US" smtClean="0"/>
              <a:t> STAGE</a:t>
            </a:r>
          </a:p>
          <a:p>
            <a:r>
              <a:rPr dirty="0" sz="2900" lang="en-US" smtClean="0"/>
              <a:t>Use natural methods of controlling bleeding.</a:t>
            </a:r>
          </a:p>
          <a:p>
            <a:r>
              <a:rPr dirty="0" sz="2900" lang="en-US" smtClean="0"/>
              <a:t>If severe bleeding occurs administer synitocinon 5-10i.u, </a:t>
            </a:r>
            <a:r>
              <a:rPr dirty="0" sz="2900" lang="en-US" err="1" smtClean="0"/>
              <a:t>i.v</a:t>
            </a:r>
            <a:r>
              <a:rPr dirty="0" sz="2900" lang="en-US" smtClean="0"/>
              <a:t> &amp; commence a drip of same 20.IU at 30dpm.</a:t>
            </a:r>
          </a:p>
          <a:p>
            <a:pPr>
              <a:buNone/>
            </a:pPr>
            <a:r>
              <a:rPr b="1" dirty="0" sz="2900" i="1" lang="en-US" smtClean="0"/>
              <a:t>	POSTNATALLY</a:t>
            </a:r>
          </a:p>
          <a:p>
            <a:r>
              <a:rPr dirty="0" sz="2900" lang="en-US" smtClean="0"/>
              <a:t>Closely monitor vital signs i.e. 1/4hrly in 4</a:t>
            </a:r>
            <a:r>
              <a:rPr baseline="30000" dirty="0" sz="2900" lang="en-US" smtClean="0"/>
              <a:t>th</a:t>
            </a:r>
            <a:r>
              <a:rPr dirty="0" sz="2900" lang="en-US" smtClean="0"/>
              <a:t> stage and every 2 hrly for at least 24hrs, specifically  BP &amp; respiratory efforts respectively.</a:t>
            </a:r>
          </a:p>
          <a:p>
            <a:pPr>
              <a:buFont typeface="Wingdings" pitchFamily="2" charset="2"/>
              <a:buChar char="ü"/>
            </a:pPr>
            <a:r>
              <a:rPr dirty="0" sz="2900" lang="en-US" smtClean="0"/>
              <a:t>Aim of respiratory effort monitoring, is to early diagnose pulmonary </a:t>
            </a:r>
            <a:r>
              <a:rPr dirty="0" sz="2900" lang="en-US" err="1" smtClean="0"/>
              <a:t>oedema</a:t>
            </a:r>
            <a:r>
              <a:rPr dirty="0" sz="2900" lang="en-US" smtClean="0"/>
              <a:t>.</a:t>
            </a:r>
          </a:p>
          <a:p>
            <a:endParaRPr dirty="0" sz="2900" lang="en-US"/>
          </a:p>
        </p:txBody>
      </p:sp>
      <p:sp>
        <p:nvSpPr>
          <p:cNvPr id="104899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809" name=""/>
        <p:cNvGrpSpPr/>
        <p:nvPr/>
      </p:nvGrpSpPr>
      <p:grpSpPr>
        <a:xfrm>
          <a:off x="0" y="0"/>
          <a:ext cx="0" cy="0"/>
          <a:chOff x="0" y="0"/>
          <a:chExt cx="0" cy="0"/>
        </a:xfrm>
      </p:grpSpPr>
      <p:sp>
        <p:nvSpPr>
          <p:cNvPr id="1048999" name="Content Placeholder 2"/>
          <p:cNvSpPr>
            <a:spLocks noGrp="1"/>
          </p:cNvSpPr>
          <p:nvPr>
            <p:ph idx="1"/>
          </p:nvPr>
        </p:nvSpPr>
        <p:spPr/>
        <p:txBody>
          <a:bodyPr>
            <a:normAutofit/>
          </a:bodyPr>
          <a:p>
            <a:pPr>
              <a:buFont typeface="Wingdings" pitchFamily="2" charset="2"/>
              <a:buChar char="Ø"/>
            </a:pPr>
            <a:r>
              <a:rPr dirty="0" sz="2900" lang="en-US" smtClean="0"/>
              <a:t>Thereafter every 4 hourly.</a:t>
            </a:r>
          </a:p>
          <a:p>
            <a:pPr>
              <a:buFont typeface="Wingdings" pitchFamily="2" charset="2"/>
              <a:buChar char="Ø"/>
            </a:pPr>
            <a:r>
              <a:rPr dirty="0" sz="2900" lang="en-US" smtClean="0"/>
              <a:t>Urinary output, urinalysis BD, state of </a:t>
            </a:r>
            <a:r>
              <a:rPr dirty="0" sz="2900" lang="en-US" err="1" smtClean="0"/>
              <a:t>oedema</a:t>
            </a:r>
            <a:r>
              <a:rPr dirty="0" sz="2900" lang="en-US" smtClean="0"/>
              <a:t>, &amp; lactation.</a:t>
            </a:r>
          </a:p>
          <a:p>
            <a:pPr>
              <a:buFont typeface="Wingdings" pitchFamily="2" charset="2"/>
              <a:buChar char="Ø"/>
            </a:pPr>
            <a:r>
              <a:rPr dirty="0" sz="2900" lang="en-US" smtClean="0"/>
              <a:t>Signs of postpartum haemorrhage.</a:t>
            </a:r>
          </a:p>
          <a:p>
            <a:r>
              <a:rPr dirty="0" sz="2900" lang="en-US" smtClean="0"/>
              <a:t>Facilitate complete bed rest for at least 2 hours.</a:t>
            </a:r>
          </a:p>
          <a:p>
            <a:r>
              <a:rPr dirty="0" sz="2900" lang="en-US" smtClean="0"/>
              <a:t>CT with </a:t>
            </a:r>
            <a:r>
              <a:rPr dirty="0" sz="2900" lang="en-US" err="1" smtClean="0"/>
              <a:t>antihypertensives</a:t>
            </a:r>
            <a:r>
              <a:rPr dirty="0" sz="2900" lang="en-US" smtClean="0"/>
              <a:t> and haematinics.</a:t>
            </a:r>
          </a:p>
          <a:p>
            <a:r>
              <a:rPr dirty="0" sz="2900" lang="en-US" smtClean="0"/>
              <a:t>Plan for discharge when stable through sharing on:</a:t>
            </a:r>
          </a:p>
          <a:p>
            <a:pPr lvl="0">
              <a:buFont typeface="Wingdings" pitchFamily="2" charset="2"/>
              <a:buChar char="ü"/>
            </a:pPr>
            <a:r>
              <a:rPr dirty="0" sz="2900" lang="en-US" smtClean="0"/>
              <a:t>Follow up BP monitoring and maintain records.</a:t>
            </a:r>
          </a:p>
          <a:p>
            <a:pPr>
              <a:buNone/>
            </a:pPr>
            <a:endParaRPr dirty="0" lang="en-US"/>
          </a:p>
        </p:txBody>
      </p:sp>
      <p:sp>
        <p:nvSpPr>
          <p:cNvPr id="104900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810" name=""/>
        <p:cNvGrpSpPr/>
        <p:nvPr/>
      </p:nvGrpSpPr>
      <p:grpSpPr>
        <a:xfrm>
          <a:off x="0" y="0"/>
          <a:ext cx="0" cy="0"/>
          <a:chOff x="0" y="0"/>
          <a:chExt cx="0" cy="0"/>
        </a:xfrm>
      </p:grpSpPr>
      <p:sp>
        <p:nvSpPr>
          <p:cNvPr id="1049001" name="Content Placeholder 2"/>
          <p:cNvSpPr>
            <a:spLocks noGrp="1"/>
          </p:cNvSpPr>
          <p:nvPr>
            <p:ph idx="1"/>
          </p:nvPr>
        </p:nvSpPr>
        <p:spPr>
          <a:xfrm>
            <a:off x="190500" y="762000"/>
            <a:ext cx="11049000" cy="5867400"/>
          </a:xfrm>
        </p:spPr>
        <p:txBody>
          <a:bodyPr>
            <a:normAutofit/>
          </a:bodyPr>
          <a:p>
            <a:pPr lvl="0"/>
            <a:r>
              <a:rPr dirty="0" sz="3200" lang="en-US" smtClean="0"/>
              <a:t>Compliance, with medication instruction on discharge, review visit schedule,ie medical clinic &amp; MCH/FP clinic.</a:t>
            </a:r>
          </a:p>
          <a:p>
            <a:pPr lvl="0"/>
            <a:r>
              <a:rPr dirty="0" sz="3200" lang="en-US" smtClean="0"/>
              <a:t>Rest and to avoid strenuous duties to facilitate BP control.</a:t>
            </a:r>
          </a:p>
          <a:p>
            <a:pPr lvl="0"/>
            <a:r>
              <a:rPr dirty="0" sz="3200" lang="en-US" smtClean="0"/>
              <a:t>Diet, to restrict on salt.</a:t>
            </a:r>
          </a:p>
          <a:p>
            <a:pPr lvl="0"/>
            <a:r>
              <a:rPr dirty="0" sz="3200" lang="en-US" smtClean="0"/>
              <a:t>Early booking of future ANC &amp; hospital delivery. </a:t>
            </a:r>
          </a:p>
          <a:p>
            <a:pPr lvl="0"/>
            <a:r>
              <a:rPr dirty="0" sz="3200" lang="en-US" smtClean="0"/>
              <a:t>The doctor discharges the patient to continue with review as per schedule.</a:t>
            </a:r>
          </a:p>
          <a:p>
            <a:endParaRPr dirty="0" sz="3200" lang="en-US"/>
          </a:p>
        </p:txBody>
      </p:sp>
      <p:sp>
        <p:nvSpPr>
          <p:cNvPr id="104900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811" name=""/>
        <p:cNvGrpSpPr/>
        <p:nvPr/>
      </p:nvGrpSpPr>
      <p:grpSpPr>
        <a:xfrm>
          <a:off x="0" y="0"/>
          <a:ext cx="0" cy="0"/>
          <a:chOff x="0" y="0"/>
          <a:chExt cx="0" cy="0"/>
        </a:xfrm>
      </p:grpSpPr>
      <p:sp>
        <p:nvSpPr>
          <p:cNvPr id="1049003" name="Title 1"/>
          <p:cNvSpPr>
            <a:spLocks noGrp="1"/>
          </p:cNvSpPr>
          <p:nvPr>
            <p:ph type="title"/>
          </p:nvPr>
        </p:nvSpPr>
        <p:spPr>
          <a:xfrm>
            <a:off x="381000" y="228600"/>
            <a:ext cx="10477500" cy="1618488"/>
          </a:xfrm>
        </p:spPr>
        <p:txBody>
          <a:bodyPr>
            <a:noAutofit/>
          </a:bodyPr>
          <a:p>
            <a:r>
              <a:rPr dirty="0" sz="2800" lang="en-US" smtClean="0">
                <a:latin typeface="+mn-lt"/>
              </a:rPr>
              <a:t>		</a:t>
            </a:r>
            <a:r>
              <a:rPr b="1" dirty="0" sz="2800" lang="en-US" smtClean="0">
                <a:solidFill>
                  <a:srgbClr val="C00000"/>
                </a:solidFill>
                <a:latin typeface="+mn-lt"/>
              </a:rPr>
              <a:t/>
            </a:r>
            <a:br>
              <a:rPr b="1" dirty="0" sz="2800" lang="en-US" smtClean="0">
                <a:solidFill>
                  <a:srgbClr val="C00000"/>
                </a:solidFill>
                <a:latin typeface="+mn-lt"/>
              </a:rPr>
            </a:br>
            <a:r>
              <a:rPr b="1" dirty="0" sz="2800" lang="en-US" smtClean="0">
                <a:solidFill>
                  <a:srgbClr val="C00000"/>
                </a:solidFill>
                <a:latin typeface="+mn-lt"/>
              </a:rPr>
              <a:t/>
            </a:r>
            <a:br>
              <a:rPr b="1" dirty="0" sz="2800" lang="en-US" smtClean="0">
                <a:solidFill>
                  <a:srgbClr val="C00000"/>
                </a:solidFill>
                <a:latin typeface="+mn-lt"/>
              </a:rPr>
            </a:br>
            <a:r>
              <a:rPr b="1" dirty="0" sz="2800" lang="en-US" smtClean="0">
                <a:solidFill>
                  <a:srgbClr val="C00000"/>
                </a:solidFill>
                <a:latin typeface="+mn-lt"/>
              </a:rPr>
              <a:t/>
            </a:r>
            <a:br>
              <a:rPr b="1" dirty="0" sz="2800" lang="en-US" smtClean="0">
                <a:solidFill>
                  <a:srgbClr val="C00000"/>
                </a:solidFill>
                <a:latin typeface="+mn-lt"/>
              </a:rPr>
            </a:br>
            <a:r>
              <a:rPr b="1" dirty="0" sz="2800" lang="en-US" smtClean="0">
                <a:solidFill>
                  <a:srgbClr val="C00000"/>
                </a:solidFill>
                <a:latin typeface="+mn-lt"/>
              </a:rPr>
              <a:t>  	</a:t>
            </a:r>
            <a:br>
              <a:rPr b="1" dirty="0" sz="2800" lang="en-US" smtClean="0">
                <a:solidFill>
                  <a:srgbClr val="C00000"/>
                </a:solidFill>
                <a:latin typeface="+mn-lt"/>
              </a:rPr>
            </a:br>
            <a:r>
              <a:rPr b="1" dirty="0" sz="2800" lang="en-US" smtClean="0">
                <a:solidFill>
                  <a:srgbClr val="C00000"/>
                </a:solidFill>
                <a:latin typeface="+mn-lt"/>
              </a:rPr>
              <a:t>	 EFFECTS ON THE MOTHER .      	[COMPLICATION-MOTHER]</a:t>
            </a:r>
            <a:br>
              <a:rPr b="1" dirty="0" sz="2800" lang="en-US" smtClean="0">
                <a:solidFill>
                  <a:srgbClr val="C00000"/>
                </a:solidFill>
                <a:latin typeface="+mn-lt"/>
              </a:rPr>
            </a:br>
            <a:endParaRPr dirty="0" sz="2800" lang="en-US">
              <a:latin typeface="+mn-lt"/>
            </a:endParaRPr>
          </a:p>
        </p:txBody>
      </p:sp>
      <p:sp>
        <p:nvSpPr>
          <p:cNvPr id="1049004" name="Content Placeholder 2"/>
          <p:cNvSpPr>
            <a:spLocks noGrp="1"/>
          </p:cNvSpPr>
          <p:nvPr>
            <p:ph idx="1"/>
          </p:nvPr>
        </p:nvSpPr>
        <p:spPr>
          <a:xfrm>
            <a:off x="571501" y="1600200"/>
            <a:ext cx="10572750" cy="4953000"/>
          </a:xfrm>
        </p:spPr>
        <p:txBody>
          <a:bodyPr>
            <a:noAutofit/>
          </a:bodyPr>
          <a:p>
            <a:r>
              <a:rPr dirty="0" sz="3200" lang="en-US" smtClean="0"/>
              <a:t>Development of eclampsia if condition not controlled.</a:t>
            </a:r>
          </a:p>
          <a:p>
            <a:r>
              <a:rPr dirty="0" sz="3200" lang="en-US" smtClean="0"/>
              <a:t> </a:t>
            </a:r>
            <a:r>
              <a:rPr dirty="0" sz="3200" lang="en-US" err="1" smtClean="0"/>
              <a:t>Antepartum</a:t>
            </a:r>
            <a:r>
              <a:rPr dirty="0" sz="3200" lang="en-US" smtClean="0"/>
              <a:t> haemorrhage and </a:t>
            </a:r>
            <a:r>
              <a:rPr dirty="0" sz="3200" lang="en-US" err="1" smtClean="0"/>
              <a:t>intrapartum</a:t>
            </a:r>
            <a:r>
              <a:rPr dirty="0" sz="3200" lang="en-US" smtClean="0"/>
              <a:t> haemorrhage due to reduction of the placental site before labour &amp; in labour respectively= placental abruption.</a:t>
            </a:r>
          </a:p>
          <a:p>
            <a:r>
              <a:rPr dirty="0" sz="3200" lang="en-US" smtClean="0"/>
              <a:t> Postpartum haemorrhage, because of the coagulation defect brought about by the placental abruption leading to damage of uterus muscle.</a:t>
            </a:r>
          </a:p>
          <a:p>
            <a:endParaRPr dirty="0" sz="3200" lang="en-US"/>
          </a:p>
        </p:txBody>
      </p:sp>
      <p:sp>
        <p:nvSpPr>
          <p:cNvPr id="104900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812" name=""/>
        <p:cNvGrpSpPr/>
        <p:nvPr/>
      </p:nvGrpSpPr>
      <p:grpSpPr>
        <a:xfrm>
          <a:off x="0" y="0"/>
          <a:ext cx="0" cy="0"/>
          <a:chOff x="0" y="0"/>
          <a:chExt cx="0" cy="0"/>
        </a:xfrm>
      </p:grpSpPr>
      <p:sp>
        <p:nvSpPr>
          <p:cNvPr id="1049006" name="Content Placeholder 2"/>
          <p:cNvSpPr>
            <a:spLocks noGrp="1"/>
          </p:cNvSpPr>
          <p:nvPr>
            <p:ph idx="1"/>
          </p:nvPr>
        </p:nvSpPr>
        <p:spPr>
          <a:xfrm>
            <a:off x="571500" y="914400"/>
            <a:ext cx="10287000" cy="5410200"/>
          </a:xfrm>
        </p:spPr>
        <p:txBody>
          <a:bodyPr>
            <a:normAutofit/>
          </a:bodyPr>
          <a:p>
            <a:r>
              <a:rPr dirty="0" lang="en-US" smtClean="0"/>
              <a:t> </a:t>
            </a:r>
            <a:r>
              <a:rPr dirty="0" sz="3200" lang="en-US" smtClean="0"/>
              <a:t>Development of disseminated intravascular coagulation due to increased consumption of platelets leading to   thrombocytopenia .</a:t>
            </a:r>
          </a:p>
          <a:p>
            <a:r>
              <a:rPr dirty="0" sz="3200" lang="en-US" smtClean="0"/>
              <a:t> Failure of any of the vital organs resulting from poor blood flow for a long period due to vasospasms and deposits of platelets &amp; fibrin.</a:t>
            </a:r>
          </a:p>
          <a:p>
            <a:r>
              <a:rPr dirty="0" sz="3200" lang="en-US" smtClean="0"/>
              <a:t> Temporary blindness, severe damage of capillaries within the eyes fundus.</a:t>
            </a:r>
          </a:p>
          <a:p>
            <a:endParaRPr dirty="0" lang="en-US"/>
          </a:p>
        </p:txBody>
      </p:sp>
      <p:sp>
        <p:nvSpPr>
          <p:cNvPr id="104900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813" name=""/>
        <p:cNvGrpSpPr/>
        <p:nvPr/>
      </p:nvGrpSpPr>
      <p:grpSpPr>
        <a:xfrm>
          <a:off x="0" y="0"/>
          <a:ext cx="0" cy="0"/>
          <a:chOff x="0" y="0"/>
          <a:chExt cx="0" cy="0"/>
        </a:xfrm>
      </p:grpSpPr>
      <p:sp>
        <p:nvSpPr>
          <p:cNvPr id="1049008" name="Title 1"/>
          <p:cNvSpPr>
            <a:spLocks noGrp="1"/>
          </p:cNvSpPr>
          <p:nvPr>
            <p:ph type="title"/>
          </p:nvPr>
        </p:nvSpPr>
        <p:spPr/>
        <p:txBody>
          <a:bodyPr>
            <a:normAutofit/>
          </a:bodyPr>
          <a:p>
            <a:r>
              <a:rPr dirty="0" lang="en-US" smtClean="0"/>
              <a:t>	</a:t>
            </a:r>
            <a:r>
              <a:rPr b="1" dirty="0" sz="5400" lang="en-US" smtClean="0">
                <a:solidFill>
                  <a:srgbClr val="C00000"/>
                </a:solidFill>
              </a:rPr>
              <a:t> </a:t>
            </a:r>
            <a:r>
              <a:rPr b="1" dirty="0" sz="4400" lang="en-US" smtClean="0">
                <a:solidFill>
                  <a:srgbClr val="C00000"/>
                </a:solidFill>
                <a:latin typeface="+mn-lt"/>
              </a:rPr>
              <a:t>EFFECT-FETUS/NEONATE</a:t>
            </a:r>
            <a:endParaRPr dirty="0" sz="4400" lang="en-US">
              <a:latin typeface="+mn-lt"/>
            </a:endParaRPr>
          </a:p>
        </p:txBody>
      </p:sp>
      <p:sp>
        <p:nvSpPr>
          <p:cNvPr id="1049009" name="Content Placeholder 2"/>
          <p:cNvSpPr>
            <a:spLocks noGrp="1"/>
          </p:cNvSpPr>
          <p:nvPr>
            <p:ph idx="1"/>
          </p:nvPr>
        </p:nvSpPr>
        <p:spPr/>
        <p:txBody>
          <a:bodyPr>
            <a:normAutofit/>
          </a:bodyPr>
          <a:p>
            <a:pPr lvl="0"/>
            <a:r>
              <a:rPr dirty="0" sz="3200" lang="en-US" smtClean="0"/>
              <a:t>Fetal hypoxia which leads to fetal distress due poor placental functions.</a:t>
            </a:r>
          </a:p>
          <a:p>
            <a:pPr lvl="0"/>
            <a:r>
              <a:rPr dirty="0" sz="3200" lang="en-US" smtClean="0"/>
              <a:t>Intra-uterine fetal death or still birth  because of severe placental dysfunction.</a:t>
            </a:r>
          </a:p>
          <a:p>
            <a:pPr lvl="0"/>
            <a:r>
              <a:rPr dirty="0" sz="3200" lang="en-US" smtClean="0"/>
              <a:t>Preterm birth (early delivery) due to either severe pre-eclampsia, eclampsia or </a:t>
            </a:r>
            <a:r>
              <a:rPr dirty="0" sz="3200" lang="en-US" err="1" smtClean="0"/>
              <a:t>antepartum</a:t>
            </a:r>
            <a:r>
              <a:rPr dirty="0" sz="3200" lang="en-US" smtClean="0"/>
              <a:t> haemorrhage.</a:t>
            </a:r>
          </a:p>
          <a:p>
            <a:pPr lvl="0"/>
            <a:r>
              <a:rPr dirty="0" sz="3200" lang="en-US" smtClean="0"/>
              <a:t>Low birth weight baby-I.U.G.R or early birth.</a:t>
            </a:r>
          </a:p>
          <a:p>
            <a:endParaRPr dirty="0" lang="en-US"/>
          </a:p>
        </p:txBody>
      </p:sp>
      <p:sp>
        <p:nvSpPr>
          <p:cNvPr id="104901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814" name=""/>
        <p:cNvGrpSpPr/>
        <p:nvPr/>
      </p:nvGrpSpPr>
      <p:grpSpPr>
        <a:xfrm>
          <a:off x="0" y="0"/>
          <a:ext cx="0" cy="0"/>
          <a:chOff x="0" y="0"/>
          <a:chExt cx="0" cy="0"/>
        </a:xfrm>
      </p:grpSpPr>
      <p:sp>
        <p:nvSpPr>
          <p:cNvPr id="1049011" name="Title 1"/>
          <p:cNvSpPr>
            <a:spLocks noGrp="1"/>
          </p:cNvSpPr>
          <p:nvPr>
            <p:ph type="title"/>
          </p:nvPr>
        </p:nvSpPr>
        <p:spPr>
          <a:xfrm>
            <a:off x="571500" y="704088"/>
            <a:ext cx="10287000" cy="896112"/>
          </a:xfrm>
        </p:spPr>
        <p:txBody>
          <a:bodyPr>
            <a:normAutofit/>
          </a:bodyPr>
          <a:p>
            <a:r>
              <a:rPr dirty="0" sz="3000" lang="en-US" smtClean="0">
                <a:latin typeface="+mn-lt"/>
              </a:rPr>
              <a:t> </a:t>
            </a:r>
            <a:r>
              <a:rPr b="1" dirty="0" sz="3000" lang="en-US" smtClean="0">
                <a:solidFill>
                  <a:srgbClr val="C00000"/>
                </a:solidFill>
                <a:latin typeface="+mn-lt"/>
              </a:rPr>
              <a:t>COMPLICATONS PREVENTIVE MEASURES</a:t>
            </a:r>
            <a:endParaRPr dirty="0" sz="3000" lang="en-US">
              <a:latin typeface="+mn-lt"/>
            </a:endParaRPr>
          </a:p>
        </p:txBody>
      </p:sp>
      <p:sp>
        <p:nvSpPr>
          <p:cNvPr id="1049012" name="Content Placeholder 2"/>
          <p:cNvSpPr>
            <a:spLocks noGrp="1"/>
          </p:cNvSpPr>
          <p:nvPr>
            <p:ph idx="1"/>
          </p:nvPr>
        </p:nvSpPr>
        <p:spPr>
          <a:xfrm>
            <a:off x="285750" y="1676400"/>
            <a:ext cx="10572750" cy="4876800"/>
          </a:xfrm>
        </p:spPr>
        <p:txBody>
          <a:bodyPr>
            <a:normAutofit/>
          </a:bodyPr>
          <a:p>
            <a:pPr lvl="0"/>
            <a:r>
              <a:rPr dirty="0" sz="3200" lang="en-US" smtClean="0"/>
              <a:t>Early diagnosis and accurate interventions.</a:t>
            </a:r>
          </a:p>
          <a:p>
            <a:pPr lvl="0"/>
            <a:r>
              <a:rPr dirty="0" sz="3200" lang="en-US" smtClean="0"/>
              <a:t>Effective referral system for those with predisposing factors to a hospital based ANC after thorough explanation.</a:t>
            </a:r>
          </a:p>
          <a:p>
            <a:pPr lvl="0"/>
            <a:r>
              <a:rPr dirty="0" sz="3200" lang="en-US" smtClean="0"/>
              <a:t>Effective control of various social factors which may hinder antenatal services attendance.</a:t>
            </a:r>
          </a:p>
          <a:p>
            <a:pPr lvl="0">
              <a:buFont typeface="Wingdings" pitchFamily="2" charset="2"/>
              <a:buChar char="Ø"/>
            </a:pPr>
            <a:r>
              <a:rPr dirty="0" sz="3200" lang="en-US" smtClean="0"/>
              <a:t>For distant organize for mobile services at a central point. </a:t>
            </a:r>
          </a:p>
          <a:p>
            <a:endParaRPr dirty="0" sz="2800" lang="en-US"/>
          </a:p>
        </p:txBody>
      </p:sp>
      <p:sp>
        <p:nvSpPr>
          <p:cNvPr id="104901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815" name=""/>
        <p:cNvGrpSpPr/>
        <p:nvPr/>
      </p:nvGrpSpPr>
      <p:grpSpPr>
        <a:xfrm>
          <a:off x="0" y="0"/>
          <a:ext cx="0" cy="0"/>
          <a:chOff x="0" y="0"/>
          <a:chExt cx="0" cy="0"/>
        </a:xfrm>
      </p:grpSpPr>
      <p:sp>
        <p:nvSpPr>
          <p:cNvPr id="1049014" name="Title 1"/>
          <p:cNvSpPr>
            <a:spLocks noGrp="1"/>
          </p:cNvSpPr>
          <p:nvPr>
            <p:ph type="title"/>
          </p:nvPr>
        </p:nvSpPr>
        <p:spPr/>
        <p:txBody>
          <a:bodyPr/>
          <a:p>
            <a:r>
              <a:rPr dirty="0" lang="en-US" smtClean="0"/>
              <a:t>		</a:t>
            </a:r>
            <a:r>
              <a:rPr b="1" dirty="0" sz="5400" lang="en-US" smtClean="0">
                <a:solidFill>
                  <a:srgbClr val="C00000"/>
                </a:solidFill>
              </a:rPr>
              <a:t> SUMMARY</a:t>
            </a:r>
            <a:endParaRPr dirty="0" lang="en-US"/>
          </a:p>
        </p:txBody>
      </p:sp>
      <p:sp>
        <p:nvSpPr>
          <p:cNvPr id="1049015" name="Content Placeholder 2"/>
          <p:cNvSpPr>
            <a:spLocks noGrp="1"/>
          </p:cNvSpPr>
          <p:nvPr>
            <p:ph idx="1"/>
          </p:nvPr>
        </p:nvSpPr>
        <p:spPr>
          <a:xfrm>
            <a:off x="571500" y="1752600"/>
            <a:ext cx="10287000" cy="5105400"/>
          </a:xfrm>
        </p:spPr>
        <p:txBody>
          <a:bodyPr>
            <a:noAutofit/>
          </a:bodyPr>
          <a:p>
            <a:pPr>
              <a:buNone/>
            </a:pPr>
            <a:r>
              <a:rPr dirty="0" sz="2500" i="1" lang="en-US" smtClean="0"/>
              <a:t>		</a:t>
            </a:r>
            <a:endParaRPr b="1" dirty="0" sz="3600" lang="en-US" smtClean="0">
              <a:solidFill>
                <a:srgbClr val="C00000"/>
              </a:solidFill>
            </a:endParaRPr>
          </a:p>
          <a:p>
            <a:pPr>
              <a:buNone/>
            </a:pPr>
            <a:r>
              <a:rPr dirty="0" sz="3600" lang="en-US" smtClean="0"/>
              <a:t>	The principles of  pre-</a:t>
            </a:r>
            <a:r>
              <a:rPr dirty="0" sz="3600" lang="en-US" err="1" smtClean="0"/>
              <a:t>eclampsia</a:t>
            </a:r>
            <a:r>
              <a:rPr dirty="0" sz="3600" lang="en-US" smtClean="0"/>
              <a:t> mgt are:-</a:t>
            </a:r>
          </a:p>
          <a:p>
            <a:pPr lvl="0"/>
            <a:r>
              <a:rPr dirty="0" sz="3600" lang="en-US" smtClean="0"/>
              <a:t>Early detection of the symptomless syndrome.</a:t>
            </a:r>
          </a:p>
          <a:p>
            <a:pPr lvl="0"/>
            <a:r>
              <a:rPr dirty="0" sz="3600" lang="en-US" smtClean="0"/>
              <a:t>knowledge of the serious nature of the condition in its severest form.</a:t>
            </a:r>
          </a:p>
        </p:txBody>
      </p:sp>
      <p:sp>
        <p:nvSpPr>
          <p:cNvPr id="104901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816" name=""/>
        <p:cNvGrpSpPr/>
        <p:nvPr/>
      </p:nvGrpSpPr>
      <p:grpSpPr>
        <a:xfrm>
          <a:off x="0" y="0"/>
          <a:ext cx="0" cy="0"/>
          <a:chOff x="0" y="0"/>
          <a:chExt cx="0" cy="0"/>
        </a:xfrm>
      </p:grpSpPr>
      <p:sp>
        <p:nvSpPr>
          <p:cNvPr id="1049017" name="Content Placeholder 2"/>
          <p:cNvSpPr>
            <a:spLocks noGrp="1"/>
          </p:cNvSpPr>
          <p:nvPr>
            <p:ph idx="1"/>
          </p:nvPr>
        </p:nvSpPr>
        <p:spPr>
          <a:xfrm>
            <a:off x="571500" y="838200"/>
            <a:ext cx="10287000" cy="6019800"/>
          </a:xfrm>
        </p:spPr>
        <p:txBody>
          <a:bodyPr>
            <a:noAutofit/>
          </a:bodyPr>
          <a:p>
            <a:pPr lvl="0"/>
            <a:r>
              <a:rPr dirty="0" sz="3400" lang="en-US" smtClean="0"/>
              <a:t>Adherence to agreed guidelines for admission to hospital, investigations and antihypertensive/anticonvulsant prescription.</a:t>
            </a:r>
          </a:p>
          <a:p>
            <a:pPr lvl="0"/>
            <a:r>
              <a:rPr dirty="0" sz="3400" lang="en-US" smtClean="0"/>
              <a:t>Accurately timed delivery to avoid serious complications to either mother or fetus.</a:t>
            </a:r>
          </a:p>
          <a:p>
            <a:pPr lvl="0"/>
            <a:r>
              <a:rPr dirty="0" sz="3400" lang="en-US" smtClean="0"/>
              <a:t>Postnatal follow up of hypertension, expected to settle at most, after 6 months and counseling for future pregnancies.</a:t>
            </a:r>
            <a:endParaRPr dirty="0" sz="3400" lang="en-US"/>
          </a:p>
        </p:txBody>
      </p:sp>
      <p:sp>
        <p:nvSpPr>
          <p:cNvPr id="104901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817" name=""/>
        <p:cNvGrpSpPr/>
        <p:nvPr/>
      </p:nvGrpSpPr>
      <p:grpSpPr>
        <a:xfrm>
          <a:off x="0" y="0"/>
          <a:ext cx="0" cy="0"/>
          <a:chOff x="0" y="0"/>
          <a:chExt cx="0" cy="0"/>
        </a:xfrm>
      </p:grpSpPr>
      <p:sp>
        <p:nvSpPr>
          <p:cNvPr id="1049019" name="Title 1"/>
          <p:cNvSpPr>
            <a:spLocks noGrp="1"/>
          </p:cNvSpPr>
          <p:nvPr>
            <p:ph type="title"/>
          </p:nvPr>
        </p:nvSpPr>
        <p:spPr/>
        <p:txBody>
          <a:bodyPr>
            <a:noAutofit/>
          </a:bodyPr>
          <a:p>
            <a:r>
              <a:rPr b="1" dirty="0" sz="4000" lang="en-US" smtClean="0">
                <a:solidFill>
                  <a:srgbClr val="C00000"/>
                </a:solidFill>
                <a:latin typeface="+mn-lt"/>
              </a:rPr>
              <a:t>MAIN CATEGORY OF THE HTN PRENATAL</a:t>
            </a:r>
            <a:endParaRPr dirty="0" sz="4000" lang="en-US">
              <a:latin typeface="+mn-lt"/>
            </a:endParaRPr>
          </a:p>
        </p:txBody>
      </p:sp>
      <p:sp>
        <p:nvSpPr>
          <p:cNvPr id="1049020" name="Content Placeholder 2"/>
          <p:cNvSpPr>
            <a:spLocks noGrp="1"/>
          </p:cNvSpPr>
          <p:nvPr>
            <p:ph idx="1"/>
          </p:nvPr>
        </p:nvSpPr>
        <p:spPr>
          <a:xfrm>
            <a:off x="0" y="1676400"/>
            <a:ext cx="10858500" cy="4953000"/>
          </a:xfrm>
        </p:spPr>
        <p:txBody>
          <a:bodyPr>
            <a:noAutofit/>
          </a:bodyPr>
          <a:p>
            <a:pPr>
              <a:buNone/>
            </a:pPr>
            <a:r>
              <a:rPr b="1" dirty="0" sz="3200" lang="en-US" smtClean="0">
                <a:solidFill>
                  <a:srgbClr val="C00000"/>
                </a:solidFill>
              </a:rPr>
              <a:t>	</a:t>
            </a:r>
          </a:p>
          <a:p>
            <a:r>
              <a:rPr b="1" dirty="0" sz="3200" lang="en-US" smtClean="0"/>
              <a:t>PRE-EXISTING /CHRONIC HTN:-</a:t>
            </a:r>
            <a:r>
              <a:rPr dirty="0" sz="3200" lang="en-US" smtClean="0"/>
              <a:t> Refers to pre-pregnancy hypertension.</a:t>
            </a:r>
          </a:p>
          <a:p>
            <a:pPr>
              <a:buFont typeface="Wingdings" pitchFamily="2" charset="2"/>
              <a:buChar char="Ø"/>
            </a:pPr>
            <a:r>
              <a:rPr dirty="0" sz="3200" lang="en-US" smtClean="0"/>
              <a:t>The diastolic</a:t>
            </a:r>
            <a:r>
              <a:rPr b="1" dirty="0" sz="3200" lang="en-US" smtClean="0"/>
              <a:t> </a:t>
            </a:r>
            <a:r>
              <a:rPr dirty="0" sz="3200" lang="en-US" smtClean="0"/>
              <a:t>pressure has been 90 mmhg before pregnancy or before 20 weeks gestation.</a:t>
            </a:r>
          </a:p>
          <a:p>
            <a:pPr>
              <a:buFont typeface="Wingdings" pitchFamily="2" charset="2"/>
              <a:buChar char="Ø"/>
            </a:pPr>
            <a:r>
              <a:rPr dirty="0" sz="3200" lang="en-US" smtClean="0"/>
              <a:t>Common outcomes are that , BP doesn’t return to normal by the 12</a:t>
            </a:r>
            <a:r>
              <a:rPr baseline="30000" dirty="0" sz="3200" lang="en-US" smtClean="0"/>
              <a:t>th </a:t>
            </a:r>
            <a:r>
              <a:rPr dirty="0" sz="3200" lang="en-US" smtClean="0"/>
              <a:t> week postpartum or </a:t>
            </a:r>
            <a:r>
              <a:rPr dirty="0" sz="3200" lang="en-US" err="1" smtClean="0"/>
              <a:t>preeclamsia</a:t>
            </a:r>
            <a:r>
              <a:rPr dirty="0" sz="3200" lang="en-US" smtClean="0"/>
              <a:t> does not  develop.</a:t>
            </a:r>
          </a:p>
          <a:p>
            <a:pPr>
              <a:buNone/>
            </a:pPr>
            <a:r>
              <a:rPr dirty="0" sz="3200" lang="en-US" smtClean="0"/>
              <a:t> </a:t>
            </a:r>
          </a:p>
        </p:txBody>
      </p:sp>
      <p:sp>
        <p:nvSpPr>
          <p:cNvPr id="104902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818" name=""/>
        <p:cNvGrpSpPr/>
        <p:nvPr/>
      </p:nvGrpSpPr>
      <p:grpSpPr>
        <a:xfrm>
          <a:off x="0" y="0"/>
          <a:ext cx="0" cy="0"/>
          <a:chOff x="0" y="0"/>
          <a:chExt cx="0" cy="0"/>
        </a:xfrm>
      </p:grpSpPr>
      <p:sp>
        <p:nvSpPr>
          <p:cNvPr id="1049022" name="Content Placeholder 2"/>
          <p:cNvSpPr>
            <a:spLocks noGrp="1"/>
          </p:cNvSpPr>
          <p:nvPr>
            <p:ph idx="1"/>
          </p:nvPr>
        </p:nvSpPr>
        <p:spPr>
          <a:xfrm>
            <a:off x="0" y="685800"/>
            <a:ext cx="11239500" cy="6019800"/>
          </a:xfrm>
        </p:spPr>
        <p:txBody>
          <a:bodyPr>
            <a:noAutofit/>
          </a:bodyPr>
          <a:p>
            <a:r>
              <a:rPr b="1" dirty="0" sz="3200" lang="en-US" smtClean="0"/>
              <a:t>GESTIONAL HYPERTENSION:</a:t>
            </a:r>
            <a:r>
              <a:rPr dirty="0" sz="3200" lang="en-US" smtClean="0"/>
              <a:t>-It’s a pregnancy induced hypertension or new hypertension , that develops at or after 20 weeks.</a:t>
            </a:r>
          </a:p>
          <a:p>
            <a:pPr>
              <a:buFont typeface="Wingdings" pitchFamily="2" charset="2"/>
              <a:buChar char="Ø"/>
            </a:pPr>
            <a:r>
              <a:rPr dirty="0" sz="3200" lang="en-US" smtClean="0"/>
              <a:t>Before 20 weeks diastolic pressure has been less than 90 mmhg.</a:t>
            </a:r>
          </a:p>
          <a:p>
            <a:pPr>
              <a:buFont typeface="Wingdings" pitchFamily="2" charset="2"/>
              <a:buChar char="Ø"/>
            </a:pPr>
            <a:r>
              <a:rPr dirty="0" sz="3200" lang="en-US" smtClean="0"/>
              <a:t>Common outcomes are:</a:t>
            </a:r>
          </a:p>
          <a:p>
            <a:pPr>
              <a:buFont typeface="Wingdings" pitchFamily="2" charset="2"/>
              <a:buChar char="ü"/>
            </a:pPr>
            <a:r>
              <a:rPr dirty="0" sz="3200" lang="en-US" smtClean="0"/>
              <a:t>Preeclampsia doesn’t develop.</a:t>
            </a:r>
          </a:p>
          <a:p>
            <a:pPr>
              <a:buFont typeface="Wingdings" pitchFamily="2" charset="2"/>
              <a:buChar char="ü"/>
            </a:pPr>
            <a:r>
              <a:rPr dirty="0" sz="3200" lang="en-US" smtClean="0"/>
              <a:t>BP returns to normal by the end of </a:t>
            </a:r>
            <a:r>
              <a:rPr dirty="0" sz="3200" lang="en-US" err="1" smtClean="0"/>
              <a:t>puerperium</a:t>
            </a:r>
            <a:r>
              <a:rPr dirty="0" sz="3200" lang="en-US" smtClean="0"/>
              <a:t>. </a:t>
            </a:r>
          </a:p>
          <a:p>
            <a:endParaRPr b="1" dirty="0" sz="3200" lang="en-US" smtClean="0"/>
          </a:p>
        </p:txBody>
      </p:sp>
      <p:sp>
        <p:nvSpPr>
          <p:cNvPr id="104902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819" name=""/>
        <p:cNvGrpSpPr/>
        <p:nvPr/>
      </p:nvGrpSpPr>
      <p:grpSpPr>
        <a:xfrm>
          <a:off x="0" y="0"/>
          <a:ext cx="0" cy="0"/>
          <a:chOff x="0" y="0"/>
          <a:chExt cx="0" cy="0"/>
        </a:xfrm>
      </p:grpSpPr>
      <p:sp>
        <p:nvSpPr>
          <p:cNvPr id="1049024" name="Content Placeholder 2"/>
          <p:cNvSpPr>
            <a:spLocks noGrp="1"/>
          </p:cNvSpPr>
          <p:nvPr>
            <p:ph idx="1"/>
          </p:nvPr>
        </p:nvSpPr>
        <p:spPr>
          <a:xfrm>
            <a:off x="190500" y="762000"/>
            <a:ext cx="10953750" cy="5715000"/>
          </a:xfrm>
        </p:spPr>
        <p:txBody>
          <a:bodyPr>
            <a:noAutofit/>
          </a:bodyPr>
          <a:p>
            <a:r>
              <a:rPr b="1" dirty="0" sz="3200" lang="en-US" smtClean="0"/>
              <a:t>PREECLAMPSIA:- </a:t>
            </a:r>
            <a:r>
              <a:rPr dirty="0" sz="3200" lang="en-US" smtClean="0"/>
              <a:t>Diagnosis based on development of HTN at or after 20 weeks, accompanied by significant </a:t>
            </a:r>
            <a:r>
              <a:rPr dirty="0" sz="3200" lang="en-US" err="1" smtClean="0"/>
              <a:t>proteinuria</a:t>
            </a:r>
            <a:r>
              <a:rPr dirty="0" sz="3200" lang="en-US" smtClean="0"/>
              <a:t> on dipstick testing.</a:t>
            </a:r>
          </a:p>
          <a:p>
            <a:pPr>
              <a:buFont typeface="Wingdings" pitchFamily="2" charset="2"/>
              <a:buChar char="Ø"/>
            </a:pPr>
            <a:r>
              <a:rPr dirty="0" sz="3200" lang="en-US" smtClean="0"/>
              <a:t>In absence of </a:t>
            </a:r>
            <a:r>
              <a:rPr dirty="0" sz="3200" lang="en-US" err="1" smtClean="0"/>
              <a:t>proteinuria</a:t>
            </a:r>
            <a:r>
              <a:rPr dirty="0" sz="3200" lang="en-US" smtClean="0"/>
              <a:t> the condition is suspected  when HTN is accompanied by symptoms including, headache, blurred vision , upper abdominal pain &amp; altered biochemistry in terms of abnormal liver enzyme levels.</a:t>
            </a:r>
          </a:p>
          <a:p>
            <a:pPr>
              <a:buNone/>
            </a:pPr>
            <a:r>
              <a:rPr dirty="0" sz="2800" lang="en-US" smtClean="0"/>
              <a:t>		 </a:t>
            </a:r>
            <a:endParaRPr dirty="0" sz="2800" lang="en-US"/>
          </a:p>
        </p:txBody>
      </p:sp>
      <p:sp>
        <p:nvSpPr>
          <p:cNvPr id="104902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820" name=""/>
        <p:cNvGrpSpPr/>
        <p:nvPr/>
      </p:nvGrpSpPr>
      <p:grpSpPr>
        <a:xfrm>
          <a:off x="0" y="0"/>
          <a:ext cx="0" cy="0"/>
          <a:chOff x="0" y="0"/>
          <a:chExt cx="0" cy="0"/>
        </a:xfrm>
      </p:grpSpPr>
      <p:sp>
        <p:nvSpPr>
          <p:cNvPr id="1049026" name="Content Placeholder 2"/>
          <p:cNvSpPr>
            <a:spLocks noGrp="1"/>
          </p:cNvSpPr>
          <p:nvPr>
            <p:ph idx="1"/>
          </p:nvPr>
        </p:nvSpPr>
        <p:spPr>
          <a:xfrm>
            <a:off x="190500" y="762000"/>
            <a:ext cx="10953750" cy="5562600"/>
          </a:xfrm>
          <a:scene3d>
            <a:camera prst="orthographicFront"/>
            <a:lightRig dir="t" rig="threePt"/>
          </a:scene3d>
          <a:sp3d/>
        </p:spPr>
        <p:txBody>
          <a:bodyPr>
            <a:normAutofit/>
          </a:bodyPr>
          <a:p>
            <a:r>
              <a:rPr b="1" dirty="0" sz="2800" lang="en-US" smtClean="0"/>
              <a:t>SUPERIMPOSED PREECLAMPSIA:- </a:t>
            </a:r>
            <a:r>
              <a:rPr dirty="0" sz="2800" lang="en-US" smtClean="0"/>
              <a:t>Refers to development of preeclampsia in a woman with </a:t>
            </a:r>
            <a:r>
              <a:rPr dirty="0" sz="2800" lang="en-US" err="1" smtClean="0"/>
              <a:t>prepregnancy</a:t>
            </a:r>
            <a:r>
              <a:rPr dirty="0" sz="2800" lang="en-US" smtClean="0"/>
              <a:t> HTN or pre-existing </a:t>
            </a:r>
            <a:r>
              <a:rPr dirty="0" sz="2800" lang="en-US" err="1" smtClean="0"/>
              <a:t>proteinuria</a:t>
            </a:r>
            <a:r>
              <a:rPr dirty="0" sz="2800" lang="en-US" smtClean="0"/>
              <a:t>.</a:t>
            </a:r>
          </a:p>
          <a:p>
            <a:r>
              <a:rPr b="1" dirty="0" sz="2800" lang="en-US" smtClean="0"/>
              <a:t>ECLAMPSIA:-</a:t>
            </a:r>
            <a:r>
              <a:rPr dirty="0" sz="2800" lang="en-US" smtClean="0"/>
              <a:t> New onset of seizures prenatally or </a:t>
            </a:r>
            <a:r>
              <a:rPr dirty="0" sz="2800" lang="en-US" err="1" smtClean="0"/>
              <a:t>postnatally</a:t>
            </a:r>
            <a:r>
              <a:rPr dirty="0" sz="2800" lang="en-US" smtClean="0"/>
              <a:t>, unrelated to other cerebral pathological condition in a woman  with known or unknown preeclampsia.</a:t>
            </a:r>
            <a:endParaRPr b="1" dirty="0" sz="2800" lang="en-US" smtClean="0"/>
          </a:p>
          <a:p>
            <a:r>
              <a:rPr b="1" dirty="0" sz="2800" lang="en-US" smtClean="0"/>
              <a:t>NEW PROTEINURIA:-</a:t>
            </a:r>
            <a:r>
              <a:rPr dirty="0" sz="2800" lang="en-US" smtClean="0"/>
              <a:t>Refers to presence of </a:t>
            </a:r>
            <a:r>
              <a:rPr dirty="0" sz="2800" lang="en-US" err="1" smtClean="0"/>
              <a:t>proteinuria</a:t>
            </a:r>
            <a:r>
              <a:rPr dirty="0" sz="2800" lang="en-US" smtClean="0"/>
              <a:t> only, prenatally and membranes are intact.</a:t>
            </a:r>
          </a:p>
          <a:p>
            <a:pPr>
              <a:buNone/>
            </a:pPr>
            <a:r>
              <a:rPr dirty="0" lang="en-US" smtClean="0"/>
              <a:t>				</a:t>
            </a:r>
            <a:r>
              <a:rPr b="1" dirty="0" sz="6000" lang="en-US" smtClean="0">
                <a:ln w="12700">
                  <a:solidFill>
                    <a:schemeClr val="tx2">
                      <a:satMod val="155000"/>
                    </a:schemeClr>
                  </a:solidFill>
                  <a:prstDash val="solid"/>
                </a:ln>
                <a:solidFill>
                  <a:srgbClr val="FF33CC"/>
                </a:solidFill>
                <a:effectLst>
                  <a:outerShdw algn="tl" blurRad="41275" dir="1800000" dist="20320" rotWithShape="0">
                    <a:srgbClr val="000000">
                      <a:alpha val="40000"/>
                    </a:srgbClr>
                  </a:outerShdw>
                </a:effectLst>
                <a:latin typeface="Arial Black" pitchFamily="34" charset="0"/>
              </a:rPr>
              <a:t>END</a:t>
            </a:r>
            <a:endParaRPr b="1" dirty="0" sz="6000" lang="en-US" smtClean="0">
              <a:solidFill>
                <a:srgbClr val="FF33CC"/>
              </a:solidFill>
              <a:latin typeface="Arial Black" pitchFamily="34" charset="0"/>
            </a:endParaRPr>
          </a:p>
        </p:txBody>
      </p:sp>
      <p:sp>
        <p:nvSpPr>
          <p:cNvPr id="104902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835" name=""/>
        <p:cNvGrpSpPr/>
        <p:nvPr/>
      </p:nvGrpSpPr>
      <p:grpSpPr>
        <a:xfrm>
          <a:off x="0" y="0"/>
          <a:ext cx="0" cy="0"/>
          <a:chOff x="0" y="0"/>
          <a:chExt cx="0" cy="0"/>
        </a:xfrm>
      </p:grpSpPr>
      <p:sp>
        <p:nvSpPr>
          <p:cNvPr id="1049045" name="Title 3"/>
          <p:cNvSpPr>
            <a:spLocks noGrp="1"/>
          </p:cNvSpPr>
          <p:nvPr>
            <p:ph type="ctrTitle"/>
          </p:nvPr>
        </p:nvSpPr>
        <p:spPr/>
        <p:txBody>
          <a:bodyPr>
            <a:normAutofit/>
          </a:bodyPr>
          <a:p>
            <a:pPr algn="ctr"/>
            <a:r>
              <a:rPr dirty="0" sz="7200" lang="en-US" smtClean="0">
                <a:solidFill>
                  <a:srgbClr val="FF0000"/>
                </a:solidFill>
                <a:latin typeface="Algerian" pitchFamily="82" charset="0"/>
              </a:rPr>
              <a:t>ECLAMPSIA</a:t>
            </a:r>
            <a:endParaRPr dirty="0" sz="7200" lang="en-US">
              <a:solidFill>
                <a:srgbClr val="FF0000"/>
              </a:solidFill>
              <a:latin typeface="Algerian" pitchFamily="82" charset="0"/>
            </a:endParaRPr>
          </a:p>
        </p:txBody>
      </p:sp>
    </p:spTree>
  </p:cSld>
  <p:clrMapOvr>
    <a:masterClrMapping/>
  </p:clrMapOvr>
  <p:transition xmlns:p14="http://schemas.microsoft.com/office/powerpoint/2010/main" spd="slow">
    <p:strips dir="ru"/>
  </p:transition>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837" name=""/>
        <p:cNvGrpSpPr/>
        <p:nvPr/>
      </p:nvGrpSpPr>
      <p:grpSpPr>
        <a:xfrm>
          <a:off x="0" y="0"/>
          <a:ext cx="0" cy="0"/>
          <a:chOff x="0" y="0"/>
          <a:chExt cx="0" cy="0"/>
        </a:xfrm>
      </p:grpSpPr>
      <p:sp>
        <p:nvSpPr>
          <p:cNvPr id="1049051" name="Content Placeholder 2"/>
          <p:cNvSpPr>
            <a:spLocks noGrp="1"/>
          </p:cNvSpPr>
          <p:nvPr>
            <p:ph idx="1"/>
          </p:nvPr>
        </p:nvSpPr>
        <p:spPr/>
        <p:txBody>
          <a:bodyPr/>
          <a:p>
            <a:pPr>
              <a:buNone/>
            </a:pPr>
            <a:r>
              <a:rPr b="1" dirty="0" lang="en-US" smtClean="0"/>
              <a:t>		</a:t>
            </a:r>
            <a:r>
              <a:rPr b="1" dirty="0" sz="3600" lang="en-US" smtClean="0">
                <a:solidFill>
                  <a:srgbClr val="A51B87"/>
                </a:solidFill>
              </a:rPr>
              <a:t>DESCRIPTION</a:t>
            </a:r>
            <a:endParaRPr b="1" dirty="0" sz="3600" lang="en-US">
              <a:solidFill>
                <a:srgbClr val="A51B87"/>
              </a:solidFill>
            </a:endParaRPr>
          </a:p>
          <a:p>
            <a:r>
              <a:rPr dirty="0" sz="3600" lang="en-US"/>
              <a:t>It’s a condition peculiar to pregnant or newly delivered woman, characterized by </a:t>
            </a:r>
            <a:r>
              <a:rPr b="1" dirty="0" sz="3600" lang="en-US"/>
              <a:t>convulsions</a:t>
            </a:r>
            <a:r>
              <a:rPr dirty="0" sz="3600" lang="en-US"/>
              <a:t> (fits</a:t>
            </a:r>
            <a:r>
              <a:rPr dirty="0" sz="3600" lang="en-US" smtClean="0"/>
              <a:t>), </a:t>
            </a:r>
            <a:r>
              <a:rPr dirty="0" sz="3600" lang="en-US"/>
              <a:t>followed by </a:t>
            </a:r>
            <a:r>
              <a:rPr dirty="0" sz="3600" lang="en-US" err="1"/>
              <a:t>startorous</a:t>
            </a:r>
            <a:r>
              <a:rPr dirty="0" sz="3600" lang="en-US"/>
              <a:t> breathing and coma in absence of other medical conditions which can bring convulsion.</a:t>
            </a:r>
          </a:p>
          <a:p>
            <a:endParaRPr dirty="0" lang="en-US"/>
          </a:p>
        </p:txBody>
      </p:sp>
      <p:sp>
        <p:nvSpPr>
          <p:cNvPr id="1049052" name="Title 1"/>
          <p:cNvSpPr>
            <a:spLocks noGrp="1"/>
          </p:cNvSpPr>
          <p:nvPr>
            <p:ph type="title"/>
          </p:nvPr>
        </p:nvSpPr>
        <p:spPr>
          <a:xfrm>
            <a:off x="857250" y="228600"/>
            <a:ext cx="9715500" cy="990600"/>
          </a:xfrm>
          <a:solidFill>
            <a:schemeClr val="accent5">
              <a:lumMod val="90000"/>
            </a:schemeClr>
          </a:solidFill>
          <a:ln w="76200">
            <a:solidFill>
              <a:srgbClr val="A51B87"/>
            </a:solidFill>
          </a:ln>
          <a:effectLst>
            <a:glow rad="228600">
              <a:schemeClr val="accent6">
                <a:satMod val="175000"/>
                <a:alpha val="40000"/>
              </a:schemeClr>
            </a:glow>
          </a:effectLst>
        </p:spPr>
        <p:txBody>
          <a:bodyPr>
            <a:normAutofit fontScale="90000"/>
          </a:bodyPr>
          <a:p>
            <a:r>
              <a:rPr b="1" dirty="0" lang="en-US" smtClean="0">
                <a:solidFill>
                  <a:srgbClr val="FFFF00"/>
                </a:solidFill>
                <a:effectLst/>
              </a:rPr>
              <a:t/>
            </a:r>
            <a:br>
              <a:rPr b="1" dirty="0" lang="en-US" smtClean="0">
                <a:solidFill>
                  <a:srgbClr val="FFFF00"/>
                </a:solidFill>
                <a:effectLst/>
              </a:rPr>
            </a:br>
            <a:r>
              <a:rPr b="1" dirty="0" sz="8000" lang="en-US" smtClean="0">
                <a:ln w="1905"/>
                <a:solidFill>
                  <a:srgbClr val="FFFF00"/>
                </a:solidFill>
                <a:effectLst/>
                <a:latin typeface="Batang" pitchFamily="18" charset="-127"/>
                <a:ea typeface="Batang" pitchFamily="18" charset="-127"/>
              </a:rPr>
              <a:t>ECLAMPSIA</a:t>
            </a:r>
            <a:r>
              <a:rPr b="1" dirty="0" lang="en-US">
                <a:solidFill>
                  <a:srgbClr val="FFFF00"/>
                </a:solidFill>
                <a:effectLst/>
              </a:rPr>
              <a:t/>
            </a:r>
            <a:br>
              <a:rPr b="1" dirty="0" lang="en-US">
                <a:solidFill>
                  <a:srgbClr val="FFFF00"/>
                </a:solidFill>
                <a:effectLst/>
              </a:rPr>
            </a:br>
            <a:endParaRPr dirty="0" lang="en-US">
              <a:solidFill>
                <a:srgbClr val="FFFF00"/>
              </a:solidFill>
              <a:effectLst/>
            </a:endParaRPr>
          </a:p>
        </p:txBody>
      </p:sp>
      <p:sp>
        <p:nvSpPr>
          <p:cNvPr id="104905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838" name=""/>
        <p:cNvGrpSpPr/>
        <p:nvPr/>
      </p:nvGrpSpPr>
      <p:grpSpPr>
        <a:xfrm>
          <a:off x="0" y="0"/>
          <a:ext cx="0" cy="0"/>
          <a:chOff x="0" y="0"/>
          <a:chExt cx="0" cy="0"/>
        </a:xfrm>
      </p:grpSpPr>
      <p:sp>
        <p:nvSpPr>
          <p:cNvPr id="1049054" name="Content Placeholder 2"/>
          <p:cNvSpPr>
            <a:spLocks noGrp="1"/>
          </p:cNvSpPr>
          <p:nvPr>
            <p:ph idx="1"/>
          </p:nvPr>
        </p:nvSpPr>
        <p:spPr>
          <a:xfrm>
            <a:off x="571500" y="533408"/>
            <a:ext cx="10287000" cy="5473891"/>
          </a:xfrm>
        </p:spPr>
        <p:txBody>
          <a:bodyPr>
            <a:normAutofit/>
          </a:bodyPr>
          <a:p>
            <a:pPr>
              <a:buNone/>
            </a:pPr>
            <a:r>
              <a:rPr b="1" dirty="0" sz="3200" lang="en-US" smtClean="0"/>
              <a:t>	</a:t>
            </a:r>
            <a:r>
              <a:rPr b="1" dirty="0" sz="3200" lang="en-US" smtClean="0">
                <a:solidFill>
                  <a:srgbClr val="A51B87"/>
                </a:solidFill>
              </a:rPr>
              <a:t>INCIDENCE</a:t>
            </a:r>
          </a:p>
          <a:p>
            <a:r>
              <a:rPr dirty="0" sz="3200" lang="en-US" smtClean="0"/>
              <a:t>Eclampsia may occur in about 0.2-0.5% of all the </a:t>
            </a:r>
            <a:r>
              <a:rPr dirty="0" sz="3200" lang="en-US" err="1" smtClean="0"/>
              <a:t>prenatals</a:t>
            </a:r>
            <a:r>
              <a:rPr dirty="0" sz="3200" lang="en-US" smtClean="0"/>
              <a:t>, particular to those who develop pre-eclampsia.</a:t>
            </a:r>
          </a:p>
          <a:p>
            <a:r>
              <a:rPr dirty="0" sz="3200" lang="en-US" smtClean="0"/>
              <a:t>So prenatal occurrence of fits is to about 20% , during  labour 25 % and postpartum 35%.</a:t>
            </a:r>
          </a:p>
          <a:p>
            <a:r>
              <a:rPr dirty="0" sz="3200" lang="en-US" smtClean="0"/>
              <a:t>Therefore close monitoring is crucial.</a:t>
            </a:r>
          </a:p>
          <a:p>
            <a:endParaRPr dirty="0" sz="3200" lang="en-US"/>
          </a:p>
        </p:txBody>
      </p:sp>
      <p:sp>
        <p:nvSpPr>
          <p:cNvPr id="104905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839" name=""/>
        <p:cNvGrpSpPr/>
        <p:nvPr/>
      </p:nvGrpSpPr>
      <p:grpSpPr>
        <a:xfrm>
          <a:off x="0" y="0"/>
          <a:ext cx="0" cy="0"/>
          <a:chOff x="0" y="0"/>
          <a:chExt cx="0" cy="0"/>
        </a:xfrm>
      </p:grpSpPr>
      <p:sp>
        <p:nvSpPr>
          <p:cNvPr id="1049056" name="Content Placeholder 2"/>
          <p:cNvSpPr>
            <a:spLocks noGrp="1"/>
          </p:cNvSpPr>
          <p:nvPr>
            <p:ph idx="1"/>
          </p:nvPr>
        </p:nvSpPr>
        <p:spPr>
          <a:xfrm>
            <a:off x="285750" y="533400"/>
            <a:ext cx="10287000" cy="6096000"/>
          </a:xfrm>
        </p:spPr>
        <p:txBody>
          <a:bodyPr>
            <a:normAutofit/>
          </a:bodyPr>
          <a:p>
            <a:pPr>
              <a:buNone/>
            </a:pPr>
            <a:r>
              <a:rPr dirty="0" sz="2800" i="1" lang="en-US" smtClean="0"/>
              <a:t>	</a:t>
            </a:r>
            <a:r>
              <a:rPr b="1" dirty="0" sz="2800" lang="en-US" smtClean="0">
                <a:solidFill>
                  <a:srgbClr val="A51B87"/>
                </a:solidFill>
              </a:rPr>
              <a:t>CLINICAL FEATURES OF IMPLENDING ECLAMPSIA</a:t>
            </a:r>
          </a:p>
          <a:p>
            <a:pPr>
              <a:buNone/>
            </a:pPr>
            <a:r>
              <a:rPr dirty="0" sz="2800" lang="en-US" smtClean="0"/>
              <a:t>	Synonym-warning features of imminent eclampsia.</a:t>
            </a:r>
          </a:p>
          <a:p>
            <a:pPr lvl="0"/>
            <a:r>
              <a:rPr dirty="0" sz="2800" lang="en-US" smtClean="0"/>
              <a:t>A sharp rise in blood pressure suddenly, with more than 20mmhg within an interval of ½ hour ( BP &gt;160/100 mmHg) despite treatment.</a:t>
            </a:r>
          </a:p>
          <a:p>
            <a:pPr lvl="0"/>
            <a:r>
              <a:rPr dirty="0" sz="2800" lang="en-US" smtClean="0"/>
              <a:t>Decreased urinary output (</a:t>
            </a:r>
            <a:r>
              <a:rPr dirty="0" sz="2800" lang="en-US" err="1" smtClean="0"/>
              <a:t>oliguria</a:t>
            </a:r>
            <a:r>
              <a:rPr dirty="0" sz="2800" lang="en-US" smtClean="0"/>
              <a:t>) because of severe spasms in afferent arterioles, so less than 800ml  in 24 hours.</a:t>
            </a:r>
          </a:p>
          <a:p>
            <a:pPr lvl="0"/>
            <a:r>
              <a:rPr dirty="0" sz="2800" lang="en-US" smtClean="0"/>
              <a:t>Increased </a:t>
            </a:r>
            <a:r>
              <a:rPr dirty="0" sz="2800" lang="en-US" err="1" smtClean="0"/>
              <a:t>proteinuria</a:t>
            </a:r>
            <a:r>
              <a:rPr dirty="0" sz="2800" lang="en-US" smtClean="0"/>
              <a:t> levels to 3+ &amp; above , due to general damage of the filtering bed.</a:t>
            </a:r>
          </a:p>
          <a:p>
            <a:endParaRPr dirty="0" sz="2800" lang="en-US"/>
          </a:p>
        </p:txBody>
      </p:sp>
      <p:sp>
        <p:nvSpPr>
          <p:cNvPr id="104905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840" name=""/>
        <p:cNvGrpSpPr/>
        <p:nvPr/>
      </p:nvGrpSpPr>
      <p:grpSpPr>
        <a:xfrm>
          <a:off x="0" y="0"/>
          <a:ext cx="0" cy="0"/>
          <a:chOff x="0" y="0"/>
          <a:chExt cx="0" cy="0"/>
        </a:xfrm>
      </p:grpSpPr>
      <p:sp>
        <p:nvSpPr>
          <p:cNvPr id="1049058" name="Content Placeholder 2"/>
          <p:cNvSpPr>
            <a:spLocks noGrp="1"/>
          </p:cNvSpPr>
          <p:nvPr>
            <p:ph idx="1"/>
          </p:nvPr>
        </p:nvSpPr>
        <p:spPr>
          <a:xfrm>
            <a:off x="476250" y="533400"/>
            <a:ext cx="10096500" cy="6172200"/>
          </a:xfrm>
        </p:spPr>
        <p:txBody>
          <a:bodyPr>
            <a:normAutofit/>
          </a:bodyPr>
          <a:p>
            <a:pPr lvl="0"/>
            <a:r>
              <a:rPr dirty="0" sz="2800" lang="en-US" smtClean="0"/>
              <a:t>Abnormal general behavior in terms of restlessness initially, later confusion and finally drowsiness, due to cerebral </a:t>
            </a:r>
            <a:r>
              <a:rPr dirty="0" sz="2800" lang="en-US" err="1" smtClean="0"/>
              <a:t>oedema</a:t>
            </a:r>
            <a:r>
              <a:rPr dirty="0" sz="2800" lang="en-US" smtClean="0"/>
              <a:t>.</a:t>
            </a:r>
          </a:p>
          <a:p>
            <a:pPr lvl="0"/>
            <a:r>
              <a:rPr dirty="0" sz="2800" lang="en-US" smtClean="0"/>
              <a:t>Severe </a:t>
            </a:r>
            <a:r>
              <a:rPr dirty="0" sz="2800" lang="en-US" err="1" smtClean="0"/>
              <a:t>epigastric</a:t>
            </a:r>
            <a:r>
              <a:rPr dirty="0" sz="2800" lang="en-US" smtClean="0"/>
              <a:t> pain, accompanied by nausea and vomiting.</a:t>
            </a:r>
          </a:p>
          <a:p>
            <a:pPr lvl="0">
              <a:buFont typeface="Wingdings" pitchFamily="2" charset="2"/>
              <a:buChar char="ü"/>
            </a:pPr>
            <a:r>
              <a:rPr dirty="0" sz="2800" lang="en-US" smtClean="0"/>
              <a:t> Pain is excruciating in nature and it’s located at the right upper quadrant of the abdomen.</a:t>
            </a:r>
          </a:p>
          <a:p>
            <a:pPr lvl="0">
              <a:buFont typeface="Wingdings" pitchFamily="2" charset="2"/>
              <a:buChar char="ü"/>
            </a:pPr>
            <a:r>
              <a:rPr dirty="0" sz="2800" lang="en-US" smtClean="0"/>
              <a:t> It indicates liver impairment.</a:t>
            </a:r>
          </a:p>
          <a:p>
            <a:endParaRPr dirty="0" sz="2800" lang="en-US"/>
          </a:p>
        </p:txBody>
      </p:sp>
      <p:sp>
        <p:nvSpPr>
          <p:cNvPr id="104905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841" name=""/>
        <p:cNvGrpSpPr/>
        <p:nvPr/>
      </p:nvGrpSpPr>
      <p:grpSpPr>
        <a:xfrm>
          <a:off x="0" y="0"/>
          <a:ext cx="0" cy="0"/>
          <a:chOff x="0" y="0"/>
          <a:chExt cx="0" cy="0"/>
        </a:xfrm>
      </p:grpSpPr>
      <p:sp>
        <p:nvSpPr>
          <p:cNvPr id="1049060" name="Content Placeholder 2"/>
          <p:cNvSpPr>
            <a:spLocks noGrp="1"/>
          </p:cNvSpPr>
          <p:nvPr>
            <p:ph idx="1"/>
          </p:nvPr>
        </p:nvSpPr>
        <p:spPr>
          <a:xfrm>
            <a:off x="285750" y="609600"/>
            <a:ext cx="10763250" cy="6019800"/>
          </a:xfrm>
        </p:spPr>
        <p:txBody>
          <a:bodyPr>
            <a:normAutofit/>
          </a:bodyPr>
          <a:p>
            <a:pPr lvl="0"/>
            <a:r>
              <a:rPr dirty="0" sz="2800" lang="en-US" smtClean="0"/>
              <a:t>Severe headache, usually persistent and located either at frontal or occipital region.</a:t>
            </a:r>
          </a:p>
          <a:p>
            <a:pPr lvl="0">
              <a:buFont typeface="Wingdings" pitchFamily="2" charset="2"/>
              <a:buChar char="ü"/>
            </a:pPr>
            <a:r>
              <a:rPr dirty="0" sz="2800" lang="en-US" smtClean="0"/>
              <a:t>Indicates increased intracranial pressure because of cerebral </a:t>
            </a:r>
            <a:r>
              <a:rPr dirty="0" sz="2800" lang="en-US" err="1" smtClean="0"/>
              <a:t>oedema</a:t>
            </a:r>
            <a:r>
              <a:rPr dirty="0" sz="2800" lang="en-US" smtClean="0"/>
              <a:t> since blood supply is impaired.</a:t>
            </a:r>
          </a:p>
          <a:p>
            <a:pPr lvl="0"/>
            <a:r>
              <a:rPr dirty="0" sz="2800" lang="en-US" smtClean="0"/>
              <a:t>Visual disturbance in terms of either blurred vision, flashes of light or photophobia due to </a:t>
            </a:r>
            <a:r>
              <a:rPr dirty="0" sz="2800" lang="en-US" err="1" smtClean="0"/>
              <a:t>oedema</a:t>
            </a:r>
            <a:r>
              <a:rPr dirty="0" sz="2800" lang="en-US" smtClean="0"/>
              <a:t> of the retina.</a:t>
            </a:r>
          </a:p>
          <a:p>
            <a:pPr lvl="0"/>
            <a:r>
              <a:rPr dirty="0" sz="2800" lang="en-US" smtClean="0"/>
              <a:t>Hyper –</a:t>
            </a:r>
            <a:r>
              <a:rPr dirty="0" sz="2800" lang="en-US" err="1" smtClean="0"/>
              <a:t>reflexia</a:t>
            </a:r>
            <a:r>
              <a:rPr dirty="0" sz="2800" lang="en-US" smtClean="0"/>
              <a:t>, indicates cerebral irritability.</a:t>
            </a:r>
          </a:p>
          <a:p>
            <a:endParaRPr dirty="0" sz="2800" lang="en-US"/>
          </a:p>
        </p:txBody>
      </p:sp>
      <p:sp>
        <p:nvSpPr>
          <p:cNvPr id="104906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842" name=""/>
        <p:cNvGrpSpPr/>
        <p:nvPr/>
      </p:nvGrpSpPr>
      <p:grpSpPr>
        <a:xfrm>
          <a:off x="0" y="0"/>
          <a:ext cx="0" cy="0"/>
          <a:chOff x="0" y="0"/>
          <a:chExt cx="0" cy="0"/>
        </a:xfrm>
      </p:grpSpPr>
      <p:sp>
        <p:nvSpPr>
          <p:cNvPr id="1049062" name="Content Placeholder 2"/>
          <p:cNvSpPr>
            <a:spLocks noGrp="1"/>
          </p:cNvSpPr>
          <p:nvPr>
            <p:ph idx="1"/>
          </p:nvPr>
        </p:nvSpPr>
        <p:spPr>
          <a:xfrm>
            <a:off x="190500" y="838200"/>
            <a:ext cx="10953750" cy="5867400"/>
          </a:xfrm>
        </p:spPr>
        <p:txBody>
          <a:bodyPr>
            <a:normAutofit/>
          </a:bodyPr>
          <a:p>
            <a:pPr>
              <a:buNone/>
            </a:pPr>
            <a:r>
              <a:rPr b="1" dirty="0" sz="3300" lang="en-US" smtClean="0"/>
              <a:t>	</a:t>
            </a:r>
            <a:r>
              <a:rPr b="1" dirty="0" sz="3300" lang="en-US" smtClean="0">
                <a:solidFill>
                  <a:srgbClr val="C00000"/>
                </a:solidFill>
              </a:rPr>
              <a:t>1. PREMONITORY/WARNING STAGE</a:t>
            </a:r>
          </a:p>
          <a:p>
            <a:r>
              <a:rPr dirty="0" sz="3300" lang="en-US" smtClean="0"/>
              <a:t>It’s the very last indicator that fits are going to occur whatsoever. It lasts for about 10-20 seconds.</a:t>
            </a:r>
          </a:p>
          <a:p>
            <a:pPr>
              <a:buNone/>
            </a:pPr>
            <a:r>
              <a:rPr dirty="0" sz="3300" i="1" lang="en-US" smtClean="0"/>
              <a:t>                          </a:t>
            </a:r>
            <a:r>
              <a:rPr b="1" dirty="0" sz="3300" i="1" lang="en-US" smtClean="0"/>
              <a:t>Clinical presentation</a:t>
            </a:r>
          </a:p>
          <a:p>
            <a:pPr lvl="0"/>
            <a:r>
              <a:rPr dirty="0" sz="3300" lang="en-US" smtClean="0"/>
              <a:t>Increased restlessness &amp; confusion.</a:t>
            </a:r>
          </a:p>
          <a:p>
            <a:pPr lvl="0"/>
            <a:r>
              <a:rPr dirty="0" sz="3300" lang="en-US" smtClean="0"/>
              <a:t>Rapid eye movement or just stares.</a:t>
            </a:r>
          </a:p>
          <a:p>
            <a:pPr lvl="0"/>
            <a:r>
              <a:rPr dirty="0" sz="3300" lang="en-US" smtClean="0"/>
              <a:t>Head drawn to one side.</a:t>
            </a:r>
          </a:p>
          <a:p>
            <a:pPr lvl="0"/>
            <a:r>
              <a:rPr dirty="0" sz="3300" lang="en-US" smtClean="0"/>
              <a:t>Twitching of the facial muscles, particularly around mouth &amp; eyes.</a:t>
            </a:r>
          </a:p>
          <a:p>
            <a:pPr lvl="0"/>
            <a:r>
              <a:rPr dirty="0" sz="3300" lang="en-US" smtClean="0"/>
              <a:t>Loss of consciousness.</a:t>
            </a:r>
          </a:p>
          <a:p>
            <a:endParaRPr dirty="0" lang="en-US"/>
          </a:p>
        </p:txBody>
      </p:sp>
      <p:sp>
        <p:nvSpPr>
          <p:cNvPr id="1049063" name="Title 1"/>
          <p:cNvSpPr>
            <a:spLocks noGrp="1"/>
          </p:cNvSpPr>
          <p:nvPr>
            <p:ph type="title"/>
          </p:nvPr>
        </p:nvSpPr>
        <p:spPr>
          <a:xfrm>
            <a:off x="857250" y="0"/>
            <a:ext cx="9715500" cy="1066800"/>
          </a:xfrm>
        </p:spPr>
        <p:txBody>
          <a:bodyPr/>
          <a:p>
            <a:r>
              <a:rPr b="1" dirty="0" lang="en-US" smtClean="0">
                <a:solidFill>
                  <a:srgbClr val="A51B87"/>
                </a:solidFill>
              </a:rPr>
              <a:t>STAGES</a:t>
            </a:r>
            <a:endParaRPr dirty="0" lang="en-US"/>
          </a:p>
        </p:txBody>
      </p:sp>
      <p:sp>
        <p:nvSpPr>
          <p:cNvPr id="104906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843" name=""/>
        <p:cNvGrpSpPr/>
        <p:nvPr/>
      </p:nvGrpSpPr>
      <p:grpSpPr>
        <a:xfrm>
          <a:off x="0" y="0"/>
          <a:ext cx="0" cy="0"/>
          <a:chOff x="0" y="0"/>
          <a:chExt cx="0" cy="0"/>
        </a:xfrm>
      </p:grpSpPr>
      <p:sp>
        <p:nvSpPr>
          <p:cNvPr id="1049065" name="Content Placeholder 2"/>
          <p:cNvSpPr>
            <a:spLocks noGrp="1"/>
          </p:cNvSpPr>
          <p:nvPr>
            <p:ph idx="1"/>
          </p:nvPr>
        </p:nvSpPr>
        <p:spPr>
          <a:xfrm>
            <a:off x="476250" y="381000"/>
            <a:ext cx="10096500" cy="6248400"/>
          </a:xfrm>
        </p:spPr>
        <p:txBody>
          <a:bodyPr>
            <a:normAutofit/>
          </a:bodyPr>
          <a:p>
            <a:pPr>
              <a:buNone/>
            </a:pPr>
            <a:r>
              <a:rPr dirty="0" sz="3200" i="1" lang="en-US" smtClean="0"/>
              <a:t>	</a:t>
            </a:r>
            <a:r>
              <a:rPr b="1" dirty="0" sz="3200" lang="en-US" smtClean="0">
                <a:solidFill>
                  <a:srgbClr val="C00000"/>
                </a:solidFill>
              </a:rPr>
              <a:t>2. Tonic or toxic</a:t>
            </a:r>
          </a:p>
          <a:p>
            <a:r>
              <a:rPr dirty="0" sz="3200" lang="en-US" smtClean="0"/>
              <a:t>Lasts for about 10-20 seconds.</a:t>
            </a:r>
          </a:p>
          <a:p>
            <a:pPr>
              <a:buNone/>
            </a:pPr>
            <a:r>
              <a:rPr dirty="0" sz="3200" i="1" lang="en-US" smtClean="0"/>
              <a:t>             </a:t>
            </a:r>
            <a:r>
              <a:rPr b="1" dirty="0" sz="3200" i="1" lang="en-US" smtClean="0"/>
              <a:t>Presentation</a:t>
            </a:r>
          </a:p>
          <a:p>
            <a:pPr lvl="0"/>
            <a:r>
              <a:rPr dirty="0" sz="3200" lang="en-US" smtClean="0"/>
              <a:t>There is muscle rigidity or stiffness.</a:t>
            </a:r>
          </a:p>
          <a:p>
            <a:pPr lvl="0"/>
            <a:r>
              <a:rPr dirty="0" sz="3200" lang="en-US" smtClean="0"/>
              <a:t>Cyanosis is marked on skin and mucous membranes because of bronchi and diaphragm spasms.</a:t>
            </a:r>
          </a:p>
          <a:p>
            <a:pPr lvl="0"/>
            <a:r>
              <a:rPr dirty="0" sz="3200" lang="en-US" smtClean="0"/>
              <a:t>Back is arched.</a:t>
            </a:r>
          </a:p>
          <a:p>
            <a:pPr lvl="0"/>
            <a:r>
              <a:rPr dirty="0" sz="3200" lang="en-US" smtClean="0"/>
              <a:t>Fist tightly closed.</a:t>
            </a:r>
          </a:p>
          <a:p>
            <a:pPr lvl="0"/>
            <a:r>
              <a:rPr dirty="0" sz="3200" lang="en-US" smtClean="0"/>
              <a:t>Feet &amp; toes flexed.</a:t>
            </a:r>
          </a:p>
          <a:p>
            <a:endParaRPr dirty="0" sz="3200" lang="en-US"/>
          </a:p>
        </p:txBody>
      </p:sp>
      <p:sp>
        <p:nvSpPr>
          <p:cNvPr id="104906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844" name=""/>
        <p:cNvGrpSpPr/>
        <p:nvPr/>
      </p:nvGrpSpPr>
      <p:grpSpPr>
        <a:xfrm>
          <a:off x="0" y="0"/>
          <a:ext cx="0" cy="0"/>
          <a:chOff x="0" y="0"/>
          <a:chExt cx="0" cy="0"/>
        </a:xfrm>
      </p:grpSpPr>
      <p:sp>
        <p:nvSpPr>
          <p:cNvPr id="1049067" name="Content Placeholder 2"/>
          <p:cNvSpPr>
            <a:spLocks noGrp="1"/>
          </p:cNvSpPr>
          <p:nvPr>
            <p:ph idx="1"/>
          </p:nvPr>
        </p:nvSpPr>
        <p:spPr>
          <a:xfrm>
            <a:off x="381000" y="381000"/>
            <a:ext cx="10572750" cy="6324600"/>
          </a:xfrm>
        </p:spPr>
        <p:txBody>
          <a:bodyPr/>
          <a:p>
            <a:pPr lvl="0"/>
            <a:r>
              <a:rPr dirty="0" sz="3100" lang="en-US" smtClean="0"/>
              <a:t>Teeth tightly clenched.</a:t>
            </a:r>
          </a:p>
          <a:p>
            <a:pPr lvl="0"/>
            <a:r>
              <a:rPr dirty="0" sz="3100" lang="en-US" smtClean="0"/>
              <a:t>Eyes appear to bulge out since she is staring.</a:t>
            </a:r>
          </a:p>
          <a:p>
            <a:pPr>
              <a:buNone/>
            </a:pPr>
            <a:r>
              <a:rPr b="1" dirty="0" sz="3100" lang="en-US" smtClean="0">
                <a:solidFill>
                  <a:schemeClr val="tx2"/>
                </a:solidFill>
              </a:rPr>
              <a:t>NB:</a:t>
            </a:r>
            <a:r>
              <a:rPr dirty="0" sz="3100" lang="en-US" smtClean="0">
                <a:solidFill>
                  <a:schemeClr val="tx2"/>
                </a:solidFill>
              </a:rPr>
              <a:t> </a:t>
            </a:r>
            <a:r>
              <a:rPr dirty="0" sz="3100" lang="en-US" smtClean="0"/>
              <a:t>These 2 stages may be missed out due to the short dwell time of each.</a:t>
            </a:r>
          </a:p>
          <a:p>
            <a:pPr>
              <a:buNone/>
            </a:pPr>
            <a:r>
              <a:rPr b="1" dirty="0" sz="3100" lang="en-US" smtClean="0"/>
              <a:t>	</a:t>
            </a:r>
            <a:r>
              <a:rPr b="1" dirty="0" sz="3100" lang="en-US" smtClean="0">
                <a:solidFill>
                  <a:srgbClr val="C00000"/>
                </a:solidFill>
              </a:rPr>
              <a:t>3. </a:t>
            </a:r>
            <a:r>
              <a:rPr b="1" dirty="0" sz="3100" lang="en-US" err="1" smtClean="0">
                <a:solidFill>
                  <a:srgbClr val="C00000"/>
                </a:solidFill>
              </a:rPr>
              <a:t>Clonic</a:t>
            </a:r>
            <a:endParaRPr b="1" dirty="0" sz="3100" lang="en-US" smtClean="0">
              <a:solidFill>
                <a:srgbClr val="C00000"/>
              </a:solidFill>
            </a:endParaRPr>
          </a:p>
          <a:p>
            <a:r>
              <a:rPr dirty="0" sz="3100" lang="en-US" smtClean="0"/>
              <a:t>Last for 1-2 minutes i.e. (60-120 sec.)</a:t>
            </a:r>
          </a:p>
          <a:p>
            <a:pPr>
              <a:buNone/>
            </a:pPr>
            <a:r>
              <a:rPr dirty="0" sz="3100" i="1" lang="en-US" smtClean="0"/>
              <a:t>	</a:t>
            </a:r>
            <a:r>
              <a:rPr b="1" dirty="0" sz="3100" i="1" lang="en-US" smtClean="0"/>
              <a:t>Presentation</a:t>
            </a:r>
          </a:p>
          <a:p>
            <a:pPr lvl="0"/>
            <a:r>
              <a:rPr dirty="0" sz="3100" lang="en-US" smtClean="0"/>
              <a:t>Violent contraction and relaxation of the muscles.</a:t>
            </a:r>
          </a:p>
          <a:p>
            <a:endParaRPr dirty="0" sz="2800" lang="en-US" smtClean="0"/>
          </a:p>
          <a:p>
            <a:endParaRPr dirty="0" sz="2800" lang="en-US"/>
          </a:p>
        </p:txBody>
      </p:sp>
      <p:sp>
        <p:nvSpPr>
          <p:cNvPr id="104906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845" name=""/>
        <p:cNvGrpSpPr/>
        <p:nvPr/>
      </p:nvGrpSpPr>
      <p:grpSpPr>
        <a:xfrm>
          <a:off x="0" y="0"/>
          <a:ext cx="0" cy="0"/>
          <a:chOff x="0" y="0"/>
          <a:chExt cx="0" cy="0"/>
        </a:xfrm>
      </p:grpSpPr>
      <p:sp>
        <p:nvSpPr>
          <p:cNvPr id="1049069" name="Content Placeholder 2"/>
          <p:cNvSpPr>
            <a:spLocks noGrp="1"/>
          </p:cNvSpPr>
          <p:nvPr>
            <p:ph idx="1"/>
          </p:nvPr>
        </p:nvSpPr>
        <p:spPr>
          <a:xfrm>
            <a:off x="381000" y="457200"/>
            <a:ext cx="10191750" cy="5867400"/>
          </a:xfrm>
        </p:spPr>
        <p:txBody>
          <a:bodyPr>
            <a:normAutofit/>
          </a:bodyPr>
          <a:p>
            <a:pPr lvl="0"/>
            <a:r>
              <a:rPr dirty="0" sz="2800" lang="en-US" smtClean="0"/>
              <a:t>Increased saliva causes foaming or frothing at the </a:t>
            </a:r>
            <a:r>
              <a:rPr dirty="0" sz="2800" lang="en-US" err="1" smtClean="0"/>
              <a:t>mouth.Sometimes</a:t>
            </a:r>
            <a:r>
              <a:rPr dirty="0" sz="2800" lang="en-US" smtClean="0"/>
              <a:t> may be blood stained due to trauma on the tongue.</a:t>
            </a:r>
          </a:p>
          <a:p>
            <a:pPr lvl="0"/>
            <a:r>
              <a:rPr dirty="0" sz="2800" lang="en-US" smtClean="0"/>
              <a:t>Deep noisy breathing.</a:t>
            </a:r>
          </a:p>
          <a:p>
            <a:pPr lvl="0"/>
            <a:r>
              <a:rPr dirty="0" sz="2800" lang="en-US" smtClean="0"/>
              <a:t>Face looks congested (filled with blood) and bloated (swollen).</a:t>
            </a:r>
          </a:p>
          <a:p>
            <a:r>
              <a:rPr dirty="0" sz="2800" lang="en-US" smtClean="0"/>
              <a:t>Tongue is bitten due to violent action of the jaws.</a:t>
            </a:r>
          </a:p>
          <a:p>
            <a:pPr lvl="0"/>
            <a:endParaRPr dirty="0" sz="2800" lang="en-US" smtClean="0"/>
          </a:p>
          <a:p>
            <a:endParaRPr dirty="0" sz="2800" lang="en-US"/>
          </a:p>
        </p:txBody>
      </p:sp>
      <p:sp>
        <p:nvSpPr>
          <p:cNvPr id="104907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846" name=""/>
        <p:cNvGrpSpPr/>
        <p:nvPr/>
      </p:nvGrpSpPr>
      <p:grpSpPr>
        <a:xfrm>
          <a:off x="0" y="0"/>
          <a:ext cx="0" cy="0"/>
          <a:chOff x="0" y="0"/>
          <a:chExt cx="0" cy="0"/>
        </a:xfrm>
      </p:grpSpPr>
      <p:sp>
        <p:nvSpPr>
          <p:cNvPr id="1049071" name="Content Placeholder 2"/>
          <p:cNvSpPr>
            <a:spLocks noGrp="1"/>
          </p:cNvSpPr>
          <p:nvPr>
            <p:ph idx="1"/>
          </p:nvPr>
        </p:nvSpPr>
        <p:spPr>
          <a:xfrm>
            <a:off x="476250" y="457200"/>
            <a:ext cx="10096500" cy="5638800"/>
          </a:xfrm>
        </p:spPr>
        <p:txBody>
          <a:bodyPr>
            <a:normAutofit/>
          </a:bodyPr>
          <a:p>
            <a:pPr lvl="0"/>
            <a:r>
              <a:rPr dirty="0" sz="2800" lang="en-US" smtClean="0"/>
              <a:t>Convulsions slowly subside and unconsciousness persists.</a:t>
            </a:r>
          </a:p>
          <a:p>
            <a:pPr lvl="0"/>
            <a:r>
              <a:rPr dirty="0" sz="2800" lang="en-US" smtClean="0"/>
              <a:t>Breathing becomes </a:t>
            </a:r>
            <a:r>
              <a:rPr dirty="0" sz="2800" lang="en-US" err="1" smtClean="0"/>
              <a:t>startorous</a:t>
            </a:r>
            <a:r>
              <a:rPr dirty="0" sz="2800" lang="en-US" smtClean="0"/>
              <a:t> due to partial blockage of the airways by secretions. </a:t>
            </a:r>
          </a:p>
          <a:p>
            <a:pPr>
              <a:buFont typeface="Wingdings" pitchFamily="2" charset="2"/>
              <a:buChar char="ü"/>
            </a:pPr>
            <a:r>
              <a:rPr dirty="0" sz="2800" lang="en-US" smtClean="0"/>
              <a:t>Generally respiration are labored &amp; noisily.</a:t>
            </a:r>
          </a:p>
          <a:p>
            <a:pPr>
              <a:buNone/>
            </a:pPr>
            <a:r>
              <a:rPr dirty="0" sz="2800" i="1" lang="en-US" smtClean="0"/>
              <a:t>	</a:t>
            </a:r>
            <a:r>
              <a:rPr b="1" dirty="0" sz="2800" lang="en-US" smtClean="0">
                <a:solidFill>
                  <a:srgbClr val="C00000"/>
                </a:solidFill>
              </a:rPr>
              <a:t>4. Coma</a:t>
            </a:r>
          </a:p>
          <a:p>
            <a:r>
              <a:rPr dirty="0" sz="2800" lang="en-US" smtClean="0"/>
              <a:t>May last for minutes or hours.</a:t>
            </a:r>
          </a:p>
          <a:p>
            <a:endParaRPr dirty="0" sz="2800" lang="en-US"/>
          </a:p>
        </p:txBody>
      </p:sp>
      <p:sp>
        <p:nvSpPr>
          <p:cNvPr id="104907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847" name=""/>
        <p:cNvGrpSpPr/>
        <p:nvPr/>
      </p:nvGrpSpPr>
      <p:grpSpPr>
        <a:xfrm>
          <a:off x="0" y="0"/>
          <a:ext cx="0" cy="0"/>
          <a:chOff x="0" y="0"/>
          <a:chExt cx="0" cy="0"/>
        </a:xfrm>
      </p:grpSpPr>
      <p:sp>
        <p:nvSpPr>
          <p:cNvPr id="1049073" name="Content Placeholder 2"/>
          <p:cNvSpPr>
            <a:spLocks noGrp="1"/>
          </p:cNvSpPr>
          <p:nvPr>
            <p:ph idx="1"/>
          </p:nvPr>
        </p:nvSpPr>
        <p:spPr>
          <a:xfrm>
            <a:off x="285750" y="533400"/>
            <a:ext cx="10287000" cy="6019800"/>
          </a:xfrm>
        </p:spPr>
        <p:txBody>
          <a:bodyPr>
            <a:normAutofit/>
          </a:bodyPr>
          <a:p>
            <a:pPr>
              <a:buNone/>
            </a:pPr>
            <a:r>
              <a:rPr dirty="0" sz="2800" i="1" lang="en-US" smtClean="0"/>
              <a:t>	</a:t>
            </a:r>
            <a:r>
              <a:rPr b="1" dirty="0" sz="2800" i="1" lang="en-US" smtClean="0"/>
              <a:t>Presentation</a:t>
            </a:r>
          </a:p>
          <a:p>
            <a:pPr lvl="0"/>
            <a:r>
              <a:rPr dirty="0" sz="2800" lang="en-US" smtClean="0"/>
              <a:t>Deep state of unconsciousness =comatosed.</a:t>
            </a:r>
          </a:p>
          <a:p>
            <a:pPr lvl="0"/>
            <a:r>
              <a:rPr dirty="0" sz="2800" lang="en-US" smtClean="0"/>
              <a:t>Noisy and rapid breathing.</a:t>
            </a:r>
          </a:p>
          <a:p>
            <a:pPr lvl="0"/>
            <a:r>
              <a:rPr dirty="0" sz="2800" lang="en-US" smtClean="0"/>
              <a:t>Cyanosis fades, but congested and swollen facial appearances persist.</a:t>
            </a:r>
          </a:p>
          <a:p>
            <a:pPr lvl="0"/>
            <a:r>
              <a:rPr dirty="0" sz="2800" lang="en-US" smtClean="0"/>
              <a:t>Vital signs reading are abnormal in that:</a:t>
            </a:r>
          </a:p>
          <a:p>
            <a:pPr lvl="0">
              <a:buFont typeface="Wingdings" pitchFamily="2" charset="2"/>
              <a:buChar char="ü"/>
            </a:pPr>
            <a:r>
              <a:rPr dirty="0" sz="2800" lang="en-US" smtClean="0"/>
              <a:t>Fever, occurs due to large amount of energy generated during convulsion.</a:t>
            </a:r>
          </a:p>
          <a:p>
            <a:pPr lvl="0"/>
            <a:endParaRPr dirty="0" sz="2800" lang="en-US" smtClean="0"/>
          </a:p>
          <a:p>
            <a:endParaRPr dirty="0" sz="2800" lang="en-US"/>
          </a:p>
        </p:txBody>
      </p:sp>
      <p:sp>
        <p:nvSpPr>
          <p:cNvPr id="104907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848" name=""/>
        <p:cNvGrpSpPr/>
        <p:nvPr/>
      </p:nvGrpSpPr>
      <p:grpSpPr>
        <a:xfrm>
          <a:off x="0" y="0"/>
          <a:ext cx="0" cy="0"/>
          <a:chOff x="0" y="0"/>
          <a:chExt cx="0" cy="0"/>
        </a:xfrm>
      </p:grpSpPr>
      <p:sp>
        <p:nvSpPr>
          <p:cNvPr id="1049075" name="Content Placeholder 2"/>
          <p:cNvSpPr>
            <a:spLocks noGrp="1"/>
          </p:cNvSpPr>
          <p:nvPr>
            <p:ph idx="1"/>
          </p:nvPr>
        </p:nvSpPr>
        <p:spPr>
          <a:xfrm>
            <a:off x="381000" y="533408"/>
            <a:ext cx="10477500" cy="5473891"/>
          </a:xfrm>
        </p:spPr>
        <p:txBody>
          <a:bodyPr>
            <a:normAutofit/>
          </a:bodyPr>
          <a:p>
            <a:pPr lvl="0">
              <a:buFont typeface="Wingdings" pitchFamily="2" charset="2"/>
              <a:buChar char="ü"/>
            </a:pPr>
            <a:r>
              <a:rPr dirty="0" sz="2800" lang="en-US" smtClean="0"/>
              <a:t>Tachycardia, in which pulse is full and bounding in character.</a:t>
            </a:r>
          </a:p>
          <a:p>
            <a:pPr lvl="0">
              <a:buFont typeface="Wingdings" pitchFamily="2" charset="2"/>
              <a:buChar char="ü"/>
            </a:pPr>
            <a:r>
              <a:rPr dirty="0" sz="2800" lang="en-US" smtClean="0"/>
              <a:t>Blood pressure, rises sharply i.e. very high.</a:t>
            </a:r>
          </a:p>
          <a:p>
            <a:pPr lvl="0"/>
            <a:r>
              <a:rPr dirty="0" sz="2800" lang="en-US" smtClean="0"/>
              <a:t>Generally urine &amp; faecal incontinence may occur. </a:t>
            </a:r>
          </a:p>
          <a:p>
            <a:pPr lvl="0"/>
            <a:r>
              <a:rPr dirty="0" sz="2800" lang="en-US" smtClean="0"/>
              <a:t>Therefore further fits may occur especially where interventions to lower BP and control fits are not undertake on time.</a:t>
            </a:r>
          </a:p>
        </p:txBody>
      </p:sp>
      <p:sp>
        <p:nvSpPr>
          <p:cNvPr id="104907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849" name=""/>
        <p:cNvGrpSpPr/>
        <p:nvPr/>
      </p:nvGrpSpPr>
      <p:grpSpPr>
        <a:xfrm>
          <a:off x="0" y="0"/>
          <a:ext cx="0" cy="0"/>
          <a:chOff x="0" y="0"/>
          <a:chExt cx="0" cy="0"/>
        </a:xfrm>
      </p:grpSpPr>
      <p:sp>
        <p:nvSpPr>
          <p:cNvPr id="1049077" name="Content Placeholder 2"/>
          <p:cNvSpPr>
            <a:spLocks noGrp="1"/>
          </p:cNvSpPr>
          <p:nvPr>
            <p:ph idx="1"/>
          </p:nvPr>
        </p:nvSpPr>
        <p:spPr>
          <a:xfrm>
            <a:off x="381000" y="457208"/>
            <a:ext cx="10477500" cy="5550091"/>
          </a:xfrm>
        </p:spPr>
        <p:txBody>
          <a:bodyPr>
            <a:normAutofit/>
          </a:bodyPr>
          <a:p>
            <a:pPr lvl="0">
              <a:buFont typeface="Wingdings" pitchFamily="2" charset="2"/>
              <a:buChar char="ü"/>
            </a:pPr>
            <a:r>
              <a:rPr dirty="0" sz="2800" lang="en-US" smtClean="0"/>
              <a:t>If undertaken, she regains consciousness gradually.</a:t>
            </a:r>
          </a:p>
          <a:p>
            <a:pPr>
              <a:buNone/>
            </a:pPr>
            <a:r>
              <a:rPr dirty="0" sz="2800" lang="en-US" smtClean="0"/>
              <a:t>	</a:t>
            </a:r>
            <a:r>
              <a:rPr b="1" dirty="0" sz="2800" lang="en-US" smtClean="0"/>
              <a:t>NB:</a:t>
            </a:r>
            <a:r>
              <a:rPr dirty="0" sz="2800" lang="en-US" smtClean="0"/>
              <a:t> The woman may die after only one (1) or two (2) fits hence need for immediate action.</a:t>
            </a:r>
          </a:p>
          <a:p>
            <a:pPr>
              <a:buNone/>
            </a:pPr>
            <a:r>
              <a:rPr dirty="0" sz="2800" i="1" lang="en-US" smtClean="0"/>
              <a:t>	</a:t>
            </a:r>
            <a:r>
              <a:rPr b="1" dirty="0" sz="2800" lang="en-US" smtClean="0">
                <a:solidFill>
                  <a:srgbClr val="A51B87"/>
                </a:solidFill>
              </a:rPr>
              <a:t>ROLE OF MIDWIFE</a:t>
            </a:r>
          </a:p>
          <a:p>
            <a:r>
              <a:rPr dirty="0" sz="2800" lang="en-US" smtClean="0"/>
              <a:t> Prevent the mother from sustaining trauma during the fits.</a:t>
            </a:r>
          </a:p>
          <a:p>
            <a:pPr>
              <a:buNone/>
            </a:pPr>
            <a:endParaRPr dirty="0" sz="2800" lang="en-US" smtClean="0"/>
          </a:p>
          <a:p>
            <a:endParaRPr dirty="0" sz="2800" lang="en-US"/>
          </a:p>
        </p:txBody>
      </p:sp>
      <p:sp>
        <p:nvSpPr>
          <p:cNvPr id="104907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850" name=""/>
        <p:cNvGrpSpPr/>
        <p:nvPr/>
      </p:nvGrpSpPr>
      <p:grpSpPr>
        <a:xfrm>
          <a:off x="0" y="0"/>
          <a:ext cx="0" cy="0"/>
          <a:chOff x="0" y="0"/>
          <a:chExt cx="0" cy="0"/>
        </a:xfrm>
      </p:grpSpPr>
      <p:sp>
        <p:nvSpPr>
          <p:cNvPr id="1049079" name="Content Placeholder 2"/>
          <p:cNvSpPr>
            <a:spLocks noGrp="1"/>
          </p:cNvSpPr>
          <p:nvPr>
            <p:ph idx="1"/>
          </p:nvPr>
        </p:nvSpPr>
        <p:spPr>
          <a:xfrm>
            <a:off x="476250" y="685800"/>
            <a:ext cx="10096500" cy="5638800"/>
          </a:xfrm>
        </p:spPr>
        <p:txBody>
          <a:bodyPr/>
          <a:p>
            <a:r>
              <a:rPr dirty="0" sz="3600" lang="en-US" smtClean="0"/>
              <a:t> Close observation to accurately assess the state of mother &amp; fetus, in terms of:</a:t>
            </a:r>
          </a:p>
          <a:p>
            <a:pPr>
              <a:buFont typeface="Wingdings" pitchFamily="2" charset="2"/>
              <a:buChar char="ü"/>
            </a:pPr>
            <a:r>
              <a:rPr dirty="0" sz="3600" lang="en-US" smtClean="0"/>
              <a:t>Vital sign, onset of the fit, extent of coma, number of fits in a given period, length of each and associated trauma.</a:t>
            </a:r>
          </a:p>
          <a:p>
            <a:pPr>
              <a:buFont typeface="Wingdings" pitchFamily="2" charset="2"/>
              <a:buChar char="ü"/>
            </a:pPr>
            <a:r>
              <a:rPr dirty="0" sz="3600" lang="en-US" smtClean="0"/>
              <a:t> Presence of fetal heart sounds  and whether normal or abnormal.</a:t>
            </a:r>
          </a:p>
        </p:txBody>
      </p:sp>
      <p:sp>
        <p:nvSpPr>
          <p:cNvPr id="104908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851" name=""/>
        <p:cNvGrpSpPr/>
        <p:nvPr/>
      </p:nvGrpSpPr>
      <p:grpSpPr>
        <a:xfrm>
          <a:off x="0" y="0"/>
          <a:ext cx="0" cy="0"/>
          <a:chOff x="0" y="0"/>
          <a:chExt cx="0" cy="0"/>
        </a:xfrm>
      </p:grpSpPr>
      <p:sp>
        <p:nvSpPr>
          <p:cNvPr id="1049081" name="Content Placeholder 2"/>
          <p:cNvSpPr>
            <a:spLocks noGrp="1"/>
          </p:cNvSpPr>
          <p:nvPr>
            <p:ph idx="1"/>
          </p:nvPr>
        </p:nvSpPr>
        <p:spPr>
          <a:xfrm>
            <a:off x="571500" y="457208"/>
            <a:ext cx="10287000" cy="5550091"/>
          </a:xfrm>
        </p:spPr>
        <p:txBody>
          <a:bodyPr/>
          <a:p>
            <a:r>
              <a:rPr dirty="0" sz="3600" lang="en-US" smtClean="0"/>
              <a:t> Administer prescribed treatment &amp; evaluate effectiveness.</a:t>
            </a:r>
          </a:p>
          <a:p>
            <a:r>
              <a:rPr dirty="0" sz="3600" lang="en-US" smtClean="0"/>
              <a:t> Prepare for the quickest mode of delivery despite fate of the fetus.</a:t>
            </a:r>
          </a:p>
          <a:p>
            <a:r>
              <a:rPr dirty="0" sz="3600" lang="en-US" smtClean="0"/>
              <a:t> Provision of emotional support to relatives.</a:t>
            </a:r>
          </a:p>
          <a:p>
            <a:endParaRPr dirty="0" sz="3600" lang="en-US" smtClean="0"/>
          </a:p>
        </p:txBody>
      </p:sp>
      <p:sp>
        <p:nvSpPr>
          <p:cNvPr id="104908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852" name=""/>
        <p:cNvGrpSpPr/>
        <p:nvPr/>
      </p:nvGrpSpPr>
      <p:grpSpPr>
        <a:xfrm>
          <a:off x="0" y="0"/>
          <a:ext cx="0" cy="0"/>
          <a:chOff x="0" y="0"/>
          <a:chExt cx="0" cy="0"/>
        </a:xfrm>
      </p:grpSpPr>
      <p:sp>
        <p:nvSpPr>
          <p:cNvPr id="1049083" name="Content Placeholder 2"/>
          <p:cNvSpPr>
            <a:spLocks noGrp="1"/>
          </p:cNvSpPr>
          <p:nvPr>
            <p:ph idx="1"/>
          </p:nvPr>
        </p:nvSpPr>
        <p:spPr>
          <a:xfrm>
            <a:off x="381000" y="1676400"/>
            <a:ext cx="10668000" cy="4648200"/>
          </a:xfrm>
        </p:spPr>
        <p:txBody>
          <a:bodyPr/>
          <a:p>
            <a:pPr>
              <a:buFont typeface="Wingdings" pitchFamily="2" charset="2"/>
              <a:buChar char="v"/>
            </a:pPr>
            <a:r>
              <a:rPr dirty="0" sz="3600" lang="en-US" smtClean="0"/>
              <a:t>Eclampsia is an acute obstetrical emergency and delivery is the part of the cure.</a:t>
            </a:r>
          </a:p>
          <a:p>
            <a:pPr>
              <a:buNone/>
            </a:pPr>
            <a:r>
              <a:rPr b="1" dirty="0" sz="3600" lang="en-US" smtClean="0">
                <a:solidFill>
                  <a:srgbClr val="A51B87"/>
                </a:solidFill>
              </a:rPr>
              <a:t>		OBJECTIVES</a:t>
            </a:r>
            <a:endParaRPr b="1" dirty="0" sz="3600" i="1" lang="en-US" smtClean="0">
              <a:solidFill>
                <a:srgbClr val="A51B87"/>
              </a:solidFill>
            </a:endParaRPr>
          </a:p>
          <a:p>
            <a:r>
              <a:rPr dirty="0" sz="3600" lang="en-US" smtClean="0"/>
              <a:t> Prevent further convulsions (fits)</a:t>
            </a:r>
          </a:p>
          <a:p>
            <a:r>
              <a:rPr dirty="0" sz="3600" lang="en-US" smtClean="0"/>
              <a:t> Prevent maternal death.</a:t>
            </a:r>
          </a:p>
          <a:p>
            <a:r>
              <a:rPr dirty="0" sz="3600" lang="en-US" smtClean="0"/>
              <a:t> Prevent fetal death to some extent.</a:t>
            </a:r>
          </a:p>
          <a:p>
            <a:endParaRPr dirty="0" lang="en-US" smtClean="0"/>
          </a:p>
          <a:p>
            <a:endParaRPr dirty="0" lang="en-US" smtClean="0"/>
          </a:p>
          <a:p>
            <a:endParaRPr dirty="0" lang="en-US"/>
          </a:p>
        </p:txBody>
      </p:sp>
      <p:sp>
        <p:nvSpPr>
          <p:cNvPr id="1049084" name="Title 1"/>
          <p:cNvSpPr>
            <a:spLocks noGrp="1"/>
          </p:cNvSpPr>
          <p:nvPr>
            <p:ph type="title"/>
          </p:nvPr>
        </p:nvSpPr>
        <p:spPr/>
        <p:txBody>
          <a:bodyPr/>
          <a:p>
            <a:r>
              <a:rPr b="1" dirty="0" lang="en-US" smtClean="0">
                <a:solidFill>
                  <a:srgbClr val="A51B87"/>
                </a:solidFill>
              </a:rPr>
              <a:t>SPECIFIC MANAGEMENT</a:t>
            </a:r>
            <a:endParaRPr dirty="0" lang="en-US"/>
          </a:p>
        </p:txBody>
      </p:sp>
      <p:sp>
        <p:nvSpPr>
          <p:cNvPr id="104908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853" name=""/>
        <p:cNvGrpSpPr/>
        <p:nvPr/>
      </p:nvGrpSpPr>
      <p:grpSpPr>
        <a:xfrm>
          <a:off x="0" y="0"/>
          <a:ext cx="0" cy="0"/>
          <a:chOff x="0" y="0"/>
          <a:chExt cx="0" cy="0"/>
        </a:xfrm>
      </p:grpSpPr>
      <p:sp>
        <p:nvSpPr>
          <p:cNvPr id="1049086" name="Content Placeholder 2"/>
          <p:cNvSpPr>
            <a:spLocks noGrp="1"/>
          </p:cNvSpPr>
          <p:nvPr>
            <p:ph idx="1"/>
          </p:nvPr>
        </p:nvSpPr>
        <p:spPr>
          <a:xfrm>
            <a:off x="381000" y="685800"/>
            <a:ext cx="10477500" cy="5867400"/>
          </a:xfrm>
        </p:spPr>
        <p:txBody>
          <a:bodyPr>
            <a:normAutofit/>
          </a:bodyPr>
          <a:p>
            <a:pPr>
              <a:buNone/>
            </a:pPr>
            <a:r>
              <a:rPr b="1" dirty="0" sz="2800" lang="en-US" smtClean="0">
                <a:solidFill>
                  <a:srgbClr val="E917A3"/>
                </a:solidFill>
              </a:rPr>
              <a:t>    </a:t>
            </a:r>
            <a:r>
              <a:rPr b="1" dirty="0" sz="2800" lang="en-US" smtClean="0">
                <a:solidFill>
                  <a:srgbClr val="7030A0"/>
                </a:solidFill>
              </a:rPr>
              <a:t>DURING FIT &amp; IMMEDIETELY AFTER</a:t>
            </a:r>
          </a:p>
          <a:p>
            <a:r>
              <a:rPr dirty="0" sz="2800" lang="en-US" smtClean="0"/>
              <a:t>Before teeth are clenched, insert a padded spatula or tongue depressor to prevent injury to the tongue and blockage of the airway.</a:t>
            </a:r>
          </a:p>
          <a:p>
            <a:r>
              <a:rPr dirty="0" sz="2800" lang="en-US" smtClean="0"/>
              <a:t>Get assistance and inform the doctor </a:t>
            </a:r>
            <a:r>
              <a:rPr dirty="0" sz="2800" lang="en-US" err="1" smtClean="0"/>
              <a:t>immeditely</a:t>
            </a:r>
            <a:r>
              <a:rPr dirty="0" sz="2800" lang="en-US" smtClean="0"/>
              <a:t>.</a:t>
            </a:r>
          </a:p>
          <a:p>
            <a:r>
              <a:rPr dirty="0" sz="2800" lang="en-US" smtClean="0"/>
              <a:t>During the fit, ensure that the patient cannot fall off the bed but don’t refrain the convulsive movements.</a:t>
            </a:r>
          </a:p>
          <a:p>
            <a:pPr>
              <a:buNone/>
            </a:pPr>
            <a:r>
              <a:rPr dirty="0" sz="2800" lang="en-US" smtClean="0"/>
              <a:t> </a:t>
            </a:r>
            <a:endParaRPr b="1" dirty="0" sz="2800" i="1" lang="en-US" smtClean="0"/>
          </a:p>
        </p:txBody>
      </p:sp>
      <p:sp>
        <p:nvSpPr>
          <p:cNvPr id="104908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854" name=""/>
        <p:cNvGrpSpPr/>
        <p:nvPr/>
      </p:nvGrpSpPr>
      <p:grpSpPr>
        <a:xfrm>
          <a:off x="0" y="0"/>
          <a:ext cx="0" cy="0"/>
          <a:chOff x="0" y="0"/>
          <a:chExt cx="0" cy="0"/>
        </a:xfrm>
      </p:grpSpPr>
      <p:sp>
        <p:nvSpPr>
          <p:cNvPr id="1049088" name="Content Placeholder 2"/>
          <p:cNvSpPr>
            <a:spLocks noGrp="1"/>
          </p:cNvSpPr>
          <p:nvPr>
            <p:ph idx="1"/>
          </p:nvPr>
        </p:nvSpPr>
        <p:spPr>
          <a:xfrm>
            <a:off x="285750" y="381000"/>
            <a:ext cx="10287000" cy="5715000"/>
          </a:xfrm>
        </p:spPr>
        <p:txBody>
          <a:bodyPr>
            <a:normAutofit/>
          </a:bodyPr>
          <a:p>
            <a:pPr>
              <a:buFont typeface="Wingdings" pitchFamily="2" charset="2"/>
              <a:buChar char="v"/>
            </a:pPr>
            <a:r>
              <a:rPr dirty="0" sz="3200" lang="en-US" smtClean="0"/>
              <a:t>Soon after:-</a:t>
            </a:r>
          </a:p>
          <a:p>
            <a:r>
              <a:rPr dirty="0" sz="3200" lang="en-US" smtClean="0"/>
              <a:t>clear airway through:-</a:t>
            </a:r>
          </a:p>
          <a:p>
            <a:pPr>
              <a:buFont typeface="Wingdings" pitchFamily="2" charset="2"/>
              <a:buChar char="ü"/>
            </a:pPr>
            <a:r>
              <a:rPr dirty="0" sz="3200" lang="en-US" smtClean="0"/>
              <a:t>Positioning in semi prone, to facilitate mucous and saliva drainage.</a:t>
            </a:r>
          </a:p>
          <a:p>
            <a:pPr>
              <a:buFont typeface="Wingdings" pitchFamily="2" charset="2"/>
              <a:buChar char="ü"/>
            </a:pPr>
            <a:r>
              <a:rPr dirty="0" sz="3200" lang="en-US" smtClean="0"/>
              <a:t>Loosen or remove tight </a:t>
            </a:r>
            <a:r>
              <a:rPr dirty="0" sz="3200" lang="en-US" err="1" smtClean="0"/>
              <a:t>clothings</a:t>
            </a:r>
            <a:r>
              <a:rPr dirty="0" sz="3200" lang="en-US" smtClean="0"/>
              <a:t> around the neck.</a:t>
            </a:r>
          </a:p>
          <a:p>
            <a:pPr>
              <a:buFont typeface="Wingdings" pitchFamily="2" charset="2"/>
              <a:buChar char="ü"/>
            </a:pPr>
            <a:r>
              <a:rPr dirty="0" sz="3200" lang="en-US" smtClean="0"/>
              <a:t>Suctioning the secretions.</a:t>
            </a:r>
          </a:p>
          <a:p>
            <a:endParaRPr dirty="0" sz="3200" lang="en-US" smtClean="0"/>
          </a:p>
          <a:p>
            <a:endParaRPr dirty="0" sz="3200" lang="en-US"/>
          </a:p>
        </p:txBody>
      </p:sp>
      <p:sp>
        <p:nvSpPr>
          <p:cNvPr id="104908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855" name=""/>
        <p:cNvGrpSpPr/>
        <p:nvPr/>
      </p:nvGrpSpPr>
      <p:grpSpPr>
        <a:xfrm>
          <a:off x="0" y="0"/>
          <a:ext cx="0" cy="0"/>
          <a:chOff x="0" y="0"/>
          <a:chExt cx="0" cy="0"/>
        </a:xfrm>
      </p:grpSpPr>
      <p:sp>
        <p:nvSpPr>
          <p:cNvPr id="1049090" name="Content Placeholder 2"/>
          <p:cNvSpPr>
            <a:spLocks noGrp="1"/>
          </p:cNvSpPr>
          <p:nvPr>
            <p:ph idx="1"/>
          </p:nvPr>
        </p:nvSpPr>
        <p:spPr>
          <a:xfrm>
            <a:off x="285751" y="304800"/>
            <a:ext cx="10953750" cy="6324600"/>
          </a:xfrm>
        </p:spPr>
        <p:txBody>
          <a:bodyPr>
            <a:normAutofit/>
          </a:bodyPr>
          <a:p>
            <a:r>
              <a:rPr dirty="0" sz="3200" lang="en-US" smtClean="0"/>
              <a:t>Insert an artificial airway, if necessary and administer oxygen.</a:t>
            </a:r>
          </a:p>
          <a:p>
            <a:pPr>
              <a:buFont typeface="Wingdings" pitchFamily="2" charset="2"/>
              <a:buChar char="v"/>
            </a:pPr>
            <a:r>
              <a:rPr b="1" dirty="0" sz="3200" lang="en-US" smtClean="0"/>
              <a:t>Drugs administer:</a:t>
            </a:r>
          </a:p>
          <a:p>
            <a:r>
              <a:rPr dirty="0" sz="3200" lang="en-US" smtClean="0"/>
              <a:t> Anticonvulsant e.g. loading dose magnesium sulphate 4 gm </a:t>
            </a:r>
            <a:r>
              <a:rPr dirty="0" sz="3200" lang="en-US" err="1" smtClean="0"/>
              <a:t>i.v</a:t>
            </a:r>
            <a:r>
              <a:rPr dirty="0" sz="3200" lang="en-US" smtClean="0"/>
              <a:t> slowly for 10-15 minutes.</a:t>
            </a:r>
          </a:p>
          <a:p>
            <a:pPr>
              <a:buFont typeface="Wingdings" pitchFamily="2" charset="2"/>
              <a:buChar char="ü"/>
            </a:pPr>
            <a:r>
              <a:rPr dirty="0" sz="3200" lang="en-US" smtClean="0"/>
              <a:t> Then  maintenance dose of magnesium sulphate 5g  in ½  </a:t>
            </a:r>
            <a:r>
              <a:rPr dirty="0" sz="3200" lang="en-US" err="1" smtClean="0"/>
              <a:t>litre</a:t>
            </a:r>
            <a:r>
              <a:rPr dirty="0" sz="3200" lang="en-US" smtClean="0"/>
              <a:t> of  </a:t>
            </a:r>
            <a:r>
              <a:rPr dirty="0" sz="3200" lang="en-US" err="1" smtClean="0"/>
              <a:t>hartmans</a:t>
            </a:r>
            <a:r>
              <a:rPr dirty="0" sz="3200" lang="en-US" smtClean="0"/>
              <a:t> solution or normal saline, at a rate of 1-2g/hr every 8 hourly for 24 hours to control the fits.</a:t>
            </a:r>
          </a:p>
        </p:txBody>
      </p:sp>
      <p:sp>
        <p:nvSpPr>
          <p:cNvPr id="104909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856" name=""/>
        <p:cNvGrpSpPr/>
        <p:nvPr/>
      </p:nvGrpSpPr>
      <p:grpSpPr>
        <a:xfrm>
          <a:off x="0" y="0"/>
          <a:ext cx="0" cy="0"/>
          <a:chOff x="0" y="0"/>
          <a:chExt cx="0" cy="0"/>
        </a:xfrm>
      </p:grpSpPr>
      <p:sp>
        <p:nvSpPr>
          <p:cNvPr id="1049092" name="Content Placeholder 2"/>
          <p:cNvSpPr>
            <a:spLocks noGrp="1"/>
          </p:cNvSpPr>
          <p:nvPr>
            <p:ph idx="1"/>
          </p:nvPr>
        </p:nvSpPr>
        <p:spPr>
          <a:xfrm>
            <a:off x="285750" y="381000"/>
            <a:ext cx="10287000" cy="5943600"/>
          </a:xfrm>
        </p:spPr>
        <p:txBody>
          <a:bodyPr>
            <a:normAutofit/>
          </a:bodyPr>
          <a:p>
            <a:pPr>
              <a:buFont typeface="Wingdings" pitchFamily="2" charset="2"/>
              <a:buChar char="ü"/>
            </a:pPr>
            <a:r>
              <a:rPr dirty="0" sz="2800" lang="en-US" smtClean="0"/>
              <a:t>This drug has a vasodilatation effect hence controls cerebral </a:t>
            </a:r>
            <a:r>
              <a:rPr dirty="0" sz="2800" lang="en-US" err="1" smtClean="0"/>
              <a:t>ischaemia</a:t>
            </a:r>
            <a:r>
              <a:rPr dirty="0" sz="2800" lang="en-US" smtClean="0"/>
              <a:t> and </a:t>
            </a:r>
            <a:r>
              <a:rPr dirty="0" sz="2800" lang="en-US" err="1" smtClean="0"/>
              <a:t>oedema</a:t>
            </a:r>
            <a:r>
              <a:rPr dirty="0" sz="2800" lang="en-US" smtClean="0"/>
              <a:t>.</a:t>
            </a:r>
          </a:p>
          <a:p>
            <a:pPr>
              <a:buFont typeface="Wingdings" pitchFamily="2" charset="2"/>
              <a:buChar char="v"/>
            </a:pPr>
            <a:r>
              <a:rPr dirty="0" sz="2800" lang="en-US" smtClean="0"/>
              <a:t>Unavailable then administer:</a:t>
            </a:r>
          </a:p>
          <a:p>
            <a:r>
              <a:rPr dirty="0" sz="2800" lang="en-US" smtClean="0"/>
              <a:t> valium 10-20mgs </a:t>
            </a:r>
            <a:r>
              <a:rPr dirty="0" sz="2800" lang="en-US" err="1" smtClean="0"/>
              <a:t>i.v</a:t>
            </a:r>
            <a:r>
              <a:rPr dirty="0" sz="2800" lang="en-US" smtClean="0"/>
              <a:t> stat, followed by valium drip.</a:t>
            </a:r>
          </a:p>
          <a:p>
            <a:pPr>
              <a:buNone/>
            </a:pPr>
            <a:r>
              <a:rPr b="1" dirty="0" sz="2800" lang="en-US" smtClean="0"/>
              <a:t> </a:t>
            </a:r>
            <a:r>
              <a:rPr b="1" dirty="0" sz="2800" lang="en-US" smtClean="0">
                <a:solidFill>
                  <a:schemeClr val="tx2"/>
                </a:solidFill>
              </a:rPr>
              <a:t>NB</a:t>
            </a:r>
            <a:r>
              <a:rPr dirty="0" sz="2800" lang="en-US" smtClean="0"/>
              <a:t>:</a:t>
            </a:r>
            <a:r>
              <a:rPr dirty="0" sz="2800" lang="en-US" smtClean="0">
                <a:solidFill>
                  <a:schemeClr val="accent3">
                    <a:lumMod val="25000"/>
                  </a:schemeClr>
                </a:solidFill>
              </a:rPr>
              <a:t>Monitor for mgso4 toxic effect.</a:t>
            </a:r>
          </a:p>
          <a:p>
            <a:r>
              <a:rPr dirty="0" sz="2800" lang="en-US" smtClean="0"/>
              <a:t>Short acting </a:t>
            </a:r>
            <a:r>
              <a:rPr dirty="0" sz="2800" lang="en-US" err="1" smtClean="0"/>
              <a:t>antihypertensive,e.g</a:t>
            </a:r>
            <a:r>
              <a:rPr dirty="0" sz="2800" lang="en-US" smtClean="0"/>
              <a:t>. </a:t>
            </a:r>
            <a:r>
              <a:rPr dirty="0" sz="2800" lang="en-US" err="1" smtClean="0"/>
              <a:t>hydrallazine</a:t>
            </a:r>
            <a:r>
              <a:rPr dirty="0" sz="2800" lang="en-US" smtClean="0"/>
              <a:t> 10mg 1m stat.</a:t>
            </a:r>
          </a:p>
          <a:p>
            <a:pPr>
              <a:buNone/>
            </a:pPr>
            <a:endParaRPr dirty="0" sz="2800" lang="en-US" smtClean="0"/>
          </a:p>
          <a:p>
            <a:endParaRPr dirty="0" sz="2800" lang="en-US" smtClean="0"/>
          </a:p>
          <a:p>
            <a:endParaRPr dirty="0" sz="2800" lang="en-US"/>
          </a:p>
        </p:txBody>
      </p:sp>
      <p:sp>
        <p:nvSpPr>
          <p:cNvPr id="104909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857" name=""/>
        <p:cNvGrpSpPr/>
        <p:nvPr/>
      </p:nvGrpSpPr>
      <p:grpSpPr>
        <a:xfrm>
          <a:off x="0" y="0"/>
          <a:ext cx="0" cy="0"/>
          <a:chOff x="0" y="0"/>
          <a:chExt cx="0" cy="0"/>
        </a:xfrm>
      </p:grpSpPr>
      <p:sp>
        <p:nvSpPr>
          <p:cNvPr id="1049094" name="Content Placeholder 2"/>
          <p:cNvSpPr>
            <a:spLocks noGrp="1"/>
          </p:cNvSpPr>
          <p:nvPr>
            <p:ph idx="1"/>
          </p:nvPr>
        </p:nvSpPr>
        <p:spPr>
          <a:xfrm>
            <a:off x="381000" y="457200"/>
            <a:ext cx="10477500" cy="5867400"/>
          </a:xfrm>
        </p:spPr>
        <p:txBody>
          <a:bodyPr>
            <a:normAutofit/>
          </a:bodyPr>
          <a:p>
            <a:r>
              <a:rPr dirty="0" sz="2800" lang="en-US" err="1" smtClean="0"/>
              <a:t>Monitor:fetal</a:t>
            </a:r>
            <a:r>
              <a:rPr dirty="0" sz="2800" lang="en-US" smtClean="0"/>
              <a:t> heart sound every 1/4hrly.</a:t>
            </a:r>
          </a:p>
          <a:p>
            <a:r>
              <a:rPr dirty="0" sz="2800" lang="en-US" smtClean="0"/>
              <a:t>Vital signs 1/2hrly particularly BP and respiration because mgso4 lower the respiratory rate to less than 16 A/M.</a:t>
            </a:r>
          </a:p>
          <a:p>
            <a:r>
              <a:rPr dirty="0" sz="2800" lang="en-US" smtClean="0"/>
              <a:t>Urinary output , it should be at least 30ml/hour.</a:t>
            </a:r>
          </a:p>
          <a:p>
            <a:pPr>
              <a:buFont typeface="Wingdings" pitchFamily="2" charset="2"/>
              <a:buChar char="ü"/>
            </a:pPr>
            <a:r>
              <a:rPr dirty="0" sz="2800" lang="en-US" smtClean="0"/>
              <a:t> </a:t>
            </a:r>
            <a:r>
              <a:rPr dirty="0" sz="2800" lang="en-US" err="1" smtClean="0"/>
              <a:t>Catheterise</a:t>
            </a:r>
            <a:r>
              <a:rPr dirty="0" sz="2800" lang="en-US" smtClean="0"/>
              <a:t> for accuracy and maintain fluid balance chart accurately.</a:t>
            </a:r>
          </a:p>
        </p:txBody>
      </p:sp>
      <p:sp>
        <p:nvSpPr>
          <p:cNvPr id="104909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858" name=""/>
        <p:cNvGrpSpPr/>
        <p:nvPr/>
      </p:nvGrpSpPr>
      <p:grpSpPr>
        <a:xfrm>
          <a:off x="0" y="0"/>
          <a:ext cx="0" cy="0"/>
          <a:chOff x="0" y="0"/>
          <a:chExt cx="0" cy="0"/>
        </a:xfrm>
      </p:grpSpPr>
      <p:sp>
        <p:nvSpPr>
          <p:cNvPr id="1049096" name="Content Placeholder 2"/>
          <p:cNvSpPr>
            <a:spLocks noGrp="1"/>
          </p:cNvSpPr>
          <p:nvPr>
            <p:ph idx="1"/>
          </p:nvPr>
        </p:nvSpPr>
        <p:spPr>
          <a:xfrm>
            <a:off x="476250" y="609600"/>
            <a:ext cx="10096500" cy="5791200"/>
          </a:xfrm>
        </p:spPr>
        <p:txBody>
          <a:bodyPr>
            <a:normAutofit/>
          </a:bodyPr>
          <a:p>
            <a:r>
              <a:rPr dirty="0" sz="2800" lang="en-US" smtClean="0"/>
              <a:t>monitor for presence of knee jerk i.e. patellar tendon reflex.</a:t>
            </a:r>
          </a:p>
          <a:p>
            <a:r>
              <a:rPr dirty="0" sz="2800" lang="en-US" smtClean="0"/>
              <a:t> prepare for emergency caesarean section through.</a:t>
            </a:r>
          </a:p>
          <a:p>
            <a:pPr>
              <a:buFont typeface="Wingdings" pitchFamily="2" charset="2"/>
              <a:buChar char="ü"/>
            </a:pPr>
            <a:r>
              <a:rPr dirty="0" sz="2800" lang="en-US" smtClean="0"/>
              <a:t>Obtaining consent from relative if not signed earlier.</a:t>
            </a:r>
          </a:p>
          <a:p>
            <a:pPr>
              <a:buFont typeface="Wingdings" pitchFamily="2" charset="2"/>
              <a:buChar char="ü"/>
            </a:pPr>
            <a:r>
              <a:rPr dirty="0" sz="2800" lang="en-US" smtClean="0"/>
              <a:t>Cross-match of blood.</a:t>
            </a:r>
          </a:p>
          <a:p>
            <a:pPr>
              <a:buFont typeface="Wingdings" pitchFamily="2" charset="2"/>
              <a:buChar char="ü"/>
            </a:pPr>
            <a:r>
              <a:rPr dirty="0" sz="2800" lang="en-US" smtClean="0"/>
              <a:t>Skin preparation.</a:t>
            </a:r>
          </a:p>
          <a:p>
            <a:endParaRPr dirty="0" sz="2800" lang="en-US" smtClean="0"/>
          </a:p>
          <a:p>
            <a:endParaRPr dirty="0" sz="2800" lang="en-US"/>
          </a:p>
        </p:txBody>
      </p:sp>
      <p:sp>
        <p:nvSpPr>
          <p:cNvPr id="104909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859" name=""/>
        <p:cNvGrpSpPr/>
        <p:nvPr/>
      </p:nvGrpSpPr>
      <p:grpSpPr>
        <a:xfrm>
          <a:off x="0" y="0"/>
          <a:ext cx="0" cy="0"/>
          <a:chOff x="0" y="0"/>
          <a:chExt cx="0" cy="0"/>
        </a:xfrm>
      </p:grpSpPr>
      <p:sp>
        <p:nvSpPr>
          <p:cNvPr id="1049098" name="Content Placeholder 2"/>
          <p:cNvSpPr>
            <a:spLocks noGrp="1"/>
          </p:cNvSpPr>
          <p:nvPr>
            <p:ph idx="1"/>
          </p:nvPr>
        </p:nvSpPr>
        <p:spPr>
          <a:xfrm>
            <a:off x="381000" y="609600"/>
            <a:ext cx="10191750" cy="5715000"/>
          </a:xfrm>
        </p:spPr>
        <p:txBody>
          <a:bodyPr>
            <a:normAutofit/>
          </a:bodyPr>
          <a:p>
            <a:r>
              <a:rPr dirty="0" sz="3600" lang="en-US" smtClean="0"/>
              <a:t>Inform theatre staff and </a:t>
            </a:r>
            <a:r>
              <a:rPr dirty="0" sz="3600" lang="en-US" err="1" smtClean="0"/>
              <a:t>anaesthetist</a:t>
            </a:r>
            <a:r>
              <a:rPr dirty="0" sz="3600" lang="en-US" smtClean="0"/>
              <a:t>.</a:t>
            </a:r>
          </a:p>
          <a:p>
            <a:r>
              <a:rPr dirty="0" sz="3600" lang="en-US" smtClean="0"/>
              <a:t> If fetus is alive, prepare to receive an asphyxiated baby and inform NBU to be ready for the reception and continuity of care.</a:t>
            </a:r>
          </a:p>
          <a:p>
            <a:r>
              <a:rPr dirty="0" sz="3600" lang="en-US" smtClean="0"/>
              <a:t>Complete the check-list, change to theatre attires and wheel to theatre with completed notes.</a:t>
            </a:r>
          </a:p>
          <a:p>
            <a:endParaRPr dirty="0" sz="3600" lang="en-US"/>
          </a:p>
        </p:txBody>
      </p:sp>
      <p:sp>
        <p:nvSpPr>
          <p:cNvPr id="104909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860" name=""/>
        <p:cNvGrpSpPr/>
        <p:nvPr/>
      </p:nvGrpSpPr>
      <p:grpSpPr>
        <a:xfrm>
          <a:off x="0" y="0"/>
          <a:ext cx="0" cy="0"/>
          <a:chOff x="0" y="0"/>
          <a:chExt cx="0" cy="0"/>
        </a:xfrm>
      </p:grpSpPr>
      <p:sp>
        <p:nvSpPr>
          <p:cNvPr id="1049100" name="Content Placeholder 2"/>
          <p:cNvSpPr>
            <a:spLocks noGrp="1"/>
          </p:cNvSpPr>
          <p:nvPr>
            <p:ph idx="1"/>
          </p:nvPr>
        </p:nvSpPr>
        <p:spPr>
          <a:xfrm>
            <a:off x="381000" y="457200"/>
            <a:ext cx="10191750" cy="5943600"/>
          </a:xfrm>
        </p:spPr>
        <p:txBody>
          <a:bodyPr>
            <a:normAutofit/>
          </a:bodyPr>
          <a:p>
            <a:pPr>
              <a:buNone/>
            </a:pPr>
            <a:r>
              <a:rPr dirty="0" sz="2800" i="1" lang="en-US" smtClean="0"/>
              <a:t>	</a:t>
            </a:r>
            <a:r>
              <a:rPr b="1" dirty="0" sz="2800" lang="en-US" u="sng" smtClean="0"/>
              <a:t>SUBSEQUENTLY</a:t>
            </a:r>
          </a:p>
          <a:p>
            <a:pPr>
              <a:buNone/>
            </a:pPr>
            <a:r>
              <a:rPr dirty="0" sz="2800" lang="en-US" smtClean="0"/>
              <a:t>	Refers to post-operation care.</a:t>
            </a:r>
          </a:p>
          <a:p>
            <a:r>
              <a:rPr dirty="0" sz="2800" lang="en-US" smtClean="0"/>
              <a:t>Ensure she is conscious though may be drowsy.</a:t>
            </a:r>
          </a:p>
          <a:p>
            <a:r>
              <a:rPr dirty="0" sz="2800" lang="en-US" smtClean="0"/>
              <a:t>Nurse in a quiet area, preferably dim lit to facilitate rest hence control of  condition.</a:t>
            </a:r>
          </a:p>
          <a:p>
            <a:r>
              <a:rPr dirty="0" sz="2800" lang="en-US" smtClean="0"/>
              <a:t>Maintain intensive care for at least 48hrs.</a:t>
            </a:r>
          </a:p>
          <a:p>
            <a:endParaRPr dirty="0" sz="2800" lang="en-US"/>
          </a:p>
        </p:txBody>
      </p:sp>
      <p:sp>
        <p:nvSpPr>
          <p:cNvPr id="104910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861" name=""/>
        <p:cNvGrpSpPr/>
        <p:nvPr/>
      </p:nvGrpSpPr>
      <p:grpSpPr>
        <a:xfrm>
          <a:off x="0" y="0"/>
          <a:ext cx="0" cy="0"/>
          <a:chOff x="0" y="0"/>
          <a:chExt cx="0" cy="0"/>
        </a:xfrm>
      </p:grpSpPr>
      <p:sp>
        <p:nvSpPr>
          <p:cNvPr id="1049102" name="Content Placeholder 2"/>
          <p:cNvSpPr>
            <a:spLocks noGrp="1"/>
          </p:cNvSpPr>
          <p:nvPr>
            <p:ph idx="1"/>
          </p:nvPr>
        </p:nvSpPr>
        <p:spPr>
          <a:xfrm>
            <a:off x="381000" y="609608"/>
            <a:ext cx="10477500" cy="5397691"/>
          </a:xfrm>
        </p:spPr>
        <p:txBody>
          <a:bodyPr>
            <a:normAutofit/>
          </a:bodyPr>
          <a:p>
            <a:r>
              <a:rPr dirty="0" sz="3200" lang="en-US" smtClean="0"/>
              <a:t>A midwife should be by the bedside for the first 6-12hrs monitoring:-</a:t>
            </a:r>
          </a:p>
          <a:p>
            <a:pPr>
              <a:buFont typeface="Wingdings" pitchFamily="2" charset="2"/>
              <a:buChar char="ü"/>
            </a:pPr>
            <a:r>
              <a:rPr dirty="0" sz="3200" lang="en-US" smtClean="0"/>
              <a:t>Blood pressure pulse and respiration every ½ hrly  for 24hrs and temperature 4 hourly.</a:t>
            </a:r>
          </a:p>
          <a:p>
            <a:pPr>
              <a:buFont typeface="Wingdings" pitchFamily="2" charset="2"/>
              <a:buChar char="ü"/>
            </a:pPr>
            <a:r>
              <a:rPr dirty="0" sz="3200" lang="en-US" smtClean="0"/>
              <a:t>Urinary output and test urine for protenuria and acetone hourly.</a:t>
            </a:r>
          </a:p>
          <a:p>
            <a:pPr>
              <a:buFont typeface="Wingdings" pitchFamily="2" charset="2"/>
              <a:buChar char="ü"/>
            </a:pPr>
            <a:r>
              <a:rPr dirty="0" sz="3200" lang="en-US" smtClean="0"/>
              <a:t>Convulsions, for </a:t>
            </a:r>
            <a:r>
              <a:rPr dirty="0" sz="3200" lang="en-US" err="1" smtClean="0"/>
              <a:t>frequency,dwelling</a:t>
            </a:r>
            <a:r>
              <a:rPr dirty="0" sz="3200" lang="en-US" smtClean="0"/>
              <a:t> period &amp;  associated trauma.</a:t>
            </a:r>
          </a:p>
          <a:p>
            <a:endParaRPr dirty="0" sz="3200" lang="en-US"/>
          </a:p>
        </p:txBody>
      </p:sp>
      <p:sp>
        <p:nvSpPr>
          <p:cNvPr id="104910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862" name=""/>
        <p:cNvGrpSpPr/>
        <p:nvPr/>
      </p:nvGrpSpPr>
      <p:grpSpPr>
        <a:xfrm>
          <a:off x="0" y="0"/>
          <a:ext cx="0" cy="0"/>
          <a:chOff x="0" y="0"/>
          <a:chExt cx="0" cy="0"/>
        </a:xfrm>
      </p:grpSpPr>
      <p:sp>
        <p:nvSpPr>
          <p:cNvPr id="1049104" name="Content Placeholder 2"/>
          <p:cNvSpPr>
            <a:spLocks noGrp="1"/>
          </p:cNvSpPr>
          <p:nvPr>
            <p:ph idx="1"/>
          </p:nvPr>
        </p:nvSpPr>
        <p:spPr>
          <a:xfrm>
            <a:off x="476250" y="457200"/>
            <a:ext cx="10668000" cy="6248400"/>
          </a:xfrm>
        </p:spPr>
        <p:txBody>
          <a:bodyPr>
            <a:normAutofit/>
          </a:bodyPr>
          <a:p>
            <a:pPr>
              <a:buFont typeface="Wingdings" pitchFamily="2" charset="2"/>
              <a:buChar char="ü"/>
            </a:pPr>
            <a:r>
              <a:rPr dirty="0" sz="3200" lang="en-US" smtClean="0"/>
              <a:t>Excessive bleeding, per vagina &amp; from op site.</a:t>
            </a:r>
          </a:p>
          <a:p>
            <a:pPr>
              <a:buFont typeface="Wingdings" pitchFamily="2" charset="2"/>
              <a:buChar char="ü"/>
            </a:pPr>
            <a:r>
              <a:rPr dirty="0" sz="3200" lang="en-US" smtClean="0"/>
              <a:t>For cyanosis, administer oxygen appropriately.</a:t>
            </a:r>
          </a:p>
          <a:p>
            <a:r>
              <a:rPr dirty="0" sz="3200" lang="en-US" smtClean="0"/>
              <a:t>Monitoring the drips correctly, may have magnesium sulphate drip to control convulsions.</a:t>
            </a:r>
          </a:p>
          <a:p>
            <a:pPr>
              <a:buFont typeface="Wingdings" pitchFamily="2" charset="2"/>
              <a:buChar char="ü"/>
            </a:pPr>
            <a:r>
              <a:rPr dirty="0" sz="3200" lang="en-US" smtClean="0"/>
              <a:t> 5% dextrose drip for </a:t>
            </a:r>
            <a:r>
              <a:rPr dirty="0" sz="3200" lang="en-US" err="1" smtClean="0"/>
              <a:t>hydration,since</a:t>
            </a:r>
            <a:r>
              <a:rPr dirty="0" sz="3200" lang="en-US" smtClean="0"/>
              <a:t> she is nil orally.</a:t>
            </a:r>
          </a:p>
          <a:p>
            <a:r>
              <a:rPr dirty="0" sz="3200" lang="en-US" smtClean="0"/>
              <a:t>Diastolic pressure is maintained at a range of 90-100 </a:t>
            </a:r>
            <a:r>
              <a:rPr dirty="0" sz="3200" lang="en-US" err="1" smtClean="0"/>
              <a:t>mmhg</a:t>
            </a:r>
            <a:r>
              <a:rPr dirty="0" sz="3200" lang="en-US" smtClean="0"/>
              <a:t> for good prognosis.</a:t>
            </a:r>
          </a:p>
          <a:p>
            <a:pPr>
              <a:buFont typeface="Wingdings" pitchFamily="2" charset="2"/>
              <a:buChar char="ü"/>
            </a:pPr>
            <a:endParaRPr dirty="0" sz="3200" lang="en-US"/>
          </a:p>
        </p:txBody>
      </p:sp>
      <p:sp>
        <p:nvSpPr>
          <p:cNvPr id="104910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863" name=""/>
        <p:cNvGrpSpPr/>
        <p:nvPr/>
      </p:nvGrpSpPr>
      <p:grpSpPr>
        <a:xfrm>
          <a:off x="0" y="0"/>
          <a:ext cx="0" cy="0"/>
          <a:chOff x="0" y="0"/>
          <a:chExt cx="0" cy="0"/>
        </a:xfrm>
      </p:grpSpPr>
      <p:sp>
        <p:nvSpPr>
          <p:cNvPr id="1049106" name="Content Placeholder 2"/>
          <p:cNvSpPr>
            <a:spLocks noGrp="1"/>
          </p:cNvSpPr>
          <p:nvPr>
            <p:ph idx="1"/>
          </p:nvPr>
        </p:nvSpPr>
        <p:spPr>
          <a:xfrm>
            <a:off x="190501" y="304800"/>
            <a:ext cx="10858500" cy="6096000"/>
          </a:xfrm>
        </p:spPr>
        <p:txBody>
          <a:bodyPr>
            <a:normAutofit/>
          </a:bodyPr>
          <a:p>
            <a:pPr>
              <a:buNone/>
            </a:pPr>
            <a:r>
              <a:rPr dirty="0" sz="3200" lang="en-US" smtClean="0"/>
              <a:t>	</a:t>
            </a:r>
            <a:r>
              <a:rPr b="1" dirty="0" sz="3200" lang="en-US" smtClean="0"/>
              <a:t>Drugs:</a:t>
            </a:r>
          </a:p>
          <a:p>
            <a:r>
              <a:rPr dirty="0" sz="3200" lang="en-US" smtClean="0"/>
              <a:t>Analgesics e.g. pethidine 100mg 8 hourly×24hrs to facilitate rest.</a:t>
            </a:r>
          </a:p>
          <a:p>
            <a:r>
              <a:rPr dirty="0" sz="3200" lang="en-US" smtClean="0"/>
              <a:t>Antibiotics prophylaxis e.g. injection </a:t>
            </a:r>
            <a:r>
              <a:rPr dirty="0" sz="3200" lang="en-US" err="1" smtClean="0"/>
              <a:t>ampicillin</a:t>
            </a:r>
            <a:r>
              <a:rPr dirty="0" sz="3200" lang="en-US" smtClean="0"/>
              <a:t> 500mg 6 hourly &amp; </a:t>
            </a:r>
            <a:r>
              <a:rPr dirty="0" sz="3200" lang="en-US" err="1" smtClean="0"/>
              <a:t>Gentamycin</a:t>
            </a:r>
            <a:r>
              <a:rPr dirty="0" sz="3200" lang="en-US" smtClean="0"/>
              <a:t> 80mg 8 hourly I.V.</a:t>
            </a:r>
          </a:p>
          <a:p>
            <a:r>
              <a:rPr dirty="0" sz="3200" lang="en-US" smtClean="0"/>
              <a:t>CT. MgSo4 treatment for the 1</a:t>
            </a:r>
            <a:r>
              <a:rPr baseline="30000" dirty="0" sz="3200" lang="en-US" smtClean="0"/>
              <a:t>st</a:t>
            </a:r>
            <a:r>
              <a:rPr dirty="0" sz="3200" lang="en-US" smtClean="0"/>
              <a:t> 24hrs to prevent occurrence of a fit.</a:t>
            </a:r>
          </a:p>
          <a:p>
            <a:r>
              <a:rPr dirty="0" sz="3200" lang="en-US" err="1" smtClean="0"/>
              <a:t>Apresoline</a:t>
            </a:r>
            <a:r>
              <a:rPr dirty="0" sz="3200" lang="en-US" smtClean="0"/>
              <a:t>/ </a:t>
            </a:r>
            <a:r>
              <a:rPr dirty="0" sz="3200" lang="en-US" err="1" smtClean="0"/>
              <a:t>hydrallazine</a:t>
            </a:r>
            <a:r>
              <a:rPr dirty="0" sz="3200" lang="en-US" smtClean="0"/>
              <a:t> 10mg  12 hourly IM.</a:t>
            </a:r>
          </a:p>
          <a:p>
            <a:endParaRPr dirty="0" sz="3200" lang="en-US"/>
          </a:p>
        </p:txBody>
      </p:sp>
      <p:sp>
        <p:nvSpPr>
          <p:cNvPr id="104910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864" name=""/>
        <p:cNvGrpSpPr/>
        <p:nvPr/>
      </p:nvGrpSpPr>
      <p:grpSpPr>
        <a:xfrm>
          <a:off x="0" y="0"/>
          <a:ext cx="0" cy="0"/>
          <a:chOff x="0" y="0"/>
          <a:chExt cx="0" cy="0"/>
        </a:xfrm>
      </p:grpSpPr>
      <p:sp>
        <p:nvSpPr>
          <p:cNvPr id="1049108" name="Content Placeholder 2"/>
          <p:cNvSpPr>
            <a:spLocks noGrp="1"/>
          </p:cNvSpPr>
          <p:nvPr>
            <p:ph idx="1"/>
          </p:nvPr>
        </p:nvSpPr>
        <p:spPr>
          <a:xfrm>
            <a:off x="381000" y="609600"/>
            <a:ext cx="10477500" cy="5791200"/>
          </a:xfrm>
        </p:spPr>
        <p:txBody>
          <a:bodyPr>
            <a:normAutofit/>
          </a:bodyPr>
          <a:p>
            <a:r>
              <a:rPr dirty="0" sz="3200" lang="en-US" smtClean="0"/>
              <a:t>As condition improves i.e. BP diastolic ranges 90-100mmhg for 24 hours, </a:t>
            </a:r>
            <a:r>
              <a:rPr dirty="0" sz="3200" lang="en-US" err="1" smtClean="0"/>
              <a:t>oedema</a:t>
            </a:r>
            <a:r>
              <a:rPr dirty="0" sz="3200" lang="en-US" smtClean="0"/>
              <a:t> has subsided and </a:t>
            </a:r>
            <a:r>
              <a:rPr dirty="0" sz="3200" lang="en-US" err="1" smtClean="0"/>
              <a:t>proteinuria</a:t>
            </a:r>
            <a:r>
              <a:rPr dirty="0" sz="3200" lang="en-US" smtClean="0"/>
              <a:t> greatly reduced, drips are stopped.</a:t>
            </a:r>
          </a:p>
          <a:p>
            <a:r>
              <a:rPr dirty="0" sz="3200" lang="en-US" smtClean="0"/>
              <a:t>Since bowel sounds are present:</a:t>
            </a:r>
          </a:p>
          <a:p>
            <a:pPr>
              <a:buFont typeface="Wingdings" pitchFamily="2" charset="2"/>
              <a:buChar char="ü"/>
            </a:pPr>
            <a:r>
              <a:rPr dirty="0" sz="3200" lang="en-US" smtClean="0"/>
              <a:t>Change treatment (drugs) to orally.</a:t>
            </a:r>
          </a:p>
          <a:p>
            <a:pPr>
              <a:buFont typeface="Wingdings" pitchFamily="2" charset="2"/>
              <a:buChar char="ü"/>
            </a:pPr>
            <a:r>
              <a:rPr dirty="0" sz="3200" lang="en-US" smtClean="0"/>
              <a:t>Encourage oral feeding gradually but restrict salt intake.</a:t>
            </a:r>
          </a:p>
          <a:p>
            <a:endParaRPr dirty="0" sz="3200" lang="en-US"/>
          </a:p>
        </p:txBody>
      </p:sp>
      <p:sp>
        <p:nvSpPr>
          <p:cNvPr id="104910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865" name=""/>
        <p:cNvGrpSpPr/>
        <p:nvPr/>
      </p:nvGrpSpPr>
      <p:grpSpPr>
        <a:xfrm>
          <a:off x="0" y="0"/>
          <a:ext cx="0" cy="0"/>
          <a:chOff x="0" y="0"/>
          <a:chExt cx="0" cy="0"/>
        </a:xfrm>
      </p:grpSpPr>
      <p:sp>
        <p:nvSpPr>
          <p:cNvPr id="1049110" name="Content Placeholder 2"/>
          <p:cNvSpPr>
            <a:spLocks noGrp="1"/>
          </p:cNvSpPr>
          <p:nvPr>
            <p:ph idx="1"/>
          </p:nvPr>
        </p:nvSpPr>
        <p:spPr>
          <a:xfrm>
            <a:off x="381000" y="457200"/>
            <a:ext cx="10763250" cy="5638800"/>
          </a:xfrm>
        </p:spPr>
        <p:txBody>
          <a:bodyPr>
            <a:normAutofit/>
          </a:bodyPr>
          <a:p>
            <a:r>
              <a:rPr dirty="0" sz="3200" lang="en-US" smtClean="0"/>
              <a:t>Encourage baby care and breastfeeding if appropriate.</a:t>
            </a:r>
          </a:p>
          <a:p>
            <a:r>
              <a:rPr dirty="0" sz="3200" lang="en-US" smtClean="0"/>
              <a:t>Offer psychological support to mother and relatives, because the whole experience is frightening.</a:t>
            </a:r>
          </a:p>
          <a:p>
            <a:pPr>
              <a:buFont typeface="Wingdings" pitchFamily="2" charset="2"/>
              <a:buChar char="ü"/>
            </a:pPr>
            <a:r>
              <a:rPr dirty="0" sz="3200" lang="en-US" smtClean="0"/>
              <a:t>This also ensures quick recovery. </a:t>
            </a:r>
          </a:p>
          <a:p>
            <a:pPr>
              <a:buFont typeface="Wingdings" pitchFamily="2" charset="2"/>
              <a:buChar char="ü"/>
            </a:pPr>
            <a:r>
              <a:rPr dirty="0" sz="3200" lang="en-US" smtClean="0"/>
              <a:t>At the same time helps them to cope with the loss in case of still birth.</a:t>
            </a:r>
          </a:p>
        </p:txBody>
      </p:sp>
      <p:sp>
        <p:nvSpPr>
          <p:cNvPr id="104911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866" name=""/>
        <p:cNvGrpSpPr/>
        <p:nvPr/>
      </p:nvGrpSpPr>
      <p:grpSpPr>
        <a:xfrm>
          <a:off x="0" y="0"/>
          <a:ext cx="0" cy="0"/>
          <a:chOff x="0" y="0"/>
          <a:chExt cx="0" cy="0"/>
        </a:xfrm>
      </p:grpSpPr>
      <p:sp>
        <p:nvSpPr>
          <p:cNvPr id="1049112" name="Content Placeholder 2"/>
          <p:cNvSpPr>
            <a:spLocks noGrp="1"/>
          </p:cNvSpPr>
          <p:nvPr>
            <p:ph idx="1"/>
          </p:nvPr>
        </p:nvSpPr>
        <p:spPr>
          <a:xfrm>
            <a:off x="381000" y="838200"/>
            <a:ext cx="10191750" cy="5638800"/>
          </a:xfrm>
        </p:spPr>
        <p:txBody>
          <a:bodyPr>
            <a:normAutofit/>
          </a:bodyPr>
          <a:p>
            <a:r>
              <a:rPr dirty="0" sz="3200" lang="en-US" smtClean="0"/>
              <a:t>Evaluate the effectiveness of the treatment daily.</a:t>
            </a:r>
          </a:p>
          <a:p>
            <a:r>
              <a:rPr dirty="0" sz="3200" lang="en-US" smtClean="0"/>
              <a:t>Monitor the operation site for the sign of infection and maintain high standards of hygiene.</a:t>
            </a:r>
          </a:p>
          <a:p>
            <a:r>
              <a:rPr dirty="0" sz="3200" lang="en-US" smtClean="0"/>
              <a:t> Finally prepare for discharge through sharing on:</a:t>
            </a:r>
          </a:p>
          <a:p>
            <a:pPr>
              <a:buFont typeface="Wingdings" pitchFamily="2" charset="2"/>
              <a:buChar char="ü"/>
            </a:pPr>
            <a:r>
              <a:rPr dirty="0" sz="3200" lang="en-US" smtClean="0"/>
              <a:t>Diet, hygiene and need for rest.</a:t>
            </a:r>
          </a:p>
          <a:p>
            <a:endParaRPr dirty="0" sz="3200" lang="en-US" smtClean="0"/>
          </a:p>
        </p:txBody>
      </p:sp>
      <p:sp>
        <p:nvSpPr>
          <p:cNvPr id="104911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867" name=""/>
        <p:cNvGrpSpPr/>
        <p:nvPr/>
      </p:nvGrpSpPr>
      <p:grpSpPr>
        <a:xfrm>
          <a:off x="0" y="0"/>
          <a:ext cx="0" cy="0"/>
          <a:chOff x="0" y="0"/>
          <a:chExt cx="0" cy="0"/>
        </a:xfrm>
      </p:grpSpPr>
      <p:sp>
        <p:nvSpPr>
          <p:cNvPr id="1049114" name="Content Placeholder 2"/>
          <p:cNvSpPr>
            <a:spLocks noGrp="1"/>
          </p:cNvSpPr>
          <p:nvPr>
            <p:ph idx="1"/>
          </p:nvPr>
        </p:nvSpPr>
        <p:spPr>
          <a:xfrm>
            <a:off x="0" y="533400"/>
            <a:ext cx="11144250" cy="6096000"/>
          </a:xfrm>
        </p:spPr>
        <p:txBody>
          <a:bodyPr>
            <a:normAutofit/>
          </a:bodyPr>
          <a:p>
            <a:pPr>
              <a:buFont typeface="Wingdings" pitchFamily="2" charset="2"/>
              <a:buChar char="ü"/>
            </a:pPr>
            <a:r>
              <a:rPr dirty="0" sz="3200" lang="en-US" smtClean="0"/>
              <a:t>Close monitoring of BP and urinalysis at least 2 weekly for 2 months and to maintain records. Thereafter frequency depends on the previous findings.</a:t>
            </a:r>
          </a:p>
          <a:p>
            <a:pPr>
              <a:buFont typeface="Wingdings" pitchFamily="2" charset="2"/>
              <a:buChar char="ü"/>
            </a:pPr>
            <a:r>
              <a:rPr dirty="0" sz="3200" lang="en-US" smtClean="0"/>
              <a:t>Follow up in MCH/FP clinic, medical clinic for BP &amp; cardiac evaluation. Obstetric clinic, at least ones.</a:t>
            </a:r>
          </a:p>
          <a:p>
            <a:pPr>
              <a:buFont typeface="Wingdings" pitchFamily="2" charset="2"/>
              <a:buChar char="ü"/>
            </a:pPr>
            <a:r>
              <a:rPr dirty="0" sz="3200" lang="en-US" smtClean="0"/>
              <a:t>Early antenatal booking and hospital delivery in future.</a:t>
            </a:r>
          </a:p>
          <a:p>
            <a:pPr>
              <a:buFont typeface="Wingdings" pitchFamily="2" charset="2"/>
              <a:buChar char="ü"/>
            </a:pPr>
            <a:endParaRPr dirty="0" sz="3200" lang="en-US"/>
          </a:p>
        </p:txBody>
      </p:sp>
      <p:sp>
        <p:nvSpPr>
          <p:cNvPr id="104911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868" name=""/>
        <p:cNvGrpSpPr/>
        <p:nvPr/>
      </p:nvGrpSpPr>
      <p:grpSpPr>
        <a:xfrm>
          <a:off x="0" y="0"/>
          <a:ext cx="0" cy="0"/>
          <a:chOff x="0" y="0"/>
          <a:chExt cx="0" cy="0"/>
        </a:xfrm>
      </p:grpSpPr>
      <p:sp>
        <p:nvSpPr>
          <p:cNvPr id="1049116" name="Content Placeholder 2"/>
          <p:cNvSpPr>
            <a:spLocks noGrp="1"/>
          </p:cNvSpPr>
          <p:nvPr>
            <p:ph idx="1"/>
          </p:nvPr>
        </p:nvSpPr>
        <p:spPr>
          <a:xfrm>
            <a:off x="190500" y="1219200"/>
            <a:ext cx="11049000" cy="5334000"/>
          </a:xfrm>
        </p:spPr>
        <p:txBody>
          <a:bodyPr>
            <a:normAutofit/>
          </a:bodyPr>
          <a:p>
            <a:r>
              <a:rPr dirty="0" sz="3200" lang="en-US" smtClean="0"/>
              <a:t>Intra-uterine fetal death, due to severe placental dysfunction.</a:t>
            </a:r>
          </a:p>
          <a:p>
            <a:pPr lvl="0"/>
            <a:r>
              <a:rPr dirty="0" sz="3200" lang="en-US" smtClean="0"/>
              <a:t>Severe asphyxia due to  fetal hypoxia, particularly during the fits.</a:t>
            </a:r>
          </a:p>
          <a:p>
            <a:pPr lvl="0"/>
            <a:r>
              <a:rPr dirty="0" sz="3200" lang="en-US" smtClean="0"/>
              <a:t>Acute renal failure, due to  prolonged    </a:t>
            </a:r>
            <a:r>
              <a:rPr dirty="0" sz="3200" lang="en-US" err="1" smtClean="0"/>
              <a:t>vasconstriction</a:t>
            </a:r>
            <a:r>
              <a:rPr dirty="0" sz="3200" lang="en-US" smtClean="0"/>
              <a:t>.</a:t>
            </a:r>
          </a:p>
          <a:p>
            <a:pPr lvl="0"/>
            <a:r>
              <a:rPr dirty="0" sz="3200" lang="en-US" smtClean="0"/>
              <a:t>Pneumonia , because of pulmonary </a:t>
            </a:r>
            <a:r>
              <a:rPr dirty="0" sz="3200" lang="en-US" err="1" smtClean="0"/>
              <a:t>oedema</a:t>
            </a:r>
            <a:r>
              <a:rPr dirty="0" sz="3200" lang="en-US" smtClean="0"/>
              <a:t>.</a:t>
            </a:r>
          </a:p>
          <a:p>
            <a:endParaRPr dirty="0" sz="3200" lang="en-US"/>
          </a:p>
        </p:txBody>
      </p:sp>
      <p:sp>
        <p:nvSpPr>
          <p:cNvPr id="1049117" name="Title 1"/>
          <p:cNvSpPr>
            <a:spLocks noGrp="1"/>
          </p:cNvSpPr>
          <p:nvPr>
            <p:ph type="title"/>
          </p:nvPr>
        </p:nvSpPr>
        <p:spPr/>
        <p:txBody>
          <a:bodyPr/>
          <a:p>
            <a:r>
              <a:rPr b="1" dirty="0" lang="en-US" smtClean="0">
                <a:solidFill>
                  <a:srgbClr val="E917A3"/>
                </a:solidFill>
              </a:rPr>
              <a:t>COMPLICATIONS</a:t>
            </a:r>
            <a:endParaRPr dirty="0" lang="en-US"/>
          </a:p>
        </p:txBody>
      </p:sp>
      <p:sp>
        <p:nvSpPr>
          <p:cNvPr id="104911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869" name=""/>
        <p:cNvGrpSpPr/>
        <p:nvPr/>
      </p:nvGrpSpPr>
      <p:grpSpPr>
        <a:xfrm>
          <a:off x="0" y="0"/>
          <a:ext cx="0" cy="0"/>
          <a:chOff x="0" y="0"/>
          <a:chExt cx="0" cy="0"/>
        </a:xfrm>
      </p:grpSpPr>
      <p:sp>
        <p:nvSpPr>
          <p:cNvPr id="1049119" name="Content Placeholder 2"/>
          <p:cNvSpPr>
            <a:spLocks noGrp="1"/>
          </p:cNvSpPr>
          <p:nvPr>
            <p:ph idx="1"/>
          </p:nvPr>
        </p:nvSpPr>
        <p:spPr>
          <a:xfrm>
            <a:off x="476250" y="457200"/>
            <a:ext cx="10477500" cy="5867400"/>
          </a:xfrm>
        </p:spPr>
        <p:txBody>
          <a:bodyPr>
            <a:normAutofit/>
          </a:bodyPr>
          <a:p>
            <a:pPr lvl="0"/>
            <a:r>
              <a:rPr dirty="0" sz="3600" lang="en-US" smtClean="0"/>
              <a:t>Cerebral haemorrhage which leads to stroke (brain attack) or C.V.A , as vasoconstriction leads to bursting of some cerebral vessels.</a:t>
            </a:r>
          </a:p>
          <a:p>
            <a:pPr lvl="0"/>
            <a:r>
              <a:rPr dirty="0" sz="3600" lang="en-US" smtClean="0"/>
              <a:t>Fracture and soft tissue injuries , sustained during convulsions (fits) where the fits are refrained or mother falls off and tongue trauma.</a:t>
            </a:r>
          </a:p>
          <a:p>
            <a:endParaRPr dirty="0" lang="en-US"/>
          </a:p>
        </p:txBody>
      </p:sp>
      <p:sp>
        <p:nvSpPr>
          <p:cNvPr id="104912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870" name=""/>
        <p:cNvGrpSpPr/>
        <p:nvPr/>
      </p:nvGrpSpPr>
      <p:grpSpPr>
        <a:xfrm>
          <a:off x="0" y="0"/>
          <a:ext cx="0" cy="0"/>
          <a:chOff x="0" y="0"/>
          <a:chExt cx="0" cy="0"/>
        </a:xfrm>
      </p:grpSpPr>
      <p:sp>
        <p:nvSpPr>
          <p:cNvPr id="1049121" name="Content Placeholder 2"/>
          <p:cNvSpPr>
            <a:spLocks noGrp="1"/>
          </p:cNvSpPr>
          <p:nvPr>
            <p:ph idx="1"/>
          </p:nvPr>
        </p:nvSpPr>
        <p:spPr>
          <a:xfrm>
            <a:off x="571500" y="533400"/>
            <a:ext cx="10477500" cy="5715000"/>
          </a:xfrm>
        </p:spPr>
        <p:txBody>
          <a:bodyPr/>
          <a:p>
            <a:pPr lvl="0"/>
            <a:r>
              <a:rPr dirty="0" sz="3600" lang="en-US" smtClean="0"/>
              <a:t>Due to Myocardial infarction, pulmonary  </a:t>
            </a:r>
            <a:r>
              <a:rPr dirty="0" sz="3600" lang="en-US" err="1" smtClean="0"/>
              <a:t>oedema</a:t>
            </a:r>
            <a:r>
              <a:rPr dirty="0" sz="3600" lang="en-US" smtClean="0"/>
              <a:t>, liver necrosis and HTN may lead to severe complications.</a:t>
            </a:r>
          </a:p>
          <a:p>
            <a:pPr lvl="0"/>
            <a:r>
              <a:rPr dirty="0" sz="3600" lang="en-US" smtClean="0"/>
              <a:t>Amnesia for sometimes due to affect of the brain by the diseases process.</a:t>
            </a:r>
          </a:p>
          <a:p>
            <a:pPr lvl="0"/>
            <a:r>
              <a:rPr dirty="0" sz="3600" lang="en-US" smtClean="0"/>
              <a:t>Temporary blindness.</a:t>
            </a:r>
          </a:p>
          <a:p>
            <a:endParaRPr dirty="0" sz="3600" lang="en-US"/>
          </a:p>
        </p:txBody>
      </p:sp>
      <p:sp>
        <p:nvSpPr>
          <p:cNvPr id="104912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871" name=""/>
        <p:cNvGrpSpPr/>
        <p:nvPr/>
      </p:nvGrpSpPr>
      <p:grpSpPr>
        <a:xfrm>
          <a:off x="0" y="0"/>
          <a:ext cx="0" cy="0"/>
          <a:chOff x="0" y="0"/>
          <a:chExt cx="0" cy="0"/>
        </a:xfrm>
      </p:grpSpPr>
      <p:sp>
        <p:nvSpPr>
          <p:cNvPr id="1049123" name="Content Placeholder 2"/>
          <p:cNvSpPr>
            <a:spLocks noGrp="1"/>
          </p:cNvSpPr>
          <p:nvPr>
            <p:ph idx="1"/>
          </p:nvPr>
        </p:nvSpPr>
        <p:spPr>
          <a:xfrm>
            <a:off x="381000" y="304800"/>
            <a:ext cx="10572750" cy="5791200"/>
          </a:xfrm>
        </p:spPr>
        <p:txBody>
          <a:bodyPr>
            <a:normAutofit/>
          </a:bodyPr>
          <a:p>
            <a:pPr lvl="0"/>
            <a:r>
              <a:rPr dirty="0" sz="3600" lang="en-US" smtClean="0"/>
              <a:t>Thrombosis because of poor venous return.</a:t>
            </a:r>
          </a:p>
          <a:p>
            <a:pPr>
              <a:buFont typeface="Wingdings" pitchFamily="2" charset="2"/>
              <a:buChar char="v"/>
            </a:pPr>
            <a:r>
              <a:rPr dirty="0" sz="3600" lang="en-US" smtClean="0"/>
              <a:t>Generally eclampsia is highly fatal where immediate and accurate interventions are not achieved promptly.</a:t>
            </a:r>
          </a:p>
          <a:p>
            <a:pPr>
              <a:buNone/>
            </a:pPr>
            <a:r>
              <a:rPr dirty="0" sz="3600" lang="en-US" smtClean="0">
                <a:solidFill>
                  <a:srgbClr val="0070C0"/>
                </a:solidFill>
              </a:rPr>
              <a:t>		</a:t>
            </a:r>
            <a:r>
              <a:rPr b="1" dirty="0" sz="3600" lang="en-US" u="sng" smtClean="0">
                <a:solidFill>
                  <a:srgbClr val="002060"/>
                </a:solidFill>
              </a:rPr>
              <a:t>SUMMARY -management</a:t>
            </a:r>
            <a:endParaRPr dirty="0" sz="3600" lang="en-US" smtClean="0">
              <a:solidFill>
                <a:srgbClr val="002060"/>
              </a:solidFill>
            </a:endParaRPr>
          </a:p>
          <a:p>
            <a:pPr>
              <a:buFont typeface="Wingdings" pitchFamily="2" charset="2"/>
              <a:buChar char="q"/>
            </a:pPr>
            <a:r>
              <a:rPr dirty="0" sz="3600" lang="en-US" smtClean="0">
                <a:solidFill>
                  <a:srgbClr val="002060"/>
                </a:solidFill>
              </a:rPr>
              <a:t>Ensure clear airways=  breathing to occur.</a:t>
            </a:r>
          </a:p>
          <a:p>
            <a:pPr>
              <a:buFont typeface="Wingdings" pitchFamily="2" charset="2"/>
              <a:buChar char="Ø"/>
            </a:pPr>
            <a:endParaRPr dirty="0" sz="3600" lang="en-US" smtClean="0">
              <a:solidFill>
                <a:srgbClr val="A51B87"/>
              </a:solidFill>
            </a:endParaRPr>
          </a:p>
          <a:p>
            <a:endParaRPr dirty="0" sz="3600" lang="en-US"/>
          </a:p>
        </p:txBody>
      </p:sp>
      <p:sp>
        <p:nvSpPr>
          <p:cNvPr id="104912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872" name=""/>
        <p:cNvGrpSpPr/>
        <p:nvPr/>
      </p:nvGrpSpPr>
      <p:grpSpPr>
        <a:xfrm>
          <a:off x="0" y="0"/>
          <a:ext cx="0" cy="0"/>
          <a:chOff x="0" y="0"/>
          <a:chExt cx="0" cy="0"/>
        </a:xfrm>
      </p:grpSpPr>
      <p:sp>
        <p:nvSpPr>
          <p:cNvPr id="1049125" name="Content Placeholder 2"/>
          <p:cNvSpPr>
            <a:spLocks noGrp="1"/>
          </p:cNvSpPr>
          <p:nvPr>
            <p:ph idx="1"/>
          </p:nvPr>
        </p:nvSpPr>
        <p:spPr>
          <a:xfrm>
            <a:off x="381000" y="533408"/>
            <a:ext cx="10477500" cy="5473891"/>
          </a:xfrm>
        </p:spPr>
        <p:txBody>
          <a:bodyPr>
            <a:normAutofit/>
          </a:bodyPr>
          <a:p>
            <a:pPr>
              <a:buFont typeface="Wingdings" pitchFamily="2" charset="2"/>
              <a:buChar char="Ø"/>
            </a:pPr>
            <a:r>
              <a:rPr dirty="0" sz="2800" lang="en-US" smtClean="0">
                <a:solidFill>
                  <a:srgbClr val="002060"/>
                </a:solidFill>
              </a:rPr>
              <a:t>Control fits.</a:t>
            </a:r>
          </a:p>
          <a:p>
            <a:pPr>
              <a:buFont typeface="Wingdings" pitchFamily="2" charset="2"/>
              <a:buChar char="Ø"/>
            </a:pPr>
            <a:r>
              <a:rPr dirty="0" sz="2800" lang="en-US" smtClean="0">
                <a:solidFill>
                  <a:srgbClr val="002060"/>
                </a:solidFill>
              </a:rPr>
              <a:t>Control hypertension.</a:t>
            </a:r>
          </a:p>
          <a:p>
            <a:pPr>
              <a:buFont typeface="Wingdings" pitchFamily="2" charset="2"/>
              <a:buChar char="Ø"/>
            </a:pPr>
            <a:r>
              <a:rPr dirty="0" sz="2800" lang="en-US" smtClean="0">
                <a:solidFill>
                  <a:srgbClr val="002060"/>
                </a:solidFill>
              </a:rPr>
              <a:t>General care , monitoring &amp; control of fluid balance.</a:t>
            </a:r>
          </a:p>
          <a:p>
            <a:pPr>
              <a:buFont typeface="Wingdings" pitchFamily="2" charset="2"/>
              <a:buChar char="Ø"/>
            </a:pPr>
            <a:r>
              <a:rPr dirty="0" sz="2800" lang="en-US" smtClean="0">
                <a:solidFill>
                  <a:srgbClr val="002060"/>
                </a:solidFill>
              </a:rPr>
              <a:t>Delivery.</a:t>
            </a:r>
          </a:p>
          <a:p>
            <a:pPr>
              <a:buFont typeface="Wingdings" pitchFamily="2" charset="2"/>
              <a:buChar char="Ø"/>
            </a:pPr>
            <a:r>
              <a:rPr dirty="0" sz="2800" lang="en-US" smtClean="0">
                <a:solidFill>
                  <a:srgbClr val="002060"/>
                </a:solidFill>
              </a:rPr>
              <a:t>Careful monitoring to prevent further fits &amp; identify complications.</a:t>
            </a:r>
          </a:p>
          <a:p>
            <a:pPr algn="ctr">
              <a:buNone/>
            </a:pPr>
            <a:r>
              <a:rPr b="1" dirty="0" sz="4800" lang="en-US" smtClean="0">
                <a:solidFill>
                  <a:srgbClr val="FF00FF"/>
                </a:solidFill>
              </a:rPr>
              <a:t>END</a:t>
            </a:r>
          </a:p>
          <a:p>
            <a:endParaRPr dirty="0" sz="2800" lang="en-US"/>
          </a:p>
        </p:txBody>
      </p:sp>
      <p:sp>
        <p:nvSpPr>
          <p:cNvPr id="104912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889" name=""/>
        <p:cNvGrpSpPr/>
        <p:nvPr/>
      </p:nvGrpSpPr>
      <p:grpSpPr>
        <a:xfrm>
          <a:off x="0" y="0"/>
          <a:ext cx="0" cy="0"/>
          <a:chOff x="0" y="0"/>
          <a:chExt cx="0" cy="0"/>
        </a:xfrm>
      </p:grpSpPr>
      <p:sp>
        <p:nvSpPr>
          <p:cNvPr id="1049137" name="Title 1"/>
          <p:cNvSpPr>
            <a:spLocks noGrp="1"/>
          </p:cNvSpPr>
          <p:nvPr>
            <p:ph type="ctrTitle"/>
          </p:nvPr>
        </p:nvSpPr>
        <p:spPr>
          <a:xfrm>
            <a:off x="762000" y="1219209"/>
            <a:ext cx="9715500" cy="1829761"/>
          </a:xfrm>
        </p:spPr>
        <p:txBody>
          <a:bodyPr>
            <a:normAutofit/>
          </a:bodyPr>
          <a:p>
            <a:pPr algn="ctr"/>
            <a:r>
              <a:rPr dirty="0" sz="6600" lang="en-US" smtClean="0">
                <a:solidFill>
                  <a:srgbClr val="00B0F0"/>
                </a:solidFill>
                <a:latin typeface="Algerian" pitchFamily="82" charset="0"/>
              </a:rPr>
              <a:t>POLYHYDRAMNIOUS</a:t>
            </a:r>
            <a:endParaRPr dirty="0" sz="6600" lang="en-US">
              <a:solidFill>
                <a:srgbClr val="00B0F0"/>
              </a:solidFill>
              <a:latin typeface="Algerian" pitchFamily="82" charset="0"/>
            </a:endParaRPr>
          </a:p>
        </p:txBody>
      </p:sp>
      <p:sp>
        <p:nvSpPr>
          <p:cNvPr id="1049138"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891" name=""/>
        <p:cNvGrpSpPr/>
        <p:nvPr/>
      </p:nvGrpSpPr>
      <p:grpSpPr>
        <a:xfrm>
          <a:off x="0" y="0"/>
          <a:ext cx="0" cy="0"/>
          <a:chOff x="0" y="0"/>
          <a:chExt cx="0" cy="0"/>
        </a:xfrm>
      </p:grpSpPr>
      <p:sp>
        <p:nvSpPr>
          <p:cNvPr id="1049144" name="Title 1"/>
          <p:cNvSpPr>
            <a:spLocks noGrp="1"/>
          </p:cNvSpPr>
          <p:nvPr>
            <p:ph type="title"/>
          </p:nvPr>
        </p:nvSpPr>
        <p:spPr/>
        <p:txBody>
          <a:bodyPr/>
          <a:p>
            <a:r>
              <a:rPr dirty="0" lang="en-US" smtClean="0"/>
              <a:t>       </a:t>
            </a:r>
            <a:r>
              <a:rPr b="1" dirty="0" lang="en-US" smtClean="0">
                <a:solidFill>
                  <a:srgbClr val="CC00CC"/>
                </a:solidFill>
              </a:rPr>
              <a:t>Objectives</a:t>
            </a:r>
            <a:endParaRPr b="1" dirty="0" lang="en-US">
              <a:solidFill>
                <a:srgbClr val="CC00CC"/>
              </a:solidFill>
            </a:endParaRPr>
          </a:p>
        </p:txBody>
      </p:sp>
      <p:sp>
        <p:nvSpPr>
          <p:cNvPr id="1049145" name="Content Placeholder 2"/>
          <p:cNvSpPr>
            <a:spLocks noGrp="1"/>
          </p:cNvSpPr>
          <p:nvPr>
            <p:ph idx="1"/>
          </p:nvPr>
        </p:nvSpPr>
        <p:spPr/>
        <p:txBody>
          <a:bodyPr>
            <a:normAutofit/>
          </a:bodyPr>
          <a:p>
            <a:pPr>
              <a:buNone/>
            </a:pPr>
            <a:r>
              <a:rPr dirty="0" sz="3200" lang="en-US" smtClean="0"/>
              <a:t>By the end of the lesson you will have learned  the:-</a:t>
            </a:r>
          </a:p>
          <a:p>
            <a:pPr>
              <a:buFont typeface="Wingdings" pitchFamily="2" charset="2"/>
              <a:buChar char="v"/>
            </a:pPr>
            <a:r>
              <a:rPr dirty="0" sz="3200" lang="en-US" smtClean="0"/>
              <a:t>Definition </a:t>
            </a:r>
          </a:p>
          <a:p>
            <a:pPr>
              <a:buFont typeface="Wingdings" pitchFamily="2" charset="2"/>
              <a:buChar char="v"/>
            </a:pPr>
            <a:r>
              <a:rPr dirty="0" sz="3200" lang="en-US" smtClean="0"/>
              <a:t>Types</a:t>
            </a:r>
          </a:p>
          <a:p>
            <a:pPr>
              <a:buFont typeface="Wingdings" pitchFamily="2" charset="2"/>
              <a:buChar char="v"/>
            </a:pPr>
            <a:r>
              <a:rPr dirty="0" sz="3200" lang="en-US" smtClean="0"/>
              <a:t>Causes</a:t>
            </a:r>
          </a:p>
          <a:p>
            <a:pPr>
              <a:buFont typeface="Wingdings" pitchFamily="2" charset="2"/>
              <a:buChar char="v"/>
            </a:pPr>
            <a:r>
              <a:rPr dirty="0" sz="3200" lang="en-US" smtClean="0"/>
              <a:t> Diagnostic factors</a:t>
            </a:r>
          </a:p>
          <a:p>
            <a:pPr>
              <a:buFont typeface="Wingdings" pitchFamily="2" charset="2"/>
              <a:buChar char="v"/>
            </a:pPr>
            <a:r>
              <a:rPr dirty="0" sz="3200" lang="en-US" smtClean="0"/>
              <a:t>Specific management</a:t>
            </a:r>
          </a:p>
          <a:p>
            <a:pPr>
              <a:buFont typeface="Wingdings" pitchFamily="2" charset="2"/>
              <a:buChar char="v"/>
            </a:pPr>
            <a:r>
              <a:rPr dirty="0" sz="3200" lang="en-US" smtClean="0"/>
              <a:t>Complications</a:t>
            </a:r>
            <a:endParaRPr dirty="0" sz="3200" lang="en-US"/>
          </a:p>
        </p:txBody>
      </p:sp>
      <p:sp>
        <p:nvSpPr>
          <p:cNvPr id="104914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892" name=""/>
        <p:cNvGrpSpPr/>
        <p:nvPr/>
      </p:nvGrpSpPr>
      <p:grpSpPr>
        <a:xfrm>
          <a:off x="0" y="0"/>
          <a:ext cx="0" cy="0"/>
          <a:chOff x="0" y="0"/>
          <a:chExt cx="0" cy="0"/>
        </a:xfrm>
      </p:grpSpPr>
      <p:sp>
        <p:nvSpPr>
          <p:cNvPr id="1049147" name="Title 1"/>
          <p:cNvSpPr>
            <a:spLocks noGrp="1"/>
          </p:cNvSpPr>
          <p:nvPr>
            <p:ph type="title"/>
          </p:nvPr>
        </p:nvSpPr>
        <p:spPr>
          <a:xfrm>
            <a:off x="952501" y="0"/>
            <a:ext cx="10096500" cy="838200"/>
          </a:xfrm>
        </p:spPr>
        <p:txBody>
          <a:bodyPr/>
          <a:p>
            <a:r>
              <a:rPr dirty="0" lang="en-US" smtClean="0"/>
              <a:t>HYDRAMNIOUS</a:t>
            </a:r>
            <a:endParaRPr dirty="0" lang="en-US"/>
          </a:p>
        </p:txBody>
      </p:sp>
      <p:pic>
        <p:nvPicPr>
          <p:cNvPr id="2097159" name="Picture 2"/>
          <p:cNvPicPr>
            <a:picLocks noChangeAspect="1" noGrp="1" noChangeArrowheads="1"/>
          </p:cNvPicPr>
          <p:nvPr>
            <p:ph idx="1"/>
          </p:nvPr>
        </p:nvPicPr>
        <p:blipFill>
          <a:blip xmlns:r="http://schemas.openxmlformats.org/officeDocument/2006/relationships" r:embed="rId1" cstate="print">
            <a:grayscl/>
          </a:blip>
          <a:stretch>
            <a:fillRect/>
          </a:stretch>
        </p:blipFill>
        <p:spPr bwMode="auto">
          <a:xfrm>
            <a:off x="952500" y="1219200"/>
            <a:ext cx="10191750" cy="5410200"/>
          </a:xfrm>
          <a:prstGeom prst="roundRect">
            <a:avLst>
              <a:gd name="adj" fmla="val 8594"/>
            </a:avLst>
          </a:prstGeom>
          <a:solidFill>
            <a:srgbClr val="FFFFFF">
              <a:shade val="85000"/>
            </a:srgbClr>
          </a:solidFill>
          <a:ln>
            <a:noFill/>
          </a:ln>
          <a:effectLst>
            <a:reflection algn="bl" blurRad="12700" dir="5400000" dist="5000" endPos="28000" rotWithShape="0" stA="38000" sy="-100000"/>
          </a:effectLst>
        </p:spPr>
      </p:pic>
      <p:sp>
        <p:nvSpPr>
          <p:cNvPr id="1049148"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89.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cstate="print"/>
          <a:srcRect/>
          <a:tile algn="tl" flip="none" sx="100000" sy="100000" tx="0" ty="0"/>
        </a:blipFill>
      </p:bgPr>
    </p:bg>
    <p:spTree>
      <p:nvGrpSpPr>
        <p:cNvPr id="893" name=""/>
        <p:cNvGrpSpPr/>
        <p:nvPr/>
      </p:nvGrpSpPr>
      <p:grpSpPr>
        <a:xfrm>
          <a:off x="0" y="0"/>
          <a:ext cx="0" cy="0"/>
          <a:chOff x="0" y="0"/>
          <a:chExt cx="0" cy="0"/>
        </a:xfrm>
      </p:grpSpPr>
      <p:sp>
        <p:nvSpPr>
          <p:cNvPr id="1049149" name="Title 1"/>
          <p:cNvSpPr>
            <a:spLocks noGrp="1"/>
          </p:cNvSpPr>
          <p:nvPr>
            <p:ph type="title"/>
          </p:nvPr>
        </p:nvSpPr>
        <p:spPr>
          <a:xfrm>
            <a:off x="952501" y="0"/>
            <a:ext cx="10096500" cy="838200"/>
          </a:xfrm>
        </p:spPr>
        <p:txBody>
          <a:bodyPr/>
          <a:p>
            <a:r>
              <a:rPr b="1" dirty="0" lang="en-US" smtClean="0">
                <a:solidFill>
                  <a:srgbClr val="CC00CC"/>
                </a:solidFill>
              </a:rPr>
              <a:t>       DEFINITION</a:t>
            </a:r>
            <a:endParaRPr dirty="0" lang="en-US"/>
          </a:p>
        </p:txBody>
      </p:sp>
      <p:sp>
        <p:nvSpPr>
          <p:cNvPr id="1049150" name="Content Placeholder 2"/>
          <p:cNvSpPr>
            <a:spLocks noGrp="1"/>
          </p:cNvSpPr>
          <p:nvPr>
            <p:ph idx="1"/>
          </p:nvPr>
        </p:nvSpPr>
        <p:spPr>
          <a:xfrm>
            <a:off x="666750" y="838200"/>
            <a:ext cx="10191750" cy="5257800"/>
          </a:xfrm>
        </p:spPr>
        <p:txBody>
          <a:bodyPr>
            <a:noAutofit/>
          </a:bodyPr>
          <a:p>
            <a:r>
              <a:rPr dirty="0" sz="3600" lang="en-US" smtClean="0"/>
              <a:t>It’s a pregnancy induced condition characterized by </a:t>
            </a:r>
            <a:r>
              <a:rPr b="1" dirty="0" sz="3600" lang="en-US" smtClean="0"/>
              <a:t>excess</a:t>
            </a:r>
            <a:r>
              <a:rPr dirty="0" sz="3600" lang="en-US" smtClean="0"/>
              <a:t> amount of liquor amnii (amniotic fluid) to more than 1500ml, based on ultrasound scanning.</a:t>
            </a:r>
          </a:p>
          <a:p>
            <a:pPr>
              <a:buNone/>
            </a:pPr>
            <a:r>
              <a:rPr dirty="0" sz="3600" lang="en-US" smtClean="0"/>
              <a:t>		</a:t>
            </a:r>
            <a:r>
              <a:rPr b="1" dirty="0" sz="3600" lang="en-US" smtClean="0"/>
              <a:t>NB</a:t>
            </a:r>
          </a:p>
          <a:p>
            <a:pPr>
              <a:buFont typeface="Wingdings" pitchFamily="2" charset="2"/>
              <a:buChar char="Ø"/>
            </a:pPr>
            <a:r>
              <a:rPr dirty="0" sz="3600" lang="en-US" smtClean="0"/>
              <a:t>Clinical diagnosis is only possible where the amount is </a:t>
            </a:r>
            <a:r>
              <a:rPr b="1" dirty="0" sz="3600" lang="en-US" smtClean="0"/>
              <a:t>at least 3000 ml.</a:t>
            </a:r>
          </a:p>
        </p:txBody>
      </p:sp>
      <p:sp>
        <p:nvSpPr>
          <p:cNvPr id="104915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0.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cstate="print"/>
          <a:srcRect/>
          <a:tile algn="tl" flip="none" sx="100000" sy="100000" tx="0" ty="0"/>
        </a:blipFill>
      </p:bgPr>
    </p:bg>
    <p:spTree>
      <p:nvGrpSpPr>
        <p:cNvPr id="894" name=""/>
        <p:cNvGrpSpPr/>
        <p:nvPr/>
      </p:nvGrpSpPr>
      <p:grpSpPr>
        <a:xfrm>
          <a:off x="0" y="0"/>
          <a:ext cx="0" cy="0"/>
          <a:chOff x="0" y="0"/>
          <a:chExt cx="0" cy="0"/>
        </a:xfrm>
      </p:grpSpPr>
      <p:sp>
        <p:nvSpPr>
          <p:cNvPr id="1049152" name="Title 1"/>
          <p:cNvSpPr>
            <a:spLocks noGrp="1"/>
          </p:cNvSpPr>
          <p:nvPr>
            <p:ph type="title"/>
          </p:nvPr>
        </p:nvSpPr>
        <p:spPr>
          <a:xfrm>
            <a:off x="952501" y="0"/>
            <a:ext cx="10096500" cy="1412632"/>
          </a:xfrm>
        </p:spPr>
        <p:txBody>
          <a:bodyPr/>
          <a:p>
            <a:r>
              <a:rPr dirty="0" lang="en-US" smtClean="0"/>
              <a:t>		</a:t>
            </a:r>
            <a:r>
              <a:rPr b="1" dirty="0" lang="en-US" smtClean="0">
                <a:solidFill>
                  <a:srgbClr val="CC00CC"/>
                </a:solidFill>
              </a:rPr>
              <a:t> TYPES</a:t>
            </a:r>
            <a:endParaRPr dirty="0" lang="en-US"/>
          </a:p>
        </p:txBody>
      </p:sp>
      <p:sp>
        <p:nvSpPr>
          <p:cNvPr id="1049153" name="Content Placeholder 2"/>
          <p:cNvSpPr>
            <a:spLocks noGrp="1"/>
          </p:cNvSpPr>
          <p:nvPr>
            <p:ph idx="1"/>
          </p:nvPr>
        </p:nvSpPr>
        <p:spPr>
          <a:xfrm>
            <a:off x="914399" y="1143000"/>
            <a:ext cx="10229851" cy="5410200"/>
          </a:xfrm>
        </p:spPr>
        <p:txBody>
          <a:bodyPr>
            <a:noAutofit/>
          </a:bodyPr>
          <a:p>
            <a:pPr algn="just">
              <a:buFont typeface="Wingdings" pitchFamily="2" charset="2"/>
              <a:buChar char="v"/>
            </a:pPr>
            <a:r>
              <a:rPr dirty="0" sz="3200" lang="en-US" smtClean="0"/>
              <a:t>Are 2 based on the rate of fluid accumulation.</a:t>
            </a:r>
          </a:p>
          <a:p>
            <a:pPr algn="just"/>
            <a:r>
              <a:rPr b="1" dirty="0" sz="3200" lang="en-US" smtClean="0"/>
              <a:t>Chronic : </a:t>
            </a:r>
            <a:r>
              <a:rPr dirty="0" sz="3200" lang="en-US" smtClean="0"/>
              <a:t>Commonest and diagnosis is made as from 30 weeks whereby the onset is </a:t>
            </a:r>
            <a:r>
              <a:rPr b="1" dirty="0" sz="3200" lang="en-US" smtClean="0"/>
              <a:t>gradual</a:t>
            </a:r>
            <a:r>
              <a:rPr dirty="0" sz="3200" lang="en-US" smtClean="0"/>
              <a:t>.</a:t>
            </a:r>
          </a:p>
          <a:p>
            <a:pPr algn="just"/>
            <a:r>
              <a:rPr b="1" dirty="0" sz="3200" lang="en-US" smtClean="0"/>
              <a:t>Acute: </a:t>
            </a:r>
            <a:r>
              <a:rPr dirty="0" sz="3200" lang="en-US" smtClean="0"/>
              <a:t>Usually , onset is as from 20 weeks (</a:t>
            </a:r>
            <a:r>
              <a:rPr dirty="0" sz="3200" lang="en-US" err="1" smtClean="0"/>
              <a:t>fundus</a:t>
            </a:r>
            <a:r>
              <a:rPr dirty="0" sz="3200" lang="en-US" smtClean="0"/>
              <a:t> is 2 fingers below the umbilicus).</a:t>
            </a:r>
          </a:p>
          <a:p>
            <a:pPr algn="just">
              <a:buFont typeface="Wingdings" pitchFamily="2" charset="2"/>
              <a:buChar char="Ø"/>
            </a:pPr>
            <a:r>
              <a:rPr dirty="0" sz="3200" lang="en-US" smtClean="0"/>
              <a:t>Fluid builds up </a:t>
            </a:r>
            <a:r>
              <a:rPr b="1" dirty="0" sz="3200" lang="en-US" smtClean="0"/>
              <a:t>suddenly</a:t>
            </a:r>
            <a:r>
              <a:rPr dirty="0" sz="3200" lang="en-US" smtClean="0"/>
              <a:t>, such that within a period of 3-4 days , fundal height is at the highest level.</a:t>
            </a:r>
          </a:p>
          <a:p>
            <a:pPr algn="just">
              <a:buFont typeface="Wingdings" pitchFamily="2" charset="2"/>
              <a:buChar char="Ø"/>
            </a:pPr>
            <a:r>
              <a:rPr dirty="0" sz="3200" lang="en-US" smtClean="0"/>
              <a:t>Fortunately it’s very rare.</a:t>
            </a:r>
            <a:endParaRPr dirty="0" sz="3200" lang="en-US"/>
          </a:p>
        </p:txBody>
      </p:sp>
      <p:sp>
        <p:nvSpPr>
          <p:cNvPr id="104915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895" name=""/>
        <p:cNvGrpSpPr/>
        <p:nvPr/>
      </p:nvGrpSpPr>
      <p:grpSpPr>
        <a:xfrm>
          <a:off x="0" y="0"/>
          <a:ext cx="0" cy="0"/>
          <a:chOff x="0" y="0"/>
          <a:chExt cx="0" cy="0"/>
        </a:xfrm>
      </p:grpSpPr>
      <p:sp>
        <p:nvSpPr>
          <p:cNvPr id="1049155" name="Title 1"/>
          <p:cNvSpPr>
            <a:spLocks noGrp="1"/>
          </p:cNvSpPr>
          <p:nvPr>
            <p:ph type="title"/>
          </p:nvPr>
        </p:nvSpPr>
        <p:spPr/>
        <p:txBody>
          <a:bodyPr/>
          <a:p>
            <a:r>
              <a:rPr dirty="0" lang="en-US" smtClean="0"/>
              <a:t>		</a:t>
            </a:r>
            <a:r>
              <a:rPr b="1" dirty="0" lang="en-US" smtClean="0">
                <a:solidFill>
                  <a:srgbClr val="CC00CC"/>
                </a:solidFill>
              </a:rPr>
              <a:t> causes</a:t>
            </a:r>
            <a:endParaRPr dirty="0" lang="en-US"/>
          </a:p>
        </p:txBody>
      </p:sp>
      <p:sp>
        <p:nvSpPr>
          <p:cNvPr id="1049156" name="Content Placeholder 2"/>
          <p:cNvSpPr>
            <a:spLocks noGrp="1"/>
          </p:cNvSpPr>
          <p:nvPr>
            <p:ph idx="1"/>
          </p:nvPr>
        </p:nvSpPr>
        <p:spPr>
          <a:xfrm>
            <a:off x="761999" y="1219200"/>
            <a:ext cx="10382251" cy="5029200"/>
          </a:xfrm>
        </p:spPr>
        <p:txBody>
          <a:bodyPr>
            <a:noAutofit/>
          </a:bodyPr>
          <a:p>
            <a:pPr algn="just"/>
            <a:r>
              <a:rPr dirty="0" lang="en-US" smtClean="0"/>
              <a:t>Multiple pregnancy , particularly the monozygotic twins due to high chances of congenital malformation &amp; twin to twin transfusion syndrome.</a:t>
            </a:r>
          </a:p>
          <a:p>
            <a:pPr algn="just"/>
            <a:r>
              <a:rPr dirty="0" lang="en-US" smtClean="0"/>
              <a:t>Presence of congenital abnormalities e.g. oesophageal atresia &amp; open neural tubal defect, </a:t>
            </a:r>
            <a:r>
              <a:rPr dirty="0" lang="en-US" err="1" smtClean="0"/>
              <a:t>infact</a:t>
            </a:r>
            <a:r>
              <a:rPr dirty="0" lang="en-US" smtClean="0"/>
              <a:t>, presence of polyhydramnios should prompt for search of fetal congenital anomalies.</a:t>
            </a:r>
          </a:p>
          <a:p>
            <a:pPr algn="just"/>
            <a:r>
              <a:rPr dirty="0" lang="en-US" smtClean="0"/>
              <a:t>Maternal diabetes mellitus which is poorly controlled leading to likelihood of congenital abnormalities. </a:t>
            </a:r>
            <a:endParaRPr dirty="0" lang="en-US"/>
          </a:p>
        </p:txBody>
      </p:sp>
      <p:sp>
        <p:nvSpPr>
          <p:cNvPr id="104915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896" name=""/>
        <p:cNvGrpSpPr/>
        <p:nvPr/>
      </p:nvGrpSpPr>
      <p:grpSpPr>
        <a:xfrm>
          <a:off x="0" y="0"/>
          <a:ext cx="0" cy="0"/>
          <a:chOff x="0" y="0"/>
          <a:chExt cx="0" cy="0"/>
        </a:xfrm>
      </p:grpSpPr>
      <p:sp>
        <p:nvSpPr>
          <p:cNvPr id="1049158" name="Content Placeholder 2"/>
          <p:cNvSpPr>
            <a:spLocks noGrp="1"/>
          </p:cNvSpPr>
          <p:nvPr>
            <p:ph idx="1"/>
          </p:nvPr>
        </p:nvSpPr>
        <p:spPr>
          <a:xfrm>
            <a:off x="666750" y="381000"/>
            <a:ext cx="10477500" cy="5791200"/>
          </a:xfrm>
        </p:spPr>
        <p:txBody>
          <a:bodyPr>
            <a:normAutofit/>
          </a:bodyPr>
          <a:p>
            <a:r>
              <a:rPr dirty="0" sz="3600" lang="en-US" smtClean="0"/>
              <a:t>Tumour of the placenta such as </a:t>
            </a:r>
            <a:r>
              <a:rPr dirty="0" sz="3600" lang="en-US" err="1" smtClean="0"/>
              <a:t>chorioangioma</a:t>
            </a:r>
            <a:r>
              <a:rPr dirty="0" sz="3600" lang="en-US" smtClean="0"/>
              <a:t>.</a:t>
            </a:r>
          </a:p>
          <a:p>
            <a:pPr>
              <a:buFont typeface="Wingdings" pitchFamily="2" charset="2"/>
              <a:buChar char="Ø"/>
            </a:pPr>
            <a:r>
              <a:rPr dirty="0" sz="3600" lang="en-US" smtClean="0"/>
              <a:t>This leads to large exudates of liquor by the amnion covering the placenta.</a:t>
            </a:r>
          </a:p>
          <a:p>
            <a:pPr>
              <a:buNone/>
            </a:pPr>
            <a:r>
              <a:rPr dirty="0" sz="3600" lang="en-US" smtClean="0"/>
              <a:t> </a:t>
            </a:r>
            <a:r>
              <a:rPr b="1" dirty="0" sz="3600" lang="en-US" smtClean="0"/>
              <a:t>NB: </a:t>
            </a:r>
            <a:r>
              <a:rPr dirty="0" sz="3600" lang="en-US" smtClean="0"/>
              <a:t>It’s a rare cause.</a:t>
            </a:r>
          </a:p>
          <a:p>
            <a:r>
              <a:rPr dirty="0" sz="3600" lang="en-US" err="1" smtClean="0"/>
              <a:t>Hydrops</a:t>
            </a:r>
            <a:r>
              <a:rPr dirty="0" sz="3600" lang="en-US" smtClean="0"/>
              <a:t> </a:t>
            </a:r>
            <a:r>
              <a:rPr dirty="0" sz="3600" lang="en-US" err="1" smtClean="0"/>
              <a:t>fetalis</a:t>
            </a:r>
            <a:r>
              <a:rPr dirty="0" sz="3600" lang="en-US" smtClean="0"/>
              <a:t>, it’s a condition associated with Rhesus D  isoimmunisation , fetus is  severely hypoxic to swallow liquor.</a:t>
            </a:r>
            <a:endParaRPr dirty="0" sz="3600" lang="en-US"/>
          </a:p>
        </p:txBody>
      </p:sp>
      <p:sp>
        <p:nvSpPr>
          <p:cNvPr id="104915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897" name=""/>
        <p:cNvGrpSpPr/>
        <p:nvPr/>
      </p:nvGrpSpPr>
      <p:grpSpPr>
        <a:xfrm>
          <a:off x="0" y="0"/>
          <a:ext cx="0" cy="0"/>
          <a:chOff x="0" y="0"/>
          <a:chExt cx="0" cy="0"/>
        </a:xfrm>
      </p:grpSpPr>
      <p:sp>
        <p:nvSpPr>
          <p:cNvPr id="1049160" name="Title 1"/>
          <p:cNvSpPr>
            <a:spLocks noGrp="1"/>
          </p:cNvSpPr>
          <p:nvPr>
            <p:ph type="title"/>
          </p:nvPr>
        </p:nvSpPr>
        <p:spPr/>
        <p:txBody>
          <a:bodyPr/>
          <a:p>
            <a:r>
              <a:rPr dirty="0" lang="en-US" smtClean="0"/>
              <a:t>	</a:t>
            </a:r>
            <a:r>
              <a:rPr b="1" dirty="0" lang="en-US" smtClean="0">
                <a:solidFill>
                  <a:srgbClr val="CC00CC"/>
                </a:solidFill>
              </a:rPr>
              <a:t> DIAGNOSTIC FACTORS</a:t>
            </a:r>
            <a:endParaRPr dirty="0" lang="en-US"/>
          </a:p>
        </p:txBody>
      </p:sp>
      <p:sp>
        <p:nvSpPr>
          <p:cNvPr id="1049161" name="Content Placeholder 2"/>
          <p:cNvSpPr>
            <a:spLocks noGrp="1"/>
          </p:cNvSpPr>
          <p:nvPr>
            <p:ph idx="1"/>
          </p:nvPr>
        </p:nvSpPr>
        <p:spPr>
          <a:xfrm>
            <a:off x="571500" y="1447800"/>
            <a:ext cx="10287000" cy="4572000"/>
          </a:xfrm>
        </p:spPr>
        <p:txBody>
          <a:bodyPr>
            <a:normAutofit/>
          </a:bodyPr>
          <a:p>
            <a:r>
              <a:rPr dirty="0" sz="3600" lang="en-US" smtClean="0"/>
              <a:t>History  of:</a:t>
            </a:r>
          </a:p>
          <a:p>
            <a:pPr>
              <a:buFont typeface="Wingdings" pitchFamily="2" charset="2"/>
              <a:buChar char="Ø"/>
            </a:pPr>
            <a:r>
              <a:rPr dirty="0" sz="3600" lang="en-US" smtClean="0"/>
              <a:t>Rapid enlargement of the abdomen which is accompanied by:-</a:t>
            </a:r>
          </a:p>
          <a:p>
            <a:pPr>
              <a:buFont typeface="Wingdings" pitchFamily="2" charset="2"/>
              <a:buChar char="ü"/>
            </a:pPr>
            <a:r>
              <a:rPr dirty="0" sz="3600" lang="en-US" smtClean="0"/>
              <a:t>Breathlessness</a:t>
            </a:r>
          </a:p>
          <a:p>
            <a:pPr>
              <a:buFont typeface="Wingdings" pitchFamily="2" charset="2"/>
              <a:buChar char="ü"/>
            </a:pPr>
            <a:r>
              <a:rPr dirty="0" sz="3600" lang="en-US" smtClean="0"/>
              <a:t>General discomfort</a:t>
            </a:r>
          </a:p>
          <a:p>
            <a:pPr>
              <a:buFont typeface="Wingdings" pitchFamily="2" charset="2"/>
              <a:buChar char="ü"/>
            </a:pPr>
            <a:r>
              <a:rPr dirty="0" sz="3600" lang="en-US" smtClean="0"/>
              <a:t>Exacerbation of pressure symptoms</a:t>
            </a:r>
          </a:p>
          <a:p>
            <a:pPr>
              <a:buFont typeface="Wingdings" pitchFamily="2" charset="2"/>
              <a:buChar char="ü"/>
            </a:pPr>
            <a:r>
              <a:rPr dirty="0" sz="3600" lang="en-US" smtClean="0"/>
              <a:t>Severe abdominal pain in acute case.</a:t>
            </a:r>
            <a:endParaRPr dirty="0" sz="3600" lang="en-US"/>
          </a:p>
        </p:txBody>
      </p:sp>
      <p:sp>
        <p:nvSpPr>
          <p:cNvPr id="104916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898" name=""/>
        <p:cNvGrpSpPr/>
        <p:nvPr/>
      </p:nvGrpSpPr>
      <p:grpSpPr>
        <a:xfrm>
          <a:off x="0" y="0"/>
          <a:ext cx="0" cy="0"/>
          <a:chOff x="0" y="0"/>
          <a:chExt cx="0" cy="0"/>
        </a:xfrm>
      </p:grpSpPr>
      <p:sp>
        <p:nvSpPr>
          <p:cNvPr id="1049163" name="Content Placeholder 2"/>
          <p:cNvSpPr>
            <a:spLocks noGrp="1"/>
          </p:cNvSpPr>
          <p:nvPr>
            <p:ph idx="1"/>
          </p:nvPr>
        </p:nvSpPr>
        <p:spPr>
          <a:xfrm>
            <a:off x="571501" y="457200"/>
            <a:ext cx="10572750" cy="6019800"/>
          </a:xfrm>
        </p:spPr>
        <p:txBody>
          <a:bodyPr>
            <a:noAutofit/>
          </a:bodyPr>
          <a:p>
            <a:r>
              <a:rPr dirty="0" sz="3200" lang="en-US" smtClean="0"/>
              <a:t>Physical Examination on:</a:t>
            </a:r>
          </a:p>
          <a:p>
            <a:pPr>
              <a:buFont typeface="Wingdings" pitchFamily="2" charset="2"/>
              <a:buChar char="Ø"/>
            </a:pPr>
            <a:r>
              <a:rPr b="1" dirty="0" sz="3600" i="1" lang="en-US" smtClean="0"/>
              <a:t>Inspection</a:t>
            </a:r>
          </a:p>
          <a:p>
            <a:pPr>
              <a:buFont typeface="Wingdings" pitchFamily="2" charset="2"/>
              <a:buChar char="ü"/>
            </a:pPr>
            <a:r>
              <a:rPr dirty="0" sz="3200" lang="en-US" smtClean="0"/>
              <a:t>Uterus is larger than the stated period of gestation.</a:t>
            </a:r>
          </a:p>
          <a:p>
            <a:pPr>
              <a:buFont typeface="Wingdings" pitchFamily="2" charset="2"/>
              <a:buChar char="ü"/>
            </a:pPr>
            <a:r>
              <a:rPr dirty="0" sz="3200" lang="en-US" smtClean="0"/>
              <a:t>Uterus is </a:t>
            </a:r>
            <a:r>
              <a:rPr b="1" dirty="0" sz="3200" lang="en-US" smtClean="0"/>
              <a:t>globular shaped </a:t>
            </a:r>
            <a:r>
              <a:rPr dirty="0" sz="3200" lang="en-US" smtClean="0"/>
              <a:t>instead  of being ovoid.</a:t>
            </a:r>
          </a:p>
          <a:p>
            <a:pPr>
              <a:buFont typeface="Wingdings" pitchFamily="2" charset="2"/>
              <a:buChar char="ü"/>
            </a:pPr>
            <a:r>
              <a:rPr dirty="0" sz="3200" lang="en-US" err="1" smtClean="0"/>
              <a:t>Striae</a:t>
            </a:r>
            <a:r>
              <a:rPr dirty="0" sz="3200" lang="en-US" smtClean="0"/>
              <a:t> gravidarum are more marked, due to the high tension on the abdominal muscles.</a:t>
            </a:r>
          </a:p>
          <a:p>
            <a:pPr>
              <a:buFont typeface="Wingdings" pitchFamily="2" charset="2"/>
              <a:buChar char="ü"/>
            </a:pPr>
            <a:r>
              <a:rPr dirty="0" sz="3200" lang="en-US" smtClean="0"/>
              <a:t>Abdominal skin is stretched, shiny and superficial blood vessels are visible.</a:t>
            </a:r>
            <a:endParaRPr dirty="0" sz="3200" lang="en-US"/>
          </a:p>
        </p:txBody>
      </p:sp>
      <p:sp>
        <p:nvSpPr>
          <p:cNvPr id="104916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899" name=""/>
        <p:cNvGrpSpPr/>
        <p:nvPr/>
      </p:nvGrpSpPr>
      <p:grpSpPr>
        <a:xfrm>
          <a:off x="0" y="0"/>
          <a:ext cx="0" cy="0"/>
          <a:chOff x="0" y="0"/>
          <a:chExt cx="0" cy="0"/>
        </a:xfrm>
      </p:grpSpPr>
      <p:sp>
        <p:nvSpPr>
          <p:cNvPr id="1049165" name="Content Placeholder 2"/>
          <p:cNvSpPr>
            <a:spLocks noGrp="1"/>
          </p:cNvSpPr>
          <p:nvPr>
            <p:ph idx="1"/>
          </p:nvPr>
        </p:nvSpPr>
        <p:spPr>
          <a:xfrm>
            <a:off x="571501" y="381000"/>
            <a:ext cx="10572750" cy="5943600"/>
          </a:xfrm>
        </p:spPr>
        <p:txBody>
          <a:bodyPr>
            <a:noAutofit/>
          </a:bodyPr>
          <a:p>
            <a:pPr>
              <a:buFont typeface="Wingdings" pitchFamily="2" charset="2"/>
              <a:buChar char="Ø"/>
            </a:pPr>
            <a:r>
              <a:rPr b="1" dirty="0" sz="3600" i="1" lang="en-US" smtClean="0"/>
              <a:t>Palpation</a:t>
            </a:r>
          </a:p>
          <a:p>
            <a:pPr>
              <a:buFont typeface="Wingdings" pitchFamily="2" charset="2"/>
              <a:buChar char="ü"/>
            </a:pPr>
            <a:r>
              <a:rPr dirty="0" sz="3600" lang="en-US" smtClean="0"/>
              <a:t>Fundal  height is located higher than expected.</a:t>
            </a:r>
          </a:p>
          <a:p>
            <a:pPr>
              <a:buFont typeface="Wingdings" pitchFamily="2" charset="2"/>
              <a:buChar char="ü"/>
            </a:pPr>
            <a:r>
              <a:rPr dirty="0" sz="3600" lang="en-US" smtClean="0"/>
              <a:t>Uterus feels tense to touch.</a:t>
            </a:r>
          </a:p>
          <a:p>
            <a:pPr>
              <a:buFont typeface="Wingdings" pitchFamily="2" charset="2"/>
              <a:buChar char="ü"/>
            </a:pPr>
            <a:r>
              <a:rPr dirty="0" sz="3600" lang="en-US" smtClean="0"/>
              <a:t>Difficult to locate fetal parts, because of the large space created by the large amount of fluid.</a:t>
            </a:r>
          </a:p>
          <a:p>
            <a:pPr>
              <a:buFont typeface="Wingdings" pitchFamily="2" charset="2"/>
              <a:buChar char="ü"/>
            </a:pPr>
            <a:r>
              <a:rPr dirty="0" sz="3600" lang="en-US" smtClean="0"/>
              <a:t>Excessive fetal movements  particularly  on application of pressure.</a:t>
            </a:r>
            <a:endParaRPr dirty="0" sz="3600" lang="en-US"/>
          </a:p>
        </p:txBody>
      </p:sp>
      <p:sp>
        <p:nvSpPr>
          <p:cNvPr id="104916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900" name=""/>
        <p:cNvGrpSpPr/>
        <p:nvPr/>
      </p:nvGrpSpPr>
      <p:grpSpPr>
        <a:xfrm>
          <a:off x="0" y="0"/>
          <a:ext cx="0" cy="0"/>
          <a:chOff x="0" y="0"/>
          <a:chExt cx="0" cy="0"/>
        </a:xfrm>
      </p:grpSpPr>
      <p:sp>
        <p:nvSpPr>
          <p:cNvPr id="1049167" name="Content Placeholder 2"/>
          <p:cNvSpPr>
            <a:spLocks noGrp="1"/>
          </p:cNvSpPr>
          <p:nvPr>
            <p:ph idx="1"/>
          </p:nvPr>
        </p:nvSpPr>
        <p:spPr>
          <a:xfrm>
            <a:off x="571500" y="457200"/>
            <a:ext cx="10287000" cy="5715000"/>
          </a:xfrm>
        </p:spPr>
        <p:txBody>
          <a:bodyPr>
            <a:noAutofit/>
          </a:bodyPr>
          <a:p>
            <a:pPr>
              <a:buFont typeface="Wingdings" pitchFamily="2" charset="2"/>
              <a:buChar char="Ø"/>
            </a:pPr>
            <a:r>
              <a:rPr b="1" dirty="0" sz="3600" i="1" lang="en-US" smtClean="0"/>
              <a:t>Percussion(  tapping of one side of  abdomen)</a:t>
            </a:r>
          </a:p>
          <a:p>
            <a:pPr>
              <a:buFont typeface="Wingdings" pitchFamily="2" charset="2"/>
              <a:buChar char="ü"/>
            </a:pPr>
            <a:r>
              <a:rPr dirty="0" sz="3200" lang="en-US" smtClean="0"/>
              <a:t>A fluid thrill is observed, or a wave of fluid is felt by the opposite examining hand.</a:t>
            </a:r>
          </a:p>
          <a:p>
            <a:pPr>
              <a:buFont typeface="Wingdings" pitchFamily="2" charset="2"/>
              <a:buChar char="Ø"/>
            </a:pPr>
            <a:r>
              <a:rPr b="1" dirty="0" sz="3600" i="1" lang="en-US" smtClean="0"/>
              <a:t>Auscultation</a:t>
            </a:r>
          </a:p>
          <a:p>
            <a:pPr>
              <a:buFont typeface="Wingdings" pitchFamily="2" charset="2"/>
              <a:buChar char="ü"/>
            </a:pPr>
            <a:r>
              <a:rPr dirty="0" sz="3200" lang="en-US" smtClean="0"/>
              <a:t>Muffled fetal heart sounds because of the large amount of fluid.</a:t>
            </a:r>
          </a:p>
          <a:p>
            <a:pPr>
              <a:buNone/>
            </a:pPr>
            <a:r>
              <a:rPr b="1" dirty="0" sz="3200" lang="en-US" smtClean="0"/>
              <a:t>NB:  </a:t>
            </a:r>
            <a:r>
              <a:rPr dirty="0" sz="3200" lang="en-US" smtClean="0"/>
              <a:t>It may be difficult to get FHS as the fetus moves away from the fetalscope.</a:t>
            </a:r>
            <a:endParaRPr dirty="0" sz="3200" lang="en-US"/>
          </a:p>
        </p:txBody>
      </p:sp>
      <p:sp>
        <p:nvSpPr>
          <p:cNvPr id="104916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903" name=""/>
        <p:cNvGrpSpPr/>
        <p:nvPr/>
      </p:nvGrpSpPr>
      <p:grpSpPr>
        <a:xfrm>
          <a:off x="0" y="0"/>
          <a:ext cx="0" cy="0"/>
          <a:chOff x="0" y="0"/>
          <a:chExt cx="0" cy="0"/>
        </a:xfrm>
      </p:grpSpPr>
      <p:sp>
        <p:nvSpPr>
          <p:cNvPr id="1049172" name="Title 1"/>
          <p:cNvSpPr>
            <a:spLocks noGrp="1"/>
          </p:cNvSpPr>
          <p:nvPr>
            <p:ph type="title"/>
          </p:nvPr>
        </p:nvSpPr>
        <p:spPr/>
        <p:txBody>
          <a:bodyPr/>
          <a:p>
            <a:r>
              <a:rPr dirty="0" lang="en-US" smtClean="0"/>
              <a:t>	</a:t>
            </a:r>
            <a:r>
              <a:rPr b="1" dirty="0" lang="en-US" smtClean="0">
                <a:solidFill>
                  <a:srgbClr val="CC00CC"/>
                </a:solidFill>
              </a:rPr>
              <a:t> SPECIFIC  MANAGEMENT</a:t>
            </a:r>
            <a:endParaRPr dirty="0" lang="en-US"/>
          </a:p>
        </p:txBody>
      </p:sp>
      <p:sp>
        <p:nvSpPr>
          <p:cNvPr id="1049173" name="Content Placeholder 2"/>
          <p:cNvSpPr>
            <a:spLocks noGrp="1"/>
          </p:cNvSpPr>
          <p:nvPr>
            <p:ph idx="1"/>
          </p:nvPr>
        </p:nvSpPr>
        <p:spPr>
          <a:xfrm>
            <a:off x="571500" y="1143000"/>
            <a:ext cx="10287000" cy="5486400"/>
          </a:xfrm>
        </p:spPr>
        <p:txBody>
          <a:bodyPr>
            <a:normAutofit/>
          </a:bodyPr>
          <a:p>
            <a:pPr>
              <a:buNone/>
            </a:pPr>
            <a:r>
              <a:rPr dirty="0" sz="3200" lang="en-US" smtClean="0"/>
              <a:t>		</a:t>
            </a:r>
            <a:r>
              <a:rPr dirty="0" sz="3200" lang="en-US" u="sng" smtClean="0"/>
              <a:t>PRENATALLY</a:t>
            </a:r>
          </a:p>
          <a:p>
            <a:r>
              <a:rPr dirty="0" sz="3200" lang="en-US" smtClean="0"/>
              <a:t>Refer to the doctor for investigations such as:</a:t>
            </a:r>
          </a:p>
          <a:p>
            <a:pPr>
              <a:buFont typeface="Wingdings" pitchFamily="2" charset="2"/>
              <a:buChar char="Ø"/>
            </a:pPr>
            <a:r>
              <a:rPr dirty="0" sz="3200" lang="en-US" smtClean="0"/>
              <a:t>Indirect Coomb’s test, for Rhesus isoimmunisation</a:t>
            </a:r>
          </a:p>
          <a:p>
            <a:pPr>
              <a:buFont typeface="Wingdings" pitchFamily="2" charset="2"/>
              <a:buChar char="Ø"/>
            </a:pPr>
            <a:r>
              <a:rPr dirty="0" sz="3200" lang="en-US" smtClean="0"/>
              <a:t>Fasting blood sugar &amp; GTT(glucose tolerance test)  for diabetes mellitus</a:t>
            </a:r>
          </a:p>
          <a:p>
            <a:pPr>
              <a:buFont typeface="Wingdings" pitchFamily="2" charset="2"/>
              <a:buChar char="Ø"/>
            </a:pPr>
            <a:r>
              <a:rPr dirty="0" sz="3200" lang="en-US" smtClean="0"/>
              <a:t>Radiological examination= Ultrasound to confirm the diagnosis. </a:t>
            </a:r>
          </a:p>
          <a:p>
            <a:pPr>
              <a:buNone/>
            </a:pPr>
            <a:r>
              <a:rPr b="1" dirty="0" sz="3200" lang="en-US" smtClean="0"/>
              <a:t>NB :</a:t>
            </a:r>
            <a:r>
              <a:rPr dirty="0" sz="3200" lang="en-US" smtClean="0"/>
              <a:t>X-ray results are unreliable due to hazy images .</a:t>
            </a:r>
            <a:endParaRPr dirty="0" sz="3200" lang="en-US"/>
          </a:p>
        </p:txBody>
      </p:sp>
      <p:sp>
        <p:nvSpPr>
          <p:cNvPr id="104917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904" name=""/>
        <p:cNvGrpSpPr/>
        <p:nvPr/>
      </p:nvGrpSpPr>
      <p:grpSpPr>
        <a:xfrm>
          <a:off x="0" y="0"/>
          <a:ext cx="0" cy="0"/>
          <a:chOff x="0" y="0"/>
          <a:chExt cx="0" cy="0"/>
        </a:xfrm>
      </p:grpSpPr>
      <p:sp>
        <p:nvSpPr>
          <p:cNvPr id="1049175" name="Content Placeholder 2"/>
          <p:cNvSpPr>
            <a:spLocks noGrp="1"/>
          </p:cNvSpPr>
          <p:nvPr>
            <p:ph idx="1"/>
          </p:nvPr>
        </p:nvSpPr>
        <p:spPr>
          <a:xfrm>
            <a:off x="571501" y="152400"/>
            <a:ext cx="10572750" cy="6324600"/>
          </a:xfrm>
        </p:spPr>
        <p:txBody>
          <a:bodyPr>
            <a:noAutofit/>
          </a:bodyPr>
          <a:p>
            <a:r>
              <a:rPr dirty="0" sz="3100" lang="en-US" smtClean="0"/>
              <a:t>Based on severity and gestation period, admission to hospital may be necessary , mainly for relative  bed rest  and relief of severe symptoms.</a:t>
            </a:r>
          </a:p>
          <a:p>
            <a:r>
              <a:rPr dirty="0" sz="3100" lang="en-US" smtClean="0"/>
              <a:t>So, nurse propped up to control dyspnoea and administer antacids for relief of heartburn. </a:t>
            </a:r>
          </a:p>
          <a:p>
            <a:r>
              <a:rPr dirty="0" sz="3100" lang="en-US" smtClean="0"/>
              <a:t>Maintain a 4 hourly record of vital signs and fetal heart sounds .</a:t>
            </a:r>
          </a:p>
          <a:p>
            <a:r>
              <a:rPr dirty="0" sz="3100" lang="en-US" smtClean="0"/>
              <a:t>For the grossly enlarged uterus, </a:t>
            </a:r>
            <a:r>
              <a:rPr dirty="0" sz="3100" lang="en-US" err="1" smtClean="0"/>
              <a:t>amniocentasis</a:t>
            </a:r>
            <a:r>
              <a:rPr dirty="0" sz="3100" lang="en-US" smtClean="0"/>
              <a:t> (amnioreduction) procedure is recommended to give temporary relief.</a:t>
            </a:r>
          </a:p>
          <a:p>
            <a:pPr>
              <a:buFont typeface="Wingdings" pitchFamily="2" charset="2"/>
              <a:buChar char="Ø"/>
            </a:pPr>
            <a:r>
              <a:rPr dirty="0" sz="3100" lang="en-US" smtClean="0"/>
              <a:t> Tapped fluid not to be  more than 500 ml.</a:t>
            </a:r>
            <a:endParaRPr dirty="0" sz="3100" lang="en-US"/>
          </a:p>
        </p:txBody>
      </p:sp>
      <p:sp>
        <p:nvSpPr>
          <p:cNvPr id="104917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905" name=""/>
        <p:cNvGrpSpPr/>
        <p:nvPr/>
      </p:nvGrpSpPr>
      <p:grpSpPr>
        <a:xfrm>
          <a:off x="0" y="0"/>
          <a:ext cx="0" cy="0"/>
          <a:chOff x="0" y="0"/>
          <a:chExt cx="0" cy="0"/>
        </a:xfrm>
      </p:grpSpPr>
      <p:sp>
        <p:nvSpPr>
          <p:cNvPr id="1049177" name="Content Placeholder 2"/>
          <p:cNvSpPr>
            <a:spLocks noGrp="1"/>
          </p:cNvSpPr>
          <p:nvPr>
            <p:ph idx="1"/>
          </p:nvPr>
        </p:nvSpPr>
        <p:spPr>
          <a:xfrm>
            <a:off x="666750" y="381000"/>
            <a:ext cx="10191750" cy="5867400"/>
          </a:xfrm>
        </p:spPr>
        <p:txBody>
          <a:bodyPr>
            <a:noAutofit/>
          </a:bodyPr>
          <a:p>
            <a:r>
              <a:rPr dirty="0" sz="3600" lang="en-US" smtClean="0"/>
              <a:t>For mild cases </a:t>
            </a:r>
            <a:r>
              <a:rPr dirty="0" sz="3600" lang="en-US" err="1" smtClean="0"/>
              <a:t>hospitalisation</a:t>
            </a:r>
            <a:r>
              <a:rPr dirty="0" sz="3600" lang="en-US" smtClean="0"/>
              <a:t> is not necessary, instead close surveillance is made through ultrasound to monitor the progress .</a:t>
            </a:r>
          </a:p>
          <a:p>
            <a:pPr>
              <a:buFont typeface="Wingdings" pitchFamily="2" charset="2"/>
              <a:buChar char="Ø"/>
            </a:pPr>
            <a:r>
              <a:rPr dirty="0" sz="3600" lang="en-US" smtClean="0"/>
              <a:t>In most cases the condition resolves spontaneously and fetal outcome is good.</a:t>
            </a:r>
          </a:p>
          <a:p>
            <a:pPr>
              <a:buFont typeface="Wingdings" pitchFamily="2" charset="2"/>
              <a:buChar char="Ø"/>
            </a:pPr>
            <a:r>
              <a:rPr dirty="0" sz="3600" lang="en-US" smtClean="0"/>
              <a:t>For late pregnancy diagnosis and symptomatic, induction is recommended if there are no contradicting factors.</a:t>
            </a:r>
            <a:endParaRPr dirty="0" sz="3600" lang="en-US"/>
          </a:p>
        </p:txBody>
      </p:sp>
      <p:sp>
        <p:nvSpPr>
          <p:cNvPr id="104917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906" name=""/>
        <p:cNvGrpSpPr/>
        <p:nvPr/>
      </p:nvGrpSpPr>
      <p:grpSpPr>
        <a:xfrm>
          <a:off x="0" y="0"/>
          <a:ext cx="0" cy="0"/>
          <a:chOff x="0" y="0"/>
          <a:chExt cx="0" cy="0"/>
        </a:xfrm>
      </p:grpSpPr>
      <p:sp>
        <p:nvSpPr>
          <p:cNvPr id="1049179" name="Title 1"/>
          <p:cNvSpPr>
            <a:spLocks noGrp="1"/>
          </p:cNvSpPr>
          <p:nvPr>
            <p:ph type="title"/>
          </p:nvPr>
        </p:nvSpPr>
        <p:spPr/>
        <p:txBody>
          <a:bodyPr/>
          <a:p>
            <a:r>
              <a:rPr b="1" dirty="0" lang="en-US" smtClean="0"/>
              <a:t>			</a:t>
            </a:r>
            <a:r>
              <a:rPr b="1" dirty="0" lang="en-US" smtClean="0">
                <a:solidFill>
                  <a:schemeClr val="accent1"/>
                </a:solidFill>
              </a:rPr>
              <a:t>LABOUR</a:t>
            </a:r>
            <a:r>
              <a:rPr b="1" dirty="0" lang="en-US" smtClean="0"/>
              <a:t> </a:t>
            </a:r>
            <a:endParaRPr b="1" dirty="0" lang="en-US"/>
          </a:p>
        </p:txBody>
      </p:sp>
      <p:sp>
        <p:nvSpPr>
          <p:cNvPr id="1049180" name="Content Placeholder 2"/>
          <p:cNvSpPr>
            <a:spLocks noGrp="1"/>
          </p:cNvSpPr>
          <p:nvPr>
            <p:ph idx="1"/>
          </p:nvPr>
        </p:nvSpPr>
        <p:spPr>
          <a:xfrm>
            <a:off x="571500" y="1447800"/>
            <a:ext cx="10287000" cy="4572000"/>
          </a:xfrm>
        </p:spPr>
        <p:txBody>
          <a:bodyPr>
            <a:normAutofit lnSpcReduction="10000"/>
          </a:bodyPr>
          <a:p>
            <a:pPr>
              <a:buNone/>
            </a:pPr>
            <a:r>
              <a:rPr dirty="0" sz="3600" lang="en-US" smtClean="0"/>
              <a:t> </a:t>
            </a:r>
            <a:r>
              <a:rPr b="1" dirty="0" sz="3900" i="1" lang="en-US" smtClean="0"/>
              <a:t>First (1</a:t>
            </a:r>
            <a:r>
              <a:rPr baseline="30000" b="1" dirty="0" sz="3900" i="1" lang="en-US" smtClean="0"/>
              <a:t>st</a:t>
            </a:r>
            <a:r>
              <a:rPr b="1" dirty="0" sz="3900" i="1" lang="en-US" smtClean="0"/>
              <a:t> ) stage</a:t>
            </a:r>
            <a:endParaRPr b="1" dirty="0" sz="3600" i="1" lang="en-US" smtClean="0"/>
          </a:p>
          <a:p>
            <a:r>
              <a:rPr dirty="0" sz="3600" lang="en-US" smtClean="0"/>
              <a:t>Membranes are ruptured cautiously to allow amniotic fluid to drain slowly.</a:t>
            </a:r>
          </a:p>
          <a:p>
            <a:pPr>
              <a:buFont typeface="Wingdings" pitchFamily="2" charset="2"/>
              <a:buChar char="Ø"/>
            </a:pPr>
            <a:r>
              <a:rPr dirty="0" sz="3600" lang="en-US" smtClean="0"/>
              <a:t>Aim is to  prevent altering the lie,  bringing about cord </a:t>
            </a:r>
            <a:r>
              <a:rPr dirty="0" sz="3600" lang="en-US" err="1" smtClean="0"/>
              <a:t>prolapse</a:t>
            </a:r>
            <a:r>
              <a:rPr dirty="0" sz="3600" lang="en-US" smtClean="0"/>
              <a:t> and placental abruption.</a:t>
            </a:r>
          </a:p>
          <a:p>
            <a:pPr>
              <a:buFont typeface="Wingdings" pitchFamily="2" charset="2"/>
              <a:buChar char="Ø"/>
            </a:pPr>
            <a:r>
              <a:rPr dirty="0" sz="3600" lang="en-US" smtClean="0"/>
              <a:t>Simultaneously, the presenting part becomes well applied to the cervix hence progressive cervical dilatation.</a:t>
            </a:r>
            <a:endParaRPr dirty="0" sz="3600" lang="en-US"/>
          </a:p>
        </p:txBody>
      </p:sp>
      <p:sp>
        <p:nvSpPr>
          <p:cNvPr id="104918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907" name=""/>
        <p:cNvGrpSpPr/>
        <p:nvPr/>
      </p:nvGrpSpPr>
      <p:grpSpPr>
        <a:xfrm>
          <a:off x="0" y="0"/>
          <a:ext cx="0" cy="0"/>
          <a:chOff x="0" y="0"/>
          <a:chExt cx="0" cy="0"/>
        </a:xfrm>
      </p:grpSpPr>
      <p:sp>
        <p:nvSpPr>
          <p:cNvPr id="1049182" name="Content Placeholder 2"/>
          <p:cNvSpPr>
            <a:spLocks noGrp="1"/>
          </p:cNvSpPr>
          <p:nvPr>
            <p:ph idx="1"/>
          </p:nvPr>
        </p:nvSpPr>
        <p:spPr>
          <a:xfrm>
            <a:off x="571500" y="152400"/>
            <a:ext cx="10287000" cy="6019800"/>
          </a:xfrm>
        </p:spPr>
        <p:txBody>
          <a:bodyPr>
            <a:normAutofit/>
          </a:bodyPr>
          <a:p>
            <a:pPr>
              <a:buNone/>
            </a:pPr>
            <a:r>
              <a:rPr dirty="0" sz="2800" i="1" lang="en-US" smtClean="0"/>
              <a:t>		</a:t>
            </a:r>
            <a:r>
              <a:rPr b="1" dirty="0" sz="3500" i="1" lang="en-US" smtClean="0"/>
              <a:t>Second  (2</a:t>
            </a:r>
            <a:r>
              <a:rPr baseline="30000" b="1" dirty="0" sz="3500" i="1" lang="en-US" smtClean="0"/>
              <a:t>nd</a:t>
            </a:r>
            <a:r>
              <a:rPr b="1" dirty="0" sz="3500" i="1" lang="en-US" smtClean="0"/>
              <a:t> ) stage</a:t>
            </a:r>
          </a:p>
          <a:p>
            <a:r>
              <a:rPr dirty="0" sz="3500" lang="en-US" smtClean="0"/>
              <a:t>Be ready to receive probably a congenitally malformed baby.</a:t>
            </a:r>
          </a:p>
          <a:p>
            <a:pPr>
              <a:buNone/>
            </a:pPr>
            <a:r>
              <a:rPr dirty="0" sz="3500" lang="en-US" smtClean="0"/>
              <a:t>		</a:t>
            </a:r>
            <a:r>
              <a:rPr b="1" dirty="0" sz="3500" i="1" lang="en-US" smtClean="0"/>
              <a:t>Third (3</a:t>
            </a:r>
            <a:r>
              <a:rPr baseline="30000" b="1" dirty="0" sz="3500" i="1" lang="en-US" smtClean="0"/>
              <a:t>rd</a:t>
            </a:r>
            <a:r>
              <a:rPr b="1" dirty="0" sz="3500" i="1" lang="en-US" smtClean="0"/>
              <a:t> ) stage</a:t>
            </a:r>
          </a:p>
          <a:p>
            <a:r>
              <a:rPr dirty="0" sz="3500" lang="en-US" smtClean="0"/>
              <a:t>Actively control postpartum haemorrhage resulting from impaired living ligature action.</a:t>
            </a:r>
          </a:p>
          <a:p>
            <a:r>
              <a:rPr dirty="0" sz="3500" lang="en-US" smtClean="0"/>
              <a:t>Thoroughly examine the placenta  and if possible send  a  specimen to lab for histology &amp; cytology.</a:t>
            </a:r>
            <a:endParaRPr dirty="0" sz="3500" lang="en-US"/>
          </a:p>
        </p:txBody>
      </p:sp>
      <p:sp>
        <p:nvSpPr>
          <p:cNvPr id="104918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910" name=""/>
        <p:cNvGrpSpPr/>
        <p:nvPr/>
      </p:nvGrpSpPr>
      <p:grpSpPr>
        <a:xfrm>
          <a:off x="0" y="0"/>
          <a:ext cx="0" cy="0"/>
          <a:chOff x="0" y="0"/>
          <a:chExt cx="0" cy="0"/>
        </a:xfrm>
      </p:grpSpPr>
      <p:sp>
        <p:nvSpPr>
          <p:cNvPr id="1049187" name="Title 1"/>
          <p:cNvSpPr>
            <a:spLocks noGrp="1"/>
          </p:cNvSpPr>
          <p:nvPr>
            <p:ph type="title"/>
          </p:nvPr>
        </p:nvSpPr>
        <p:spPr/>
        <p:txBody>
          <a:bodyPr/>
          <a:p>
            <a:r>
              <a:rPr dirty="0" lang="en-US" smtClean="0"/>
              <a:t>		</a:t>
            </a:r>
            <a:endParaRPr dirty="0" lang="en-US"/>
          </a:p>
        </p:txBody>
      </p:sp>
      <p:sp>
        <p:nvSpPr>
          <p:cNvPr id="1049188" name="Content Placeholder 2"/>
          <p:cNvSpPr>
            <a:spLocks noGrp="1"/>
          </p:cNvSpPr>
          <p:nvPr>
            <p:ph idx="1"/>
          </p:nvPr>
        </p:nvSpPr>
        <p:spPr>
          <a:xfrm>
            <a:off x="285750" y="1143000"/>
            <a:ext cx="10572750" cy="5105400"/>
          </a:xfrm>
        </p:spPr>
        <p:txBody>
          <a:bodyPr>
            <a:noAutofit/>
          </a:bodyPr>
          <a:p>
            <a:pPr>
              <a:buNone/>
            </a:pPr>
            <a:r>
              <a:rPr dirty="0" sz="3400" lang="en-US" smtClean="0"/>
              <a:t>		</a:t>
            </a:r>
            <a:r>
              <a:rPr b="1" dirty="0" sz="3400" i="1" lang="en-US" smtClean="0"/>
              <a:t>Fourth (4</a:t>
            </a:r>
            <a:r>
              <a:rPr baseline="30000" b="1" dirty="0" sz="3400" i="1" lang="en-US" smtClean="0"/>
              <a:t>th</a:t>
            </a:r>
            <a:r>
              <a:rPr b="1" dirty="0" sz="3400" i="1" lang="en-US" smtClean="0"/>
              <a:t> ) Stage</a:t>
            </a:r>
          </a:p>
          <a:p>
            <a:r>
              <a:rPr dirty="0" sz="3400" lang="en-US" smtClean="0"/>
              <a:t>Closely monitor for signs of shock through vital signs , state of uterus +amount of lochia ,state of the skin &amp; level of consciousness.</a:t>
            </a:r>
          </a:p>
          <a:p>
            <a:pPr>
              <a:buNone/>
            </a:pPr>
            <a:r>
              <a:rPr dirty="0" sz="3400" lang="en-US" smtClean="0"/>
              <a:t>		</a:t>
            </a:r>
            <a:r>
              <a:rPr b="1" dirty="0" sz="3400" i="1" lang="en-US" smtClean="0"/>
              <a:t>Postnatal Highlights</a:t>
            </a:r>
          </a:p>
          <a:p>
            <a:r>
              <a:rPr dirty="0" sz="3400" lang="en-US" smtClean="0"/>
              <a:t>Thoroughly examine the neonate, particularly for  oesophageal atresia &amp; open neural tubal defect and consult appropriately. </a:t>
            </a:r>
            <a:endParaRPr dirty="0" sz="3400" lang="en-US"/>
          </a:p>
        </p:txBody>
      </p:sp>
      <p:sp>
        <p:nvSpPr>
          <p:cNvPr id="104918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911" name=""/>
        <p:cNvGrpSpPr/>
        <p:nvPr/>
      </p:nvGrpSpPr>
      <p:grpSpPr>
        <a:xfrm>
          <a:off x="0" y="0"/>
          <a:ext cx="0" cy="0"/>
          <a:chOff x="0" y="0"/>
          <a:chExt cx="0" cy="0"/>
        </a:xfrm>
      </p:grpSpPr>
      <p:sp>
        <p:nvSpPr>
          <p:cNvPr id="1049190" name="Content Placeholder 2"/>
          <p:cNvSpPr>
            <a:spLocks noGrp="1"/>
          </p:cNvSpPr>
          <p:nvPr>
            <p:ph idx="1"/>
          </p:nvPr>
        </p:nvSpPr>
        <p:spPr>
          <a:xfrm>
            <a:off x="666750" y="304800"/>
            <a:ext cx="10191750" cy="5715000"/>
          </a:xfrm>
        </p:spPr>
        <p:txBody>
          <a:bodyPr>
            <a:normAutofit/>
          </a:bodyPr>
          <a:p>
            <a:r>
              <a:rPr dirty="0" sz="3200" lang="en-US" smtClean="0"/>
              <a:t>Thereafter  continue with normal route care of mother and newborn , close monitoring for involution process, nature of lochia hence intervene.</a:t>
            </a:r>
          </a:p>
          <a:p>
            <a:r>
              <a:rPr dirty="0" sz="3200" lang="en-US" smtClean="0"/>
              <a:t>On discharge share on:</a:t>
            </a:r>
          </a:p>
          <a:p>
            <a:pPr>
              <a:buFont typeface="Wingdings" pitchFamily="2" charset="2"/>
              <a:buChar char="Ø"/>
            </a:pPr>
            <a:r>
              <a:rPr dirty="0" sz="3200" lang="en-US" smtClean="0"/>
              <a:t>Hygiene, diet and rest</a:t>
            </a:r>
          </a:p>
          <a:p>
            <a:pPr>
              <a:buFont typeface="Wingdings" pitchFamily="2" charset="2"/>
              <a:buChar char="Ø"/>
            </a:pPr>
            <a:r>
              <a:rPr dirty="0" sz="3200" lang="en-US" smtClean="0"/>
              <a:t>MCH/FP services</a:t>
            </a:r>
          </a:p>
          <a:p>
            <a:pPr>
              <a:buFont typeface="Wingdings" pitchFamily="2" charset="2"/>
              <a:buChar char="Ø"/>
            </a:pPr>
            <a:r>
              <a:rPr dirty="0" sz="3200" lang="en-US" smtClean="0"/>
              <a:t>Follow up in medical and paediatric clinic respectively.</a:t>
            </a:r>
            <a:endParaRPr dirty="0" sz="3200" lang="en-US"/>
          </a:p>
        </p:txBody>
      </p:sp>
      <p:sp>
        <p:nvSpPr>
          <p:cNvPr id="104919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914" name=""/>
        <p:cNvGrpSpPr/>
        <p:nvPr/>
      </p:nvGrpSpPr>
      <p:grpSpPr>
        <a:xfrm>
          <a:off x="0" y="0"/>
          <a:ext cx="0" cy="0"/>
          <a:chOff x="0" y="0"/>
          <a:chExt cx="0" cy="0"/>
        </a:xfrm>
      </p:grpSpPr>
      <p:sp>
        <p:nvSpPr>
          <p:cNvPr id="1049195" name="Title 1"/>
          <p:cNvSpPr>
            <a:spLocks noGrp="1"/>
          </p:cNvSpPr>
          <p:nvPr>
            <p:ph type="title"/>
          </p:nvPr>
        </p:nvSpPr>
        <p:spPr/>
        <p:txBody>
          <a:bodyPr/>
          <a:p>
            <a:r>
              <a:rPr dirty="0" lang="en-US" smtClean="0"/>
              <a:t>		</a:t>
            </a:r>
            <a:r>
              <a:rPr b="1" dirty="0" lang="en-US" smtClean="0"/>
              <a:t> </a:t>
            </a:r>
            <a:r>
              <a:rPr b="1" dirty="0" lang="en-US" smtClean="0">
                <a:solidFill>
                  <a:srgbClr val="CC00CC"/>
                </a:solidFill>
              </a:rPr>
              <a:t>COMPLICATIONS</a:t>
            </a:r>
            <a:endParaRPr dirty="0" lang="en-US">
              <a:solidFill>
                <a:srgbClr val="CC00CC"/>
              </a:solidFill>
            </a:endParaRPr>
          </a:p>
        </p:txBody>
      </p:sp>
      <p:sp>
        <p:nvSpPr>
          <p:cNvPr id="1049196" name="Content Placeholder 2"/>
          <p:cNvSpPr>
            <a:spLocks noGrp="1"/>
          </p:cNvSpPr>
          <p:nvPr>
            <p:ph idx="1"/>
          </p:nvPr>
        </p:nvSpPr>
        <p:spPr>
          <a:xfrm>
            <a:off x="666750" y="1447800"/>
            <a:ext cx="10191750" cy="4800600"/>
          </a:xfrm>
        </p:spPr>
        <p:txBody>
          <a:bodyPr>
            <a:normAutofit/>
          </a:bodyPr>
          <a:p>
            <a:r>
              <a:rPr dirty="0" sz="3600" lang="en-US" smtClean="0"/>
              <a:t>Unstable lie  and malpresentation because of the large space  hence increased mobility.</a:t>
            </a:r>
          </a:p>
          <a:p>
            <a:r>
              <a:rPr dirty="0" sz="3600" lang="en-US" smtClean="0"/>
              <a:t>Cord presentation and </a:t>
            </a:r>
            <a:r>
              <a:rPr dirty="0" sz="3600" lang="en-US" err="1" smtClean="0"/>
              <a:t>prolapse</a:t>
            </a:r>
            <a:r>
              <a:rPr dirty="0" sz="3600" lang="en-US" smtClean="0"/>
              <a:t> due to;</a:t>
            </a:r>
          </a:p>
          <a:p>
            <a:pPr>
              <a:buFont typeface="Wingdings" pitchFamily="2" charset="2"/>
              <a:buChar char="Ø"/>
            </a:pPr>
            <a:r>
              <a:rPr dirty="0" sz="3600" lang="en-US" smtClean="0"/>
              <a:t>Malpresentation hence a loop of the cord is </a:t>
            </a:r>
            <a:r>
              <a:rPr dirty="0" sz="3600" lang="en-US" err="1" smtClean="0"/>
              <a:t>infront</a:t>
            </a:r>
            <a:r>
              <a:rPr dirty="0" sz="3600" lang="en-US" smtClean="0"/>
              <a:t> of p. part &amp; membranes are intact.</a:t>
            </a:r>
          </a:p>
          <a:p>
            <a:pPr>
              <a:buFont typeface="Wingdings" pitchFamily="2" charset="2"/>
              <a:buChar char="Ø"/>
            </a:pPr>
            <a:r>
              <a:rPr dirty="0" sz="3600" lang="en-US" smtClean="0"/>
              <a:t>A loop of the cord is swept in front of the presenting part as membranes rupture. </a:t>
            </a:r>
            <a:endParaRPr dirty="0" sz="3600" lang="en-US"/>
          </a:p>
        </p:txBody>
      </p:sp>
      <p:sp>
        <p:nvSpPr>
          <p:cNvPr id="104919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915" name=""/>
        <p:cNvGrpSpPr/>
        <p:nvPr/>
      </p:nvGrpSpPr>
      <p:grpSpPr>
        <a:xfrm>
          <a:off x="0" y="0"/>
          <a:ext cx="0" cy="0"/>
          <a:chOff x="0" y="0"/>
          <a:chExt cx="0" cy="0"/>
        </a:xfrm>
      </p:grpSpPr>
      <p:sp>
        <p:nvSpPr>
          <p:cNvPr id="1049198" name="Content Placeholder 2"/>
          <p:cNvSpPr>
            <a:spLocks noGrp="1"/>
          </p:cNvSpPr>
          <p:nvPr>
            <p:ph idx="1"/>
          </p:nvPr>
        </p:nvSpPr>
        <p:spPr>
          <a:xfrm>
            <a:off x="666750" y="457200"/>
            <a:ext cx="10477500" cy="6019800"/>
          </a:xfrm>
        </p:spPr>
        <p:txBody>
          <a:bodyPr>
            <a:noAutofit/>
          </a:bodyPr>
          <a:p>
            <a:r>
              <a:rPr dirty="0" sz="3200" lang="en-US" smtClean="0"/>
              <a:t>Premature baby because of  earlier overstretching of uterus.</a:t>
            </a:r>
          </a:p>
          <a:p>
            <a:r>
              <a:rPr dirty="0" sz="3200" lang="en-US" smtClean="0"/>
              <a:t>Increased perinatal  mortality rate due to hypoxia in fetus &amp; infection in neonate.</a:t>
            </a:r>
          </a:p>
          <a:p>
            <a:r>
              <a:rPr dirty="0" sz="3200" lang="en-US" smtClean="0"/>
              <a:t>Prelabour rupture of membranes, because of excessive mobility, such that Braxton Hicks contractions are transmitted to the </a:t>
            </a:r>
            <a:r>
              <a:rPr dirty="0" sz="3200" lang="en-US" err="1" smtClean="0"/>
              <a:t>forewaters</a:t>
            </a:r>
            <a:r>
              <a:rPr dirty="0" sz="3200" lang="en-US" smtClean="0"/>
              <a:t> hence  easily ruptures.</a:t>
            </a:r>
          </a:p>
          <a:p>
            <a:r>
              <a:rPr dirty="0" sz="3200" lang="en-US" smtClean="0"/>
              <a:t>Antepartum haemorrhage due to placental abruption. </a:t>
            </a:r>
          </a:p>
        </p:txBody>
      </p:sp>
      <p:sp>
        <p:nvSpPr>
          <p:cNvPr id="104919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916" name=""/>
        <p:cNvGrpSpPr/>
        <p:nvPr/>
      </p:nvGrpSpPr>
      <p:grpSpPr>
        <a:xfrm>
          <a:off x="0" y="0"/>
          <a:ext cx="0" cy="0"/>
          <a:chOff x="0" y="0"/>
          <a:chExt cx="0" cy="0"/>
        </a:xfrm>
      </p:grpSpPr>
      <p:sp>
        <p:nvSpPr>
          <p:cNvPr id="1049200" name="Content Placeholder 2"/>
          <p:cNvSpPr>
            <a:spLocks noGrp="1"/>
          </p:cNvSpPr>
          <p:nvPr>
            <p:ph idx="1"/>
          </p:nvPr>
        </p:nvSpPr>
        <p:spPr>
          <a:xfrm>
            <a:off x="666750" y="304800"/>
            <a:ext cx="10191750" cy="5943600"/>
          </a:xfrm>
        </p:spPr>
        <p:txBody>
          <a:bodyPr>
            <a:noAutofit/>
          </a:bodyPr>
          <a:p>
            <a:pPr>
              <a:buFont typeface="Wingdings" pitchFamily="2" charset="2"/>
              <a:buChar char="Ø"/>
            </a:pPr>
            <a:r>
              <a:rPr dirty="0" sz="3200" lang="en-US" smtClean="0"/>
              <a:t>This results from sudden reduction of intrauterine size following spontaneous rupture of membranes</a:t>
            </a:r>
          </a:p>
          <a:p>
            <a:r>
              <a:rPr dirty="0" sz="3200" lang="en-US" smtClean="0"/>
              <a:t>Upper urinary tract infection because of obstruction of the mother’s </a:t>
            </a:r>
            <a:r>
              <a:rPr dirty="0" sz="3200" lang="en-US" err="1" smtClean="0"/>
              <a:t>ureters</a:t>
            </a:r>
            <a:endParaRPr dirty="0" sz="3200" lang="en-US" smtClean="0"/>
          </a:p>
          <a:p>
            <a:pPr>
              <a:buFont typeface="Wingdings" pitchFamily="2" charset="2"/>
              <a:buChar char="Ø"/>
            </a:pPr>
            <a:r>
              <a:rPr dirty="0" sz="3200" lang="en-US" smtClean="0"/>
              <a:t>Results from anatomical relationship between the 2 tracts.</a:t>
            </a:r>
          </a:p>
          <a:p>
            <a:r>
              <a:rPr dirty="0" sz="3200" lang="en-US" smtClean="0"/>
              <a:t>Increased incidence of C/S  because of  malpresentation, cord presentation/</a:t>
            </a:r>
            <a:r>
              <a:rPr dirty="0" sz="3200" lang="en-US" err="1" smtClean="0"/>
              <a:t>prolapse</a:t>
            </a:r>
            <a:r>
              <a:rPr dirty="0" sz="3200" lang="en-US" smtClean="0"/>
              <a:t> and severe APH.</a:t>
            </a:r>
          </a:p>
          <a:p>
            <a:pPr>
              <a:buNone/>
            </a:pPr>
            <a:r>
              <a:rPr dirty="0" sz="3200" lang="en-US" smtClean="0"/>
              <a:t> </a:t>
            </a:r>
            <a:endParaRPr dirty="0" sz="3200" lang="en-US"/>
          </a:p>
        </p:txBody>
      </p:sp>
      <p:sp>
        <p:nvSpPr>
          <p:cNvPr id="104920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917" name=""/>
        <p:cNvGrpSpPr/>
        <p:nvPr/>
      </p:nvGrpSpPr>
      <p:grpSpPr>
        <a:xfrm>
          <a:off x="0" y="0"/>
          <a:ext cx="0" cy="0"/>
          <a:chOff x="0" y="0"/>
          <a:chExt cx="0" cy="0"/>
        </a:xfrm>
      </p:grpSpPr>
      <p:sp>
        <p:nvSpPr>
          <p:cNvPr id="1049202" name="Content Placeholder 2"/>
          <p:cNvSpPr>
            <a:spLocks noGrp="1"/>
          </p:cNvSpPr>
          <p:nvPr>
            <p:ph idx="1"/>
          </p:nvPr>
        </p:nvSpPr>
        <p:spPr>
          <a:xfrm>
            <a:off x="666750" y="381000"/>
            <a:ext cx="10191750" cy="5638800"/>
          </a:xfrm>
        </p:spPr>
        <p:txBody>
          <a:bodyPr>
            <a:normAutofit/>
          </a:bodyPr>
          <a:p>
            <a:r>
              <a:rPr dirty="0" sz="3200" lang="en-US" smtClean="0"/>
              <a:t>Postpartum haemorrhage ,because of impaired living ligature action.</a:t>
            </a:r>
          </a:p>
          <a:p>
            <a:pPr>
              <a:buFont typeface="Wingdings" pitchFamily="2" charset="2"/>
              <a:buChar char="Ø"/>
            </a:pPr>
            <a:r>
              <a:rPr dirty="0" sz="3200" lang="en-US" smtClean="0"/>
              <a:t>Impairment could be from overstretching of the uterus or from damage of myometrium following </a:t>
            </a:r>
            <a:r>
              <a:rPr dirty="0" sz="3200" lang="en-US" err="1" smtClean="0"/>
              <a:t>abruptio</a:t>
            </a:r>
            <a:r>
              <a:rPr dirty="0" sz="3200" lang="en-US" smtClean="0"/>
              <a:t>.</a:t>
            </a:r>
            <a:endParaRPr dirty="0" sz="3200" lang="en-US"/>
          </a:p>
        </p:txBody>
      </p:sp>
      <p:sp>
        <p:nvSpPr>
          <p:cNvPr id="1049203" name="5-Point Star 3"/>
          <p:cNvSpPr/>
          <p:nvPr/>
        </p:nvSpPr>
        <p:spPr>
          <a:xfrm>
            <a:off x="1619250" y="4267200"/>
            <a:ext cx="6191250" cy="2590800"/>
          </a:xfrm>
          <a:prstGeom prst="star5"/>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3200" lang="en-US" smtClean="0">
                <a:solidFill>
                  <a:srgbClr val="FFFF00"/>
                </a:solidFill>
                <a:effectLst>
                  <a:outerShdw algn="tl" blurRad="38100" dir="2700000" dist="38100">
                    <a:srgbClr val="000000">
                      <a:alpha val="43137"/>
                    </a:srgbClr>
                  </a:outerShdw>
                </a:effectLst>
              </a:rPr>
              <a:t>END </a:t>
            </a:r>
            <a:endParaRPr b="1" dirty="0" sz="3200" lang="en-US">
              <a:solidFill>
                <a:srgbClr val="FFFF00"/>
              </a:solidFill>
              <a:effectLst>
                <a:outerShdw algn="tl" blurRad="38100" dir="2700000" dist="38100">
                  <a:srgbClr val="000000">
                    <a:alpha val="43137"/>
                  </a:srgbClr>
                </a:outerShdw>
              </a:effectLst>
            </a:endParaRPr>
          </a:p>
        </p:txBody>
      </p:sp>
      <p:sp>
        <p:nvSpPr>
          <p:cNvPr id="104920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918" name=""/>
        <p:cNvGrpSpPr/>
        <p:nvPr/>
      </p:nvGrpSpPr>
      <p:grpSpPr>
        <a:xfrm>
          <a:off x="0" y="0"/>
          <a:ext cx="0" cy="0"/>
          <a:chOff x="0" y="0"/>
          <a:chExt cx="0" cy="0"/>
        </a:xfrm>
      </p:grpSpPr>
      <p:sp>
        <p:nvSpPr>
          <p:cNvPr id="1049205" name="Title 1"/>
          <p:cNvSpPr>
            <a:spLocks noGrp="1"/>
          </p:cNvSpPr>
          <p:nvPr>
            <p:ph type="title"/>
          </p:nvPr>
        </p:nvSpPr>
        <p:spPr/>
        <p:txBody>
          <a:bodyPr>
            <a:normAutofit/>
          </a:bodyPr>
          <a:p>
            <a:pPr algn="ctr"/>
            <a:r>
              <a:rPr dirty="0" sz="5400" lang="en-US" u="sng" smtClean="0">
                <a:solidFill>
                  <a:srgbClr val="0000FF"/>
                </a:solidFill>
                <a:latin typeface="Aharoni" panose="02010803020104030203" pitchFamily="2" charset="-79"/>
                <a:cs typeface="Aharoni" panose="02010803020104030203" pitchFamily="2" charset="-79"/>
              </a:rPr>
              <a:t>OLIGOHYDRAMNIOS</a:t>
            </a:r>
            <a:endParaRPr dirty="0" sz="5400" lang="en-US" u="sng">
              <a:solidFill>
                <a:srgbClr val="0000FF"/>
              </a:solidFill>
              <a:latin typeface="Aharoni" panose="02010803020104030203" pitchFamily="2" charset="-79"/>
              <a:cs typeface="Aharoni" panose="02010803020104030203" pitchFamily="2" charset="-79"/>
            </a:endParaRPr>
          </a:p>
        </p:txBody>
      </p:sp>
      <p:sp>
        <p:nvSpPr>
          <p:cNvPr id="1049206" name="Content Placeholder 2"/>
          <p:cNvSpPr>
            <a:spLocks noGrp="1"/>
          </p:cNvSpPr>
          <p:nvPr>
            <p:ph idx="1"/>
          </p:nvPr>
        </p:nvSpPr>
        <p:spPr>
          <a:xfrm>
            <a:off x="914400" y="1371601"/>
            <a:ext cx="10134601" cy="5257800"/>
          </a:xfrm>
        </p:spPr>
        <p:txBody>
          <a:bodyPr/>
          <a:p>
            <a:pPr algn="ctr" indent="0" marL="0">
              <a:buNone/>
            </a:pPr>
            <a:r>
              <a:rPr b="1" dirty="0" sz="4000" lang="en-US" smtClean="0">
                <a:solidFill>
                  <a:srgbClr val="00B0F0"/>
                </a:solidFill>
                <a:latin typeface="Aharoni" panose="02010803020104030203" pitchFamily="2" charset="-79"/>
                <a:cs typeface="Aharoni" panose="02010803020104030203" pitchFamily="2" charset="-79"/>
              </a:rPr>
              <a:t>Definition</a:t>
            </a:r>
          </a:p>
          <a:p>
            <a:pPr algn="just"/>
            <a:r>
              <a:rPr dirty="0" lang="en-US" smtClean="0"/>
              <a:t>It’s </a:t>
            </a:r>
            <a:r>
              <a:rPr dirty="0" lang="en-US"/>
              <a:t>a pregnancy induced condition characterized by </a:t>
            </a:r>
            <a:r>
              <a:rPr b="1" dirty="0" lang="en-US" smtClean="0"/>
              <a:t>inadequate</a:t>
            </a:r>
            <a:r>
              <a:rPr dirty="0" lang="en-US" smtClean="0"/>
              <a:t> </a:t>
            </a:r>
            <a:r>
              <a:rPr dirty="0" lang="en-US"/>
              <a:t>amount of liquor amnii (amniotic fluid) </a:t>
            </a:r>
            <a:r>
              <a:rPr dirty="0" lang="en-US" smtClean="0"/>
              <a:t>of less than 800ml at term (amniotic fluid volume depends on gestational age), </a:t>
            </a:r>
            <a:r>
              <a:rPr dirty="0" lang="en-US"/>
              <a:t>based on ultrasound </a:t>
            </a:r>
            <a:r>
              <a:rPr dirty="0" lang="en-US" smtClean="0"/>
              <a:t>scanning, thus resulting in poor development of the lung tissue and can lead to fetal death.</a:t>
            </a:r>
            <a:endParaRPr dirty="0" lang="en-US"/>
          </a:p>
          <a:p>
            <a:pPr algn="just"/>
            <a:endParaRPr dirty="0" lang="en-US"/>
          </a:p>
        </p:txBody>
      </p:sp>
      <p:sp>
        <p:nvSpPr>
          <p:cNvPr id="104920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919" name=""/>
        <p:cNvGrpSpPr/>
        <p:nvPr/>
      </p:nvGrpSpPr>
      <p:grpSpPr>
        <a:xfrm>
          <a:off x="0" y="0"/>
          <a:ext cx="0" cy="0"/>
          <a:chOff x="0" y="0"/>
          <a:chExt cx="0" cy="0"/>
        </a:xfrm>
      </p:grpSpPr>
      <p:sp>
        <p:nvSpPr>
          <p:cNvPr id="1049208" name="Title 1"/>
          <p:cNvSpPr>
            <a:spLocks noGrp="1"/>
          </p:cNvSpPr>
          <p:nvPr>
            <p:ph type="title"/>
          </p:nvPr>
        </p:nvSpPr>
        <p:spPr>
          <a:xfrm>
            <a:off x="990600" y="0"/>
            <a:ext cx="10096500" cy="1143000"/>
          </a:xfrm>
        </p:spPr>
        <p:txBody>
          <a:bodyPr/>
          <a:p>
            <a:pPr algn="ctr"/>
            <a:r>
              <a:rPr b="1" dirty="0" lang="en-US" smtClean="0">
                <a:solidFill>
                  <a:srgbClr val="0000FF"/>
                </a:solidFill>
              </a:rPr>
              <a:t>Pathophysiology of oligohydramnios</a:t>
            </a:r>
            <a:endParaRPr b="1" dirty="0" lang="en-US">
              <a:solidFill>
                <a:srgbClr val="0000FF"/>
              </a:solidFill>
            </a:endParaRPr>
          </a:p>
        </p:txBody>
      </p:sp>
      <p:sp>
        <p:nvSpPr>
          <p:cNvPr id="1049209" name="Content Placeholder 2"/>
          <p:cNvSpPr>
            <a:spLocks noGrp="1"/>
          </p:cNvSpPr>
          <p:nvPr>
            <p:ph idx="1"/>
          </p:nvPr>
        </p:nvSpPr>
        <p:spPr>
          <a:xfrm>
            <a:off x="990599" y="1143000"/>
            <a:ext cx="10058401" cy="5486399"/>
          </a:xfrm>
        </p:spPr>
        <p:txBody>
          <a:bodyPr>
            <a:normAutofit lnSpcReduction="10000"/>
          </a:bodyPr>
          <a:p>
            <a:pPr algn="just"/>
            <a:r>
              <a:rPr dirty="0" lang="en-US" u="sng"/>
              <a:t>Rupture of the membranes </a:t>
            </a:r>
            <a:r>
              <a:rPr dirty="0" lang="en-US"/>
              <a:t>is the most common cause of </a:t>
            </a:r>
            <a:r>
              <a:rPr dirty="0" lang="en-US" smtClean="0"/>
              <a:t>oligohydramnios, especially in premature drainage of liquor. </a:t>
            </a:r>
          </a:p>
          <a:p>
            <a:pPr algn="just"/>
            <a:r>
              <a:rPr dirty="0" lang="en-US" smtClean="0"/>
              <a:t>However</a:t>
            </a:r>
            <a:r>
              <a:rPr dirty="0" lang="en-US"/>
              <a:t>, because the amniotic fluid is primarily fetal urine in the latter half of the pregnancy, the </a:t>
            </a:r>
            <a:r>
              <a:rPr dirty="0" lang="en-US" u="sng"/>
              <a:t>absence of fetal urine production</a:t>
            </a:r>
            <a:r>
              <a:rPr dirty="0" lang="en-US"/>
              <a:t> or a blockage in the fetus' urinary tract </a:t>
            </a:r>
            <a:r>
              <a:rPr dirty="0" lang="en-US" smtClean="0"/>
              <a:t>results </a:t>
            </a:r>
            <a:r>
              <a:rPr dirty="0" lang="en-US"/>
              <a:t>in oligohydramnios. </a:t>
            </a:r>
            <a:endParaRPr dirty="0" lang="en-US" smtClean="0"/>
          </a:p>
          <a:p>
            <a:pPr algn="just"/>
            <a:r>
              <a:rPr dirty="0" lang="en-US" u="sng" smtClean="0"/>
              <a:t>Fetal </a:t>
            </a:r>
            <a:r>
              <a:rPr dirty="0" lang="en-US" u="sng"/>
              <a:t>swallowing</a:t>
            </a:r>
            <a:r>
              <a:rPr dirty="0" lang="en-US"/>
              <a:t>, which occurs physiologically, reduces the amount of fluid, and an absence of swallowing or a blockage of the fetus' GI tract can lead to polyhydramnios.</a:t>
            </a:r>
          </a:p>
        </p:txBody>
      </p:sp>
      <p:sp>
        <p:nvSpPr>
          <p:cNvPr id="104921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920" name=""/>
        <p:cNvGrpSpPr/>
        <p:nvPr/>
      </p:nvGrpSpPr>
      <p:grpSpPr>
        <a:xfrm>
          <a:off x="0" y="0"/>
          <a:ext cx="0" cy="0"/>
          <a:chOff x="0" y="0"/>
          <a:chExt cx="0" cy="0"/>
        </a:xfrm>
      </p:grpSpPr>
      <p:sp>
        <p:nvSpPr>
          <p:cNvPr id="1049211" name="Title 1"/>
          <p:cNvSpPr>
            <a:spLocks noGrp="1"/>
          </p:cNvSpPr>
          <p:nvPr>
            <p:ph type="title"/>
          </p:nvPr>
        </p:nvSpPr>
        <p:spPr/>
        <p:txBody>
          <a:bodyPr/>
          <a:p>
            <a:pPr algn="ctr"/>
            <a:r>
              <a:rPr b="1" dirty="0" lang="en-US" smtClean="0">
                <a:solidFill>
                  <a:srgbClr val="0000FF"/>
                </a:solidFill>
                <a:latin typeface="Aharoni" panose="02010803020104030203" pitchFamily="2" charset="-79"/>
                <a:cs typeface="Aharoni" panose="02010803020104030203" pitchFamily="2" charset="-79"/>
              </a:rPr>
              <a:t>INCIDENCE</a:t>
            </a:r>
            <a:endParaRPr b="1" dirty="0" lang="en-US">
              <a:solidFill>
                <a:srgbClr val="0000FF"/>
              </a:solidFill>
              <a:latin typeface="Aharoni" panose="02010803020104030203" pitchFamily="2" charset="-79"/>
              <a:cs typeface="Aharoni" panose="02010803020104030203" pitchFamily="2" charset="-79"/>
            </a:endParaRPr>
          </a:p>
        </p:txBody>
      </p:sp>
      <p:sp>
        <p:nvSpPr>
          <p:cNvPr id="1049212" name="Content Placeholder 2"/>
          <p:cNvSpPr>
            <a:spLocks noGrp="1"/>
          </p:cNvSpPr>
          <p:nvPr>
            <p:ph idx="1"/>
          </p:nvPr>
        </p:nvSpPr>
        <p:spPr>
          <a:xfrm>
            <a:off x="685800" y="1066800"/>
            <a:ext cx="10515600" cy="5562600"/>
          </a:xfrm>
        </p:spPr>
        <p:txBody>
          <a:bodyPr>
            <a:normAutofit fontScale="92500" lnSpcReduction="10000"/>
          </a:bodyPr>
          <a:p>
            <a:pPr algn="just"/>
            <a:r>
              <a:rPr dirty="0" lang="en-US"/>
              <a:t>Oligohydramnios occurs in 4% of pregnancies, and polyhydramnios occurs in 1% of </a:t>
            </a:r>
            <a:r>
              <a:rPr dirty="0" lang="en-US" smtClean="0"/>
              <a:t>pregnancies.</a:t>
            </a:r>
          </a:p>
          <a:p>
            <a:pPr algn="just"/>
            <a:r>
              <a:rPr dirty="0" lang="en-US" smtClean="0"/>
              <a:t>When diagnosed in the 1</a:t>
            </a:r>
            <a:r>
              <a:rPr baseline="30000" dirty="0" lang="en-US" smtClean="0"/>
              <a:t>st</a:t>
            </a:r>
            <a:r>
              <a:rPr dirty="0" lang="en-US" smtClean="0"/>
              <a:t> half of pregnancy, it’s often associated with renal agenesis( absence of the kidneys) or potter’s syndrome in which the baby has pulmonary hypoplasia</a:t>
            </a:r>
          </a:p>
          <a:p>
            <a:pPr algn="just" indent="0" marL="0">
              <a:buNone/>
            </a:pPr>
            <a:r>
              <a:rPr b="1" dirty="0" sz="3500" lang="en-US" u="sng" smtClean="0">
                <a:solidFill>
                  <a:srgbClr val="0000FF"/>
                </a:solidFill>
              </a:rPr>
              <a:t>Note:</a:t>
            </a:r>
            <a:r>
              <a:rPr dirty="0" lang="en-US" smtClean="0"/>
              <a:t> </a:t>
            </a:r>
          </a:p>
          <a:p>
            <a:pPr algn="just"/>
            <a:r>
              <a:rPr b="1" dirty="0" lang="en-US" smtClean="0"/>
              <a:t>Pulmonary </a:t>
            </a:r>
            <a:r>
              <a:rPr b="1" dirty="0" lang="en-US"/>
              <a:t>hypoplasia</a:t>
            </a:r>
            <a:r>
              <a:rPr dirty="0" lang="en-US"/>
              <a:t> is incomplete development of the lungs, resulting in an abnormally low number or size of bronchopulmonary segments or alveoli. </a:t>
            </a:r>
          </a:p>
          <a:p>
            <a:pPr algn="just"/>
            <a:r>
              <a:rPr dirty="0" lang="en-US" smtClean="0"/>
              <a:t>A </a:t>
            </a:r>
            <a:r>
              <a:rPr dirty="0" lang="en-US"/>
              <a:t>congenital </a:t>
            </a:r>
            <a:r>
              <a:rPr dirty="0" lang="en-US" smtClean="0"/>
              <a:t>malformation &amp; often </a:t>
            </a:r>
            <a:r>
              <a:rPr dirty="0" lang="en-US"/>
              <a:t>occurs secondary to other fetal abnormalities that interfere with normal development of the lungs</a:t>
            </a:r>
            <a:r>
              <a:rPr dirty="0" lang="en-US" smtClean="0"/>
              <a:t>.</a:t>
            </a:r>
          </a:p>
        </p:txBody>
      </p:sp>
      <p:sp>
        <p:nvSpPr>
          <p:cNvPr id="104921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923" name=""/>
        <p:cNvGrpSpPr/>
        <p:nvPr/>
      </p:nvGrpSpPr>
      <p:grpSpPr>
        <a:xfrm>
          <a:off x="0" y="0"/>
          <a:ext cx="0" cy="0"/>
          <a:chOff x="0" y="0"/>
          <a:chExt cx="0" cy="0"/>
        </a:xfrm>
      </p:grpSpPr>
      <p:sp>
        <p:nvSpPr>
          <p:cNvPr id="1049217" name="Content Placeholder 2"/>
          <p:cNvSpPr>
            <a:spLocks noGrp="1"/>
          </p:cNvSpPr>
          <p:nvPr>
            <p:ph idx="1"/>
          </p:nvPr>
        </p:nvSpPr>
        <p:spPr>
          <a:xfrm>
            <a:off x="952501" y="228600"/>
            <a:ext cx="10096500" cy="6248399"/>
          </a:xfrm>
        </p:spPr>
        <p:txBody>
          <a:bodyPr>
            <a:normAutofit/>
          </a:bodyPr>
          <a:p>
            <a:pPr algn="just"/>
            <a:r>
              <a:rPr dirty="0" sz="3600" lang="en-US"/>
              <a:t>The mortality rate in oligohydramnios is high because:-</a:t>
            </a:r>
          </a:p>
          <a:p>
            <a:pPr algn="just" lvl="1"/>
            <a:r>
              <a:rPr dirty="0" sz="3600" lang="en-US"/>
              <a:t> The lack of amniotic fluid allows compression of the fetal abdomen, which limits movement of its diaphragm. </a:t>
            </a:r>
          </a:p>
          <a:p>
            <a:pPr algn="just" lvl="1"/>
            <a:r>
              <a:rPr dirty="0" sz="3600" lang="en-US"/>
              <a:t>The lack of amniotic fluid flowing in and out of the fetal lungs leads to pulmonary hypoplasia. </a:t>
            </a:r>
          </a:p>
          <a:p>
            <a:pPr algn="just" indent="0" lvl="1" marL="457200">
              <a:buNone/>
            </a:pPr>
            <a:endParaRPr dirty="0" sz="3600" lang="en-US"/>
          </a:p>
          <a:p>
            <a:endParaRPr dirty="0" sz="3600" lang="en-US"/>
          </a:p>
        </p:txBody>
      </p:sp>
      <p:sp>
        <p:nvSpPr>
          <p:cNvPr id="104921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924" name=""/>
        <p:cNvGrpSpPr/>
        <p:nvPr/>
      </p:nvGrpSpPr>
      <p:grpSpPr>
        <a:xfrm>
          <a:off x="0" y="0"/>
          <a:ext cx="0" cy="0"/>
          <a:chOff x="0" y="0"/>
          <a:chExt cx="0" cy="0"/>
        </a:xfrm>
      </p:grpSpPr>
      <p:sp>
        <p:nvSpPr>
          <p:cNvPr id="1049219" name="Title 1"/>
          <p:cNvSpPr>
            <a:spLocks noGrp="1"/>
          </p:cNvSpPr>
          <p:nvPr>
            <p:ph type="title"/>
          </p:nvPr>
        </p:nvSpPr>
        <p:spPr/>
        <p:txBody>
          <a:bodyPr>
            <a:normAutofit/>
          </a:bodyPr>
          <a:p>
            <a:pPr algn="ctr"/>
            <a:r>
              <a:rPr b="1" dirty="0" sz="4800" lang="en-US" smtClean="0">
                <a:solidFill>
                  <a:srgbClr val="0000FF"/>
                </a:solidFill>
                <a:latin typeface="Aharoni" panose="02010803020104030203" pitchFamily="2" charset="-79"/>
                <a:cs typeface="Aharoni" panose="02010803020104030203" pitchFamily="2" charset="-79"/>
              </a:rPr>
              <a:t>Causes of oligohydramnios</a:t>
            </a:r>
            <a:endParaRPr b="1" dirty="0" sz="4800" lang="en-US">
              <a:solidFill>
                <a:srgbClr val="0000FF"/>
              </a:solidFill>
              <a:latin typeface="Aharoni" panose="02010803020104030203" pitchFamily="2" charset="-79"/>
              <a:cs typeface="Aharoni" panose="02010803020104030203" pitchFamily="2" charset="-79"/>
            </a:endParaRPr>
          </a:p>
        </p:txBody>
      </p:sp>
      <p:sp>
        <p:nvSpPr>
          <p:cNvPr id="1049220" name="Content Placeholder 2"/>
          <p:cNvSpPr>
            <a:spLocks noGrp="1"/>
          </p:cNvSpPr>
          <p:nvPr>
            <p:ph idx="1"/>
          </p:nvPr>
        </p:nvSpPr>
        <p:spPr>
          <a:xfrm>
            <a:off x="762000" y="1143001"/>
            <a:ext cx="10515600" cy="5638800"/>
          </a:xfrm>
        </p:spPr>
        <p:txBody>
          <a:bodyPr>
            <a:normAutofit/>
          </a:bodyPr>
          <a:p>
            <a:pPr algn="just"/>
            <a:r>
              <a:rPr dirty="0" sz="2800" lang="en-US" smtClean="0"/>
              <a:t>The exact cause in unknown (idiopathic) but the following factors are commonly associated with oligohydramnios:-</a:t>
            </a:r>
          </a:p>
          <a:p>
            <a:pPr algn="just"/>
            <a:r>
              <a:rPr dirty="0" sz="2800" lang="en-US" smtClean="0"/>
              <a:t>Fetal </a:t>
            </a:r>
            <a:r>
              <a:rPr dirty="0" sz="2800" lang="en-US"/>
              <a:t>urinary tract anomalies, such as renal </a:t>
            </a:r>
            <a:r>
              <a:rPr dirty="0" sz="2800" lang="en-US" smtClean="0"/>
              <a:t>agenesis &amp; polycystic kidneys.</a:t>
            </a:r>
          </a:p>
          <a:p>
            <a:pPr algn="just"/>
            <a:r>
              <a:rPr dirty="0" sz="2800" lang="en-US"/>
              <a:t>PROM and chronic leakage of the amniotic </a:t>
            </a:r>
            <a:r>
              <a:rPr dirty="0" sz="2800" lang="en-US" smtClean="0"/>
              <a:t>fluid prenatally.</a:t>
            </a:r>
          </a:p>
          <a:p>
            <a:r>
              <a:rPr dirty="0" sz="2800" lang="en-US"/>
              <a:t>Placental insufficiency, as seen in pregnancy-induced hypertension (</a:t>
            </a:r>
            <a:r>
              <a:rPr dirty="0" sz="2800" lang="en-US" err="1"/>
              <a:t>PIH</a:t>
            </a:r>
            <a:r>
              <a:rPr dirty="0" sz="2800" lang="en-US"/>
              <a:t>), maternal diabetes, or </a:t>
            </a:r>
            <a:r>
              <a:rPr dirty="0" sz="2800" lang="en-US" smtClean="0"/>
              <a:t>post-maturity </a:t>
            </a:r>
            <a:r>
              <a:rPr dirty="0" sz="2800" lang="en-US"/>
              <a:t>syndrome when the pregnancy extends beyond 42 weeks' gestation</a:t>
            </a:r>
          </a:p>
          <a:p>
            <a:r>
              <a:rPr dirty="0" sz="2800" lang="en-US"/>
              <a:t>Maternal use of prostaglandin synthase inhibitors or ACE </a:t>
            </a:r>
            <a:r>
              <a:rPr dirty="0" sz="2800" lang="en-US" smtClean="0"/>
              <a:t>inhibitors </a:t>
            </a:r>
            <a:r>
              <a:rPr dirty="0" sz="2800" lang="en-US" err="1" smtClean="0"/>
              <a:t>e.g</a:t>
            </a:r>
            <a:r>
              <a:rPr dirty="0" sz="2800" lang="en-US" smtClean="0"/>
              <a:t> captopril</a:t>
            </a:r>
          </a:p>
          <a:p>
            <a:r>
              <a:rPr dirty="0" sz="2800" lang="en-US" smtClean="0"/>
              <a:t>Twin to twin transfusion syndrome ( where one twin experiences severe amniotic fluid deficiency while the other has excess)</a:t>
            </a:r>
            <a:endParaRPr dirty="0" sz="2800" lang="en-US"/>
          </a:p>
          <a:p>
            <a:pPr algn="just" indent="0" marL="0">
              <a:buNone/>
            </a:pPr>
            <a:endParaRPr dirty="0" sz="2800" lang="en-US"/>
          </a:p>
        </p:txBody>
      </p:sp>
      <p:sp>
        <p:nvSpPr>
          <p:cNvPr id="104922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925" name=""/>
        <p:cNvGrpSpPr/>
        <p:nvPr/>
      </p:nvGrpSpPr>
      <p:grpSpPr>
        <a:xfrm>
          <a:off x="0" y="0"/>
          <a:ext cx="0" cy="0"/>
          <a:chOff x="0" y="0"/>
          <a:chExt cx="0" cy="0"/>
        </a:xfrm>
      </p:grpSpPr>
      <p:sp>
        <p:nvSpPr>
          <p:cNvPr id="1049222" name="Title 1"/>
          <p:cNvSpPr>
            <a:spLocks noGrp="1"/>
          </p:cNvSpPr>
          <p:nvPr>
            <p:ph type="title"/>
          </p:nvPr>
        </p:nvSpPr>
        <p:spPr>
          <a:xfrm>
            <a:off x="990600" y="13855"/>
            <a:ext cx="10096500" cy="1143000"/>
          </a:xfrm>
        </p:spPr>
        <p:txBody>
          <a:bodyPr/>
          <a:p>
            <a:pPr algn="ctr"/>
            <a:r>
              <a:rPr dirty="0" lang="en-US" smtClean="0">
                <a:solidFill>
                  <a:srgbClr val="0000FF"/>
                </a:solidFill>
                <a:latin typeface="Aharoni" panose="02010803020104030203" pitchFamily="2" charset="-79"/>
                <a:cs typeface="Aharoni" panose="02010803020104030203" pitchFamily="2" charset="-79"/>
              </a:rPr>
              <a:t>Clinical features of oligohydramnios</a:t>
            </a:r>
            <a:endParaRPr dirty="0" lang="en-US">
              <a:solidFill>
                <a:srgbClr val="0000FF"/>
              </a:solidFill>
              <a:latin typeface="Aharoni" panose="02010803020104030203" pitchFamily="2" charset="-79"/>
              <a:cs typeface="Aharoni" panose="02010803020104030203" pitchFamily="2" charset="-79"/>
            </a:endParaRPr>
          </a:p>
        </p:txBody>
      </p:sp>
      <p:sp>
        <p:nvSpPr>
          <p:cNvPr id="1049223" name="Content Placeholder 2"/>
          <p:cNvSpPr>
            <a:spLocks noGrp="1"/>
          </p:cNvSpPr>
          <p:nvPr>
            <p:ph idx="1"/>
          </p:nvPr>
        </p:nvSpPr>
        <p:spPr>
          <a:xfrm>
            <a:off x="762000" y="838200"/>
            <a:ext cx="10591800" cy="5867399"/>
          </a:xfrm>
        </p:spPr>
        <p:txBody>
          <a:bodyPr/>
          <a:p>
            <a:pPr algn="just"/>
            <a:r>
              <a:rPr dirty="0" lang="en-US" smtClean="0"/>
              <a:t>On inspection:</a:t>
            </a:r>
          </a:p>
          <a:p>
            <a:pPr algn="just" lvl="1"/>
            <a:r>
              <a:rPr dirty="0" lang="en-US" smtClean="0"/>
              <a:t>The uterus appears smaller than expected for the period of gestation.</a:t>
            </a:r>
          </a:p>
          <a:p>
            <a:pPr algn="just"/>
            <a:r>
              <a:rPr dirty="0" lang="en-US" smtClean="0"/>
              <a:t>Mother reports of reduced fetal movements</a:t>
            </a:r>
          </a:p>
          <a:p>
            <a:pPr algn="just"/>
            <a:r>
              <a:rPr dirty="0" lang="en-US" smtClean="0"/>
              <a:t>On palpation:</a:t>
            </a:r>
          </a:p>
          <a:p>
            <a:pPr algn="just" lvl="1"/>
            <a:r>
              <a:rPr dirty="0" lang="en-US" smtClean="0"/>
              <a:t>Uterus is small and compact and fetal parts are easily felt</a:t>
            </a:r>
          </a:p>
          <a:p>
            <a:pPr algn="just" lvl="1"/>
            <a:r>
              <a:rPr dirty="0" lang="en-US" smtClean="0"/>
              <a:t>Fetal malpresentation is a common finding, especially breech presentation</a:t>
            </a:r>
          </a:p>
          <a:p>
            <a:pPr algn="just"/>
            <a:r>
              <a:rPr dirty="0" lang="en-US" smtClean="0"/>
              <a:t>Auscultation findings are normal</a:t>
            </a:r>
          </a:p>
          <a:p>
            <a:pPr algn="just"/>
            <a:r>
              <a:rPr dirty="0" lang="en-US" smtClean="0"/>
              <a:t>Renal abnormality may be visible on ultrasound scanning</a:t>
            </a:r>
            <a:endParaRPr dirty="0" lang="en-US"/>
          </a:p>
        </p:txBody>
      </p:sp>
      <p:sp>
        <p:nvSpPr>
          <p:cNvPr id="104922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926" name=""/>
        <p:cNvGrpSpPr/>
        <p:nvPr/>
      </p:nvGrpSpPr>
      <p:grpSpPr>
        <a:xfrm>
          <a:off x="0" y="0"/>
          <a:ext cx="0" cy="0"/>
          <a:chOff x="0" y="0"/>
          <a:chExt cx="0" cy="0"/>
        </a:xfrm>
      </p:grpSpPr>
      <p:sp>
        <p:nvSpPr>
          <p:cNvPr id="1049225" name="Title 1"/>
          <p:cNvSpPr>
            <a:spLocks noGrp="1"/>
          </p:cNvSpPr>
          <p:nvPr>
            <p:ph type="title"/>
          </p:nvPr>
        </p:nvSpPr>
        <p:spPr>
          <a:xfrm>
            <a:off x="914400" y="27709"/>
            <a:ext cx="10096500" cy="1143000"/>
          </a:xfrm>
        </p:spPr>
        <p:txBody>
          <a:bodyPr>
            <a:normAutofit/>
          </a:bodyPr>
          <a:p>
            <a:pPr algn="ctr"/>
            <a:r>
              <a:rPr dirty="0" sz="4800" lang="en-US" smtClean="0">
                <a:solidFill>
                  <a:srgbClr val="0000FF"/>
                </a:solidFill>
                <a:latin typeface="Aharoni" panose="02010803020104030203" pitchFamily="2" charset="-79"/>
                <a:cs typeface="Aharoni" panose="02010803020104030203" pitchFamily="2" charset="-79"/>
              </a:rPr>
              <a:t>Specific management of oligohydramnios</a:t>
            </a:r>
            <a:endParaRPr dirty="0" sz="4800" lang="en-US">
              <a:solidFill>
                <a:srgbClr val="0000FF"/>
              </a:solidFill>
              <a:latin typeface="Aharoni" panose="02010803020104030203" pitchFamily="2" charset="-79"/>
              <a:cs typeface="Aharoni" panose="02010803020104030203" pitchFamily="2" charset="-79"/>
            </a:endParaRPr>
          </a:p>
        </p:txBody>
      </p:sp>
      <p:sp>
        <p:nvSpPr>
          <p:cNvPr id="1049226" name="Content Placeholder 2"/>
          <p:cNvSpPr>
            <a:spLocks noGrp="1"/>
          </p:cNvSpPr>
          <p:nvPr>
            <p:ph idx="1"/>
          </p:nvPr>
        </p:nvSpPr>
        <p:spPr>
          <a:xfrm>
            <a:off x="762000" y="1142999"/>
            <a:ext cx="10515600" cy="5562601"/>
          </a:xfrm>
        </p:spPr>
        <p:txBody>
          <a:bodyPr>
            <a:normAutofit fontScale="92500" lnSpcReduction="10000"/>
          </a:bodyPr>
          <a:p>
            <a:pPr algn="just"/>
            <a:r>
              <a:rPr dirty="0" lang="en-US" smtClean="0"/>
              <a:t>The aim of management is to establish the cause by investigating the etiology and fetal effects.</a:t>
            </a:r>
          </a:p>
          <a:p>
            <a:pPr algn="just"/>
            <a:r>
              <a:rPr dirty="0" lang="en-US" smtClean="0"/>
              <a:t>Admit mother to hospital at first contact</a:t>
            </a:r>
          </a:p>
          <a:p>
            <a:pPr algn="just"/>
            <a:r>
              <a:rPr dirty="0" lang="en-US" smtClean="0"/>
              <a:t>Investigate thru’</a:t>
            </a:r>
          </a:p>
          <a:p>
            <a:pPr algn="just" lvl="1"/>
            <a:r>
              <a:rPr dirty="0" lang="en-US" smtClean="0"/>
              <a:t>History taking ( reduced fetal movement)</a:t>
            </a:r>
          </a:p>
          <a:p>
            <a:pPr algn="just" lvl="1"/>
            <a:r>
              <a:rPr dirty="0" lang="en-US" smtClean="0"/>
              <a:t>Ultrasound scan</a:t>
            </a:r>
          </a:p>
          <a:p>
            <a:pPr algn="just"/>
            <a:r>
              <a:rPr dirty="0" lang="en-US" smtClean="0"/>
              <a:t>Where fetal abnormality is not considered to be lethal or the cause not known, administer prophylactic </a:t>
            </a:r>
            <a:r>
              <a:rPr dirty="0" lang="en-US" err="1" smtClean="0"/>
              <a:t>amnioinfusion</a:t>
            </a:r>
            <a:r>
              <a:rPr dirty="0" lang="en-US" smtClean="0"/>
              <a:t> with normal saline, ringer’s lactate or 5% dextrose in order to prevent compression deformities and </a:t>
            </a:r>
            <a:r>
              <a:rPr dirty="0" lang="en-US" err="1" smtClean="0"/>
              <a:t>hypoplastic</a:t>
            </a:r>
            <a:r>
              <a:rPr dirty="0" lang="en-US" smtClean="0"/>
              <a:t> lung disease and prolong the pregnancy.</a:t>
            </a:r>
          </a:p>
          <a:p>
            <a:pPr algn="just"/>
            <a:r>
              <a:rPr dirty="0" lang="en-US" smtClean="0"/>
              <a:t>Provide mother with a fetal kick chart and interpret accordingly </a:t>
            </a:r>
            <a:endParaRPr dirty="0" lang="en-US"/>
          </a:p>
        </p:txBody>
      </p:sp>
      <p:sp>
        <p:nvSpPr>
          <p:cNvPr id="104922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927" name=""/>
        <p:cNvGrpSpPr/>
        <p:nvPr/>
      </p:nvGrpSpPr>
      <p:grpSpPr>
        <a:xfrm>
          <a:off x="0" y="0"/>
          <a:ext cx="0" cy="0"/>
          <a:chOff x="0" y="0"/>
          <a:chExt cx="0" cy="0"/>
        </a:xfrm>
      </p:grpSpPr>
      <p:sp>
        <p:nvSpPr>
          <p:cNvPr id="1049228" name="Content Placeholder 2"/>
          <p:cNvSpPr>
            <a:spLocks noGrp="1"/>
          </p:cNvSpPr>
          <p:nvPr>
            <p:ph idx="1"/>
          </p:nvPr>
        </p:nvSpPr>
        <p:spPr>
          <a:xfrm>
            <a:off x="952501" y="304801"/>
            <a:ext cx="10096500" cy="5588984"/>
          </a:xfrm>
        </p:spPr>
        <p:txBody>
          <a:bodyPr/>
          <a:p>
            <a:pPr algn="just"/>
            <a:r>
              <a:rPr dirty="0" lang="en-US" smtClean="0"/>
              <a:t>Consider induction of labour in late weeks of gestation where the fetus is viable because of possibility of placental insufficiency</a:t>
            </a:r>
          </a:p>
          <a:p>
            <a:pPr algn="just"/>
            <a:r>
              <a:rPr dirty="0" lang="en-US" smtClean="0"/>
              <a:t>In labour, give epidural analgesia because uterine contractions are often unusually painful in oligohydramnios</a:t>
            </a:r>
          </a:p>
          <a:p>
            <a:pPr algn="just"/>
            <a:r>
              <a:rPr dirty="0" lang="en-US" smtClean="0"/>
              <a:t>Continuous fetal hear rate monitoring during labour because of possible fetal hypoxia</a:t>
            </a:r>
          </a:p>
          <a:p>
            <a:pPr algn="just"/>
            <a:r>
              <a:rPr dirty="0" lang="en-US" smtClean="0"/>
              <a:t>Prepare to resuscitate an asphyxiated baby</a:t>
            </a:r>
            <a:endParaRPr dirty="0" lang="en-US"/>
          </a:p>
        </p:txBody>
      </p:sp>
      <p:sp>
        <p:nvSpPr>
          <p:cNvPr id="104922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928" name=""/>
        <p:cNvGrpSpPr/>
        <p:nvPr/>
      </p:nvGrpSpPr>
      <p:grpSpPr>
        <a:xfrm>
          <a:off x="0" y="0"/>
          <a:ext cx="0" cy="0"/>
          <a:chOff x="0" y="0"/>
          <a:chExt cx="0" cy="0"/>
        </a:xfrm>
      </p:grpSpPr>
      <p:sp>
        <p:nvSpPr>
          <p:cNvPr id="1049230" name="Title 1"/>
          <p:cNvSpPr>
            <a:spLocks noGrp="1"/>
          </p:cNvSpPr>
          <p:nvPr>
            <p:ph type="title"/>
          </p:nvPr>
        </p:nvSpPr>
        <p:spPr/>
        <p:txBody>
          <a:bodyPr>
            <a:normAutofit/>
          </a:bodyPr>
          <a:p>
            <a:pPr algn="ctr"/>
            <a:r>
              <a:rPr dirty="0" lang="en-US" smtClean="0">
                <a:solidFill>
                  <a:srgbClr val="0000FF"/>
                </a:solidFill>
                <a:latin typeface="Aharoni" panose="02010803020104030203" pitchFamily="2" charset="-79"/>
                <a:cs typeface="Aharoni" panose="02010803020104030203" pitchFamily="2" charset="-79"/>
              </a:rPr>
              <a:t>Effects of oligohydramnios on the fetus</a:t>
            </a:r>
            <a:endParaRPr dirty="0" lang="en-US">
              <a:solidFill>
                <a:srgbClr val="0000FF"/>
              </a:solidFill>
              <a:latin typeface="Aharoni" panose="02010803020104030203" pitchFamily="2" charset="-79"/>
              <a:cs typeface="Aharoni" panose="02010803020104030203" pitchFamily="2" charset="-79"/>
            </a:endParaRPr>
          </a:p>
        </p:txBody>
      </p:sp>
      <p:sp>
        <p:nvSpPr>
          <p:cNvPr id="1049231" name="Content Placeholder 2"/>
          <p:cNvSpPr>
            <a:spLocks noGrp="1"/>
          </p:cNvSpPr>
          <p:nvPr>
            <p:ph idx="1"/>
          </p:nvPr>
        </p:nvSpPr>
        <p:spPr>
          <a:xfrm>
            <a:off x="838200" y="1219200"/>
            <a:ext cx="10439400" cy="5410199"/>
          </a:xfrm>
        </p:spPr>
        <p:txBody>
          <a:bodyPr>
            <a:normAutofit/>
          </a:bodyPr>
          <a:p>
            <a:pPr algn="just"/>
            <a:r>
              <a:rPr dirty="0" lang="en-US"/>
              <a:t>Oligohydramnios is also associated </a:t>
            </a:r>
            <a:r>
              <a:rPr dirty="0" lang="en-US" smtClean="0"/>
              <a:t>with:</a:t>
            </a:r>
          </a:p>
          <a:p>
            <a:pPr algn="just" lvl="1"/>
            <a:r>
              <a:rPr dirty="0" lang="en-US"/>
              <a:t>R</a:t>
            </a:r>
            <a:r>
              <a:rPr dirty="0" lang="en-US" smtClean="0"/>
              <a:t>enal </a:t>
            </a:r>
            <a:r>
              <a:rPr dirty="0" lang="en-US"/>
              <a:t>agenesis or </a:t>
            </a:r>
            <a:r>
              <a:rPr dirty="0" lang="en-US" smtClean="0"/>
              <a:t>dysgenesis</a:t>
            </a:r>
          </a:p>
          <a:p>
            <a:pPr algn="just" lvl="1"/>
            <a:r>
              <a:rPr dirty="0" lang="en-US" smtClean="0"/>
              <a:t>Congenital abnormalities </a:t>
            </a:r>
            <a:r>
              <a:rPr dirty="0" lang="en-US" err="1" smtClean="0"/>
              <a:t>eg</a:t>
            </a:r>
            <a:r>
              <a:rPr dirty="0" lang="en-US" smtClean="0"/>
              <a:t> widely separated eyes with </a:t>
            </a:r>
            <a:r>
              <a:rPr dirty="0" lang="en-US" err="1" smtClean="0"/>
              <a:t>epicantic</a:t>
            </a:r>
            <a:r>
              <a:rPr dirty="0" lang="en-US" smtClean="0"/>
              <a:t> folds, absence of one umbilical artery, low set ears, </a:t>
            </a:r>
            <a:r>
              <a:rPr dirty="0" lang="en-US" err="1" smtClean="0"/>
              <a:t>neurotube</a:t>
            </a:r>
            <a:r>
              <a:rPr dirty="0" lang="en-US" smtClean="0"/>
              <a:t> defects,  etc.</a:t>
            </a:r>
          </a:p>
          <a:p>
            <a:pPr algn="just" lvl="1"/>
            <a:r>
              <a:rPr dirty="0" lang="en-US"/>
              <a:t>P</a:t>
            </a:r>
            <a:r>
              <a:rPr dirty="0" lang="en-US" smtClean="0"/>
              <a:t>ulmonary </a:t>
            </a:r>
            <a:r>
              <a:rPr dirty="0" lang="en-US"/>
              <a:t>hypoplasia that typically leads to death from severe respiratory insufficiency</a:t>
            </a:r>
            <a:endParaRPr dirty="0" lang="en-US" smtClean="0"/>
          </a:p>
          <a:p>
            <a:pPr algn="just" lvl="1"/>
            <a:r>
              <a:rPr dirty="0" lang="en-US" smtClean="0"/>
              <a:t>Meconium </a:t>
            </a:r>
            <a:r>
              <a:rPr dirty="0" lang="en-US"/>
              <a:t>staining of the amniotic </a:t>
            </a:r>
            <a:r>
              <a:rPr dirty="0" lang="en-US" smtClean="0"/>
              <a:t>fluid hence fetal hypoxia</a:t>
            </a:r>
          </a:p>
          <a:p>
            <a:pPr algn="just" lvl="1"/>
            <a:r>
              <a:rPr dirty="0" lang="en-US" smtClean="0"/>
              <a:t>Fetal </a:t>
            </a:r>
            <a:r>
              <a:rPr dirty="0" lang="en-US"/>
              <a:t>heart conduction </a:t>
            </a:r>
            <a:r>
              <a:rPr dirty="0" lang="en-US" smtClean="0"/>
              <a:t>abnormalities hence congenital cardiac abnormalities</a:t>
            </a:r>
          </a:p>
        </p:txBody>
      </p:sp>
      <p:sp>
        <p:nvSpPr>
          <p:cNvPr id="104923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929" name=""/>
        <p:cNvGrpSpPr/>
        <p:nvPr/>
      </p:nvGrpSpPr>
      <p:grpSpPr>
        <a:xfrm>
          <a:off x="0" y="0"/>
          <a:ext cx="0" cy="0"/>
          <a:chOff x="0" y="0"/>
          <a:chExt cx="0" cy="0"/>
        </a:xfrm>
      </p:grpSpPr>
      <p:sp>
        <p:nvSpPr>
          <p:cNvPr id="1049233" name="Title 1"/>
          <p:cNvSpPr>
            <a:spLocks noGrp="1"/>
          </p:cNvSpPr>
          <p:nvPr>
            <p:ph type="title"/>
          </p:nvPr>
        </p:nvSpPr>
        <p:spPr/>
        <p:txBody>
          <a:bodyPr>
            <a:normAutofit/>
          </a:bodyPr>
          <a:p>
            <a:pPr algn="ctr"/>
            <a:r>
              <a:rPr dirty="0" lang="en-US">
                <a:solidFill>
                  <a:srgbClr val="0000FF"/>
                </a:solidFill>
                <a:latin typeface="Aharoni" panose="02010803020104030203" pitchFamily="2" charset="-79"/>
                <a:cs typeface="Aharoni" panose="02010803020104030203" pitchFamily="2" charset="-79"/>
              </a:rPr>
              <a:t>Effects of oligohydramnios on the </a:t>
            </a:r>
            <a:r>
              <a:rPr dirty="0" lang="en-US" smtClean="0">
                <a:solidFill>
                  <a:srgbClr val="0000FF"/>
                </a:solidFill>
                <a:latin typeface="Aharoni" panose="02010803020104030203" pitchFamily="2" charset="-79"/>
                <a:cs typeface="Aharoni" panose="02010803020104030203" pitchFamily="2" charset="-79"/>
              </a:rPr>
              <a:t>fetus </a:t>
            </a:r>
            <a:r>
              <a:rPr dirty="0" lang="en-US" err="1" smtClean="0">
                <a:solidFill>
                  <a:srgbClr val="0000FF"/>
                </a:solidFill>
                <a:latin typeface="Aharoni" panose="02010803020104030203" pitchFamily="2" charset="-79"/>
                <a:cs typeface="Aharoni" panose="02010803020104030203" pitchFamily="2" charset="-79"/>
              </a:rPr>
              <a:t>Cntd</a:t>
            </a:r>
            <a:r>
              <a:rPr dirty="0" lang="en-US" smtClean="0">
                <a:solidFill>
                  <a:srgbClr val="0000FF"/>
                </a:solidFill>
                <a:latin typeface="Aharoni" panose="02010803020104030203" pitchFamily="2" charset="-79"/>
                <a:cs typeface="Aharoni" panose="02010803020104030203" pitchFamily="2" charset="-79"/>
              </a:rPr>
              <a:t>’</a:t>
            </a:r>
            <a:endParaRPr dirty="0" lang="en-US"/>
          </a:p>
        </p:txBody>
      </p:sp>
      <p:sp>
        <p:nvSpPr>
          <p:cNvPr id="1049234" name="Content Placeholder 2"/>
          <p:cNvSpPr>
            <a:spLocks noGrp="1"/>
          </p:cNvSpPr>
          <p:nvPr>
            <p:ph idx="1"/>
          </p:nvPr>
        </p:nvSpPr>
        <p:spPr>
          <a:xfrm>
            <a:off x="952501" y="1596421"/>
            <a:ext cx="10096500" cy="4956779"/>
          </a:xfrm>
        </p:spPr>
        <p:txBody>
          <a:bodyPr>
            <a:normAutofit/>
          </a:bodyPr>
          <a:p>
            <a:pPr algn="just" lvl="1"/>
            <a:r>
              <a:rPr dirty="0" sz="3200" lang="en-US"/>
              <a:t>Umbilical cord compression= fetal hypoxia</a:t>
            </a:r>
          </a:p>
          <a:p>
            <a:pPr algn="just" lvl="1"/>
            <a:r>
              <a:rPr dirty="0" sz="3200" lang="en-US"/>
              <a:t>Poor tolerance of labor leading to non-</a:t>
            </a:r>
            <a:r>
              <a:rPr dirty="0" sz="3200" lang="en-US" err="1"/>
              <a:t>reasuring</a:t>
            </a:r>
            <a:r>
              <a:rPr dirty="0" sz="3200" lang="en-US"/>
              <a:t> fetal heart rate pattern during labour.</a:t>
            </a:r>
          </a:p>
          <a:p>
            <a:pPr algn="just" lvl="1"/>
            <a:r>
              <a:rPr dirty="0" sz="3200" lang="en-US"/>
              <a:t>lower Apgar scores and fetal acidosis= birth asphyxia</a:t>
            </a:r>
          </a:p>
          <a:p>
            <a:pPr algn="just" lvl="1"/>
            <a:r>
              <a:rPr dirty="0" sz="3200" lang="en-US"/>
              <a:t>Intrauterine growth restriction (</a:t>
            </a:r>
            <a:r>
              <a:rPr dirty="0" sz="3200" lang="en-US" err="1"/>
              <a:t>IUGR</a:t>
            </a:r>
            <a:r>
              <a:rPr dirty="0" sz="3200" lang="en-US"/>
              <a:t>) hence SGA baby</a:t>
            </a:r>
          </a:p>
          <a:p>
            <a:pPr algn="just" lvl="1"/>
            <a:r>
              <a:rPr dirty="0" sz="3200" lang="en-US"/>
              <a:t>Increased incidences of perinatal mortality rate (</a:t>
            </a:r>
            <a:r>
              <a:rPr dirty="0" sz="3200" lang="en-US" err="1"/>
              <a:t>PMR</a:t>
            </a:r>
            <a:r>
              <a:rPr dirty="0" sz="3200" lang="en-US" smtClean="0"/>
              <a:t>).</a:t>
            </a:r>
          </a:p>
          <a:p>
            <a:pPr indent="0" marL="0">
              <a:buNone/>
            </a:pPr>
            <a:endParaRPr dirty="0" lang="en-US"/>
          </a:p>
        </p:txBody>
      </p:sp>
      <p:sp>
        <p:nvSpPr>
          <p:cNvPr id="1049235" name="Cloud Callout 3"/>
          <p:cNvSpPr/>
          <p:nvPr/>
        </p:nvSpPr>
        <p:spPr>
          <a:xfrm>
            <a:off x="4343400" y="5410200"/>
            <a:ext cx="2590800" cy="1222248"/>
          </a:xfrm>
          <a:prstGeom prst="cloudCallout"/>
        </p:spPr>
        <p:style>
          <a:lnRef idx="3">
            <a:schemeClr val="lt1"/>
          </a:lnRef>
          <a:fillRef idx="1">
            <a:schemeClr val="accent6"/>
          </a:fillRef>
          <a:effectRef idx="1">
            <a:schemeClr val="accent6"/>
          </a:effectRef>
          <a:fontRef idx="minor">
            <a:schemeClr val="lt1"/>
          </a:fontRef>
        </p:style>
        <p:txBody>
          <a:bodyPr anchor="ctr" rtlCol="0"/>
          <a:p>
            <a:pPr algn="just" lvl="1"/>
            <a:r>
              <a:rPr dirty="0" sz="4400" lang="en-US">
                <a:solidFill>
                  <a:schemeClr val="bg1"/>
                </a:solidFill>
                <a:latin typeface="AR BERKLEY" panose="02000000000000000000" pitchFamily="2" charset="0"/>
              </a:rPr>
              <a:t>End</a:t>
            </a:r>
          </a:p>
        </p:txBody>
      </p:sp>
      <p:sp>
        <p:nvSpPr>
          <p:cNvPr id="1049236" name="Footer Placeholder 4"/>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18.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43" name=""/>
        <p:cNvGrpSpPr/>
        <p:nvPr/>
      </p:nvGrpSpPr>
      <p:grpSpPr>
        <a:xfrm>
          <a:off x="0" y="0"/>
          <a:ext cx="0" cy="0"/>
          <a:chOff x="0" y="0"/>
          <a:chExt cx="0" cy="0"/>
        </a:xfrm>
      </p:grpSpPr>
      <p:sp>
        <p:nvSpPr>
          <p:cNvPr id="1049254" name="Title 1"/>
          <p:cNvSpPr>
            <a:spLocks noGrp="1"/>
          </p:cNvSpPr>
          <p:nvPr>
            <p:ph type="ctrTitle"/>
          </p:nvPr>
        </p:nvSpPr>
        <p:spPr>
          <a:xfrm>
            <a:off x="1428750" y="1752600"/>
            <a:ext cx="9810750" cy="1752600"/>
          </a:xfrm>
          <a:solidFill>
            <a:srgbClr val="0000FF"/>
          </a:solidFill>
          <a:ln>
            <a:noFill/>
          </a:ln>
          <a:effectLst>
            <a:glow rad="228600">
              <a:schemeClr val="accent4">
                <a:satMod val="175000"/>
                <a:alpha val="40000"/>
              </a:schemeClr>
            </a:glow>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a:noAutofit/>
          </a:bodyPr>
          <a:p>
            <a:pPr algn="ctr"/>
            <a:r>
              <a:rPr b="1" dirty="0" sz="6600" smtClean="0">
                <a:solidFill>
                  <a:schemeClr val="bg1"/>
                </a:solidFill>
                <a:effectLst>
                  <a:outerShdw algn="tl" blurRad="38100" dir="2700000" dist="38100">
                    <a:srgbClr val="000000">
                      <a:alpha val="43137"/>
                    </a:srgbClr>
                  </a:outerShdw>
                </a:effectLst>
                <a:uFill>
                  <a:solidFill>
                    <a:schemeClr val="accent3">
                      <a:lumMod val="40000"/>
                      <a:lumOff val="60000"/>
                    </a:schemeClr>
                  </a:solidFill>
                </a:uFill>
                <a:latin typeface="Bauhaus 93" panose="04030905020B02020C02" pitchFamily="82" charset="0"/>
                <a:cs typeface="Aharoni" panose="02010803020104030203" pitchFamily="2" charset="-79"/>
              </a:rPr>
              <a:t/>
            </a:r>
            <a:br>
              <a:rPr b="1" dirty="0" sz="6600" smtClean="0">
                <a:solidFill>
                  <a:schemeClr val="bg1"/>
                </a:solidFill>
                <a:effectLst>
                  <a:outerShdw algn="tl" blurRad="38100" dir="2700000" dist="38100">
                    <a:srgbClr val="000000">
                      <a:alpha val="43137"/>
                    </a:srgbClr>
                  </a:outerShdw>
                </a:effectLst>
                <a:uFill>
                  <a:solidFill>
                    <a:schemeClr val="accent3">
                      <a:lumMod val="40000"/>
                      <a:lumOff val="60000"/>
                    </a:schemeClr>
                  </a:solidFill>
                </a:uFill>
                <a:latin typeface="Bauhaus 93" panose="04030905020B02020C02" pitchFamily="82" charset="0"/>
                <a:cs typeface="Aharoni" panose="02010803020104030203" pitchFamily="2" charset="-79"/>
              </a:rPr>
            </a:br>
            <a:r>
              <a:rPr b="1" cap="none" dirty="0" sz="6600" smtClean="0">
                <a:ln w="24500" cmpd="dbl">
                  <a:solidFill>
                    <a:srgbClr val="FFC000"/>
                  </a:solidFill>
                  <a:prstDash val="solid"/>
                  <a:miter lim="800000"/>
                </a:ln>
                <a:solidFill>
                  <a:schemeClr val="bg1"/>
                </a:solidFill>
                <a:effectLst>
                  <a:outerShdw algn="tl" blurRad="38100" dir="2700000" dist="38100">
                    <a:srgbClr val="000000">
                      <a:alpha val="43137"/>
                    </a:srgbClr>
                  </a:outerShdw>
                </a:effectLst>
                <a:uFill>
                  <a:solidFill>
                    <a:schemeClr val="accent3">
                      <a:lumMod val="40000"/>
                      <a:lumOff val="60000"/>
                    </a:schemeClr>
                  </a:solidFill>
                </a:uFill>
                <a:latin typeface="Bauhaus 93" panose="04030905020B02020C02" pitchFamily="82" charset="0"/>
                <a:cs typeface="Aharoni" panose="02010803020104030203" pitchFamily="2" charset="-79"/>
              </a:rPr>
              <a:t>MULTIPLE  PREGNANCY </a:t>
            </a:r>
            <a:endParaRPr b="1" dirty="0" sz="6600" lang="en-US">
              <a:ln w="24500" cmpd="dbl">
                <a:solidFill>
                  <a:srgbClr val="FFC000"/>
                </a:solidFill>
                <a:prstDash val="solid"/>
                <a:miter lim="800000"/>
              </a:ln>
              <a:solidFill>
                <a:schemeClr val="bg1"/>
              </a:solidFill>
              <a:effectLst>
                <a:outerShdw algn="tl" blurRad="38100" dir="2700000" dist="38100">
                  <a:srgbClr val="000000">
                    <a:alpha val="43137"/>
                  </a:srgbClr>
                </a:outerShdw>
              </a:effectLst>
              <a:uFill>
                <a:solidFill>
                  <a:schemeClr val="accent3">
                    <a:lumMod val="40000"/>
                    <a:lumOff val="60000"/>
                  </a:schemeClr>
                </a:solidFill>
              </a:uFill>
              <a:latin typeface="Bauhaus 93" panose="04030905020B02020C02" pitchFamily="82" charset="0"/>
              <a:cs typeface="Aharoni" panose="02010803020104030203" pitchFamily="2" charset="-79"/>
            </a:endParaRPr>
          </a:p>
        </p:txBody>
      </p:sp>
    </p:spTree>
  </p:cSld>
  <p:clrMapOvr>
    <a:masterClrMapping/>
  </p:clrMapOvr>
  <p:transition xmlns:p14="http://schemas.microsoft.com/office/powerpoint/2010/main" spd="slow">
    <p:strips dir="ru"/>
  </p:transition>
  <p:timing/>
</p:sld>
</file>

<file path=ppt/slides/slide219.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45" name=""/>
        <p:cNvGrpSpPr/>
        <p:nvPr/>
      </p:nvGrpSpPr>
      <p:grpSpPr>
        <a:xfrm>
          <a:off x="0" y="0"/>
          <a:ext cx="0" cy="0"/>
          <a:chOff x="0" y="0"/>
          <a:chExt cx="0" cy="0"/>
        </a:xfrm>
      </p:grpSpPr>
      <p:sp>
        <p:nvSpPr>
          <p:cNvPr id="1049260" name="Title 1"/>
          <p:cNvSpPr>
            <a:spLocks noGrp="1"/>
          </p:cNvSpPr>
          <p:nvPr>
            <p:ph type="title"/>
          </p:nvPr>
        </p:nvSpPr>
        <p:spPr/>
        <p:txBody>
          <a:bodyPr/>
          <a:p>
            <a:r>
              <a:rPr dirty="0" lang="en-US" smtClean="0"/>
              <a:t>OBJECTIVES </a:t>
            </a:r>
            <a:endParaRPr dirty="0" lang="en-US"/>
          </a:p>
        </p:txBody>
      </p:sp>
      <p:sp>
        <p:nvSpPr>
          <p:cNvPr id="1049261" name="Content Placeholder 2"/>
          <p:cNvSpPr>
            <a:spLocks noGrp="1"/>
          </p:cNvSpPr>
          <p:nvPr>
            <p:ph idx="1"/>
          </p:nvPr>
        </p:nvSpPr>
        <p:spPr/>
        <p:txBody>
          <a:bodyPr>
            <a:normAutofit/>
          </a:bodyPr>
          <a:p>
            <a:r>
              <a:rPr dirty="0" lang="en-US" smtClean="0"/>
              <a:t>By the end of the lesson shall have learned the:-</a:t>
            </a:r>
          </a:p>
          <a:p>
            <a:pPr marL="914400">
              <a:buFont typeface="Wingdings" pitchFamily="2" charset="2"/>
              <a:buChar char="q"/>
            </a:pPr>
            <a:r>
              <a:rPr dirty="0" lang="en-US" smtClean="0"/>
              <a:t>Definition</a:t>
            </a:r>
          </a:p>
          <a:p>
            <a:pPr marL="914400">
              <a:buFont typeface="Wingdings" pitchFamily="2" charset="2"/>
              <a:buChar char="q"/>
            </a:pPr>
            <a:r>
              <a:rPr dirty="0" lang="en-US" smtClean="0"/>
              <a:t> Various classification</a:t>
            </a:r>
          </a:p>
          <a:p>
            <a:pPr marL="914400">
              <a:buFont typeface="Wingdings" pitchFamily="2" charset="2"/>
              <a:buChar char="q"/>
            </a:pPr>
            <a:r>
              <a:rPr dirty="0" lang="en-US" smtClean="0"/>
              <a:t>Twinning</a:t>
            </a:r>
          </a:p>
          <a:p>
            <a:pPr marL="914400">
              <a:buFont typeface="Wingdings" pitchFamily="2" charset="2"/>
              <a:buChar char="q"/>
            </a:pPr>
            <a:r>
              <a:rPr dirty="0" lang="en-US" smtClean="0"/>
              <a:t>Clinical features</a:t>
            </a:r>
          </a:p>
          <a:p>
            <a:pPr marL="914400">
              <a:buFont typeface="Wingdings" pitchFamily="2" charset="2"/>
              <a:buChar char="q"/>
            </a:pPr>
            <a:r>
              <a:rPr dirty="0" lang="en-US" smtClean="0"/>
              <a:t>Diagnostic  factor</a:t>
            </a:r>
          </a:p>
          <a:p>
            <a:pPr marL="914400">
              <a:buFont typeface="Wingdings" pitchFamily="2" charset="2"/>
              <a:buChar char="q"/>
            </a:pPr>
            <a:r>
              <a:rPr dirty="0" lang="en-US" smtClean="0"/>
              <a:t>Specific management</a:t>
            </a:r>
          </a:p>
          <a:p>
            <a:pPr marL="914400">
              <a:buFont typeface="Wingdings" pitchFamily="2" charset="2"/>
              <a:buChar char="q"/>
            </a:pPr>
            <a:r>
              <a:rPr dirty="0" lang="en-US" smtClean="0"/>
              <a:t>Complications</a:t>
            </a:r>
            <a:endParaRPr dirty="0" lang="en-US"/>
          </a:p>
        </p:txBody>
      </p:sp>
      <p:sp>
        <p:nvSpPr>
          <p:cNvPr id="104926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0.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48" name=""/>
        <p:cNvGrpSpPr/>
        <p:nvPr/>
      </p:nvGrpSpPr>
      <p:grpSpPr>
        <a:xfrm>
          <a:off x="0" y="0"/>
          <a:ext cx="0" cy="0"/>
          <a:chOff x="0" y="0"/>
          <a:chExt cx="0" cy="0"/>
        </a:xfrm>
      </p:grpSpPr>
      <p:sp>
        <p:nvSpPr>
          <p:cNvPr id="1049266" name="Title 1"/>
          <p:cNvSpPr>
            <a:spLocks noGrp="1"/>
          </p:cNvSpPr>
          <p:nvPr>
            <p:ph type="title"/>
          </p:nvPr>
        </p:nvSpPr>
        <p:spPr>
          <a:xfrm>
            <a:off x="1794509" y="0"/>
            <a:ext cx="9372600" cy="1143000"/>
          </a:xfrm>
        </p:spPr>
        <p:txBody>
          <a:bodyPr/>
          <a:p>
            <a:r>
              <a:rPr dirty="0" lang="en-US" smtClean="0"/>
              <a:t>	</a:t>
            </a:r>
            <a:r>
              <a:rPr dirty="0" lang="en-US" smtClean="0">
                <a:solidFill>
                  <a:srgbClr val="C00000"/>
                </a:solidFill>
              </a:rPr>
              <a:t> </a:t>
            </a:r>
            <a:r>
              <a:rPr b="1" dirty="0" lang="en-US" smtClean="0">
                <a:solidFill>
                  <a:srgbClr val="C00000"/>
                </a:solidFill>
              </a:rPr>
              <a:t>DEFINITION</a:t>
            </a:r>
            <a:endParaRPr b="1" dirty="0" lang="en-US"/>
          </a:p>
        </p:txBody>
      </p:sp>
      <p:sp>
        <p:nvSpPr>
          <p:cNvPr id="1049267" name="Content Placeholder 2"/>
          <p:cNvSpPr>
            <a:spLocks noGrp="1"/>
          </p:cNvSpPr>
          <p:nvPr>
            <p:ph idx="1"/>
          </p:nvPr>
        </p:nvSpPr>
        <p:spPr>
          <a:xfrm>
            <a:off x="1295400" y="1066800"/>
            <a:ext cx="9871709" cy="5181600"/>
          </a:xfrm>
        </p:spPr>
        <p:txBody>
          <a:bodyPr>
            <a:noAutofit/>
          </a:bodyPr>
          <a:p>
            <a:pPr algn="just">
              <a:buFont typeface="Wingdings" pitchFamily="2" charset="2"/>
              <a:buChar char="v"/>
            </a:pPr>
            <a:r>
              <a:rPr dirty="0" lang="en-US" smtClean="0">
                <a:latin typeface="Times New Roman" pitchFamily="18" charset="0"/>
                <a:cs typeface="Times New Roman" pitchFamily="18" charset="0"/>
              </a:rPr>
              <a:t>Refers to development of more than one(1) fetus in the uterus at a specific duration.</a:t>
            </a:r>
          </a:p>
          <a:p>
            <a:pPr algn="ctr">
              <a:buNone/>
            </a:pPr>
            <a:r>
              <a:rPr dirty="0" lang="en-US" smtClean="0">
                <a:latin typeface="Times New Roman" pitchFamily="18" charset="0"/>
                <a:cs typeface="Times New Roman" pitchFamily="18" charset="0"/>
              </a:rPr>
              <a:t>		</a:t>
            </a:r>
            <a:r>
              <a:rPr b="1" dirty="0" lang="en-US" smtClean="0">
                <a:solidFill>
                  <a:srgbClr val="C00000"/>
                </a:solidFill>
                <a:latin typeface="Times New Roman" pitchFamily="18" charset="0"/>
                <a:cs typeface="Times New Roman" pitchFamily="18" charset="0"/>
              </a:rPr>
              <a:t>CLASSIFICATION</a:t>
            </a:r>
          </a:p>
          <a:p>
            <a:pPr algn="just"/>
            <a:r>
              <a:rPr dirty="0" lang="en-US" u="sng" smtClean="0">
                <a:latin typeface="Times New Roman" pitchFamily="18" charset="0"/>
                <a:cs typeface="Times New Roman" pitchFamily="18" charset="0"/>
              </a:rPr>
              <a:t>Based on the number of the fetuses:</a:t>
            </a:r>
          </a:p>
          <a:p>
            <a:pPr algn="just" lvl="1"/>
            <a:r>
              <a:rPr dirty="0" sz="3200" lang="en-US" smtClean="0">
                <a:latin typeface="Times New Roman" pitchFamily="18" charset="0"/>
                <a:cs typeface="Times New Roman" pitchFamily="18" charset="0"/>
              </a:rPr>
              <a:t>Twin= 2 fetuses</a:t>
            </a:r>
          </a:p>
          <a:p>
            <a:pPr algn="just" lvl="1"/>
            <a:r>
              <a:rPr dirty="0" sz="3200" lang="en-US" smtClean="0">
                <a:latin typeface="Times New Roman" pitchFamily="18" charset="0"/>
                <a:cs typeface="Times New Roman" pitchFamily="18" charset="0"/>
              </a:rPr>
              <a:t>Triplet= 3  “</a:t>
            </a:r>
          </a:p>
          <a:p>
            <a:pPr algn="just" lvl="1"/>
            <a:r>
              <a:rPr dirty="0" sz="3200" lang="en-US" smtClean="0">
                <a:latin typeface="Times New Roman" pitchFamily="18" charset="0"/>
                <a:cs typeface="Times New Roman" pitchFamily="18" charset="0"/>
              </a:rPr>
              <a:t>Quadruplets=4 fetuses</a:t>
            </a:r>
          </a:p>
          <a:p>
            <a:pPr algn="just" lvl="1"/>
            <a:r>
              <a:rPr dirty="0" sz="3200" lang="en-US" smtClean="0">
                <a:latin typeface="Times New Roman" pitchFamily="18" charset="0"/>
                <a:cs typeface="Times New Roman" pitchFamily="18" charset="0"/>
              </a:rPr>
              <a:t>Quintuplet = 5   “</a:t>
            </a:r>
          </a:p>
          <a:p>
            <a:pPr algn="just" lvl="1"/>
            <a:endParaRPr dirty="0" sz="3200" lang="en-US" smtClean="0">
              <a:latin typeface="Times New Roman" pitchFamily="18" charset="0"/>
              <a:cs typeface="Times New Roman" pitchFamily="18" charset="0"/>
            </a:endParaRPr>
          </a:p>
          <a:p>
            <a:pPr algn="just">
              <a:buNone/>
            </a:pPr>
            <a:endParaRPr dirty="0" lang="en-US">
              <a:latin typeface="Times New Roman" pitchFamily="18" charset="0"/>
              <a:cs typeface="Times New Roman" pitchFamily="18" charset="0"/>
            </a:endParaRPr>
          </a:p>
        </p:txBody>
      </p:sp>
      <p:sp>
        <p:nvSpPr>
          <p:cNvPr id="104926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1.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49" name=""/>
        <p:cNvGrpSpPr/>
        <p:nvPr/>
      </p:nvGrpSpPr>
      <p:grpSpPr>
        <a:xfrm>
          <a:off x="0" y="0"/>
          <a:ext cx="0" cy="0"/>
          <a:chOff x="0" y="0"/>
          <a:chExt cx="0" cy="0"/>
        </a:xfrm>
      </p:grpSpPr>
      <p:sp>
        <p:nvSpPr>
          <p:cNvPr id="1049269" name="Content Placeholder 2"/>
          <p:cNvSpPr>
            <a:spLocks noGrp="1"/>
          </p:cNvSpPr>
          <p:nvPr>
            <p:ph idx="1"/>
          </p:nvPr>
        </p:nvSpPr>
        <p:spPr>
          <a:xfrm>
            <a:off x="1333501" y="228600"/>
            <a:ext cx="9833609" cy="6172200"/>
          </a:xfrm>
        </p:spPr>
        <p:txBody>
          <a:bodyPr>
            <a:normAutofit/>
          </a:bodyPr>
          <a:p>
            <a:pPr algn="just" lvl="1"/>
            <a:r>
              <a:rPr dirty="0" sz="3200" lang="en-US" smtClean="0"/>
              <a:t>Sextuplet = 6 fetuses</a:t>
            </a:r>
          </a:p>
          <a:p>
            <a:pPr algn="just" lvl="1"/>
            <a:r>
              <a:rPr dirty="0" sz="3200" lang="en-US" smtClean="0"/>
              <a:t>Septuplets = 7 fetuses</a:t>
            </a:r>
          </a:p>
          <a:p>
            <a:pPr algn="just" lvl="1"/>
            <a:r>
              <a:rPr dirty="0" sz="3200" lang="en-US" smtClean="0"/>
              <a:t>Octuplets = 8  “</a:t>
            </a:r>
          </a:p>
          <a:p>
            <a:pPr algn="just">
              <a:buFont typeface="Wingdings" pitchFamily="2" charset="2"/>
              <a:buChar char="Ø"/>
            </a:pPr>
            <a:r>
              <a:rPr dirty="0" lang="en-US" smtClean="0"/>
              <a:t>Among these, twinning is the most common.</a:t>
            </a:r>
          </a:p>
          <a:p>
            <a:pPr algn="just"/>
            <a:r>
              <a:rPr dirty="0" lang="en-US" u="sng" smtClean="0"/>
              <a:t>Number of fertilized ova / </a:t>
            </a:r>
            <a:r>
              <a:rPr dirty="0" lang="en-US" err="1" u="sng" smtClean="0"/>
              <a:t>zygosity</a:t>
            </a:r>
            <a:r>
              <a:rPr dirty="0" lang="en-US" u="sng" smtClean="0"/>
              <a:t>:</a:t>
            </a:r>
          </a:p>
          <a:p>
            <a:pPr algn="just">
              <a:buFont typeface="Wingdings" pitchFamily="2" charset="2"/>
              <a:buChar char="q"/>
            </a:pPr>
            <a:r>
              <a:rPr dirty="0" sz="3200" lang="en-US" err="1" smtClean="0"/>
              <a:t>Monozygosity</a:t>
            </a:r>
            <a:r>
              <a:rPr dirty="0" sz="3200" lang="en-US" smtClean="0"/>
              <a:t> / </a:t>
            </a:r>
            <a:r>
              <a:rPr b="1" dirty="0" sz="3200" lang="en-US" smtClean="0"/>
              <a:t>uniovular</a:t>
            </a:r>
            <a:r>
              <a:rPr dirty="0" sz="3200" lang="en-US" smtClean="0"/>
              <a:t>; twins develop from fertilization of a </a:t>
            </a:r>
            <a:r>
              <a:rPr b="1" dirty="0" sz="3200" lang="en-US" smtClean="0"/>
              <a:t>single ovum </a:t>
            </a:r>
            <a:r>
              <a:rPr dirty="0" sz="3200" lang="en-US" smtClean="0"/>
              <a:t>by one spermatozoon leading to a single zygote.</a:t>
            </a:r>
          </a:p>
          <a:p>
            <a:pPr algn="just">
              <a:buFont typeface="Wingdings" pitchFamily="2" charset="2"/>
              <a:buChar char="Ø"/>
            </a:pPr>
            <a:r>
              <a:rPr dirty="0" sz="3200" lang="en-US" smtClean="0"/>
              <a:t>Thereafter separates / splits  into 2 identical structures , hence develops into identical twin. </a:t>
            </a:r>
          </a:p>
          <a:p>
            <a:pPr algn="just" lvl="1"/>
            <a:endParaRPr dirty="0" lang="en-US" err="1" smtClean="0"/>
          </a:p>
        </p:txBody>
      </p:sp>
      <p:sp>
        <p:nvSpPr>
          <p:cNvPr id="104927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950" name=""/>
        <p:cNvGrpSpPr/>
        <p:nvPr/>
      </p:nvGrpSpPr>
      <p:grpSpPr>
        <a:xfrm>
          <a:off x="0" y="0"/>
          <a:ext cx="0" cy="0"/>
          <a:chOff x="0" y="0"/>
          <a:chExt cx="0" cy="0"/>
        </a:xfrm>
      </p:grpSpPr>
      <p:sp>
        <p:nvSpPr>
          <p:cNvPr id="1049271" name="Title 1"/>
          <p:cNvSpPr>
            <a:spLocks noGrp="1"/>
          </p:cNvSpPr>
          <p:nvPr>
            <p:ph type="title"/>
          </p:nvPr>
        </p:nvSpPr>
        <p:spPr/>
        <p:txBody>
          <a:bodyPr>
            <a:normAutofit/>
          </a:bodyPr>
          <a:p>
            <a:pPr algn="ctr"/>
            <a:r>
              <a:rPr b="1" dirty="0" sz="4400" lang="en-US" smtClean="0">
                <a:solidFill>
                  <a:srgbClr val="FF0000"/>
                </a:solidFill>
              </a:rPr>
              <a:t>Note!!</a:t>
            </a:r>
            <a:endParaRPr b="1" dirty="0" sz="4400" lang="en-US">
              <a:solidFill>
                <a:srgbClr val="FF0000"/>
              </a:solidFill>
            </a:endParaRPr>
          </a:p>
        </p:txBody>
      </p:sp>
      <p:sp>
        <p:nvSpPr>
          <p:cNvPr id="1049272" name="Content Placeholder 2"/>
          <p:cNvSpPr>
            <a:spLocks noGrp="1"/>
          </p:cNvSpPr>
          <p:nvPr>
            <p:ph idx="1"/>
          </p:nvPr>
        </p:nvSpPr>
        <p:spPr>
          <a:xfrm>
            <a:off x="1600200" y="1143000"/>
            <a:ext cx="9566909" cy="5105400"/>
          </a:xfrm>
        </p:spPr>
        <p:txBody>
          <a:bodyPr>
            <a:normAutofit/>
          </a:bodyPr>
          <a:p>
            <a:pPr algn="just"/>
            <a:r>
              <a:rPr dirty="0" sz="3600" lang="en-US" smtClean="0"/>
              <a:t>Identical twins are usually of the same sex, have same genes, blood groups and physical features e.g. eye and hair colour, ear shape and palm creases </a:t>
            </a:r>
            <a:r>
              <a:rPr b="1" dirty="0" sz="3600" lang="en-US" smtClean="0"/>
              <a:t>but</a:t>
            </a:r>
            <a:r>
              <a:rPr dirty="0" sz="3600" lang="en-US" smtClean="0"/>
              <a:t> they may be of different sizes and often have very different personalities and characters.</a:t>
            </a:r>
            <a:endParaRPr dirty="0" sz="3600" lang="en-US"/>
          </a:p>
        </p:txBody>
      </p:sp>
      <p:sp>
        <p:nvSpPr>
          <p:cNvPr id="104927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51" name=""/>
        <p:cNvGrpSpPr/>
        <p:nvPr/>
      </p:nvGrpSpPr>
      <p:grpSpPr>
        <a:xfrm>
          <a:off x="0" y="0"/>
          <a:ext cx="0" cy="0"/>
          <a:chOff x="0" y="0"/>
          <a:chExt cx="0" cy="0"/>
        </a:xfrm>
      </p:grpSpPr>
      <p:sp>
        <p:nvSpPr>
          <p:cNvPr id="1049274" name="Content Placeholder 2"/>
          <p:cNvSpPr>
            <a:spLocks noGrp="1"/>
          </p:cNvSpPr>
          <p:nvPr>
            <p:ph idx="1"/>
          </p:nvPr>
        </p:nvSpPr>
        <p:spPr>
          <a:xfrm>
            <a:off x="1238251" y="304808"/>
            <a:ext cx="9525000" cy="5821363"/>
          </a:xfrm>
        </p:spPr>
        <p:txBody>
          <a:bodyPr>
            <a:noAutofit/>
          </a:bodyPr>
          <a:p>
            <a:pPr algn="just" indent="-384048" lvl="1" marL="420624">
              <a:buSzPct val="80000"/>
              <a:buFont typeface="Wingdings" pitchFamily="2" charset="2"/>
              <a:buChar char="q"/>
            </a:pPr>
            <a:r>
              <a:rPr dirty="0" sz="3200" lang="en-US" err="1" smtClean="0">
                <a:latin typeface="Calibri" panose="020F0502020204030204" pitchFamily="34" charset="0"/>
              </a:rPr>
              <a:t>Dizygosity</a:t>
            </a:r>
            <a:r>
              <a:rPr dirty="0" sz="3200" lang="en-US" smtClean="0">
                <a:latin typeface="Calibri" panose="020F0502020204030204" pitchFamily="34" charset="0"/>
              </a:rPr>
              <a:t> / </a:t>
            </a:r>
            <a:r>
              <a:rPr dirty="0" sz="3200" lang="en-US" err="1" smtClean="0">
                <a:latin typeface="Calibri" panose="020F0502020204030204" pitchFamily="34" charset="0"/>
              </a:rPr>
              <a:t>binovular</a:t>
            </a:r>
            <a:r>
              <a:rPr dirty="0" sz="3200" lang="en-US" smtClean="0">
                <a:latin typeface="Calibri" panose="020F0502020204030204" pitchFamily="34" charset="0"/>
              </a:rPr>
              <a:t> twins; results from </a:t>
            </a:r>
            <a:r>
              <a:rPr dirty="0" sz="3200" lang="en-US" err="1" smtClean="0">
                <a:latin typeface="Calibri" panose="020F0502020204030204" pitchFamily="34" charset="0"/>
              </a:rPr>
              <a:t>fertilisation</a:t>
            </a:r>
            <a:r>
              <a:rPr dirty="0" sz="3200" lang="en-US" smtClean="0">
                <a:latin typeface="Calibri" panose="020F0502020204030204" pitchFamily="34" charset="0"/>
              </a:rPr>
              <a:t> of 2 ova by  2 separate sperms = to fraternal twins.</a:t>
            </a:r>
          </a:p>
          <a:p>
            <a:pPr algn="just"/>
            <a:r>
              <a:rPr dirty="0" lang="en-US" u="sng" smtClean="0">
                <a:latin typeface="Calibri" panose="020F0502020204030204" pitchFamily="34" charset="0"/>
              </a:rPr>
              <a:t>Number of </a:t>
            </a:r>
            <a:r>
              <a:rPr dirty="0" lang="en-US" err="1" u="sng" smtClean="0">
                <a:latin typeface="Calibri" panose="020F0502020204030204" pitchFamily="34" charset="0"/>
              </a:rPr>
              <a:t>placentae</a:t>
            </a:r>
            <a:r>
              <a:rPr dirty="0" lang="en-US" u="sng" smtClean="0">
                <a:latin typeface="Calibri" panose="020F0502020204030204" pitchFamily="34" charset="0"/>
              </a:rPr>
              <a:t> / </a:t>
            </a:r>
            <a:r>
              <a:rPr dirty="0" lang="en-US" err="1" u="sng" smtClean="0">
                <a:latin typeface="Calibri" panose="020F0502020204030204" pitchFamily="34" charset="0"/>
              </a:rPr>
              <a:t>Chorionicity</a:t>
            </a:r>
            <a:r>
              <a:rPr dirty="0" lang="en-US" u="sng" smtClean="0">
                <a:latin typeface="Calibri" panose="020F0502020204030204" pitchFamily="34" charset="0"/>
              </a:rPr>
              <a:t>:</a:t>
            </a:r>
          </a:p>
          <a:p>
            <a:pPr algn="just" lvl="1"/>
            <a:r>
              <a:rPr dirty="0" sz="3200" lang="en-US" smtClean="0">
                <a:latin typeface="Calibri" panose="020F0502020204030204" pitchFamily="34" charset="0"/>
              </a:rPr>
              <a:t>Monochorionic, since uniovular twins share a single placenta in most cases.</a:t>
            </a:r>
          </a:p>
          <a:p>
            <a:pPr algn="just" lvl="1"/>
            <a:r>
              <a:rPr dirty="0" sz="3200" lang="en-US" err="1" smtClean="0">
                <a:latin typeface="Calibri" panose="020F0502020204030204" pitchFamily="34" charset="0"/>
              </a:rPr>
              <a:t>Dichorionic</a:t>
            </a:r>
            <a:r>
              <a:rPr dirty="0" sz="3200" lang="en-US" smtClean="0">
                <a:latin typeface="Calibri" panose="020F0502020204030204" pitchFamily="34" charset="0"/>
              </a:rPr>
              <a:t>, because fraternal twins have separate </a:t>
            </a:r>
            <a:r>
              <a:rPr dirty="0" sz="3200" lang="en-US" err="1" smtClean="0">
                <a:latin typeface="Calibri" panose="020F0502020204030204" pitchFamily="34" charset="0"/>
              </a:rPr>
              <a:t>placentae</a:t>
            </a:r>
            <a:r>
              <a:rPr dirty="0" sz="3200" lang="en-US" smtClean="0">
                <a:latin typeface="Calibri" panose="020F0502020204030204" pitchFamily="34" charset="0"/>
              </a:rPr>
              <a:t>. However the two can fuse and appear to be 1(one) large placenta on inspection.</a:t>
            </a:r>
          </a:p>
        </p:txBody>
      </p:sp>
      <p:sp>
        <p:nvSpPr>
          <p:cNvPr id="104927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4.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52" name=""/>
        <p:cNvGrpSpPr/>
        <p:nvPr/>
      </p:nvGrpSpPr>
      <p:grpSpPr>
        <a:xfrm>
          <a:off x="0" y="0"/>
          <a:ext cx="0" cy="0"/>
          <a:chOff x="0" y="0"/>
          <a:chExt cx="0" cy="0"/>
        </a:xfrm>
      </p:grpSpPr>
      <p:sp>
        <p:nvSpPr>
          <p:cNvPr id="1049276" name="Content Placeholder 2"/>
          <p:cNvSpPr>
            <a:spLocks noGrp="1"/>
          </p:cNvSpPr>
          <p:nvPr>
            <p:ph idx="1"/>
          </p:nvPr>
        </p:nvSpPr>
        <p:spPr>
          <a:xfrm>
            <a:off x="1295399" y="304800"/>
            <a:ext cx="9467851" cy="5821371"/>
          </a:xfrm>
        </p:spPr>
        <p:txBody>
          <a:bodyPr>
            <a:noAutofit/>
          </a:bodyPr>
          <a:p>
            <a:pPr algn="just"/>
            <a:r>
              <a:rPr dirty="0" lang="en-US" u="sng" smtClean="0"/>
              <a:t>Number of amniotic cavities / </a:t>
            </a:r>
            <a:r>
              <a:rPr dirty="0" lang="en-US" err="1" u="sng" smtClean="0"/>
              <a:t>amnionicity</a:t>
            </a:r>
            <a:r>
              <a:rPr dirty="0" lang="en-US" u="sng" smtClean="0"/>
              <a:t>:</a:t>
            </a:r>
          </a:p>
          <a:p>
            <a:pPr algn="just">
              <a:buFont typeface="Wingdings" pitchFamily="2" charset="2"/>
              <a:buChar char="q"/>
            </a:pPr>
            <a:r>
              <a:rPr dirty="0" lang="en-US" smtClean="0"/>
              <a:t>Most of the monozygotic twins have diamniotic cavities irrespective of having </a:t>
            </a:r>
            <a:r>
              <a:rPr dirty="0" lang="en-US" err="1" smtClean="0"/>
              <a:t>monochorionic</a:t>
            </a:r>
            <a:r>
              <a:rPr dirty="0" lang="en-US" smtClean="0"/>
              <a:t> membrane, hence </a:t>
            </a:r>
            <a:r>
              <a:rPr b="1" dirty="0" lang="en-US" err="1" smtClean="0"/>
              <a:t>monochorionic</a:t>
            </a:r>
            <a:r>
              <a:rPr b="1" dirty="0" lang="en-US" smtClean="0"/>
              <a:t> diamniotic</a:t>
            </a:r>
            <a:r>
              <a:rPr dirty="0" lang="en-US" smtClean="0"/>
              <a:t>.</a:t>
            </a:r>
          </a:p>
          <a:p>
            <a:pPr algn="just">
              <a:buFont typeface="Wingdings" pitchFamily="2" charset="2"/>
              <a:buChar char="q"/>
            </a:pPr>
            <a:r>
              <a:rPr dirty="0" lang="en-US" smtClean="0"/>
              <a:t>A few have </a:t>
            </a:r>
            <a:r>
              <a:rPr dirty="0" lang="en-US" err="1" smtClean="0"/>
              <a:t>monoamniotic</a:t>
            </a:r>
            <a:r>
              <a:rPr dirty="0" lang="en-US" smtClean="0"/>
              <a:t>, </a:t>
            </a:r>
            <a:r>
              <a:rPr dirty="0" lang="en-US" err="1" smtClean="0"/>
              <a:t>monochorionic</a:t>
            </a:r>
            <a:r>
              <a:rPr dirty="0" lang="en-US" smtClean="0"/>
              <a:t>  cavity depending on when separation/ splitting occurred.</a:t>
            </a:r>
          </a:p>
          <a:p>
            <a:pPr algn="just" lvl="1">
              <a:buNone/>
            </a:pPr>
            <a:endParaRPr dirty="0" sz="3200" lang="en-US" smtClean="0"/>
          </a:p>
          <a:p>
            <a:pPr algn="just" lvl="1">
              <a:buNone/>
            </a:pPr>
            <a:endParaRPr dirty="0" sz="3200" lang="en-US" smtClean="0"/>
          </a:p>
          <a:p>
            <a:pPr algn="just">
              <a:buNone/>
            </a:pPr>
            <a:endParaRPr dirty="0" lang="en-US"/>
          </a:p>
        </p:txBody>
      </p:sp>
      <p:sp>
        <p:nvSpPr>
          <p:cNvPr id="104927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5.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53" name=""/>
        <p:cNvGrpSpPr/>
        <p:nvPr/>
      </p:nvGrpSpPr>
      <p:grpSpPr>
        <a:xfrm>
          <a:off x="0" y="0"/>
          <a:ext cx="0" cy="0"/>
          <a:chOff x="0" y="0"/>
          <a:chExt cx="0" cy="0"/>
        </a:xfrm>
      </p:grpSpPr>
      <p:sp>
        <p:nvSpPr>
          <p:cNvPr id="1049278" name="Content Placeholder 2"/>
          <p:cNvSpPr>
            <a:spLocks noGrp="1"/>
          </p:cNvSpPr>
          <p:nvPr>
            <p:ph idx="1"/>
          </p:nvPr>
        </p:nvSpPr>
        <p:spPr>
          <a:xfrm>
            <a:off x="1238250" y="304800"/>
            <a:ext cx="9928859" cy="6553200"/>
          </a:xfrm>
        </p:spPr>
        <p:txBody>
          <a:bodyPr>
            <a:noAutofit/>
          </a:bodyPr>
          <a:p>
            <a:pPr algn="just">
              <a:buNone/>
            </a:pPr>
            <a:r>
              <a:rPr b="1" dirty="0" sz="3400" lang="en-US" smtClean="0">
                <a:solidFill>
                  <a:srgbClr val="0000CC"/>
                </a:solidFill>
              </a:rPr>
              <a:t>NB: </a:t>
            </a:r>
          </a:p>
          <a:p>
            <a:pPr algn="just">
              <a:buNone/>
            </a:pPr>
            <a:r>
              <a:rPr dirty="0" sz="3400" lang="en-US" smtClean="0"/>
              <a:t>i)</a:t>
            </a:r>
            <a:r>
              <a:rPr b="1" dirty="0" sz="3400" lang="en-US" smtClean="0"/>
              <a:t> </a:t>
            </a:r>
            <a:r>
              <a:rPr dirty="0" sz="3200" lang="en-US" smtClean="0"/>
              <a:t>Fraternal twinning is more common than the identical twinning.</a:t>
            </a:r>
          </a:p>
          <a:p>
            <a:pPr algn="just">
              <a:buNone/>
            </a:pPr>
            <a:r>
              <a:rPr dirty="0" lang="en-US" smtClean="0"/>
              <a:t>ii) Half of all dizygotic twins are usually boy-girl pairs, a ¼ are both boys and ¼ are both girls. </a:t>
            </a:r>
            <a:endParaRPr dirty="0" sz="3200" lang="en-US" smtClean="0"/>
          </a:p>
          <a:p>
            <a:pPr algn="just">
              <a:buNone/>
            </a:pPr>
            <a:r>
              <a:rPr dirty="0" sz="3200" lang="en-US" smtClean="0"/>
              <a:t>iii) The survival rate is quite poor as the number exceeds 4 fetuses , because they are born of extremely LBW.</a:t>
            </a:r>
          </a:p>
          <a:p>
            <a:pPr algn="just">
              <a:buNone/>
            </a:pPr>
            <a:r>
              <a:rPr dirty="0" sz="3200" lang="en-US" smtClean="0"/>
              <a:t>iv)The highest no. of fetuses ever recorded is eight (8).</a:t>
            </a:r>
            <a:endParaRPr dirty="0" sz="3200" lang="en-US"/>
          </a:p>
        </p:txBody>
      </p:sp>
      <p:sp>
        <p:nvSpPr>
          <p:cNvPr id="104927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54" name=""/>
        <p:cNvGrpSpPr/>
        <p:nvPr/>
      </p:nvGrpSpPr>
      <p:grpSpPr>
        <a:xfrm>
          <a:off x="0" y="0"/>
          <a:ext cx="0" cy="0"/>
          <a:chOff x="0" y="0"/>
          <a:chExt cx="0" cy="0"/>
        </a:xfrm>
      </p:grpSpPr>
      <p:sp>
        <p:nvSpPr>
          <p:cNvPr id="1049280" name="Title 1"/>
          <p:cNvSpPr>
            <a:spLocks noGrp="1"/>
          </p:cNvSpPr>
          <p:nvPr>
            <p:ph type="title"/>
          </p:nvPr>
        </p:nvSpPr>
        <p:spPr/>
        <p:txBody>
          <a:bodyPr/>
          <a:p>
            <a:r>
              <a:rPr dirty="0" lang="en-US" smtClean="0"/>
              <a:t>		</a:t>
            </a:r>
            <a:r>
              <a:rPr b="1" dirty="0" sz="4800" lang="en-US" smtClean="0">
                <a:solidFill>
                  <a:srgbClr val="FF0000"/>
                </a:solidFill>
              </a:rPr>
              <a:t> TWINNING</a:t>
            </a:r>
            <a:endParaRPr dirty="0" lang="en-US"/>
          </a:p>
        </p:txBody>
      </p:sp>
      <p:sp>
        <p:nvSpPr>
          <p:cNvPr id="1049281" name="Content Placeholder 2"/>
          <p:cNvSpPr>
            <a:spLocks noGrp="1"/>
          </p:cNvSpPr>
          <p:nvPr>
            <p:ph idx="1"/>
          </p:nvPr>
        </p:nvSpPr>
        <p:spPr>
          <a:xfrm>
            <a:off x="1143001" y="1447800"/>
            <a:ext cx="10024109" cy="4800600"/>
          </a:xfrm>
        </p:spPr>
        <p:txBody>
          <a:bodyPr>
            <a:normAutofit/>
          </a:bodyPr>
          <a:p>
            <a:r>
              <a:rPr b="1" dirty="0" sz="3600" lang="en-US" u="sng" smtClean="0"/>
              <a:t>Monozygotic/ Uniovular / Identical:</a:t>
            </a:r>
          </a:p>
          <a:p>
            <a:pPr>
              <a:buFont typeface="Wingdings" pitchFamily="2" charset="2"/>
              <a:buChar char="Ø"/>
            </a:pPr>
            <a:r>
              <a:rPr dirty="0" sz="3600" lang="en-US" smtClean="0"/>
              <a:t>Their sharing of placenta depends on when splitting  occurs  as follows.</a:t>
            </a:r>
          </a:p>
          <a:p>
            <a:pPr>
              <a:buFont typeface="Wingdings" pitchFamily="2" charset="2"/>
              <a:buChar char="q"/>
            </a:pPr>
            <a:r>
              <a:rPr dirty="0" sz="3600" lang="en-US" smtClean="0"/>
              <a:t>For split within the first 3 days of conception. Two(2) </a:t>
            </a:r>
            <a:r>
              <a:rPr dirty="0" sz="3600" lang="en-US" err="1" smtClean="0"/>
              <a:t>placentae</a:t>
            </a:r>
            <a:r>
              <a:rPr dirty="0" sz="3600" lang="en-US" smtClean="0"/>
              <a:t> and 2 amniotic cavities results giving rise to </a:t>
            </a:r>
            <a:r>
              <a:rPr dirty="0" sz="3600" lang="en-US" err="1" smtClean="0"/>
              <a:t>dichorionic</a:t>
            </a:r>
            <a:r>
              <a:rPr dirty="0" sz="3600" lang="en-US" smtClean="0"/>
              <a:t>, </a:t>
            </a:r>
            <a:r>
              <a:rPr dirty="0" sz="3600" lang="en-US" err="1" smtClean="0"/>
              <a:t>diamniotic</a:t>
            </a:r>
            <a:r>
              <a:rPr dirty="0" sz="3600" lang="en-US" smtClean="0"/>
              <a:t> (DCDA) pregnancy</a:t>
            </a:r>
          </a:p>
        </p:txBody>
      </p:sp>
      <p:sp>
        <p:nvSpPr>
          <p:cNvPr id="104928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55" name=""/>
        <p:cNvGrpSpPr/>
        <p:nvPr/>
      </p:nvGrpSpPr>
      <p:grpSpPr>
        <a:xfrm>
          <a:off x="0" y="0"/>
          <a:ext cx="0" cy="0"/>
          <a:chOff x="0" y="0"/>
          <a:chExt cx="0" cy="0"/>
        </a:xfrm>
      </p:grpSpPr>
      <p:sp>
        <p:nvSpPr>
          <p:cNvPr id="1049283" name="Content Placeholder 2"/>
          <p:cNvSpPr>
            <a:spLocks noGrp="1"/>
          </p:cNvSpPr>
          <p:nvPr>
            <p:ph idx="1"/>
          </p:nvPr>
        </p:nvSpPr>
        <p:spPr>
          <a:xfrm>
            <a:off x="952500" y="1066800"/>
            <a:ext cx="10214609" cy="5181600"/>
          </a:xfrm>
        </p:spPr>
        <p:txBody>
          <a:bodyPr>
            <a:noAutofit/>
          </a:bodyPr>
          <a:p>
            <a:pPr>
              <a:buFont typeface="Wingdings" pitchFamily="2" charset="2"/>
              <a:buChar char="q"/>
            </a:pPr>
            <a:r>
              <a:rPr dirty="0" sz="3600" lang="en-US" smtClean="0"/>
              <a:t>Splitting between the 4</a:t>
            </a:r>
            <a:r>
              <a:rPr baseline="30000" dirty="0" sz="3600" lang="en-US" smtClean="0"/>
              <a:t>th</a:t>
            </a:r>
            <a:r>
              <a:rPr dirty="0" sz="3600" lang="en-US" smtClean="0"/>
              <a:t>  and 8</a:t>
            </a:r>
            <a:r>
              <a:rPr baseline="30000" dirty="0" sz="3600" lang="en-US" smtClean="0"/>
              <a:t>th</a:t>
            </a:r>
            <a:r>
              <a:rPr dirty="0" sz="3600" lang="en-US" smtClean="0"/>
              <a:t> day after </a:t>
            </a:r>
            <a:r>
              <a:rPr dirty="0" sz="3600" lang="en-US" err="1" smtClean="0"/>
              <a:t>fertilisation</a:t>
            </a:r>
            <a:r>
              <a:rPr dirty="0" sz="3600" lang="en-US" smtClean="0"/>
              <a:t>.</a:t>
            </a:r>
          </a:p>
          <a:p>
            <a:pPr>
              <a:buFont typeface="Wingdings" pitchFamily="2" charset="2"/>
              <a:buChar char="Ø"/>
            </a:pPr>
            <a:r>
              <a:rPr dirty="0" sz="3600" lang="en-US" smtClean="0"/>
              <a:t>They share placenta &amp; </a:t>
            </a:r>
            <a:r>
              <a:rPr dirty="0" sz="3600" lang="en-US" err="1" smtClean="0"/>
              <a:t>chorion</a:t>
            </a:r>
            <a:r>
              <a:rPr dirty="0" sz="3600" lang="en-US" smtClean="0"/>
              <a:t> membrane, but each has its own amnion membrane, hence monochorionic </a:t>
            </a:r>
            <a:r>
              <a:rPr dirty="0" sz="3600" lang="en-US" err="1" smtClean="0"/>
              <a:t>diamniotic</a:t>
            </a:r>
            <a:r>
              <a:rPr dirty="0" sz="3600" lang="en-US" smtClean="0"/>
              <a:t> (MCDA) pregnancy results. </a:t>
            </a:r>
          </a:p>
          <a:p>
            <a:pPr>
              <a:buFont typeface="Wingdings" pitchFamily="2" charset="2"/>
              <a:buChar char="q"/>
            </a:pPr>
            <a:r>
              <a:rPr dirty="0" sz="3600" lang="en-US" smtClean="0"/>
              <a:t>For splitting from 9</a:t>
            </a:r>
            <a:r>
              <a:rPr baseline="30000" dirty="0" sz="3600" lang="en-US" smtClean="0"/>
              <a:t>th</a:t>
            </a:r>
            <a:r>
              <a:rPr dirty="0" sz="3600" lang="en-US" smtClean="0"/>
              <a:t> – 12</a:t>
            </a:r>
            <a:r>
              <a:rPr baseline="30000" dirty="0" sz="3600" lang="en-US" smtClean="0"/>
              <a:t>th</a:t>
            </a:r>
            <a:r>
              <a:rPr dirty="0" sz="3600" lang="en-US" smtClean="0"/>
              <a:t>  day after conception.</a:t>
            </a:r>
          </a:p>
          <a:p>
            <a:pPr>
              <a:buNone/>
            </a:pPr>
            <a:r>
              <a:rPr dirty="0" sz="3600" lang="en-US" smtClean="0"/>
              <a:t> </a:t>
            </a:r>
            <a:endParaRPr dirty="0" sz="3600" lang="en-US"/>
          </a:p>
        </p:txBody>
      </p:sp>
      <p:sp>
        <p:nvSpPr>
          <p:cNvPr id="104928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956" name=""/>
        <p:cNvGrpSpPr/>
        <p:nvPr/>
      </p:nvGrpSpPr>
      <p:grpSpPr>
        <a:xfrm>
          <a:off x="0" y="0"/>
          <a:ext cx="0" cy="0"/>
          <a:chOff x="0" y="0"/>
          <a:chExt cx="0" cy="0"/>
        </a:xfrm>
      </p:grpSpPr>
      <p:sp>
        <p:nvSpPr>
          <p:cNvPr id="1049285" name="Content Placeholder 2"/>
          <p:cNvSpPr>
            <a:spLocks noGrp="1"/>
          </p:cNvSpPr>
          <p:nvPr>
            <p:ph idx="1"/>
          </p:nvPr>
        </p:nvSpPr>
        <p:spPr>
          <a:xfrm>
            <a:off x="1143000" y="609609"/>
            <a:ext cx="10287000" cy="5562917"/>
          </a:xfrm>
        </p:spPr>
        <p:txBody>
          <a:bodyPr>
            <a:noAutofit/>
          </a:bodyPr>
          <a:p>
            <a:pPr>
              <a:buFont typeface="Wingdings" pitchFamily="2" charset="2"/>
              <a:buChar char="Ø"/>
            </a:pPr>
            <a:r>
              <a:rPr dirty="0" sz="3200" lang="en-US" smtClean="0"/>
              <a:t>The amnion cells have </a:t>
            </a:r>
            <a:r>
              <a:rPr dirty="0" sz="3200" lang="en-US" err="1" smtClean="0"/>
              <a:t>differenciated</a:t>
            </a:r>
            <a:r>
              <a:rPr dirty="0" sz="3200" lang="en-US" smtClean="0"/>
              <a:t>, so both fetuses develop in a single amniotic cavity, hence monochorionic monoamniotic (MCMA) pregnancy.</a:t>
            </a:r>
          </a:p>
          <a:p>
            <a:pPr>
              <a:buFont typeface="Wingdings" pitchFamily="2" charset="2"/>
              <a:buChar char="q"/>
            </a:pPr>
            <a:r>
              <a:rPr dirty="0" sz="3200" lang="en-US" smtClean="0"/>
              <a:t>Splitting after the 12</a:t>
            </a:r>
            <a:r>
              <a:rPr baseline="30000" dirty="0" sz="3200" lang="en-US" smtClean="0"/>
              <a:t>th</a:t>
            </a:r>
            <a:r>
              <a:rPr dirty="0" sz="3200" lang="en-US" smtClean="0"/>
              <a:t>  day. Embryonic disc has already formed and </a:t>
            </a:r>
            <a:r>
              <a:rPr dirty="0" sz="3200" lang="en-US" err="1" smtClean="0"/>
              <a:t>siamese</a:t>
            </a:r>
            <a:r>
              <a:rPr dirty="0" sz="3200" lang="en-US" smtClean="0"/>
              <a:t> twins results.</a:t>
            </a:r>
          </a:p>
          <a:p>
            <a:pPr>
              <a:buNone/>
            </a:pPr>
            <a:r>
              <a:rPr b="1" dirty="0" sz="3200" lang="en-US" smtClean="0">
                <a:solidFill>
                  <a:srgbClr val="0000CC"/>
                </a:solidFill>
              </a:rPr>
              <a:t>NB</a:t>
            </a:r>
            <a:r>
              <a:rPr dirty="0" sz="3200" lang="en-US" smtClean="0">
                <a:solidFill>
                  <a:srgbClr val="0000CC"/>
                </a:solidFill>
              </a:rPr>
              <a:t>: </a:t>
            </a:r>
            <a:r>
              <a:rPr dirty="0" sz="3200" lang="en-US" smtClean="0"/>
              <a:t>Monochorionic pregnancy have a 3-5 times higher risk of perinatal morbidity &amp; mortality than </a:t>
            </a:r>
            <a:r>
              <a:rPr dirty="0" sz="3200" lang="en-US" err="1" smtClean="0"/>
              <a:t>dichorionic</a:t>
            </a:r>
            <a:r>
              <a:rPr dirty="0" sz="3200" lang="en-US" smtClean="0"/>
              <a:t> pregnancy.</a:t>
            </a:r>
            <a:endParaRPr dirty="0" sz="3200" lang="en-US"/>
          </a:p>
        </p:txBody>
      </p:sp>
      <p:sp>
        <p:nvSpPr>
          <p:cNvPr id="104928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957" name=""/>
        <p:cNvGrpSpPr/>
        <p:nvPr/>
      </p:nvGrpSpPr>
      <p:grpSpPr>
        <a:xfrm>
          <a:off x="0" y="0"/>
          <a:ext cx="0" cy="0"/>
          <a:chOff x="0" y="0"/>
          <a:chExt cx="0" cy="0"/>
        </a:xfrm>
      </p:grpSpPr>
      <p:sp>
        <p:nvSpPr>
          <p:cNvPr id="1049287" name="Title 1"/>
          <p:cNvSpPr>
            <a:spLocks noGrp="1"/>
          </p:cNvSpPr>
          <p:nvPr>
            <p:ph type="title"/>
          </p:nvPr>
        </p:nvSpPr>
        <p:spPr/>
        <p:txBody>
          <a:bodyPr/>
          <a:p>
            <a:r>
              <a:rPr dirty="0" lang="en-US" smtClean="0"/>
              <a:t>Diagrams of </a:t>
            </a:r>
            <a:r>
              <a:rPr lang="en-US" smtClean="0"/>
              <a:t>twins prenatally</a:t>
            </a:r>
            <a:endParaRPr dirty="0" lang="en-US"/>
          </a:p>
        </p:txBody>
      </p:sp>
      <p:pic>
        <p:nvPicPr>
          <p:cNvPr id="2097160" name="Picture 2"/>
          <p:cNvPicPr>
            <a:picLocks noChangeAspect="1" noGrp="1" noChangeArrowheads="1"/>
          </p:cNvPicPr>
          <p:nvPr>
            <p:ph idx="1"/>
          </p:nvPr>
        </p:nvPicPr>
        <p:blipFill>
          <a:blip xmlns:r="http://schemas.openxmlformats.org/officeDocument/2006/relationships" r:embed="rId1" cstate="print">
            <a:lum bright="-40000" contrast="-40000"/>
          </a:blip>
          <a:srcRect/>
          <a:stretch>
            <a:fillRect/>
          </a:stretch>
        </p:blipFill>
        <p:spPr bwMode="auto">
          <a:xfrm>
            <a:off x="476250" y="1213845"/>
            <a:ext cx="10191750" cy="4912327"/>
          </a:xfrm>
          <a:prstGeom prst="rect"/>
          <a:ln>
            <a:noFill/>
          </a:ln>
          <a:effectLst>
            <a:outerShdw algn="tl" blurRad="292100" dir="2700000" dist="139700" rotWithShape="0">
              <a:srgbClr val="333333">
                <a:alpha val="65000"/>
              </a:srgbClr>
            </a:outerShdw>
          </a:effectLst>
        </p:spPr>
      </p:pic>
      <p:sp>
        <p:nvSpPr>
          <p:cNvPr id="1049288"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0.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0" name=""/>
        <p:cNvGrpSpPr/>
        <p:nvPr/>
      </p:nvGrpSpPr>
      <p:grpSpPr>
        <a:xfrm>
          <a:off x="0" y="0"/>
          <a:ext cx="0" cy="0"/>
          <a:chOff x="0" y="0"/>
          <a:chExt cx="0" cy="0"/>
        </a:xfrm>
      </p:grpSpPr>
      <p:sp>
        <p:nvSpPr>
          <p:cNvPr id="1049292" name="Content Placeholder 2"/>
          <p:cNvSpPr>
            <a:spLocks noGrp="1"/>
          </p:cNvSpPr>
          <p:nvPr>
            <p:ph idx="1"/>
          </p:nvPr>
        </p:nvSpPr>
        <p:spPr>
          <a:xfrm>
            <a:off x="1447800" y="304800"/>
            <a:ext cx="9719310" cy="6096000"/>
          </a:xfrm>
        </p:spPr>
        <p:txBody>
          <a:bodyPr>
            <a:noAutofit/>
          </a:bodyPr>
          <a:p>
            <a:pPr algn="just"/>
            <a:r>
              <a:rPr b="1" dirty="0" lang="en-US" u="sng" smtClean="0"/>
              <a:t>Dizygotic /Binovular/Fraternal: </a:t>
            </a:r>
          </a:p>
          <a:p>
            <a:pPr algn="just">
              <a:buFont typeface="Wingdings" pitchFamily="2" charset="2"/>
              <a:buChar char="Ø"/>
            </a:pPr>
            <a:r>
              <a:rPr dirty="0" lang="en-US" smtClean="0"/>
              <a:t>Results from 2 zygotes which have  occurred perhaps in the same cycle. </a:t>
            </a:r>
          </a:p>
          <a:p>
            <a:pPr algn="just">
              <a:buFont typeface="Wingdings" pitchFamily="2" charset="2"/>
              <a:buChar char="Ø"/>
            </a:pPr>
            <a:r>
              <a:rPr dirty="0" lang="en-US" smtClean="0"/>
              <a:t>This type is more common and signifies high fertility.</a:t>
            </a:r>
          </a:p>
          <a:p>
            <a:pPr algn="just">
              <a:buFont typeface="Wingdings" pitchFamily="2" charset="2"/>
              <a:buChar char="Ø"/>
            </a:pPr>
            <a:r>
              <a:rPr dirty="0" lang="en-US" smtClean="0"/>
              <a:t>They develop normally into 2 fetuses with separate membranes &amp; </a:t>
            </a:r>
            <a:r>
              <a:rPr dirty="0" lang="en-US" err="1" smtClean="0"/>
              <a:t>placentae</a:t>
            </a:r>
            <a:r>
              <a:rPr dirty="0" lang="en-US" smtClean="0"/>
              <a:t>, though they may  fuse.</a:t>
            </a:r>
          </a:p>
          <a:p>
            <a:pPr algn="just">
              <a:buFont typeface="Wingdings" pitchFamily="2" charset="2"/>
              <a:buChar char="Ø"/>
            </a:pPr>
            <a:r>
              <a:rPr dirty="0" lang="en-US" smtClean="0"/>
              <a:t>Terms associated with this type of twinning are:</a:t>
            </a:r>
          </a:p>
          <a:p>
            <a:pPr algn="just">
              <a:buNone/>
            </a:pPr>
            <a:r>
              <a:rPr dirty="0" lang="en-US" smtClean="0"/>
              <a:t>	</a:t>
            </a:r>
            <a:endParaRPr dirty="0" lang="en-US"/>
          </a:p>
        </p:txBody>
      </p:sp>
      <p:sp>
        <p:nvSpPr>
          <p:cNvPr id="104929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1.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1" name=""/>
        <p:cNvGrpSpPr/>
        <p:nvPr/>
      </p:nvGrpSpPr>
      <p:grpSpPr>
        <a:xfrm>
          <a:off x="0" y="0"/>
          <a:ext cx="0" cy="0"/>
          <a:chOff x="0" y="0"/>
          <a:chExt cx="0" cy="0"/>
        </a:xfrm>
      </p:grpSpPr>
      <p:sp>
        <p:nvSpPr>
          <p:cNvPr id="1049294" name="Content Placeholder 2"/>
          <p:cNvSpPr>
            <a:spLocks noGrp="1"/>
          </p:cNvSpPr>
          <p:nvPr>
            <p:ph idx="1"/>
          </p:nvPr>
        </p:nvSpPr>
        <p:spPr>
          <a:xfrm>
            <a:off x="1447800" y="304800"/>
            <a:ext cx="9753600" cy="5562600"/>
          </a:xfrm>
        </p:spPr>
        <p:txBody>
          <a:bodyPr>
            <a:normAutofit/>
          </a:bodyPr>
          <a:p>
            <a:pPr algn="just">
              <a:buFont typeface="Wingdings" pitchFamily="2" charset="2"/>
              <a:buChar char="ü"/>
            </a:pPr>
            <a:r>
              <a:rPr dirty="0" sz="3600" lang="en-US" smtClean="0">
                <a:solidFill>
                  <a:srgbClr val="423BD7"/>
                </a:solidFill>
              </a:rPr>
              <a:t>Superfecundation </a:t>
            </a:r>
            <a:r>
              <a:rPr dirty="0" sz="3600" lang="en-US" smtClean="0"/>
              <a:t>; refers to conception of twins from sperms of different men within the </a:t>
            </a:r>
            <a:r>
              <a:rPr b="1" dirty="0" sz="3600" lang="en-US" smtClean="0"/>
              <a:t>same</a:t>
            </a:r>
            <a:r>
              <a:rPr dirty="0" sz="3600" lang="en-US" smtClean="0"/>
              <a:t> menstrual cycle. Common if the woman has had more than one sexual partner within the same menstrual cycle.</a:t>
            </a:r>
          </a:p>
          <a:p>
            <a:pPr algn="just">
              <a:buFont typeface="Wingdings" pitchFamily="2" charset="2"/>
              <a:buChar char="ü"/>
            </a:pPr>
            <a:r>
              <a:rPr dirty="0" sz="3600" lang="en-US" smtClean="0">
                <a:solidFill>
                  <a:srgbClr val="423BD7"/>
                </a:solidFill>
              </a:rPr>
              <a:t>Superfetation</a:t>
            </a:r>
            <a:r>
              <a:rPr dirty="0" sz="3600" lang="en-US" smtClean="0"/>
              <a:t> ; its rare. Refers to conception from 2 coital acts in </a:t>
            </a:r>
            <a:r>
              <a:rPr b="1" dirty="0" sz="3600" lang="en-US" smtClean="0"/>
              <a:t>different</a:t>
            </a:r>
            <a:r>
              <a:rPr dirty="0" sz="3600" lang="en-US" smtClean="0"/>
              <a:t> menstrual cycles.</a:t>
            </a:r>
            <a:endParaRPr dirty="0" sz="3600" lang="en-US"/>
          </a:p>
        </p:txBody>
      </p:sp>
      <p:sp>
        <p:nvSpPr>
          <p:cNvPr id="104929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962" name=""/>
        <p:cNvGrpSpPr/>
        <p:nvPr/>
      </p:nvGrpSpPr>
      <p:grpSpPr>
        <a:xfrm>
          <a:off x="0" y="0"/>
          <a:ext cx="0" cy="0"/>
          <a:chOff x="0" y="0"/>
          <a:chExt cx="0" cy="0"/>
        </a:xfrm>
      </p:grpSpPr>
      <p:pic>
        <p:nvPicPr>
          <p:cNvPr id="2097161" name="Picture 2" descr="C:\Users\Martha\Pictures\IMG_20150622_185422.JPG"/>
          <p:cNvPicPr>
            <a:picLocks noChangeAspect="1" noGrp="1" noChangeArrowheads="1"/>
          </p:cNvPicPr>
          <p:nvPr>
            <p:ph idx="1"/>
          </p:nvPr>
        </p:nvPicPr>
        <p:blipFill>
          <a:blip xmlns:r="http://schemas.openxmlformats.org/officeDocument/2006/relationships" r:embed="rId1"/>
          <a:srcRect/>
          <a:stretch>
            <a:fillRect/>
          </a:stretch>
        </p:blipFill>
        <p:spPr bwMode="auto">
          <a:xfrm>
            <a:off x="1752600" y="381000"/>
            <a:ext cx="9067800" cy="6172200"/>
          </a:xfrm>
          <a:prstGeom prst="rect"/>
          <a:noFill/>
        </p:spPr>
      </p:pic>
      <p:sp>
        <p:nvSpPr>
          <p:cNvPr id="104929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3.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3" name=""/>
        <p:cNvGrpSpPr/>
        <p:nvPr/>
      </p:nvGrpSpPr>
      <p:grpSpPr>
        <a:xfrm>
          <a:off x="0" y="0"/>
          <a:ext cx="0" cy="0"/>
          <a:chOff x="0" y="0"/>
          <a:chExt cx="0" cy="0"/>
        </a:xfrm>
      </p:grpSpPr>
      <p:sp>
        <p:nvSpPr>
          <p:cNvPr id="1049297" name="Title 1"/>
          <p:cNvSpPr>
            <a:spLocks noGrp="1"/>
          </p:cNvSpPr>
          <p:nvPr>
            <p:ph type="title"/>
          </p:nvPr>
        </p:nvSpPr>
        <p:spPr/>
        <p:txBody>
          <a:bodyPr/>
          <a:p>
            <a:r>
              <a:rPr dirty="0" lang="en-US" smtClean="0"/>
              <a:t>	</a:t>
            </a:r>
            <a:r>
              <a:rPr dirty="0" sz="4400" lang="en-US" smtClean="0">
                <a:solidFill>
                  <a:srgbClr val="C00000"/>
                </a:solidFill>
              </a:rPr>
              <a:t> CLINICAL  FEATURES</a:t>
            </a:r>
            <a:endParaRPr dirty="0" lang="en-US"/>
          </a:p>
        </p:txBody>
      </p:sp>
      <p:sp>
        <p:nvSpPr>
          <p:cNvPr id="1049298" name="Content Placeholder 2"/>
          <p:cNvSpPr>
            <a:spLocks noGrp="1"/>
          </p:cNvSpPr>
          <p:nvPr>
            <p:ph idx="1"/>
          </p:nvPr>
        </p:nvSpPr>
        <p:spPr>
          <a:xfrm>
            <a:off x="1371600" y="1295400"/>
            <a:ext cx="9795510" cy="5181600"/>
          </a:xfrm>
        </p:spPr>
        <p:txBody>
          <a:bodyPr>
            <a:normAutofit/>
          </a:bodyPr>
          <a:p>
            <a:pPr algn="just">
              <a:buNone/>
            </a:pPr>
            <a:r>
              <a:rPr b="1" dirty="0" sz="3600" lang="en-US" smtClean="0">
                <a:solidFill>
                  <a:srgbClr val="00B050"/>
                </a:solidFill>
              </a:rPr>
              <a:t>           Monozygotic</a:t>
            </a:r>
          </a:p>
          <a:p>
            <a:pPr algn="just"/>
            <a:r>
              <a:rPr dirty="0" sz="3600" lang="en-US" smtClean="0"/>
              <a:t>Always of the same  sex, have same genes and blood group.</a:t>
            </a:r>
          </a:p>
          <a:p>
            <a:pPr algn="just"/>
            <a:r>
              <a:rPr dirty="0" sz="3600" lang="en-US" smtClean="0"/>
              <a:t>Resemble closely due to similar physical features, but have different finger prints </a:t>
            </a:r>
          </a:p>
          <a:p>
            <a:pPr algn="just"/>
            <a:r>
              <a:rPr dirty="0" sz="3600" lang="en-US" smtClean="0"/>
              <a:t>Commonly  share placenta and membranes , though each may have different set of membranes.</a:t>
            </a:r>
          </a:p>
          <a:p>
            <a:pPr algn="just">
              <a:buNone/>
            </a:pPr>
            <a:endParaRPr dirty="0" sz="3600" lang="en-US">
              <a:solidFill>
                <a:srgbClr val="C00000"/>
              </a:solidFill>
            </a:endParaRPr>
          </a:p>
        </p:txBody>
      </p:sp>
      <p:sp>
        <p:nvSpPr>
          <p:cNvPr id="104929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4.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4" name=""/>
        <p:cNvGrpSpPr/>
        <p:nvPr/>
      </p:nvGrpSpPr>
      <p:grpSpPr>
        <a:xfrm>
          <a:off x="0" y="0"/>
          <a:ext cx="0" cy="0"/>
          <a:chOff x="0" y="0"/>
          <a:chExt cx="0" cy="0"/>
        </a:xfrm>
      </p:grpSpPr>
      <p:sp>
        <p:nvSpPr>
          <p:cNvPr id="1049300" name="Content Placeholder 2"/>
          <p:cNvSpPr>
            <a:spLocks noGrp="1"/>
          </p:cNvSpPr>
          <p:nvPr>
            <p:ph idx="1"/>
          </p:nvPr>
        </p:nvSpPr>
        <p:spPr>
          <a:xfrm>
            <a:off x="1600200" y="228600"/>
            <a:ext cx="9566910" cy="6324600"/>
          </a:xfrm>
        </p:spPr>
        <p:txBody>
          <a:bodyPr>
            <a:noAutofit/>
          </a:bodyPr>
          <a:p>
            <a:pPr algn="just"/>
            <a:r>
              <a:rPr dirty="0" sz="3400" lang="en-US" smtClean="0"/>
              <a:t>Are prone to congenital abnormalities such as:</a:t>
            </a:r>
          </a:p>
          <a:p>
            <a:pPr algn="just">
              <a:buFont typeface="Wingdings" pitchFamily="2" charset="2"/>
              <a:buChar char="Ø"/>
            </a:pPr>
            <a:r>
              <a:rPr dirty="0" sz="3400" lang="en-US" smtClean="0"/>
              <a:t> </a:t>
            </a:r>
            <a:r>
              <a:rPr dirty="0" sz="3400" lang="en-US" err="1" smtClean="0"/>
              <a:t>Cojoined</a:t>
            </a:r>
            <a:r>
              <a:rPr dirty="0" sz="3400" lang="en-US" smtClean="0"/>
              <a:t>/</a:t>
            </a:r>
            <a:r>
              <a:rPr dirty="0" sz="3400" lang="en-US" err="1" smtClean="0"/>
              <a:t>siamese</a:t>
            </a:r>
            <a:r>
              <a:rPr dirty="0" sz="3400" lang="en-US" smtClean="0"/>
              <a:t> twinning= Craniopagus,  </a:t>
            </a:r>
            <a:r>
              <a:rPr dirty="0" sz="3400" lang="en-US" err="1" smtClean="0"/>
              <a:t>Thorapagus</a:t>
            </a:r>
            <a:r>
              <a:rPr dirty="0" sz="3400" lang="en-US" smtClean="0"/>
              <a:t>,  </a:t>
            </a:r>
            <a:r>
              <a:rPr dirty="0" sz="3400" lang="en-US" err="1" smtClean="0"/>
              <a:t>Abdominopagus</a:t>
            </a:r>
            <a:r>
              <a:rPr dirty="0" sz="3400" lang="en-US" smtClean="0"/>
              <a:t>  or </a:t>
            </a:r>
            <a:r>
              <a:rPr dirty="0" sz="3400" lang="en-US" err="1" smtClean="0"/>
              <a:t>Pelviopagus</a:t>
            </a:r>
            <a:r>
              <a:rPr dirty="0" sz="3400" lang="en-US" smtClean="0"/>
              <a:t>.</a:t>
            </a:r>
          </a:p>
          <a:p>
            <a:pPr algn="just">
              <a:buFont typeface="Wingdings" pitchFamily="2" charset="2"/>
              <a:buChar char="Ø"/>
            </a:pPr>
            <a:r>
              <a:rPr dirty="0" sz="3400" lang="en-US" smtClean="0"/>
              <a:t> </a:t>
            </a:r>
            <a:r>
              <a:rPr dirty="0" sz="3400" lang="en-US" err="1" smtClean="0"/>
              <a:t>Oesophageal</a:t>
            </a:r>
            <a:r>
              <a:rPr dirty="0" sz="3400" lang="en-US" smtClean="0"/>
              <a:t> </a:t>
            </a:r>
            <a:r>
              <a:rPr dirty="0" sz="3400" lang="en-US" err="1" smtClean="0"/>
              <a:t>atresia</a:t>
            </a:r>
            <a:r>
              <a:rPr dirty="0" sz="3400" lang="en-US" smtClean="0"/>
              <a:t> .</a:t>
            </a:r>
          </a:p>
          <a:p>
            <a:pPr algn="just">
              <a:buFont typeface="Wingdings" pitchFamily="2" charset="2"/>
              <a:buChar char="Ø"/>
            </a:pPr>
            <a:r>
              <a:rPr dirty="0" sz="3400" lang="en-US" smtClean="0"/>
              <a:t>Fetal </a:t>
            </a:r>
            <a:r>
              <a:rPr dirty="0" sz="3400" lang="en-US" err="1" smtClean="0"/>
              <a:t>papyraceous</a:t>
            </a:r>
            <a:r>
              <a:rPr dirty="0" sz="3400" lang="en-US" smtClean="0"/>
              <a:t> /</a:t>
            </a:r>
            <a:r>
              <a:rPr dirty="0" sz="3400" lang="en-US" err="1" smtClean="0"/>
              <a:t>foetus</a:t>
            </a:r>
            <a:r>
              <a:rPr dirty="0" sz="3400" lang="en-US" smtClean="0"/>
              <a:t> </a:t>
            </a:r>
            <a:r>
              <a:rPr dirty="0" sz="3400" lang="en-US" err="1" smtClean="0"/>
              <a:t>compressus</a:t>
            </a:r>
            <a:r>
              <a:rPr dirty="0" sz="3400" lang="en-US" smtClean="0"/>
              <a:t>.</a:t>
            </a:r>
          </a:p>
          <a:p>
            <a:pPr algn="just">
              <a:buFont typeface="Wingdings" pitchFamily="2" charset="2"/>
              <a:buChar char="ü"/>
            </a:pPr>
            <a:r>
              <a:rPr dirty="0" sz="3400" lang="en-US" smtClean="0"/>
              <a:t>One fetus is severely deprived of survival requirements, dies &amp; gets embedded on the fetal surface of placenta in the 2</a:t>
            </a:r>
            <a:r>
              <a:rPr baseline="30000" dirty="0" sz="3400" lang="en-US" smtClean="0"/>
              <a:t>nd</a:t>
            </a:r>
            <a:r>
              <a:rPr dirty="0" sz="3400" lang="en-US" smtClean="0"/>
              <a:t> trimester.</a:t>
            </a:r>
          </a:p>
        </p:txBody>
      </p:sp>
      <p:sp>
        <p:nvSpPr>
          <p:cNvPr id="104930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5.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5" name=""/>
        <p:cNvGrpSpPr/>
        <p:nvPr/>
      </p:nvGrpSpPr>
      <p:grpSpPr>
        <a:xfrm>
          <a:off x="0" y="0"/>
          <a:ext cx="0" cy="0"/>
          <a:chOff x="0" y="0"/>
          <a:chExt cx="0" cy="0"/>
        </a:xfrm>
      </p:grpSpPr>
      <p:sp>
        <p:nvSpPr>
          <p:cNvPr id="1049302" name="Content Placeholder 2"/>
          <p:cNvSpPr>
            <a:spLocks noGrp="1"/>
          </p:cNvSpPr>
          <p:nvPr>
            <p:ph idx="1"/>
          </p:nvPr>
        </p:nvSpPr>
        <p:spPr>
          <a:xfrm>
            <a:off x="1295400" y="304800"/>
            <a:ext cx="9871709" cy="6172200"/>
          </a:xfrm>
        </p:spPr>
        <p:txBody>
          <a:bodyPr>
            <a:noAutofit/>
          </a:bodyPr>
          <a:p>
            <a:pPr algn="just"/>
            <a:r>
              <a:rPr dirty="0" sz="3600" lang="en-US" smtClean="0"/>
              <a:t>Twin to twin transfusion, due to development of vascular connections between the 2 fetal circulation.</a:t>
            </a:r>
          </a:p>
          <a:p>
            <a:pPr algn="just"/>
            <a:r>
              <a:rPr dirty="0" sz="3600" lang="en-US" smtClean="0"/>
              <a:t>High 2</a:t>
            </a:r>
            <a:r>
              <a:rPr baseline="30000" dirty="0" sz="3600" lang="en-US" smtClean="0"/>
              <a:t>nd</a:t>
            </a:r>
            <a:r>
              <a:rPr dirty="0" sz="3600" lang="en-US" smtClean="0"/>
              <a:t>   twin perinatal morbidity and mortality rate, because of some degree of placental separation if they share placenta.</a:t>
            </a:r>
          </a:p>
          <a:p>
            <a:pPr algn="just">
              <a:buNone/>
            </a:pPr>
            <a:r>
              <a:rPr dirty="0" sz="3600" lang="en-US" smtClean="0"/>
              <a:t>	NB: Though identical, there size and personalities are in most cases different.</a:t>
            </a:r>
            <a:endParaRPr dirty="0" sz="3600" lang="en-US"/>
          </a:p>
        </p:txBody>
      </p:sp>
      <p:sp>
        <p:nvSpPr>
          <p:cNvPr id="104930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6" name=""/>
        <p:cNvGrpSpPr/>
        <p:nvPr/>
      </p:nvGrpSpPr>
      <p:grpSpPr>
        <a:xfrm>
          <a:off x="0" y="0"/>
          <a:ext cx="0" cy="0"/>
          <a:chOff x="0" y="0"/>
          <a:chExt cx="0" cy="0"/>
        </a:xfrm>
      </p:grpSpPr>
      <p:sp>
        <p:nvSpPr>
          <p:cNvPr id="1049304" name="Content Placeholder 2"/>
          <p:cNvSpPr>
            <a:spLocks noGrp="1"/>
          </p:cNvSpPr>
          <p:nvPr>
            <p:ph idx="1"/>
          </p:nvPr>
        </p:nvSpPr>
        <p:spPr>
          <a:xfrm>
            <a:off x="1524000" y="228600"/>
            <a:ext cx="9643109" cy="6248400"/>
          </a:xfrm>
        </p:spPr>
        <p:txBody>
          <a:bodyPr>
            <a:noAutofit/>
          </a:bodyPr>
          <a:p>
            <a:pPr algn="just">
              <a:buNone/>
            </a:pPr>
            <a:r>
              <a:rPr dirty="0" sz="3600" lang="en-US" smtClean="0"/>
              <a:t>	</a:t>
            </a:r>
            <a:r>
              <a:rPr b="1" dirty="0" sz="3600" lang="en-US" smtClean="0">
                <a:solidFill>
                  <a:srgbClr val="00B050"/>
                </a:solidFill>
              </a:rPr>
              <a:t>Dizygotic</a:t>
            </a:r>
          </a:p>
          <a:p>
            <a:pPr algn="just"/>
            <a:r>
              <a:rPr dirty="0" sz="3600" lang="en-US" smtClean="0"/>
              <a:t>May be of same sex or different.</a:t>
            </a:r>
          </a:p>
          <a:p>
            <a:pPr algn="just"/>
            <a:r>
              <a:rPr dirty="0" sz="3600" lang="en-US" smtClean="0"/>
              <a:t>Resemblance is as for any other sibling in the family.</a:t>
            </a:r>
          </a:p>
          <a:p>
            <a:pPr algn="just"/>
            <a:r>
              <a:rPr dirty="0" sz="3600" lang="en-US" smtClean="0"/>
              <a:t>Always have different set of membranes &amp; placenta, though the </a:t>
            </a:r>
            <a:r>
              <a:rPr dirty="0" sz="3600" lang="en-US" err="1" smtClean="0"/>
              <a:t>placentae</a:t>
            </a:r>
            <a:r>
              <a:rPr dirty="0" sz="3600" lang="en-US" smtClean="0"/>
              <a:t> may fuse.</a:t>
            </a:r>
          </a:p>
          <a:p>
            <a:pPr algn="just"/>
            <a:r>
              <a:rPr dirty="0" sz="3600" lang="en-US" smtClean="0"/>
              <a:t>Chances of congenital abnormalities is as in single pregnancy.</a:t>
            </a:r>
            <a:endParaRPr dirty="0" sz="3600" lang="en-US"/>
          </a:p>
        </p:txBody>
      </p:sp>
      <p:sp>
        <p:nvSpPr>
          <p:cNvPr id="104930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7" name=""/>
        <p:cNvGrpSpPr/>
        <p:nvPr/>
      </p:nvGrpSpPr>
      <p:grpSpPr>
        <a:xfrm>
          <a:off x="0" y="0"/>
          <a:ext cx="0" cy="0"/>
          <a:chOff x="0" y="0"/>
          <a:chExt cx="0" cy="0"/>
        </a:xfrm>
      </p:grpSpPr>
      <p:sp>
        <p:nvSpPr>
          <p:cNvPr id="1049306" name="Title 1"/>
          <p:cNvSpPr>
            <a:spLocks noGrp="1"/>
          </p:cNvSpPr>
          <p:nvPr>
            <p:ph type="title"/>
          </p:nvPr>
        </p:nvSpPr>
        <p:spPr/>
        <p:txBody>
          <a:bodyPr>
            <a:normAutofit fontScale="90000"/>
          </a:bodyPr>
          <a:p>
            <a:pPr algn="ctr"/>
            <a:r>
              <a:rPr b="1" dirty="0" lang="en-US" smtClean="0"/>
              <a:t>	</a:t>
            </a:r>
            <a:r>
              <a:rPr b="1" dirty="0" lang="en-US" smtClean="0">
                <a:solidFill>
                  <a:srgbClr val="C00000"/>
                </a:solidFill>
              </a:rPr>
              <a:t> DIAGNOSTIC  FACTORS OF MULTIPLE PREGNANCY</a:t>
            </a:r>
            <a:endParaRPr b="1" dirty="0" lang="en-US"/>
          </a:p>
        </p:txBody>
      </p:sp>
      <p:sp>
        <p:nvSpPr>
          <p:cNvPr id="1049307" name="Content Placeholder 2"/>
          <p:cNvSpPr>
            <a:spLocks noGrp="1"/>
          </p:cNvSpPr>
          <p:nvPr>
            <p:ph idx="1"/>
          </p:nvPr>
        </p:nvSpPr>
        <p:spPr>
          <a:xfrm>
            <a:off x="1371600" y="1295400"/>
            <a:ext cx="9795510" cy="4953000"/>
          </a:xfrm>
        </p:spPr>
        <p:txBody>
          <a:bodyPr>
            <a:normAutofit/>
          </a:bodyPr>
          <a:p>
            <a:pPr algn="just">
              <a:buNone/>
            </a:pPr>
            <a:r>
              <a:rPr dirty="0" lang="en-US" smtClean="0"/>
              <a:t>	Based on:</a:t>
            </a:r>
          </a:p>
          <a:p>
            <a:pPr algn="just"/>
            <a:r>
              <a:rPr b="1" dirty="0" lang="en-US" smtClean="0"/>
              <a:t>History  of:-</a:t>
            </a:r>
          </a:p>
          <a:p>
            <a:pPr algn="just">
              <a:buFont typeface="Wingdings" pitchFamily="2" charset="2"/>
              <a:buChar char="Ø"/>
            </a:pPr>
            <a:r>
              <a:rPr dirty="0" lang="en-US" smtClean="0"/>
              <a:t>Previous twinning, i.e. either has a set of twin or she is a twin.</a:t>
            </a:r>
          </a:p>
          <a:p>
            <a:pPr algn="just">
              <a:buFont typeface="Wingdings" pitchFamily="2" charset="2"/>
              <a:buChar char="Ø"/>
            </a:pPr>
            <a:r>
              <a:rPr dirty="0" lang="en-US" smtClean="0"/>
              <a:t>Close family member have delivered twins </a:t>
            </a:r>
            <a:r>
              <a:rPr dirty="0" lang="en-US" err="1" smtClean="0"/>
              <a:t>eg</a:t>
            </a:r>
            <a:r>
              <a:rPr dirty="0" lang="en-US" smtClean="0"/>
              <a:t> own mother(strong family history).</a:t>
            </a:r>
          </a:p>
          <a:p>
            <a:pPr algn="just">
              <a:buFont typeface="Wingdings" pitchFamily="2" charset="2"/>
              <a:buChar char="Ø"/>
            </a:pPr>
            <a:r>
              <a:rPr dirty="0" lang="en-US" smtClean="0"/>
              <a:t>Assisted reproductive techniques </a:t>
            </a:r>
            <a:r>
              <a:rPr dirty="0" lang="en-US" err="1" smtClean="0"/>
              <a:t>eg</a:t>
            </a:r>
            <a:r>
              <a:rPr dirty="0" lang="en-US" smtClean="0"/>
              <a:t> use of fertility drugs, conception outside the body= vitro </a:t>
            </a:r>
            <a:r>
              <a:rPr dirty="0" lang="en-US" err="1" smtClean="0"/>
              <a:t>fertilisation</a:t>
            </a:r>
            <a:r>
              <a:rPr dirty="0" lang="en-US" smtClean="0"/>
              <a:t> &amp; </a:t>
            </a:r>
            <a:r>
              <a:rPr dirty="0" lang="en-US" err="1" smtClean="0"/>
              <a:t>embyro</a:t>
            </a:r>
            <a:r>
              <a:rPr dirty="0" lang="en-US" smtClean="0"/>
              <a:t> transfer.</a:t>
            </a:r>
            <a:endParaRPr dirty="0" lang="en-US"/>
          </a:p>
        </p:txBody>
      </p:sp>
      <p:sp>
        <p:nvSpPr>
          <p:cNvPr id="104930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8.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8" name=""/>
        <p:cNvGrpSpPr/>
        <p:nvPr/>
      </p:nvGrpSpPr>
      <p:grpSpPr>
        <a:xfrm>
          <a:off x="0" y="0"/>
          <a:ext cx="0" cy="0"/>
          <a:chOff x="0" y="0"/>
          <a:chExt cx="0" cy="0"/>
        </a:xfrm>
      </p:grpSpPr>
      <p:sp>
        <p:nvSpPr>
          <p:cNvPr id="1049309" name="Content Placeholder 2"/>
          <p:cNvSpPr>
            <a:spLocks noGrp="1"/>
          </p:cNvSpPr>
          <p:nvPr>
            <p:ph idx="1"/>
          </p:nvPr>
        </p:nvSpPr>
        <p:spPr>
          <a:xfrm>
            <a:off x="1238250" y="457200"/>
            <a:ext cx="9928859" cy="5791200"/>
          </a:xfrm>
        </p:spPr>
        <p:txBody>
          <a:bodyPr>
            <a:normAutofit/>
          </a:bodyPr>
          <a:p>
            <a:pPr>
              <a:buFont typeface="Wingdings" pitchFamily="2" charset="2"/>
              <a:buChar char="Ø"/>
            </a:pPr>
            <a:r>
              <a:rPr dirty="0" lang="en-US" smtClean="0"/>
              <a:t>Exaggerated pressure symptoms.</a:t>
            </a:r>
          </a:p>
          <a:p>
            <a:pPr>
              <a:buFont typeface="Wingdings" pitchFamily="2" charset="2"/>
              <a:buChar char="Ø"/>
            </a:pPr>
            <a:r>
              <a:rPr dirty="0" lang="en-US" smtClean="0"/>
              <a:t>Fast enlargement of the    abdomen, particularly after 20 weeks.</a:t>
            </a:r>
          </a:p>
          <a:p>
            <a:r>
              <a:rPr b="1" dirty="0" lang="en-US" smtClean="0"/>
              <a:t>Abdominal  exam:</a:t>
            </a:r>
          </a:p>
          <a:p>
            <a:pPr>
              <a:buFont typeface="Wingdings" pitchFamily="2" charset="2"/>
              <a:buChar char="Ø"/>
            </a:pPr>
            <a:r>
              <a:rPr dirty="0" lang="en-US" smtClean="0"/>
              <a:t>On inspection ; its broad and round.</a:t>
            </a:r>
          </a:p>
          <a:p>
            <a:pPr>
              <a:buFont typeface="Wingdings" pitchFamily="2" charset="2"/>
              <a:buChar char="Ø"/>
            </a:pPr>
            <a:r>
              <a:rPr dirty="0" lang="en-US" smtClean="0"/>
              <a:t>Palpation after 20 wks and in absence of </a:t>
            </a:r>
            <a:r>
              <a:rPr dirty="0" lang="en-US" err="1" smtClean="0"/>
              <a:t>polyhydramnious</a:t>
            </a:r>
            <a:r>
              <a:rPr dirty="0" lang="en-US" smtClean="0"/>
              <a:t>:</a:t>
            </a:r>
          </a:p>
          <a:p>
            <a:pPr>
              <a:buFont typeface="Wingdings" pitchFamily="2" charset="2"/>
              <a:buChar char="ü"/>
            </a:pPr>
            <a:r>
              <a:rPr dirty="0" lang="en-US" smtClean="0"/>
              <a:t>Fundal height at a higher level </a:t>
            </a:r>
            <a:r>
              <a:rPr dirty="0" lang="en-US" err="1" smtClean="0"/>
              <a:t>campared</a:t>
            </a:r>
            <a:r>
              <a:rPr dirty="0" lang="en-US" smtClean="0"/>
              <a:t> to dates.</a:t>
            </a:r>
            <a:endParaRPr dirty="0" lang="en-US"/>
          </a:p>
        </p:txBody>
      </p:sp>
      <p:sp>
        <p:nvSpPr>
          <p:cNvPr id="104931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39.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69" name=""/>
        <p:cNvGrpSpPr/>
        <p:nvPr/>
      </p:nvGrpSpPr>
      <p:grpSpPr>
        <a:xfrm>
          <a:off x="0" y="0"/>
          <a:ext cx="0" cy="0"/>
          <a:chOff x="0" y="0"/>
          <a:chExt cx="0" cy="0"/>
        </a:xfrm>
      </p:grpSpPr>
      <p:sp>
        <p:nvSpPr>
          <p:cNvPr id="1049311" name="Content Placeholder 2"/>
          <p:cNvSpPr>
            <a:spLocks noGrp="1"/>
          </p:cNvSpPr>
          <p:nvPr>
            <p:ph idx="1"/>
          </p:nvPr>
        </p:nvSpPr>
        <p:spPr>
          <a:xfrm>
            <a:off x="1371600" y="381000"/>
            <a:ext cx="9795510" cy="5867400"/>
          </a:xfrm>
        </p:spPr>
        <p:txBody>
          <a:bodyPr>
            <a:normAutofit/>
          </a:bodyPr>
          <a:p>
            <a:pPr algn="just">
              <a:buFont typeface="Wingdings" pitchFamily="2" charset="2"/>
              <a:buChar char="ü"/>
            </a:pPr>
            <a:r>
              <a:rPr dirty="0" lang="en-US" smtClean="0"/>
              <a:t>Excessive fetal parts on lateral palpation or location of 2 fetal backs.</a:t>
            </a:r>
          </a:p>
          <a:p>
            <a:pPr algn="just">
              <a:buFont typeface="Wingdings" pitchFamily="2" charset="2"/>
              <a:buChar char="ü"/>
            </a:pPr>
            <a:r>
              <a:rPr dirty="0" lang="en-US" smtClean="0"/>
              <a:t>Small fetal head compared to fundal height</a:t>
            </a:r>
          </a:p>
          <a:p>
            <a:pPr algn="just">
              <a:buFont typeface="Wingdings" pitchFamily="2" charset="2"/>
              <a:buChar char="ü"/>
            </a:pPr>
            <a:r>
              <a:rPr dirty="0" lang="en-US" smtClean="0"/>
              <a:t>Identification of 2 fetal poles and heads .</a:t>
            </a:r>
          </a:p>
          <a:p>
            <a:pPr algn="just">
              <a:buFont typeface="Wingdings" pitchFamily="2" charset="2"/>
              <a:buChar char="ü"/>
            </a:pPr>
            <a:r>
              <a:rPr dirty="0" lang="en-US" smtClean="0"/>
              <a:t>Pelvic palpation findings regarding presentation are similar to  those of fundal.</a:t>
            </a:r>
          </a:p>
          <a:p>
            <a:pPr algn="just">
              <a:buFont typeface="Wingdings" pitchFamily="2" charset="2"/>
              <a:buChar char="Ø"/>
            </a:pPr>
            <a:r>
              <a:rPr dirty="0" lang="en-US" smtClean="0"/>
              <a:t>Auscultation:</a:t>
            </a:r>
          </a:p>
          <a:p>
            <a:pPr algn="just">
              <a:buFont typeface="Wingdings" pitchFamily="2" charset="2"/>
              <a:buChar char="ü"/>
            </a:pPr>
            <a:r>
              <a:rPr dirty="0" lang="en-US" smtClean="0"/>
              <a:t>Two(2) fetal heart sounds are heard at different areas  &amp; with a rate difference of about 10b/m.</a:t>
            </a:r>
            <a:endParaRPr dirty="0" lang="en-US"/>
          </a:p>
        </p:txBody>
      </p:sp>
      <p:sp>
        <p:nvSpPr>
          <p:cNvPr id="104931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0.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0" name=""/>
        <p:cNvGrpSpPr/>
        <p:nvPr/>
      </p:nvGrpSpPr>
      <p:grpSpPr>
        <a:xfrm>
          <a:off x="0" y="0"/>
          <a:ext cx="0" cy="0"/>
          <a:chOff x="0" y="0"/>
          <a:chExt cx="0" cy="0"/>
        </a:xfrm>
      </p:grpSpPr>
      <p:sp>
        <p:nvSpPr>
          <p:cNvPr id="1049313" name="Content Placeholder 2"/>
          <p:cNvSpPr>
            <a:spLocks noGrp="1"/>
          </p:cNvSpPr>
          <p:nvPr>
            <p:ph idx="1"/>
          </p:nvPr>
        </p:nvSpPr>
        <p:spPr>
          <a:xfrm>
            <a:off x="1333501" y="381000"/>
            <a:ext cx="9833609" cy="5943600"/>
          </a:xfrm>
        </p:spPr>
        <p:txBody>
          <a:bodyPr>
            <a:normAutofit/>
          </a:bodyPr>
          <a:p>
            <a:pPr>
              <a:buNone/>
            </a:pPr>
            <a:r>
              <a:rPr dirty="0" lang="en-US" smtClean="0"/>
              <a:t>Radiological:</a:t>
            </a:r>
          </a:p>
          <a:p>
            <a:pPr>
              <a:buFont typeface="Wingdings" pitchFamily="2" charset="2"/>
              <a:buChar char="Ø"/>
            </a:pPr>
            <a:r>
              <a:rPr dirty="0" lang="en-US" smtClean="0"/>
              <a:t>Ultrasound ; at 8 weeks confirms the diagnosis . Highly powered machine confirms as early as from 4 weeks. Through:</a:t>
            </a:r>
          </a:p>
          <a:p>
            <a:pPr>
              <a:buFont typeface="Wingdings" pitchFamily="2" charset="2"/>
              <a:buChar char="ü"/>
            </a:pPr>
            <a:r>
              <a:rPr dirty="0" lang="en-US" smtClean="0"/>
              <a:t>Identification of gestation sacs</a:t>
            </a:r>
          </a:p>
          <a:p>
            <a:pPr>
              <a:buFont typeface="Wingdings" pitchFamily="2" charset="2"/>
              <a:buChar char="ü"/>
            </a:pPr>
            <a:r>
              <a:rPr dirty="0" lang="en-US" smtClean="0"/>
              <a:t>2 cardiac activities of different rates</a:t>
            </a:r>
          </a:p>
          <a:p>
            <a:pPr>
              <a:buFont typeface="Wingdings" pitchFamily="2" charset="2"/>
              <a:buChar char="ü"/>
            </a:pPr>
            <a:r>
              <a:rPr dirty="0" lang="en-US" smtClean="0"/>
              <a:t>Latter  2 fetuses are identified</a:t>
            </a:r>
          </a:p>
          <a:p>
            <a:pPr>
              <a:buFont typeface="Wingdings" pitchFamily="2" charset="2"/>
              <a:buChar char="Ø"/>
            </a:pPr>
            <a:r>
              <a:rPr dirty="0" lang="en-US" smtClean="0"/>
              <a:t>Abdominal X-ray in absence of ultrasound facilities . Safe as from 30 weeks &amp; shows;</a:t>
            </a:r>
          </a:p>
          <a:p>
            <a:pPr>
              <a:buFont typeface="Wingdings" pitchFamily="2" charset="2"/>
              <a:buChar char="ü"/>
            </a:pPr>
            <a:r>
              <a:rPr dirty="0" lang="en-US" smtClean="0"/>
              <a:t>The two(2) skeletons.</a:t>
            </a:r>
          </a:p>
        </p:txBody>
      </p:sp>
      <p:sp>
        <p:nvSpPr>
          <p:cNvPr id="104931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1.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1" name=""/>
        <p:cNvGrpSpPr/>
        <p:nvPr/>
      </p:nvGrpSpPr>
      <p:grpSpPr>
        <a:xfrm>
          <a:off x="0" y="0"/>
          <a:ext cx="0" cy="0"/>
          <a:chOff x="0" y="0"/>
          <a:chExt cx="0" cy="0"/>
        </a:xfrm>
      </p:grpSpPr>
      <p:sp>
        <p:nvSpPr>
          <p:cNvPr id="1049315" name="Title 1"/>
          <p:cNvSpPr>
            <a:spLocks noGrp="1"/>
          </p:cNvSpPr>
          <p:nvPr>
            <p:ph type="title"/>
          </p:nvPr>
        </p:nvSpPr>
        <p:spPr>
          <a:xfrm>
            <a:off x="1794509" y="0"/>
            <a:ext cx="9372600" cy="914400"/>
          </a:xfrm>
        </p:spPr>
        <p:txBody>
          <a:bodyPr>
            <a:normAutofit/>
          </a:bodyPr>
          <a:p>
            <a:r>
              <a:rPr b="1" dirty="0" sz="4000" lang="en-US" smtClean="0">
                <a:solidFill>
                  <a:srgbClr val="C00000"/>
                </a:solidFill>
              </a:rPr>
              <a:t> SPECIFIC  MANAGEMENT</a:t>
            </a:r>
            <a:endParaRPr dirty="0" sz="4000" lang="en-US"/>
          </a:p>
        </p:txBody>
      </p:sp>
      <p:sp>
        <p:nvSpPr>
          <p:cNvPr id="1049316" name="Content Placeholder 2"/>
          <p:cNvSpPr>
            <a:spLocks noGrp="1"/>
          </p:cNvSpPr>
          <p:nvPr>
            <p:ph idx="1"/>
          </p:nvPr>
        </p:nvSpPr>
        <p:spPr>
          <a:xfrm>
            <a:off x="1238250" y="914400"/>
            <a:ext cx="9928859" cy="5334000"/>
          </a:xfrm>
        </p:spPr>
        <p:txBody>
          <a:bodyPr/>
          <a:p>
            <a:pPr>
              <a:buNone/>
            </a:pPr>
            <a:r>
              <a:rPr dirty="0" lang="en-US" smtClean="0"/>
              <a:t>	</a:t>
            </a:r>
            <a:r>
              <a:rPr dirty="0" lang="en-US" smtClean="0">
                <a:solidFill>
                  <a:srgbClr val="C00000"/>
                </a:solidFill>
              </a:rPr>
              <a:t>	</a:t>
            </a:r>
            <a:r>
              <a:rPr dirty="0" sz="3600" i="1" lang="en-US" smtClean="0">
                <a:solidFill>
                  <a:srgbClr val="C00000"/>
                </a:solidFill>
              </a:rPr>
              <a:t>Prenatally:</a:t>
            </a:r>
          </a:p>
          <a:p>
            <a:r>
              <a:rPr dirty="0" sz="3600" lang="en-US" smtClean="0"/>
              <a:t>Sensitively handle the breaking of the news regarding multiple pregnancy.</a:t>
            </a:r>
          </a:p>
          <a:p>
            <a:pPr>
              <a:buFont typeface="Wingdings" pitchFamily="2" charset="2"/>
              <a:buChar char="Ø"/>
            </a:pPr>
            <a:r>
              <a:rPr dirty="0" sz="3600" lang="en-US" smtClean="0"/>
              <a:t>Aim is to avoid undue anxiety and shock, which may affect future parent-children relationship. </a:t>
            </a:r>
            <a:endParaRPr dirty="0" sz="3600" lang="en-US"/>
          </a:p>
        </p:txBody>
      </p:sp>
      <p:sp>
        <p:nvSpPr>
          <p:cNvPr id="104931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2.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2" name=""/>
        <p:cNvGrpSpPr/>
        <p:nvPr/>
      </p:nvGrpSpPr>
      <p:grpSpPr>
        <a:xfrm>
          <a:off x="0" y="0"/>
          <a:ext cx="0" cy="0"/>
          <a:chOff x="0" y="0"/>
          <a:chExt cx="0" cy="0"/>
        </a:xfrm>
      </p:grpSpPr>
      <p:sp>
        <p:nvSpPr>
          <p:cNvPr id="1049318" name="Content Placeholder 2"/>
          <p:cNvSpPr>
            <a:spLocks noGrp="1"/>
          </p:cNvSpPr>
          <p:nvPr>
            <p:ph idx="1"/>
          </p:nvPr>
        </p:nvSpPr>
        <p:spPr>
          <a:xfrm>
            <a:off x="1047750" y="228600"/>
            <a:ext cx="10119360" cy="6019800"/>
          </a:xfrm>
        </p:spPr>
        <p:txBody>
          <a:bodyPr>
            <a:normAutofit/>
          </a:bodyPr>
          <a:p>
            <a:r>
              <a:rPr dirty="0" lang="en-US" smtClean="0"/>
              <a:t>Close surveillance is vital to early diagnose various risk factors, hence control/ treatment.</a:t>
            </a:r>
          </a:p>
          <a:p>
            <a:r>
              <a:rPr dirty="0" lang="en-US" smtClean="0"/>
              <a:t>Follow up is best in a hospital setting MCH and review visit criteria is basically on:</a:t>
            </a:r>
          </a:p>
          <a:p>
            <a:pPr>
              <a:buFont typeface="Wingdings" pitchFamily="2" charset="2"/>
              <a:buChar char="Ø"/>
            </a:pPr>
            <a:r>
              <a:rPr dirty="0" lang="en-US" smtClean="0"/>
              <a:t>2 weekly up to a gestation of 28 weeks</a:t>
            </a:r>
          </a:p>
          <a:p>
            <a:pPr>
              <a:buFont typeface="Wingdings" pitchFamily="2" charset="2"/>
              <a:buChar char="Ø"/>
            </a:pPr>
            <a:r>
              <a:rPr dirty="0" lang="en-US" smtClean="0"/>
              <a:t>Thereafter weekly up to 34 weeks and doctors review during every visit.</a:t>
            </a:r>
          </a:p>
          <a:p>
            <a:r>
              <a:rPr dirty="0" lang="en-US" smtClean="0"/>
              <a:t>Among the services are:</a:t>
            </a:r>
          </a:p>
          <a:p>
            <a:pPr>
              <a:buFont typeface="Wingdings" pitchFamily="2" charset="2"/>
              <a:buChar char="Ø"/>
            </a:pPr>
            <a:r>
              <a:rPr dirty="0" lang="en-US" smtClean="0"/>
              <a:t>Health messages regarding; </a:t>
            </a:r>
            <a:endParaRPr dirty="0" lang="en-US"/>
          </a:p>
        </p:txBody>
      </p:sp>
      <p:sp>
        <p:nvSpPr>
          <p:cNvPr id="104931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3.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3" name=""/>
        <p:cNvGrpSpPr/>
        <p:nvPr/>
      </p:nvGrpSpPr>
      <p:grpSpPr>
        <a:xfrm>
          <a:off x="0" y="0"/>
          <a:ext cx="0" cy="0"/>
          <a:chOff x="0" y="0"/>
          <a:chExt cx="0" cy="0"/>
        </a:xfrm>
      </p:grpSpPr>
      <p:sp>
        <p:nvSpPr>
          <p:cNvPr id="1049320" name="Content Placeholder 2"/>
          <p:cNvSpPr>
            <a:spLocks noGrp="1"/>
          </p:cNvSpPr>
          <p:nvPr>
            <p:ph idx="1"/>
          </p:nvPr>
        </p:nvSpPr>
        <p:spPr>
          <a:xfrm>
            <a:off x="1143001" y="457208"/>
            <a:ext cx="9525000" cy="5668963"/>
          </a:xfrm>
        </p:spPr>
        <p:txBody>
          <a:bodyPr>
            <a:normAutofit/>
          </a:bodyPr>
          <a:p>
            <a:pPr>
              <a:buFont typeface="Wingdings" pitchFamily="2" charset="2"/>
              <a:buChar char="ü"/>
            </a:pPr>
            <a:r>
              <a:rPr dirty="0" lang="en-US" smtClean="0"/>
              <a:t>Possible course of pregnancy (minor disorders &amp; physiological changes), outcomes and possible complications.</a:t>
            </a:r>
          </a:p>
          <a:p>
            <a:pPr>
              <a:buFont typeface="Wingdings" pitchFamily="2" charset="2"/>
              <a:buChar char="ü"/>
            </a:pPr>
            <a:r>
              <a:rPr dirty="0" lang="en-US" smtClean="0"/>
              <a:t>Infants feeding and ways of keeping them warm.</a:t>
            </a:r>
          </a:p>
          <a:p>
            <a:pPr>
              <a:buFont typeface="Wingdings" pitchFamily="2" charset="2"/>
              <a:buChar char="ü"/>
            </a:pPr>
            <a:r>
              <a:rPr dirty="0" lang="en-US" smtClean="0"/>
              <a:t>Importance of a birth plan.</a:t>
            </a:r>
          </a:p>
          <a:p>
            <a:pPr>
              <a:buFont typeface="Wingdings" pitchFamily="2" charset="2"/>
              <a:buChar char="Ø"/>
            </a:pPr>
            <a:r>
              <a:rPr dirty="0" lang="en-US" smtClean="0"/>
              <a:t>Iron &amp; </a:t>
            </a:r>
            <a:r>
              <a:rPr dirty="0" lang="en-US" err="1" smtClean="0"/>
              <a:t>Folate</a:t>
            </a:r>
            <a:r>
              <a:rPr dirty="0" lang="en-US" smtClean="0"/>
              <a:t> supplementation:</a:t>
            </a:r>
          </a:p>
          <a:p>
            <a:pPr>
              <a:buFont typeface="Wingdings" pitchFamily="2" charset="2"/>
              <a:buChar char="ü"/>
            </a:pPr>
            <a:r>
              <a:rPr dirty="0" lang="en-US" smtClean="0"/>
              <a:t>Iron is due to the higher demand.</a:t>
            </a:r>
          </a:p>
          <a:p>
            <a:pPr>
              <a:buFont typeface="Wingdings" pitchFamily="2" charset="2"/>
              <a:buChar char="ü"/>
            </a:pPr>
            <a:r>
              <a:rPr dirty="0" lang="en-US" err="1" smtClean="0"/>
              <a:t>Folate</a:t>
            </a:r>
            <a:r>
              <a:rPr dirty="0" lang="en-US" smtClean="0"/>
              <a:t> reduces the risk of structural abnormalities .</a:t>
            </a:r>
            <a:endParaRPr dirty="0" lang="en-US"/>
          </a:p>
        </p:txBody>
      </p:sp>
      <p:sp>
        <p:nvSpPr>
          <p:cNvPr id="104932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4.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4" name=""/>
        <p:cNvGrpSpPr/>
        <p:nvPr/>
      </p:nvGrpSpPr>
      <p:grpSpPr>
        <a:xfrm>
          <a:off x="0" y="0"/>
          <a:ext cx="0" cy="0"/>
          <a:chOff x="0" y="0"/>
          <a:chExt cx="0" cy="0"/>
        </a:xfrm>
      </p:grpSpPr>
      <p:sp>
        <p:nvSpPr>
          <p:cNvPr id="1049322" name="Content Placeholder 2"/>
          <p:cNvSpPr>
            <a:spLocks noGrp="1"/>
          </p:cNvSpPr>
          <p:nvPr>
            <p:ph idx="1"/>
          </p:nvPr>
        </p:nvSpPr>
        <p:spPr>
          <a:xfrm>
            <a:off x="1238250" y="457200"/>
            <a:ext cx="9928859" cy="5791200"/>
          </a:xfrm>
        </p:spPr>
        <p:txBody>
          <a:bodyPr>
            <a:normAutofit/>
          </a:bodyPr>
          <a:p>
            <a:pPr algn="just">
              <a:buFont typeface="Wingdings" pitchFamily="2" charset="2"/>
              <a:buChar char="Ø"/>
            </a:pPr>
            <a:r>
              <a:rPr dirty="0" lang="en-US" smtClean="0"/>
              <a:t>Screening for congenital abnormalities thru:</a:t>
            </a:r>
          </a:p>
          <a:p>
            <a:pPr algn="just">
              <a:buFont typeface="Wingdings" pitchFamily="2" charset="2"/>
              <a:buChar char="ü"/>
            </a:pPr>
            <a:r>
              <a:rPr dirty="0" lang="en-US" smtClean="0"/>
              <a:t>Ultrasound</a:t>
            </a:r>
          </a:p>
          <a:p>
            <a:pPr algn="just">
              <a:buFont typeface="Wingdings" pitchFamily="2" charset="2"/>
              <a:buChar char="ü"/>
            </a:pPr>
            <a:r>
              <a:rPr dirty="0" lang="en-US" smtClean="0"/>
              <a:t> Blood specimen is also utilised where facilities are available.</a:t>
            </a:r>
          </a:p>
          <a:p>
            <a:pPr algn="just">
              <a:buFont typeface="Wingdings" pitchFamily="2" charset="2"/>
              <a:buChar char="Ø"/>
            </a:pPr>
            <a:r>
              <a:rPr dirty="0" lang="en-US" smtClean="0"/>
              <a:t>Closely monitor for any complications </a:t>
            </a:r>
            <a:r>
              <a:rPr dirty="0" lang="en-US" err="1" smtClean="0"/>
              <a:t>e.g</a:t>
            </a:r>
            <a:r>
              <a:rPr dirty="0" lang="en-US" smtClean="0"/>
              <a:t> </a:t>
            </a:r>
            <a:r>
              <a:rPr dirty="0" lang="en-US" err="1" smtClean="0"/>
              <a:t>polyhydramnious</a:t>
            </a:r>
            <a:r>
              <a:rPr dirty="0" lang="en-US" smtClean="0"/>
              <a:t> , preeclampsia and exaggeration of minor disorders, then intervene appropriately .</a:t>
            </a:r>
          </a:p>
          <a:p>
            <a:pPr algn="just">
              <a:buFont typeface="Wingdings" pitchFamily="2" charset="2"/>
              <a:buChar char="Ø"/>
            </a:pPr>
            <a:r>
              <a:rPr dirty="0" lang="en-US" smtClean="0"/>
              <a:t>Advise on rest, at least 2 hours afternoon &amp; 6-8hrs at night. Increase resting period towards term.</a:t>
            </a:r>
          </a:p>
          <a:p>
            <a:pPr algn="just">
              <a:buFont typeface="Wingdings" pitchFamily="2" charset="2"/>
              <a:buChar char="Ø"/>
            </a:pPr>
            <a:endParaRPr dirty="0" lang="en-US"/>
          </a:p>
        </p:txBody>
      </p:sp>
      <p:sp>
        <p:nvSpPr>
          <p:cNvPr id="104932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5.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5" name=""/>
        <p:cNvGrpSpPr/>
        <p:nvPr/>
      </p:nvGrpSpPr>
      <p:grpSpPr>
        <a:xfrm>
          <a:off x="0" y="0"/>
          <a:ext cx="0" cy="0"/>
          <a:chOff x="0" y="0"/>
          <a:chExt cx="0" cy="0"/>
        </a:xfrm>
      </p:grpSpPr>
      <p:sp>
        <p:nvSpPr>
          <p:cNvPr id="1049324" name="Content Placeholder 2"/>
          <p:cNvSpPr>
            <a:spLocks noGrp="1"/>
          </p:cNvSpPr>
          <p:nvPr>
            <p:ph idx="1"/>
          </p:nvPr>
        </p:nvSpPr>
        <p:spPr>
          <a:xfrm>
            <a:off x="1143001" y="228600"/>
            <a:ext cx="10024109" cy="6019800"/>
          </a:xfrm>
        </p:spPr>
        <p:txBody>
          <a:bodyPr>
            <a:normAutofit/>
          </a:bodyPr>
          <a:p>
            <a:r>
              <a:rPr dirty="0" lang="en-US" smtClean="0"/>
              <a:t>Sometimes, at around 34 weeks admission to hospital may be necessary to:</a:t>
            </a:r>
          </a:p>
          <a:p>
            <a:pPr>
              <a:buFont typeface="Wingdings" pitchFamily="2" charset="2"/>
              <a:buChar char="ü"/>
            </a:pPr>
            <a:r>
              <a:rPr dirty="0" lang="en-US" smtClean="0"/>
              <a:t>Closely monitor for preterm labour.</a:t>
            </a:r>
          </a:p>
          <a:p>
            <a:pPr>
              <a:buFont typeface="Wingdings" pitchFamily="2" charset="2"/>
              <a:buChar char="ü"/>
            </a:pPr>
            <a:r>
              <a:rPr dirty="0" lang="en-US" smtClean="0"/>
              <a:t>Facilitate physical rest and to some extent psychological rest. </a:t>
            </a:r>
          </a:p>
          <a:p>
            <a:pPr>
              <a:buFont typeface="Wingdings" pitchFamily="2" charset="2"/>
              <a:buChar char="Ø"/>
            </a:pPr>
            <a:r>
              <a:rPr dirty="0" lang="en-US" smtClean="0"/>
              <a:t>On discharge, emphasize on:</a:t>
            </a:r>
          </a:p>
          <a:p>
            <a:pPr>
              <a:buFont typeface="Wingdings" pitchFamily="2" charset="2"/>
              <a:buChar char="ü"/>
            </a:pPr>
            <a:r>
              <a:rPr dirty="0" lang="en-US" smtClean="0"/>
              <a:t>Hygiene, diet, rest and sleep.</a:t>
            </a:r>
          </a:p>
          <a:p>
            <a:pPr>
              <a:buFont typeface="Wingdings" pitchFamily="2" charset="2"/>
              <a:buChar char="ü"/>
            </a:pPr>
            <a:r>
              <a:rPr dirty="0" lang="en-US" smtClean="0"/>
              <a:t>Prevention of anaemia</a:t>
            </a:r>
          </a:p>
          <a:p>
            <a:pPr>
              <a:buFont typeface="Wingdings" pitchFamily="2" charset="2"/>
              <a:buChar char="ü"/>
            </a:pPr>
            <a:r>
              <a:rPr dirty="0" lang="en-US" smtClean="0"/>
              <a:t>Signs of false labour</a:t>
            </a:r>
          </a:p>
          <a:p>
            <a:r>
              <a:rPr dirty="0" lang="en-US" smtClean="0"/>
              <a:t>If labour will not have occurred by EDD to report to hospital promptly to prevent IUFD.</a:t>
            </a:r>
            <a:endParaRPr dirty="0" lang="en-US"/>
          </a:p>
        </p:txBody>
      </p:sp>
      <p:sp>
        <p:nvSpPr>
          <p:cNvPr id="104932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6" name=""/>
        <p:cNvGrpSpPr/>
        <p:nvPr/>
      </p:nvGrpSpPr>
      <p:grpSpPr>
        <a:xfrm>
          <a:off x="0" y="0"/>
          <a:ext cx="0" cy="0"/>
          <a:chOff x="0" y="0"/>
          <a:chExt cx="0" cy="0"/>
        </a:xfrm>
      </p:grpSpPr>
      <p:sp>
        <p:nvSpPr>
          <p:cNvPr id="1049326" name="Title 1"/>
          <p:cNvSpPr>
            <a:spLocks noGrp="1"/>
          </p:cNvSpPr>
          <p:nvPr>
            <p:ph type="title"/>
          </p:nvPr>
        </p:nvSpPr>
        <p:spPr>
          <a:xfrm>
            <a:off x="1794509" y="0"/>
            <a:ext cx="9372600" cy="914400"/>
          </a:xfrm>
        </p:spPr>
        <p:txBody>
          <a:bodyPr/>
          <a:p>
            <a:r>
              <a:rPr dirty="0" lang="en-US" smtClean="0"/>
              <a:t>	</a:t>
            </a:r>
            <a:r>
              <a:rPr b="1" dirty="0" sz="4400" i="1" lang="en-US" smtClean="0">
                <a:solidFill>
                  <a:srgbClr val="C00000"/>
                </a:solidFill>
              </a:rPr>
              <a:t> </a:t>
            </a:r>
            <a:r>
              <a:rPr b="1" dirty="0" sz="4400" i="1" lang="en-US" err="1" smtClean="0">
                <a:solidFill>
                  <a:srgbClr val="C00000"/>
                </a:solidFill>
              </a:rPr>
              <a:t>Intrapartum</a:t>
            </a:r>
            <a:endParaRPr dirty="0" lang="en-US"/>
          </a:p>
        </p:txBody>
      </p:sp>
      <p:sp>
        <p:nvSpPr>
          <p:cNvPr id="1049327" name="Content Placeholder 2"/>
          <p:cNvSpPr>
            <a:spLocks noGrp="1"/>
          </p:cNvSpPr>
          <p:nvPr>
            <p:ph idx="1"/>
          </p:nvPr>
        </p:nvSpPr>
        <p:spPr>
          <a:xfrm>
            <a:off x="1295400" y="838200"/>
            <a:ext cx="9871710" cy="5410200"/>
          </a:xfrm>
        </p:spPr>
        <p:txBody>
          <a:bodyPr>
            <a:normAutofit/>
          </a:bodyPr>
          <a:p>
            <a:pPr algn="just"/>
            <a:r>
              <a:rPr dirty="0" lang="en-US" smtClean="0"/>
              <a:t>Generally, multiple gestation rarely reaches 40 weeks.</a:t>
            </a:r>
          </a:p>
          <a:p>
            <a:pPr algn="just">
              <a:buFont typeface="Wingdings" pitchFamily="2" charset="2"/>
              <a:buChar char="Ø"/>
            </a:pPr>
            <a:r>
              <a:rPr dirty="0" lang="en-US" smtClean="0"/>
              <a:t>Average duration for twins is 38weeks, triplets 36 weeks and quadruplets 34 weeks.</a:t>
            </a:r>
          </a:p>
          <a:p>
            <a:pPr algn="just"/>
            <a:r>
              <a:rPr dirty="0" lang="en-US" smtClean="0"/>
              <a:t>Spontaneous labour onset is highly preferred &amp; delivery should always occur in a hospital.</a:t>
            </a:r>
          </a:p>
          <a:p>
            <a:pPr algn="just">
              <a:buFont typeface="Wingdings" pitchFamily="2" charset="2"/>
              <a:buChar char="Ø"/>
            </a:pPr>
            <a:r>
              <a:rPr dirty="0" lang="en-US" smtClean="0"/>
              <a:t>Mode of delivery is determined by; parity, presentation, number of fetuses, past obstetric history &amp; stage of labour on admission.</a:t>
            </a:r>
            <a:endParaRPr dirty="0" lang="en-US"/>
          </a:p>
        </p:txBody>
      </p:sp>
      <p:sp>
        <p:nvSpPr>
          <p:cNvPr id="104932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7" name=""/>
        <p:cNvGrpSpPr/>
        <p:nvPr/>
      </p:nvGrpSpPr>
      <p:grpSpPr>
        <a:xfrm>
          <a:off x="0" y="0"/>
          <a:ext cx="0" cy="0"/>
          <a:chOff x="0" y="0"/>
          <a:chExt cx="0" cy="0"/>
        </a:xfrm>
      </p:grpSpPr>
      <p:sp>
        <p:nvSpPr>
          <p:cNvPr id="1049329" name="Content Placeholder 2"/>
          <p:cNvSpPr>
            <a:spLocks noGrp="1"/>
          </p:cNvSpPr>
          <p:nvPr>
            <p:ph idx="1"/>
          </p:nvPr>
        </p:nvSpPr>
        <p:spPr>
          <a:xfrm>
            <a:off x="1333501" y="381000"/>
            <a:ext cx="9753600" cy="5791200"/>
          </a:xfrm>
        </p:spPr>
        <p:txBody>
          <a:bodyPr>
            <a:normAutofit/>
          </a:bodyPr>
          <a:p>
            <a:pPr algn="just">
              <a:buFont typeface="Wingdings" pitchFamily="2" charset="2"/>
              <a:buChar char="Ø"/>
            </a:pPr>
            <a:r>
              <a:rPr dirty="0" lang="en-US" smtClean="0"/>
              <a:t>Spontaneous labour is opted where 1</a:t>
            </a:r>
            <a:r>
              <a:rPr baseline="30000" dirty="0" lang="en-US" smtClean="0"/>
              <a:t>st</a:t>
            </a:r>
            <a:r>
              <a:rPr dirty="0" lang="en-US" smtClean="0"/>
              <a:t> twin presentation is vertex, 2</a:t>
            </a:r>
            <a:r>
              <a:rPr baseline="30000" dirty="0" lang="en-US" smtClean="0"/>
              <a:t>nd</a:t>
            </a:r>
            <a:r>
              <a:rPr dirty="0" lang="en-US" smtClean="0"/>
              <a:t> twin’s lie is longitudinal and pelvis is </a:t>
            </a:r>
            <a:r>
              <a:rPr dirty="0" lang="en-US" err="1" smtClean="0"/>
              <a:t>spaceous</a:t>
            </a:r>
            <a:r>
              <a:rPr dirty="0" lang="en-US" smtClean="0"/>
              <a:t>.</a:t>
            </a:r>
          </a:p>
          <a:p>
            <a:pPr algn="just">
              <a:buNone/>
            </a:pPr>
            <a:r>
              <a:rPr b="1" dirty="0" lang="en-US" smtClean="0"/>
              <a:t>	</a:t>
            </a:r>
            <a:r>
              <a:rPr b="1" dirty="0" lang="en-US" smtClean="0">
                <a:solidFill>
                  <a:srgbClr val="0000CC"/>
                </a:solidFill>
              </a:rPr>
              <a:t>NB</a:t>
            </a:r>
            <a:r>
              <a:rPr dirty="0" lang="en-US" smtClean="0">
                <a:solidFill>
                  <a:srgbClr val="0000CC"/>
                </a:solidFill>
              </a:rPr>
              <a:t>: </a:t>
            </a:r>
            <a:r>
              <a:rPr dirty="0" lang="en-US" smtClean="0"/>
              <a:t>In most institutions, multiple gestation is an indication for elective C/S to avoid the many complications with SVD.</a:t>
            </a:r>
          </a:p>
          <a:p>
            <a:pPr algn="just">
              <a:buNone/>
            </a:pPr>
            <a:r>
              <a:rPr dirty="0" lang="en-US" smtClean="0"/>
              <a:t>	</a:t>
            </a:r>
            <a:r>
              <a:rPr b="1" dirty="0" lang="en-US" u="sng" smtClean="0"/>
              <a:t>First (1</a:t>
            </a:r>
            <a:r>
              <a:rPr baseline="30000" b="1" dirty="0" lang="en-US" u="sng" smtClean="0"/>
              <a:t>st</a:t>
            </a:r>
            <a:r>
              <a:rPr b="1" dirty="0" lang="en-US" u="sng" smtClean="0"/>
              <a:t> )  Stage</a:t>
            </a:r>
          </a:p>
          <a:p>
            <a:pPr algn="just"/>
            <a:r>
              <a:rPr dirty="0" lang="en-US" smtClean="0"/>
              <a:t>Care is as in single fetus pregnancy, except for a few variations as follows:-</a:t>
            </a:r>
            <a:endParaRPr dirty="0" lang="en-US"/>
          </a:p>
        </p:txBody>
      </p:sp>
      <p:sp>
        <p:nvSpPr>
          <p:cNvPr id="104933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8.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78" name=""/>
        <p:cNvGrpSpPr/>
        <p:nvPr/>
      </p:nvGrpSpPr>
      <p:grpSpPr>
        <a:xfrm>
          <a:off x="0" y="0"/>
          <a:ext cx="0" cy="0"/>
          <a:chOff x="0" y="0"/>
          <a:chExt cx="0" cy="0"/>
        </a:xfrm>
      </p:grpSpPr>
      <p:sp>
        <p:nvSpPr>
          <p:cNvPr id="1049331" name="Content Placeholder 2"/>
          <p:cNvSpPr>
            <a:spLocks noGrp="1"/>
          </p:cNvSpPr>
          <p:nvPr>
            <p:ph idx="1"/>
          </p:nvPr>
        </p:nvSpPr>
        <p:spPr>
          <a:xfrm>
            <a:off x="1371600" y="457200"/>
            <a:ext cx="9772650" cy="5943600"/>
          </a:xfrm>
        </p:spPr>
        <p:txBody>
          <a:bodyPr>
            <a:noAutofit/>
          </a:bodyPr>
          <a:p>
            <a:pPr algn="just">
              <a:buFont typeface="Wingdings" pitchFamily="2" charset="2"/>
              <a:buChar char="Ø"/>
            </a:pPr>
            <a:r>
              <a:rPr dirty="0" sz="3100" lang="en-US" smtClean="0"/>
              <a:t>Close monitoring of fetal heart sound every ¼  hourly or through a cardiotocograph  (CTG) regularly.</a:t>
            </a:r>
          </a:p>
          <a:p>
            <a:pPr algn="just">
              <a:buFont typeface="Wingdings" pitchFamily="2" charset="2"/>
              <a:buChar char="Ø"/>
            </a:pPr>
            <a:r>
              <a:rPr dirty="0" sz="3100" lang="en-US" smtClean="0"/>
              <a:t>Avoid sedatives because labour is usually preterm.</a:t>
            </a:r>
          </a:p>
          <a:p>
            <a:pPr algn="just">
              <a:buFont typeface="Wingdings" pitchFamily="2" charset="2"/>
              <a:buChar char="Ø"/>
            </a:pPr>
            <a:r>
              <a:rPr dirty="0" sz="3100" lang="en-US" smtClean="0"/>
              <a:t>During V.E carefully assess for cord presentation &amp; if membranes rupture early for cord </a:t>
            </a:r>
            <a:r>
              <a:rPr dirty="0" sz="3100" lang="en-US" err="1" smtClean="0"/>
              <a:t>prolapse</a:t>
            </a:r>
            <a:r>
              <a:rPr dirty="0" sz="3100" lang="en-US" smtClean="0"/>
              <a:t>.</a:t>
            </a:r>
          </a:p>
          <a:p>
            <a:pPr algn="just">
              <a:buFont typeface="Wingdings" pitchFamily="2" charset="2"/>
              <a:buChar char="ü"/>
            </a:pPr>
            <a:r>
              <a:rPr dirty="0" sz="3100" lang="en-US" smtClean="0"/>
              <a:t> It’s common due to malpresentation.</a:t>
            </a:r>
          </a:p>
          <a:p>
            <a:pPr algn="just">
              <a:buFont typeface="Wingdings" pitchFamily="2" charset="2"/>
              <a:buChar char="Ø"/>
            </a:pPr>
            <a:r>
              <a:rPr dirty="0" sz="3100" lang="en-US" smtClean="0"/>
              <a:t>Keenly assess contractions and report promptly to avoid prolonged labour. </a:t>
            </a:r>
          </a:p>
        </p:txBody>
      </p:sp>
      <p:sp>
        <p:nvSpPr>
          <p:cNvPr id="104933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49.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81" name=""/>
        <p:cNvGrpSpPr/>
        <p:nvPr/>
      </p:nvGrpSpPr>
      <p:grpSpPr>
        <a:xfrm>
          <a:off x="0" y="0"/>
          <a:ext cx="0" cy="0"/>
          <a:chOff x="0" y="0"/>
          <a:chExt cx="0" cy="0"/>
        </a:xfrm>
      </p:grpSpPr>
      <p:sp>
        <p:nvSpPr>
          <p:cNvPr id="1049336" name="Content Placeholder 2"/>
          <p:cNvSpPr>
            <a:spLocks noGrp="1"/>
          </p:cNvSpPr>
          <p:nvPr>
            <p:ph idx="1"/>
          </p:nvPr>
        </p:nvSpPr>
        <p:spPr>
          <a:xfrm>
            <a:off x="1428751" y="304800"/>
            <a:ext cx="9738359" cy="5943600"/>
          </a:xfrm>
        </p:spPr>
        <p:txBody>
          <a:bodyPr>
            <a:normAutofit/>
          </a:bodyPr>
          <a:p>
            <a:pPr algn="just">
              <a:buFont typeface="Wingdings" pitchFamily="2" charset="2"/>
              <a:buChar char="ü"/>
            </a:pPr>
            <a:r>
              <a:rPr dirty="0" lang="en-US" smtClean="0"/>
              <a:t>If weak, either  cautious augmentation or emergency C/S is decided on.</a:t>
            </a:r>
          </a:p>
          <a:p>
            <a:pPr algn="just">
              <a:buFont typeface="Wingdings" pitchFamily="2" charset="2"/>
              <a:buChar char="Ø"/>
            </a:pPr>
            <a:r>
              <a:rPr dirty="0" lang="en-US" smtClean="0"/>
              <a:t>Epidural anesthesia is the preferred pain relief method for genuine pain.</a:t>
            </a:r>
          </a:p>
          <a:p>
            <a:pPr algn="just">
              <a:buFont typeface="Wingdings" pitchFamily="2" charset="2"/>
              <a:buChar char="Ø"/>
            </a:pPr>
            <a:r>
              <a:rPr dirty="0" lang="en-US" smtClean="0"/>
              <a:t>For position, encouraged to adopt the most comfortable one ,but to avoid aortal </a:t>
            </a:r>
            <a:r>
              <a:rPr dirty="0" lang="en-US" err="1" smtClean="0"/>
              <a:t>caval</a:t>
            </a:r>
            <a:r>
              <a:rPr dirty="0" lang="en-US" smtClean="0"/>
              <a:t> compression.</a:t>
            </a:r>
          </a:p>
          <a:p>
            <a:pPr algn="just">
              <a:buFont typeface="Wingdings" pitchFamily="2" charset="2"/>
              <a:buChar char="Ø"/>
            </a:pPr>
            <a:r>
              <a:rPr dirty="0" lang="en-US" smtClean="0"/>
              <a:t>Prepare for the reception of perhaps preterm  babies and subsequent transfer to the NBU.</a:t>
            </a:r>
            <a:endParaRPr dirty="0" lang="en-US"/>
          </a:p>
        </p:txBody>
      </p:sp>
      <p:sp>
        <p:nvSpPr>
          <p:cNvPr id="104933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0.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82" name=""/>
        <p:cNvGrpSpPr/>
        <p:nvPr/>
      </p:nvGrpSpPr>
      <p:grpSpPr>
        <a:xfrm>
          <a:off x="0" y="0"/>
          <a:ext cx="0" cy="0"/>
          <a:chOff x="0" y="0"/>
          <a:chExt cx="0" cy="0"/>
        </a:xfrm>
      </p:grpSpPr>
      <p:sp>
        <p:nvSpPr>
          <p:cNvPr id="1049338" name="Content Placeholder 2"/>
          <p:cNvSpPr>
            <a:spLocks noGrp="1"/>
          </p:cNvSpPr>
          <p:nvPr>
            <p:ph idx="1"/>
          </p:nvPr>
        </p:nvSpPr>
        <p:spPr>
          <a:xfrm>
            <a:off x="1333500" y="304808"/>
            <a:ext cx="9620250" cy="5821363"/>
          </a:xfrm>
        </p:spPr>
        <p:txBody>
          <a:bodyPr>
            <a:normAutofit/>
          </a:bodyPr>
          <a:p>
            <a:pPr>
              <a:buNone/>
            </a:pPr>
            <a:r>
              <a:rPr dirty="0" lang="en-US" smtClean="0"/>
              <a:t>		</a:t>
            </a:r>
            <a:r>
              <a:rPr b="1" dirty="0" lang="en-US" u="sng" smtClean="0"/>
              <a:t>Second (2</a:t>
            </a:r>
            <a:r>
              <a:rPr baseline="30000" b="1" dirty="0" lang="en-US" u="sng" smtClean="0"/>
              <a:t>nd</a:t>
            </a:r>
            <a:r>
              <a:rPr b="1" dirty="0" lang="en-US" u="sng" smtClean="0"/>
              <a:t> )  Stage</a:t>
            </a:r>
          </a:p>
          <a:p>
            <a:r>
              <a:rPr dirty="0" lang="en-US" smtClean="0"/>
              <a:t>General preparation ,as in single pregnancy delivery.</a:t>
            </a:r>
          </a:p>
          <a:p>
            <a:r>
              <a:rPr dirty="0" lang="en-US" smtClean="0"/>
              <a:t>Precisely on the set trolley add the following respectively.</a:t>
            </a:r>
          </a:p>
          <a:p>
            <a:pPr>
              <a:buNone/>
            </a:pPr>
            <a:r>
              <a:rPr dirty="0" lang="en-US" smtClean="0"/>
              <a:t>	</a:t>
            </a:r>
            <a:r>
              <a:rPr b="1" dirty="0" i="1" lang="en-US" smtClean="0"/>
              <a:t>Top shelf</a:t>
            </a:r>
          </a:p>
          <a:p>
            <a:pPr>
              <a:buFont typeface="Wingdings" pitchFamily="2" charset="2"/>
              <a:buChar char="Ø"/>
            </a:pPr>
            <a:r>
              <a:rPr dirty="0" lang="en-US" smtClean="0"/>
              <a:t>A pair of artery forceps</a:t>
            </a:r>
          </a:p>
          <a:p>
            <a:pPr>
              <a:buFont typeface="Wingdings" pitchFamily="2" charset="2"/>
              <a:buChar char="Ø"/>
            </a:pPr>
            <a:r>
              <a:rPr dirty="0" lang="en-US" smtClean="0"/>
              <a:t>A pair of cutting scissors</a:t>
            </a:r>
          </a:p>
          <a:p>
            <a:pPr>
              <a:buFont typeface="Wingdings" pitchFamily="2" charset="2"/>
              <a:buChar char="Ø"/>
            </a:pPr>
            <a:r>
              <a:rPr dirty="0" lang="en-US" smtClean="0"/>
              <a:t>A sterile towel</a:t>
            </a:r>
            <a:endParaRPr dirty="0" lang="en-US"/>
          </a:p>
        </p:txBody>
      </p:sp>
      <p:sp>
        <p:nvSpPr>
          <p:cNvPr id="104933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1.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83" name=""/>
        <p:cNvGrpSpPr/>
        <p:nvPr/>
      </p:nvGrpSpPr>
      <p:grpSpPr>
        <a:xfrm>
          <a:off x="0" y="0"/>
          <a:ext cx="0" cy="0"/>
          <a:chOff x="0" y="0"/>
          <a:chExt cx="0" cy="0"/>
        </a:xfrm>
      </p:grpSpPr>
      <p:sp>
        <p:nvSpPr>
          <p:cNvPr id="1049340" name="Content Placeholder 2"/>
          <p:cNvSpPr>
            <a:spLocks noGrp="1"/>
          </p:cNvSpPr>
          <p:nvPr>
            <p:ph idx="1"/>
          </p:nvPr>
        </p:nvSpPr>
        <p:spPr>
          <a:xfrm>
            <a:off x="1238250" y="457200"/>
            <a:ext cx="9928859" cy="6019800"/>
          </a:xfrm>
        </p:spPr>
        <p:txBody>
          <a:bodyPr>
            <a:noAutofit/>
          </a:bodyPr>
          <a:p>
            <a:pPr>
              <a:buFont typeface="Wingdings" pitchFamily="2" charset="2"/>
              <a:buChar char="Ø"/>
            </a:pPr>
            <a:r>
              <a:rPr dirty="0" lang="en-US" smtClean="0">
                <a:latin typeface="Calibri" pitchFamily="34" charset="0"/>
              </a:rPr>
              <a:t>A pair or 2 of sterile gloves.</a:t>
            </a:r>
          </a:p>
          <a:p>
            <a:pPr>
              <a:buFont typeface="Wingdings" pitchFamily="2" charset="2"/>
              <a:buChar char="Ø"/>
            </a:pPr>
            <a:r>
              <a:rPr dirty="0" lang="en-US" smtClean="0">
                <a:latin typeface="Calibri" pitchFamily="34" charset="0"/>
              </a:rPr>
              <a:t>A  pad leaf</a:t>
            </a:r>
          </a:p>
          <a:p>
            <a:pPr>
              <a:buFont typeface="Wingdings" pitchFamily="2" charset="2"/>
              <a:buChar char="Ø"/>
            </a:pPr>
            <a:r>
              <a:rPr dirty="0" lang="en-US" smtClean="0">
                <a:latin typeface="Calibri" pitchFamily="34" charset="0"/>
              </a:rPr>
              <a:t>Some extra cotton wool &amp; gauze swabs</a:t>
            </a:r>
          </a:p>
          <a:p>
            <a:pPr>
              <a:buNone/>
            </a:pPr>
            <a:r>
              <a:rPr dirty="0" lang="en-US" smtClean="0">
                <a:latin typeface="Calibri" pitchFamily="34" charset="0"/>
              </a:rPr>
              <a:t>	</a:t>
            </a:r>
            <a:r>
              <a:rPr b="1" dirty="0" i="1" lang="en-US" smtClean="0">
                <a:latin typeface="Calibri" pitchFamily="34" charset="0"/>
              </a:rPr>
              <a:t>Bottom shelf</a:t>
            </a:r>
          </a:p>
          <a:p>
            <a:pPr>
              <a:buFont typeface="Wingdings" pitchFamily="2" charset="2"/>
              <a:buChar char="Ø"/>
            </a:pPr>
            <a:r>
              <a:rPr dirty="0" lang="en-US" smtClean="0">
                <a:latin typeface="Calibri" pitchFamily="34" charset="0"/>
              </a:rPr>
              <a:t>Identification band</a:t>
            </a:r>
          </a:p>
          <a:p>
            <a:pPr>
              <a:buFont typeface="Wingdings" pitchFamily="2" charset="2"/>
              <a:buChar char="Ø"/>
            </a:pPr>
            <a:r>
              <a:rPr dirty="0" lang="en-US" smtClean="0">
                <a:latin typeface="Calibri" pitchFamily="34" charset="0"/>
              </a:rPr>
              <a:t>Disposable cord clamp</a:t>
            </a:r>
          </a:p>
          <a:p>
            <a:pPr>
              <a:buFont typeface="Wingdings" pitchFamily="2" charset="2"/>
              <a:buChar char="Ø"/>
            </a:pPr>
            <a:r>
              <a:rPr dirty="0" lang="en-US" smtClean="0">
                <a:latin typeface="Calibri" pitchFamily="34" charset="0"/>
              </a:rPr>
              <a:t>Wrappers to keep neonates warm</a:t>
            </a:r>
          </a:p>
          <a:p>
            <a:pPr>
              <a:buNone/>
            </a:pPr>
            <a:r>
              <a:rPr dirty="0" lang="en-US" smtClean="0">
                <a:latin typeface="Calibri" pitchFamily="34" charset="0"/>
              </a:rPr>
              <a:t>	</a:t>
            </a:r>
            <a:r>
              <a:rPr b="1" dirty="0" i="1" lang="en-US" smtClean="0">
                <a:latin typeface="Calibri" pitchFamily="34" charset="0"/>
              </a:rPr>
              <a:t>Environment</a:t>
            </a:r>
          </a:p>
          <a:p>
            <a:pPr>
              <a:buFont typeface="Wingdings" pitchFamily="2" charset="2"/>
              <a:buChar char="Ø"/>
            </a:pPr>
            <a:r>
              <a:rPr dirty="0" lang="en-US" smtClean="0">
                <a:latin typeface="Calibri" pitchFamily="34" charset="0"/>
              </a:rPr>
              <a:t>May have an extra cot.</a:t>
            </a:r>
            <a:endParaRPr dirty="0" lang="en-US">
              <a:latin typeface="Calibri" pitchFamily="34" charset="0"/>
            </a:endParaRPr>
          </a:p>
        </p:txBody>
      </p:sp>
      <p:sp>
        <p:nvSpPr>
          <p:cNvPr id="104934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2.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984" name=""/>
        <p:cNvGrpSpPr/>
        <p:nvPr/>
      </p:nvGrpSpPr>
      <p:grpSpPr>
        <a:xfrm>
          <a:off x="0" y="0"/>
          <a:ext cx="0" cy="0"/>
          <a:chOff x="0" y="0"/>
          <a:chExt cx="0" cy="0"/>
        </a:xfrm>
      </p:grpSpPr>
      <p:sp>
        <p:nvSpPr>
          <p:cNvPr id="1049342" name="Content Placeholder 2"/>
          <p:cNvSpPr>
            <a:spLocks noGrp="1"/>
          </p:cNvSpPr>
          <p:nvPr>
            <p:ph idx="1"/>
          </p:nvPr>
        </p:nvSpPr>
        <p:spPr>
          <a:xfrm>
            <a:off x="1295400" y="533400"/>
            <a:ext cx="9871709" cy="5715000"/>
          </a:xfrm>
        </p:spPr>
        <p:txBody>
          <a:bodyPr/>
          <a:p>
            <a:pPr algn="just">
              <a:buNone/>
            </a:pPr>
            <a:r>
              <a:rPr dirty="0" lang="en-US" smtClean="0"/>
              <a:t>		</a:t>
            </a:r>
            <a:r>
              <a:rPr dirty="0" lang="en-US" u="sng" smtClean="0"/>
              <a:t>First twin delivery</a:t>
            </a:r>
          </a:p>
          <a:p>
            <a:pPr algn="just"/>
            <a:r>
              <a:rPr dirty="0" lang="en-US" smtClean="0"/>
              <a:t>Conducted as usual and deviations handled as per institutional policy.</a:t>
            </a:r>
          </a:p>
          <a:p>
            <a:pPr algn="just"/>
            <a:r>
              <a:rPr dirty="0" lang="en-US" smtClean="0"/>
              <a:t>Elective episiotomy may be necessary to hasten delivery due to prematurity.</a:t>
            </a:r>
          </a:p>
          <a:p>
            <a:pPr algn="just"/>
            <a:r>
              <a:rPr dirty="0" lang="en-US" smtClean="0"/>
              <a:t>Immediately after birth  handle it respectively , handover to the assistant to label as the 1</a:t>
            </a:r>
            <a:r>
              <a:rPr baseline="30000" dirty="0" lang="en-US" smtClean="0"/>
              <a:t>st</a:t>
            </a:r>
            <a:r>
              <a:rPr dirty="0" lang="en-US" smtClean="0"/>
              <a:t> twin , CT resuscitation as necessary and general care.</a:t>
            </a:r>
            <a:endParaRPr dirty="0" lang="en-US"/>
          </a:p>
        </p:txBody>
      </p:sp>
      <p:sp>
        <p:nvSpPr>
          <p:cNvPr id="104934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3.xml><?xml version="1.0" encoding="utf-8"?>
<p:sld xmlns:a="http://schemas.openxmlformats.org/drawingml/2006/main" xmlns:r="http://schemas.openxmlformats.org/officeDocument/2006/relationships" xmlns:p="http://schemas.openxmlformats.org/presentationml/2006/main">
  <p:cSld>
    <p:bg>
      <p:bgPr>
        <a:solidFill>
          <a:srgbClr val="00B050"/>
        </a:solidFill>
      </p:bgPr>
    </p:bg>
    <p:spTree>
      <p:nvGrpSpPr>
        <p:cNvPr id="985" name=""/>
        <p:cNvGrpSpPr/>
        <p:nvPr/>
      </p:nvGrpSpPr>
      <p:grpSpPr>
        <a:xfrm>
          <a:off x="0" y="0"/>
          <a:ext cx="0" cy="0"/>
          <a:chOff x="0" y="0"/>
          <a:chExt cx="0" cy="0"/>
        </a:xfrm>
      </p:grpSpPr>
      <p:sp>
        <p:nvSpPr>
          <p:cNvPr id="1049344" name="Content Placeholder 2"/>
          <p:cNvSpPr>
            <a:spLocks noGrp="1"/>
          </p:cNvSpPr>
          <p:nvPr>
            <p:ph idx="1"/>
          </p:nvPr>
        </p:nvSpPr>
        <p:spPr>
          <a:xfrm>
            <a:off x="1371600" y="457199"/>
            <a:ext cx="9772650" cy="5715001"/>
          </a:xfrm>
        </p:spPr>
        <p:txBody>
          <a:bodyPr>
            <a:normAutofit/>
          </a:bodyPr>
          <a:p>
            <a:pPr algn="just">
              <a:buNone/>
            </a:pPr>
            <a:r>
              <a:rPr dirty="0" lang="en-US" smtClean="0"/>
              <a:t>		</a:t>
            </a:r>
            <a:r>
              <a:rPr dirty="0" lang="en-US" u="sng" smtClean="0"/>
              <a:t>Second  Twin Birth</a:t>
            </a:r>
          </a:p>
          <a:p>
            <a:pPr algn="just"/>
            <a:r>
              <a:rPr dirty="0" lang="en-US" smtClean="0"/>
              <a:t>Confirm the lie, presentation, position and descent through abdominal palpation.</a:t>
            </a:r>
          </a:p>
          <a:p>
            <a:pPr algn="just">
              <a:buFont typeface="Wingdings" pitchFamily="2" charset="2"/>
              <a:buChar char="Ø"/>
            </a:pPr>
            <a:r>
              <a:rPr dirty="0" lang="en-US" smtClean="0"/>
              <a:t>Ascultate to determine fetal status.</a:t>
            </a:r>
          </a:p>
          <a:p>
            <a:pPr algn="just"/>
            <a:r>
              <a:rPr dirty="0" lang="en-US" smtClean="0"/>
              <a:t>Change gloves and perform V.E to confirm the above findings as well as the state of membranes.</a:t>
            </a:r>
          </a:p>
          <a:p>
            <a:pPr algn="just"/>
            <a:r>
              <a:rPr dirty="0" lang="en-US" smtClean="0"/>
              <a:t>Membranes ruptured &amp; lie is longitudinal, encourage bearing down with every contraction.</a:t>
            </a:r>
          </a:p>
          <a:p>
            <a:pPr algn="just">
              <a:buFont typeface="Wingdings" pitchFamily="2" charset="2"/>
              <a:buChar char="Ø"/>
            </a:pPr>
            <a:r>
              <a:rPr dirty="0" lang="en-US" smtClean="0"/>
              <a:t>If weak, cautious augment is allowed. </a:t>
            </a:r>
            <a:endParaRPr dirty="0" lang="en-US"/>
          </a:p>
        </p:txBody>
      </p:sp>
      <p:sp>
        <p:nvSpPr>
          <p:cNvPr id="104934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4.xml><?xml version="1.0" encoding="utf-8"?>
<p:sld xmlns:a="http://schemas.openxmlformats.org/drawingml/2006/main" xmlns:r="http://schemas.openxmlformats.org/officeDocument/2006/relationships" xmlns:p="http://schemas.openxmlformats.org/presentationml/2006/main">
  <p:cSld>
    <p:bg>
      <p:bgPr>
        <a:solidFill>
          <a:srgbClr val="00B050"/>
        </a:solidFill>
      </p:bgPr>
    </p:bg>
    <p:spTree>
      <p:nvGrpSpPr>
        <p:cNvPr id="986" name=""/>
        <p:cNvGrpSpPr/>
        <p:nvPr/>
      </p:nvGrpSpPr>
      <p:grpSpPr>
        <a:xfrm>
          <a:off x="0" y="0"/>
          <a:ext cx="0" cy="0"/>
          <a:chOff x="0" y="0"/>
          <a:chExt cx="0" cy="0"/>
        </a:xfrm>
      </p:grpSpPr>
      <p:sp>
        <p:nvSpPr>
          <p:cNvPr id="1049346" name="Content Placeholder 2"/>
          <p:cNvSpPr>
            <a:spLocks noGrp="1"/>
          </p:cNvSpPr>
          <p:nvPr>
            <p:ph idx="1"/>
          </p:nvPr>
        </p:nvSpPr>
        <p:spPr>
          <a:xfrm>
            <a:off x="1238250" y="457200"/>
            <a:ext cx="9928859" cy="5791200"/>
          </a:xfrm>
        </p:spPr>
        <p:txBody>
          <a:bodyPr>
            <a:normAutofit/>
          </a:bodyPr>
          <a:p>
            <a:pPr algn="just"/>
            <a:r>
              <a:rPr dirty="0" lang="en-US" smtClean="0"/>
              <a:t>For best prognosis, the 2</a:t>
            </a:r>
            <a:r>
              <a:rPr baseline="30000" dirty="0" lang="en-US" smtClean="0"/>
              <a:t>nd</a:t>
            </a:r>
            <a:r>
              <a:rPr dirty="0" lang="en-US" smtClean="0"/>
              <a:t> twin should be born within a duration of  less than 45 minutes after the 1</a:t>
            </a:r>
            <a:r>
              <a:rPr baseline="30000" dirty="0" lang="en-US" smtClean="0"/>
              <a:t>st</a:t>
            </a:r>
            <a:r>
              <a:rPr dirty="0" lang="en-US" smtClean="0"/>
              <a:t> twin’s delivery.</a:t>
            </a:r>
          </a:p>
          <a:p>
            <a:pPr algn="just"/>
            <a:r>
              <a:rPr dirty="0" lang="en-US" smtClean="0"/>
              <a:t>However, if membranes are intact and engagement has not occurred, fundal pressure and augmentation are recommended using a low dose of syntocinon.</a:t>
            </a:r>
          </a:p>
          <a:p>
            <a:pPr algn="just">
              <a:buFont typeface="Wingdings" pitchFamily="2" charset="2"/>
              <a:buChar char="Ø"/>
            </a:pPr>
            <a:r>
              <a:rPr dirty="0" lang="en-US" smtClean="0"/>
              <a:t>Simultaneously, encourage her to bear down with every contraction to prevent delay.</a:t>
            </a:r>
          </a:p>
        </p:txBody>
      </p:sp>
      <p:sp>
        <p:nvSpPr>
          <p:cNvPr id="104934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5.xml><?xml version="1.0" encoding="utf-8"?>
<p:sld xmlns:a="http://schemas.openxmlformats.org/drawingml/2006/main" xmlns:r="http://schemas.openxmlformats.org/officeDocument/2006/relationships" xmlns:p="http://schemas.openxmlformats.org/presentationml/2006/main">
  <p:cSld>
    <p:bg>
      <p:bgPr>
        <a:solidFill>
          <a:srgbClr val="00B050"/>
        </a:solidFill>
      </p:bgPr>
    </p:bg>
    <p:spTree>
      <p:nvGrpSpPr>
        <p:cNvPr id="989" name=""/>
        <p:cNvGrpSpPr/>
        <p:nvPr/>
      </p:nvGrpSpPr>
      <p:grpSpPr>
        <a:xfrm>
          <a:off x="0" y="0"/>
          <a:ext cx="0" cy="0"/>
          <a:chOff x="0" y="0"/>
          <a:chExt cx="0" cy="0"/>
        </a:xfrm>
      </p:grpSpPr>
      <p:sp>
        <p:nvSpPr>
          <p:cNvPr id="1049351" name="Content Placeholder 2"/>
          <p:cNvSpPr>
            <a:spLocks noGrp="1"/>
          </p:cNvSpPr>
          <p:nvPr>
            <p:ph idx="1"/>
          </p:nvPr>
        </p:nvSpPr>
        <p:spPr>
          <a:xfrm>
            <a:off x="1371600" y="381000"/>
            <a:ext cx="9795510" cy="5867400"/>
          </a:xfrm>
        </p:spPr>
        <p:txBody>
          <a:bodyPr>
            <a:normAutofit/>
          </a:bodyPr>
          <a:p>
            <a:pPr algn="just">
              <a:buFont typeface="Wingdings" pitchFamily="2" charset="2"/>
              <a:buChar char="Ø"/>
            </a:pPr>
            <a:r>
              <a:rPr dirty="0" lang="en-US" smtClean="0"/>
              <a:t>Rupture membranes immediately engagement occurs &amp; normal birth process continues.</a:t>
            </a:r>
          </a:p>
          <a:p>
            <a:pPr algn="just"/>
            <a:r>
              <a:rPr dirty="0" lang="en-US" smtClean="0"/>
              <a:t>Immediately thereafter, administer uterotonic agents to prevent occurrence of PPH.</a:t>
            </a:r>
          </a:p>
          <a:p>
            <a:pPr algn="just">
              <a:buNone/>
            </a:pPr>
            <a:r>
              <a:rPr dirty="0" lang="en-US" smtClean="0">
                <a:solidFill>
                  <a:srgbClr val="0000CC"/>
                </a:solidFill>
              </a:rPr>
              <a:t>NB: </a:t>
            </a:r>
          </a:p>
          <a:p>
            <a:pPr algn="just">
              <a:buFont typeface="Wingdings" pitchFamily="2" charset="2"/>
              <a:buChar char="v"/>
            </a:pPr>
            <a:r>
              <a:rPr dirty="0" lang="en-US" smtClean="0"/>
              <a:t>Emergency C/S is decided on if abnormal lie exist.</a:t>
            </a:r>
          </a:p>
          <a:p>
            <a:pPr algn="just">
              <a:buFont typeface="Wingdings" pitchFamily="2" charset="2"/>
              <a:buChar char="v"/>
            </a:pPr>
            <a:r>
              <a:rPr dirty="0" lang="en-US" smtClean="0"/>
              <a:t>Sometimes, cord  blood specimen is sent to laboratory to confirm </a:t>
            </a:r>
            <a:r>
              <a:rPr dirty="0" lang="en-US" err="1" smtClean="0"/>
              <a:t>zygosity</a:t>
            </a:r>
            <a:r>
              <a:rPr dirty="0" lang="en-US" smtClean="0"/>
              <a:t>.</a:t>
            </a:r>
            <a:endParaRPr dirty="0" lang="en-US"/>
          </a:p>
        </p:txBody>
      </p:sp>
      <p:sp>
        <p:nvSpPr>
          <p:cNvPr id="104935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6.xml><?xml version="1.0" encoding="utf-8"?>
<p:sld xmlns:a="http://schemas.openxmlformats.org/drawingml/2006/main" xmlns:r="http://schemas.openxmlformats.org/officeDocument/2006/relationships" xmlns:p="http://schemas.openxmlformats.org/presentationml/2006/main">
  <p:cSld>
    <p:bg>
      <p:bgPr>
        <a:solidFill>
          <a:srgbClr val="00B050"/>
        </a:solidFill>
      </p:bgPr>
    </p:bg>
    <p:spTree>
      <p:nvGrpSpPr>
        <p:cNvPr id="990" name=""/>
        <p:cNvGrpSpPr/>
        <p:nvPr/>
      </p:nvGrpSpPr>
      <p:grpSpPr>
        <a:xfrm>
          <a:off x="0" y="0"/>
          <a:ext cx="0" cy="0"/>
          <a:chOff x="0" y="0"/>
          <a:chExt cx="0" cy="0"/>
        </a:xfrm>
      </p:grpSpPr>
      <p:sp>
        <p:nvSpPr>
          <p:cNvPr id="1049353" name="Content Placeholder 2"/>
          <p:cNvSpPr>
            <a:spLocks noGrp="1"/>
          </p:cNvSpPr>
          <p:nvPr>
            <p:ph idx="1"/>
          </p:nvPr>
        </p:nvSpPr>
        <p:spPr>
          <a:xfrm>
            <a:off x="1428751" y="304800"/>
            <a:ext cx="9738359" cy="5943600"/>
          </a:xfrm>
        </p:spPr>
        <p:txBody>
          <a:bodyPr/>
          <a:p>
            <a:pPr>
              <a:buNone/>
            </a:pPr>
            <a:r>
              <a:rPr dirty="0" lang="en-US" smtClean="0"/>
              <a:t>		</a:t>
            </a:r>
            <a:r>
              <a:rPr b="1" dirty="0" lang="en-US" u="sng" smtClean="0"/>
              <a:t>Third (3</a:t>
            </a:r>
            <a:r>
              <a:rPr baseline="30000" b="1" dirty="0" lang="en-US" u="sng" smtClean="0"/>
              <a:t>rd</a:t>
            </a:r>
            <a:r>
              <a:rPr b="1" dirty="0" lang="en-US" u="sng" smtClean="0"/>
              <a:t> ) Stage</a:t>
            </a:r>
          </a:p>
          <a:p>
            <a:r>
              <a:rPr dirty="0" lang="en-US" smtClean="0"/>
              <a:t>Thoroughly examine the placenta(e) to confirm the type of twinning.</a:t>
            </a:r>
          </a:p>
          <a:p>
            <a:r>
              <a:rPr dirty="0" lang="en-US" smtClean="0"/>
              <a:t>Continue synitocinon drip for at least 2 hours to control possibility of PPH.</a:t>
            </a:r>
          </a:p>
          <a:p>
            <a:r>
              <a:rPr dirty="0" lang="en-US" smtClean="0"/>
              <a:t>Thereafter, handle the clinical waste appropriately as well as instruments &amp; environment.</a:t>
            </a:r>
            <a:endParaRPr dirty="0" lang="en-US"/>
          </a:p>
        </p:txBody>
      </p:sp>
      <p:sp>
        <p:nvSpPr>
          <p:cNvPr id="104935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7.xml><?xml version="1.0" encoding="utf-8"?>
<p:sld xmlns:a="http://schemas.openxmlformats.org/drawingml/2006/main" xmlns:r="http://schemas.openxmlformats.org/officeDocument/2006/relationships" xmlns:p="http://schemas.openxmlformats.org/presentationml/2006/main">
  <p:cSld>
    <p:bg>
      <p:bgPr>
        <a:solidFill>
          <a:srgbClr val="00B050"/>
        </a:solidFill>
      </p:bgPr>
    </p:bg>
    <p:spTree>
      <p:nvGrpSpPr>
        <p:cNvPr id="991" name=""/>
        <p:cNvGrpSpPr/>
        <p:nvPr/>
      </p:nvGrpSpPr>
      <p:grpSpPr>
        <a:xfrm>
          <a:off x="0" y="0"/>
          <a:ext cx="0" cy="0"/>
          <a:chOff x="0" y="0"/>
          <a:chExt cx="0" cy="0"/>
        </a:xfrm>
      </p:grpSpPr>
      <p:sp>
        <p:nvSpPr>
          <p:cNvPr id="1049355" name="Content Placeholder 2"/>
          <p:cNvSpPr>
            <a:spLocks noGrp="1"/>
          </p:cNvSpPr>
          <p:nvPr>
            <p:ph idx="1"/>
          </p:nvPr>
        </p:nvSpPr>
        <p:spPr>
          <a:xfrm>
            <a:off x="1295400" y="381000"/>
            <a:ext cx="9871710" cy="5867400"/>
          </a:xfrm>
        </p:spPr>
        <p:txBody>
          <a:bodyPr>
            <a:normAutofit/>
          </a:bodyPr>
          <a:p>
            <a:pPr algn="just">
              <a:buNone/>
            </a:pPr>
            <a:r>
              <a:rPr dirty="0" lang="en-US" smtClean="0"/>
              <a:t>		</a:t>
            </a:r>
            <a:r>
              <a:rPr b="1" dirty="0" lang="en-US" u="sng" smtClean="0"/>
              <a:t>Postnatal  Highlights</a:t>
            </a:r>
          </a:p>
          <a:p>
            <a:pPr algn="just"/>
            <a:r>
              <a:rPr dirty="0" lang="en-US" smtClean="0"/>
              <a:t>Support her on infant care to gain competence and  confidence.</a:t>
            </a:r>
          </a:p>
          <a:p>
            <a:pPr algn="just">
              <a:buFont typeface="Wingdings" pitchFamily="2" charset="2"/>
              <a:buChar char="Ø"/>
            </a:pPr>
            <a:r>
              <a:rPr dirty="0" lang="en-US" smtClean="0"/>
              <a:t>Simultaneously, support gives her ample time to rest from exhaustion of pregnancy and labour experiences.</a:t>
            </a:r>
          </a:p>
          <a:p>
            <a:pPr algn="just"/>
            <a:r>
              <a:rPr dirty="0" lang="en-US" smtClean="0"/>
              <a:t>Reassure her regarding:</a:t>
            </a:r>
          </a:p>
          <a:p>
            <a:pPr algn="just">
              <a:buFont typeface="Wingdings" pitchFamily="2" charset="2"/>
              <a:buChar char="Ø"/>
            </a:pPr>
            <a:r>
              <a:rPr dirty="0" lang="en-US" smtClean="0"/>
              <a:t>After pain which is very common.</a:t>
            </a:r>
          </a:p>
          <a:p>
            <a:pPr algn="just">
              <a:buFont typeface="Wingdings" pitchFamily="2" charset="2"/>
              <a:buChar char="Ø"/>
            </a:pPr>
            <a:r>
              <a:rPr dirty="0" lang="en-US" err="1" smtClean="0"/>
              <a:t>Lochia</a:t>
            </a:r>
            <a:r>
              <a:rPr dirty="0" lang="en-US" smtClean="0"/>
              <a:t> being heavier due to large placental site.</a:t>
            </a:r>
            <a:endParaRPr dirty="0" lang="en-US"/>
          </a:p>
        </p:txBody>
      </p:sp>
      <p:sp>
        <p:nvSpPr>
          <p:cNvPr id="104935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8.xml><?xml version="1.0" encoding="utf-8"?>
<p:sld xmlns:a="http://schemas.openxmlformats.org/drawingml/2006/main" xmlns:r="http://schemas.openxmlformats.org/officeDocument/2006/relationships" xmlns:p="http://schemas.openxmlformats.org/presentationml/2006/main">
  <p:cSld>
    <p:bg>
      <p:bgPr>
        <a:solidFill>
          <a:srgbClr val="00B050"/>
        </a:solidFill>
      </p:bgPr>
    </p:bg>
    <p:spTree>
      <p:nvGrpSpPr>
        <p:cNvPr id="992" name=""/>
        <p:cNvGrpSpPr/>
        <p:nvPr/>
      </p:nvGrpSpPr>
      <p:grpSpPr>
        <a:xfrm>
          <a:off x="0" y="0"/>
          <a:ext cx="0" cy="0"/>
          <a:chOff x="0" y="0"/>
          <a:chExt cx="0" cy="0"/>
        </a:xfrm>
      </p:grpSpPr>
      <p:sp>
        <p:nvSpPr>
          <p:cNvPr id="1049357" name="Content Placeholder 2"/>
          <p:cNvSpPr>
            <a:spLocks noGrp="1"/>
          </p:cNvSpPr>
          <p:nvPr>
            <p:ph idx="1"/>
          </p:nvPr>
        </p:nvSpPr>
        <p:spPr>
          <a:xfrm>
            <a:off x="1238250" y="304800"/>
            <a:ext cx="9658350" cy="5638800"/>
          </a:xfrm>
          <a:noFill/>
          <a:ln>
            <a:noFill/>
          </a:ln>
        </p:spPr>
        <p:txBody>
          <a:bodyPr>
            <a:normAutofit fontScale="32500" lnSpcReduction="20000"/>
          </a:bodyPr>
          <a:p>
            <a:pPr>
              <a:buFont typeface="Wingdings" pitchFamily="2" charset="2"/>
              <a:buChar char="Ø"/>
            </a:pPr>
            <a:r>
              <a:rPr dirty="0" sz="13600" lang="en-US" smtClean="0"/>
              <a:t>Slow uterine involution process.</a:t>
            </a:r>
          </a:p>
          <a:p>
            <a:r>
              <a:rPr dirty="0" sz="13600" lang="en-US" smtClean="0"/>
              <a:t>Encourage abdominal exercises gradually to </a:t>
            </a:r>
            <a:r>
              <a:rPr dirty="0" sz="13600" lang="en-US" err="1" smtClean="0"/>
              <a:t>retone</a:t>
            </a:r>
            <a:r>
              <a:rPr dirty="0" sz="13600" lang="en-US" smtClean="0"/>
              <a:t> the over stretched muscles.</a:t>
            </a:r>
          </a:p>
          <a:p>
            <a:pPr>
              <a:buNone/>
            </a:pPr>
            <a:r>
              <a:rPr dirty="0" sz="13600" lang="en-US" smtClean="0"/>
              <a:t>		</a:t>
            </a:r>
            <a:r>
              <a:rPr dirty="0" sz="13600" lang="en-US" smtClean="0">
                <a:solidFill>
                  <a:srgbClr val="0000CC"/>
                </a:solidFill>
              </a:rPr>
              <a:t>NB</a:t>
            </a:r>
            <a:r>
              <a:rPr dirty="0" sz="13600" lang="en-US" smtClean="0">
                <a:solidFill>
                  <a:srgbClr val="FFC000"/>
                </a:solidFill>
              </a:rPr>
              <a:t> </a:t>
            </a:r>
          </a:p>
          <a:p>
            <a:pPr>
              <a:buNone/>
            </a:pPr>
            <a:r>
              <a:rPr dirty="0" sz="13600" lang="en-US" smtClean="0">
                <a:solidFill>
                  <a:srgbClr val="FFC000"/>
                </a:solidFill>
              </a:rPr>
              <a:t>	</a:t>
            </a:r>
            <a:r>
              <a:rPr dirty="0" sz="13600" lang="en-US" err="1" smtClean="0"/>
              <a:t>i</a:t>
            </a:r>
            <a:r>
              <a:rPr dirty="0" sz="13600" lang="en-US" smtClean="0"/>
              <a:t>) Support on babies care is vital.</a:t>
            </a:r>
          </a:p>
          <a:p>
            <a:pPr>
              <a:buNone/>
            </a:pPr>
            <a:r>
              <a:rPr dirty="0" sz="13600" lang="en-US" smtClean="0"/>
              <a:t>	ii) </a:t>
            </a:r>
            <a:r>
              <a:rPr dirty="0" sz="13600" lang="en-US" err="1" smtClean="0"/>
              <a:t>Organise</a:t>
            </a:r>
            <a:r>
              <a:rPr dirty="0" sz="13600" lang="en-US" smtClean="0"/>
              <a:t> for home visit services if feasible to assess the progress &amp; for technical support.</a:t>
            </a:r>
          </a:p>
          <a:p>
            <a:pPr>
              <a:buNone/>
            </a:pPr>
            <a:endParaRPr dirty="0" sz="3200" lang="en-US" smtClean="0">
              <a:solidFill>
                <a:srgbClr val="FFC000"/>
              </a:solidFill>
            </a:endParaRPr>
          </a:p>
          <a:p>
            <a:pPr>
              <a:buNone/>
            </a:pPr>
            <a:endParaRPr dirty="0" sz="3200" lang="en-US">
              <a:solidFill>
                <a:srgbClr val="FFC000"/>
              </a:solidFill>
            </a:endParaRPr>
          </a:p>
        </p:txBody>
      </p:sp>
      <p:sp>
        <p:nvSpPr>
          <p:cNvPr id="104935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59.xml><?xml version="1.0" encoding="utf-8"?>
<p:sld xmlns:a="http://schemas.openxmlformats.org/drawingml/2006/main" xmlns:r="http://schemas.openxmlformats.org/officeDocument/2006/relationships" xmlns:p="http://schemas.openxmlformats.org/presentationml/2006/main">
  <p:cSld>
    <p:bg>
      <p:bgPr>
        <a:solidFill>
          <a:srgbClr val="7030A0"/>
        </a:solidFill>
      </p:bgPr>
    </p:bg>
    <p:spTree>
      <p:nvGrpSpPr>
        <p:cNvPr id="993" name=""/>
        <p:cNvGrpSpPr/>
        <p:nvPr/>
      </p:nvGrpSpPr>
      <p:grpSpPr>
        <a:xfrm>
          <a:off x="0" y="0"/>
          <a:ext cx="0" cy="0"/>
          <a:chOff x="0" y="0"/>
          <a:chExt cx="0" cy="0"/>
        </a:xfrm>
      </p:grpSpPr>
      <p:sp>
        <p:nvSpPr>
          <p:cNvPr id="1049359" name="Title 1"/>
          <p:cNvSpPr>
            <a:spLocks noGrp="1"/>
          </p:cNvSpPr>
          <p:nvPr>
            <p:ph type="title"/>
          </p:nvPr>
        </p:nvSpPr>
        <p:spPr/>
        <p:txBody>
          <a:bodyPr>
            <a:normAutofit fontScale="90000"/>
          </a:bodyPr>
          <a:p>
            <a:pPr algn="ctr"/>
            <a:r>
              <a:rPr dirty="0" lang="en-US" smtClean="0"/>
              <a:t>	</a:t>
            </a:r>
            <a:r>
              <a:rPr dirty="0" lang="en-US" smtClean="0">
                <a:solidFill>
                  <a:srgbClr val="C00000"/>
                </a:solidFill>
                <a:effectLst>
                  <a:outerShdw algn="tl" blurRad="38100" dir="2700000" dist="38100">
                    <a:srgbClr val="000000">
                      <a:alpha val="43137"/>
                    </a:srgbClr>
                  </a:outerShdw>
                </a:effectLst>
              </a:rPr>
              <a:t> COMPLICATIONS OF MULTIPLE PREGNANCY</a:t>
            </a:r>
            <a:endParaRPr dirty="0" lang="en-US"/>
          </a:p>
        </p:txBody>
      </p:sp>
      <p:sp>
        <p:nvSpPr>
          <p:cNvPr id="1049360" name="Content Placeholder 2"/>
          <p:cNvSpPr>
            <a:spLocks noGrp="1"/>
          </p:cNvSpPr>
          <p:nvPr>
            <p:ph idx="1"/>
          </p:nvPr>
        </p:nvSpPr>
        <p:spPr>
          <a:xfrm>
            <a:off x="1295400" y="1447800"/>
            <a:ext cx="8991600" cy="4678369"/>
          </a:xfrm>
        </p:spPr>
        <p:txBody>
          <a:bodyPr>
            <a:normAutofit/>
          </a:bodyPr>
          <a:p>
            <a:pPr algn="just"/>
            <a:r>
              <a:rPr dirty="0" sz="3200" lang="en-US" smtClean="0"/>
              <a:t>Congenital abnormalities ; common in monozygotic twinning either as structural anomalies like ,spinal bifida , </a:t>
            </a:r>
            <a:r>
              <a:rPr dirty="0" sz="3200" lang="en-US" err="1" smtClean="0"/>
              <a:t>oesophageal</a:t>
            </a:r>
            <a:r>
              <a:rPr dirty="0" sz="3200" lang="en-US" smtClean="0"/>
              <a:t> </a:t>
            </a:r>
            <a:r>
              <a:rPr dirty="0" sz="3200" lang="en-US" err="1" smtClean="0"/>
              <a:t>atresia</a:t>
            </a:r>
            <a:r>
              <a:rPr dirty="0" sz="3200" lang="en-US" smtClean="0"/>
              <a:t> ,</a:t>
            </a:r>
            <a:r>
              <a:rPr dirty="0" sz="3200" lang="en-US" err="1" smtClean="0"/>
              <a:t>siamese</a:t>
            </a:r>
            <a:r>
              <a:rPr dirty="0" sz="3200" lang="en-US" smtClean="0"/>
              <a:t> twins  or chromosomal </a:t>
            </a:r>
            <a:r>
              <a:rPr dirty="0" sz="3200" lang="en-US" err="1" smtClean="0"/>
              <a:t>e.g</a:t>
            </a:r>
            <a:r>
              <a:rPr dirty="0" sz="3200" lang="en-US" smtClean="0"/>
              <a:t> Down’s syndrome.</a:t>
            </a:r>
          </a:p>
          <a:p>
            <a:pPr algn="just"/>
            <a:r>
              <a:rPr dirty="0" sz="3200" lang="en-US" smtClean="0"/>
              <a:t>Cord </a:t>
            </a:r>
            <a:r>
              <a:rPr dirty="0" sz="3200" lang="en-US" err="1" smtClean="0"/>
              <a:t>prolapse</a:t>
            </a:r>
            <a:r>
              <a:rPr dirty="0" sz="3200" lang="en-US" smtClean="0"/>
              <a:t> due to malpresentation and sometimes </a:t>
            </a:r>
            <a:r>
              <a:rPr dirty="0" sz="3200" lang="en-US" err="1" smtClean="0"/>
              <a:t>polyhydramnious</a:t>
            </a:r>
            <a:r>
              <a:rPr dirty="0" sz="3200" lang="en-US" smtClean="0"/>
              <a:t>.</a:t>
            </a:r>
          </a:p>
          <a:p>
            <a:pPr algn="just"/>
            <a:r>
              <a:rPr dirty="0" sz="3200" lang="en-US" smtClean="0"/>
              <a:t>Low birth weight due to either intrauterine growth restriction or preterm birth.</a:t>
            </a:r>
          </a:p>
          <a:p>
            <a:pPr algn="just"/>
            <a:endParaRPr dirty="0" lang="en-US"/>
          </a:p>
        </p:txBody>
      </p:sp>
      <p:sp>
        <p:nvSpPr>
          <p:cNvPr id="104936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0.xml><?xml version="1.0" encoding="utf-8"?>
<p:sld xmlns:a="http://schemas.openxmlformats.org/drawingml/2006/main" xmlns:r="http://schemas.openxmlformats.org/officeDocument/2006/relationships" xmlns:p="http://schemas.openxmlformats.org/presentationml/2006/main">
  <p:cSld>
    <p:bg>
      <p:bgPr>
        <a:solidFill>
          <a:srgbClr val="7030A0"/>
        </a:solidFill>
      </p:bgPr>
    </p:bg>
    <p:spTree>
      <p:nvGrpSpPr>
        <p:cNvPr id="994" name=""/>
        <p:cNvGrpSpPr/>
        <p:nvPr/>
      </p:nvGrpSpPr>
      <p:grpSpPr>
        <a:xfrm>
          <a:off x="0" y="0"/>
          <a:ext cx="0" cy="0"/>
          <a:chOff x="0" y="0"/>
          <a:chExt cx="0" cy="0"/>
        </a:xfrm>
      </p:grpSpPr>
      <p:sp>
        <p:nvSpPr>
          <p:cNvPr id="1049362" name="Content Placeholder 2"/>
          <p:cNvSpPr>
            <a:spLocks noGrp="1"/>
          </p:cNvSpPr>
          <p:nvPr>
            <p:ph idx="1"/>
          </p:nvPr>
        </p:nvSpPr>
        <p:spPr>
          <a:xfrm>
            <a:off x="1371599" y="304800"/>
            <a:ext cx="9582151" cy="6400800"/>
          </a:xfrm>
        </p:spPr>
        <p:txBody>
          <a:bodyPr>
            <a:noAutofit/>
          </a:bodyPr>
          <a:p>
            <a:pPr algn="just"/>
            <a:r>
              <a:rPr dirty="0" sz="2900" lang="en-US" smtClean="0"/>
              <a:t>Umbilical cord entanglement in </a:t>
            </a:r>
            <a:r>
              <a:rPr dirty="0" sz="2900" lang="en-US" err="1" smtClean="0"/>
              <a:t>monoamniotic</a:t>
            </a:r>
            <a:r>
              <a:rPr dirty="0" sz="2900" lang="en-US" smtClean="0"/>
              <a:t> twins as they move around in the common amniotic fluid = to fetal hypoxia.</a:t>
            </a:r>
          </a:p>
          <a:p>
            <a:pPr algn="just"/>
            <a:r>
              <a:rPr dirty="0" sz="2900" lang="en-US" smtClean="0"/>
              <a:t>Higher perinatal morbidity &amp; mortality rate in monozygotic twinning.</a:t>
            </a:r>
          </a:p>
          <a:p>
            <a:pPr algn="just"/>
            <a:r>
              <a:rPr dirty="0" sz="2900" lang="en-US" smtClean="0"/>
              <a:t>Pregnancy loss in terms of abortion or IUFD due to hormonal imbalance or severe pregnancy induced conditions.</a:t>
            </a:r>
          </a:p>
          <a:p>
            <a:pPr algn="just"/>
            <a:r>
              <a:rPr dirty="0" sz="2900" lang="en-US" smtClean="0"/>
              <a:t>Exaggeration of minor disorders prenatally due to increased levels of the circulating hormones.</a:t>
            </a:r>
          </a:p>
          <a:p>
            <a:pPr algn="just">
              <a:buNone/>
            </a:pPr>
            <a:endParaRPr dirty="0" sz="2900" lang="en-US" smtClean="0"/>
          </a:p>
        </p:txBody>
      </p:sp>
      <p:sp>
        <p:nvSpPr>
          <p:cNvPr id="104936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1.xml><?xml version="1.0" encoding="utf-8"?>
<p:sld xmlns:a="http://schemas.openxmlformats.org/drawingml/2006/main" xmlns:r="http://schemas.openxmlformats.org/officeDocument/2006/relationships" xmlns:p="http://schemas.openxmlformats.org/presentationml/2006/main">
  <p:cSld>
    <p:bg>
      <p:bgPr>
        <a:solidFill>
          <a:srgbClr val="7030A0"/>
        </a:solidFill>
      </p:bgPr>
    </p:bg>
    <p:spTree>
      <p:nvGrpSpPr>
        <p:cNvPr id="995" name=""/>
        <p:cNvGrpSpPr/>
        <p:nvPr/>
      </p:nvGrpSpPr>
      <p:grpSpPr>
        <a:xfrm>
          <a:off x="0" y="0"/>
          <a:ext cx="0" cy="0"/>
          <a:chOff x="0" y="0"/>
          <a:chExt cx="0" cy="0"/>
        </a:xfrm>
      </p:grpSpPr>
      <p:sp>
        <p:nvSpPr>
          <p:cNvPr id="1049364" name="Content Placeholder 2"/>
          <p:cNvSpPr>
            <a:spLocks noGrp="1"/>
          </p:cNvSpPr>
          <p:nvPr>
            <p:ph idx="1"/>
          </p:nvPr>
        </p:nvSpPr>
        <p:spPr>
          <a:xfrm>
            <a:off x="1238250" y="228608"/>
            <a:ext cx="9715500" cy="5897563"/>
          </a:xfrm>
        </p:spPr>
        <p:txBody>
          <a:bodyPr>
            <a:normAutofit/>
          </a:bodyPr>
          <a:p>
            <a:r>
              <a:rPr dirty="0" lang="en-US" smtClean="0"/>
              <a:t>Anaemia, due to high demand of iron prenatally hence predisposes to PPH .</a:t>
            </a:r>
          </a:p>
          <a:p>
            <a:r>
              <a:rPr dirty="0" lang="en-US" smtClean="0"/>
              <a:t>Polyhydramnious common in monozygotic twins due to either </a:t>
            </a:r>
            <a:r>
              <a:rPr dirty="0" lang="en-US" err="1" smtClean="0"/>
              <a:t>oesophageal</a:t>
            </a:r>
            <a:r>
              <a:rPr dirty="0" lang="en-US" smtClean="0"/>
              <a:t> </a:t>
            </a:r>
            <a:r>
              <a:rPr dirty="0" lang="en-US" err="1" smtClean="0"/>
              <a:t>atresia</a:t>
            </a:r>
            <a:r>
              <a:rPr dirty="0" lang="en-US" smtClean="0"/>
              <a:t> or open neural tubal defect.</a:t>
            </a:r>
          </a:p>
          <a:p>
            <a:r>
              <a:rPr dirty="0" lang="en-US" smtClean="0"/>
              <a:t>Malpresentation because of inadequate space for normal presentation.</a:t>
            </a:r>
          </a:p>
          <a:p>
            <a:r>
              <a:rPr dirty="0" lang="en-US" smtClean="0"/>
              <a:t>Superimposed preeclampsia, due to high hormonal levels leading to development of </a:t>
            </a:r>
            <a:r>
              <a:rPr dirty="0" lang="en-US" err="1" smtClean="0"/>
              <a:t>oedema</a:t>
            </a:r>
            <a:r>
              <a:rPr dirty="0" lang="en-US" smtClean="0"/>
              <a:t> , HTN &amp; sometimes </a:t>
            </a:r>
            <a:r>
              <a:rPr dirty="0" lang="en-US" err="1" smtClean="0"/>
              <a:t>proteinuria</a:t>
            </a:r>
            <a:r>
              <a:rPr dirty="0" lang="en-US" smtClean="0"/>
              <a:t>. </a:t>
            </a:r>
          </a:p>
          <a:p>
            <a:endParaRPr dirty="0" lang="en-US"/>
          </a:p>
        </p:txBody>
      </p:sp>
      <p:sp>
        <p:nvSpPr>
          <p:cNvPr id="104936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2.xml><?xml version="1.0" encoding="utf-8"?>
<p:sld xmlns:a="http://schemas.openxmlformats.org/drawingml/2006/main" xmlns:r="http://schemas.openxmlformats.org/officeDocument/2006/relationships" xmlns:p="http://schemas.openxmlformats.org/presentationml/2006/main">
  <p:cSld>
    <p:bg>
      <p:bgPr>
        <a:solidFill>
          <a:srgbClr val="7030A0"/>
        </a:solidFill>
      </p:bgPr>
    </p:bg>
    <p:spTree>
      <p:nvGrpSpPr>
        <p:cNvPr id="996" name=""/>
        <p:cNvGrpSpPr/>
        <p:nvPr/>
      </p:nvGrpSpPr>
      <p:grpSpPr>
        <a:xfrm>
          <a:off x="0" y="0"/>
          <a:ext cx="0" cy="0"/>
          <a:chOff x="0" y="0"/>
          <a:chExt cx="0" cy="0"/>
        </a:xfrm>
      </p:grpSpPr>
      <p:sp>
        <p:nvSpPr>
          <p:cNvPr id="1049366" name="Content Placeholder 2"/>
          <p:cNvSpPr>
            <a:spLocks noGrp="1"/>
          </p:cNvSpPr>
          <p:nvPr>
            <p:ph idx="1"/>
          </p:nvPr>
        </p:nvSpPr>
        <p:spPr>
          <a:xfrm>
            <a:off x="1143000" y="304800"/>
            <a:ext cx="9906000" cy="6096000"/>
          </a:xfrm>
        </p:spPr>
        <p:txBody>
          <a:bodyPr>
            <a:noAutofit/>
          </a:bodyPr>
          <a:p>
            <a:r>
              <a:rPr dirty="0" sz="3100" lang="en-US" smtClean="0"/>
              <a:t>Either a </a:t>
            </a:r>
            <a:r>
              <a:rPr dirty="0" sz="3100" lang="en-US" err="1" smtClean="0"/>
              <a:t>prelabour</a:t>
            </a:r>
            <a:r>
              <a:rPr dirty="0" sz="3100" lang="en-US" smtClean="0"/>
              <a:t> rupture of membranes or early rupture of membranes because of intensified Braxton Hick’s contractions and malpresentation respectively.</a:t>
            </a:r>
          </a:p>
          <a:p>
            <a:r>
              <a:rPr dirty="0" sz="3100" lang="en-US" smtClean="0"/>
              <a:t>Prolonged labour,  due to poor tone of the uterus and malpresentation.</a:t>
            </a:r>
          </a:p>
          <a:p>
            <a:r>
              <a:rPr dirty="0" sz="3100" lang="en-US" smtClean="0"/>
              <a:t>Obstructed labour, due to locked twins </a:t>
            </a:r>
            <a:r>
              <a:rPr dirty="0" sz="3100" lang="en-US" err="1" smtClean="0"/>
              <a:t>ie</a:t>
            </a:r>
            <a:r>
              <a:rPr dirty="0" sz="3100" lang="en-US" smtClean="0"/>
              <a:t> 1</a:t>
            </a:r>
            <a:r>
              <a:rPr baseline="30000" dirty="0" sz="3100" lang="en-US" smtClean="0"/>
              <a:t>st</a:t>
            </a:r>
            <a:r>
              <a:rPr dirty="0" sz="3100" lang="en-US" smtClean="0"/>
              <a:t> twin breech ,2</a:t>
            </a:r>
            <a:r>
              <a:rPr baseline="30000" dirty="0" sz="3100" lang="en-US" smtClean="0"/>
              <a:t>nd</a:t>
            </a:r>
            <a:r>
              <a:rPr dirty="0" sz="3100" lang="en-US" smtClean="0"/>
              <a:t> twin cephalic.</a:t>
            </a:r>
          </a:p>
          <a:p>
            <a:r>
              <a:rPr dirty="0" sz="3100" lang="en-US" smtClean="0"/>
              <a:t>Premature labour , due to overstretching of the uterus.</a:t>
            </a:r>
            <a:endParaRPr dirty="0" sz="3100" lang="en-US"/>
          </a:p>
        </p:txBody>
      </p:sp>
      <p:sp>
        <p:nvSpPr>
          <p:cNvPr id="104936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3.xml><?xml version="1.0" encoding="utf-8"?>
<p:sld xmlns:a="http://schemas.openxmlformats.org/drawingml/2006/main" xmlns:r="http://schemas.openxmlformats.org/officeDocument/2006/relationships" xmlns:p="http://schemas.openxmlformats.org/presentationml/2006/main">
  <p:cSld>
    <p:bg>
      <p:bgPr>
        <a:solidFill>
          <a:srgbClr val="7030A0"/>
        </a:solidFill>
      </p:bgPr>
    </p:bg>
    <p:spTree>
      <p:nvGrpSpPr>
        <p:cNvPr id="997" name=""/>
        <p:cNvGrpSpPr/>
        <p:nvPr/>
      </p:nvGrpSpPr>
      <p:grpSpPr>
        <a:xfrm>
          <a:off x="0" y="0"/>
          <a:ext cx="0" cy="0"/>
          <a:chOff x="0" y="0"/>
          <a:chExt cx="0" cy="0"/>
        </a:xfrm>
      </p:grpSpPr>
      <p:sp>
        <p:nvSpPr>
          <p:cNvPr id="1049368" name="Title 1"/>
          <p:cNvSpPr>
            <a:spLocks noGrp="1"/>
          </p:cNvSpPr>
          <p:nvPr>
            <p:ph type="title"/>
          </p:nvPr>
        </p:nvSpPr>
        <p:spPr>
          <a:xfrm>
            <a:off x="1238250" y="0"/>
            <a:ext cx="10001250" cy="990600"/>
          </a:xfrm>
        </p:spPr>
        <p:txBody>
          <a:bodyPr>
            <a:normAutofit fontScale="90000"/>
          </a:bodyPr>
          <a:p>
            <a:r>
              <a:rPr dirty="0" lang="en-US" smtClean="0"/>
              <a:t>Diagram of locked twins</a:t>
            </a:r>
            <a:br>
              <a:rPr dirty="0" lang="en-US" smtClean="0"/>
            </a:br>
            <a:r>
              <a:rPr dirty="0" lang="en-US" smtClean="0"/>
              <a:t>leading  to obstructed labour</a:t>
            </a:r>
            <a:endParaRPr dirty="0" lang="en-US"/>
          </a:p>
        </p:txBody>
      </p:sp>
      <p:sp>
        <p:nvSpPr>
          <p:cNvPr id="1049369" name="Content Placeholder 2"/>
          <p:cNvSpPr>
            <a:spLocks noGrp="1"/>
          </p:cNvSpPr>
          <p:nvPr>
            <p:ph idx="1"/>
          </p:nvPr>
        </p:nvSpPr>
        <p:spPr/>
        <p:txBody>
          <a:bodyPr/>
          <a:p>
            <a:endParaRPr dirty="0" lang="en-US" smtClean="0"/>
          </a:p>
          <a:p>
            <a:endParaRPr dirty="0" lang="en-US" smtClean="0"/>
          </a:p>
          <a:p>
            <a:endParaRPr dirty="0" lang="en-US" smtClean="0"/>
          </a:p>
          <a:p>
            <a:pPr lvl="8"/>
            <a:endParaRPr dirty="0" lang="en-US"/>
          </a:p>
        </p:txBody>
      </p:sp>
      <p:pic>
        <p:nvPicPr>
          <p:cNvPr id="2097162" name="ia_el_25_innerEl" descr="Locked twins"/>
          <p:cNvPicPr>
            <a:picLocks/>
          </p:cNvPicPr>
          <p:nvPr/>
        </p:nvPicPr>
        <p:blipFill>
          <a:blip xmlns:r="http://schemas.openxmlformats.org/officeDocument/2006/relationships" r:embed="rId1" cstate="print">
            <a:duotone>
              <a:prstClr val="black"/>
              <a:schemeClr val="accent2">
                <a:tint val="45000"/>
                <a:satMod val="400000"/>
              </a:schemeClr>
            </a:duotone>
            <a:lum bright="-30000" contrast="-20000"/>
          </a:blip>
          <a:srcRect/>
          <a:stretch>
            <a:fillRect/>
          </a:stretch>
        </p:blipFill>
        <p:spPr bwMode="auto">
          <a:xfrm>
            <a:off x="1238250" y="1371600"/>
            <a:ext cx="10001250" cy="5334000"/>
          </a:xfrm>
          <a:prstGeom prst="rect"/>
          <a:ln w="190500" cap="sq">
            <a:solidFill>
              <a:srgbClr val="C8C6BD"/>
            </a:solidFill>
            <a:prstDash val="solid"/>
            <a:miter lim="800000"/>
          </a:ln>
          <a:effectLst>
            <a:outerShdw algn="bl" blurRad="254000" rotWithShape="0">
              <a:srgbClr val="000000">
                <a:alpha val="43000"/>
              </a:srgbClr>
            </a:outerShdw>
          </a:effectLst>
          <a:scene3d>
            <a:camera prst="perspectiveFront" fov="5400000"/>
            <a:lightRig dir="t" rig="threePt">
              <a:rot lat="0" lon="0" rev="2100000"/>
            </a:lightRig>
          </a:scene3d>
          <a:sp3d extrusionH="25400">
            <a:bevelT w="304800" h="152400" prst="hardEdge"/>
            <a:extrusionClr>
              <a:srgbClr val="000000"/>
            </a:extrusionClr>
          </a:sp3d>
        </p:spPr>
      </p:pic>
      <p:sp>
        <p:nvSpPr>
          <p:cNvPr id="104937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4.xml><?xml version="1.0" encoding="utf-8"?>
<p:sld xmlns:a="http://schemas.openxmlformats.org/drawingml/2006/main" xmlns:r="http://schemas.openxmlformats.org/officeDocument/2006/relationships" xmlns:p="http://schemas.openxmlformats.org/presentationml/2006/main">
  <p:cSld>
    <p:bg>
      <p:bgPr>
        <a:solidFill>
          <a:srgbClr val="00B050"/>
        </a:solidFill>
      </p:bgPr>
    </p:bg>
    <p:spTree>
      <p:nvGrpSpPr>
        <p:cNvPr id="998" name=""/>
        <p:cNvGrpSpPr/>
        <p:nvPr/>
      </p:nvGrpSpPr>
      <p:grpSpPr>
        <a:xfrm>
          <a:off x="0" y="0"/>
          <a:ext cx="0" cy="0"/>
          <a:chOff x="0" y="0"/>
          <a:chExt cx="0" cy="0"/>
        </a:xfrm>
      </p:grpSpPr>
      <p:sp>
        <p:nvSpPr>
          <p:cNvPr id="1049371" name="Content Placeholder 2"/>
          <p:cNvSpPr>
            <a:spLocks noGrp="1"/>
          </p:cNvSpPr>
          <p:nvPr>
            <p:ph idx="1"/>
          </p:nvPr>
        </p:nvSpPr>
        <p:spPr>
          <a:xfrm>
            <a:off x="762000" y="381000"/>
            <a:ext cx="10405109" cy="6096000"/>
          </a:xfrm>
        </p:spPr>
        <p:txBody>
          <a:bodyPr/>
          <a:p>
            <a:r>
              <a:rPr dirty="0" lang="en-US" err="1" smtClean="0"/>
              <a:t>Antepartum</a:t>
            </a:r>
            <a:r>
              <a:rPr dirty="0" lang="en-US" smtClean="0"/>
              <a:t> haemorrhage because of possibility of placenta praevia.</a:t>
            </a:r>
          </a:p>
          <a:p>
            <a:r>
              <a:rPr dirty="0" lang="en-US" err="1" smtClean="0"/>
              <a:t>Intrapartum</a:t>
            </a:r>
            <a:r>
              <a:rPr dirty="0" lang="en-US" smtClean="0"/>
              <a:t> haemorrhage, common in monozygotic after delivery of the 1</a:t>
            </a:r>
            <a:r>
              <a:rPr baseline="30000" dirty="0" lang="en-US" smtClean="0"/>
              <a:t>st</a:t>
            </a:r>
            <a:r>
              <a:rPr dirty="0" lang="en-US" smtClean="0"/>
              <a:t> twin.</a:t>
            </a:r>
          </a:p>
          <a:p>
            <a:r>
              <a:rPr dirty="0" lang="en-US" smtClean="0"/>
              <a:t>Postpartum haemorrhage due to poorly toned uterus &amp; large placental site.</a:t>
            </a:r>
            <a:endParaRPr dirty="0" lang="en-US"/>
          </a:p>
        </p:txBody>
      </p:sp>
      <p:sp>
        <p:nvSpPr>
          <p:cNvPr id="1049372" name="Flowchart: Sequential Access Storage 5"/>
          <p:cNvSpPr/>
          <p:nvPr/>
        </p:nvSpPr>
        <p:spPr>
          <a:xfrm>
            <a:off x="3429000" y="4953000"/>
            <a:ext cx="4476750" cy="1600200"/>
          </a:xfrm>
          <a:prstGeom prst="flowChartMagneticTape"/>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4800" lang="en-US" smtClean="0">
                <a:solidFill>
                  <a:srgbClr val="FFFF00"/>
                </a:solidFill>
                <a:effectLst>
                  <a:outerShdw algn="tl" blurRad="38100" dir="2700000" dist="38100">
                    <a:srgbClr val="000000">
                      <a:alpha val="43137"/>
                    </a:srgbClr>
                  </a:outerShdw>
                </a:effectLst>
              </a:rPr>
              <a:t>END</a:t>
            </a:r>
            <a:endParaRPr b="1" dirty="0" sz="4800" lang="en-US">
              <a:solidFill>
                <a:srgbClr val="FFFF00"/>
              </a:solidFill>
              <a:effectLst>
                <a:outerShdw algn="tl" blurRad="38100" dir="2700000" dist="38100">
                  <a:srgbClr val="000000">
                    <a:alpha val="43137"/>
                  </a:srgbClr>
                </a:outerShdw>
              </a:effectLst>
            </a:endParaRPr>
          </a:p>
        </p:txBody>
      </p:sp>
      <p:sp>
        <p:nvSpPr>
          <p:cNvPr id="104937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002" name=""/>
        <p:cNvGrpSpPr/>
        <p:nvPr/>
      </p:nvGrpSpPr>
      <p:grpSpPr>
        <a:xfrm>
          <a:off x="0" y="0"/>
          <a:ext cx="0" cy="0"/>
          <a:chOff x="0" y="0"/>
          <a:chExt cx="0" cy="0"/>
        </a:xfrm>
      </p:grpSpPr>
      <p:sp>
        <p:nvSpPr>
          <p:cNvPr id="1049380" name="Title 3"/>
          <p:cNvSpPr>
            <a:spLocks noGrp="1"/>
          </p:cNvSpPr>
          <p:nvPr>
            <p:ph type="ctrTitle"/>
          </p:nvPr>
        </p:nvSpPr>
        <p:spPr>
          <a:xfrm>
            <a:off x="3048003" y="1600209"/>
            <a:ext cx="7915780" cy="2155825"/>
          </a:xfrm>
        </p:spPr>
        <p:txBody>
          <a:bodyPr>
            <a:noAutofit/>
          </a:bodyPr>
          <a:p>
            <a:pPr algn="ctr"/>
            <a:r>
              <a:rPr dirty="0" sz="4800" lang="en-US" smtClean="0">
                <a:solidFill>
                  <a:srgbClr val="00B0F0"/>
                </a:solidFill>
                <a:effectLst>
                  <a:outerShdw algn="tl" blurRad="38100" dir="2700000" dist="38100">
                    <a:srgbClr val="000000">
                      <a:alpha val="43137"/>
                    </a:srgbClr>
                  </a:outerShdw>
                </a:effectLst>
                <a:latin typeface="Algerian" pitchFamily="82" charset="0"/>
              </a:rPr>
              <a:t>ASSOCIATED MEDICAL CONDITIONS:</a:t>
            </a:r>
            <a:endParaRPr dirty="0" sz="4800" lang="en-US">
              <a:solidFill>
                <a:srgbClr val="00B0F0"/>
              </a:solidFill>
              <a:effectLst>
                <a:outerShdw algn="tl" blurRad="38100" dir="2700000" dist="38100">
                  <a:srgbClr val="000000">
                    <a:alpha val="43137"/>
                  </a:srgbClr>
                </a:outerShdw>
              </a:effectLst>
              <a:latin typeface="Algerian" pitchFamily="82" charset="0"/>
            </a:endParaRPr>
          </a:p>
        </p:txBody>
      </p:sp>
      <p:sp>
        <p:nvSpPr>
          <p:cNvPr id="1049381" name="Subtitle 4"/>
          <p:cNvSpPr>
            <a:spLocks noGrp="1"/>
          </p:cNvSpPr>
          <p:nvPr>
            <p:ph type="subTitle" idx="1"/>
          </p:nvPr>
        </p:nvSpPr>
        <p:spPr>
          <a:xfrm>
            <a:off x="4381500" y="3886200"/>
            <a:ext cx="6537159" cy="2209800"/>
          </a:xfrm>
        </p:spPr>
        <p:txBody>
          <a:bodyPr>
            <a:normAutofit/>
          </a:bodyPr>
          <a:p>
            <a:pPr algn="l"/>
            <a:r>
              <a:rPr b="1" dirty="0" sz="4000" lang="en-US" smtClean="0">
                <a:solidFill>
                  <a:srgbClr val="FF0000"/>
                </a:solidFill>
                <a:latin typeface="AR JULIAN" pitchFamily="2" charset="0"/>
                <a:cs typeface="Aharoni" pitchFamily="2" charset="-79"/>
              </a:rPr>
              <a:t>1. TB IN PREGNANCY</a:t>
            </a:r>
            <a:endParaRPr b="1" dirty="0" sz="4000" lang="en-US">
              <a:solidFill>
                <a:srgbClr val="FF0000"/>
              </a:solidFill>
              <a:latin typeface="AR JULIAN" pitchFamily="2" charset="0"/>
              <a:cs typeface="Aharoni" pitchFamily="2" charset="-79"/>
            </a:endParaRPr>
          </a:p>
        </p:txBody>
      </p:sp>
    </p:spTree>
  </p:cSld>
  <p:clrMapOvr>
    <a:masterClrMapping/>
  </p:clrMapOvr>
  <p:transition xmlns:p14="http://schemas.microsoft.com/office/powerpoint/2010/main" spd="slow">
    <p:strips dir="ru"/>
  </p:transition>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003" name=""/>
        <p:cNvGrpSpPr/>
        <p:nvPr/>
      </p:nvGrpSpPr>
      <p:grpSpPr>
        <a:xfrm>
          <a:off x="0" y="0"/>
          <a:ext cx="0" cy="0"/>
          <a:chOff x="0" y="0"/>
          <a:chExt cx="0" cy="0"/>
        </a:xfrm>
      </p:grpSpPr>
      <p:sp>
        <p:nvSpPr>
          <p:cNvPr id="1049382" name="Title 1"/>
          <p:cNvSpPr>
            <a:spLocks noGrp="1"/>
          </p:cNvSpPr>
          <p:nvPr>
            <p:ph type="title"/>
          </p:nvPr>
        </p:nvSpPr>
        <p:spPr>
          <a:solidFill>
            <a:srgbClr val="00B050"/>
          </a:solidFill>
          <a:ln>
            <a:noFill/>
          </a:ln>
          <a:effectLst>
            <a:glow rad="228600">
              <a:schemeClr val="accent6">
                <a:satMod val="175000"/>
                <a:alpha val="40000"/>
              </a:schemeClr>
            </a:glow>
          </a:effectLst>
          <a:scene3d>
            <a:camera prst="orthographicFront">
              <a:rot lat="0" lon="0" rev="0"/>
            </a:camera>
            <a:lightRig dir="t" rig="glow">
              <a:rot lat="0" lon="0" rev="14100000"/>
            </a:lightRig>
          </a:scene3d>
          <a:sp3d prstMaterial="softEdge">
            <a:bevelT w="127000" prst="artDeco"/>
          </a:sp3d>
        </p:spPr>
        <p:txBody>
          <a:bodyPr/>
          <a:p>
            <a:r>
              <a:rPr b="1" dirty="0" lang="en-US"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algn="tl" blurRad="38100" dir="7020000" dist="38100">
                    <a:srgbClr val="000000">
                      <a:alpha val="35000"/>
                    </a:srgbClr>
                  </a:outerShdw>
                </a:effectLst>
              </a:rPr>
              <a:t>	TUBERCULOSIS</a:t>
            </a:r>
            <a:endParaRPr b="1" dirty="0" lang="en-US">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algn="tl" blurRad="38100" dir="7020000" dist="38100">
                  <a:srgbClr val="000000">
                    <a:alpha val="35000"/>
                  </a:srgbClr>
                </a:outerShdw>
              </a:effectLst>
            </a:endParaRPr>
          </a:p>
        </p:txBody>
      </p:sp>
      <p:sp>
        <p:nvSpPr>
          <p:cNvPr id="1049383" name="Content Placeholder 2"/>
          <p:cNvSpPr>
            <a:spLocks noGrp="1"/>
          </p:cNvSpPr>
          <p:nvPr>
            <p:ph sz="quarter" idx="1"/>
          </p:nvPr>
        </p:nvSpPr>
        <p:spPr>
          <a:xfrm>
            <a:off x="666750" y="1828800"/>
            <a:ext cx="10290809" cy="4495800"/>
          </a:xfrm>
        </p:spPr>
        <p:txBody>
          <a:bodyPr>
            <a:normAutofit/>
          </a:bodyPr>
          <a:p>
            <a:pPr>
              <a:buNone/>
            </a:pPr>
            <a:r>
              <a:rPr dirty="0" lang="en-US" smtClean="0"/>
              <a:t>	</a:t>
            </a:r>
            <a:r>
              <a:rPr b="1" dirty="0" lang="en-US" smtClean="0">
                <a:solidFill>
                  <a:srgbClr val="FF0000"/>
                </a:solidFill>
              </a:rPr>
              <a:t>Definition</a:t>
            </a:r>
          </a:p>
          <a:p>
            <a:r>
              <a:rPr dirty="0" lang="en-US" smtClean="0"/>
              <a:t>It’s  an infectious disease caused by an organism known as mycobacterium tuberculosis (tubercle bacillus).</a:t>
            </a:r>
          </a:p>
          <a:p>
            <a:pPr>
              <a:buNone/>
            </a:pPr>
            <a:r>
              <a:rPr dirty="0" lang="en-US" smtClean="0">
                <a:solidFill>
                  <a:srgbClr val="FF0000"/>
                </a:solidFill>
              </a:rPr>
              <a:t>	</a:t>
            </a:r>
            <a:r>
              <a:rPr b="1" dirty="0" lang="en-US" smtClean="0">
                <a:solidFill>
                  <a:srgbClr val="FF0000"/>
                </a:solidFill>
              </a:rPr>
              <a:t>Incidence</a:t>
            </a:r>
          </a:p>
          <a:p>
            <a:r>
              <a:rPr dirty="0" lang="en-US" smtClean="0"/>
              <a:t>It’s among the leading causes of death in women of child bearing age.</a:t>
            </a:r>
          </a:p>
          <a:p>
            <a:r>
              <a:rPr dirty="0" lang="en-US" smtClean="0"/>
              <a:t>Studies in the last 15yrs have also shown that TB cases among the </a:t>
            </a:r>
            <a:r>
              <a:rPr dirty="0" lang="en-US" err="1" smtClean="0"/>
              <a:t>prenatals</a:t>
            </a:r>
            <a:r>
              <a:rPr dirty="0" lang="en-US" smtClean="0"/>
              <a:t> has increased 10 (ten) folds. 		</a:t>
            </a:r>
            <a:endParaRPr dirty="0" lang="en-US"/>
          </a:p>
        </p:txBody>
      </p:sp>
      <p:sp>
        <p:nvSpPr>
          <p:cNvPr id="104938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004" name=""/>
        <p:cNvGrpSpPr/>
        <p:nvPr/>
      </p:nvGrpSpPr>
      <p:grpSpPr>
        <a:xfrm>
          <a:off x="0" y="0"/>
          <a:ext cx="0" cy="0"/>
          <a:chOff x="0" y="0"/>
          <a:chExt cx="0" cy="0"/>
        </a:xfrm>
      </p:grpSpPr>
      <p:sp>
        <p:nvSpPr>
          <p:cNvPr id="1049385" name="Content Placeholder 2"/>
          <p:cNvSpPr>
            <a:spLocks noGrp="1"/>
          </p:cNvSpPr>
          <p:nvPr>
            <p:ph sz="quarter" idx="1"/>
          </p:nvPr>
        </p:nvSpPr>
        <p:spPr>
          <a:xfrm>
            <a:off x="666750" y="381000"/>
            <a:ext cx="10290809" cy="5943600"/>
          </a:xfrm>
        </p:spPr>
        <p:txBody>
          <a:bodyPr>
            <a:noAutofit/>
          </a:bodyPr>
          <a:p>
            <a:pPr>
              <a:buNone/>
            </a:pPr>
            <a:r>
              <a:rPr dirty="0" sz="3200" lang="en-US" smtClean="0"/>
              <a:t>	</a:t>
            </a:r>
            <a:r>
              <a:rPr b="1" dirty="0" sz="3200" lang="en-US" smtClean="0">
                <a:solidFill>
                  <a:srgbClr val="FF0000"/>
                </a:solidFill>
              </a:rPr>
              <a:t>Predisposing  factors</a:t>
            </a:r>
          </a:p>
          <a:p>
            <a:r>
              <a:rPr dirty="0" sz="3200" lang="en-US" smtClean="0"/>
              <a:t>HIV epidemic, since it weakens the body’s immune system hence opportunistic infections occur.</a:t>
            </a:r>
          </a:p>
          <a:p>
            <a:r>
              <a:rPr dirty="0" sz="3200" lang="en-US" smtClean="0"/>
              <a:t>Poverty, leading to malnutrition and vector borne diseases.</a:t>
            </a:r>
          </a:p>
          <a:p>
            <a:r>
              <a:rPr dirty="0" sz="3200" lang="en-US" smtClean="0"/>
              <a:t>Overcrowding, favours spread of organism due to poor ventilation.</a:t>
            </a:r>
          </a:p>
          <a:p>
            <a:r>
              <a:rPr dirty="0" sz="3200" lang="en-US" smtClean="0"/>
              <a:t>Limited access to quality health care.</a:t>
            </a:r>
          </a:p>
          <a:p>
            <a:endParaRPr dirty="0" sz="3200" lang="en-US"/>
          </a:p>
        </p:txBody>
      </p:sp>
      <p:sp>
        <p:nvSpPr>
          <p:cNvPr id="104938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005" name=""/>
        <p:cNvGrpSpPr/>
        <p:nvPr/>
      </p:nvGrpSpPr>
      <p:grpSpPr>
        <a:xfrm>
          <a:off x="0" y="0"/>
          <a:ext cx="0" cy="0"/>
          <a:chOff x="0" y="0"/>
          <a:chExt cx="0" cy="0"/>
        </a:xfrm>
      </p:grpSpPr>
      <p:sp>
        <p:nvSpPr>
          <p:cNvPr id="1049387" name="Content Placeholder 2"/>
          <p:cNvSpPr>
            <a:spLocks noGrp="1"/>
          </p:cNvSpPr>
          <p:nvPr>
            <p:ph sz="quarter" idx="1"/>
          </p:nvPr>
        </p:nvSpPr>
        <p:spPr>
          <a:xfrm>
            <a:off x="762001" y="304800"/>
            <a:ext cx="10195559" cy="6096000"/>
          </a:xfrm>
        </p:spPr>
        <p:txBody>
          <a:bodyPr>
            <a:noAutofit/>
          </a:bodyPr>
          <a:p>
            <a:r>
              <a:rPr dirty="0" sz="3200" lang="en-US" smtClean="0"/>
              <a:t>Development of multidrug resistant organisms.</a:t>
            </a:r>
          </a:p>
          <a:p>
            <a:pPr>
              <a:buNone/>
            </a:pPr>
            <a:r>
              <a:rPr dirty="0" sz="3200" lang="en-US" smtClean="0">
                <a:solidFill>
                  <a:srgbClr val="FF0000"/>
                </a:solidFill>
              </a:rPr>
              <a:t>	Classification / Types</a:t>
            </a:r>
          </a:p>
          <a:p>
            <a:r>
              <a:rPr dirty="0" sz="3200" lang="en-US" smtClean="0"/>
              <a:t>Pulmonary tuberculosis(PTB), commonest and highly infectious.</a:t>
            </a:r>
          </a:p>
          <a:p>
            <a:r>
              <a:rPr dirty="0" sz="3200" lang="en-US" smtClean="0"/>
              <a:t>Extra pulmonary TB, to any body organ / structure, except the hair, nails &amp; teeth.</a:t>
            </a:r>
          </a:p>
          <a:p>
            <a:pPr>
              <a:buNone/>
            </a:pPr>
            <a:r>
              <a:rPr dirty="0" sz="3200" lang="en-US" smtClean="0"/>
              <a:t>	</a:t>
            </a:r>
            <a:r>
              <a:rPr b="1" dirty="0" sz="3200" lang="en-US" smtClean="0">
                <a:solidFill>
                  <a:srgbClr val="FF0000"/>
                </a:solidFill>
              </a:rPr>
              <a:t>NB:</a:t>
            </a:r>
            <a:r>
              <a:rPr dirty="0" sz="3200" lang="en-US" smtClean="0"/>
              <a:t>  Glands TB , referred to as TB lymphadenitis is the most common among the extra pulmonary. </a:t>
            </a:r>
          </a:p>
          <a:p>
            <a:endParaRPr dirty="0" sz="3200" lang="en-US">
              <a:solidFill>
                <a:srgbClr val="FF0000"/>
              </a:solidFill>
            </a:endParaRPr>
          </a:p>
        </p:txBody>
      </p:sp>
      <p:sp>
        <p:nvSpPr>
          <p:cNvPr id="104938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006" name=""/>
        <p:cNvGrpSpPr/>
        <p:nvPr/>
      </p:nvGrpSpPr>
      <p:grpSpPr>
        <a:xfrm>
          <a:off x="0" y="0"/>
          <a:ext cx="0" cy="0"/>
          <a:chOff x="0" y="0"/>
          <a:chExt cx="0" cy="0"/>
        </a:xfrm>
      </p:grpSpPr>
      <p:sp>
        <p:nvSpPr>
          <p:cNvPr id="1049389" name="Title 1"/>
          <p:cNvSpPr>
            <a:spLocks noGrp="1"/>
          </p:cNvSpPr>
          <p:nvPr>
            <p:ph type="title"/>
          </p:nvPr>
        </p:nvSpPr>
        <p:spPr/>
        <p:txBody>
          <a:bodyPr/>
          <a:p>
            <a:r>
              <a:rPr dirty="0" lang="en-US" smtClean="0"/>
              <a:t>		</a:t>
            </a:r>
            <a:r>
              <a:rPr b="1" dirty="0" lang="en-US" smtClean="0">
                <a:solidFill>
                  <a:srgbClr val="FF0000"/>
                </a:solidFill>
              </a:rPr>
              <a:t> Clinical  features</a:t>
            </a:r>
            <a:endParaRPr dirty="0" lang="en-US"/>
          </a:p>
        </p:txBody>
      </p:sp>
      <p:sp>
        <p:nvSpPr>
          <p:cNvPr id="1049390" name="Content Placeholder 2"/>
          <p:cNvSpPr>
            <a:spLocks noGrp="1"/>
          </p:cNvSpPr>
          <p:nvPr>
            <p:ph sz="quarter" idx="1"/>
          </p:nvPr>
        </p:nvSpPr>
        <p:spPr>
          <a:xfrm>
            <a:off x="762001" y="1600200"/>
            <a:ext cx="10195559" cy="4724400"/>
          </a:xfrm>
        </p:spPr>
        <p:txBody>
          <a:bodyPr>
            <a:noAutofit/>
          </a:bodyPr>
          <a:p>
            <a:r>
              <a:rPr dirty="0" sz="3200" lang="en-US" smtClean="0"/>
              <a:t>Persistent  and productive cough , with/ without blood stains in the sputum and doesn’t respond to various cough treatments.</a:t>
            </a:r>
          </a:p>
          <a:p>
            <a:r>
              <a:rPr dirty="0" sz="3200" lang="en-US" smtClean="0"/>
              <a:t>Weight loss. </a:t>
            </a:r>
          </a:p>
          <a:p>
            <a:r>
              <a:rPr dirty="0" sz="3200" lang="en-US" smtClean="0"/>
              <a:t>Intermittent fever.</a:t>
            </a:r>
          </a:p>
          <a:p>
            <a:r>
              <a:rPr dirty="0" sz="3200" lang="en-US" smtClean="0"/>
              <a:t>Excessive night sweats.</a:t>
            </a:r>
          </a:p>
          <a:p>
            <a:r>
              <a:rPr dirty="0" sz="3200" lang="en-US" smtClean="0"/>
              <a:t>Loss of appetite.</a:t>
            </a:r>
          </a:p>
          <a:p>
            <a:r>
              <a:rPr dirty="0" sz="3200" lang="en-US" smtClean="0"/>
              <a:t>Shortness of breath, secondary to pleural effusion or emphysema thoracic.</a:t>
            </a:r>
          </a:p>
        </p:txBody>
      </p:sp>
      <p:sp>
        <p:nvSpPr>
          <p:cNvPr id="104939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007" name=""/>
        <p:cNvGrpSpPr/>
        <p:nvPr/>
      </p:nvGrpSpPr>
      <p:grpSpPr>
        <a:xfrm>
          <a:off x="0" y="0"/>
          <a:ext cx="0" cy="0"/>
          <a:chOff x="0" y="0"/>
          <a:chExt cx="0" cy="0"/>
        </a:xfrm>
      </p:grpSpPr>
      <p:sp>
        <p:nvSpPr>
          <p:cNvPr id="1049392" name="Content Placeholder 2"/>
          <p:cNvSpPr>
            <a:spLocks noGrp="1"/>
          </p:cNvSpPr>
          <p:nvPr>
            <p:ph sz="quarter" idx="1"/>
          </p:nvPr>
        </p:nvSpPr>
        <p:spPr>
          <a:xfrm>
            <a:off x="952501" y="457201"/>
            <a:ext cx="10096500" cy="5436576"/>
          </a:xfrm>
        </p:spPr>
        <p:txBody>
          <a:bodyPr>
            <a:noAutofit/>
          </a:bodyPr>
          <a:p>
            <a:r>
              <a:rPr dirty="0" sz="3000" lang="en-US" smtClean="0"/>
              <a:t>Premature labour because of general weakness.</a:t>
            </a:r>
          </a:p>
          <a:p>
            <a:r>
              <a:rPr dirty="0" sz="3000" lang="en-US" smtClean="0"/>
              <a:t>Anaemia which doesn’t respond to haematinics.</a:t>
            </a:r>
          </a:p>
          <a:p>
            <a:r>
              <a:rPr dirty="0" sz="3000" lang="en-US" smtClean="0"/>
              <a:t>Painless enlarged lymph nodes  and which finally  discharge  pus. </a:t>
            </a:r>
          </a:p>
          <a:p>
            <a:pPr>
              <a:buNone/>
            </a:pPr>
            <a:r>
              <a:rPr dirty="0" sz="3000" lang="en-US" smtClean="0">
                <a:solidFill>
                  <a:srgbClr val="FF0000"/>
                </a:solidFill>
              </a:rPr>
              <a:t>	</a:t>
            </a:r>
            <a:r>
              <a:rPr b="1" dirty="0" sz="3000" lang="en-US" smtClean="0">
                <a:solidFill>
                  <a:srgbClr val="FF0000"/>
                </a:solidFill>
              </a:rPr>
              <a:t>Incidence of mother to child transmission</a:t>
            </a:r>
            <a:endParaRPr b="1" dirty="0" sz="3000" lang="en-US" smtClean="0"/>
          </a:p>
          <a:p>
            <a:r>
              <a:rPr dirty="0" sz="3000" lang="en-US" smtClean="0"/>
              <a:t>Prenatally, across the placenta can  lead to fetal death or congenital TB, fortunately its rare.</a:t>
            </a:r>
          </a:p>
          <a:p>
            <a:r>
              <a:rPr dirty="0" sz="3000" lang="en-US" smtClean="0"/>
              <a:t>During birth, as the  fetus inhales or ingests infected amniotic fluid or secretions.</a:t>
            </a:r>
          </a:p>
          <a:p>
            <a:endParaRPr dirty="0" sz="3000" lang="en-US" smtClean="0"/>
          </a:p>
          <a:p>
            <a:pPr>
              <a:buNone/>
            </a:pPr>
            <a:r>
              <a:rPr dirty="0" sz="3000" lang="en-US" smtClean="0"/>
              <a:t>	</a:t>
            </a:r>
            <a:endParaRPr dirty="0" sz="3000" lang="en-US"/>
          </a:p>
        </p:txBody>
      </p:sp>
      <p:sp>
        <p:nvSpPr>
          <p:cNvPr id="104939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008" name=""/>
        <p:cNvGrpSpPr/>
        <p:nvPr/>
      </p:nvGrpSpPr>
      <p:grpSpPr>
        <a:xfrm>
          <a:off x="0" y="0"/>
          <a:ext cx="0" cy="0"/>
          <a:chOff x="0" y="0"/>
          <a:chExt cx="0" cy="0"/>
        </a:xfrm>
      </p:grpSpPr>
      <p:sp>
        <p:nvSpPr>
          <p:cNvPr id="1049394" name="Title 1"/>
          <p:cNvSpPr>
            <a:spLocks noGrp="1"/>
          </p:cNvSpPr>
          <p:nvPr>
            <p:ph type="title"/>
          </p:nvPr>
        </p:nvSpPr>
        <p:spPr/>
        <p:txBody>
          <a:bodyPr>
            <a:noAutofit/>
          </a:bodyPr>
          <a:p>
            <a:r>
              <a:rPr b="1" dirty="0" sz="5400" lang="en-US" smtClean="0">
                <a:solidFill>
                  <a:srgbClr val="FF0000"/>
                </a:solidFill>
              </a:rPr>
              <a:t>	</a:t>
            </a:r>
            <a:br>
              <a:rPr b="1" dirty="0" sz="5400" lang="en-US" smtClean="0">
                <a:solidFill>
                  <a:srgbClr val="FF0000"/>
                </a:solidFill>
              </a:rPr>
            </a:br>
            <a:r>
              <a:rPr b="1" dirty="0" sz="5400" lang="en-US" smtClean="0">
                <a:solidFill>
                  <a:srgbClr val="FF0000"/>
                </a:solidFill>
              </a:rPr>
              <a:t>	specific Management</a:t>
            </a:r>
            <a:br>
              <a:rPr b="1" dirty="0" sz="5400" lang="en-US" smtClean="0">
                <a:solidFill>
                  <a:srgbClr val="FF0000"/>
                </a:solidFill>
              </a:rPr>
            </a:br>
            <a:endParaRPr b="1" dirty="0" sz="5400" lang="en-US">
              <a:solidFill>
                <a:srgbClr val="FF0000"/>
              </a:solidFill>
            </a:endParaRPr>
          </a:p>
        </p:txBody>
      </p:sp>
      <p:sp>
        <p:nvSpPr>
          <p:cNvPr id="1049395" name="Content Placeholder 2"/>
          <p:cNvSpPr>
            <a:spLocks noGrp="1"/>
          </p:cNvSpPr>
          <p:nvPr>
            <p:ph sz="quarter" idx="1"/>
          </p:nvPr>
        </p:nvSpPr>
        <p:spPr/>
        <p:txBody>
          <a:bodyPr>
            <a:noAutofit/>
          </a:bodyPr>
          <a:p>
            <a:r>
              <a:rPr dirty="0" sz="3200" lang="en-US" smtClean="0"/>
              <a:t>Investigate  through,  sputum and chest X- ray following suggestive history and physical examination.</a:t>
            </a:r>
          </a:p>
          <a:p>
            <a:r>
              <a:rPr dirty="0" sz="3200" lang="en-US" smtClean="0"/>
              <a:t>Smear positive results indicates that she is highly infectious particularly to those in same household. </a:t>
            </a:r>
          </a:p>
          <a:p>
            <a:r>
              <a:rPr dirty="0" sz="3200" lang="en-US" smtClean="0"/>
              <a:t>Smear negative results mostly indicate extra pulmonary TB, so organism is in the latent stage</a:t>
            </a:r>
          </a:p>
          <a:p>
            <a:endParaRPr dirty="0" sz="3200" lang="en-US" smtClean="0"/>
          </a:p>
          <a:p>
            <a:endParaRPr dirty="0" sz="3200" lang="en-US"/>
          </a:p>
        </p:txBody>
      </p:sp>
      <p:sp>
        <p:nvSpPr>
          <p:cNvPr id="104939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011" name=""/>
        <p:cNvGrpSpPr/>
        <p:nvPr/>
      </p:nvGrpSpPr>
      <p:grpSpPr>
        <a:xfrm>
          <a:off x="0" y="0"/>
          <a:ext cx="0" cy="0"/>
          <a:chOff x="0" y="0"/>
          <a:chExt cx="0" cy="0"/>
        </a:xfrm>
      </p:grpSpPr>
      <p:sp>
        <p:nvSpPr>
          <p:cNvPr id="1049400" name="Content Placeholder 2"/>
          <p:cNvSpPr>
            <a:spLocks noGrp="1"/>
          </p:cNvSpPr>
          <p:nvPr>
            <p:ph sz="quarter" idx="1"/>
          </p:nvPr>
        </p:nvSpPr>
        <p:spPr>
          <a:xfrm>
            <a:off x="952500" y="152400"/>
            <a:ext cx="10005059" cy="6324600"/>
          </a:xfrm>
        </p:spPr>
        <p:txBody>
          <a:bodyPr>
            <a:noAutofit/>
          </a:bodyPr>
          <a:p>
            <a:r>
              <a:rPr dirty="0" sz="3200" lang="en-US" smtClean="0"/>
              <a:t>Those in advanced stage of the disease , anaemia or features of premature labour are present, so admission to hospital is recommended.</a:t>
            </a:r>
          </a:p>
          <a:p>
            <a:r>
              <a:rPr dirty="0" sz="3200" lang="en-US" smtClean="0"/>
              <a:t>Otherwise that who is stable is referred to the chest clinic for treatment.</a:t>
            </a:r>
          </a:p>
          <a:p>
            <a:pPr>
              <a:buNone/>
            </a:pPr>
            <a:r>
              <a:rPr b="1" dirty="0" sz="3200" lang="en-US" smtClean="0"/>
              <a:t>NB</a:t>
            </a:r>
            <a:r>
              <a:rPr dirty="0" sz="3200" lang="en-US" smtClean="0"/>
              <a:t> </a:t>
            </a:r>
            <a:r>
              <a:rPr b="1" dirty="0" sz="3200" lang="en-US" smtClean="0"/>
              <a:t>:</a:t>
            </a:r>
            <a:r>
              <a:rPr dirty="0" sz="3200" lang="en-US" smtClean="0"/>
              <a:t>3 or 2 sputum specimens are sent to the lab </a:t>
            </a:r>
            <a:r>
              <a:rPr dirty="0" sz="3200" lang="en-US" err="1" smtClean="0"/>
              <a:t>ie,on</a:t>
            </a:r>
            <a:r>
              <a:rPr dirty="0" sz="3200" lang="en-US" smtClean="0"/>
              <a:t> the spot sample, morning before breakfast and  sometimes at delivery of the 2 specimen.</a:t>
            </a:r>
          </a:p>
          <a:p>
            <a:pPr>
              <a:buFont typeface="Wingdings" pitchFamily="2" charset="2"/>
              <a:buChar char="Ø"/>
            </a:pPr>
            <a:r>
              <a:rPr dirty="0" sz="3200" lang="en-US" smtClean="0"/>
              <a:t>The specimen are collected within 24 hours.   </a:t>
            </a:r>
            <a:endParaRPr dirty="0" sz="3200" lang="en-US"/>
          </a:p>
        </p:txBody>
      </p:sp>
      <p:sp>
        <p:nvSpPr>
          <p:cNvPr id="104940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012" name=""/>
        <p:cNvGrpSpPr/>
        <p:nvPr/>
      </p:nvGrpSpPr>
      <p:grpSpPr>
        <a:xfrm>
          <a:off x="0" y="0"/>
          <a:ext cx="0" cy="0"/>
          <a:chOff x="0" y="0"/>
          <a:chExt cx="0" cy="0"/>
        </a:xfrm>
      </p:grpSpPr>
      <p:sp>
        <p:nvSpPr>
          <p:cNvPr id="1049402" name="Content Placeholder 2"/>
          <p:cNvSpPr>
            <a:spLocks noGrp="1"/>
          </p:cNvSpPr>
          <p:nvPr>
            <p:ph sz="quarter" idx="1"/>
          </p:nvPr>
        </p:nvSpPr>
        <p:spPr>
          <a:xfrm>
            <a:off x="952500" y="381000"/>
            <a:ext cx="10477500" cy="6477000"/>
          </a:xfrm>
        </p:spPr>
        <p:txBody>
          <a:bodyPr>
            <a:noAutofit/>
          </a:bodyPr>
          <a:p>
            <a:pPr>
              <a:buFont typeface="Wingdings" pitchFamily="2" charset="2"/>
              <a:buChar char="v"/>
            </a:pPr>
            <a:r>
              <a:rPr dirty="0" sz="2800" lang="en-US" smtClean="0"/>
              <a:t>Treatment comprises of 2 phases:-</a:t>
            </a:r>
          </a:p>
          <a:p>
            <a:r>
              <a:rPr b="1" dirty="0" sz="2800" lang="en-US" smtClean="0"/>
              <a:t>Intensive phase of 2(two) months</a:t>
            </a:r>
          </a:p>
          <a:p>
            <a:pPr>
              <a:buFont typeface="Wingdings" pitchFamily="2" charset="2"/>
              <a:buChar char="Ø"/>
            </a:pPr>
            <a:r>
              <a:rPr dirty="0" sz="2800" lang="en-US" smtClean="0"/>
              <a:t>Oral drugs in terms of, </a:t>
            </a:r>
            <a:r>
              <a:rPr dirty="0" sz="2800" lang="en-US" err="1" smtClean="0"/>
              <a:t>Ethambutol</a:t>
            </a:r>
            <a:r>
              <a:rPr dirty="0" sz="2800" lang="en-US" smtClean="0"/>
              <a:t>(E), </a:t>
            </a:r>
            <a:r>
              <a:rPr dirty="0" sz="2800" lang="en-US" err="1" smtClean="0"/>
              <a:t>Rifampicin</a:t>
            </a:r>
            <a:r>
              <a:rPr dirty="0" sz="2800" lang="en-US" smtClean="0"/>
              <a:t>(R), </a:t>
            </a:r>
            <a:r>
              <a:rPr dirty="0" sz="2800" lang="en-US" err="1" smtClean="0"/>
              <a:t>Isoniazid</a:t>
            </a:r>
            <a:r>
              <a:rPr dirty="0" sz="2800" lang="en-US" smtClean="0"/>
              <a:t>(H) and </a:t>
            </a:r>
            <a:r>
              <a:rPr dirty="0" sz="2800" lang="en-US" err="1" smtClean="0"/>
              <a:t>Pyrazinamide</a:t>
            </a:r>
            <a:r>
              <a:rPr dirty="0" sz="2800" lang="en-US" smtClean="0"/>
              <a:t>(Z) collectively (ERHZ). Taken daily under </a:t>
            </a:r>
            <a:r>
              <a:rPr b="1" dirty="0" sz="2800" lang="en-US" smtClean="0">
                <a:solidFill>
                  <a:srgbClr val="FF0000"/>
                </a:solidFill>
              </a:rPr>
              <a:t>DOT</a:t>
            </a:r>
            <a:r>
              <a:rPr dirty="0" sz="2800" lang="en-US" smtClean="0"/>
              <a:t> approach either in the facility or through a member of the household  or community.</a:t>
            </a:r>
          </a:p>
          <a:p>
            <a:r>
              <a:rPr b="1" dirty="0" sz="2800" lang="en-US" smtClean="0"/>
              <a:t>Continuation phase of 4(four) months</a:t>
            </a:r>
          </a:p>
          <a:p>
            <a:pPr>
              <a:buFont typeface="Wingdings" pitchFamily="2" charset="2"/>
              <a:buChar char="Ø"/>
            </a:pPr>
            <a:r>
              <a:rPr dirty="0" sz="2800" lang="en-US" err="1" smtClean="0"/>
              <a:t>Rifampicin</a:t>
            </a:r>
            <a:r>
              <a:rPr dirty="0" sz="2800" lang="en-US" smtClean="0"/>
              <a:t> and isoniazid only.</a:t>
            </a:r>
          </a:p>
          <a:p>
            <a:r>
              <a:rPr dirty="0" sz="2800" lang="en-US" smtClean="0"/>
              <a:t> In both phases, supply is collected from the nearest government facility every 4 weekly.</a:t>
            </a:r>
          </a:p>
          <a:p>
            <a:pPr>
              <a:buNone/>
            </a:pPr>
            <a:r>
              <a:rPr b="1" dirty="0" sz="2800" lang="en-US" smtClean="0">
                <a:solidFill>
                  <a:srgbClr val="FF0000"/>
                </a:solidFill>
              </a:rPr>
              <a:t>NB:// </a:t>
            </a:r>
            <a:r>
              <a:rPr dirty="0" sz="2800" lang="en-US" smtClean="0"/>
              <a:t>Avoid use of </a:t>
            </a:r>
            <a:r>
              <a:rPr b="1" dirty="0" sz="2800" lang="en-US" smtClean="0"/>
              <a:t>streptomycin</a:t>
            </a:r>
            <a:r>
              <a:rPr dirty="0" sz="2800" lang="en-US" smtClean="0"/>
              <a:t> in pregnancy as it causes congenital deafness.</a:t>
            </a:r>
          </a:p>
          <a:p>
            <a:pPr>
              <a:buNone/>
            </a:pPr>
            <a:endParaRPr dirty="0" sz="2800" lang="en-US" smtClean="0"/>
          </a:p>
          <a:p>
            <a:endParaRPr b="1" dirty="0" sz="2800" lang="en-US" smtClean="0"/>
          </a:p>
          <a:p>
            <a:endParaRPr dirty="0" sz="2800" lang="en-US"/>
          </a:p>
        </p:txBody>
      </p:sp>
      <p:sp>
        <p:nvSpPr>
          <p:cNvPr id="104940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013" name=""/>
        <p:cNvGrpSpPr/>
        <p:nvPr/>
      </p:nvGrpSpPr>
      <p:grpSpPr>
        <a:xfrm>
          <a:off x="0" y="0"/>
          <a:ext cx="0" cy="0"/>
          <a:chOff x="0" y="0"/>
          <a:chExt cx="0" cy="0"/>
        </a:xfrm>
      </p:grpSpPr>
      <p:sp>
        <p:nvSpPr>
          <p:cNvPr id="1049404" name="Content Placeholder 2"/>
          <p:cNvSpPr>
            <a:spLocks noGrp="1"/>
          </p:cNvSpPr>
          <p:nvPr>
            <p:ph sz="quarter" idx="1"/>
          </p:nvPr>
        </p:nvSpPr>
        <p:spPr>
          <a:xfrm>
            <a:off x="762001" y="381000"/>
            <a:ext cx="10195559" cy="6172200"/>
          </a:xfrm>
        </p:spPr>
        <p:txBody>
          <a:bodyPr>
            <a:normAutofit/>
          </a:bodyPr>
          <a:p>
            <a:r>
              <a:rPr dirty="0" sz="2800" lang="en-US" smtClean="0"/>
              <a:t>Administer supportive treatment to control side effects PRN e.g. piriton 1 or 2 tablets every 8 hrly.</a:t>
            </a:r>
          </a:p>
          <a:p>
            <a:pPr>
              <a:buFont typeface="Wingdings" pitchFamily="2" charset="2"/>
              <a:buChar char="Ø"/>
            </a:pPr>
            <a:r>
              <a:rPr dirty="0" sz="2800" lang="en-US" smtClean="0"/>
              <a:t>Multivitamins to improve appetite.</a:t>
            </a:r>
          </a:p>
          <a:p>
            <a:r>
              <a:rPr dirty="0" sz="2800" lang="en-US" smtClean="0"/>
              <a:t>Share a health message on a well balanced diet and plenty of fluids.</a:t>
            </a:r>
          </a:p>
          <a:p>
            <a:r>
              <a:rPr dirty="0" sz="2800" lang="en-US" smtClean="0"/>
              <a:t>Those who are also HIV positive refer to CCC and continue with TB treatment.</a:t>
            </a:r>
          </a:p>
          <a:p>
            <a:pPr>
              <a:buNone/>
            </a:pPr>
            <a:r>
              <a:rPr b="1" dirty="0" sz="2800" lang="en-US" smtClean="0"/>
              <a:t>NB:  </a:t>
            </a:r>
            <a:r>
              <a:rPr dirty="0" sz="2800" lang="en-US" smtClean="0"/>
              <a:t>Administer </a:t>
            </a:r>
            <a:r>
              <a:rPr dirty="0" sz="2800" lang="en-US" err="1" smtClean="0"/>
              <a:t>cotrimoxazole</a:t>
            </a:r>
            <a:r>
              <a:rPr dirty="0" sz="2800" lang="en-US" smtClean="0"/>
              <a:t> prophylaxis for the co-infected to reduce mortality.</a:t>
            </a:r>
          </a:p>
          <a:p>
            <a:r>
              <a:rPr dirty="0" sz="2800" lang="en-US" smtClean="0"/>
              <a:t>Emphasize  on treatment compliance to prevent resistance.</a:t>
            </a:r>
          </a:p>
          <a:p>
            <a:endParaRPr dirty="0" sz="2800" lang="en-US"/>
          </a:p>
        </p:txBody>
      </p:sp>
      <p:sp>
        <p:nvSpPr>
          <p:cNvPr id="104940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014" name=""/>
        <p:cNvGrpSpPr/>
        <p:nvPr/>
      </p:nvGrpSpPr>
      <p:grpSpPr>
        <a:xfrm>
          <a:off x="0" y="0"/>
          <a:ext cx="0" cy="0"/>
          <a:chOff x="0" y="0"/>
          <a:chExt cx="0" cy="0"/>
        </a:xfrm>
      </p:grpSpPr>
      <p:sp>
        <p:nvSpPr>
          <p:cNvPr id="1049406" name="Content Placeholder 2"/>
          <p:cNvSpPr>
            <a:spLocks noGrp="1"/>
          </p:cNvSpPr>
          <p:nvPr>
            <p:ph sz="quarter" idx="1"/>
          </p:nvPr>
        </p:nvSpPr>
        <p:spPr>
          <a:xfrm>
            <a:off x="762001" y="381000"/>
            <a:ext cx="10195559" cy="5943600"/>
          </a:xfrm>
        </p:spPr>
        <p:txBody>
          <a:bodyPr>
            <a:noAutofit/>
          </a:bodyPr>
          <a:p>
            <a:pPr algn="just"/>
            <a:r>
              <a:rPr dirty="0" sz="3200" lang="en-US" smtClean="0"/>
              <a:t>Develop a system for supervision by liaising with CHWs to track and monitor treatment compliance.</a:t>
            </a:r>
          </a:p>
          <a:p>
            <a:pPr algn="just"/>
            <a:r>
              <a:rPr dirty="0" sz="3200" lang="en-US" smtClean="0"/>
              <a:t>Simultaneously advise the patient to have a treatment buddy who ensures that she has taken drugs as per prescription.</a:t>
            </a:r>
          </a:p>
          <a:p>
            <a:pPr algn="just"/>
            <a:r>
              <a:rPr dirty="0" sz="3200" lang="en-US" smtClean="0"/>
              <a:t>Encourage her to continue with ANC services and enquire  about TB treatment progress during every visit.</a:t>
            </a:r>
          </a:p>
          <a:p>
            <a:pPr algn="just"/>
            <a:r>
              <a:rPr dirty="0" sz="3200" lang="en-US" smtClean="0"/>
              <a:t>Emphasize on hospital delivery. </a:t>
            </a:r>
            <a:endParaRPr dirty="0" sz="3200" lang="en-US"/>
          </a:p>
        </p:txBody>
      </p:sp>
      <p:sp>
        <p:nvSpPr>
          <p:cNvPr id="104940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015" name=""/>
        <p:cNvGrpSpPr/>
        <p:nvPr/>
      </p:nvGrpSpPr>
      <p:grpSpPr>
        <a:xfrm>
          <a:off x="0" y="0"/>
          <a:ext cx="0" cy="0"/>
          <a:chOff x="0" y="0"/>
          <a:chExt cx="0" cy="0"/>
        </a:xfrm>
      </p:grpSpPr>
      <p:sp>
        <p:nvSpPr>
          <p:cNvPr id="1049408" name="Title 1"/>
          <p:cNvSpPr>
            <a:spLocks noGrp="1"/>
          </p:cNvSpPr>
          <p:nvPr>
            <p:ph type="title"/>
          </p:nvPr>
        </p:nvSpPr>
        <p:spPr/>
        <p:txBody>
          <a:bodyPr/>
          <a:p>
            <a:r>
              <a:rPr dirty="0" lang="en-US" smtClean="0"/>
              <a:t>	</a:t>
            </a:r>
            <a:r>
              <a:rPr b="1" dirty="0" lang="en-US" smtClean="0">
                <a:solidFill>
                  <a:srgbClr val="FF0000"/>
                </a:solidFill>
              </a:rPr>
              <a:t> Complications</a:t>
            </a:r>
            <a:endParaRPr dirty="0" lang="en-US"/>
          </a:p>
        </p:txBody>
      </p:sp>
      <p:sp>
        <p:nvSpPr>
          <p:cNvPr id="1049409" name="Content Placeholder 2"/>
          <p:cNvSpPr>
            <a:spLocks noGrp="1"/>
          </p:cNvSpPr>
          <p:nvPr>
            <p:ph sz="quarter" idx="1"/>
          </p:nvPr>
        </p:nvSpPr>
        <p:spPr>
          <a:xfrm>
            <a:off x="666750" y="1219200"/>
            <a:ext cx="10290809" cy="5257800"/>
          </a:xfrm>
        </p:spPr>
        <p:txBody>
          <a:bodyPr>
            <a:normAutofit/>
          </a:bodyPr>
          <a:p>
            <a:r>
              <a:rPr dirty="0" sz="2800" lang="en-US" smtClean="0"/>
              <a:t>Premature labour due  to fever.</a:t>
            </a:r>
          </a:p>
          <a:p>
            <a:r>
              <a:rPr dirty="0" sz="2800" lang="en-US" smtClean="0"/>
              <a:t>Low birth weight baby , because of poor appetite and preterm birth.</a:t>
            </a:r>
          </a:p>
          <a:p>
            <a:r>
              <a:rPr dirty="0" sz="2800" lang="en-US" smtClean="0"/>
              <a:t>Intrauterine fetal death,  due to advanced condition leading to severe anaemia, as well as severe congenital TB.</a:t>
            </a:r>
          </a:p>
          <a:p>
            <a:r>
              <a:rPr dirty="0" sz="2800" lang="en-US" smtClean="0"/>
              <a:t>Increased risk of neonatal mortality due to TB infection at birth or </a:t>
            </a:r>
            <a:r>
              <a:rPr dirty="0" sz="2800" lang="en-US" err="1" smtClean="0"/>
              <a:t>postnatally</a:t>
            </a:r>
            <a:r>
              <a:rPr dirty="0" sz="2800" lang="en-US" smtClean="0"/>
              <a:t>.</a:t>
            </a:r>
          </a:p>
          <a:p>
            <a:pPr>
              <a:buNone/>
            </a:pPr>
            <a:r>
              <a:rPr b="1" dirty="0" sz="2800" lang="en-US" smtClean="0">
                <a:solidFill>
                  <a:srgbClr val="FF0000"/>
                </a:solidFill>
              </a:rPr>
              <a:t>NB: </a:t>
            </a:r>
            <a:r>
              <a:rPr dirty="0" sz="2800" lang="en-US" smtClean="0"/>
              <a:t>Barrier methods are the preferred  artificial contraceptives, because </a:t>
            </a:r>
            <a:r>
              <a:rPr dirty="0" sz="2800" lang="en-US" err="1" smtClean="0"/>
              <a:t>rifampicin</a:t>
            </a:r>
            <a:r>
              <a:rPr dirty="0" sz="2800" lang="en-US" smtClean="0"/>
              <a:t> lowers efficacy of hormonal contraceptives.</a:t>
            </a:r>
            <a:endParaRPr dirty="0" sz="2800" lang="en-US"/>
          </a:p>
        </p:txBody>
      </p:sp>
      <p:sp>
        <p:nvSpPr>
          <p:cNvPr id="104941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016" name=""/>
        <p:cNvGrpSpPr/>
        <p:nvPr/>
      </p:nvGrpSpPr>
      <p:grpSpPr>
        <a:xfrm>
          <a:off x="0" y="0"/>
          <a:ext cx="0" cy="0"/>
          <a:chOff x="0" y="0"/>
          <a:chExt cx="0" cy="0"/>
        </a:xfrm>
      </p:grpSpPr>
      <p:sp>
        <p:nvSpPr>
          <p:cNvPr id="1049411" name="Title 1"/>
          <p:cNvSpPr>
            <a:spLocks noGrp="1"/>
          </p:cNvSpPr>
          <p:nvPr>
            <p:ph type="title"/>
          </p:nvPr>
        </p:nvSpPr>
        <p:spPr/>
        <p:txBody>
          <a:bodyPr>
            <a:noAutofit/>
          </a:bodyPr>
          <a:p>
            <a:r>
              <a:rPr b="1" dirty="0" sz="3600" lang="en-US" smtClean="0">
                <a:solidFill>
                  <a:srgbClr val="FF0000"/>
                </a:solidFill>
                <a:latin typeface="+mn-lt"/>
              </a:rPr>
              <a:t>Management Of An Exposed Neonate</a:t>
            </a:r>
            <a:endParaRPr dirty="0" sz="3600" lang="en-US">
              <a:latin typeface="+mn-lt"/>
            </a:endParaRPr>
          </a:p>
        </p:txBody>
      </p:sp>
      <p:sp>
        <p:nvSpPr>
          <p:cNvPr id="1049412" name="Content Placeholder 2"/>
          <p:cNvSpPr>
            <a:spLocks noGrp="1"/>
          </p:cNvSpPr>
          <p:nvPr>
            <p:ph sz="quarter" idx="1"/>
          </p:nvPr>
        </p:nvSpPr>
        <p:spPr>
          <a:xfrm>
            <a:off x="666750" y="1600200"/>
            <a:ext cx="10290809" cy="4800600"/>
          </a:xfrm>
        </p:spPr>
        <p:txBody>
          <a:bodyPr>
            <a:noAutofit/>
          </a:bodyPr>
          <a:p>
            <a:r>
              <a:rPr dirty="0" sz="3200" lang="en-US" smtClean="0"/>
              <a:t>For a smear positive mother , who has completed intensive treatment before due date, 2(two) sputum tests are already done before she delivers.</a:t>
            </a:r>
          </a:p>
          <a:p>
            <a:pPr>
              <a:buFont typeface="Wingdings" pitchFamily="2" charset="2"/>
              <a:buChar char="Ø"/>
            </a:pPr>
            <a:r>
              <a:rPr dirty="0" sz="3200" lang="en-US" smtClean="0"/>
              <a:t>If  negative just  before birth ,then she is regarded to be non-infectious hence her neonate receives BCG as usual.</a:t>
            </a:r>
          </a:p>
          <a:p>
            <a:pPr>
              <a:buFont typeface="Wingdings" pitchFamily="2" charset="2"/>
              <a:buChar char="Ø"/>
            </a:pPr>
            <a:r>
              <a:rPr dirty="0" sz="3200" lang="en-US" smtClean="0"/>
              <a:t>If smear positive,  baby is put on isoniazid 5 mg per kg daily for 3 months.</a:t>
            </a:r>
          </a:p>
        </p:txBody>
      </p:sp>
      <p:sp>
        <p:nvSpPr>
          <p:cNvPr id="104941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017" name=""/>
        <p:cNvGrpSpPr/>
        <p:nvPr/>
      </p:nvGrpSpPr>
      <p:grpSpPr>
        <a:xfrm>
          <a:off x="0" y="0"/>
          <a:ext cx="0" cy="0"/>
          <a:chOff x="0" y="0"/>
          <a:chExt cx="0" cy="0"/>
        </a:xfrm>
      </p:grpSpPr>
      <p:sp>
        <p:nvSpPr>
          <p:cNvPr id="1049414" name="Content Placeholder 2"/>
          <p:cNvSpPr>
            <a:spLocks noGrp="1"/>
          </p:cNvSpPr>
          <p:nvPr>
            <p:ph sz="quarter" idx="1"/>
          </p:nvPr>
        </p:nvSpPr>
        <p:spPr>
          <a:xfrm>
            <a:off x="666750" y="685800"/>
            <a:ext cx="10290809" cy="5638800"/>
          </a:xfrm>
        </p:spPr>
        <p:txBody>
          <a:bodyPr>
            <a:normAutofit/>
          </a:bodyPr>
          <a:p>
            <a:r>
              <a:rPr dirty="0" sz="3200" lang="en-US" smtClean="0"/>
              <a:t>In the course of this period, if mother turns out to be smear negative, </a:t>
            </a:r>
            <a:r>
              <a:rPr dirty="0" sz="3200" lang="en-US" err="1" smtClean="0"/>
              <a:t>mantoux</a:t>
            </a:r>
            <a:r>
              <a:rPr dirty="0" sz="3200" lang="en-US" smtClean="0"/>
              <a:t> test is done on the infant.</a:t>
            </a:r>
          </a:p>
          <a:p>
            <a:pPr>
              <a:buFont typeface="Wingdings" pitchFamily="2" charset="2"/>
              <a:buChar char="Ø"/>
            </a:pPr>
            <a:r>
              <a:rPr dirty="0" sz="3200" lang="en-US" smtClean="0"/>
              <a:t>Non-reactive, stop isoniazid and administer BCG  prophylactically  after 3 days.</a:t>
            </a:r>
          </a:p>
          <a:p>
            <a:pPr>
              <a:buFont typeface="Wingdings" pitchFamily="2" charset="2"/>
              <a:buChar char="Ø"/>
            </a:pPr>
            <a:r>
              <a:rPr dirty="0" sz="3200" lang="en-US" smtClean="0"/>
              <a:t>Reactive, continue  isoniazid  same dose and frequency for another 3(three) months.</a:t>
            </a:r>
          </a:p>
          <a:p>
            <a:endParaRPr dirty="0" lang="en-US" smtClean="0"/>
          </a:p>
          <a:p>
            <a:pPr lvl="6">
              <a:buNone/>
            </a:pPr>
            <a:r>
              <a:rPr b="1" cap="all" dirty="0" sz="8000" lang="en-US"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algn="bl" blurRad="12700" dir="5400000" dist="1000" endPos="45000" rotWithShape="0" stA="28000" sy="-100000"/>
                </a:effectLst>
              </a:rPr>
              <a:t>END</a:t>
            </a:r>
            <a:endParaRPr b="1" cap="all" dirty="0" sz="8000" lang="en-US">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algn="bl" blurRad="12700" dir="5400000" dist="1000" endPos="45000" rotWithShape="0" stA="28000" sy="-100000"/>
              </a:effectLst>
            </a:endParaRPr>
          </a:p>
        </p:txBody>
      </p:sp>
      <p:sp>
        <p:nvSpPr>
          <p:cNvPr id="104941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031" name=""/>
        <p:cNvGrpSpPr/>
        <p:nvPr/>
      </p:nvGrpSpPr>
      <p:grpSpPr>
        <a:xfrm>
          <a:off x="0" y="0"/>
          <a:ext cx="0" cy="0"/>
          <a:chOff x="0" y="0"/>
          <a:chExt cx="0" cy="0"/>
        </a:xfrm>
      </p:grpSpPr>
      <p:sp>
        <p:nvSpPr>
          <p:cNvPr id="1049432" name="Title 1"/>
          <p:cNvSpPr>
            <a:spLocks noGrp="1"/>
          </p:cNvSpPr>
          <p:nvPr>
            <p:ph type="ctrTitle"/>
          </p:nvPr>
        </p:nvSpPr>
        <p:spPr>
          <a:xfrm>
            <a:off x="285750" y="1066800"/>
            <a:ext cx="10858500" cy="2362200"/>
          </a:xfrm>
          <a:solidFill>
            <a:srgbClr val="00B0F0"/>
          </a:solidFill>
          <a:ln>
            <a:noFill/>
            <a:prstDash val="sysDot"/>
          </a:ln>
          <a:effectLst/>
          <a:scene3d>
            <a:camera prst="orthographicFront">
              <a:rot lat="0" lon="0" rev="0"/>
            </a:camera>
            <a:lightRig dir="t" rig="glow">
              <a:rot lat="0" lon="0" rev="14100000"/>
            </a:lightRig>
          </a:scene3d>
          <a:sp3d prstMaterial="softEdge">
            <a:bevelT w="127000" prst="artDeco"/>
          </a:sp3d>
        </p:spPr>
        <p:txBody>
          <a:bodyPr>
            <a:normAutofit/>
          </a:bodyPr>
          <a:p>
            <a:pPr algn="ctr"/>
            <a:r>
              <a:rPr b="1" dirty="0" sz="6600" lang="en-US"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bg1"/>
                </a:solidFill>
                <a:effectLst>
                  <a:outerShdw algn="tl" blurRad="41275" dir="12000000" dist="12700" rotWithShape="0">
                    <a:srgbClr val="000000">
                      <a:alpha val="40000"/>
                    </a:srgbClr>
                  </a:outerShdw>
                </a:effectLst>
                <a:latin typeface="Algerian" pitchFamily="82" charset="0"/>
              </a:rPr>
              <a:t>DIABETES  MELLITUS</a:t>
            </a:r>
            <a:endParaRPr b="1" dirty="0" sz="6600" lang="en-US">
              <a:ln w="31550" cmpd="sng">
                <a:gradFill>
                  <a:gsLst>
                    <a:gs pos="25000">
                      <a:schemeClr val="accent1">
                        <a:shade val="25000"/>
                        <a:satMod val="190000"/>
                      </a:schemeClr>
                    </a:gs>
                    <a:gs pos="80000">
                      <a:schemeClr val="accent1">
                        <a:tint val="75000"/>
                        <a:satMod val="190000"/>
                      </a:schemeClr>
                    </a:gs>
                  </a:gsLst>
                  <a:lin ang="5400000"/>
                </a:gradFill>
                <a:prstDash val="solid"/>
              </a:ln>
              <a:solidFill>
                <a:schemeClr val="bg1"/>
              </a:solidFill>
              <a:effectLst>
                <a:outerShdw algn="tl" blurRad="41275" dir="12000000" dist="12700" rotWithShape="0">
                  <a:srgbClr val="000000">
                    <a:alpha val="40000"/>
                  </a:srgbClr>
                </a:outerShdw>
              </a:effectLst>
              <a:latin typeface="Algerian" pitchFamily="82" charset="0"/>
            </a:endParaRPr>
          </a:p>
        </p:txBody>
      </p:sp>
    </p:spTree>
  </p:cSld>
  <p:clrMapOvr>
    <a:masterClrMapping/>
  </p:clrMapOvr>
  <p:transition xmlns:p14="http://schemas.microsoft.com/office/powerpoint/2010/main" spd="slow">
    <p:strips dir="ru"/>
  </p:transition>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033" name=""/>
        <p:cNvGrpSpPr/>
        <p:nvPr/>
      </p:nvGrpSpPr>
      <p:grpSpPr>
        <a:xfrm>
          <a:off x="0" y="0"/>
          <a:ext cx="0" cy="0"/>
          <a:chOff x="0" y="0"/>
          <a:chExt cx="0" cy="0"/>
        </a:xfrm>
      </p:grpSpPr>
      <p:sp>
        <p:nvSpPr>
          <p:cNvPr id="1049438" name="Title 1"/>
          <p:cNvSpPr>
            <a:spLocks noGrp="1"/>
          </p:cNvSpPr>
          <p:nvPr>
            <p:ph type="title"/>
          </p:nvPr>
        </p:nvSpPr>
        <p:spPr/>
        <p:txBody>
          <a:bodyPr>
            <a:normAutofit fontScale="90000"/>
          </a:bodyPr>
          <a:p>
            <a:r>
              <a:rPr dirty="0" lang="en-US" smtClean="0"/>
              <a:t/>
            </a:r>
            <a:br>
              <a:rPr dirty="0" lang="en-US" smtClean="0"/>
            </a:br>
            <a:r>
              <a:rPr b="1" dirty="0" lang="en-US" smtClean="0">
                <a:solidFill>
                  <a:schemeClr val="tx2">
                    <a:lumMod val="50000"/>
                  </a:schemeClr>
                </a:solidFill>
              </a:rPr>
              <a:t>DEFINITION</a:t>
            </a:r>
            <a:r>
              <a:rPr dirty="0" lang="en-US" smtClean="0"/>
              <a:t/>
            </a:r>
            <a:br>
              <a:rPr dirty="0" lang="en-US" smtClean="0"/>
            </a:br>
            <a:endParaRPr dirty="0" lang="en-US"/>
          </a:p>
        </p:txBody>
      </p:sp>
      <p:sp>
        <p:nvSpPr>
          <p:cNvPr id="1049439" name="Content Placeholder 2"/>
          <p:cNvSpPr>
            <a:spLocks noGrp="1"/>
          </p:cNvSpPr>
          <p:nvPr>
            <p:ph sz="quarter" idx="1"/>
          </p:nvPr>
        </p:nvSpPr>
        <p:spPr>
          <a:xfrm>
            <a:off x="285750" y="1371600"/>
            <a:ext cx="10572750" cy="5029200"/>
          </a:xfrm>
        </p:spPr>
        <p:txBody>
          <a:bodyPr/>
          <a:p>
            <a:r>
              <a:rPr dirty="0" sz="3600" lang="en-US" smtClean="0"/>
              <a:t>It’s a group of metabolic diseases characterised by </a:t>
            </a:r>
            <a:r>
              <a:rPr dirty="0" sz="3600" lang="en-US" err="1" smtClean="0"/>
              <a:t>hyperglycaemia</a:t>
            </a:r>
            <a:r>
              <a:rPr dirty="0" sz="3600" lang="en-US" smtClean="0"/>
              <a:t> &amp; </a:t>
            </a:r>
            <a:r>
              <a:rPr dirty="0" sz="3600" lang="en-US" err="1" smtClean="0"/>
              <a:t>glycosuria</a:t>
            </a:r>
            <a:r>
              <a:rPr dirty="0" sz="3600" lang="en-US" smtClean="0"/>
              <a:t> due to abnormalities in insulin secretion , insulin  action or both .</a:t>
            </a:r>
          </a:p>
          <a:p>
            <a:pPr>
              <a:buNone/>
            </a:pPr>
            <a:r>
              <a:rPr dirty="0" sz="3600" lang="en-US" smtClean="0"/>
              <a:t>		</a:t>
            </a:r>
            <a:r>
              <a:rPr b="1" dirty="0" sz="3600" lang="en-US" smtClean="0">
                <a:solidFill>
                  <a:srgbClr val="E828B6"/>
                </a:solidFill>
              </a:rPr>
              <a:t>NB</a:t>
            </a:r>
          </a:p>
          <a:p>
            <a:pPr>
              <a:buNone/>
            </a:pPr>
            <a:r>
              <a:rPr dirty="0" sz="3600" lang="en-US" smtClean="0"/>
              <a:t>Entry of glucose into adipose tissues and muscle cells  to be used for energy is inhibited.</a:t>
            </a:r>
            <a:endParaRPr dirty="0" sz="3600" lang="en-US"/>
          </a:p>
        </p:txBody>
      </p:sp>
      <p:sp>
        <p:nvSpPr>
          <p:cNvPr id="104944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034" name=""/>
        <p:cNvGrpSpPr/>
        <p:nvPr/>
      </p:nvGrpSpPr>
      <p:grpSpPr>
        <a:xfrm>
          <a:off x="0" y="0"/>
          <a:ext cx="0" cy="0"/>
          <a:chOff x="0" y="0"/>
          <a:chExt cx="0" cy="0"/>
        </a:xfrm>
      </p:grpSpPr>
      <p:sp>
        <p:nvSpPr>
          <p:cNvPr id="1049441" name="Title 1"/>
          <p:cNvSpPr>
            <a:spLocks noGrp="1"/>
          </p:cNvSpPr>
          <p:nvPr>
            <p:ph type="title"/>
          </p:nvPr>
        </p:nvSpPr>
        <p:spPr/>
        <p:txBody>
          <a:bodyPr/>
          <a:p>
            <a:r>
              <a:rPr b="1" dirty="0" lang="en-US" smtClean="0">
                <a:solidFill>
                  <a:schemeClr val="tx2">
                    <a:lumMod val="50000"/>
                  </a:schemeClr>
                </a:solidFill>
              </a:rPr>
              <a:t>INCIDENCE</a:t>
            </a:r>
            <a:endParaRPr b="1" dirty="0" lang="en-US">
              <a:solidFill>
                <a:schemeClr val="tx2">
                  <a:lumMod val="50000"/>
                </a:schemeClr>
              </a:solidFill>
            </a:endParaRPr>
          </a:p>
        </p:txBody>
      </p:sp>
      <p:sp>
        <p:nvSpPr>
          <p:cNvPr id="1049442" name="Content Placeholder 2"/>
          <p:cNvSpPr>
            <a:spLocks noGrp="1"/>
          </p:cNvSpPr>
          <p:nvPr>
            <p:ph sz="quarter" idx="1"/>
          </p:nvPr>
        </p:nvSpPr>
        <p:spPr>
          <a:xfrm>
            <a:off x="285750" y="1295400"/>
            <a:ext cx="10858500" cy="5334000"/>
          </a:xfrm>
        </p:spPr>
        <p:txBody>
          <a:bodyPr>
            <a:normAutofit/>
          </a:bodyPr>
          <a:p>
            <a:pPr algn="just">
              <a:buFont typeface="Wingdings" pitchFamily="2" charset="2"/>
              <a:buChar char="v"/>
            </a:pPr>
            <a:r>
              <a:rPr dirty="0" lang="en-US" smtClean="0"/>
              <a:t>Refers to factors that increases the chances of procreation among the already known DM.</a:t>
            </a:r>
          </a:p>
          <a:p>
            <a:pPr algn="just"/>
            <a:r>
              <a:rPr dirty="0" lang="en-US" smtClean="0"/>
              <a:t>Introduction of synthetic insulin.</a:t>
            </a:r>
          </a:p>
          <a:p>
            <a:pPr algn="just"/>
            <a:r>
              <a:rPr dirty="0" lang="en-US" smtClean="0"/>
              <a:t>Improved fertility measures in terms of diet &amp; hormonal therapy.</a:t>
            </a:r>
          </a:p>
          <a:p>
            <a:pPr algn="just"/>
            <a:r>
              <a:rPr dirty="0" lang="en-US" smtClean="0"/>
              <a:t>Advancement in the diagnostic technique, hence early diagnosis and proper control of the condition</a:t>
            </a:r>
          </a:p>
          <a:p>
            <a:pPr algn="just"/>
            <a:r>
              <a:rPr dirty="0" lang="en-US" smtClean="0"/>
              <a:t>Public awareness and acceptance of the condition, leading to early seeking of medical attention.</a:t>
            </a:r>
          </a:p>
          <a:p>
            <a:pPr algn="just"/>
            <a:endParaRPr dirty="0" lang="en-US"/>
          </a:p>
        </p:txBody>
      </p:sp>
      <p:sp>
        <p:nvSpPr>
          <p:cNvPr id="104944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035" name=""/>
        <p:cNvGrpSpPr/>
        <p:nvPr/>
      </p:nvGrpSpPr>
      <p:grpSpPr>
        <a:xfrm>
          <a:off x="0" y="0"/>
          <a:ext cx="0" cy="0"/>
          <a:chOff x="0" y="0"/>
          <a:chExt cx="0" cy="0"/>
        </a:xfrm>
      </p:grpSpPr>
      <p:sp>
        <p:nvSpPr>
          <p:cNvPr id="1049444" name="Title 1"/>
          <p:cNvSpPr>
            <a:spLocks noGrp="1"/>
          </p:cNvSpPr>
          <p:nvPr>
            <p:ph type="title"/>
          </p:nvPr>
        </p:nvSpPr>
        <p:spPr/>
        <p:txBody>
          <a:bodyPr/>
          <a:p>
            <a:r>
              <a:rPr b="1" dirty="0" lang="en-US" smtClean="0">
                <a:solidFill>
                  <a:srgbClr val="00B0F0"/>
                </a:solidFill>
              </a:rPr>
              <a:t>Carbohydrate Metabolism</a:t>
            </a:r>
            <a:endParaRPr b="1" dirty="0" lang="en-US">
              <a:solidFill>
                <a:srgbClr val="00B0F0"/>
              </a:solidFill>
            </a:endParaRPr>
          </a:p>
        </p:txBody>
      </p:sp>
      <p:sp>
        <p:nvSpPr>
          <p:cNvPr id="1049445" name="Content Placeholder 2"/>
          <p:cNvSpPr>
            <a:spLocks noGrp="1"/>
          </p:cNvSpPr>
          <p:nvPr>
            <p:ph sz="quarter" idx="1"/>
          </p:nvPr>
        </p:nvSpPr>
        <p:spPr>
          <a:xfrm>
            <a:off x="285750" y="1447800"/>
            <a:ext cx="10572750" cy="4876800"/>
          </a:xfrm>
        </p:spPr>
        <p:txBody>
          <a:bodyPr>
            <a:normAutofit/>
          </a:bodyPr>
          <a:p>
            <a:pPr algn="just"/>
            <a:r>
              <a:rPr dirty="0" lang="en-US" smtClean="0"/>
              <a:t>High levels of progesterone,  oestrogen and </a:t>
            </a:r>
            <a:r>
              <a:rPr dirty="0" lang="en-US" err="1" smtClean="0"/>
              <a:t>prolactin</a:t>
            </a:r>
            <a:r>
              <a:rPr dirty="0" lang="en-US" smtClean="0"/>
              <a:t> hormones leads to increase of insulin production.</a:t>
            </a:r>
          </a:p>
          <a:p>
            <a:pPr algn="just"/>
            <a:r>
              <a:rPr dirty="0" lang="en-US" smtClean="0"/>
              <a:t>By the 3</a:t>
            </a:r>
            <a:r>
              <a:rPr baseline="30000" dirty="0" lang="en-US" smtClean="0"/>
              <a:t>rd</a:t>
            </a:r>
            <a:r>
              <a:rPr dirty="0" lang="en-US" smtClean="0"/>
              <a:t> trimester </a:t>
            </a:r>
            <a:r>
              <a:rPr dirty="0" lang="en-US" err="1" smtClean="0"/>
              <a:t>hyperinsulinaemia</a:t>
            </a:r>
            <a:r>
              <a:rPr dirty="0" lang="en-US" smtClean="0"/>
              <a:t> is obvious , since beta pancreatic cells functions has increased with more than 50% .</a:t>
            </a:r>
          </a:p>
          <a:p>
            <a:pPr algn="just"/>
            <a:r>
              <a:rPr dirty="0" lang="en-US" smtClean="0"/>
              <a:t>Simultaneously, human placental </a:t>
            </a:r>
            <a:r>
              <a:rPr dirty="0" lang="en-US" err="1" smtClean="0"/>
              <a:t>lactogen</a:t>
            </a:r>
            <a:r>
              <a:rPr dirty="0" lang="en-US" smtClean="0"/>
              <a:t> and </a:t>
            </a:r>
            <a:r>
              <a:rPr dirty="0" lang="en-US" err="1" smtClean="0"/>
              <a:t>cortisol</a:t>
            </a:r>
            <a:r>
              <a:rPr dirty="0" lang="en-US" smtClean="0"/>
              <a:t> levels increases </a:t>
            </a:r>
            <a:r>
              <a:rPr dirty="0" lang="en-US" err="1" smtClean="0"/>
              <a:t>gradually,hence</a:t>
            </a:r>
            <a:r>
              <a:rPr dirty="0" lang="en-US" smtClean="0"/>
              <a:t> they act as insulin antagonists.</a:t>
            </a:r>
          </a:p>
          <a:p>
            <a:pPr algn="just">
              <a:buFont typeface="Wingdings" pitchFamily="2" charset="2"/>
              <a:buChar char="Ø"/>
            </a:pPr>
            <a:r>
              <a:rPr dirty="0" lang="en-US" smtClean="0"/>
              <a:t>So, she develops insulin resistance, such that her tissues don’t uptake glucose as expected.</a:t>
            </a:r>
            <a:endParaRPr dirty="0" lang="en-US"/>
          </a:p>
        </p:txBody>
      </p:sp>
      <p:sp>
        <p:nvSpPr>
          <p:cNvPr id="104944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036" name=""/>
        <p:cNvGrpSpPr/>
        <p:nvPr/>
      </p:nvGrpSpPr>
      <p:grpSpPr>
        <a:xfrm>
          <a:off x="0" y="0"/>
          <a:ext cx="0" cy="0"/>
          <a:chOff x="0" y="0"/>
          <a:chExt cx="0" cy="0"/>
        </a:xfrm>
      </p:grpSpPr>
      <p:sp>
        <p:nvSpPr>
          <p:cNvPr id="1049447" name="Content Placeholder 2"/>
          <p:cNvSpPr>
            <a:spLocks noGrp="1"/>
          </p:cNvSpPr>
          <p:nvPr>
            <p:ph sz="quarter" idx="1"/>
          </p:nvPr>
        </p:nvSpPr>
        <p:spPr>
          <a:xfrm>
            <a:off x="476250" y="1447809"/>
            <a:ext cx="10382250" cy="4683125"/>
          </a:xfrm>
        </p:spPr>
        <p:txBody>
          <a:bodyPr>
            <a:normAutofit/>
          </a:bodyPr>
          <a:p>
            <a:pPr algn="just">
              <a:buNone/>
            </a:pPr>
            <a:r>
              <a:rPr b="1" dirty="0" sz="3400" lang="en-US" smtClean="0">
                <a:solidFill>
                  <a:srgbClr val="E828B6"/>
                </a:solidFill>
                <a:latin typeface="Calibri" pitchFamily="34" charset="0"/>
              </a:rPr>
              <a:t>NB: </a:t>
            </a:r>
            <a:r>
              <a:rPr dirty="0" sz="3400" lang="en-US" smtClean="0">
                <a:latin typeface="Calibri" pitchFamily="34" charset="0"/>
              </a:rPr>
              <a:t>The insulin antagonism is a glucose sparing mechanism to benefit the fetus.</a:t>
            </a:r>
          </a:p>
          <a:p>
            <a:pPr algn="just"/>
            <a:r>
              <a:rPr dirty="0" sz="3400" lang="en-US" smtClean="0">
                <a:latin typeface="Calibri" pitchFamily="34" charset="0"/>
              </a:rPr>
              <a:t>Finally large amounts of glucose crosses over to the fetal circulation through simple diffusion</a:t>
            </a:r>
          </a:p>
          <a:p>
            <a:pPr algn="just">
              <a:buNone/>
            </a:pPr>
            <a:r>
              <a:rPr dirty="0" sz="3400" lang="en-US" smtClean="0">
                <a:latin typeface="Calibri" pitchFamily="34" charset="0"/>
              </a:rPr>
              <a:t>			</a:t>
            </a:r>
            <a:r>
              <a:rPr b="1" dirty="0" sz="3400" lang="en-US" smtClean="0">
                <a:solidFill>
                  <a:srgbClr val="E828B6"/>
                </a:solidFill>
                <a:latin typeface="Calibri" pitchFamily="34" charset="0"/>
              </a:rPr>
              <a:t>OUTCOMES</a:t>
            </a:r>
          </a:p>
          <a:p>
            <a:pPr algn="just"/>
            <a:r>
              <a:rPr dirty="0" sz="3400" lang="en-US" smtClean="0">
                <a:effectLst/>
                <a:latin typeface="Calibri" pitchFamily="34" charset="0"/>
              </a:rPr>
              <a:t>That client whose pancreatic beta cells copes with the extra demand ,  doesn’t develop diabetes.</a:t>
            </a:r>
          </a:p>
          <a:p>
            <a:pPr algn="just">
              <a:buFont typeface="Wingdings" pitchFamily="2" charset="2"/>
              <a:buChar char="Ø"/>
            </a:pPr>
            <a:endParaRPr dirty="0" sz="3400" lang="en-US">
              <a:latin typeface="Calibri" pitchFamily="34" charset="0"/>
            </a:endParaRPr>
          </a:p>
        </p:txBody>
      </p:sp>
      <p:sp>
        <p:nvSpPr>
          <p:cNvPr id="104944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037" name=""/>
        <p:cNvGrpSpPr/>
        <p:nvPr/>
      </p:nvGrpSpPr>
      <p:grpSpPr>
        <a:xfrm>
          <a:off x="0" y="0"/>
          <a:ext cx="0" cy="0"/>
          <a:chOff x="0" y="0"/>
          <a:chExt cx="0" cy="0"/>
        </a:xfrm>
      </p:grpSpPr>
      <p:sp>
        <p:nvSpPr>
          <p:cNvPr id="1049449" name="Content Placeholder 2"/>
          <p:cNvSpPr>
            <a:spLocks noGrp="1"/>
          </p:cNvSpPr>
          <p:nvPr>
            <p:ph sz="quarter" idx="1"/>
          </p:nvPr>
        </p:nvSpPr>
        <p:spPr>
          <a:xfrm>
            <a:off x="285751" y="1600200"/>
            <a:ext cx="10671809" cy="4495800"/>
          </a:xfrm>
        </p:spPr>
        <p:txBody>
          <a:bodyPr>
            <a:normAutofit/>
          </a:bodyPr>
          <a:p>
            <a:pPr algn="just"/>
            <a:r>
              <a:rPr dirty="0" lang="en-US" smtClean="0">
                <a:latin typeface="Calibri" pitchFamily="34" charset="0"/>
              </a:rPr>
              <a:t>That whose insulin production ability is just enough in non-pregnancy state , the extra demand precipitates to </a:t>
            </a:r>
            <a:r>
              <a:rPr b="1" dirty="0" lang="en-US" smtClean="0">
                <a:latin typeface="Calibri" pitchFamily="34" charset="0"/>
              </a:rPr>
              <a:t>gestational diabetes.</a:t>
            </a:r>
            <a:endParaRPr dirty="0" lang="en-US" smtClean="0">
              <a:effectLst/>
              <a:latin typeface="Calibri" pitchFamily="34" charset="0"/>
            </a:endParaRPr>
          </a:p>
          <a:p>
            <a:pPr algn="just"/>
            <a:r>
              <a:rPr dirty="0" lang="en-US" smtClean="0">
                <a:effectLst/>
                <a:latin typeface="Calibri" pitchFamily="34" charset="0"/>
              </a:rPr>
              <a:t>For a known diabetic ,insulin requirements automatically increases.</a:t>
            </a:r>
          </a:p>
          <a:p>
            <a:pPr algn="just"/>
            <a:r>
              <a:rPr dirty="0" lang="en-US" smtClean="0">
                <a:effectLst/>
                <a:latin typeface="Calibri" pitchFamily="34" charset="0"/>
              </a:rPr>
              <a:t>If the control is not well maintained in the 3</a:t>
            </a:r>
            <a:r>
              <a:rPr baseline="30000" dirty="0" lang="en-US" smtClean="0">
                <a:effectLst/>
                <a:latin typeface="Calibri" pitchFamily="34" charset="0"/>
              </a:rPr>
              <a:t>rd</a:t>
            </a:r>
            <a:r>
              <a:rPr dirty="0" lang="en-US" smtClean="0">
                <a:effectLst/>
                <a:latin typeface="Calibri" pitchFamily="34" charset="0"/>
              </a:rPr>
              <a:t> trimester, she is at high risk of developing ketosis , as her body </a:t>
            </a:r>
            <a:r>
              <a:rPr dirty="0" lang="en-US" err="1" smtClean="0">
                <a:effectLst/>
                <a:latin typeface="Calibri" pitchFamily="34" charset="0"/>
              </a:rPr>
              <a:t>metabolises</a:t>
            </a:r>
            <a:r>
              <a:rPr dirty="0" lang="en-US" smtClean="0">
                <a:effectLst/>
                <a:latin typeface="Calibri" pitchFamily="34" charset="0"/>
              </a:rPr>
              <a:t> fat to provide energy. </a:t>
            </a:r>
            <a:endParaRPr dirty="0" lang="en-US">
              <a:effectLst/>
              <a:latin typeface="Calibri" pitchFamily="34" charset="0"/>
            </a:endParaRPr>
          </a:p>
        </p:txBody>
      </p:sp>
      <p:sp>
        <p:nvSpPr>
          <p:cNvPr id="104945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038" name=""/>
        <p:cNvGrpSpPr/>
        <p:nvPr/>
      </p:nvGrpSpPr>
      <p:grpSpPr>
        <a:xfrm>
          <a:off x="0" y="0"/>
          <a:ext cx="0" cy="0"/>
          <a:chOff x="0" y="0"/>
          <a:chExt cx="0" cy="0"/>
        </a:xfrm>
      </p:grpSpPr>
      <p:sp>
        <p:nvSpPr>
          <p:cNvPr id="1049451" name="Title 1"/>
          <p:cNvSpPr>
            <a:spLocks noGrp="1"/>
          </p:cNvSpPr>
          <p:nvPr>
            <p:ph type="title"/>
          </p:nvPr>
        </p:nvSpPr>
        <p:spPr/>
        <p:txBody>
          <a:bodyPr/>
          <a:p>
            <a:r>
              <a:rPr b="1" dirty="0" lang="en-US" smtClean="0">
                <a:solidFill>
                  <a:srgbClr val="7030A0"/>
                </a:solidFill>
              </a:rPr>
              <a:t>CLASSIFICATION</a:t>
            </a:r>
            <a:endParaRPr b="1" dirty="0" lang="en-US">
              <a:solidFill>
                <a:srgbClr val="7030A0"/>
              </a:solidFill>
            </a:endParaRPr>
          </a:p>
        </p:txBody>
      </p:sp>
      <p:sp>
        <p:nvSpPr>
          <p:cNvPr id="1049452" name="Content Placeholder 2"/>
          <p:cNvSpPr>
            <a:spLocks noGrp="1"/>
          </p:cNvSpPr>
          <p:nvPr>
            <p:ph sz="quarter" idx="1"/>
          </p:nvPr>
        </p:nvSpPr>
        <p:spPr>
          <a:xfrm>
            <a:off x="285750" y="1524000"/>
            <a:ext cx="10858500" cy="4724400"/>
          </a:xfrm>
        </p:spPr>
        <p:txBody>
          <a:bodyPr>
            <a:noAutofit/>
          </a:bodyPr>
          <a:p>
            <a:pPr>
              <a:buNone/>
            </a:pPr>
            <a:r>
              <a:rPr dirty="0" sz="2800" lang="en-US" smtClean="0">
                <a:latin typeface="Calibri" pitchFamily="34" charset="0"/>
              </a:rPr>
              <a:t> 	</a:t>
            </a:r>
            <a:r>
              <a:rPr b="1" dirty="0" sz="2800" lang="en-US" u="sng" smtClean="0">
                <a:solidFill>
                  <a:srgbClr val="09B709"/>
                </a:solidFill>
                <a:latin typeface="Calibri" pitchFamily="34" charset="0"/>
              </a:rPr>
              <a:t>I.</a:t>
            </a:r>
            <a:r>
              <a:rPr b="1" dirty="0" sz="2800" lang="en-US" u="sng" smtClean="0">
                <a:solidFill>
                  <a:srgbClr val="00B050"/>
                </a:solidFill>
                <a:latin typeface="Calibri" pitchFamily="34" charset="0"/>
              </a:rPr>
              <a:t>GENERAL</a:t>
            </a:r>
            <a:r>
              <a:rPr b="1" dirty="0" sz="2800" lang="en-US" smtClean="0">
                <a:solidFill>
                  <a:srgbClr val="00B050"/>
                </a:solidFill>
                <a:latin typeface="Calibri" pitchFamily="34" charset="0"/>
              </a:rPr>
              <a:t>  </a:t>
            </a:r>
            <a:r>
              <a:rPr dirty="0" sz="2800" lang="en-US" smtClean="0">
                <a:latin typeface="Calibri" pitchFamily="34" charset="0"/>
              </a:rPr>
              <a:t>, based on the cause </a:t>
            </a:r>
          </a:p>
          <a:p>
            <a:pPr>
              <a:buNone/>
            </a:pPr>
            <a:r>
              <a:rPr dirty="0" sz="2800" lang="en-US" smtClean="0">
                <a:latin typeface="Calibri" pitchFamily="34" charset="0"/>
              </a:rPr>
              <a:t>	</a:t>
            </a:r>
            <a:r>
              <a:rPr b="1" dirty="0" sz="2800" lang="en-US" smtClean="0">
                <a:solidFill>
                  <a:srgbClr val="00B0F0"/>
                </a:solidFill>
                <a:latin typeface="Calibri" pitchFamily="34" charset="0"/>
              </a:rPr>
              <a:t>1 Primary DM</a:t>
            </a:r>
          </a:p>
          <a:p>
            <a:r>
              <a:rPr dirty="0" sz="2800" lang="en-US" smtClean="0">
                <a:latin typeface="Calibri" pitchFamily="34" charset="0"/>
              </a:rPr>
              <a:t>Caused by abnormalities of the </a:t>
            </a:r>
            <a:r>
              <a:rPr dirty="0" sz="2800" lang="en-US" err="1" smtClean="0">
                <a:latin typeface="Calibri" pitchFamily="34" charset="0"/>
              </a:rPr>
              <a:t>pancrease</a:t>
            </a:r>
            <a:r>
              <a:rPr dirty="0" sz="2800" lang="en-US" smtClean="0">
                <a:latin typeface="Calibri" pitchFamily="34" charset="0"/>
              </a:rPr>
              <a:t>  leading to type 1(one) DM.</a:t>
            </a:r>
          </a:p>
          <a:p>
            <a:pPr>
              <a:buNone/>
            </a:pPr>
            <a:r>
              <a:rPr dirty="0" sz="2800" lang="en-US" smtClean="0">
                <a:latin typeface="Calibri" pitchFamily="34" charset="0"/>
              </a:rPr>
              <a:t>	</a:t>
            </a:r>
            <a:r>
              <a:rPr b="1" dirty="0" sz="2800" lang="en-US" smtClean="0">
                <a:solidFill>
                  <a:srgbClr val="00B0F0"/>
                </a:solidFill>
                <a:latin typeface="Calibri" pitchFamily="34" charset="0"/>
              </a:rPr>
              <a:t>2 Secondary DM</a:t>
            </a:r>
          </a:p>
          <a:p>
            <a:r>
              <a:rPr dirty="0" sz="2800" lang="en-US" smtClean="0">
                <a:latin typeface="Calibri" pitchFamily="34" charset="0"/>
              </a:rPr>
              <a:t>Occurs later in life due to either infection  or tumour of the </a:t>
            </a:r>
            <a:r>
              <a:rPr dirty="0" sz="2800" lang="en-US" err="1" smtClean="0">
                <a:latin typeface="Calibri" pitchFamily="34" charset="0"/>
              </a:rPr>
              <a:t>pancrease</a:t>
            </a:r>
            <a:r>
              <a:rPr dirty="0" sz="2800" lang="en-US" smtClean="0">
                <a:latin typeface="Calibri" pitchFamily="34" charset="0"/>
              </a:rPr>
              <a:t> , or extra demands prenatally.</a:t>
            </a:r>
          </a:p>
          <a:p>
            <a:pPr>
              <a:buFont typeface="Wingdings" pitchFamily="2" charset="2"/>
              <a:buChar char="Ø"/>
            </a:pPr>
            <a:r>
              <a:rPr dirty="0" sz="2800" lang="en-US" smtClean="0">
                <a:latin typeface="Calibri" pitchFamily="34" charset="0"/>
              </a:rPr>
              <a:t>Infection could be secondary to treatment of another condition.</a:t>
            </a:r>
          </a:p>
          <a:p>
            <a:pPr>
              <a:buFont typeface="Wingdings" pitchFamily="2" charset="2"/>
              <a:buChar char="Ø"/>
            </a:pPr>
            <a:r>
              <a:rPr dirty="0" sz="2800" lang="en-US" smtClean="0">
                <a:latin typeface="Calibri" pitchFamily="34" charset="0"/>
              </a:rPr>
              <a:t>Any of these leads to interference with islets of </a:t>
            </a:r>
            <a:r>
              <a:rPr dirty="0" sz="2800" lang="en-US" err="1" smtClean="0">
                <a:latin typeface="Calibri" pitchFamily="34" charset="0"/>
              </a:rPr>
              <a:t>langerhan’s</a:t>
            </a:r>
            <a:r>
              <a:rPr dirty="0" sz="2800" lang="en-US" smtClean="0">
                <a:latin typeface="Calibri" pitchFamily="34" charset="0"/>
              </a:rPr>
              <a:t>   function.   </a:t>
            </a:r>
            <a:endParaRPr dirty="0" sz="2800" lang="en-US">
              <a:latin typeface="Calibri" pitchFamily="34" charset="0"/>
            </a:endParaRPr>
          </a:p>
        </p:txBody>
      </p:sp>
      <p:sp>
        <p:nvSpPr>
          <p:cNvPr id="104945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039" name=""/>
        <p:cNvGrpSpPr/>
        <p:nvPr/>
      </p:nvGrpSpPr>
      <p:grpSpPr>
        <a:xfrm>
          <a:off x="0" y="0"/>
          <a:ext cx="0" cy="0"/>
          <a:chOff x="0" y="0"/>
          <a:chExt cx="0" cy="0"/>
        </a:xfrm>
      </p:grpSpPr>
      <p:sp>
        <p:nvSpPr>
          <p:cNvPr id="1049454" name="Title 1"/>
          <p:cNvSpPr>
            <a:spLocks noGrp="1"/>
          </p:cNvSpPr>
          <p:nvPr>
            <p:ph type="title"/>
          </p:nvPr>
        </p:nvSpPr>
        <p:spPr/>
        <p:txBody>
          <a:bodyPr/>
          <a:p>
            <a:r>
              <a:rPr b="1" dirty="0" lang="en-US" smtClean="0">
                <a:solidFill>
                  <a:srgbClr val="00B050"/>
                </a:solidFill>
              </a:rPr>
              <a:t>II .SPECIFIC</a:t>
            </a:r>
            <a:endParaRPr dirty="0" lang="en-US"/>
          </a:p>
        </p:txBody>
      </p:sp>
      <p:sp>
        <p:nvSpPr>
          <p:cNvPr id="1049455" name="Content Placeholder 2"/>
          <p:cNvSpPr>
            <a:spLocks noGrp="1"/>
          </p:cNvSpPr>
          <p:nvPr>
            <p:ph sz="quarter" idx="1"/>
          </p:nvPr>
        </p:nvSpPr>
        <p:spPr>
          <a:xfrm>
            <a:off x="285750" y="1447800"/>
            <a:ext cx="10763250" cy="5181600"/>
          </a:xfrm>
        </p:spPr>
        <p:txBody>
          <a:bodyPr>
            <a:normAutofit lnSpcReduction="10000"/>
          </a:bodyPr>
          <a:p>
            <a:pPr>
              <a:buNone/>
            </a:pPr>
            <a:r>
              <a:rPr dirty="0" lang="en-US" smtClean="0">
                <a:effectLst/>
              </a:rPr>
              <a:t>	Based on it’s nature .</a:t>
            </a:r>
          </a:p>
          <a:p>
            <a:r>
              <a:rPr b="1" dirty="0" lang="en-US" smtClean="0">
                <a:solidFill>
                  <a:srgbClr val="00B0F0"/>
                </a:solidFill>
                <a:effectLst/>
              </a:rPr>
              <a:t>Potential DM</a:t>
            </a:r>
          </a:p>
          <a:p>
            <a:pPr>
              <a:buNone/>
            </a:pPr>
            <a:r>
              <a:rPr dirty="0" lang="en-US" smtClean="0">
                <a:effectLst/>
              </a:rPr>
              <a:t>  Refers  to those mothers who are likely to develop diabetes at a certain point in their life based on :</a:t>
            </a:r>
          </a:p>
          <a:p>
            <a:pPr>
              <a:buFont typeface="Wingdings" pitchFamily="2" charset="2"/>
              <a:buChar char="Ø"/>
            </a:pPr>
            <a:r>
              <a:rPr dirty="0" lang="en-US" smtClean="0">
                <a:effectLst/>
              </a:rPr>
              <a:t>Obesity ; body mass index greater than 30.</a:t>
            </a:r>
          </a:p>
          <a:p>
            <a:pPr>
              <a:buFont typeface="Wingdings" pitchFamily="2" charset="2"/>
              <a:buChar char="Ø"/>
            </a:pPr>
            <a:r>
              <a:rPr dirty="0" lang="en-US" smtClean="0">
                <a:effectLst/>
              </a:rPr>
              <a:t>Strong family H/o DM = parents/ siblings.</a:t>
            </a:r>
          </a:p>
          <a:p>
            <a:pPr>
              <a:buFont typeface="Wingdings" pitchFamily="2" charset="2"/>
              <a:buChar char="Ø"/>
            </a:pPr>
            <a:r>
              <a:rPr dirty="0" lang="en-US" smtClean="0">
                <a:effectLst/>
              </a:rPr>
              <a:t>Previous delivery , where baby weighed 4.3kg and above.</a:t>
            </a:r>
          </a:p>
          <a:p>
            <a:pPr>
              <a:buFont typeface="Wingdings" pitchFamily="2" charset="2"/>
              <a:buChar char="Ø"/>
            </a:pPr>
            <a:r>
              <a:rPr dirty="0" lang="en-US" smtClean="0">
                <a:effectLst/>
              </a:rPr>
              <a:t>Unexplained stillbirth</a:t>
            </a:r>
          </a:p>
          <a:p>
            <a:pPr>
              <a:buFont typeface="Wingdings" pitchFamily="2" charset="2"/>
              <a:buChar char="Ø"/>
            </a:pPr>
            <a:r>
              <a:rPr dirty="0" lang="en-US" smtClean="0">
                <a:effectLst/>
              </a:rPr>
              <a:t>Previous congenital malformations &amp; no known cause</a:t>
            </a:r>
          </a:p>
          <a:p>
            <a:pPr>
              <a:buFont typeface="Wingdings" pitchFamily="2" charset="2"/>
              <a:buChar char="Ø"/>
            </a:pPr>
            <a:r>
              <a:rPr dirty="0" lang="en-US" smtClean="0">
                <a:effectLst/>
              </a:rPr>
              <a:t>Spontaneous abortion and all is well.</a:t>
            </a:r>
            <a:endParaRPr dirty="0" lang="en-US">
              <a:effectLst/>
            </a:endParaRPr>
          </a:p>
        </p:txBody>
      </p:sp>
      <p:sp>
        <p:nvSpPr>
          <p:cNvPr id="104945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040" name=""/>
        <p:cNvGrpSpPr/>
        <p:nvPr/>
      </p:nvGrpSpPr>
      <p:grpSpPr>
        <a:xfrm>
          <a:off x="0" y="0"/>
          <a:ext cx="0" cy="0"/>
          <a:chOff x="0" y="0"/>
          <a:chExt cx="0" cy="0"/>
        </a:xfrm>
      </p:grpSpPr>
      <p:sp>
        <p:nvSpPr>
          <p:cNvPr id="1049457" name="Content Placeholder 2"/>
          <p:cNvSpPr>
            <a:spLocks noGrp="1"/>
          </p:cNvSpPr>
          <p:nvPr>
            <p:ph sz="quarter" idx="1"/>
          </p:nvPr>
        </p:nvSpPr>
        <p:spPr>
          <a:xfrm>
            <a:off x="285751" y="1676400"/>
            <a:ext cx="10671809" cy="4419600"/>
          </a:xfrm>
        </p:spPr>
        <p:txBody>
          <a:bodyPr/>
          <a:p>
            <a:r>
              <a:rPr dirty="0" lang="en-US" smtClean="0">
                <a:solidFill>
                  <a:srgbClr val="00B0F0"/>
                </a:solidFill>
                <a:latin typeface="Calibri" pitchFamily="34" charset="0"/>
              </a:rPr>
              <a:t>Gestational  DM</a:t>
            </a:r>
          </a:p>
          <a:p>
            <a:pPr>
              <a:buFont typeface="Wingdings" pitchFamily="2" charset="2"/>
              <a:buChar char="Ø"/>
            </a:pPr>
            <a:r>
              <a:rPr dirty="0" lang="en-US" smtClean="0">
                <a:effectLst/>
                <a:latin typeface="Calibri" pitchFamily="34" charset="0"/>
              </a:rPr>
              <a:t>Onset is during pregnancy and diagnosis is mostly based on abnormal GTT and blood glucose results. </a:t>
            </a:r>
          </a:p>
          <a:p>
            <a:pPr>
              <a:buFont typeface="Wingdings" pitchFamily="2" charset="2"/>
              <a:buChar char="Ø"/>
            </a:pPr>
            <a:r>
              <a:rPr dirty="0" lang="en-US" smtClean="0">
                <a:effectLst/>
                <a:latin typeface="Calibri" pitchFamily="34" charset="0"/>
              </a:rPr>
              <a:t>In most cases it resolves in </a:t>
            </a:r>
            <a:r>
              <a:rPr dirty="0" lang="en-US" err="1" smtClean="0">
                <a:effectLst/>
                <a:latin typeface="Calibri" pitchFamily="34" charset="0"/>
              </a:rPr>
              <a:t>puerperium</a:t>
            </a:r>
            <a:r>
              <a:rPr dirty="0" lang="en-US" smtClean="0">
                <a:effectLst/>
                <a:latin typeface="Calibri" pitchFamily="34" charset="0"/>
              </a:rPr>
              <a:t>.</a:t>
            </a:r>
          </a:p>
          <a:p>
            <a:r>
              <a:rPr dirty="0" lang="en-US" smtClean="0">
                <a:solidFill>
                  <a:srgbClr val="00B0F0"/>
                </a:solidFill>
                <a:effectLst/>
                <a:latin typeface="Calibri" pitchFamily="34" charset="0"/>
              </a:rPr>
              <a:t>Chronic DM</a:t>
            </a:r>
          </a:p>
          <a:p>
            <a:pPr>
              <a:buFont typeface="Wingdings" pitchFamily="2" charset="2"/>
              <a:buChar char="Ø"/>
            </a:pPr>
            <a:r>
              <a:rPr dirty="0" lang="en-US" smtClean="0">
                <a:effectLst/>
                <a:latin typeface="Calibri" pitchFamily="34" charset="0"/>
              </a:rPr>
              <a:t>Condition is prior to the pregnancy state .</a:t>
            </a:r>
          </a:p>
          <a:p>
            <a:pPr>
              <a:buFont typeface="Wingdings" pitchFamily="2" charset="2"/>
              <a:buChar char="Ø"/>
            </a:pPr>
            <a:r>
              <a:rPr dirty="0" lang="en-US" smtClean="0">
                <a:effectLst/>
                <a:latin typeface="Calibri" pitchFamily="34" charset="0"/>
              </a:rPr>
              <a:t>It could be type 1 case or maturity onset case.</a:t>
            </a:r>
            <a:endParaRPr dirty="0" lang="en-US">
              <a:effectLst/>
              <a:latin typeface="Calibri" pitchFamily="34" charset="0"/>
            </a:endParaRPr>
          </a:p>
        </p:txBody>
      </p:sp>
      <p:sp>
        <p:nvSpPr>
          <p:cNvPr id="104945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041" name=""/>
        <p:cNvGrpSpPr/>
        <p:nvPr/>
      </p:nvGrpSpPr>
      <p:grpSpPr>
        <a:xfrm>
          <a:off x="0" y="0"/>
          <a:ext cx="0" cy="0"/>
          <a:chOff x="0" y="0"/>
          <a:chExt cx="0" cy="0"/>
        </a:xfrm>
      </p:grpSpPr>
      <p:sp>
        <p:nvSpPr>
          <p:cNvPr id="1049459" name="Title 1"/>
          <p:cNvSpPr>
            <a:spLocks noGrp="1"/>
          </p:cNvSpPr>
          <p:nvPr>
            <p:ph type="title"/>
          </p:nvPr>
        </p:nvSpPr>
        <p:spPr/>
        <p:txBody>
          <a:bodyPr/>
          <a:p>
            <a:r>
              <a:rPr b="1" dirty="0" lang="en-US" smtClean="0">
                <a:solidFill>
                  <a:srgbClr val="00B050"/>
                </a:solidFill>
              </a:rPr>
              <a:t>III. GRADING</a:t>
            </a:r>
            <a:endParaRPr dirty="0" lang="en-US"/>
          </a:p>
        </p:txBody>
      </p:sp>
      <p:sp>
        <p:nvSpPr>
          <p:cNvPr id="1049460" name="Content Placeholder 2"/>
          <p:cNvSpPr>
            <a:spLocks noGrp="1"/>
          </p:cNvSpPr>
          <p:nvPr>
            <p:ph sz="quarter" idx="1"/>
          </p:nvPr>
        </p:nvSpPr>
        <p:spPr>
          <a:xfrm>
            <a:off x="571500" y="1600200"/>
            <a:ext cx="10287000" cy="5029200"/>
          </a:xfrm>
        </p:spPr>
        <p:txBody>
          <a:bodyPr/>
          <a:p>
            <a:pPr>
              <a:buNone/>
            </a:pPr>
            <a:r>
              <a:rPr dirty="0" lang="en-US" smtClean="0"/>
              <a:t>     Based on lab results &amp; complains</a:t>
            </a:r>
          </a:p>
          <a:p>
            <a:r>
              <a:rPr b="1" dirty="0" lang="en-US" smtClean="0">
                <a:solidFill>
                  <a:srgbClr val="00B0F0"/>
                </a:solidFill>
              </a:rPr>
              <a:t>Overt / Clinical DM</a:t>
            </a:r>
          </a:p>
          <a:p>
            <a:pPr>
              <a:buFont typeface="Wingdings" pitchFamily="2" charset="2"/>
              <a:buChar char="Ø"/>
            </a:pPr>
            <a:r>
              <a:rPr dirty="0" lang="en-US" smtClean="0"/>
              <a:t>Oral glucose tolerance test and fasting blood sugar results are abnormal.</a:t>
            </a:r>
          </a:p>
          <a:p>
            <a:pPr>
              <a:buFont typeface="Wingdings" pitchFamily="2" charset="2"/>
              <a:buChar char="Ø"/>
            </a:pPr>
            <a:r>
              <a:rPr dirty="0" lang="en-US" smtClean="0"/>
              <a:t>Symptoms are present too.</a:t>
            </a:r>
          </a:p>
          <a:p>
            <a:r>
              <a:rPr b="1" dirty="0" lang="en-US" smtClean="0">
                <a:solidFill>
                  <a:srgbClr val="00B0F0"/>
                </a:solidFill>
              </a:rPr>
              <a:t>Chemical DM</a:t>
            </a:r>
          </a:p>
          <a:p>
            <a:pPr>
              <a:buFont typeface="Wingdings" pitchFamily="2" charset="2"/>
              <a:buChar char="Ø"/>
            </a:pPr>
            <a:r>
              <a:rPr dirty="0" lang="en-US" smtClean="0"/>
              <a:t>Abnormalities in GTT &amp; FBS are present ,but no symptoms.</a:t>
            </a:r>
            <a:endParaRPr dirty="0" lang="en-US"/>
          </a:p>
        </p:txBody>
      </p:sp>
      <p:sp>
        <p:nvSpPr>
          <p:cNvPr id="104946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042" name=""/>
        <p:cNvGrpSpPr/>
        <p:nvPr/>
      </p:nvGrpSpPr>
      <p:grpSpPr>
        <a:xfrm>
          <a:off x="0" y="0"/>
          <a:ext cx="0" cy="0"/>
          <a:chOff x="0" y="0"/>
          <a:chExt cx="0" cy="0"/>
        </a:xfrm>
      </p:grpSpPr>
      <p:sp>
        <p:nvSpPr>
          <p:cNvPr id="1049462" name="Title 1"/>
          <p:cNvSpPr>
            <a:spLocks noGrp="1"/>
          </p:cNvSpPr>
          <p:nvPr>
            <p:ph type="title"/>
          </p:nvPr>
        </p:nvSpPr>
        <p:spPr/>
        <p:txBody>
          <a:bodyPr/>
          <a:p>
            <a:r>
              <a:rPr b="1" dirty="0" lang="en-US" smtClean="0">
                <a:solidFill>
                  <a:srgbClr val="00B050"/>
                </a:solidFill>
                <a:effectLst/>
              </a:rPr>
              <a:t>DIAGNOSTIC  FACTORS</a:t>
            </a:r>
            <a:endParaRPr b="1" dirty="0" lang="en-US"/>
          </a:p>
        </p:txBody>
      </p:sp>
      <p:sp>
        <p:nvSpPr>
          <p:cNvPr id="1049463" name="Content Placeholder 2"/>
          <p:cNvSpPr>
            <a:spLocks noGrp="1"/>
          </p:cNvSpPr>
          <p:nvPr>
            <p:ph sz="quarter" idx="1"/>
          </p:nvPr>
        </p:nvSpPr>
        <p:spPr>
          <a:xfrm>
            <a:off x="285750" y="1412878"/>
            <a:ext cx="10763250" cy="4759325"/>
          </a:xfrm>
        </p:spPr>
        <p:txBody>
          <a:bodyPr>
            <a:normAutofit/>
          </a:bodyPr>
          <a:p>
            <a:pPr>
              <a:buNone/>
            </a:pPr>
            <a:r>
              <a:rPr dirty="0" lang="en-US" smtClean="0">
                <a:solidFill>
                  <a:srgbClr val="00B050"/>
                </a:solidFill>
                <a:effectLst/>
              </a:rPr>
              <a:t>	</a:t>
            </a:r>
            <a:r>
              <a:rPr dirty="0" lang="en-US" smtClean="0">
                <a:effectLst/>
              </a:rPr>
              <a:t>Regardless of the classification</a:t>
            </a:r>
          </a:p>
          <a:p>
            <a:r>
              <a:rPr dirty="0" lang="en-US" smtClean="0">
                <a:solidFill>
                  <a:srgbClr val="00B0F0"/>
                </a:solidFill>
                <a:effectLst/>
              </a:rPr>
              <a:t>History</a:t>
            </a:r>
          </a:p>
          <a:p>
            <a:pPr>
              <a:buFont typeface="Wingdings" pitchFamily="2" charset="2"/>
              <a:buChar char="Ø"/>
            </a:pPr>
            <a:r>
              <a:rPr dirty="0" lang="en-US" smtClean="0">
                <a:effectLst/>
              </a:rPr>
              <a:t>Presenting complains of; polydipsia  ,</a:t>
            </a:r>
            <a:r>
              <a:rPr dirty="0" lang="en-US" err="1" smtClean="0">
                <a:effectLst/>
              </a:rPr>
              <a:t>polyphagia</a:t>
            </a:r>
            <a:r>
              <a:rPr dirty="0" lang="en-US" smtClean="0">
                <a:effectLst/>
              </a:rPr>
              <a:t> and </a:t>
            </a:r>
            <a:r>
              <a:rPr dirty="0" lang="en-US" err="1" smtClean="0">
                <a:effectLst/>
              </a:rPr>
              <a:t>polyuria</a:t>
            </a:r>
            <a:r>
              <a:rPr dirty="0" lang="en-US" smtClean="0">
                <a:effectLst/>
              </a:rPr>
              <a:t>.</a:t>
            </a:r>
          </a:p>
          <a:p>
            <a:pPr>
              <a:buFont typeface="Wingdings" pitchFamily="2" charset="2"/>
              <a:buChar char="Ø"/>
            </a:pPr>
            <a:r>
              <a:rPr dirty="0" lang="en-US" smtClean="0">
                <a:effectLst/>
              </a:rPr>
              <a:t>Strong family history.</a:t>
            </a:r>
          </a:p>
          <a:p>
            <a:pPr>
              <a:buFont typeface="Wingdings" pitchFamily="2" charset="2"/>
              <a:buChar char="Ø"/>
            </a:pPr>
            <a:r>
              <a:rPr dirty="0" lang="en-US" smtClean="0">
                <a:effectLst/>
              </a:rPr>
              <a:t>Past &amp; present medical </a:t>
            </a:r>
            <a:r>
              <a:rPr dirty="0" lang="en-US" err="1" smtClean="0">
                <a:effectLst/>
              </a:rPr>
              <a:t>hx</a:t>
            </a:r>
            <a:r>
              <a:rPr dirty="0" lang="en-US" smtClean="0">
                <a:effectLst/>
              </a:rPr>
              <a:t> of  DM</a:t>
            </a:r>
          </a:p>
          <a:p>
            <a:pPr>
              <a:buFont typeface="Wingdings" pitchFamily="2" charset="2"/>
              <a:buChar char="Ø"/>
            </a:pPr>
            <a:r>
              <a:rPr dirty="0" lang="en-US" smtClean="0">
                <a:effectLst/>
              </a:rPr>
              <a:t>Past obstetric </a:t>
            </a:r>
            <a:r>
              <a:rPr dirty="0" lang="en-US" err="1" smtClean="0">
                <a:effectLst/>
              </a:rPr>
              <a:t>hx</a:t>
            </a:r>
            <a:r>
              <a:rPr dirty="0" lang="en-US" smtClean="0">
                <a:effectLst/>
              </a:rPr>
              <a:t> , of gestational DM or  risks of potential DM.</a:t>
            </a:r>
            <a:endParaRPr dirty="0" lang="en-US">
              <a:effectLst/>
            </a:endParaRPr>
          </a:p>
        </p:txBody>
      </p:sp>
      <p:sp>
        <p:nvSpPr>
          <p:cNvPr id="104946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043" name=""/>
        <p:cNvGrpSpPr/>
        <p:nvPr/>
      </p:nvGrpSpPr>
      <p:grpSpPr>
        <a:xfrm>
          <a:off x="0" y="0"/>
          <a:ext cx="0" cy="0"/>
          <a:chOff x="0" y="0"/>
          <a:chExt cx="0" cy="0"/>
        </a:xfrm>
      </p:grpSpPr>
      <p:sp>
        <p:nvSpPr>
          <p:cNvPr id="1049465" name="Content Placeholder 2"/>
          <p:cNvSpPr>
            <a:spLocks noGrp="1"/>
          </p:cNvSpPr>
          <p:nvPr>
            <p:ph sz="quarter" idx="1"/>
          </p:nvPr>
        </p:nvSpPr>
        <p:spPr>
          <a:xfrm>
            <a:off x="285751" y="1600200"/>
            <a:ext cx="10671809" cy="4495800"/>
          </a:xfrm>
        </p:spPr>
        <p:txBody>
          <a:bodyPr/>
          <a:p>
            <a:r>
              <a:rPr dirty="0" lang="en-US" smtClean="0">
                <a:solidFill>
                  <a:srgbClr val="00B0F0"/>
                </a:solidFill>
                <a:latin typeface="Calibri" pitchFamily="34" charset="0"/>
              </a:rPr>
              <a:t>Physical Examination</a:t>
            </a:r>
          </a:p>
          <a:p>
            <a:pPr>
              <a:buFont typeface="Wingdings" pitchFamily="2" charset="2"/>
              <a:buChar char="Ø"/>
            </a:pPr>
            <a:r>
              <a:rPr dirty="0" lang="en-US" smtClean="0">
                <a:latin typeface="Calibri" pitchFamily="34" charset="0"/>
              </a:rPr>
              <a:t>Weight loss despite good appetite.</a:t>
            </a:r>
          </a:p>
          <a:p>
            <a:pPr>
              <a:buFont typeface="Wingdings" pitchFamily="2" charset="2"/>
              <a:buChar char="Ø"/>
            </a:pPr>
            <a:r>
              <a:rPr dirty="0" lang="en-US" smtClean="0">
                <a:latin typeface="Calibri" pitchFamily="34" charset="0"/>
              </a:rPr>
              <a:t>Signs of dehydration despite </a:t>
            </a:r>
            <a:r>
              <a:rPr dirty="0" lang="en-US" err="1" smtClean="0">
                <a:latin typeface="Calibri" pitchFamily="34" charset="0"/>
              </a:rPr>
              <a:t>polyphagia</a:t>
            </a:r>
            <a:r>
              <a:rPr dirty="0" lang="en-US" smtClean="0">
                <a:latin typeface="Calibri" pitchFamily="34" charset="0"/>
              </a:rPr>
              <a:t>.</a:t>
            </a:r>
          </a:p>
          <a:p>
            <a:pPr>
              <a:buFont typeface="Wingdings" pitchFamily="2" charset="2"/>
              <a:buChar char="Ø"/>
            </a:pPr>
            <a:r>
              <a:rPr dirty="0" lang="en-US" smtClean="0">
                <a:latin typeface="Calibri" pitchFamily="34" charset="0"/>
              </a:rPr>
              <a:t>Fundal height is higher than the stated dates in absence of multiple pregnancy &amp;  </a:t>
            </a:r>
            <a:r>
              <a:rPr dirty="0" lang="en-US" err="1" smtClean="0">
                <a:latin typeface="Calibri" pitchFamily="34" charset="0"/>
              </a:rPr>
              <a:t>polyhydramnious</a:t>
            </a:r>
            <a:r>
              <a:rPr dirty="0" lang="en-US" smtClean="0">
                <a:latin typeface="Calibri" pitchFamily="34" charset="0"/>
              </a:rPr>
              <a:t>  on abdominal examination .</a:t>
            </a:r>
          </a:p>
          <a:p>
            <a:pPr>
              <a:buFont typeface="Wingdings" pitchFamily="2" charset="2"/>
              <a:buChar char="Ø"/>
            </a:pPr>
            <a:r>
              <a:rPr dirty="0" lang="en-US" smtClean="0">
                <a:latin typeface="Calibri" pitchFamily="34" charset="0"/>
              </a:rPr>
              <a:t>Candidiasis , on vulval examination .</a:t>
            </a:r>
            <a:endParaRPr dirty="0" lang="en-US">
              <a:latin typeface="Calibri" pitchFamily="34" charset="0"/>
            </a:endParaRPr>
          </a:p>
        </p:txBody>
      </p:sp>
      <p:sp>
        <p:nvSpPr>
          <p:cNvPr id="104946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044" name=""/>
        <p:cNvGrpSpPr/>
        <p:nvPr/>
      </p:nvGrpSpPr>
      <p:grpSpPr>
        <a:xfrm>
          <a:off x="0" y="0"/>
          <a:ext cx="0" cy="0"/>
          <a:chOff x="0" y="0"/>
          <a:chExt cx="0" cy="0"/>
        </a:xfrm>
      </p:grpSpPr>
      <p:sp>
        <p:nvSpPr>
          <p:cNvPr id="1049467" name="Title 1"/>
          <p:cNvSpPr>
            <a:spLocks noGrp="1"/>
          </p:cNvSpPr>
          <p:nvPr>
            <p:ph type="title"/>
          </p:nvPr>
        </p:nvSpPr>
        <p:spPr/>
        <p:txBody>
          <a:bodyPr>
            <a:normAutofit fontScale="90000"/>
          </a:bodyPr>
          <a:p>
            <a:r>
              <a:rPr dirty="0" sz="4400" lang="en-US" smtClean="0">
                <a:solidFill>
                  <a:srgbClr val="00B0F0"/>
                </a:solidFill>
              </a:rPr>
              <a:t/>
            </a:r>
            <a:br>
              <a:rPr dirty="0" sz="4400" lang="en-US" smtClean="0">
                <a:solidFill>
                  <a:srgbClr val="00B0F0"/>
                </a:solidFill>
              </a:rPr>
            </a:br>
            <a:r>
              <a:rPr dirty="0" sz="4400" lang="en-US" smtClean="0">
                <a:solidFill>
                  <a:srgbClr val="00B0F0"/>
                </a:solidFill>
              </a:rPr>
              <a:t>Laboratory Tests</a:t>
            </a:r>
            <a:br>
              <a:rPr dirty="0" sz="4400" lang="en-US" smtClean="0">
                <a:solidFill>
                  <a:srgbClr val="00B0F0"/>
                </a:solidFill>
              </a:rPr>
            </a:br>
            <a:endParaRPr dirty="0" lang="en-US"/>
          </a:p>
        </p:txBody>
      </p:sp>
      <p:sp>
        <p:nvSpPr>
          <p:cNvPr id="1049468" name="Content Placeholder 2"/>
          <p:cNvSpPr>
            <a:spLocks noGrp="1"/>
          </p:cNvSpPr>
          <p:nvPr>
            <p:ph sz="quarter" idx="1"/>
          </p:nvPr>
        </p:nvSpPr>
        <p:spPr>
          <a:xfrm>
            <a:off x="285750" y="1371600"/>
            <a:ext cx="10763250" cy="4876800"/>
          </a:xfrm>
        </p:spPr>
        <p:txBody>
          <a:bodyPr>
            <a:normAutofit/>
          </a:bodyPr>
          <a:p>
            <a:pPr>
              <a:buFont typeface="Wingdings" pitchFamily="2" charset="2"/>
              <a:buChar char="Ø"/>
            </a:pPr>
            <a:r>
              <a:rPr dirty="0" sz="2800" lang="en-US" smtClean="0"/>
              <a:t>Post -</a:t>
            </a:r>
            <a:r>
              <a:rPr dirty="0" sz="2800" lang="en-US" err="1" smtClean="0"/>
              <a:t>pradial</a:t>
            </a:r>
            <a:r>
              <a:rPr dirty="0" sz="2800" lang="en-US" smtClean="0"/>
              <a:t> (random) </a:t>
            </a:r>
            <a:r>
              <a:rPr dirty="0" sz="2800" lang="en-US" err="1" smtClean="0"/>
              <a:t>bld</a:t>
            </a:r>
            <a:r>
              <a:rPr dirty="0" sz="2800" lang="en-US" smtClean="0"/>
              <a:t> sugar higher than 8.4 </a:t>
            </a:r>
            <a:r>
              <a:rPr dirty="0" sz="2800" lang="en-US" err="1" smtClean="0"/>
              <a:t>mmol</a:t>
            </a:r>
            <a:r>
              <a:rPr dirty="0" sz="2800" lang="en-US" smtClean="0"/>
              <a:t>/L generally. </a:t>
            </a:r>
          </a:p>
          <a:p>
            <a:pPr>
              <a:buFont typeface="Wingdings" pitchFamily="2" charset="2"/>
              <a:buChar char="ü"/>
            </a:pPr>
            <a:r>
              <a:rPr dirty="0" sz="2800" lang="en-US" smtClean="0"/>
              <a:t>Specifically,  random B/S results are : &gt; 5.8 </a:t>
            </a:r>
            <a:r>
              <a:rPr dirty="0" sz="2800" lang="en-US" err="1" smtClean="0"/>
              <a:t>mmol</a:t>
            </a:r>
            <a:r>
              <a:rPr dirty="0" sz="2800" lang="en-US" smtClean="0"/>
              <a:t>/L, 2 hrs  after a meal and &gt;6.2 </a:t>
            </a:r>
            <a:r>
              <a:rPr dirty="0" sz="2800" lang="en-US" err="1" smtClean="0"/>
              <a:t>mmol</a:t>
            </a:r>
            <a:r>
              <a:rPr dirty="0" sz="2800" lang="en-US" smtClean="0"/>
              <a:t>/L within the first 2 hrs of a meal.</a:t>
            </a:r>
          </a:p>
          <a:p>
            <a:pPr>
              <a:buFont typeface="Wingdings" pitchFamily="2" charset="2"/>
              <a:buChar char="Ø"/>
            </a:pPr>
            <a:r>
              <a:rPr dirty="0" sz="2800" lang="en-US" smtClean="0"/>
              <a:t>Fasting blood sugar, ranges between 5.3- 7.8 </a:t>
            </a:r>
            <a:r>
              <a:rPr dirty="0" sz="2800" lang="en-US" err="1" smtClean="0"/>
              <a:t>mmol</a:t>
            </a:r>
            <a:r>
              <a:rPr dirty="0" sz="2800" lang="en-US" smtClean="0"/>
              <a:t>/L.</a:t>
            </a:r>
          </a:p>
          <a:p>
            <a:pPr>
              <a:buFont typeface="Wingdings" pitchFamily="2" charset="2"/>
              <a:buChar char="Ø"/>
            </a:pPr>
            <a:r>
              <a:rPr dirty="0" sz="2800" lang="en-US" smtClean="0"/>
              <a:t>Oral glucose tolerance test (OGTT),positive results are ; &gt; 15 </a:t>
            </a:r>
            <a:r>
              <a:rPr dirty="0" sz="2800" lang="en-US" err="1" smtClean="0"/>
              <a:t>mmol</a:t>
            </a:r>
            <a:r>
              <a:rPr dirty="0" sz="2800" lang="en-US" smtClean="0"/>
              <a:t>/L after 1 hr of 75 gm of glucose ingestion.</a:t>
            </a:r>
          </a:p>
          <a:p>
            <a:pPr>
              <a:buFont typeface="Wingdings" pitchFamily="2" charset="2"/>
              <a:buChar char="ü"/>
            </a:pPr>
            <a:r>
              <a:rPr dirty="0" sz="2800" lang="en-US" smtClean="0"/>
              <a:t> It’s confirmatory if serum glucose levels are higher than 11.1 </a:t>
            </a:r>
            <a:r>
              <a:rPr dirty="0" sz="2800" lang="en-US" err="1" smtClean="0"/>
              <a:t>mmol</a:t>
            </a:r>
            <a:r>
              <a:rPr dirty="0" sz="2800" lang="en-US" smtClean="0"/>
              <a:t>/L 2 hrs after ingestion of 75 gm of glucose.</a:t>
            </a:r>
          </a:p>
          <a:p>
            <a:pPr>
              <a:buNone/>
            </a:pPr>
            <a:endParaRPr dirty="0" sz="2800" lang="en-US"/>
          </a:p>
        </p:txBody>
      </p:sp>
      <p:sp>
        <p:nvSpPr>
          <p:cNvPr id="104946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045" name=""/>
        <p:cNvGrpSpPr/>
        <p:nvPr/>
      </p:nvGrpSpPr>
      <p:grpSpPr>
        <a:xfrm>
          <a:off x="0" y="0"/>
          <a:ext cx="0" cy="0"/>
          <a:chOff x="0" y="0"/>
          <a:chExt cx="0" cy="0"/>
        </a:xfrm>
      </p:grpSpPr>
      <p:sp>
        <p:nvSpPr>
          <p:cNvPr id="1049470" name="Content Placeholder 2"/>
          <p:cNvSpPr>
            <a:spLocks noGrp="1"/>
          </p:cNvSpPr>
          <p:nvPr>
            <p:ph sz="quarter" idx="1"/>
          </p:nvPr>
        </p:nvSpPr>
        <p:spPr>
          <a:xfrm>
            <a:off x="285750" y="1295400"/>
            <a:ext cx="10763250" cy="5105400"/>
          </a:xfrm>
        </p:spPr>
        <p:txBody>
          <a:bodyPr>
            <a:normAutofit/>
          </a:bodyPr>
          <a:p>
            <a:r>
              <a:rPr dirty="0" lang="en-US" smtClean="0">
                <a:latin typeface="Calibri" pitchFamily="34" charset="0"/>
              </a:rPr>
              <a:t>Glycated haemoglobin (</a:t>
            </a:r>
            <a:r>
              <a:rPr dirty="0" lang="en-US" err="1" smtClean="0">
                <a:latin typeface="Calibri" pitchFamily="34" charset="0"/>
              </a:rPr>
              <a:t>HbAIC</a:t>
            </a:r>
            <a:r>
              <a:rPr dirty="0" lang="en-US" smtClean="0">
                <a:latin typeface="Calibri" pitchFamily="34" charset="0"/>
              </a:rPr>
              <a:t>).</a:t>
            </a:r>
          </a:p>
          <a:p>
            <a:pPr>
              <a:buFont typeface="Wingdings" pitchFamily="2" charset="2"/>
              <a:buChar char="Ø"/>
            </a:pPr>
            <a:r>
              <a:rPr dirty="0" lang="en-US" smtClean="0">
                <a:latin typeface="Calibri" pitchFamily="34" charset="0"/>
              </a:rPr>
              <a:t>Aim is to assess the oxygen carrying capacity of the haemoglobin molecule.	</a:t>
            </a:r>
          </a:p>
          <a:p>
            <a:pPr>
              <a:buFont typeface="Wingdings" pitchFamily="2" charset="2"/>
              <a:buChar char="ü"/>
            </a:pPr>
            <a:r>
              <a:rPr dirty="0" lang="en-US" smtClean="0">
                <a:latin typeface="Calibri" pitchFamily="34" charset="0"/>
              </a:rPr>
              <a:t>Normal results,  should be that less than  6.5% of the HB molecule carries a glucose molecule.</a:t>
            </a:r>
          </a:p>
          <a:p>
            <a:pPr>
              <a:buFont typeface="Wingdings" pitchFamily="2" charset="2"/>
              <a:buChar char="ü"/>
            </a:pPr>
            <a:r>
              <a:rPr dirty="0" lang="en-US" smtClean="0">
                <a:latin typeface="Calibri" pitchFamily="34" charset="0"/>
              </a:rPr>
              <a:t>The results indicates the status of  </a:t>
            </a:r>
            <a:r>
              <a:rPr dirty="0" lang="en-US" err="1" smtClean="0">
                <a:latin typeface="Calibri" pitchFamily="34" charset="0"/>
              </a:rPr>
              <a:t>bld</a:t>
            </a:r>
            <a:r>
              <a:rPr dirty="0" lang="en-US" smtClean="0">
                <a:latin typeface="Calibri" pitchFamily="34" charset="0"/>
              </a:rPr>
              <a:t> glucose levels in the past 2-3months. Two (2)  separate tests are reliable.</a:t>
            </a:r>
          </a:p>
          <a:p>
            <a:pPr>
              <a:buFont typeface="Wingdings" pitchFamily="2" charset="2"/>
              <a:buChar char="ü"/>
            </a:pPr>
            <a:r>
              <a:rPr dirty="0" lang="en-US" smtClean="0">
                <a:latin typeface="Calibri" pitchFamily="34" charset="0"/>
              </a:rPr>
              <a:t>For a higher % result,(eg.15-25%) in the 1</a:t>
            </a:r>
            <a:r>
              <a:rPr baseline="30000" dirty="0" lang="en-US" smtClean="0">
                <a:latin typeface="Calibri" pitchFamily="34" charset="0"/>
              </a:rPr>
              <a:t>st</a:t>
            </a:r>
            <a:r>
              <a:rPr dirty="0" lang="en-US" smtClean="0">
                <a:latin typeface="Calibri" pitchFamily="34" charset="0"/>
              </a:rPr>
              <a:t> trimester, congenital abnormalities occurs.</a:t>
            </a:r>
            <a:endParaRPr dirty="0" lang="en-US">
              <a:latin typeface="Calibri" pitchFamily="34" charset="0"/>
            </a:endParaRPr>
          </a:p>
        </p:txBody>
      </p:sp>
      <p:sp>
        <p:nvSpPr>
          <p:cNvPr id="104947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046" name=""/>
        <p:cNvGrpSpPr/>
        <p:nvPr/>
      </p:nvGrpSpPr>
      <p:grpSpPr>
        <a:xfrm>
          <a:off x="0" y="0"/>
          <a:ext cx="0" cy="0"/>
          <a:chOff x="0" y="0"/>
          <a:chExt cx="0" cy="0"/>
        </a:xfrm>
      </p:grpSpPr>
      <p:sp>
        <p:nvSpPr>
          <p:cNvPr id="1049472" name="Content Placeholder 2"/>
          <p:cNvSpPr>
            <a:spLocks noGrp="1"/>
          </p:cNvSpPr>
          <p:nvPr>
            <p:ph sz="quarter" idx="1"/>
          </p:nvPr>
        </p:nvSpPr>
        <p:spPr>
          <a:xfrm>
            <a:off x="285750" y="1600200"/>
            <a:ext cx="10858500" cy="4953000"/>
          </a:xfrm>
        </p:spPr>
        <p:txBody>
          <a:bodyPr>
            <a:normAutofit/>
          </a:bodyPr>
          <a:p>
            <a:r>
              <a:rPr dirty="0" sz="2800" lang="en-US" smtClean="0">
                <a:latin typeface="Calibri" pitchFamily="34" charset="0"/>
              </a:rPr>
              <a:t>Routine Urinalysis:</a:t>
            </a:r>
          </a:p>
          <a:p>
            <a:pPr>
              <a:buFont typeface="Wingdings" pitchFamily="2" charset="2"/>
              <a:buChar char="Ø"/>
            </a:pPr>
            <a:r>
              <a:rPr dirty="0" sz="2800" lang="en-US" smtClean="0">
                <a:latin typeface="Calibri" pitchFamily="34" charset="0"/>
              </a:rPr>
              <a:t>Presence of glucose and acetone on reagent testing.</a:t>
            </a:r>
          </a:p>
          <a:p>
            <a:pPr>
              <a:buFont typeface="Wingdings" pitchFamily="2" charset="2"/>
              <a:buChar char="Ø"/>
            </a:pPr>
            <a:r>
              <a:rPr dirty="0" sz="2800" lang="en-US" smtClean="0">
                <a:latin typeface="Calibri" pitchFamily="34" charset="0"/>
              </a:rPr>
              <a:t>High specific gravity. </a:t>
            </a:r>
          </a:p>
          <a:p>
            <a:pPr>
              <a:buFont typeface="Wingdings" pitchFamily="2" charset="2"/>
              <a:buChar char="Ø"/>
            </a:pPr>
            <a:r>
              <a:rPr dirty="0" sz="2800" lang="en-US" smtClean="0">
                <a:latin typeface="Calibri" pitchFamily="34" charset="0"/>
              </a:rPr>
              <a:t>Pale amber coloured urine due to </a:t>
            </a:r>
            <a:r>
              <a:rPr dirty="0" sz="2800" lang="en-US" err="1" smtClean="0">
                <a:latin typeface="Calibri" pitchFamily="34" charset="0"/>
              </a:rPr>
              <a:t>polyphagia</a:t>
            </a:r>
            <a:r>
              <a:rPr dirty="0" sz="2800" lang="en-US" smtClean="0">
                <a:latin typeface="Calibri" pitchFamily="34" charset="0"/>
              </a:rPr>
              <a:t>.</a:t>
            </a:r>
          </a:p>
          <a:p>
            <a:pPr>
              <a:buNone/>
            </a:pPr>
            <a:r>
              <a:rPr b="1" dirty="0" sz="2800" lang="en-US" smtClean="0">
                <a:solidFill>
                  <a:srgbClr val="E828B6"/>
                </a:solidFill>
                <a:latin typeface="Calibri" pitchFamily="34" charset="0"/>
              </a:rPr>
              <a:t>NB:</a:t>
            </a:r>
          </a:p>
          <a:p>
            <a:r>
              <a:rPr dirty="0" sz="2800" lang="en-US" smtClean="0">
                <a:latin typeface="Calibri" pitchFamily="34" charset="0"/>
              </a:rPr>
              <a:t>Normal FBS is below 5.3 </a:t>
            </a:r>
            <a:r>
              <a:rPr dirty="0" sz="2800" lang="en-US" err="1" smtClean="0">
                <a:latin typeface="Calibri" pitchFamily="34" charset="0"/>
              </a:rPr>
              <a:t>mmols</a:t>
            </a:r>
            <a:r>
              <a:rPr dirty="0" sz="2800" lang="en-US" smtClean="0">
                <a:latin typeface="Calibri" pitchFamily="34" charset="0"/>
              </a:rPr>
              <a:t>/L (95mg/dl)</a:t>
            </a:r>
          </a:p>
          <a:p>
            <a:r>
              <a:rPr dirty="0" sz="2800" lang="en-US" smtClean="0">
                <a:latin typeface="Calibri" pitchFamily="34" charset="0"/>
              </a:rPr>
              <a:t> (N)</a:t>
            </a:r>
            <a:r>
              <a:rPr dirty="0" sz="2800" lang="en-US" err="1" smtClean="0">
                <a:latin typeface="Calibri" pitchFamily="34" charset="0"/>
              </a:rPr>
              <a:t>Postpradial</a:t>
            </a:r>
            <a:r>
              <a:rPr dirty="0" sz="2800" lang="en-US" smtClean="0">
                <a:latin typeface="Calibri" pitchFamily="34" charset="0"/>
              </a:rPr>
              <a:t>  1 hr after feeding, &lt; 7.8 </a:t>
            </a:r>
            <a:r>
              <a:rPr dirty="0" sz="2800" lang="en-US" err="1" smtClean="0">
                <a:latin typeface="Calibri" pitchFamily="34" charset="0"/>
              </a:rPr>
              <a:t>mmols</a:t>
            </a:r>
            <a:r>
              <a:rPr dirty="0" sz="2800" lang="en-US" smtClean="0">
                <a:latin typeface="Calibri" pitchFamily="34" charset="0"/>
              </a:rPr>
              <a:t>/L(&lt;140mg/dl)</a:t>
            </a:r>
          </a:p>
          <a:p>
            <a:pPr>
              <a:buNone/>
            </a:pPr>
            <a:r>
              <a:rPr dirty="0" sz="2800" lang="en-US" smtClean="0">
                <a:latin typeface="Calibri" pitchFamily="34" charset="0"/>
              </a:rPr>
              <a:t>    2 hrs &lt; 6.7 </a:t>
            </a:r>
            <a:r>
              <a:rPr dirty="0" sz="2800" lang="en-US" err="1" smtClean="0">
                <a:latin typeface="Calibri" pitchFamily="34" charset="0"/>
              </a:rPr>
              <a:t>mmols</a:t>
            </a:r>
            <a:r>
              <a:rPr dirty="0" sz="2800" lang="en-US" smtClean="0">
                <a:latin typeface="Calibri" pitchFamily="34" charset="0"/>
              </a:rPr>
              <a:t>/L(&lt;120mg/dl. Results help to modify treatment regiment.</a:t>
            </a:r>
            <a:endParaRPr dirty="0" sz="2800" lang="en-US">
              <a:latin typeface="Calibri" pitchFamily="34" charset="0"/>
            </a:endParaRPr>
          </a:p>
        </p:txBody>
      </p:sp>
      <p:sp>
        <p:nvSpPr>
          <p:cNvPr id="104947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047" name=""/>
        <p:cNvGrpSpPr/>
        <p:nvPr/>
      </p:nvGrpSpPr>
      <p:grpSpPr>
        <a:xfrm>
          <a:off x="0" y="0"/>
          <a:ext cx="0" cy="0"/>
          <a:chOff x="0" y="0"/>
          <a:chExt cx="0" cy="0"/>
        </a:xfrm>
      </p:grpSpPr>
      <p:sp>
        <p:nvSpPr>
          <p:cNvPr id="1049474" name="Title 1"/>
          <p:cNvSpPr>
            <a:spLocks noGrp="1"/>
          </p:cNvSpPr>
          <p:nvPr>
            <p:ph type="title"/>
          </p:nvPr>
        </p:nvSpPr>
        <p:spPr>
          <a:xfrm>
            <a:off x="571500" y="277822"/>
            <a:ext cx="10287000" cy="941387"/>
          </a:xfrm>
        </p:spPr>
        <p:txBody>
          <a:bodyPr/>
          <a:p>
            <a:r>
              <a:rPr b="1" dirty="0" lang="en-US" smtClean="0">
                <a:solidFill>
                  <a:srgbClr val="00B050"/>
                </a:solidFill>
              </a:rPr>
              <a:t>SPECIFIC  MANAGEMENT</a:t>
            </a:r>
            <a:endParaRPr dirty="0" lang="en-US"/>
          </a:p>
        </p:txBody>
      </p:sp>
      <p:sp>
        <p:nvSpPr>
          <p:cNvPr id="1049475" name="Content Placeholder 2"/>
          <p:cNvSpPr>
            <a:spLocks noGrp="1"/>
          </p:cNvSpPr>
          <p:nvPr>
            <p:ph sz="quarter" idx="1"/>
          </p:nvPr>
        </p:nvSpPr>
        <p:spPr>
          <a:xfrm>
            <a:off x="285750" y="1371600"/>
            <a:ext cx="10858500" cy="5105400"/>
          </a:xfrm>
        </p:spPr>
        <p:txBody>
          <a:bodyPr>
            <a:noAutofit/>
          </a:bodyPr>
          <a:p>
            <a:pPr>
              <a:buNone/>
            </a:pPr>
            <a:r>
              <a:rPr dirty="0" lang="en-US" smtClean="0">
                <a:solidFill>
                  <a:srgbClr val="00B050"/>
                </a:solidFill>
                <a:effectLst/>
                <a:latin typeface="Calibri" pitchFamily="34" charset="0"/>
              </a:rPr>
              <a:t>	</a:t>
            </a:r>
            <a:r>
              <a:rPr b="1" dirty="0" i="1" lang="en-US" smtClean="0">
                <a:solidFill>
                  <a:srgbClr val="00B0F0"/>
                </a:solidFill>
                <a:effectLst/>
                <a:latin typeface="Calibri" pitchFamily="34" charset="0"/>
              </a:rPr>
              <a:t>Pre-conception  Care</a:t>
            </a:r>
          </a:p>
          <a:p>
            <a:pPr>
              <a:buFont typeface="Wingdings" pitchFamily="2" charset="2"/>
              <a:buChar char="v"/>
            </a:pPr>
            <a:r>
              <a:rPr dirty="0" lang="en-US" smtClean="0">
                <a:effectLst/>
                <a:latin typeface="Calibri" pitchFamily="34" charset="0"/>
              </a:rPr>
              <a:t>Offered through </a:t>
            </a:r>
            <a:r>
              <a:rPr dirty="0" lang="en-US" err="1" smtClean="0">
                <a:effectLst/>
                <a:latin typeface="Calibri" pitchFamily="34" charset="0"/>
              </a:rPr>
              <a:t>counselling</a:t>
            </a:r>
            <a:r>
              <a:rPr dirty="0" lang="en-US" smtClean="0">
                <a:effectLst/>
                <a:latin typeface="Calibri" pitchFamily="34" charset="0"/>
              </a:rPr>
              <a:t> , before a known DM plans for pregnancy hence control complication. Sessions are based on:</a:t>
            </a:r>
          </a:p>
          <a:p>
            <a:r>
              <a:rPr b="1" dirty="0" lang="en-US" err="1" smtClean="0">
                <a:solidFill>
                  <a:srgbClr val="E828B6"/>
                </a:solidFill>
                <a:effectLst/>
                <a:latin typeface="Calibri" pitchFamily="34" charset="0"/>
              </a:rPr>
              <a:t>Emotinal</a:t>
            </a:r>
            <a:r>
              <a:rPr b="1" dirty="0" lang="en-US" smtClean="0">
                <a:solidFill>
                  <a:srgbClr val="E828B6"/>
                </a:solidFill>
                <a:effectLst/>
                <a:latin typeface="Calibri" pitchFamily="34" charset="0"/>
              </a:rPr>
              <a:t> Stress Management</a:t>
            </a:r>
            <a:r>
              <a:rPr b="1" dirty="0" lang="en-US" smtClean="0">
                <a:effectLst/>
                <a:latin typeface="Calibri" pitchFamily="34" charset="0"/>
              </a:rPr>
              <a:t>:</a:t>
            </a:r>
          </a:p>
          <a:p>
            <a:pPr>
              <a:buFont typeface="Wingdings" pitchFamily="2" charset="2"/>
              <a:buChar char="Ø"/>
            </a:pPr>
            <a:r>
              <a:rPr dirty="0" lang="en-US" smtClean="0">
                <a:effectLst/>
                <a:latin typeface="Calibri" pitchFamily="34" charset="0"/>
              </a:rPr>
              <a:t>Main </a:t>
            </a:r>
            <a:r>
              <a:rPr dirty="0" lang="en-US" smtClean="0">
                <a:latin typeface="Calibri" pitchFamily="34" charset="0"/>
              </a:rPr>
              <a:t> sources are , normal strains of pregnancy, frequent  prenatal visits and prolonged </a:t>
            </a:r>
            <a:r>
              <a:rPr dirty="0" lang="en-US" err="1" smtClean="0">
                <a:latin typeface="Calibri" pitchFamily="34" charset="0"/>
              </a:rPr>
              <a:t>hospitalisation</a:t>
            </a:r>
            <a:r>
              <a:rPr dirty="0" lang="en-US" smtClean="0">
                <a:latin typeface="Calibri" pitchFamily="34" charset="0"/>
              </a:rPr>
              <a:t>.</a:t>
            </a:r>
          </a:p>
          <a:p>
            <a:pPr>
              <a:buFont typeface="Wingdings" pitchFamily="2" charset="2"/>
              <a:buChar char="Ø"/>
            </a:pPr>
            <a:r>
              <a:rPr dirty="0" lang="en-US" smtClean="0">
                <a:latin typeface="Calibri" pitchFamily="34" charset="0"/>
              </a:rPr>
              <a:t>So, help the client to establish ways of dealing with it. </a:t>
            </a:r>
            <a:endParaRPr dirty="0" lang="en-US">
              <a:latin typeface="Calibri" pitchFamily="34" charset="0"/>
            </a:endParaRPr>
          </a:p>
        </p:txBody>
      </p:sp>
      <p:sp>
        <p:nvSpPr>
          <p:cNvPr id="104947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048" name=""/>
        <p:cNvGrpSpPr/>
        <p:nvPr/>
      </p:nvGrpSpPr>
      <p:grpSpPr>
        <a:xfrm>
          <a:off x="0" y="0"/>
          <a:ext cx="0" cy="0"/>
          <a:chOff x="0" y="0"/>
          <a:chExt cx="0" cy="0"/>
        </a:xfrm>
      </p:grpSpPr>
      <p:sp>
        <p:nvSpPr>
          <p:cNvPr id="1049477" name="Content Placeholder 2"/>
          <p:cNvSpPr>
            <a:spLocks noGrp="1"/>
          </p:cNvSpPr>
          <p:nvPr>
            <p:ph sz="quarter" idx="1"/>
          </p:nvPr>
        </p:nvSpPr>
        <p:spPr>
          <a:xfrm>
            <a:off x="190500" y="1371602"/>
            <a:ext cx="10953750" cy="4759325"/>
          </a:xfrm>
        </p:spPr>
        <p:txBody>
          <a:bodyPr/>
          <a:p>
            <a:r>
              <a:rPr b="1" dirty="0" sz="3600" lang="en-US" smtClean="0">
                <a:solidFill>
                  <a:srgbClr val="E828B6"/>
                </a:solidFill>
                <a:latin typeface="Calibri" pitchFamily="34" charset="0"/>
              </a:rPr>
              <a:t>Financial Implication(Involvement):</a:t>
            </a:r>
          </a:p>
          <a:p>
            <a:pPr>
              <a:buFont typeface="Wingdings" pitchFamily="2" charset="2"/>
              <a:buChar char="Ø"/>
            </a:pPr>
            <a:r>
              <a:rPr dirty="0" sz="3600" lang="en-US" smtClean="0">
                <a:effectLst/>
                <a:latin typeface="Calibri" pitchFamily="34" charset="0"/>
              </a:rPr>
              <a:t>The whole process will be extra expensive compared to a normal non-DM client.</a:t>
            </a:r>
          </a:p>
          <a:p>
            <a:pPr>
              <a:buFont typeface="Wingdings" pitchFamily="2" charset="2"/>
              <a:buChar char="Ø"/>
            </a:pPr>
            <a:r>
              <a:rPr dirty="0" sz="3600" lang="en-US" smtClean="0">
                <a:effectLst/>
                <a:latin typeface="Calibri" pitchFamily="34" charset="0"/>
              </a:rPr>
              <a:t>Expenses are amassed  from, change to insulin , frequent investigations , </a:t>
            </a:r>
            <a:r>
              <a:rPr dirty="0" sz="3600" lang="en-US" err="1" smtClean="0">
                <a:effectLst/>
                <a:latin typeface="Calibri" pitchFamily="34" charset="0"/>
              </a:rPr>
              <a:t>hospitalisation</a:t>
            </a:r>
            <a:r>
              <a:rPr dirty="0" sz="3600" lang="en-US" smtClean="0">
                <a:effectLst/>
                <a:latin typeface="Calibri" pitchFamily="34" charset="0"/>
              </a:rPr>
              <a:t>  and mode of delivery among others.  </a:t>
            </a:r>
            <a:endParaRPr dirty="0" sz="3600" lang="en-US">
              <a:effectLst/>
              <a:latin typeface="Calibri" pitchFamily="34" charset="0"/>
            </a:endParaRPr>
          </a:p>
        </p:txBody>
      </p:sp>
      <p:sp>
        <p:nvSpPr>
          <p:cNvPr id="104947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049" name=""/>
        <p:cNvGrpSpPr/>
        <p:nvPr/>
      </p:nvGrpSpPr>
      <p:grpSpPr>
        <a:xfrm>
          <a:off x="0" y="0"/>
          <a:ext cx="0" cy="0"/>
          <a:chOff x="0" y="0"/>
          <a:chExt cx="0" cy="0"/>
        </a:xfrm>
      </p:grpSpPr>
      <p:sp>
        <p:nvSpPr>
          <p:cNvPr id="1049479" name="Content Placeholder 2"/>
          <p:cNvSpPr>
            <a:spLocks noGrp="1"/>
          </p:cNvSpPr>
          <p:nvPr>
            <p:ph sz="quarter" idx="1"/>
          </p:nvPr>
        </p:nvSpPr>
        <p:spPr>
          <a:xfrm>
            <a:off x="571500" y="1295403"/>
            <a:ext cx="10287000" cy="4835525"/>
          </a:xfrm>
        </p:spPr>
        <p:txBody>
          <a:bodyPr>
            <a:normAutofit/>
          </a:bodyPr>
          <a:p>
            <a:pPr>
              <a:buNone/>
            </a:pPr>
            <a:r>
              <a:rPr b="1" dirty="0" lang="en-US" smtClean="0">
                <a:solidFill>
                  <a:srgbClr val="E828B6"/>
                </a:solidFill>
                <a:latin typeface="Calibri" pitchFamily="34" charset="0"/>
              </a:rPr>
              <a:t>	Medical  &amp; Surgical risks</a:t>
            </a:r>
            <a:r>
              <a:rPr b="1" dirty="0" lang="en-US" smtClean="0">
                <a:latin typeface="Calibri" pitchFamily="34" charset="0"/>
              </a:rPr>
              <a:t>:</a:t>
            </a:r>
          </a:p>
          <a:p>
            <a:r>
              <a:rPr dirty="0" lang="en-US" smtClean="0">
                <a:effectLst/>
                <a:latin typeface="Calibri" pitchFamily="34" charset="0"/>
              </a:rPr>
              <a:t>Change from oral </a:t>
            </a:r>
            <a:r>
              <a:rPr dirty="0" lang="en-US" err="1" smtClean="0">
                <a:effectLst/>
                <a:latin typeface="Calibri" pitchFamily="34" charset="0"/>
              </a:rPr>
              <a:t>hypoglycaemic</a:t>
            </a:r>
            <a:r>
              <a:rPr dirty="0" lang="en-US" smtClean="0">
                <a:effectLst/>
                <a:latin typeface="Calibri" pitchFamily="34" charset="0"/>
              </a:rPr>
              <a:t> agents to insulin injection or increased insulin dose to maintain control.</a:t>
            </a:r>
          </a:p>
          <a:p>
            <a:pPr>
              <a:buFont typeface="Wingdings" pitchFamily="2" charset="2"/>
              <a:buChar char="Ø"/>
            </a:pPr>
            <a:r>
              <a:rPr dirty="0" lang="en-US" smtClean="0">
                <a:effectLst/>
                <a:latin typeface="Calibri" pitchFamily="34" charset="0"/>
              </a:rPr>
              <a:t>Close monitoring and re-education to avoid hypoglycaemia  which is dangerous to both.</a:t>
            </a:r>
          </a:p>
          <a:p>
            <a:r>
              <a:rPr dirty="0" lang="en-US" smtClean="0">
                <a:effectLst/>
                <a:latin typeface="Calibri" pitchFamily="34" charset="0"/>
              </a:rPr>
              <a:t>Possibility of surgical delivery due to macrosomia. Healing of the </a:t>
            </a:r>
            <a:r>
              <a:rPr dirty="0" lang="en-US" err="1" smtClean="0">
                <a:effectLst/>
                <a:latin typeface="Calibri" pitchFamily="34" charset="0"/>
              </a:rPr>
              <a:t>incisional</a:t>
            </a:r>
            <a:r>
              <a:rPr dirty="0" lang="en-US" smtClean="0">
                <a:effectLst/>
                <a:latin typeface="Calibri" pitchFamily="34" charset="0"/>
              </a:rPr>
              <a:t> area occurs slowly hence extra care to prevent sepsis. </a:t>
            </a:r>
            <a:endParaRPr dirty="0" lang="en-US">
              <a:effectLst/>
              <a:latin typeface="Calibri" pitchFamily="34" charset="0"/>
            </a:endParaRPr>
          </a:p>
        </p:txBody>
      </p:sp>
      <p:sp>
        <p:nvSpPr>
          <p:cNvPr id="104948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050" name=""/>
        <p:cNvGrpSpPr/>
        <p:nvPr/>
      </p:nvGrpSpPr>
      <p:grpSpPr>
        <a:xfrm>
          <a:off x="0" y="0"/>
          <a:ext cx="0" cy="0"/>
          <a:chOff x="0" y="0"/>
          <a:chExt cx="0" cy="0"/>
        </a:xfrm>
      </p:grpSpPr>
      <p:sp>
        <p:nvSpPr>
          <p:cNvPr id="1049481" name="Content Placeholder 2"/>
          <p:cNvSpPr>
            <a:spLocks noGrp="1"/>
          </p:cNvSpPr>
          <p:nvPr>
            <p:ph sz="quarter" idx="1"/>
          </p:nvPr>
        </p:nvSpPr>
        <p:spPr>
          <a:xfrm>
            <a:off x="285750" y="1600200"/>
            <a:ext cx="10572750" cy="5105400"/>
          </a:xfrm>
        </p:spPr>
        <p:txBody>
          <a:bodyPr>
            <a:normAutofit/>
          </a:bodyPr>
          <a:p>
            <a:r>
              <a:rPr b="1" dirty="0" lang="en-US" smtClean="0">
                <a:solidFill>
                  <a:srgbClr val="E828B6"/>
                </a:solidFill>
                <a:latin typeface="Calibri" pitchFamily="34" charset="0"/>
              </a:rPr>
              <a:t>Family size </a:t>
            </a:r>
            <a:r>
              <a:rPr b="1" dirty="0" lang="en-US" smtClean="0">
                <a:latin typeface="Calibri" pitchFamily="34" charset="0"/>
              </a:rPr>
              <a:t>:</a:t>
            </a:r>
          </a:p>
          <a:p>
            <a:pPr>
              <a:buFont typeface="Wingdings" pitchFamily="2" charset="2"/>
              <a:buChar char="Ø"/>
            </a:pPr>
            <a:r>
              <a:rPr dirty="0" lang="en-US" smtClean="0">
                <a:effectLst/>
                <a:latin typeface="Calibri" pitchFamily="34" charset="0"/>
              </a:rPr>
              <a:t>Recommended delivers are 3(three) in absence of complications, since pregnancy state affects  diabetes severely.</a:t>
            </a:r>
          </a:p>
          <a:p>
            <a:r>
              <a:rPr b="1" dirty="0" lang="en-US" smtClean="0">
                <a:solidFill>
                  <a:srgbClr val="E828B6"/>
                </a:solidFill>
                <a:effectLst/>
                <a:latin typeface="Calibri" pitchFamily="34" charset="0"/>
              </a:rPr>
              <a:t>Diet</a:t>
            </a:r>
            <a:r>
              <a:rPr b="1" dirty="0" lang="en-US" smtClean="0">
                <a:effectLst/>
                <a:latin typeface="Calibri" pitchFamily="34" charset="0"/>
              </a:rPr>
              <a:t>:</a:t>
            </a:r>
          </a:p>
          <a:p>
            <a:pPr>
              <a:buFont typeface="Wingdings" pitchFamily="2" charset="2"/>
              <a:buChar char="Ø"/>
            </a:pPr>
            <a:r>
              <a:rPr dirty="0" lang="en-US" smtClean="0">
                <a:effectLst/>
                <a:latin typeface="Calibri" pitchFamily="34" charset="0"/>
              </a:rPr>
              <a:t>Through a dietician/ nutritionist advise, she is expected to adhere on a diet of  about 50% carbohydrate, 25% proteins, 25% fat, whole grain </a:t>
            </a:r>
            <a:r>
              <a:rPr dirty="0" lang="en-US" err="1" smtClean="0">
                <a:effectLst/>
                <a:latin typeface="Calibri" pitchFamily="34" charset="0"/>
              </a:rPr>
              <a:t>fibre</a:t>
            </a:r>
            <a:r>
              <a:rPr dirty="0" lang="en-US" smtClean="0">
                <a:effectLst/>
                <a:latin typeface="Calibri" pitchFamily="34" charset="0"/>
              </a:rPr>
              <a:t> , fruits &amp; vegetables liberally. </a:t>
            </a:r>
          </a:p>
          <a:p>
            <a:pPr>
              <a:buFont typeface="Wingdings" pitchFamily="2" charset="2"/>
              <a:buChar char="Ø"/>
            </a:pPr>
            <a:endParaRPr b="1" dirty="0" sz="2800" lang="en-US" smtClean="0">
              <a:effectLst/>
              <a:latin typeface="Calibri" pitchFamily="34" charset="0"/>
            </a:endParaRPr>
          </a:p>
        </p:txBody>
      </p:sp>
      <p:sp>
        <p:nvSpPr>
          <p:cNvPr id="104948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051" name=""/>
        <p:cNvGrpSpPr/>
        <p:nvPr/>
      </p:nvGrpSpPr>
      <p:grpSpPr>
        <a:xfrm>
          <a:off x="0" y="0"/>
          <a:ext cx="0" cy="0"/>
          <a:chOff x="0" y="0"/>
          <a:chExt cx="0" cy="0"/>
        </a:xfrm>
      </p:grpSpPr>
      <p:sp>
        <p:nvSpPr>
          <p:cNvPr id="1049483" name="Content Placeholder 2"/>
          <p:cNvSpPr>
            <a:spLocks noGrp="1"/>
          </p:cNvSpPr>
          <p:nvPr>
            <p:ph sz="quarter" idx="1"/>
          </p:nvPr>
        </p:nvSpPr>
        <p:spPr>
          <a:xfrm>
            <a:off x="190500" y="1600200"/>
            <a:ext cx="10668000" cy="4572000"/>
          </a:xfrm>
        </p:spPr>
        <p:txBody>
          <a:bodyPr>
            <a:noAutofit/>
          </a:bodyPr>
          <a:p>
            <a:pPr>
              <a:buFont typeface="Wingdings" pitchFamily="2" charset="2"/>
              <a:buChar char="Ø"/>
            </a:pPr>
            <a:r>
              <a:rPr dirty="0" sz="3600" lang="en-US" smtClean="0">
                <a:effectLst/>
                <a:latin typeface="Calibri" pitchFamily="34" charset="0"/>
              </a:rPr>
              <a:t>Fetus uses more glucose  because , its more simplified and crosses the placenta barrier  easily compared to any other nutrients.</a:t>
            </a:r>
          </a:p>
          <a:p>
            <a:pPr>
              <a:buFont typeface="Wingdings" pitchFamily="2" charset="2"/>
              <a:buChar char="Ø"/>
            </a:pPr>
            <a:r>
              <a:rPr dirty="0" sz="3600" lang="en-US" smtClean="0">
                <a:effectLst/>
                <a:latin typeface="Calibri" pitchFamily="34" charset="0"/>
              </a:rPr>
              <a:t>To have 3 small meals and 3 snacks daily , to maintain regular meal time, so as to have equal blood glucose concentration all through .</a:t>
            </a:r>
            <a:endParaRPr dirty="0" sz="3600" lang="en-US">
              <a:effectLst/>
              <a:latin typeface="Calibri" pitchFamily="34" charset="0"/>
            </a:endParaRPr>
          </a:p>
        </p:txBody>
      </p:sp>
      <p:sp>
        <p:nvSpPr>
          <p:cNvPr id="104948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052" name=""/>
        <p:cNvGrpSpPr/>
        <p:nvPr/>
      </p:nvGrpSpPr>
      <p:grpSpPr>
        <a:xfrm>
          <a:off x="0" y="0"/>
          <a:ext cx="0" cy="0"/>
          <a:chOff x="0" y="0"/>
          <a:chExt cx="0" cy="0"/>
        </a:xfrm>
      </p:grpSpPr>
      <p:sp>
        <p:nvSpPr>
          <p:cNvPr id="1049485" name="Content Placeholder 2"/>
          <p:cNvSpPr>
            <a:spLocks noGrp="1"/>
          </p:cNvSpPr>
          <p:nvPr>
            <p:ph sz="quarter" idx="1"/>
          </p:nvPr>
        </p:nvSpPr>
        <p:spPr>
          <a:xfrm>
            <a:off x="0" y="1295403"/>
            <a:ext cx="11239500" cy="4835525"/>
          </a:xfrm>
        </p:spPr>
        <p:txBody>
          <a:bodyPr/>
          <a:p>
            <a:pPr>
              <a:buNone/>
            </a:pPr>
            <a:r>
              <a:rPr dirty="0" lang="en-US" smtClean="0">
                <a:solidFill>
                  <a:srgbClr val="E828B6"/>
                </a:solidFill>
                <a:effectLst/>
                <a:latin typeface="Calibri" pitchFamily="34" charset="0"/>
              </a:rPr>
              <a:t>  NB:</a:t>
            </a:r>
            <a:r>
              <a:rPr dirty="0" lang="en-US" smtClean="0">
                <a:effectLst/>
                <a:latin typeface="Calibri" pitchFamily="34" charset="0"/>
              </a:rPr>
              <a:t> </a:t>
            </a:r>
            <a:endParaRPr dirty="0" lang="en-US" smtClean="0">
              <a:solidFill>
                <a:srgbClr val="E828B6"/>
              </a:solidFill>
              <a:effectLst/>
              <a:latin typeface="Calibri" pitchFamily="34" charset="0"/>
            </a:endParaRPr>
          </a:p>
          <a:p>
            <a:r>
              <a:rPr dirty="0" lang="en-US" smtClean="0">
                <a:effectLst/>
                <a:latin typeface="Calibri" pitchFamily="34" charset="0"/>
              </a:rPr>
              <a:t>Folic acid supplements to reduce risk of congenital abnormalities are commenced and continues up to 12 weeks prenatally.</a:t>
            </a:r>
          </a:p>
          <a:p>
            <a:r>
              <a:rPr dirty="0" lang="en-US" smtClean="0">
                <a:effectLst/>
                <a:latin typeface="Calibri" pitchFamily="34" charset="0"/>
              </a:rPr>
              <a:t>Evaluate for retinopathy &amp; nephropathy respectively through various investigations and accurate interpretation of results .</a:t>
            </a:r>
          </a:p>
          <a:p>
            <a:pPr>
              <a:buFont typeface="Wingdings" pitchFamily="2" charset="2"/>
              <a:buChar char="Ø"/>
            </a:pPr>
            <a:r>
              <a:rPr dirty="0" lang="en-US" smtClean="0">
                <a:effectLst/>
                <a:latin typeface="Calibri" pitchFamily="34" charset="0"/>
              </a:rPr>
              <a:t>For presence of any of the complications procreation is not advisable to prevent life threatening  outcomes. </a:t>
            </a:r>
          </a:p>
          <a:p>
            <a:endParaRPr dirty="0" lang="en-US">
              <a:latin typeface="Calibri" pitchFamily="34" charset="0"/>
            </a:endParaRPr>
          </a:p>
        </p:txBody>
      </p:sp>
      <p:sp>
        <p:nvSpPr>
          <p:cNvPr id="104948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053" name=""/>
        <p:cNvGrpSpPr/>
        <p:nvPr/>
      </p:nvGrpSpPr>
      <p:grpSpPr>
        <a:xfrm>
          <a:off x="0" y="0"/>
          <a:ext cx="0" cy="0"/>
          <a:chOff x="0" y="0"/>
          <a:chExt cx="0" cy="0"/>
        </a:xfrm>
      </p:grpSpPr>
      <p:sp>
        <p:nvSpPr>
          <p:cNvPr id="1049487" name="Title 1"/>
          <p:cNvSpPr>
            <a:spLocks noGrp="1"/>
          </p:cNvSpPr>
          <p:nvPr>
            <p:ph type="title"/>
          </p:nvPr>
        </p:nvSpPr>
        <p:spPr>
          <a:xfrm>
            <a:off x="571500" y="277822"/>
            <a:ext cx="10287000" cy="865187"/>
          </a:xfrm>
        </p:spPr>
        <p:txBody>
          <a:bodyPr/>
          <a:p>
            <a:r>
              <a:rPr b="1" dirty="0" sz="4400" i="1" lang="en-US" smtClean="0">
                <a:solidFill>
                  <a:srgbClr val="00B0F0"/>
                </a:solidFill>
              </a:rPr>
              <a:t>Prenatal Care</a:t>
            </a:r>
            <a:endParaRPr dirty="0" lang="en-US"/>
          </a:p>
        </p:txBody>
      </p:sp>
      <p:sp>
        <p:nvSpPr>
          <p:cNvPr id="1049488" name="Content Placeholder 2"/>
          <p:cNvSpPr>
            <a:spLocks noGrp="1"/>
          </p:cNvSpPr>
          <p:nvPr>
            <p:ph sz="quarter" idx="1"/>
          </p:nvPr>
        </p:nvSpPr>
        <p:spPr>
          <a:xfrm>
            <a:off x="190500" y="1295400"/>
            <a:ext cx="10953750" cy="5029200"/>
          </a:xfrm>
        </p:spPr>
        <p:txBody>
          <a:bodyPr/>
          <a:p>
            <a:r>
              <a:rPr dirty="0" sz="3000" lang="en-US" smtClean="0">
                <a:effectLst/>
              </a:rPr>
              <a:t>Among the routine services are , screening tests for DM at booking and  on every visit, through urinalysis.</a:t>
            </a:r>
          </a:p>
          <a:p>
            <a:r>
              <a:rPr dirty="0" sz="3000" lang="en-US" smtClean="0">
                <a:effectLst/>
              </a:rPr>
              <a:t>Care is under a multidisciplinary  team consisting of , an obstetrician, </a:t>
            </a:r>
            <a:r>
              <a:rPr dirty="0" sz="3000" lang="en-US" err="1" smtClean="0">
                <a:effectLst/>
              </a:rPr>
              <a:t>diabetologist</a:t>
            </a:r>
            <a:r>
              <a:rPr dirty="0" sz="3000" lang="en-US" smtClean="0">
                <a:effectLst/>
              </a:rPr>
              <a:t> /physician, nutritionist/dietician ,</a:t>
            </a:r>
            <a:r>
              <a:rPr dirty="0" sz="3000" lang="en-US" err="1" smtClean="0">
                <a:effectLst/>
              </a:rPr>
              <a:t>paeditrician</a:t>
            </a:r>
            <a:r>
              <a:rPr dirty="0" sz="3000" lang="en-US" smtClean="0">
                <a:effectLst/>
              </a:rPr>
              <a:t>  and midwife.</a:t>
            </a:r>
          </a:p>
          <a:p>
            <a:r>
              <a:rPr dirty="0" sz="3000" lang="en-US" smtClean="0">
                <a:effectLst/>
              </a:rPr>
              <a:t>Particularly at booking visit, blood glucose levels are closely assessed through;</a:t>
            </a:r>
          </a:p>
          <a:p>
            <a:pPr>
              <a:buFont typeface="Wingdings" pitchFamily="2" charset="2"/>
              <a:buChar char="Ø"/>
            </a:pPr>
            <a:r>
              <a:rPr dirty="0" sz="3000" lang="en-US" smtClean="0">
                <a:effectLst/>
              </a:rPr>
              <a:t>Post </a:t>
            </a:r>
            <a:r>
              <a:rPr dirty="0" sz="3000" lang="en-US" err="1" smtClean="0">
                <a:effectLst/>
              </a:rPr>
              <a:t>pradial</a:t>
            </a:r>
            <a:r>
              <a:rPr dirty="0" sz="3000" lang="en-US" smtClean="0">
                <a:effectLst/>
              </a:rPr>
              <a:t> </a:t>
            </a:r>
            <a:r>
              <a:rPr dirty="0" sz="3000" lang="en-US" err="1" smtClean="0">
                <a:effectLst/>
              </a:rPr>
              <a:t>ie</a:t>
            </a:r>
            <a:r>
              <a:rPr dirty="0" sz="3000" lang="en-US" smtClean="0">
                <a:effectLst/>
              </a:rPr>
              <a:t> 2 hrs after having eaten. Bs levels are expected to be ˂ 8.6 </a:t>
            </a:r>
            <a:r>
              <a:rPr dirty="0" sz="3000" lang="en-US" err="1" smtClean="0">
                <a:effectLst/>
              </a:rPr>
              <a:t>mmol</a:t>
            </a:r>
            <a:r>
              <a:rPr dirty="0" sz="3000" lang="en-US" smtClean="0">
                <a:effectLst/>
              </a:rPr>
              <a:t>/L</a:t>
            </a:r>
            <a:endParaRPr dirty="0" sz="3000" lang="en-US">
              <a:effectLst/>
            </a:endParaRPr>
          </a:p>
        </p:txBody>
      </p:sp>
      <p:sp>
        <p:nvSpPr>
          <p:cNvPr id="104948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054" name=""/>
        <p:cNvGrpSpPr/>
        <p:nvPr/>
      </p:nvGrpSpPr>
      <p:grpSpPr>
        <a:xfrm>
          <a:off x="0" y="0"/>
          <a:ext cx="0" cy="0"/>
          <a:chOff x="0" y="0"/>
          <a:chExt cx="0" cy="0"/>
        </a:xfrm>
      </p:grpSpPr>
      <p:sp>
        <p:nvSpPr>
          <p:cNvPr id="1049490" name="Content Placeholder 2"/>
          <p:cNvSpPr>
            <a:spLocks noGrp="1"/>
          </p:cNvSpPr>
          <p:nvPr>
            <p:ph sz="quarter" idx="1"/>
          </p:nvPr>
        </p:nvSpPr>
        <p:spPr>
          <a:xfrm>
            <a:off x="1" y="1600200"/>
            <a:ext cx="10957559" cy="4495800"/>
          </a:xfrm>
        </p:spPr>
        <p:txBody>
          <a:bodyPr/>
          <a:p>
            <a:pPr>
              <a:buFont typeface="Wingdings" pitchFamily="2" charset="2"/>
              <a:buChar char="Ø"/>
            </a:pPr>
            <a:r>
              <a:rPr dirty="0" lang="en-US" smtClean="0">
                <a:latin typeface="Calibri" pitchFamily="34" charset="0"/>
              </a:rPr>
              <a:t>If &gt; 8.6 </a:t>
            </a:r>
            <a:r>
              <a:rPr dirty="0" lang="en-US" err="1" smtClean="0">
                <a:latin typeface="Calibri" pitchFamily="34" charset="0"/>
              </a:rPr>
              <a:t>mmol</a:t>
            </a:r>
            <a:r>
              <a:rPr dirty="0" lang="en-US" smtClean="0">
                <a:latin typeface="Calibri" pitchFamily="34" charset="0"/>
              </a:rPr>
              <a:t>/L , she is booked for GTT.</a:t>
            </a:r>
          </a:p>
          <a:p>
            <a:pPr>
              <a:buFont typeface="Wingdings" pitchFamily="2" charset="2"/>
              <a:buChar char="Ø"/>
            </a:pPr>
            <a:r>
              <a:rPr dirty="0" lang="en-US" smtClean="0">
                <a:latin typeface="Calibri" pitchFamily="34" charset="0"/>
              </a:rPr>
              <a:t>Glycated haemoglobin ,to assess oxygen carrying capacity and it’s repeated monthly.</a:t>
            </a:r>
          </a:p>
          <a:p>
            <a:pPr>
              <a:buFont typeface="Wingdings" pitchFamily="2" charset="2"/>
              <a:buChar char="Ø"/>
            </a:pPr>
            <a:r>
              <a:rPr dirty="0" lang="en-US" smtClean="0">
                <a:latin typeface="Calibri" pitchFamily="34" charset="0"/>
              </a:rPr>
              <a:t>Urinalysis,  for microscopy culture and sensitivity  for possibility of UTI.</a:t>
            </a:r>
          </a:p>
          <a:p>
            <a:r>
              <a:rPr dirty="0" lang="en-US" smtClean="0">
                <a:latin typeface="Calibri" pitchFamily="34" charset="0"/>
              </a:rPr>
              <a:t>2 weekly  visit , </a:t>
            </a:r>
            <a:r>
              <a:rPr dirty="0" lang="en-US" err="1" smtClean="0">
                <a:latin typeface="Calibri" pitchFamily="34" charset="0"/>
              </a:rPr>
              <a:t>upto</a:t>
            </a:r>
            <a:r>
              <a:rPr dirty="0" lang="en-US" smtClean="0">
                <a:latin typeface="Calibri" pitchFamily="34" charset="0"/>
              </a:rPr>
              <a:t> a gestation of 28 weeks to maintain good control , thereafter perhaps weekly till term. </a:t>
            </a:r>
            <a:endParaRPr dirty="0" lang="en-US">
              <a:latin typeface="Calibri" pitchFamily="34" charset="0"/>
            </a:endParaRPr>
          </a:p>
        </p:txBody>
      </p:sp>
      <p:sp>
        <p:nvSpPr>
          <p:cNvPr id="104949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055" name=""/>
        <p:cNvGrpSpPr/>
        <p:nvPr/>
      </p:nvGrpSpPr>
      <p:grpSpPr>
        <a:xfrm>
          <a:off x="0" y="0"/>
          <a:ext cx="0" cy="0"/>
          <a:chOff x="0" y="0"/>
          <a:chExt cx="0" cy="0"/>
        </a:xfrm>
      </p:grpSpPr>
      <p:sp>
        <p:nvSpPr>
          <p:cNvPr id="1049492" name="Content Placeholder 2"/>
          <p:cNvSpPr>
            <a:spLocks noGrp="1"/>
          </p:cNvSpPr>
          <p:nvPr>
            <p:ph sz="quarter" idx="1"/>
          </p:nvPr>
        </p:nvSpPr>
        <p:spPr>
          <a:xfrm>
            <a:off x="190500" y="1447809"/>
            <a:ext cx="10953750" cy="4683125"/>
          </a:xfrm>
        </p:spPr>
        <p:txBody>
          <a:bodyPr>
            <a:normAutofit/>
          </a:bodyPr>
          <a:p>
            <a:r>
              <a:rPr dirty="0" lang="en-US" smtClean="0"/>
              <a:t>Sometimes ,admission occurs at  around 20 weeks for </a:t>
            </a:r>
            <a:r>
              <a:rPr dirty="0" lang="en-US" err="1" smtClean="0"/>
              <a:t>stabilisation</a:t>
            </a:r>
            <a:r>
              <a:rPr dirty="0" lang="en-US" smtClean="0"/>
              <a:t> because insulin requirements rises fast. </a:t>
            </a:r>
          </a:p>
          <a:p>
            <a:r>
              <a:rPr dirty="0" lang="en-US" smtClean="0"/>
              <a:t>Soluble insulin is used  at a sliding scale as per blood sugar results . Thereafter  ct with intermediate acting insulin.</a:t>
            </a:r>
          </a:p>
          <a:p>
            <a:r>
              <a:rPr dirty="0" lang="en-US" smtClean="0"/>
              <a:t>Maintain records of BS before every meal and 6 hourly urinalysis. Vital signs &amp; FHS every 4 hrly.</a:t>
            </a:r>
          </a:p>
          <a:p>
            <a:pPr>
              <a:buFont typeface="Wingdings" pitchFamily="2" charset="2"/>
              <a:buChar char="Ø"/>
            </a:pPr>
            <a:r>
              <a:rPr dirty="0" lang="en-US" smtClean="0"/>
              <a:t>Fetal kick chart after instructing the mother correctly.  </a:t>
            </a:r>
            <a:endParaRPr dirty="0" lang="en-US"/>
          </a:p>
        </p:txBody>
      </p:sp>
      <p:sp>
        <p:nvSpPr>
          <p:cNvPr id="104949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056" name=""/>
        <p:cNvGrpSpPr/>
        <p:nvPr/>
      </p:nvGrpSpPr>
      <p:grpSpPr>
        <a:xfrm>
          <a:off x="0" y="0"/>
          <a:ext cx="0" cy="0"/>
          <a:chOff x="0" y="0"/>
          <a:chExt cx="0" cy="0"/>
        </a:xfrm>
      </p:grpSpPr>
      <p:sp>
        <p:nvSpPr>
          <p:cNvPr id="1049494" name="Content Placeholder 2"/>
          <p:cNvSpPr>
            <a:spLocks noGrp="1"/>
          </p:cNvSpPr>
          <p:nvPr>
            <p:ph sz="quarter" idx="1"/>
          </p:nvPr>
        </p:nvSpPr>
        <p:spPr>
          <a:xfrm>
            <a:off x="285750" y="1371600"/>
            <a:ext cx="10572750" cy="4953000"/>
          </a:xfrm>
        </p:spPr>
        <p:txBody>
          <a:bodyPr/>
          <a:p>
            <a:r>
              <a:rPr dirty="0" sz="3400" lang="en-US" smtClean="0">
                <a:latin typeface="Calibri" pitchFamily="34" charset="0"/>
              </a:rPr>
              <a:t>Other fetal assessment measures includes;</a:t>
            </a:r>
          </a:p>
          <a:p>
            <a:pPr>
              <a:buFont typeface="Wingdings" pitchFamily="2" charset="2"/>
              <a:buChar char="Ø"/>
            </a:pPr>
            <a:r>
              <a:rPr dirty="0" sz="3400" lang="en-US" smtClean="0">
                <a:latin typeface="Calibri" pitchFamily="34" charset="0"/>
              </a:rPr>
              <a:t>Ultrasound  growth &amp; development as well as presence of congenital abnormalities.</a:t>
            </a:r>
          </a:p>
          <a:p>
            <a:pPr>
              <a:buFont typeface="Wingdings" pitchFamily="2" charset="2"/>
              <a:buChar char="Ø"/>
            </a:pPr>
            <a:r>
              <a:rPr dirty="0" sz="3400" lang="en-US" smtClean="0">
                <a:latin typeface="Calibri" pitchFamily="34" charset="0"/>
              </a:rPr>
              <a:t>Echocardiography at 20-22weeks to evaluate for cardiac abnormalities.</a:t>
            </a:r>
          </a:p>
          <a:p>
            <a:pPr>
              <a:buNone/>
            </a:pPr>
            <a:r>
              <a:rPr dirty="0" sz="3400" lang="en-US" smtClean="0">
                <a:solidFill>
                  <a:srgbClr val="E828B6"/>
                </a:solidFill>
                <a:latin typeface="Calibri" pitchFamily="34" charset="0"/>
              </a:rPr>
              <a:t>NB: </a:t>
            </a:r>
            <a:r>
              <a:rPr dirty="0" sz="3400" lang="en-US" smtClean="0">
                <a:latin typeface="Calibri" pitchFamily="34" charset="0"/>
              </a:rPr>
              <a:t>Human insulin “</a:t>
            </a:r>
            <a:r>
              <a:rPr dirty="0" sz="3400" lang="en-US" err="1" smtClean="0">
                <a:latin typeface="Calibri" pitchFamily="34" charset="0"/>
              </a:rPr>
              <a:t>Humilin</a:t>
            </a:r>
            <a:r>
              <a:rPr dirty="0" sz="3400" lang="en-US" smtClean="0">
                <a:latin typeface="Calibri" pitchFamily="34" charset="0"/>
              </a:rPr>
              <a:t> S” is the best since animal’s  </a:t>
            </a:r>
            <a:r>
              <a:rPr dirty="0" sz="3400" lang="en-US" err="1" smtClean="0">
                <a:latin typeface="Calibri" pitchFamily="34" charset="0"/>
              </a:rPr>
              <a:t>ie</a:t>
            </a:r>
            <a:r>
              <a:rPr dirty="0" sz="3400" lang="en-US" smtClean="0">
                <a:latin typeface="Calibri" pitchFamily="34" charset="0"/>
              </a:rPr>
              <a:t> </a:t>
            </a:r>
            <a:r>
              <a:rPr dirty="0" sz="3400" lang="en-US" err="1" smtClean="0">
                <a:latin typeface="Calibri" pitchFamily="34" charset="0"/>
              </a:rPr>
              <a:t>Porcaine</a:t>
            </a:r>
            <a:r>
              <a:rPr dirty="0" sz="3400" lang="en-US" smtClean="0">
                <a:latin typeface="Calibri" pitchFamily="34" charset="0"/>
              </a:rPr>
              <a:t> or Bovine damages the fetal insulin producing cells in the </a:t>
            </a:r>
            <a:r>
              <a:rPr dirty="0" sz="3400" lang="en-US" err="1" smtClean="0">
                <a:latin typeface="Calibri" pitchFamily="34" charset="0"/>
              </a:rPr>
              <a:t>pancrease</a:t>
            </a:r>
            <a:r>
              <a:rPr dirty="0" sz="3400" lang="en-US" smtClean="0">
                <a:latin typeface="Calibri" pitchFamily="34" charset="0"/>
              </a:rPr>
              <a:t>.</a:t>
            </a:r>
            <a:endParaRPr dirty="0" sz="3400" lang="en-US">
              <a:latin typeface="Calibri" pitchFamily="34" charset="0"/>
            </a:endParaRPr>
          </a:p>
        </p:txBody>
      </p:sp>
      <p:sp>
        <p:nvSpPr>
          <p:cNvPr id="104949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057" name=""/>
        <p:cNvGrpSpPr/>
        <p:nvPr/>
      </p:nvGrpSpPr>
      <p:grpSpPr>
        <a:xfrm>
          <a:off x="0" y="0"/>
          <a:ext cx="0" cy="0"/>
          <a:chOff x="0" y="0"/>
          <a:chExt cx="0" cy="0"/>
        </a:xfrm>
      </p:grpSpPr>
      <p:sp>
        <p:nvSpPr>
          <p:cNvPr id="1049496" name="Content Placeholder 2"/>
          <p:cNvSpPr>
            <a:spLocks noGrp="1"/>
          </p:cNvSpPr>
          <p:nvPr>
            <p:ph sz="quarter" idx="1"/>
          </p:nvPr>
        </p:nvSpPr>
        <p:spPr>
          <a:xfrm>
            <a:off x="285750" y="1295400"/>
            <a:ext cx="10572750" cy="5334000"/>
          </a:xfrm>
        </p:spPr>
        <p:txBody>
          <a:bodyPr>
            <a:normAutofit/>
          </a:bodyPr>
          <a:p>
            <a:r>
              <a:rPr dirty="0" lang="en-US" smtClean="0"/>
              <a:t>For gestational  diabetes cases, teach patient &amp; close relative (s) regarding monitoring and control of the condition in terms of:</a:t>
            </a:r>
          </a:p>
          <a:p>
            <a:pPr>
              <a:buFont typeface="Wingdings" pitchFamily="2" charset="2"/>
              <a:buChar char="Ø"/>
            </a:pPr>
            <a:r>
              <a:rPr dirty="0" lang="en-US" smtClean="0"/>
              <a:t>Regular BS estimation and accurate interpretation.</a:t>
            </a:r>
          </a:p>
          <a:p>
            <a:pPr>
              <a:buFont typeface="Wingdings" pitchFamily="2" charset="2"/>
              <a:buChar char="Ø"/>
            </a:pPr>
            <a:r>
              <a:rPr dirty="0" lang="en-US" smtClean="0"/>
              <a:t>Signs of </a:t>
            </a:r>
            <a:r>
              <a:rPr dirty="0" lang="en-US" err="1" smtClean="0"/>
              <a:t>hyperglycaemia</a:t>
            </a:r>
            <a:r>
              <a:rPr dirty="0" lang="en-US" smtClean="0"/>
              <a:t> and hypoglycaemia.</a:t>
            </a:r>
          </a:p>
          <a:p>
            <a:pPr>
              <a:buFont typeface="Wingdings" pitchFamily="2" charset="2"/>
              <a:buChar char="Ø"/>
            </a:pPr>
            <a:r>
              <a:rPr dirty="0" lang="en-US" smtClean="0"/>
              <a:t>Hygienic measures to include care of the feet.</a:t>
            </a:r>
          </a:p>
          <a:p>
            <a:pPr>
              <a:buFont typeface="Wingdings" pitchFamily="2" charset="2"/>
              <a:buChar char="Ø"/>
            </a:pPr>
            <a:r>
              <a:rPr dirty="0" lang="en-US" smtClean="0"/>
              <a:t>Storage &amp; administration of insulin.</a:t>
            </a:r>
          </a:p>
          <a:p>
            <a:pPr>
              <a:buFont typeface="Wingdings" pitchFamily="2" charset="2"/>
              <a:buChar char="Ø"/>
            </a:pPr>
            <a:r>
              <a:rPr dirty="0" lang="en-US" smtClean="0"/>
              <a:t>Recommended diet (as per pre-conception care).</a:t>
            </a:r>
          </a:p>
          <a:p>
            <a:pPr>
              <a:buNone/>
            </a:pPr>
            <a:r>
              <a:rPr b="1" dirty="0" lang="en-US" smtClean="0">
                <a:solidFill>
                  <a:srgbClr val="E828B6"/>
                </a:solidFill>
              </a:rPr>
              <a:t>NB: </a:t>
            </a:r>
            <a:r>
              <a:rPr dirty="0" lang="en-US" smtClean="0"/>
              <a:t>Sometimes, gestational DM is controlled by diet and exercises.</a:t>
            </a:r>
            <a:endParaRPr dirty="0" lang="en-US"/>
          </a:p>
        </p:txBody>
      </p:sp>
      <p:sp>
        <p:nvSpPr>
          <p:cNvPr id="104949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058" name=""/>
        <p:cNvGrpSpPr/>
        <p:nvPr/>
      </p:nvGrpSpPr>
      <p:grpSpPr>
        <a:xfrm>
          <a:off x="0" y="0"/>
          <a:ext cx="0" cy="0"/>
          <a:chOff x="0" y="0"/>
          <a:chExt cx="0" cy="0"/>
        </a:xfrm>
      </p:grpSpPr>
      <p:sp>
        <p:nvSpPr>
          <p:cNvPr id="1049498" name="Content Placeholder 2"/>
          <p:cNvSpPr>
            <a:spLocks noGrp="1"/>
          </p:cNvSpPr>
          <p:nvPr>
            <p:ph sz="quarter" idx="1"/>
          </p:nvPr>
        </p:nvSpPr>
        <p:spPr>
          <a:xfrm>
            <a:off x="285750" y="1447809"/>
            <a:ext cx="10572750" cy="4683125"/>
          </a:xfrm>
        </p:spPr>
        <p:txBody>
          <a:bodyPr>
            <a:normAutofit/>
          </a:bodyPr>
          <a:p>
            <a:r>
              <a:rPr dirty="0" lang="en-US" smtClean="0"/>
              <a:t>Generally remind all regarding hygiene &amp; diet.</a:t>
            </a:r>
          </a:p>
          <a:p>
            <a:r>
              <a:rPr dirty="0" lang="en-US" smtClean="0"/>
              <a:t>After </a:t>
            </a:r>
            <a:r>
              <a:rPr dirty="0" lang="en-US" err="1" smtClean="0"/>
              <a:t>stabilisation</a:t>
            </a:r>
            <a:r>
              <a:rPr dirty="0" lang="en-US" smtClean="0"/>
              <a:t>, discharge to CT with ANC as earlier stated.</a:t>
            </a:r>
          </a:p>
          <a:p>
            <a:r>
              <a:rPr dirty="0" lang="en-US" smtClean="0"/>
              <a:t>During every visit  either obstetrician or physician reviews alternatively.</a:t>
            </a:r>
          </a:p>
          <a:p>
            <a:r>
              <a:rPr dirty="0" lang="en-US" smtClean="0"/>
              <a:t>Together with other routine services, monitor BS to ensure </a:t>
            </a:r>
            <a:r>
              <a:rPr dirty="0" lang="en-US" err="1" smtClean="0"/>
              <a:t>euglycaemia</a:t>
            </a:r>
            <a:r>
              <a:rPr dirty="0" lang="en-US" smtClean="0"/>
              <a:t>, hence prevent complications.</a:t>
            </a:r>
          </a:p>
          <a:p>
            <a:r>
              <a:rPr dirty="0" lang="en-US" smtClean="0"/>
              <a:t>Evaluate  the heart and other organs regularly for complications &amp; intervene accordingly. </a:t>
            </a:r>
            <a:endParaRPr dirty="0" lang="en-US"/>
          </a:p>
        </p:txBody>
      </p:sp>
      <p:sp>
        <p:nvSpPr>
          <p:cNvPr id="104949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059" name=""/>
        <p:cNvGrpSpPr/>
        <p:nvPr/>
      </p:nvGrpSpPr>
      <p:grpSpPr>
        <a:xfrm>
          <a:off x="0" y="0"/>
          <a:ext cx="0" cy="0"/>
          <a:chOff x="0" y="0"/>
          <a:chExt cx="0" cy="0"/>
        </a:xfrm>
      </p:grpSpPr>
      <p:sp>
        <p:nvSpPr>
          <p:cNvPr id="1049500" name="Content Placeholder 2"/>
          <p:cNvSpPr>
            <a:spLocks noGrp="1"/>
          </p:cNvSpPr>
          <p:nvPr>
            <p:ph sz="quarter" idx="1"/>
          </p:nvPr>
        </p:nvSpPr>
        <p:spPr>
          <a:xfrm>
            <a:off x="381000" y="1524008"/>
            <a:ext cx="10763250" cy="4606925"/>
          </a:xfrm>
        </p:spPr>
        <p:txBody>
          <a:bodyPr>
            <a:normAutofit lnSpcReduction="10000"/>
          </a:bodyPr>
          <a:p>
            <a:r>
              <a:rPr dirty="0" lang="en-US" smtClean="0">
                <a:latin typeface="Calibri" pitchFamily="34" charset="0"/>
              </a:rPr>
              <a:t>Share on importance of:</a:t>
            </a:r>
          </a:p>
          <a:p>
            <a:pPr>
              <a:buFont typeface="Wingdings" pitchFamily="2" charset="2"/>
              <a:buChar char="Ø"/>
            </a:pPr>
            <a:r>
              <a:rPr dirty="0" lang="en-US" smtClean="0">
                <a:latin typeface="Calibri" pitchFamily="34" charset="0"/>
              </a:rPr>
              <a:t>Programmed exercises hence control </a:t>
            </a:r>
            <a:r>
              <a:rPr dirty="0" lang="en-US" err="1" smtClean="0">
                <a:latin typeface="Calibri" pitchFamily="34" charset="0"/>
              </a:rPr>
              <a:t>bld</a:t>
            </a:r>
            <a:r>
              <a:rPr dirty="0" lang="en-US" smtClean="0">
                <a:latin typeface="Calibri" pitchFamily="34" charset="0"/>
              </a:rPr>
              <a:t> sugar.</a:t>
            </a:r>
          </a:p>
          <a:p>
            <a:pPr>
              <a:buFont typeface="Wingdings" pitchFamily="2" charset="2"/>
              <a:buChar char="Ø"/>
            </a:pPr>
            <a:r>
              <a:rPr dirty="0" lang="en-US" smtClean="0">
                <a:latin typeface="Calibri" pitchFamily="34" charset="0"/>
              </a:rPr>
              <a:t>Regular estimation of BS and keep record.</a:t>
            </a:r>
          </a:p>
          <a:p>
            <a:pPr>
              <a:buFont typeface="Wingdings" pitchFamily="2" charset="2"/>
              <a:buChar char="Ø"/>
            </a:pPr>
            <a:r>
              <a:rPr dirty="0" lang="en-US" smtClean="0">
                <a:latin typeface="Calibri" pitchFamily="34" charset="0"/>
              </a:rPr>
              <a:t>Close monitoring of fetal kicks ,for abnormalities and seek medical attention promptly</a:t>
            </a:r>
          </a:p>
          <a:p>
            <a:pPr>
              <a:buNone/>
            </a:pPr>
            <a:r>
              <a:rPr b="1" dirty="0" lang="en-US" smtClean="0">
                <a:solidFill>
                  <a:srgbClr val="E828B6"/>
                </a:solidFill>
                <a:latin typeface="Calibri" pitchFamily="34" charset="0"/>
              </a:rPr>
              <a:t>NB: </a:t>
            </a:r>
            <a:r>
              <a:rPr dirty="0" lang="en-US" smtClean="0">
                <a:latin typeface="Calibri" pitchFamily="34" charset="0"/>
              </a:rPr>
              <a:t>Management of either preterm labour or </a:t>
            </a:r>
            <a:r>
              <a:rPr dirty="0" lang="en-US" err="1" smtClean="0">
                <a:latin typeface="Calibri" pitchFamily="34" charset="0"/>
              </a:rPr>
              <a:t>polyhydramnious</a:t>
            </a:r>
            <a:r>
              <a:rPr dirty="0" lang="en-US" smtClean="0">
                <a:latin typeface="Calibri" pitchFamily="34" charset="0"/>
              </a:rPr>
              <a:t> are difficult </a:t>
            </a:r>
            <a:r>
              <a:rPr dirty="0" lang="en-US" err="1" smtClean="0">
                <a:latin typeface="Calibri" pitchFamily="34" charset="0"/>
              </a:rPr>
              <a:t>bcoz</a:t>
            </a:r>
            <a:r>
              <a:rPr dirty="0" lang="en-US" smtClean="0">
                <a:latin typeface="Calibri" pitchFamily="34" charset="0"/>
              </a:rPr>
              <a:t> the respective drugs  </a:t>
            </a:r>
            <a:r>
              <a:rPr dirty="0" lang="en-US" err="1" smtClean="0">
                <a:latin typeface="Calibri" pitchFamily="34" charset="0"/>
              </a:rPr>
              <a:t>ie</a:t>
            </a:r>
            <a:r>
              <a:rPr dirty="0" lang="en-US" smtClean="0">
                <a:latin typeface="Calibri" pitchFamily="34" charset="0"/>
              </a:rPr>
              <a:t> </a:t>
            </a:r>
            <a:r>
              <a:rPr dirty="0" lang="en-US" err="1" smtClean="0">
                <a:latin typeface="Calibri" pitchFamily="34" charset="0"/>
              </a:rPr>
              <a:t>sulbutamol</a:t>
            </a:r>
            <a:r>
              <a:rPr dirty="0" lang="en-US" smtClean="0">
                <a:latin typeface="Calibri" pitchFamily="34" charset="0"/>
              </a:rPr>
              <a:t> &amp; steroids are diabetogenic </a:t>
            </a:r>
          </a:p>
          <a:p>
            <a:pPr>
              <a:buFont typeface="Wingdings" pitchFamily="2" charset="2"/>
              <a:buChar char="ü"/>
            </a:pPr>
            <a:r>
              <a:rPr dirty="0" lang="en-US" smtClean="0">
                <a:latin typeface="Calibri" pitchFamily="34" charset="0"/>
              </a:rPr>
              <a:t>So IV insulin and glucose infusion are recommended to ensure </a:t>
            </a:r>
            <a:r>
              <a:rPr dirty="0" lang="en-US" err="1" smtClean="0">
                <a:latin typeface="Calibri" pitchFamily="34" charset="0"/>
              </a:rPr>
              <a:t>normoglycaemia</a:t>
            </a:r>
            <a:r>
              <a:rPr dirty="0" lang="en-US" smtClean="0">
                <a:latin typeface="Calibri" pitchFamily="34" charset="0"/>
              </a:rPr>
              <a:t>. </a:t>
            </a:r>
            <a:endParaRPr dirty="0" lang="en-US">
              <a:latin typeface="Calibri" pitchFamily="34" charset="0"/>
            </a:endParaRPr>
          </a:p>
        </p:txBody>
      </p:sp>
      <p:sp>
        <p:nvSpPr>
          <p:cNvPr id="104950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060" name=""/>
        <p:cNvGrpSpPr/>
        <p:nvPr/>
      </p:nvGrpSpPr>
      <p:grpSpPr>
        <a:xfrm>
          <a:off x="0" y="0"/>
          <a:ext cx="0" cy="0"/>
          <a:chOff x="0" y="0"/>
          <a:chExt cx="0" cy="0"/>
        </a:xfrm>
      </p:grpSpPr>
      <p:sp>
        <p:nvSpPr>
          <p:cNvPr id="1049502" name="Title 1"/>
          <p:cNvSpPr>
            <a:spLocks noGrp="1"/>
          </p:cNvSpPr>
          <p:nvPr>
            <p:ph type="title"/>
          </p:nvPr>
        </p:nvSpPr>
        <p:spPr/>
        <p:txBody>
          <a:bodyPr/>
          <a:p>
            <a:r>
              <a:rPr b="1" dirty="0" lang="en-US" smtClean="0">
                <a:solidFill>
                  <a:srgbClr val="00B050"/>
                </a:solidFill>
              </a:rPr>
              <a:t>TIMING  OF  DELIVERY</a:t>
            </a:r>
            <a:endParaRPr dirty="0" lang="en-US"/>
          </a:p>
        </p:txBody>
      </p:sp>
      <p:sp>
        <p:nvSpPr>
          <p:cNvPr id="1049503" name="Content Placeholder 2"/>
          <p:cNvSpPr>
            <a:spLocks noGrp="1"/>
          </p:cNvSpPr>
          <p:nvPr>
            <p:ph sz="quarter" idx="1"/>
          </p:nvPr>
        </p:nvSpPr>
        <p:spPr>
          <a:xfrm>
            <a:off x="285750" y="1295403"/>
            <a:ext cx="10858500" cy="4835525"/>
          </a:xfrm>
        </p:spPr>
        <p:txBody>
          <a:bodyPr/>
          <a:p>
            <a:pPr>
              <a:buNone/>
            </a:pPr>
            <a:r>
              <a:rPr b="1" dirty="0" sz="3400" lang="en-US" smtClean="0">
                <a:solidFill>
                  <a:srgbClr val="E828B6"/>
                </a:solidFill>
                <a:effectLst/>
                <a:latin typeface="Calibri" pitchFamily="34" charset="0"/>
              </a:rPr>
              <a:t>	Determiners are:</a:t>
            </a:r>
          </a:p>
          <a:p>
            <a:r>
              <a:rPr dirty="0" sz="3400" lang="en-US" smtClean="0">
                <a:effectLst/>
                <a:latin typeface="Calibri" pitchFamily="34" charset="0"/>
              </a:rPr>
              <a:t>Maternal health status.</a:t>
            </a:r>
          </a:p>
          <a:p>
            <a:pPr>
              <a:buFont typeface="Wingdings" pitchFamily="2" charset="2"/>
              <a:buChar char="Ø"/>
            </a:pPr>
            <a:r>
              <a:rPr dirty="0" sz="3400" lang="en-US" smtClean="0">
                <a:effectLst/>
                <a:latin typeface="Calibri" pitchFamily="34" charset="0"/>
              </a:rPr>
              <a:t> For well controlled condition, pregnancy continues to 40 weeks.</a:t>
            </a:r>
          </a:p>
          <a:p>
            <a:r>
              <a:rPr dirty="0" sz="3400" lang="en-US" smtClean="0">
                <a:effectLst/>
                <a:latin typeface="Calibri" pitchFamily="34" charset="0"/>
              </a:rPr>
              <a:t>Past obstetric history of:</a:t>
            </a:r>
          </a:p>
          <a:p>
            <a:pPr>
              <a:buFont typeface="Wingdings" pitchFamily="2" charset="2"/>
              <a:buChar char="Ø"/>
            </a:pPr>
            <a:r>
              <a:rPr dirty="0" sz="3400" lang="en-US" smtClean="0">
                <a:effectLst/>
                <a:latin typeface="Calibri" pitchFamily="34" charset="0"/>
              </a:rPr>
              <a:t> Intrauterine fetal death at term or ketoacidosis leading to early neonatal death. </a:t>
            </a:r>
          </a:p>
          <a:p>
            <a:pPr>
              <a:buFont typeface="Wingdings" pitchFamily="2" charset="2"/>
              <a:buChar char="ü"/>
            </a:pPr>
            <a:r>
              <a:rPr dirty="0" sz="3400" lang="en-US" smtClean="0">
                <a:effectLst/>
                <a:latin typeface="Calibri" pitchFamily="34" charset="0"/>
              </a:rPr>
              <a:t>So delivery is effected prematurely.</a:t>
            </a:r>
            <a:endParaRPr dirty="0" sz="3400" lang="en-US">
              <a:effectLst/>
              <a:latin typeface="Calibri" pitchFamily="34" charset="0"/>
            </a:endParaRPr>
          </a:p>
        </p:txBody>
      </p:sp>
      <p:sp>
        <p:nvSpPr>
          <p:cNvPr id="104950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061" name=""/>
        <p:cNvGrpSpPr/>
        <p:nvPr/>
      </p:nvGrpSpPr>
      <p:grpSpPr>
        <a:xfrm>
          <a:off x="0" y="0"/>
          <a:ext cx="0" cy="0"/>
          <a:chOff x="0" y="0"/>
          <a:chExt cx="0" cy="0"/>
        </a:xfrm>
      </p:grpSpPr>
      <p:sp>
        <p:nvSpPr>
          <p:cNvPr id="1049505" name="Title 1"/>
          <p:cNvSpPr>
            <a:spLocks noGrp="1"/>
          </p:cNvSpPr>
          <p:nvPr>
            <p:ph type="title"/>
          </p:nvPr>
        </p:nvSpPr>
        <p:spPr>
          <a:xfrm>
            <a:off x="571500" y="277822"/>
            <a:ext cx="10287000" cy="865187"/>
          </a:xfrm>
        </p:spPr>
        <p:txBody>
          <a:bodyPr/>
          <a:p>
            <a:r>
              <a:rPr b="1" dirty="0" sz="4400" lang="en-US" smtClean="0">
                <a:solidFill>
                  <a:srgbClr val="00B050"/>
                </a:solidFill>
              </a:rPr>
              <a:t>MODES  OF  DELIVERY</a:t>
            </a:r>
            <a:endParaRPr dirty="0" lang="en-US"/>
          </a:p>
        </p:txBody>
      </p:sp>
      <p:sp>
        <p:nvSpPr>
          <p:cNvPr id="1049506" name="Content Placeholder 2"/>
          <p:cNvSpPr>
            <a:spLocks noGrp="1"/>
          </p:cNvSpPr>
          <p:nvPr>
            <p:ph sz="quarter" idx="1"/>
          </p:nvPr>
        </p:nvSpPr>
        <p:spPr>
          <a:xfrm>
            <a:off x="190500" y="1447800"/>
            <a:ext cx="10953750" cy="5181600"/>
          </a:xfrm>
        </p:spPr>
        <p:txBody>
          <a:bodyPr>
            <a:normAutofit/>
          </a:bodyPr>
          <a:p>
            <a:pPr>
              <a:buNone/>
            </a:pPr>
            <a:r>
              <a:rPr b="1" dirty="0" sz="3000" lang="en-US" smtClean="0">
                <a:solidFill>
                  <a:srgbClr val="00B0F0"/>
                </a:solidFill>
                <a:effectLst/>
                <a:latin typeface="Calibri" pitchFamily="34" charset="0"/>
              </a:rPr>
              <a:t>	1.Spontaneous  Vertex Delivery</a:t>
            </a:r>
          </a:p>
          <a:p>
            <a:r>
              <a:rPr b="1" dirty="0" sz="3000" lang="en-US" smtClean="0">
                <a:effectLst/>
                <a:latin typeface="Calibri" pitchFamily="34" charset="0"/>
              </a:rPr>
              <a:t>Most</a:t>
            </a:r>
            <a:r>
              <a:rPr dirty="0" sz="3000" lang="en-US" smtClean="0">
                <a:effectLst/>
                <a:latin typeface="Calibri" pitchFamily="34" charset="0"/>
              </a:rPr>
              <a:t> preferred because it’s accompanied by minimal complications</a:t>
            </a:r>
          </a:p>
          <a:p>
            <a:pPr>
              <a:buNone/>
            </a:pPr>
            <a:r>
              <a:rPr dirty="0" sz="3000" lang="en-US" smtClean="0">
                <a:effectLst/>
                <a:latin typeface="Calibri" pitchFamily="34" charset="0"/>
              </a:rPr>
              <a:t>		</a:t>
            </a:r>
            <a:r>
              <a:rPr b="1" dirty="0" sz="3000" i="1" lang="en-US" smtClean="0">
                <a:solidFill>
                  <a:srgbClr val="E828B6"/>
                </a:solidFill>
                <a:effectLst/>
                <a:latin typeface="Calibri" pitchFamily="34" charset="0"/>
              </a:rPr>
              <a:t>First Stage</a:t>
            </a:r>
          </a:p>
          <a:p>
            <a:r>
              <a:rPr dirty="0" sz="3000" lang="en-US" smtClean="0">
                <a:effectLst/>
                <a:latin typeface="Calibri" pitchFamily="34" charset="0"/>
              </a:rPr>
              <a:t>Monitor fetal condition through:</a:t>
            </a:r>
          </a:p>
          <a:p>
            <a:pPr>
              <a:buFont typeface="Wingdings" pitchFamily="2" charset="2"/>
              <a:buChar char="Ø"/>
            </a:pPr>
            <a:r>
              <a:rPr dirty="0" sz="3000" lang="en-US" smtClean="0">
                <a:effectLst/>
                <a:latin typeface="Calibri" pitchFamily="34" charset="0"/>
              </a:rPr>
              <a:t>4 hrly FHS  either with fetalscope or </a:t>
            </a:r>
            <a:r>
              <a:rPr dirty="0" sz="3000" lang="en-US" err="1" smtClean="0">
                <a:effectLst/>
                <a:latin typeface="Calibri" pitchFamily="34" charset="0"/>
              </a:rPr>
              <a:t>cardiotocography</a:t>
            </a:r>
            <a:r>
              <a:rPr dirty="0" sz="3000" lang="en-US" smtClean="0">
                <a:effectLst/>
                <a:latin typeface="Calibri" pitchFamily="34" charset="0"/>
              </a:rPr>
              <a:t> machine.</a:t>
            </a:r>
          </a:p>
          <a:p>
            <a:pPr>
              <a:buFont typeface="Wingdings" pitchFamily="2" charset="2"/>
              <a:buChar char="Ø"/>
            </a:pPr>
            <a:r>
              <a:rPr dirty="0" sz="3000" lang="en-US" smtClean="0">
                <a:effectLst/>
                <a:latin typeface="Calibri" pitchFamily="34" charset="0"/>
              </a:rPr>
              <a:t>Fetal scalp electronic monitoring.</a:t>
            </a:r>
          </a:p>
          <a:p>
            <a:pPr>
              <a:buFont typeface="Wingdings" pitchFamily="2" charset="2"/>
              <a:buChar char="Ø"/>
            </a:pPr>
            <a:r>
              <a:rPr dirty="0" sz="3000" lang="en-US" smtClean="0">
                <a:effectLst/>
                <a:latin typeface="Calibri" pitchFamily="34" charset="0"/>
              </a:rPr>
              <a:t>Fetal kick chart and </a:t>
            </a:r>
            <a:r>
              <a:rPr dirty="0" sz="3000" lang="en-US" err="1" smtClean="0">
                <a:effectLst/>
                <a:latin typeface="Calibri" pitchFamily="34" charset="0"/>
              </a:rPr>
              <a:t>intreprete</a:t>
            </a:r>
            <a:r>
              <a:rPr dirty="0" sz="3000" lang="en-US" smtClean="0">
                <a:effectLst/>
                <a:latin typeface="Calibri" pitchFamily="34" charset="0"/>
              </a:rPr>
              <a:t>  accurately.</a:t>
            </a:r>
          </a:p>
          <a:p>
            <a:pPr>
              <a:buFont typeface="Wingdings" pitchFamily="2" charset="2"/>
              <a:buChar char="v"/>
            </a:pPr>
            <a:r>
              <a:rPr dirty="0" sz="3000" lang="en-US" smtClean="0">
                <a:effectLst/>
                <a:latin typeface="Calibri" pitchFamily="34" charset="0"/>
              </a:rPr>
              <a:t>These are non-stress monitoring methods.</a:t>
            </a:r>
          </a:p>
          <a:p>
            <a:pPr>
              <a:buFont typeface="Wingdings" pitchFamily="2" charset="2"/>
              <a:buChar char="Ø"/>
            </a:pPr>
            <a:endParaRPr dirty="0" sz="3000" lang="en-US" smtClean="0">
              <a:effectLst/>
              <a:latin typeface="Calibri" pitchFamily="34" charset="0"/>
            </a:endParaRPr>
          </a:p>
          <a:p>
            <a:pPr>
              <a:buNone/>
            </a:pPr>
            <a:endParaRPr b="1" dirty="0" sz="3000" lang="en-US">
              <a:solidFill>
                <a:srgbClr val="00B0F0"/>
              </a:solidFill>
              <a:effectLst/>
              <a:latin typeface="Calibri" pitchFamily="34" charset="0"/>
            </a:endParaRPr>
          </a:p>
        </p:txBody>
      </p:sp>
      <p:sp>
        <p:nvSpPr>
          <p:cNvPr id="104950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062" name=""/>
        <p:cNvGrpSpPr/>
        <p:nvPr/>
      </p:nvGrpSpPr>
      <p:grpSpPr>
        <a:xfrm>
          <a:off x="0" y="0"/>
          <a:ext cx="0" cy="0"/>
          <a:chOff x="0" y="0"/>
          <a:chExt cx="0" cy="0"/>
        </a:xfrm>
      </p:grpSpPr>
      <p:sp>
        <p:nvSpPr>
          <p:cNvPr id="1049508" name="Content Placeholder 2"/>
          <p:cNvSpPr>
            <a:spLocks noGrp="1"/>
          </p:cNvSpPr>
          <p:nvPr>
            <p:ph sz="quarter" idx="1"/>
          </p:nvPr>
        </p:nvSpPr>
        <p:spPr>
          <a:xfrm>
            <a:off x="285750" y="1371602"/>
            <a:ext cx="10572750" cy="4759325"/>
          </a:xfrm>
        </p:spPr>
        <p:txBody>
          <a:bodyPr/>
          <a:p>
            <a:r>
              <a:rPr dirty="0" lang="en-US" smtClean="0">
                <a:latin typeface="Calibri" pitchFamily="34" charset="0"/>
              </a:rPr>
              <a:t>During latent phase stress induction methods may be used to assess whether chronic fetal hypoxia is likely to occur  as labour progress hence early interventions. They  include:  </a:t>
            </a:r>
          </a:p>
          <a:p>
            <a:pPr>
              <a:buFont typeface="Wingdings" pitchFamily="2" charset="2"/>
              <a:buChar char="Ø"/>
            </a:pPr>
            <a:r>
              <a:rPr dirty="0" lang="en-US" smtClean="0">
                <a:latin typeface="Calibri" pitchFamily="34" charset="0"/>
              </a:rPr>
              <a:t>Nipple stimulation to release </a:t>
            </a:r>
            <a:r>
              <a:rPr dirty="0" lang="en-US" err="1" smtClean="0">
                <a:latin typeface="Calibri" pitchFamily="34" charset="0"/>
              </a:rPr>
              <a:t>oxytocin</a:t>
            </a:r>
            <a:r>
              <a:rPr dirty="0" lang="en-US" smtClean="0">
                <a:latin typeface="Calibri" pitchFamily="34" charset="0"/>
              </a:rPr>
              <a:t>.</a:t>
            </a:r>
          </a:p>
          <a:p>
            <a:pPr>
              <a:buFont typeface="Wingdings" pitchFamily="2" charset="2"/>
              <a:buChar char="Ø"/>
            </a:pPr>
            <a:r>
              <a:rPr dirty="0" lang="en-US" smtClean="0">
                <a:latin typeface="Calibri" pitchFamily="34" charset="0"/>
              </a:rPr>
              <a:t>Administration of a small dose of </a:t>
            </a:r>
            <a:r>
              <a:rPr dirty="0" lang="en-US" err="1" smtClean="0">
                <a:latin typeface="Calibri" pitchFamily="34" charset="0"/>
              </a:rPr>
              <a:t>syntocinon</a:t>
            </a:r>
            <a:r>
              <a:rPr dirty="0" lang="en-US" smtClean="0">
                <a:latin typeface="Calibri" pitchFamily="34" charset="0"/>
              </a:rPr>
              <a:t>  </a:t>
            </a:r>
            <a:r>
              <a:rPr dirty="0" lang="en-US" err="1" smtClean="0">
                <a:latin typeface="Calibri" pitchFamily="34" charset="0"/>
              </a:rPr>
              <a:t>ie</a:t>
            </a:r>
            <a:r>
              <a:rPr dirty="0" lang="en-US" smtClean="0">
                <a:latin typeface="Calibri" pitchFamily="34" charset="0"/>
              </a:rPr>
              <a:t>  1.25 units bolus slowly.</a:t>
            </a:r>
          </a:p>
          <a:p>
            <a:r>
              <a:rPr dirty="0" lang="en-US" smtClean="0">
                <a:latin typeface="Calibri" pitchFamily="34" charset="0"/>
              </a:rPr>
              <a:t>Monitor FHS ¼ hrly for at least 1 hr , then ct as usual </a:t>
            </a:r>
            <a:endParaRPr dirty="0" lang="en-US">
              <a:latin typeface="Calibri" pitchFamily="34" charset="0"/>
            </a:endParaRPr>
          </a:p>
        </p:txBody>
      </p:sp>
      <p:sp>
        <p:nvSpPr>
          <p:cNvPr id="104950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063" name=""/>
        <p:cNvGrpSpPr/>
        <p:nvPr/>
      </p:nvGrpSpPr>
      <p:grpSpPr>
        <a:xfrm>
          <a:off x="0" y="0"/>
          <a:ext cx="0" cy="0"/>
          <a:chOff x="0" y="0"/>
          <a:chExt cx="0" cy="0"/>
        </a:xfrm>
      </p:grpSpPr>
      <p:sp>
        <p:nvSpPr>
          <p:cNvPr id="1049510" name="Content Placeholder 2"/>
          <p:cNvSpPr>
            <a:spLocks noGrp="1"/>
          </p:cNvSpPr>
          <p:nvPr>
            <p:ph sz="quarter" idx="1"/>
          </p:nvPr>
        </p:nvSpPr>
        <p:spPr>
          <a:xfrm>
            <a:off x="285750" y="1371602"/>
            <a:ext cx="10858500" cy="4759325"/>
          </a:xfrm>
        </p:spPr>
        <p:txBody>
          <a:bodyPr>
            <a:noAutofit/>
          </a:bodyPr>
          <a:p>
            <a:r>
              <a:rPr dirty="0" sz="3100" lang="en-US" smtClean="0">
                <a:latin typeface="Calibri" pitchFamily="34" charset="0"/>
              </a:rPr>
              <a:t>Estimate  BS hrly and test urine , maintain records and interprete correctly.</a:t>
            </a:r>
          </a:p>
          <a:p>
            <a:r>
              <a:rPr dirty="0" sz="3100" lang="en-US" smtClean="0">
                <a:latin typeface="Calibri" pitchFamily="34" charset="0"/>
              </a:rPr>
              <a:t>Monitor  vital signs as usual , for HTN ,then BP  2 hourly.</a:t>
            </a:r>
          </a:p>
          <a:p>
            <a:r>
              <a:rPr dirty="0" sz="3100" lang="en-US" smtClean="0">
                <a:latin typeface="Calibri" pitchFamily="34" charset="0"/>
              </a:rPr>
              <a:t>Maintain nil orally and administer 5% dextrose drip at 20 </a:t>
            </a:r>
            <a:r>
              <a:rPr dirty="0" sz="3100" lang="en-US" err="1" smtClean="0">
                <a:latin typeface="Calibri" pitchFamily="34" charset="0"/>
              </a:rPr>
              <a:t>dpm</a:t>
            </a:r>
            <a:r>
              <a:rPr dirty="0" sz="3100" lang="en-US" smtClean="0">
                <a:latin typeface="Calibri" pitchFamily="34" charset="0"/>
              </a:rPr>
              <a:t>  for energy &amp; to prevent dehydration.</a:t>
            </a:r>
          </a:p>
          <a:p>
            <a:r>
              <a:rPr dirty="0" sz="3100" lang="en-US" smtClean="0">
                <a:latin typeface="Calibri" pitchFamily="34" charset="0"/>
              </a:rPr>
              <a:t>Administer soluble insulin as per sliding scale , dosage determined by RBS results .</a:t>
            </a:r>
          </a:p>
          <a:p>
            <a:pPr>
              <a:buNone/>
            </a:pPr>
            <a:r>
              <a:rPr b="1" dirty="0" sz="3100" lang="en-US" smtClean="0">
                <a:solidFill>
                  <a:srgbClr val="E828B6"/>
                </a:solidFill>
                <a:latin typeface="Calibri" pitchFamily="34" charset="0"/>
              </a:rPr>
              <a:t>NB:</a:t>
            </a:r>
            <a:r>
              <a:rPr dirty="0" sz="3100" lang="en-US" smtClean="0">
                <a:latin typeface="Calibri" pitchFamily="34" charset="0"/>
              </a:rPr>
              <a:t> Usual regular dose  before labour onset is omitted. </a:t>
            </a:r>
            <a:endParaRPr dirty="0" sz="3100" lang="en-US">
              <a:latin typeface="Calibri" pitchFamily="34" charset="0"/>
            </a:endParaRPr>
          </a:p>
        </p:txBody>
      </p:sp>
      <p:sp>
        <p:nvSpPr>
          <p:cNvPr id="104951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064" name=""/>
        <p:cNvGrpSpPr/>
        <p:nvPr/>
      </p:nvGrpSpPr>
      <p:grpSpPr>
        <a:xfrm>
          <a:off x="0" y="0"/>
          <a:ext cx="0" cy="0"/>
          <a:chOff x="0" y="0"/>
          <a:chExt cx="0" cy="0"/>
        </a:xfrm>
      </p:grpSpPr>
      <p:sp>
        <p:nvSpPr>
          <p:cNvPr id="1049512" name="Content Placeholder 2"/>
          <p:cNvSpPr>
            <a:spLocks noGrp="1"/>
          </p:cNvSpPr>
          <p:nvPr>
            <p:ph sz="quarter" idx="1"/>
          </p:nvPr>
        </p:nvSpPr>
        <p:spPr>
          <a:xfrm>
            <a:off x="190500" y="1524008"/>
            <a:ext cx="10953750" cy="4606925"/>
          </a:xfrm>
        </p:spPr>
        <p:txBody>
          <a:bodyPr>
            <a:normAutofit/>
          </a:bodyPr>
          <a:p>
            <a:r>
              <a:rPr dirty="0" lang="en-US" smtClean="0">
                <a:latin typeface="Calibri" pitchFamily="34" charset="0"/>
              </a:rPr>
              <a:t>Strictly  observe aseptic technique with every invasive procedure.</a:t>
            </a:r>
          </a:p>
          <a:p>
            <a:r>
              <a:rPr dirty="0" lang="en-US" smtClean="0">
                <a:latin typeface="Calibri" pitchFamily="34" charset="0"/>
              </a:rPr>
              <a:t>Generally, prolonged labour should be avoided for better prognosis. </a:t>
            </a:r>
          </a:p>
          <a:p>
            <a:pPr>
              <a:buFont typeface="Wingdings" pitchFamily="2" charset="2"/>
              <a:buChar char="Ø"/>
            </a:pPr>
            <a:r>
              <a:rPr dirty="0" lang="en-US" smtClean="0">
                <a:latin typeface="Calibri" pitchFamily="34" charset="0"/>
              </a:rPr>
              <a:t>So immediately active phase is attained, 2</a:t>
            </a:r>
            <a:r>
              <a:rPr baseline="30000" dirty="0" lang="en-US" smtClean="0">
                <a:latin typeface="Calibri" pitchFamily="34" charset="0"/>
              </a:rPr>
              <a:t>nd</a:t>
            </a:r>
            <a:r>
              <a:rPr dirty="0" lang="en-US" smtClean="0">
                <a:latin typeface="Calibri" pitchFamily="34" charset="0"/>
              </a:rPr>
              <a:t> stage should be achieved within 8 hours , failure to which CS is recommended.</a:t>
            </a:r>
          </a:p>
          <a:p>
            <a:r>
              <a:rPr dirty="0" lang="en-US" smtClean="0">
                <a:latin typeface="Calibri" pitchFamily="34" charset="0"/>
              </a:rPr>
              <a:t>Inform the NBU nursing staff to prepare for the reception of the newborn irrespective of the health status.</a:t>
            </a:r>
          </a:p>
          <a:p>
            <a:r>
              <a:rPr dirty="0" lang="en-US" smtClean="0">
                <a:latin typeface="Calibri" pitchFamily="34" charset="0"/>
              </a:rPr>
              <a:t>Keep the DR updated of the progress all through.</a:t>
            </a:r>
            <a:endParaRPr dirty="0" lang="en-US">
              <a:latin typeface="Calibri" pitchFamily="34" charset="0"/>
            </a:endParaRPr>
          </a:p>
        </p:txBody>
      </p:sp>
      <p:sp>
        <p:nvSpPr>
          <p:cNvPr id="104951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065" name=""/>
        <p:cNvGrpSpPr/>
        <p:nvPr/>
      </p:nvGrpSpPr>
      <p:grpSpPr>
        <a:xfrm>
          <a:off x="0" y="0"/>
          <a:ext cx="0" cy="0"/>
          <a:chOff x="0" y="0"/>
          <a:chExt cx="0" cy="0"/>
        </a:xfrm>
      </p:grpSpPr>
      <p:sp>
        <p:nvSpPr>
          <p:cNvPr id="1049514" name="Content Placeholder 2"/>
          <p:cNvSpPr>
            <a:spLocks noGrp="1"/>
          </p:cNvSpPr>
          <p:nvPr>
            <p:ph sz="quarter" idx="1"/>
          </p:nvPr>
        </p:nvSpPr>
        <p:spPr>
          <a:xfrm>
            <a:off x="190500" y="1524000"/>
            <a:ext cx="10953750" cy="5105400"/>
          </a:xfrm>
        </p:spPr>
        <p:txBody>
          <a:bodyPr>
            <a:normAutofit/>
          </a:bodyPr>
          <a:p>
            <a:pPr>
              <a:buNone/>
            </a:pPr>
            <a:r>
              <a:rPr dirty="0" lang="en-US" smtClean="0">
                <a:latin typeface="Calibri" pitchFamily="34" charset="0"/>
              </a:rPr>
              <a:t>	 </a:t>
            </a:r>
            <a:r>
              <a:rPr b="1" dirty="0" sz="2800" i="1" lang="en-US" smtClean="0">
                <a:solidFill>
                  <a:srgbClr val="E828B6"/>
                </a:solidFill>
                <a:latin typeface="Calibri" pitchFamily="34" charset="0"/>
              </a:rPr>
              <a:t>Second (2</a:t>
            </a:r>
            <a:r>
              <a:rPr baseline="30000" b="1" dirty="0" sz="2800" i="1" lang="en-US" smtClean="0">
                <a:solidFill>
                  <a:srgbClr val="E828B6"/>
                </a:solidFill>
                <a:latin typeface="Calibri" pitchFamily="34" charset="0"/>
              </a:rPr>
              <a:t>nd</a:t>
            </a:r>
            <a:r>
              <a:rPr b="1" dirty="0" sz="2800" i="1" lang="en-US" smtClean="0">
                <a:solidFill>
                  <a:srgbClr val="E828B6"/>
                </a:solidFill>
                <a:latin typeface="Calibri" pitchFamily="34" charset="0"/>
              </a:rPr>
              <a:t> ) stage</a:t>
            </a:r>
          </a:p>
          <a:p>
            <a:r>
              <a:rPr dirty="0" sz="2800" lang="en-US" smtClean="0">
                <a:effectLst/>
                <a:latin typeface="Calibri" pitchFamily="34" charset="0"/>
              </a:rPr>
              <a:t>A </a:t>
            </a:r>
            <a:r>
              <a:rPr dirty="0" sz="2800" lang="en-US" err="1" smtClean="0">
                <a:effectLst/>
                <a:latin typeface="Calibri" pitchFamily="34" charset="0"/>
              </a:rPr>
              <a:t>paeditrician</a:t>
            </a:r>
            <a:r>
              <a:rPr dirty="0" sz="2800" lang="en-US" smtClean="0">
                <a:effectLst/>
                <a:latin typeface="Calibri" pitchFamily="34" charset="0"/>
              </a:rPr>
              <a:t> or a neonatologist to be in attendance  in order to handle resuscitation PRN.</a:t>
            </a:r>
          </a:p>
          <a:p>
            <a:r>
              <a:rPr dirty="0" sz="2800" lang="en-US" smtClean="0">
                <a:effectLst/>
                <a:latin typeface="Calibri" pitchFamily="34" charset="0"/>
              </a:rPr>
              <a:t>Obstetrician to conduct the delivery , where perineal phase is shortened through either  synitocinon drip or elective episiotomy and vacuum extractor. </a:t>
            </a:r>
          </a:p>
          <a:p>
            <a:pPr>
              <a:buFont typeface="Wingdings" pitchFamily="2" charset="2"/>
              <a:buChar char="Ø"/>
            </a:pPr>
            <a:r>
              <a:rPr dirty="0" sz="2800" lang="en-US" smtClean="0">
                <a:effectLst/>
                <a:latin typeface="Calibri" pitchFamily="34" charset="0"/>
              </a:rPr>
              <a:t>Aim is to prevent  asphyxia, since the fetus has some degree of distress.</a:t>
            </a:r>
          </a:p>
          <a:p>
            <a:r>
              <a:rPr dirty="0" sz="2800" lang="en-US" smtClean="0">
                <a:effectLst/>
                <a:latin typeface="Calibri" pitchFamily="34" charset="0"/>
              </a:rPr>
              <a:t>Closely monitor for shoulder </a:t>
            </a:r>
            <a:r>
              <a:rPr dirty="0" sz="2800" lang="en-US" err="1" smtClean="0">
                <a:effectLst/>
                <a:latin typeface="Calibri" pitchFamily="34" charset="0"/>
              </a:rPr>
              <a:t>dystocia</a:t>
            </a:r>
            <a:r>
              <a:rPr dirty="0" sz="2800" lang="en-US" smtClean="0">
                <a:effectLst/>
                <a:latin typeface="Calibri" pitchFamily="34" charset="0"/>
              </a:rPr>
              <a:t> &amp; other birth trauma due to macrosomia . Handle correctly.</a:t>
            </a:r>
          </a:p>
          <a:p>
            <a:r>
              <a:rPr dirty="0" sz="2800" lang="en-US" smtClean="0">
                <a:effectLst/>
                <a:latin typeface="Calibri" pitchFamily="34" charset="0"/>
              </a:rPr>
              <a:t>Thereafter transfer to NBU for close monitoring. </a:t>
            </a:r>
            <a:endParaRPr dirty="0" sz="2800" lang="en-US">
              <a:effectLst/>
              <a:latin typeface="Calibri" pitchFamily="34" charset="0"/>
            </a:endParaRPr>
          </a:p>
        </p:txBody>
      </p:sp>
      <p:sp>
        <p:nvSpPr>
          <p:cNvPr id="104951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066" name=""/>
        <p:cNvGrpSpPr/>
        <p:nvPr/>
      </p:nvGrpSpPr>
      <p:grpSpPr>
        <a:xfrm>
          <a:off x="0" y="0"/>
          <a:ext cx="0" cy="0"/>
          <a:chOff x="0" y="0"/>
          <a:chExt cx="0" cy="0"/>
        </a:xfrm>
      </p:grpSpPr>
      <p:sp>
        <p:nvSpPr>
          <p:cNvPr id="1049516" name="Content Placeholder 2"/>
          <p:cNvSpPr>
            <a:spLocks noGrp="1"/>
          </p:cNvSpPr>
          <p:nvPr>
            <p:ph sz="quarter" idx="1"/>
          </p:nvPr>
        </p:nvSpPr>
        <p:spPr>
          <a:xfrm>
            <a:off x="571500" y="1371602"/>
            <a:ext cx="10287000" cy="4759325"/>
          </a:xfrm>
        </p:spPr>
        <p:txBody>
          <a:bodyPr/>
          <a:p>
            <a:pPr>
              <a:buNone/>
            </a:pPr>
            <a:r>
              <a:rPr dirty="0" lang="en-US" smtClean="0"/>
              <a:t>	</a:t>
            </a:r>
            <a:r>
              <a:rPr b="1" dirty="0" sz="3600" i="1" lang="en-US" smtClean="0">
                <a:solidFill>
                  <a:srgbClr val="E828B6"/>
                </a:solidFill>
              </a:rPr>
              <a:t>Third (3</a:t>
            </a:r>
            <a:r>
              <a:rPr baseline="30000" b="1" dirty="0" sz="3600" i="1" lang="en-US" smtClean="0">
                <a:solidFill>
                  <a:srgbClr val="E828B6"/>
                </a:solidFill>
              </a:rPr>
              <a:t>rd</a:t>
            </a:r>
            <a:r>
              <a:rPr b="1" dirty="0" sz="3600" i="1" lang="en-US" smtClean="0">
                <a:solidFill>
                  <a:srgbClr val="E828B6"/>
                </a:solidFill>
              </a:rPr>
              <a:t> ) Stage</a:t>
            </a:r>
          </a:p>
          <a:p>
            <a:r>
              <a:rPr dirty="0" sz="3600" lang="en-US" smtClean="0"/>
              <a:t>Administer synitocinon correctly to control excessive bleeding , likely to result from overstretched uterus &amp; large placental site.</a:t>
            </a:r>
          </a:p>
          <a:p>
            <a:r>
              <a:rPr dirty="0" sz="3600" lang="en-US" smtClean="0"/>
              <a:t>If it persists,, commence synitocinon drip of 10 IU at 30 </a:t>
            </a:r>
            <a:r>
              <a:rPr dirty="0" sz="3600" lang="en-US" err="1" smtClean="0"/>
              <a:t>dpm</a:t>
            </a:r>
            <a:r>
              <a:rPr dirty="0" sz="3600" lang="en-US" smtClean="0"/>
              <a:t> for 2 hours. </a:t>
            </a:r>
            <a:endParaRPr dirty="0" lang="en-US"/>
          </a:p>
        </p:txBody>
      </p:sp>
      <p:sp>
        <p:nvSpPr>
          <p:cNvPr id="104951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067" name=""/>
        <p:cNvGrpSpPr/>
        <p:nvPr/>
      </p:nvGrpSpPr>
      <p:grpSpPr>
        <a:xfrm>
          <a:off x="0" y="0"/>
          <a:ext cx="0" cy="0"/>
          <a:chOff x="0" y="0"/>
          <a:chExt cx="0" cy="0"/>
        </a:xfrm>
      </p:grpSpPr>
      <p:sp>
        <p:nvSpPr>
          <p:cNvPr id="1049518" name="Content Placeholder 2"/>
          <p:cNvSpPr>
            <a:spLocks noGrp="1"/>
          </p:cNvSpPr>
          <p:nvPr>
            <p:ph sz="quarter" idx="1"/>
          </p:nvPr>
        </p:nvSpPr>
        <p:spPr>
          <a:xfrm>
            <a:off x="571500" y="1295403"/>
            <a:ext cx="10287000" cy="4835525"/>
          </a:xfrm>
        </p:spPr>
        <p:txBody>
          <a:bodyPr/>
          <a:p>
            <a:pPr>
              <a:buNone/>
            </a:pPr>
            <a:r>
              <a:rPr dirty="0" sz="3600" lang="en-US" smtClean="0"/>
              <a:t>			</a:t>
            </a:r>
            <a:r>
              <a:rPr b="1" dirty="0" sz="3600" i="1" lang="en-US" smtClean="0">
                <a:solidFill>
                  <a:srgbClr val="E828B6"/>
                </a:solidFill>
              </a:rPr>
              <a:t>Fourth (4</a:t>
            </a:r>
            <a:r>
              <a:rPr baseline="30000" b="1" dirty="0" sz="3600" i="1" lang="en-US" smtClean="0">
                <a:solidFill>
                  <a:srgbClr val="E828B6"/>
                </a:solidFill>
              </a:rPr>
              <a:t>th</a:t>
            </a:r>
            <a:r>
              <a:rPr b="1" dirty="0" sz="3600" i="1" lang="en-US" smtClean="0">
                <a:solidFill>
                  <a:srgbClr val="E828B6"/>
                </a:solidFill>
              </a:rPr>
              <a:t> ) Stage</a:t>
            </a:r>
          </a:p>
          <a:p>
            <a:r>
              <a:rPr dirty="0" sz="3600" lang="en-US" smtClean="0">
                <a:effectLst/>
              </a:rPr>
              <a:t>Estimate  random blood sugar hourly  to closely monitor  its drop ,since insulin antagonists are no longer present.</a:t>
            </a:r>
          </a:p>
          <a:p>
            <a:r>
              <a:rPr dirty="0" sz="3600" lang="en-US" smtClean="0">
                <a:effectLst/>
              </a:rPr>
              <a:t>Simultaneously, maintain her on a 10% dextrose drip until able to feed well hence avoid hypoglycaemia.</a:t>
            </a:r>
            <a:endParaRPr dirty="0" sz="3600" lang="en-US">
              <a:effectLst/>
            </a:endParaRPr>
          </a:p>
        </p:txBody>
      </p:sp>
      <p:sp>
        <p:nvSpPr>
          <p:cNvPr id="104951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068" name=""/>
        <p:cNvGrpSpPr/>
        <p:nvPr/>
      </p:nvGrpSpPr>
      <p:grpSpPr>
        <a:xfrm>
          <a:off x="0" y="0"/>
          <a:ext cx="0" cy="0"/>
          <a:chOff x="0" y="0"/>
          <a:chExt cx="0" cy="0"/>
        </a:xfrm>
      </p:grpSpPr>
      <p:sp>
        <p:nvSpPr>
          <p:cNvPr id="1049520" name="Title 1"/>
          <p:cNvSpPr>
            <a:spLocks noGrp="1"/>
          </p:cNvSpPr>
          <p:nvPr>
            <p:ph type="title"/>
          </p:nvPr>
        </p:nvSpPr>
        <p:spPr>
          <a:xfrm>
            <a:off x="571500" y="277822"/>
            <a:ext cx="10287000" cy="865187"/>
          </a:xfrm>
        </p:spPr>
        <p:txBody>
          <a:bodyPr/>
          <a:p>
            <a:r>
              <a:rPr b="1" dirty="0" sz="4400" lang="en-US" smtClean="0">
                <a:solidFill>
                  <a:srgbClr val="00B0F0"/>
                </a:solidFill>
              </a:rPr>
              <a:t>2. Induction  of Labour</a:t>
            </a:r>
            <a:endParaRPr dirty="0" lang="en-US"/>
          </a:p>
        </p:txBody>
      </p:sp>
      <p:sp>
        <p:nvSpPr>
          <p:cNvPr id="1049521" name="Content Placeholder 2"/>
          <p:cNvSpPr>
            <a:spLocks noGrp="1"/>
          </p:cNvSpPr>
          <p:nvPr>
            <p:ph sz="quarter" idx="1"/>
          </p:nvPr>
        </p:nvSpPr>
        <p:spPr>
          <a:xfrm>
            <a:off x="190500" y="1447800"/>
            <a:ext cx="10953750" cy="5181600"/>
          </a:xfrm>
        </p:spPr>
        <p:txBody>
          <a:bodyPr>
            <a:noAutofit/>
          </a:bodyPr>
          <a:p>
            <a:pPr>
              <a:buNone/>
            </a:pPr>
            <a:r>
              <a:rPr dirty="0" lang="en-US" smtClean="0">
                <a:latin typeface="Calibri" pitchFamily="34" charset="0"/>
              </a:rPr>
              <a:t>	</a:t>
            </a:r>
            <a:r>
              <a:rPr b="1" dirty="0" lang="en-US" smtClean="0">
                <a:latin typeface="Calibri" pitchFamily="34" charset="0"/>
              </a:rPr>
              <a:t>	</a:t>
            </a:r>
            <a:r>
              <a:rPr b="1" dirty="0" i="1" lang="en-US" smtClean="0">
                <a:solidFill>
                  <a:srgbClr val="E828B6"/>
                </a:solidFill>
                <a:latin typeface="Calibri" pitchFamily="34" charset="0"/>
              </a:rPr>
              <a:t>Indications</a:t>
            </a:r>
          </a:p>
          <a:p>
            <a:pPr>
              <a:buFont typeface="Wingdings" pitchFamily="2" charset="2"/>
              <a:buChar char="q"/>
            </a:pPr>
            <a:r>
              <a:rPr dirty="0" lang="en-US" smtClean="0">
                <a:effectLst/>
                <a:latin typeface="Calibri" pitchFamily="34" charset="0"/>
              </a:rPr>
              <a:t>History of intrauterine fetal death after 38 weeks.</a:t>
            </a:r>
          </a:p>
          <a:p>
            <a:pPr>
              <a:buFont typeface="Wingdings" pitchFamily="2" charset="2"/>
              <a:buChar char="q"/>
            </a:pPr>
            <a:r>
              <a:rPr dirty="0" lang="en-US" smtClean="0">
                <a:effectLst/>
                <a:latin typeface="Calibri" pitchFamily="34" charset="0"/>
              </a:rPr>
              <a:t>Failure of spontaneous labour to occur at 40 weeks.</a:t>
            </a:r>
          </a:p>
          <a:p>
            <a:r>
              <a:rPr dirty="0" lang="en-US" smtClean="0">
                <a:effectLst/>
                <a:latin typeface="Calibri" pitchFamily="34" charset="0"/>
              </a:rPr>
              <a:t>Evaluation of success of the procedure is done through:</a:t>
            </a:r>
          </a:p>
          <a:p>
            <a:pPr>
              <a:buFont typeface="Wingdings" pitchFamily="2" charset="2"/>
              <a:buChar char="Ø"/>
            </a:pPr>
            <a:r>
              <a:rPr dirty="0" lang="en-US" smtClean="0">
                <a:effectLst/>
                <a:latin typeface="Calibri" pitchFamily="34" charset="0"/>
              </a:rPr>
              <a:t>Ultrasound to confirm the gestation.</a:t>
            </a:r>
          </a:p>
          <a:p>
            <a:pPr>
              <a:buFont typeface="Wingdings" pitchFamily="2" charset="2"/>
              <a:buChar char="Ø"/>
            </a:pPr>
            <a:r>
              <a:rPr dirty="0" lang="en-US" smtClean="0">
                <a:effectLst/>
                <a:latin typeface="Calibri" pitchFamily="34" charset="0"/>
              </a:rPr>
              <a:t>Bishop’s  score.</a:t>
            </a:r>
          </a:p>
          <a:p>
            <a:r>
              <a:rPr dirty="0" lang="en-US" smtClean="0">
                <a:effectLst/>
                <a:latin typeface="Calibri" pitchFamily="34" charset="0"/>
              </a:rPr>
              <a:t>Procedure is  commenced  before 9 am  so that, incase  a complication arises, it's  handled better .</a:t>
            </a:r>
          </a:p>
          <a:p>
            <a:pPr>
              <a:buNone/>
            </a:pPr>
            <a:r>
              <a:rPr dirty="0" lang="en-US" smtClean="0">
                <a:effectLst/>
                <a:latin typeface="Calibri" pitchFamily="34" charset="0"/>
              </a:rPr>
              <a:t> </a:t>
            </a:r>
          </a:p>
          <a:p>
            <a:endParaRPr dirty="0" lang="en-US">
              <a:effectLst/>
              <a:latin typeface="Calibri" pitchFamily="34" charset="0"/>
            </a:endParaRPr>
          </a:p>
        </p:txBody>
      </p:sp>
      <p:sp>
        <p:nvSpPr>
          <p:cNvPr id="104952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069" name=""/>
        <p:cNvGrpSpPr/>
        <p:nvPr/>
      </p:nvGrpSpPr>
      <p:grpSpPr>
        <a:xfrm>
          <a:off x="0" y="0"/>
          <a:ext cx="0" cy="0"/>
          <a:chOff x="0" y="0"/>
          <a:chExt cx="0" cy="0"/>
        </a:xfrm>
      </p:grpSpPr>
      <p:sp>
        <p:nvSpPr>
          <p:cNvPr id="1049523" name="Content Placeholder 2"/>
          <p:cNvSpPr>
            <a:spLocks noGrp="1"/>
          </p:cNvSpPr>
          <p:nvPr>
            <p:ph sz="quarter" idx="1"/>
          </p:nvPr>
        </p:nvSpPr>
        <p:spPr>
          <a:xfrm>
            <a:off x="285750" y="1524000"/>
            <a:ext cx="10763250" cy="4876800"/>
          </a:xfrm>
        </p:spPr>
        <p:txBody>
          <a:bodyPr/>
          <a:p>
            <a:r>
              <a:rPr dirty="0" lang="en-US" smtClean="0">
                <a:latin typeface="Calibri" pitchFamily="34" charset="0"/>
              </a:rPr>
              <a:t>DR prescribes soluble insulin to be administered through an insulin pump at a dose of 6 IU in 60 ml of n/saline.</a:t>
            </a:r>
          </a:p>
          <a:p>
            <a:pPr>
              <a:buFont typeface="Wingdings" pitchFamily="2" charset="2"/>
              <a:buChar char="Ø"/>
            </a:pPr>
            <a:r>
              <a:rPr dirty="0" lang="en-US" smtClean="0">
                <a:latin typeface="Calibri" pitchFamily="34" charset="0"/>
              </a:rPr>
              <a:t>Regulation depends on the blood sugar results.</a:t>
            </a:r>
          </a:p>
          <a:p>
            <a:r>
              <a:rPr dirty="0" lang="en-US" smtClean="0">
                <a:latin typeface="Calibri" pitchFamily="34" charset="0"/>
              </a:rPr>
              <a:t>Perform hourly blood sugar estimation &amp; maintain records all through.</a:t>
            </a:r>
          </a:p>
          <a:p>
            <a:r>
              <a:rPr dirty="0" lang="en-US" smtClean="0">
                <a:latin typeface="Calibri" pitchFamily="34" charset="0"/>
              </a:rPr>
              <a:t>Results of &lt;4 </a:t>
            </a:r>
            <a:r>
              <a:rPr dirty="0" lang="en-US" err="1" smtClean="0">
                <a:latin typeface="Calibri" pitchFamily="34" charset="0"/>
              </a:rPr>
              <a:t>mmol</a:t>
            </a:r>
            <a:r>
              <a:rPr dirty="0" lang="en-US" smtClean="0">
                <a:latin typeface="Calibri" pitchFamily="34" charset="0"/>
              </a:rPr>
              <a:t>/L, reduce insulin dose by half(½). Above 4 </a:t>
            </a:r>
            <a:r>
              <a:rPr dirty="0" lang="en-US" err="1" smtClean="0">
                <a:latin typeface="Calibri" pitchFamily="34" charset="0"/>
              </a:rPr>
              <a:t>mmol</a:t>
            </a:r>
            <a:r>
              <a:rPr dirty="0" lang="en-US" smtClean="0">
                <a:latin typeface="Calibri" pitchFamily="34" charset="0"/>
              </a:rPr>
              <a:t>/L double(×2) the insulin dose.</a:t>
            </a:r>
            <a:endParaRPr dirty="0" lang="en-US">
              <a:latin typeface="Calibri" pitchFamily="34" charset="0"/>
            </a:endParaRPr>
          </a:p>
        </p:txBody>
      </p:sp>
      <p:sp>
        <p:nvSpPr>
          <p:cNvPr id="104952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070" name=""/>
        <p:cNvGrpSpPr/>
        <p:nvPr/>
      </p:nvGrpSpPr>
      <p:grpSpPr>
        <a:xfrm>
          <a:off x="0" y="0"/>
          <a:ext cx="0" cy="0"/>
          <a:chOff x="0" y="0"/>
          <a:chExt cx="0" cy="0"/>
        </a:xfrm>
      </p:grpSpPr>
      <p:sp>
        <p:nvSpPr>
          <p:cNvPr id="1049525" name="Content Placeholder 2"/>
          <p:cNvSpPr>
            <a:spLocks noGrp="1"/>
          </p:cNvSpPr>
          <p:nvPr>
            <p:ph sz="quarter" idx="1"/>
          </p:nvPr>
        </p:nvSpPr>
        <p:spPr>
          <a:xfrm>
            <a:off x="285750" y="1524008"/>
            <a:ext cx="10572750" cy="4606925"/>
          </a:xfrm>
        </p:spPr>
        <p:txBody>
          <a:bodyPr/>
          <a:p>
            <a:r>
              <a:rPr dirty="0" lang="en-US" err="1" smtClean="0">
                <a:latin typeface="Calibri" pitchFamily="34" charset="0"/>
              </a:rPr>
              <a:t>Syntocinon</a:t>
            </a:r>
            <a:r>
              <a:rPr dirty="0" lang="en-US" smtClean="0">
                <a:latin typeface="Calibri" pitchFamily="34" charset="0"/>
              </a:rPr>
              <a:t> dose is determined by parity.</a:t>
            </a:r>
          </a:p>
          <a:p>
            <a:r>
              <a:rPr dirty="0" lang="en-US" smtClean="0">
                <a:latin typeface="Calibri" pitchFamily="34" charset="0"/>
              </a:rPr>
              <a:t>Commence a 10% dextrose drip at  20 </a:t>
            </a:r>
            <a:r>
              <a:rPr dirty="0" lang="en-US" err="1" smtClean="0">
                <a:latin typeface="Calibri" pitchFamily="34" charset="0"/>
              </a:rPr>
              <a:t>dpm</a:t>
            </a:r>
            <a:r>
              <a:rPr dirty="0" lang="en-US" smtClean="0">
                <a:latin typeface="Calibri" pitchFamily="34" charset="0"/>
              </a:rPr>
              <a:t> for nutritional purposes.</a:t>
            </a:r>
          </a:p>
          <a:p>
            <a:r>
              <a:rPr dirty="0" lang="en-US" smtClean="0">
                <a:latin typeface="Calibri" pitchFamily="34" charset="0"/>
              </a:rPr>
              <a:t>The whole process should be completed within 10-12 hours for good prognosis of mother and the newborn.</a:t>
            </a:r>
          </a:p>
          <a:p>
            <a:r>
              <a:rPr dirty="0" lang="en-US" smtClean="0">
                <a:latin typeface="Calibri" pitchFamily="34" charset="0"/>
              </a:rPr>
              <a:t>Therefore failure of remarkable progress leads to emergency caesarean section as the best option.</a:t>
            </a:r>
            <a:endParaRPr dirty="0" lang="en-US">
              <a:latin typeface="Calibri" pitchFamily="34" charset="0"/>
            </a:endParaRPr>
          </a:p>
        </p:txBody>
      </p:sp>
      <p:sp>
        <p:nvSpPr>
          <p:cNvPr id="104952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071" name=""/>
        <p:cNvGrpSpPr/>
        <p:nvPr/>
      </p:nvGrpSpPr>
      <p:grpSpPr>
        <a:xfrm>
          <a:off x="0" y="0"/>
          <a:ext cx="0" cy="0"/>
          <a:chOff x="0" y="0"/>
          <a:chExt cx="0" cy="0"/>
        </a:xfrm>
      </p:grpSpPr>
      <p:sp>
        <p:nvSpPr>
          <p:cNvPr id="1049527" name="Title 1"/>
          <p:cNvSpPr>
            <a:spLocks noGrp="1"/>
          </p:cNvSpPr>
          <p:nvPr>
            <p:ph type="title"/>
          </p:nvPr>
        </p:nvSpPr>
        <p:spPr/>
        <p:txBody>
          <a:bodyPr/>
          <a:p>
            <a:r>
              <a:rPr b="1" dirty="0" lang="en-US" smtClean="0">
                <a:solidFill>
                  <a:srgbClr val="00B0F0"/>
                </a:solidFill>
              </a:rPr>
              <a:t>3. Caesarean  Section</a:t>
            </a:r>
            <a:endParaRPr dirty="0" lang="en-US"/>
          </a:p>
        </p:txBody>
      </p:sp>
      <p:sp>
        <p:nvSpPr>
          <p:cNvPr id="1049528" name="Content Placeholder 2"/>
          <p:cNvSpPr>
            <a:spLocks noGrp="1"/>
          </p:cNvSpPr>
          <p:nvPr>
            <p:ph sz="quarter" idx="1"/>
          </p:nvPr>
        </p:nvSpPr>
        <p:spPr>
          <a:xfrm>
            <a:off x="285750" y="1447800"/>
            <a:ext cx="10858500" cy="4800600"/>
          </a:xfrm>
        </p:spPr>
        <p:txBody>
          <a:bodyPr/>
          <a:p>
            <a:pPr>
              <a:buNone/>
            </a:pPr>
            <a:r>
              <a:rPr dirty="0" sz="3600" lang="en-US" smtClean="0"/>
              <a:t>	</a:t>
            </a:r>
            <a:r>
              <a:rPr b="1" dirty="0" sz="3600" lang="en-US" smtClean="0">
                <a:solidFill>
                  <a:srgbClr val="E828B6"/>
                </a:solidFill>
                <a:effectLst/>
              </a:rPr>
              <a:t>Indications for elective</a:t>
            </a:r>
          </a:p>
          <a:p>
            <a:pPr>
              <a:buFont typeface="Wingdings" pitchFamily="2" charset="2"/>
              <a:buChar char="q"/>
            </a:pPr>
            <a:r>
              <a:rPr dirty="0" sz="3600" lang="en-US" smtClean="0">
                <a:effectLst/>
              </a:rPr>
              <a:t>Macrosomia due to </a:t>
            </a:r>
            <a:r>
              <a:rPr dirty="0" sz="3600" lang="en-US" err="1" smtClean="0">
                <a:effectLst/>
              </a:rPr>
              <a:t>cephalpelvic</a:t>
            </a:r>
            <a:r>
              <a:rPr dirty="0" sz="3600" lang="en-US" smtClean="0">
                <a:effectLst/>
              </a:rPr>
              <a:t>  disproportion.</a:t>
            </a:r>
          </a:p>
          <a:p>
            <a:pPr>
              <a:buFont typeface="Wingdings" pitchFamily="2" charset="2"/>
              <a:buChar char="q"/>
            </a:pPr>
            <a:r>
              <a:rPr dirty="0" sz="3600" lang="en-US" smtClean="0">
                <a:effectLst/>
              </a:rPr>
              <a:t>Uncontrolled  condition.</a:t>
            </a:r>
          </a:p>
          <a:p>
            <a:pPr>
              <a:buFont typeface="Wingdings" pitchFamily="2" charset="2"/>
              <a:buChar char="q"/>
            </a:pPr>
            <a:r>
              <a:rPr dirty="0" sz="3600" lang="en-US" smtClean="0">
                <a:effectLst/>
              </a:rPr>
              <a:t>Elderly </a:t>
            </a:r>
            <a:r>
              <a:rPr dirty="0" sz="3600" lang="en-US" err="1" smtClean="0">
                <a:effectLst/>
              </a:rPr>
              <a:t>primigravida</a:t>
            </a:r>
            <a:r>
              <a:rPr dirty="0" sz="3600" lang="en-US" smtClean="0">
                <a:effectLst/>
              </a:rPr>
              <a:t>.</a:t>
            </a:r>
          </a:p>
          <a:p>
            <a:pPr>
              <a:buFont typeface="Wingdings" pitchFamily="2" charset="2"/>
              <a:buChar char="q"/>
            </a:pPr>
            <a:r>
              <a:rPr dirty="0" sz="3600" lang="en-US" smtClean="0">
                <a:effectLst/>
              </a:rPr>
              <a:t>Bad obstetrical  history.</a:t>
            </a:r>
          </a:p>
          <a:p>
            <a:pPr>
              <a:buFont typeface="Wingdings" pitchFamily="2" charset="2"/>
              <a:buChar char="q"/>
            </a:pPr>
            <a:r>
              <a:rPr dirty="0" sz="3600" lang="en-US" smtClean="0">
                <a:effectLst/>
              </a:rPr>
              <a:t>Presence  of pre-</a:t>
            </a:r>
            <a:r>
              <a:rPr dirty="0" sz="3600" lang="en-US" err="1" smtClean="0">
                <a:effectLst/>
              </a:rPr>
              <a:t>eclampsia</a:t>
            </a:r>
            <a:r>
              <a:rPr dirty="0" sz="3600" lang="en-US" smtClean="0">
                <a:effectLst/>
              </a:rPr>
              <a:t>.</a:t>
            </a:r>
            <a:endParaRPr dirty="0" sz="3600" lang="en-US">
              <a:effectLst/>
            </a:endParaRPr>
          </a:p>
        </p:txBody>
      </p:sp>
      <p:sp>
        <p:nvSpPr>
          <p:cNvPr id="104952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072" name=""/>
        <p:cNvGrpSpPr/>
        <p:nvPr/>
      </p:nvGrpSpPr>
      <p:grpSpPr>
        <a:xfrm>
          <a:off x="0" y="0"/>
          <a:ext cx="0" cy="0"/>
          <a:chOff x="0" y="0"/>
          <a:chExt cx="0" cy="0"/>
        </a:xfrm>
      </p:grpSpPr>
      <p:sp>
        <p:nvSpPr>
          <p:cNvPr id="1049530" name="Title 1"/>
          <p:cNvSpPr>
            <a:spLocks noGrp="1"/>
          </p:cNvSpPr>
          <p:nvPr>
            <p:ph type="title"/>
          </p:nvPr>
        </p:nvSpPr>
        <p:spPr/>
        <p:txBody>
          <a:bodyPr/>
          <a:p>
            <a:r>
              <a:rPr b="1" dirty="0" sz="4400" lang="en-US" smtClean="0">
                <a:solidFill>
                  <a:srgbClr val="09B709"/>
                </a:solidFill>
              </a:rPr>
              <a:t>Preparation</a:t>
            </a:r>
            <a:endParaRPr dirty="0" lang="en-US">
              <a:solidFill>
                <a:srgbClr val="09B709"/>
              </a:solidFill>
            </a:endParaRPr>
          </a:p>
        </p:txBody>
      </p:sp>
      <p:sp>
        <p:nvSpPr>
          <p:cNvPr id="1049531" name="Content Placeholder 2"/>
          <p:cNvSpPr>
            <a:spLocks noGrp="1"/>
          </p:cNvSpPr>
          <p:nvPr>
            <p:ph sz="quarter" idx="1"/>
          </p:nvPr>
        </p:nvSpPr>
        <p:spPr>
          <a:xfrm>
            <a:off x="285750" y="1600200"/>
            <a:ext cx="10572750" cy="5029200"/>
          </a:xfrm>
        </p:spPr>
        <p:txBody>
          <a:bodyPr>
            <a:normAutofit/>
          </a:bodyPr>
          <a:p>
            <a:r>
              <a:rPr dirty="0" sz="2800" lang="en-US" smtClean="0"/>
              <a:t> Admitted 2-3 days earlier for:</a:t>
            </a:r>
          </a:p>
          <a:p>
            <a:pPr>
              <a:buFont typeface="Wingdings" pitchFamily="2" charset="2"/>
              <a:buChar char="Ø"/>
            </a:pPr>
            <a:r>
              <a:rPr dirty="0" sz="2800" lang="en-US" smtClean="0"/>
              <a:t>Control of the condition hence quick healing.</a:t>
            </a:r>
          </a:p>
          <a:p>
            <a:pPr>
              <a:buFont typeface="Wingdings" pitchFamily="2" charset="2"/>
              <a:buChar char="Ø"/>
            </a:pPr>
            <a:r>
              <a:rPr dirty="0" sz="2800" lang="en-US" smtClean="0"/>
              <a:t>Treatment of any other condition / infection.</a:t>
            </a:r>
          </a:p>
          <a:p>
            <a:pPr>
              <a:buFont typeface="Wingdings" pitchFamily="2" charset="2"/>
              <a:buChar char="Ø"/>
            </a:pPr>
            <a:r>
              <a:rPr dirty="0" sz="2800" lang="en-US" smtClean="0"/>
              <a:t>Anaesthetic  and physiotherapist review .</a:t>
            </a:r>
          </a:p>
          <a:p>
            <a:pPr>
              <a:buFont typeface="Wingdings" pitchFamily="2" charset="2"/>
              <a:buChar char="Ø"/>
            </a:pPr>
            <a:r>
              <a:rPr dirty="0" sz="2800" lang="en-US" err="1" smtClean="0"/>
              <a:t>Paeditrician</a:t>
            </a:r>
            <a:r>
              <a:rPr dirty="0" sz="2800" lang="en-US" smtClean="0"/>
              <a:t> visit for morale support and to take h/o other children, hence plan the care of the newborn appropriately.</a:t>
            </a:r>
          </a:p>
          <a:p>
            <a:r>
              <a:rPr dirty="0" sz="2800" lang="en-US" smtClean="0"/>
              <a:t>If a preterm is expected, steroid may be administered cautiously to prevent respiratory distress syndrome.</a:t>
            </a:r>
          </a:p>
          <a:p>
            <a:r>
              <a:rPr dirty="0" sz="2800" lang="en-US" smtClean="0"/>
              <a:t>Generally ,surgery is carried out at 38 weeks.</a:t>
            </a:r>
            <a:endParaRPr dirty="0" sz="2800" lang="en-US"/>
          </a:p>
        </p:txBody>
      </p:sp>
      <p:sp>
        <p:nvSpPr>
          <p:cNvPr id="104953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073" name=""/>
        <p:cNvGrpSpPr/>
        <p:nvPr/>
      </p:nvGrpSpPr>
      <p:grpSpPr>
        <a:xfrm>
          <a:off x="0" y="0"/>
          <a:ext cx="0" cy="0"/>
          <a:chOff x="0" y="0"/>
          <a:chExt cx="0" cy="0"/>
        </a:xfrm>
      </p:grpSpPr>
      <p:sp>
        <p:nvSpPr>
          <p:cNvPr id="1049533" name="Content Placeholder 2"/>
          <p:cNvSpPr>
            <a:spLocks noGrp="1"/>
          </p:cNvSpPr>
          <p:nvPr>
            <p:ph sz="quarter" idx="1"/>
          </p:nvPr>
        </p:nvSpPr>
        <p:spPr>
          <a:xfrm>
            <a:off x="571500" y="1447809"/>
            <a:ext cx="10287000" cy="4683125"/>
          </a:xfrm>
        </p:spPr>
        <p:txBody>
          <a:bodyPr/>
          <a:p>
            <a:pPr>
              <a:buNone/>
            </a:pPr>
            <a:r>
              <a:rPr dirty="0" lang="en-US" smtClean="0"/>
              <a:t>		</a:t>
            </a:r>
            <a:r>
              <a:rPr b="1" dirty="0" lang="en-US" smtClean="0">
                <a:solidFill>
                  <a:srgbClr val="E828B6"/>
                </a:solidFill>
              </a:rPr>
              <a:t>Operation  day</a:t>
            </a:r>
          </a:p>
          <a:p>
            <a:r>
              <a:rPr dirty="0" lang="en-US" smtClean="0">
                <a:effectLst/>
              </a:rPr>
              <a:t>Starve for 6(six) hours, hence omit the morning intermediate dose  if surgery schedule is for morning.</a:t>
            </a:r>
          </a:p>
          <a:p>
            <a:pPr>
              <a:buFont typeface="Wingdings" pitchFamily="2" charset="2"/>
              <a:buChar char="Ø"/>
            </a:pPr>
            <a:r>
              <a:rPr dirty="0" lang="en-US" smtClean="0">
                <a:effectLst/>
              </a:rPr>
              <a:t> For afternoon surgery, either a ⅓ or a ½ of the  intermediate acting dose is administered  in the morning.</a:t>
            </a:r>
          </a:p>
          <a:p>
            <a:r>
              <a:rPr dirty="0" lang="en-US" smtClean="0">
                <a:effectLst/>
              </a:rPr>
              <a:t>Shave op-site in the morning, instruct her to bath , </a:t>
            </a:r>
            <a:r>
              <a:rPr dirty="0" lang="en-US" err="1" smtClean="0">
                <a:effectLst/>
              </a:rPr>
              <a:t>sterilise</a:t>
            </a:r>
            <a:r>
              <a:rPr dirty="0" lang="en-US" smtClean="0">
                <a:effectLst/>
              </a:rPr>
              <a:t> the site and cover to </a:t>
            </a:r>
            <a:r>
              <a:rPr dirty="0" lang="en-US" err="1" smtClean="0">
                <a:effectLst/>
              </a:rPr>
              <a:t>minimise</a:t>
            </a:r>
            <a:r>
              <a:rPr dirty="0" lang="en-US" smtClean="0">
                <a:effectLst/>
              </a:rPr>
              <a:t> infection.</a:t>
            </a:r>
            <a:endParaRPr dirty="0" lang="en-US">
              <a:effectLst/>
            </a:endParaRPr>
          </a:p>
        </p:txBody>
      </p:sp>
      <p:sp>
        <p:nvSpPr>
          <p:cNvPr id="104953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074" name=""/>
        <p:cNvGrpSpPr/>
        <p:nvPr/>
      </p:nvGrpSpPr>
      <p:grpSpPr>
        <a:xfrm>
          <a:off x="0" y="0"/>
          <a:ext cx="0" cy="0"/>
          <a:chOff x="0" y="0"/>
          <a:chExt cx="0" cy="0"/>
        </a:xfrm>
      </p:grpSpPr>
      <p:sp>
        <p:nvSpPr>
          <p:cNvPr id="1049535" name="Content Placeholder 2"/>
          <p:cNvSpPr>
            <a:spLocks noGrp="1"/>
          </p:cNvSpPr>
          <p:nvPr>
            <p:ph sz="quarter" idx="1"/>
          </p:nvPr>
        </p:nvSpPr>
        <p:spPr>
          <a:xfrm>
            <a:off x="285750" y="1447809"/>
            <a:ext cx="10572750" cy="4683125"/>
          </a:xfrm>
        </p:spPr>
        <p:txBody>
          <a:bodyPr>
            <a:normAutofit/>
          </a:bodyPr>
          <a:p>
            <a:r>
              <a:rPr dirty="0" lang="en-US" smtClean="0"/>
              <a:t>Estimate blood sugar  hrly and the range is expected to be between 5.5-8.3 </a:t>
            </a:r>
            <a:r>
              <a:rPr dirty="0" lang="en-US" err="1" smtClean="0"/>
              <a:t>mmol</a:t>
            </a:r>
            <a:r>
              <a:rPr dirty="0" lang="en-US" smtClean="0"/>
              <a:t>/L.</a:t>
            </a:r>
          </a:p>
          <a:p>
            <a:r>
              <a:rPr dirty="0" lang="en-US" smtClean="0"/>
              <a:t>Commence  a drip of 10% glucose, insulin 10IU &amp; potassium 10 </a:t>
            </a:r>
            <a:r>
              <a:rPr dirty="0" lang="en-US" err="1" smtClean="0"/>
              <a:t>meq</a:t>
            </a:r>
            <a:r>
              <a:rPr dirty="0" lang="en-US" smtClean="0"/>
              <a:t> (GIK). </a:t>
            </a:r>
          </a:p>
          <a:p>
            <a:pPr>
              <a:buFont typeface="Wingdings" pitchFamily="2" charset="2"/>
              <a:buChar char="Ø"/>
            </a:pPr>
            <a:r>
              <a:rPr dirty="0" lang="en-US" smtClean="0"/>
              <a:t>Alternatively administer soluble insulin through an insulin pump at a dose ranging between 0.5-2 IU per hour. </a:t>
            </a:r>
          </a:p>
          <a:p>
            <a:r>
              <a:rPr dirty="0" lang="en-US" err="1" smtClean="0"/>
              <a:t>Premedicate</a:t>
            </a:r>
            <a:r>
              <a:rPr dirty="0" lang="en-US" smtClean="0"/>
              <a:t>  PRN ,complete checklist .</a:t>
            </a:r>
          </a:p>
          <a:p>
            <a:r>
              <a:rPr dirty="0" lang="en-US" smtClean="0"/>
              <a:t>Blood sugar to be estimated at least once during the operation.  </a:t>
            </a:r>
            <a:endParaRPr dirty="0" lang="en-US"/>
          </a:p>
        </p:txBody>
      </p:sp>
      <p:sp>
        <p:nvSpPr>
          <p:cNvPr id="104953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075" name=""/>
        <p:cNvGrpSpPr/>
        <p:nvPr/>
      </p:nvGrpSpPr>
      <p:grpSpPr>
        <a:xfrm>
          <a:off x="0" y="0"/>
          <a:ext cx="0" cy="0"/>
          <a:chOff x="0" y="0"/>
          <a:chExt cx="0" cy="0"/>
        </a:xfrm>
      </p:grpSpPr>
      <p:sp>
        <p:nvSpPr>
          <p:cNvPr id="1049537" name="Title 1"/>
          <p:cNvSpPr>
            <a:spLocks noGrp="1"/>
          </p:cNvSpPr>
          <p:nvPr>
            <p:ph type="title"/>
          </p:nvPr>
        </p:nvSpPr>
        <p:spPr/>
        <p:txBody>
          <a:bodyPr/>
          <a:p>
            <a:r>
              <a:rPr b="1" dirty="0" sz="4800" lang="en-US" smtClean="0">
                <a:solidFill>
                  <a:srgbClr val="09B709"/>
                </a:solidFill>
              </a:rPr>
              <a:t>Specific  post-op  Care</a:t>
            </a:r>
            <a:endParaRPr dirty="0" sz="4400" lang="en-US">
              <a:solidFill>
                <a:srgbClr val="09B709"/>
              </a:solidFill>
            </a:endParaRPr>
          </a:p>
        </p:txBody>
      </p:sp>
      <p:sp>
        <p:nvSpPr>
          <p:cNvPr id="1049538" name="Content Placeholder 2"/>
          <p:cNvSpPr>
            <a:spLocks noGrp="1"/>
          </p:cNvSpPr>
          <p:nvPr>
            <p:ph sz="quarter" idx="1"/>
          </p:nvPr>
        </p:nvSpPr>
        <p:spPr/>
        <p:txBody>
          <a:bodyPr>
            <a:normAutofit/>
          </a:bodyPr>
          <a:p>
            <a:r>
              <a:rPr dirty="0" sz="3600" lang="en-US" smtClean="0"/>
              <a:t>Closely monitor blood sugar within the first 24 hours as follows:</a:t>
            </a:r>
          </a:p>
          <a:p>
            <a:pPr>
              <a:buFont typeface="Wingdings" pitchFamily="2" charset="2"/>
              <a:buChar char="Ø"/>
            </a:pPr>
            <a:r>
              <a:rPr dirty="0" sz="3600" lang="en-US" smtClean="0"/>
              <a:t>1-2 hourly for the 1</a:t>
            </a:r>
            <a:r>
              <a:rPr baseline="30000" dirty="0" sz="3600" lang="en-US" smtClean="0"/>
              <a:t>st</a:t>
            </a:r>
            <a:r>
              <a:rPr dirty="0" sz="3600" lang="en-US" smtClean="0"/>
              <a:t>  four(4) hrs</a:t>
            </a:r>
          </a:p>
          <a:p>
            <a:pPr>
              <a:buFont typeface="Wingdings" pitchFamily="2" charset="2"/>
              <a:buChar char="Ø"/>
            </a:pPr>
            <a:r>
              <a:rPr dirty="0" sz="3600" lang="en-US" smtClean="0"/>
              <a:t>Every 3 hrly for the next 12 hours</a:t>
            </a:r>
          </a:p>
          <a:p>
            <a:pPr>
              <a:buFont typeface="Wingdings" pitchFamily="2" charset="2"/>
              <a:buChar char="Ø"/>
            </a:pPr>
            <a:r>
              <a:rPr dirty="0" sz="3600" lang="en-US" smtClean="0"/>
              <a:t>Finally, every 4 hourly for the last 8 hours.</a:t>
            </a:r>
          </a:p>
          <a:p>
            <a:pPr>
              <a:buNone/>
            </a:pPr>
            <a:endParaRPr b="1" dirty="0" sz="3600" lang="en-US" smtClean="0"/>
          </a:p>
        </p:txBody>
      </p:sp>
      <p:sp>
        <p:nvSpPr>
          <p:cNvPr id="104953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076" name=""/>
        <p:cNvGrpSpPr/>
        <p:nvPr/>
      </p:nvGrpSpPr>
      <p:grpSpPr>
        <a:xfrm>
          <a:off x="0" y="0"/>
          <a:ext cx="0" cy="0"/>
          <a:chOff x="0" y="0"/>
          <a:chExt cx="0" cy="0"/>
        </a:xfrm>
      </p:grpSpPr>
      <p:sp>
        <p:nvSpPr>
          <p:cNvPr id="1049540" name="Content Placeholder 2"/>
          <p:cNvSpPr>
            <a:spLocks noGrp="1"/>
          </p:cNvSpPr>
          <p:nvPr>
            <p:ph sz="quarter" idx="1"/>
          </p:nvPr>
        </p:nvSpPr>
        <p:spPr/>
        <p:txBody>
          <a:bodyPr>
            <a:normAutofit/>
          </a:bodyPr>
          <a:p>
            <a:r>
              <a:rPr dirty="0" sz="3400" lang="en-US" smtClean="0">
                <a:latin typeface="Calibri" pitchFamily="34" charset="0"/>
              </a:rPr>
              <a:t>Aim is to reduce the insulin dose appropriately since the requirements reduces drastically.</a:t>
            </a:r>
          </a:p>
          <a:p>
            <a:r>
              <a:rPr dirty="0" sz="3400" lang="en-US" smtClean="0">
                <a:latin typeface="Calibri" pitchFamily="34" charset="0"/>
              </a:rPr>
              <a:t>So maintain on 10% dextrose drip at 42 </a:t>
            </a:r>
            <a:r>
              <a:rPr dirty="0" sz="3400" lang="en-US" err="1" smtClean="0">
                <a:latin typeface="Calibri" pitchFamily="34" charset="0"/>
              </a:rPr>
              <a:t>dpm</a:t>
            </a:r>
            <a:r>
              <a:rPr dirty="0" sz="3400" lang="en-US" smtClean="0">
                <a:latin typeface="Calibri" pitchFamily="34" charset="0"/>
              </a:rPr>
              <a:t>  during the first 4 hrs to prevent hypoglycaemia.</a:t>
            </a:r>
          </a:p>
          <a:p>
            <a:r>
              <a:rPr dirty="0" sz="3400" lang="en-US" smtClean="0">
                <a:latin typeface="Calibri" pitchFamily="34" charset="0"/>
              </a:rPr>
              <a:t>Thereafter the rate is determined by the blood sugar results&amp; estimation frequency is as in SVD.</a:t>
            </a:r>
          </a:p>
          <a:p>
            <a:pPr>
              <a:buNone/>
            </a:pPr>
            <a:endParaRPr b="1" dirty="0" lang="en-US">
              <a:latin typeface="Calibri" pitchFamily="34" charset="0"/>
            </a:endParaRPr>
          </a:p>
        </p:txBody>
      </p:sp>
      <p:sp>
        <p:nvSpPr>
          <p:cNvPr id="104954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077" name=""/>
        <p:cNvGrpSpPr/>
        <p:nvPr/>
      </p:nvGrpSpPr>
      <p:grpSpPr>
        <a:xfrm>
          <a:off x="0" y="0"/>
          <a:ext cx="0" cy="0"/>
          <a:chOff x="0" y="0"/>
          <a:chExt cx="0" cy="0"/>
        </a:xfrm>
      </p:grpSpPr>
      <p:sp>
        <p:nvSpPr>
          <p:cNvPr id="1049542" name="Content Placeholder 2"/>
          <p:cNvSpPr>
            <a:spLocks noGrp="1"/>
          </p:cNvSpPr>
          <p:nvPr>
            <p:ph sz="quarter" idx="1"/>
          </p:nvPr>
        </p:nvSpPr>
        <p:spPr/>
        <p:txBody>
          <a:bodyPr>
            <a:normAutofit/>
          </a:bodyPr>
          <a:p>
            <a:r>
              <a:rPr dirty="0" lang="en-US" smtClean="0"/>
              <a:t>Immediately bowel sounds are heard change to oral feeds hence stop the drip</a:t>
            </a:r>
          </a:p>
          <a:p>
            <a:r>
              <a:rPr dirty="0" lang="en-US" smtClean="0"/>
              <a:t>Change the dressing on the 3</a:t>
            </a:r>
            <a:r>
              <a:rPr baseline="30000" dirty="0" lang="en-US" smtClean="0"/>
              <a:t>rd</a:t>
            </a:r>
            <a:r>
              <a:rPr dirty="0" lang="en-US" smtClean="0"/>
              <a:t> to 5</a:t>
            </a:r>
            <a:r>
              <a:rPr baseline="30000" dirty="0" lang="en-US" smtClean="0"/>
              <a:t>th</a:t>
            </a:r>
            <a:r>
              <a:rPr dirty="0" lang="en-US" smtClean="0"/>
              <a:t> day respectively while observing aseptic technique rule strictly.</a:t>
            </a:r>
          </a:p>
          <a:p>
            <a:r>
              <a:rPr dirty="0" lang="en-US" smtClean="0"/>
              <a:t>For removable sutures, alternate sutures are removed on the 10</a:t>
            </a:r>
            <a:r>
              <a:rPr baseline="30000" dirty="0" lang="en-US" smtClean="0"/>
              <a:t>th</a:t>
            </a:r>
            <a:r>
              <a:rPr dirty="0" lang="en-US" smtClean="0"/>
              <a:t> or 12</a:t>
            </a:r>
            <a:r>
              <a:rPr baseline="30000" dirty="0" lang="en-US" smtClean="0"/>
              <a:t>th</a:t>
            </a:r>
            <a:r>
              <a:rPr dirty="0" lang="en-US" smtClean="0"/>
              <a:t> day and the rest a day or 2  thereafter because of the slow healing process.</a:t>
            </a:r>
          </a:p>
          <a:p>
            <a:r>
              <a:rPr dirty="0" lang="en-US" smtClean="0"/>
              <a:t>Then  cover the </a:t>
            </a:r>
            <a:r>
              <a:rPr dirty="0" lang="en-US" err="1" smtClean="0"/>
              <a:t>incisional</a:t>
            </a:r>
            <a:r>
              <a:rPr dirty="0" lang="en-US" smtClean="0"/>
              <a:t> line/area till completely healed.</a:t>
            </a:r>
            <a:endParaRPr dirty="0" lang="en-US"/>
          </a:p>
        </p:txBody>
      </p:sp>
      <p:sp>
        <p:nvSpPr>
          <p:cNvPr id="104954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078" name=""/>
        <p:cNvGrpSpPr/>
        <p:nvPr/>
      </p:nvGrpSpPr>
      <p:grpSpPr>
        <a:xfrm>
          <a:off x="0" y="0"/>
          <a:ext cx="0" cy="0"/>
          <a:chOff x="0" y="0"/>
          <a:chExt cx="0" cy="0"/>
        </a:xfrm>
      </p:grpSpPr>
      <p:sp>
        <p:nvSpPr>
          <p:cNvPr id="1049544" name="Content Placeholder 2"/>
          <p:cNvSpPr>
            <a:spLocks noGrp="1"/>
          </p:cNvSpPr>
          <p:nvPr>
            <p:ph sz="quarter" idx="1"/>
          </p:nvPr>
        </p:nvSpPr>
        <p:spPr/>
        <p:txBody>
          <a:bodyPr/>
          <a:p>
            <a:r>
              <a:rPr dirty="0" sz="3600" lang="en-US" smtClean="0"/>
              <a:t>For  absorbable  sutures, change dressing regularly and cover the area till healing occurs.</a:t>
            </a:r>
          </a:p>
          <a:p>
            <a:r>
              <a:rPr dirty="0" sz="3600" lang="en-US" smtClean="0"/>
              <a:t>Rest as for any other surgical case to include: analgesics,  prophylaxis antibiotics, involution process monitoring , daily care of mother and infant.</a:t>
            </a:r>
            <a:endParaRPr dirty="0" sz="3600" lang="en-US"/>
          </a:p>
        </p:txBody>
      </p:sp>
      <p:sp>
        <p:nvSpPr>
          <p:cNvPr id="104954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079" name=""/>
        <p:cNvGrpSpPr/>
        <p:nvPr/>
      </p:nvGrpSpPr>
      <p:grpSpPr>
        <a:xfrm>
          <a:off x="0" y="0"/>
          <a:ext cx="0" cy="0"/>
          <a:chOff x="0" y="0"/>
          <a:chExt cx="0" cy="0"/>
        </a:xfrm>
      </p:grpSpPr>
      <p:sp>
        <p:nvSpPr>
          <p:cNvPr id="1049546" name="Title 1"/>
          <p:cNvSpPr>
            <a:spLocks noGrp="1"/>
          </p:cNvSpPr>
          <p:nvPr>
            <p:ph type="title"/>
          </p:nvPr>
        </p:nvSpPr>
        <p:spPr/>
        <p:txBody>
          <a:bodyPr/>
          <a:p>
            <a:r>
              <a:rPr b="1" dirty="0" lang="en-US" smtClean="0">
                <a:solidFill>
                  <a:srgbClr val="09B709"/>
                </a:solidFill>
              </a:rPr>
              <a:t>Puerperal   care</a:t>
            </a:r>
            <a:endParaRPr dirty="0" lang="en-US">
              <a:solidFill>
                <a:srgbClr val="09B709"/>
              </a:solidFill>
            </a:endParaRPr>
          </a:p>
        </p:txBody>
      </p:sp>
      <p:sp>
        <p:nvSpPr>
          <p:cNvPr id="1049547" name="Content Placeholder 2"/>
          <p:cNvSpPr>
            <a:spLocks noGrp="1"/>
          </p:cNvSpPr>
          <p:nvPr>
            <p:ph sz="quarter" idx="1"/>
          </p:nvPr>
        </p:nvSpPr>
        <p:spPr>
          <a:xfrm>
            <a:off x="285750" y="1295400"/>
            <a:ext cx="10572750" cy="4953000"/>
          </a:xfrm>
        </p:spPr>
        <p:txBody>
          <a:bodyPr>
            <a:normAutofit/>
          </a:bodyPr>
          <a:p>
            <a:pPr>
              <a:buFont typeface="Wingdings" pitchFamily="2" charset="2"/>
              <a:buChar char="v"/>
            </a:pPr>
            <a:r>
              <a:rPr dirty="0" lang="en-US" smtClean="0">
                <a:effectLst/>
              </a:rPr>
              <a:t>Regardless of the mode of delivery.</a:t>
            </a:r>
          </a:p>
          <a:p>
            <a:r>
              <a:rPr dirty="0" lang="en-US" smtClean="0">
                <a:effectLst/>
              </a:rPr>
              <a:t>4hourly BS estimation and small dose of soluble insulin till </a:t>
            </a:r>
            <a:r>
              <a:rPr dirty="0" lang="en-US" err="1" smtClean="0">
                <a:effectLst/>
              </a:rPr>
              <a:t>euglycaemia</a:t>
            </a:r>
            <a:r>
              <a:rPr dirty="0" lang="en-US" smtClean="0">
                <a:effectLst/>
              </a:rPr>
              <a:t> is achieved.</a:t>
            </a:r>
          </a:p>
          <a:p>
            <a:r>
              <a:rPr dirty="0" lang="en-US" smtClean="0">
                <a:effectLst/>
              </a:rPr>
              <a:t>Thereafter daily BS estimation and BD urinalysis ,keep records &amp; consult PRN.</a:t>
            </a:r>
          </a:p>
          <a:p>
            <a:r>
              <a:rPr dirty="0" lang="en-US" smtClean="0">
                <a:effectLst/>
              </a:rPr>
              <a:t>Dietary advise by specialist</a:t>
            </a:r>
          </a:p>
          <a:p>
            <a:r>
              <a:rPr dirty="0" lang="en-US" smtClean="0">
                <a:effectLst/>
              </a:rPr>
              <a:t>Encourage plenty of fluids to facilitate adequate lactation.</a:t>
            </a:r>
            <a:endParaRPr dirty="0" lang="en-US">
              <a:effectLst/>
            </a:endParaRPr>
          </a:p>
        </p:txBody>
      </p:sp>
      <p:sp>
        <p:nvSpPr>
          <p:cNvPr id="104954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080" name=""/>
        <p:cNvGrpSpPr/>
        <p:nvPr/>
      </p:nvGrpSpPr>
      <p:grpSpPr>
        <a:xfrm>
          <a:off x="0" y="0"/>
          <a:ext cx="0" cy="0"/>
          <a:chOff x="0" y="0"/>
          <a:chExt cx="0" cy="0"/>
        </a:xfrm>
      </p:grpSpPr>
      <p:sp>
        <p:nvSpPr>
          <p:cNvPr id="1049549" name="Content Placeholder 2"/>
          <p:cNvSpPr>
            <a:spLocks noGrp="1"/>
          </p:cNvSpPr>
          <p:nvPr>
            <p:ph sz="quarter" idx="1"/>
          </p:nvPr>
        </p:nvSpPr>
        <p:spPr>
          <a:xfrm>
            <a:off x="285750" y="1447800"/>
            <a:ext cx="10763250" cy="4876800"/>
          </a:xfrm>
        </p:spPr>
        <p:txBody>
          <a:bodyPr>
            <a:normAutofit/>
          </a:bodyPr>
          <a:p>
            <a:r>
              <a:rPr dirty="0" lang="en-US" smtClean="0"/>
              <a:t>Gradually the condition gets controlled with the non-pregnancy regiment. </a:t>
            </a:r>
          </a:p>
          <a:p>
            <a:pPr>
              <a:buFont typeface="Wingdings" pitchFamily="2" charset="2"/>
              <a:buChar char="Ø"/>
            </a:pPr>
            <a:r>
              <a:rPr dirty="0" lang="en-US" smtClean="0"/>
              <a:t>That is either oral </a:t>
            </a:r>
            <a:r>
              <a:rPr dirty="0" lang="en-US" err="1" smtClean="0"/>
              <a:t>hypoglycaemic</a:t>
            </a:r>
            <a:r>
              <a:rPr dirty="0" lang="en-US" smtClean="0"/>
              <a:t>  agents or small dose of intermediate acting insulin or diet only .</a:t>
            </a:r>
          </a:p>
          <a:p>
            <a:r>
              <a:rPr dirty="0" lang="en-US" smtClean="0"/>
              <a:t>For gestational DM, diet controls the condition and it clears spontaneously by the end of </a:t>
            </a:r>
            <a:r>
              <a:rPr dirty="0" lang="en-US" err="1" smtClean="0"/>
              <a:t>puerperium</a:t>
            </a:r>
            <a:r>
              <a:rPr dirty="0" lang="en-US" smtClean="0"/>
              <a:t>.</a:t>
            </a:r>
          </a:p>
          <a:p>
            <a:r>
              <a:rPr dirty="0" lang="en-US" smtClean="0"/>
              <a:t>Generally administer prophylactic dose of oral antibiotic due to poor immunity.</a:t>
            </a:r>
          </a:p>
          <a:p>
            <a:r>
              <a:rPr dirty="0" lang="en-US" smtClean="0"/>
              <a:t>Encourage programmed exercises to all . To start with simple / non-strenuous ones and build up gradually to vigorous postnatal exercises. </a:t>
            </a:r>
            <a:endParaRPr dirty="0" lang="en-US"/>
          </a:p>
        </p:txBody>
      </p:sp>
      <p:sp>
        <p:nvSpPr>
          <p:cNvPr id="104955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081" name=""/>
        <p:cNvGrpSpPr/>
        <p:nvPr/>
      </p:nvGrpSpPr>
      <p:grpSpPr>
        <a:xfrm>
          <a:off x="0" y="0"/>
          <a:ext cx="0" cy="0"/>
          <a:chOff x="0" y="0"/>
          <a:chExt cx="0" cy="0"/>
        </a:xfrm>
      </p:grpSpPr>
      <p:sp>
        <p:nvSpPr>
          <p:cNvPr id="1049551" name="Title 1"/>
          <p:cNvSpPr>
            <a:spLocks noGrp="1"/>
          </p:cNvSpPr>
          <p:nvPr>
            <p:ph type="title"/>
          </p:nvPr>
        </p:nvSpPr>
        <p:spPr/>
        <p:txBody>
          <a:bodyPr/>
          <a:p>
            <a:r>
              <a:rPr b="1" dirty="0" sz="4400" lang="en-US" smtClean="0">
                <a:solidFill>
                  <a:srgbClr val="09B709"/>
                </a:solidFill>
              </a:rPr>
              <a:t>Preparation  for  discharge</a:t>
            </a:r>
            <a:endParaRPr dirty="0" lang="en-US">
              <a:solidFill>
                <a:srgbClr val="09B709"/>
              </a:solidFill>
            </a:endParaRPr>
          </a:p>
        </p:txBody>
      </p:sp>
      <p:sp>
        <p:nvSpPr>
          <p:cNvPr id="1049552" name="Content Placeholder 2"/>
          <p:cNvSpPr>
            <a:spLocks noGrp="1"/>
          </p:cNvSpPr>
          <p:nvPr>
            <p:ph sz="quarter" idx="1"/>
          </p:nvPr>
        </p:nvSpPr>
        <p:spPr>
          <a:xfrm>
            <a:off x="285750" y="1447800"/>
            <a:ext cx="10763250" cy="5029200"/>
          </a:xfrm>
        </p:spPr>
        <p:txBody>
          <a:bodyPr>
            <a:normAutofit/>
          </a:bodyPr>
          <a:p>
            <a:r>
              <a:rPr dirty="0" sz="3000" lang="en-US" smtClean="0">
                <a:effectLst/>
              </a:rPr>
              <a:t>Family planning  services : Highlight on both natural and artificial methods.</a:t>
            </a:r>
          </a:p>
          <a:p>
            <a:pPr>
              <a:buFont typeface="Wingdings" pitchFamily="2" charset="2"/>
              <a:buChar char="Ø"/>
            </a:pPr>
            <a:r>
              <a:rPr dirty="0" sz="3000" lang="en-US" smtClean="0">
                <a:effectLst/>
              </a:rPr>
              <a:t> Specifically to avoid hormonal contraceptives because they affect CHO metabolism.</a:t>
            </a:r>
          </a:p>
          <a:p>
            <a:pPr>
              <a:buFont typeface="Wingdings" pitchFamily="2" charset="2"/>
              <a:buChar char="Ø"/>
            </a:pPr>
            <a:r>
              <a:rPr dirty="0" sz="3000" lang="en-US" smtClean="0">
                <a:effectLst/>
              </a:rPr>
              <a:t>Intrauterine device as well ,since it leads to pelvic inflammatory disease.</a:t>
            </a:r>
          </a:p>
          <a:p>
            <a:pPr>
              <a:buFont typeface="Wingdings" pitchFamily="2" charset="2"/>
              <a:buChar char="Ø"/>
            </a:pPr>
            <a:r>
              <a:rPr dirty="0" sz="3000" lang="en-US" smtClean="0">
                <a:effectLst/>
              </a:rPr>
              <a:t>Emphasis on a small family of 1-3 children.</a:t>
            </a:r>
          </a:p>
          <a:p>
            <a:r>
              <a:rPr dirty="0" sz="3000" lang="en-US" smtClean="0">
                <a:effectLst/>
              </a:rPr>
              <a:t>Diet ; to avoid refined sugar /carbohydrate  rich foods.</a:t>
            </a:r>
          </a:p>
          <a:p>
            <a:r>
              <a:rPr dirty="0" sz="3000" lang="en-US" smtClean="0">
                <a:effectLst/>
              </a:rPr>
              <a:t>Hygiene particularly of the vulva to prevent candidiasis.</a:t>
            </a:r>
          </a:p>
          <a:p>
            <a:endParaRPr dirty="0" sz="3000" lang="en-US" smtClean="0">
              <a:effectLst/>
            </a:endParaRPr>
          </a:p>
          <a:p>
            <a:pPr>
              <a:buNone/>
            </a:pPr>
            <a:endParaRPr dirty="0" sz="3000" lang="en-US">
              <a:effectLst/>
            </a:endParaRPr>
          </a:p>
        </p:txBody>
      </p:sp>
      <p:sp>
        <p:nvSpPr>
          <p:cNvPr id="104955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082" name=""/>
        <p:cNvGrpSpPr/>
        <p:nvPr/>
      </p:nvGrpSpPr>
      <p:grpSpPr>
        <a:xfrm>
          <a:off x="0" y="0"/>
          <a:ext cx="0" cy="0"/>
          <a:chOff x="0" y="0"/>
          <a:chExt cx="0" cy="0"/>
        </a:xfrm>
      </p:grpSpPr>
      <p:sp>
        <p:nvSpPr>
          <p:cNvPr id="1049554" name="Content Placeholder 2"/>
          <p:cNvSpPr>
            <a:spLocks noGrp="1"/>
          </p:cNvSpPr>
          <p:nvPr>
            <p:ph sz="quarter" idx="1"/>
          </p:nvPr>
        </p:nvSpPr>
        <p:spPr>
          <a:xfrm>
            <a:off x="571500" y="1600200"/>
            <a:ext cx="10287000" cy="5029200"/>
          </a:xfrm>
        </p:spPr>
        <p:txBody>
          <a:bodyPr/>
          <a:p>
            <a:r>
              <a:rPr dirty="0" lang="en-US" smtClean="0">
                <a:latin typeface="Calibri" pitchFamily="34" charset="0"/>
              </a:rPr>
              <a:t>Signs of hypo and </a:t>
            </a:r>
            <a:r>
              <a:rPr dirty="0" lang="en-US" err="1" smtClean="0">
                <a:latin typeface="Calibri" pitchFamily="34" charset="0"/>
              </a:rPr>
              <a:t>hyperglycaemia</a:t>
            </a:r>
            <a:r>
              <a:rPr dirty="0" lang="en-US" smtClean="0">
                <a:latin typeface="Calibri" pitchFamily="34" charset="0"/>
              </a:rPr>
              <a:t>.</a:t>
            </a:r>
          </a:p>
          <a:p>
            <a:r>
              <a:rPr dirty="0" lang="en-US" smtClean="0">
                <a:latin typeface="Calibri" pitchFamily="34" charset="0"/>
              </a:rPr>
              <a:t>Follow up in the MCH/FP clinic, obstetric-C/S, medical clinic for the control of condition &amp; home visit services where feasible.</a:t>
            </a:r>
          </a:p>
          <a:p>
            <a:r>
              <a:rPr dirty="0" lang="en-US" smtClean="0">
                <a:latin typeface="Calibri" pitchFamily="34" charset="0"/>
              </a:rPr>
              <a:t>Compliance with review visits &amp; drugs instruction</a:t>
            </a:r>
          </a:p>
          <a:p>
            <a:r>
              <a:rPr dirty="0" lang="en-US" smtClean="0">
                <a:latin typeface="Calibri" pitchFamily="34" charset="0"/>
              </a:rPr>
              <a:t>Pre-conception screening and counseling  as well as early booking of ANC in future.</a:t>
            </a:r>
          </a:p>
          <a:p>
            <a:r>
              <a:rPr dirty="0" lang="en-US" smtClean="0">
                <a:latin typeface="Calibri" pitchFamily="34" charset="0"/>
              </a:rPr>
              <a:t>General baby care  to include follow up.</a:t>
            </a:r>
            <a:endParaRPr dirty="0" lang="en-US">
              <a:latin typeface="Calibri" pitchFamily="34" charset="0"/>
            </a:endParaRPr>
          </a:p>
        </p:txBody>
      </p:sp>
      <p:sp>
        <p:nvSpPr>
          <p:cNvPr id="104955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083" name=""/>
        <p:cNvGrpSpPr/>
        <p:nvPr/>
      </p:nvGrpSpPr>
      <p:grpSpPr>
        <a:xfrm>
          <a:off x="0" y="0"/>
          <a:ext cx="0" cy="0"/>
          <a:chOff x="0" y="0"/>
          <a:chExt cx="0" cy="0"/>
        </a:xfrm>
      </p:grpSpPr>
      <p:sp>
        <p:nvSpPr>
          <p:cNvPr id="1049556" name="Title 1"/>
          <p:cNvSpPr>
            <a:spLocks noGrp="1"/>
          </p:cNvSpPr>
          <p:nvPr>
            <p:ph type="title"/>
          </p:nvPr>
        </p:nvSpPr>
        <p:spPr/>
        <p:txBody>
          <a:bodyPr/>
          <a:p>
            <a:r>
              <a:rPr dirty="0" lang="en-US" smtClean="0"/>
              <a:t>NB:</a:t>
            </a:r>
            <a:endParaRPr dirty="0" lang="en-US"/>
          </a:p>
        </p:txBody>
      </p:sp>
      <p:sp>
        <p:nvSpPr>
          <p:cNvPr id="1049557" name="Content Placeholder 2"/>
          <p:cNvSpPr>
            <a:spLocks noGrp="1"/>
          </p:cNvSpPr>
          <p:nvPr>
            <p:ph sz="quarter" idx="1"/>
          </p:nvPr>
        </p:nvSpPr>
        <p:spPr/>
        <p:txBody>
          <a:bodyPr/>
          <a:p>
            <a:r>
              <a:rPr dirty="0" lang="en-US" smtClean="0"/>
              <a:t>Studies have shown that :</a:t>
            </a:r>
          </a:p>
          <a:p>
            <a:pPr>
              <a:buFont typeface="Wingdings" pitchFamily="2" charset="2"/>
              <a:buChar char="Ø"/>
            </a:pPr>
            <a:r>
              <a:rPr dirty="0" lang="en-US" smtClean="0"/>
              <a:t>Lifetime risk of developing type 2 diabetes after gestational diabetes mellitus ranges from </a:t>
            </a:r>
            <a:br>
              <a:rPr dirty="0" lang="en-US" smtClean="0"/>
            </a:br>
            <a:r>
              <a:rPr dirty="0" lang="en-US" smtClean="0"/>
              <a:t>50 percent to 60 percent.</a:t>
            </a:r>
          </a:p>
          <a:p>
            <a:pPr>
              <a:buFont typeface="Wingdings" pitchFamily="2" charset="2"/>
              <a:buChar char="Ø"/>
            </a:pPr>
            <a:r>
              <a:rPr dirty="0" lang="en-US" smtClean="0"/>
              <a:t>Therefore annual testing for diabetes is recommended.</a:t>
            </a:r>
            <a:endParaRPr dirty="0" lang="en-US"/>
          </a:p>
        </p:txBody>
      </p:sp>
      <p:sp>
        <p:nvSpPr>
          <p:cNvPr id="104955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084" name=""/>
        <p:cNvGrpSpPr/>
        <p:nvPr/>
      </p:nvGrpSpPr>
      <p:grpSpPr>
        <a:xfrm>
          <a:off x="0" y="0"/>
          <a:ext cx="0" cy="0"/>
          <a:chOff x="0" y="0"/>
          <a:chExt cx="0" cy="0"/>
        </a:xfrm>
      </p:grpSpPr>
      <p:sp>
        <p:nvSpPr>
          <p:cNvPr id="1049559" name="Title 1"/>
          <p:cNvSpPr>
            <a:spLocks noGrp="1"/>
          </p:cNvSpPr>
          <p:nvPr>
            <p:ph type="title"/>
          </p:nvPr>
        </p:nvSpPr>
        <p:spPr/>
        <p:txBody>
          <a:bodyPr>
            <a:normAutofit fontScale="90000"/>
          </a:bodyPr>
          <a:p>
            <a:r>
              <a:rPr dirty="0" lang="en-US" smtClean="0">
                <a:solidFill>
                  <a:srgbClr val="92D050"/>
                </a:solidFill>
              </a:rPr>
              <a:t/>
            </a:r>
            <a:br>
              <a:rPr dirty="0" lang="en-US" smtClean="0">
                <a:solidFill>
                  <a:srgbClr val="92D050"/>
                </a:solidFill>
              </a:rPr>
            </a:br>
            <a:r>
              <a:rPr dirty="0" lang="en-US" smtClean="0">
                <a:solidFill>
                  <a:srgbClr val="92D050"/>
                </a:solidFill>
              </a:rPr>
              <a:t/>
            </a:r>
            <a:br>
              <a:rPr dirty="0" lang="en-US" smtClean="0">
                <a:solidFill>
                  <a:srgbClr val="92D050"/>
                </a:solidFill>
              </a:rPr>
            </a:br>
            <a:r>
              <a:rPr dirty="0" lang="en-US" smtClean="0">
                <a:solidFill>
                  <a:srgbClr val="92D050"/>
                </a:solidFill>
              </a:rPr>
              <a:t>BABY CARE</a:t>
            </a:r>
            <a:br>
              <a:rPr dirty="0" lang="en-US" smtClean="0">
                <a:solidFill>
                  <a:srgbClr val="92D050"/>
                </a:solidFill>
              </a:rPr>
            </a:br>
            <a:endParaRPr dirty="0" lang="en-US">
              <a:solidFill>
                <a:srgbClr val="92D050"/>
              </a:solidFill>
            </a:endParaRPr>
          </a:p>
        </p:txBody>
      </p:sp>
      <p:sp>
        <p:nvSpPr>
          <p:cNvPr id="1049560" name="Content Placeholder 2"/>
          <p:cNvSpPr>
            <a:spLocks noGrp="1"/>
          </p:cNvSpPr>
          <p:nvPr>
            <p:ph sz="quarter" idx="1"/>
          </p:nvPr>
        </p:nvSpPr>
        <p:spPr/>
        <p:txBody>
          <a:bodyPr>
            <a:normAutofit/>
          </a:bodyPr>
          <a:p>
            <a:r>
              <a:rPr dirty="0" lang="en-US" smtClean="0">
                <a:effectLst/>
                <a:latin typeface="Calibri" pitchFamily="34" charset="0"/>
              </a:rPr>
              <a:t>80% of the babies are macrosomia.</a:t>
            </a:r>
          </a:p>
          <a:p>
            <a:pPr>
              <a:buNone/>
            </a:pPr>
            <a:r>
              <a:rPr dirty="0" lang="en-US" smtClean="0">
                <a:effectLst/>
                <a:latin typeface="Calibri" pitchFamily="34" charset="0"/>
              </a:rPr>
              <a:t>		</a:t>
            </a:r>
            <a:r>
              <a:rPr b="1" dirty="0" lang="en-US" smtClean="0">
                <a:solidFill>
                  <a:srgbClr val="E828B6"/>
                </a:solidFill>
                <a:effectLst/>
                <a:latin typeface="Calibri" pitchFamily="34" charset="0"/>
              </a:rPr>
              <a:t>Common  risks/ problems</a:t>
            </a:r>
          </a:p>
          <a:p>
            <a:r>
              <a:rPr dirty="0" lang="en-US" smtClean="0">
                <a:effectLst/>
                <a:latin typeface="Calibri" pitchFamily="34" charset="0"/>
              </a:rPr>
              <a:t>Development of hypoglycaemia</a:t>
            </a:r>
          </a:p>
          <a:p>
            <a:r>
              <a:rPr dirty="0" lang="en-US" smtClean="0">
                <a:effectLst/>
                <a:latin typeface="Calibri" pitchFamily="34" charset="0"/>
              </a:rPr>
              <a:t>Neonatal jaundice </a:t>
            </a:r>
          </a:p>
          <a:p>
            <a:r>
              <a:rPr dirty="0" lang="en-US" smtClean="0">
                <a:effectLst/>
                <a:latin typeface="Calibri" pitchFamily="34" charset="0"/>
              </a:rPr>
              <a:t>Congenital abnormalities </a:t>
            </a:r>
          </a:p>
          <a:p>
            <a:r>
              <a:rPr dirty="0" lang="en-US" smtClean="0">
                <a:effectLst/>
                <a:latin typeface="Calibri" pitchFamily="34" charset="0"/>
              </a:rPr>
              <a:t>Excessive birth trauma </a:t>
            </a:r>
          </a:p>
          <a:p>
            <a:r>
              <a:rPr dirty="0" lang="en-US" smtClean="0">
                <a:effectLst/>
                <a:latin typeface="Calibri" pitchFamily="34" charset="0"/>
              </a:rPr>
              <a:t>Respiratory distress syndrome</a:t>
            </a:r>
          </a:p>
        </p:txBody>
      </p:sp>
      <p:sp>
        <p:nvSpPr>
          <p:cNvPr id="104956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085" name=""/>
        <p:cNvGrpSpPr/>
        <p:nvPr/>
      </p:nvGrpSpPr>
      <p:grpSpPr>
        <a:xfrm>
          <a:off x="0" y="0"/>
          <a:ext cx="0" cy="0"/>
          <a:chOff x="0" y="0"/>
          <a:chExt cx="0" cy="0"/>
        </a:xfrm>
      </p:grpSpPr>
      <p:sp>
        <p:nvSpPr>
          <p:cNvPr id="1049562" name="Content Placeholder 2"/>
          <p:cNvSpPr>
            <a:spLocks noGrp="1"/>
          </p:cNvSpPr>
          <p:nvPr>
            <p:ph sz="quarter" idx="1"/>
          </p:nvPr>
        </p:nvSpPr>
        <p:spPr/>
        <p:txBody>
          <a:bodyPr/>
          <a:p>
            <a:r>
              <a:rPr dirty="0" lang="en-US" smtClean="0">
                <a:effectLst/>
                <a:latin typeface="Calibri" pitchFamily="34" charset="0"/>
              </a:rPr>
              <a:t>Excessive weight </a:t>
            </a:r>
            <a:r>
              <a:rPr dirty="0" lang="en-US" err="1" smtClean="0">
                <a:effectLst/>
                <a:latin typeface="Calibri" pitchFamily="34" charset="0"/>
              </a:rPr>
              <a:t>loss,due</a:t>
            </a:r>
            <a:r>
              <a:rPr dirty="0" lang="en-US" smtClean="0">
                <a:effectLst/>
                <a:latin typeface="Calibri" pitchFamily="34" charset="0"/>
              </a:rPr>
              <a:t> to large surface area  and inability to maintain the intrauterine glucose level.</a:t>
            </a:r>
            <a:endParaRPr dirty="0" lang="en-US" smtClean="0">
              <a:latin typeface="Calibri" pitchFamily="34" charset="0"/>
            </a:endParaRPr>
          </a:p>
          <a:p>
            <a:r>
              <a:rPr dirty="0" lang="en-US" smtClean="0">
                <a:latin typeface="Calibri" pitchFamily="34" charset="0"/>
              </a:rPr>
              <a:t>Infection due to poor transfer of antibodies , resulting from either poor control of DM or preterm birth.</a:t>
            </a:r>
          </a:p>
          <a:p>
            <a:r>
              <a:rPr dirty="0" lang="en-US" smtClean="0">
                <a:latin typeface="Calibri" pitchFamily="34" charset="0"/>
              </a:rPr>
              <a:t>Hypocalcaemia , because of inadequate levels of </a:t>
            </a:r>
            <a:r>
              <a:rPr dirty="0" lang="en-US" err="1" smtClean="0">
                <a:latin typeface="Calibri" pitchFamily="34" charset="0"/>
              </a:rPr>
              <a:t>parathormone</a:t>
            </a:r>
            <a:r>
              <a:rPr dirty="0" lang="en-US" smtClean="0">
                <a:latin typeface="Calibri" pitchFamily="34" charset="0"/>
              </a:rPr>
              <a:t>, vitamin D and </a:t>
            </a:r>
            <a:r>
              <a:rPr dirty="0" lang="en-US" err="1" smtClean="0">
                <a:latin typeface="Calibri" pitchFamily="34" charset="0"/>
              </a:rPr>
              <a:t>calcitocin</a:t>
            </a:r>
            <a:r>
              <a:rPr dirty="0" lang="en-US" smtClean="0">
                <a:latin typeface="Calibri" pitchFamily="34" charset="0"/>
              </a:rPr>
              <a:t>. Occurs to 50% of the neonates.</a:t>
            </a:r>
            <a:endParaRPr dirty="0" lang="en-US">
              <a:latin typeface="Calibri" pitchFamily="34" charset="0"/>
            </a:endParaRPr>
          </a:p>
        </p:txBody>
      </p:sp>
      <p:sp>
        <p:nvSpPr>
          <p:cNvPr id="104956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086" name=""/>
        <p:cNvGrpSpPr/>
        <p:nvPr/>
      </p:nvGrpSpPr>
      <p:grpSpPr>
        <a:xfrm>
          <a:off x="0" y="0"/>
          <a:ext cx="0" cy="0"/>
          <a:chOff x="0" y="0"/>
          <a:chExt cx="0" cy="0"/>
        </a:xfrm>
      </p:grpSpPr>
      <p:sp>
        <p:nvSpPr>
          <p:cNvPr id="1049564" name="Title 1"/>
          <p:cNvSpPr>
            <a:spLocks noGrp="1"/>
          </p:cNvSpPr>
          <p:nvPr>
            <p:ph type="title"/>
          </p:nvPr>
        </p:nvSpPr>
        <p:spPr/>
        <p:txBody>
          <a:bodyPr/>
          <a:p>
            <a:r>
              <a:rPr b="1" dirty="0" sz="4400" lang="en-US" smtClean="0">
                <a:solidFill>
                  <a:srgbClr val="00B0F0"/>
                </a:solidFill>
                <a:effectLst/>
              </a:rPr>
              <a:t>SPECIFIC   MANAGEMENT</a:t>
            </a:r>
            <a:endParaRPr dirty="0" lang="en-US"/>
          </a:p>
        </p:txBody>
      </p:sp>
      <p:sp>
        <p:nvSpPr>
          <p:cNvPr id="1049565" name="Content Placeholder 2"/>
          <p:cNvSpPr>
            <a:spLocks noGrp="1"/>
          </p:cNvSpPr>
          <p:nvPr>
            <p:ph sz="quarter" idx="1"/>
          </p:nvPr>
        </p:nvSpPr>
        <p:spPr>
          <a:xfrm>
            <a:off x="571500" y="1600200"/>
            <a:ext cx="10287000" cy="4953000"/>
          </a:xfrm>
        </p:spPr>
        <p:txBody>
          <a:bodyPr/>
          <a:p>
            <a:pPr>
              <a:buNone/>
            </a:pPr>
            <a:r>
              <a:rPr dirty="0" sz="3000" lang="en-US" smtClean="0">
                <a:latin typeface="Calibri" pitchFamily="34" charset="0"/>
              </a:rPr>
              <a:t>	</a:t>
            </a:r>
            <a:r>
              <a:rPr dirty="0" sz="3000" lang="en-US" smtClean="0">
                <a:solidFill>
                  <a:srgbClr val="00B0F0"/>
                </a:solidFill>
                <a:effectLst/>
                <a:latin typeface="Calibri" pitchFamily="34" charset="0"/>
              </a:rPr>
              <a:t>			</a:t>
            </a:r>
            <a:r>
              <a:rPr b="1" dirty="0" sz="3000" lang="en-US" smtClean="0">
                <a:solidFill>
                  <a:srgbClr val="0ECC04"/>
                </a:solidFill>
                <a:effectLst/>
                <a:latin typeface="Calibri" pitchFamily="34" charset="0"/>
              </a:rPr>
              <a:t>INTRAPARTUM</a:t>
            </a:r>
          </a:p>
          <a:p>
            <a:pPr>
              <a:buNone/>
            </a:pPr>
            <a:r>
              <a:rPr b="1" dirty="0" sz="3000" lang="en-US" smtClean="0">
                <a:solidFill>
                  <a:srgbClr val="00B0F0"/>
                </a:solidFill>
                <a:effectLst/>
                <a:latin typeface="Calibri" pitchFamily="34" charset="0"/>
              </a:rPr>
              <a:t>	</a:t>
            </a:r>
            <a:r>
              <a:rPr b="1" dirty="0" lang="en-US" smtClean="0">
                <a:solidFill>
                  <a:srgbClr val="00B0F0"/>
                </a:solidFill>
                <a:effectLst/>
                <a:latin typeface="Calibri" pitchFamily="34" charset="0"/>
              </a:rPr>
              <a:t>	</a:t>
            </a:r>
            <a:r>
              <a:rPr b="1" dirty="0" i="1" lang="en-US" smtClean="0">
                <a:solidFill>
                  <a:srgbClr val="E828B6"/>
                </a:solidFill>
                <a:effectLst/>
                <a:latin typeface="Calibri" pitchFamily="34" charset="0"/>
              </a:rPr>
              <a:t>First    Stage</a:t>
            </a:r>
          </a:p>
          <a:p>
            <a:r>
              <a:rPr dirty="0" lang="en-US" smtClean="0">
                <a:effectLst/>
                <a:latin typeface="Calibri" pitchFamily="34" charset="0"/>
              </a:rPr>
              <a:t>Closely monitor for excessive </a:t>
            </a:r>
            <a:r>
              <a:rPr dirty="0" lang="en-US" err="1" smtClean="0">
                <a:effectLst/>
                <a:latin typeface="Calibri" pitchFamily="34" charset="0"/>
              </a:rPr>
              <a:t>moulding</a:t>
            </a:r>
            <a:r>
              <a:rPr dirty="0" lang="en-US" smtClean="0">
                <a:effectLst/>
                <a:latin typeface="Calibri" pitchFamily="34" charset="0"/>
              </a:rPr>
              <a:t> , which can lead to hypoxia and intracranial injury. Then take appropriate measures.</a:t>
            </a:r>
          </a:p>
          <a:p>
            <a:pPr>
              <a:buNone/>
            </a:pPr>
            <a:r>
              <a:rPr dirty="0" lang="en-US" smtClean="0">
                <a:effectLst/>
                <a:latin typeface="Calibri" pitchFamily="34" charset="0"/>
              </a:rPr>
              <a:t>		</a:t>
            </a:r>
            <a:r>
              <a:rPr b="1" dirty="0" i="1" lang="en-US" smtClean="0">
                <a:solidFill>
                  <a:srgbClr val="E828B6"/>
                </a:solidFill>
                <a:effectLst/>
                <a:latin typeface="Calibri" pitchFamily="34" charset="0"/>
              </a:rPr>
              <a:t>Second  Stage</a:t>
            </a:r>
          </a:p>
          <a:p>
            <a:r>
              <a:rPr dirty="0" lang="en-US" smtClean="0">
                <a:effectLst/>
                <a:latin typeface="Calibri" pitchFamily="34" charset="0"/>
              </a:rPr>
              <a:t>Control delivery of head to avoid cerebral </a:t>
            </a:r>
            <a:r>
              <a:rPr dirty="0" lang="en-US" err="1" smtClean="0">
                <a:effectLst/>
                <a:latin typeface="Calibri" pitchFamily="34" charset="0"/>
              </a:rPr>
              <a:t>haemorrhge</a:t>
            </a:r>
            <a:r>
              <a:rPr dirty="0" lang="en-US" smtClean="0">
                <a:effectLst/>
                <a:latin typeface="Calibri" pitchFamily="34" charset="0"/>
              </a:rPr>
              <a:t>. Be keen on shoulder delivery to avoid trauma</a:t>
            </a:r>
          </a:p>
          <a:p>
            <a:endParaRPr dirty="0" sz="3000" lang="en-US" smtClean="0">
              <a:effectLst/>
              <a:latin typeface="Calibri" pitchFamily="34" charset="0"/>
            </a:endParaRPr>
          </a:p>
          <a:p>
            <a:pPr>
              <a:buNone/>
            </a:pPr>
            <a:endParaRPr dirty="0" sz="3000" lang="en-US">
              <a:effectLst/>
              <a:latin typeface="Calibri" pitchFamily="34" charset="0"/>
            </a:endParaRPr>
          </a:p>
        </p:txBody>
      </p:sp>
      <p:sp>
        <p:nvSpPr>
          <p:cNvPr id="104956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087" name=""/>
        <p:cNvGrpSpPr/>
        <p:nvPr/>
      </p:nvGrpSpPr>
      <p:grpSpPr>
        <a:xfrm>
          <a:off x="0" y="0"/>
          <a:ext cx="0" cy="0"/>
          <a:chOff x="0" y="0"/>
          <a:chExt cx="0" cy="0"/>
        </a:xfrm>
      </p:grpSpPr>
      <p:sp>
        <p:nvSpPr>
          <p:cNvPr id="1049567" name="Content Placeholder 2"/>
          <p:cNvSpPr>
            <a:spLocks noGrp="1"/>
          </p:cNvSpPr>
          <p:nvPr>
            <p:ph sz="quarter" idx="1"/>
          </p:nvPr>
        </p:nvSpPr>
        <p:spPr>
          <a:xfrm>
            <a:off x="285750" y="1600206"/>
            <a:ext cx="10572750" cy="4530725"/>
          </a:xfrm>
        </p:spPr>
        <p:txBody>
          <a:bodyPr/>
          <a:p>
            <a:pPr>
              <a:buNone/>
            </a:pPr>
            <a:r>
              <a:rPr dirty="0" lang="en-US" smtClean="0">
                <a:latin typeface="Calibri" pitchFamily="34" charset="0"/>
              </a:rPr>
              <a:t>		</a:t>
            </a:r>
            <a:r>
              <a:rPr b="1" dirty="0" i="1" lang="en-US" smtClean="0">
                <a:solidFill>
                  <a:srgbClr val="E828B6"/>
                </a:solidFill>
                <a:latin typeface="Calibri" pitchFamily="34" charset="0"/>
              </a:rPr>
              <a:t>Immediate  care</a:t>
            </a:r>
          </a:p>
          <a:p>
            <a:r>
              <a:rPr dirty="0" lang="en-US" smtClean="0">
                <a:effectLst/>
                <a:latin typeface="Calibri" pitchFamily="34" charset="0"/>
              </a:rPr>
              <a:t>Maintain a clear airway and Apgar Score correctly. </a:t>
            </a:r>
          </a:p>
          <a:p>
            <a:r>
              <a:rPr dirty="0" lang="en-US" smtClean="0">
                <a:effectLst/>
                <a:latin typeface="Calibri" pitchFamily="34" charset="0"/>
              </a:rPr>
              <a:t>Nurse in the incubator irrespective of the size to facilitate a thermal controlled environment, hence prevent excessive heat loss.</a:t>
            </a:r>
          </a:p>
          <a:p>
            <a:r>
              <a:rPr dirty="0" lang="en-US" smtClean="0">
                <a:effectLst/>
                <a:latin typeface="Calibri" pitchFamily="34" charset="0"/>
              </a:rPr>
              <a:t>Administer vitamin K appropriately to prevent haemorrhage.</a:t>
            </a:r>
            <a:endParaRPr dirty="0" lang="en-US">
              <a:effectLst/>
              <a:latin typeface="Calibri" pitchFamily="34" charset="0"/>
            </a:endParaRPr>
          </a:p>
        </p:txBody>
      </p:sp>
      <p:sp>
        <p:nvSpPr>
          <p:cNvPr id="104956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088" name=""/>
        <p:cNvGrpSpPr/>
        <p:nvPr/>
      </p:nvGrpSpPr>
      <p:grpSpPr>
        <a:xfrm>
          <a:off x="0" y="0"/>
          <a:ext cx="0" cy="0"/>
          <a:chOff x="0" y="0"/>
          <a:chExt cx="0" cy="0"/>
        </a:xfrm>
      </p:grpSpPr>
      <p:sp>
        <p:nvSpPr>
          <p:cNvPr id="1049569" name="Content Placeholder 2"/>
          <p:cNvSpPr>
            <a:spLocks noGrp="1"/>
          </p:cNvSpPr>
          <p:nvPr>
            <p:ph sz="quarter" idx="1"/>
          </p:nvPr>
        </p:nvSpPr>
        <p:spPr>
          <a:xfrm>
            <a:off x="381000" y="1600200"/>
            <a:ext cx="10763250" cy="4648200"/>
          </a:xfrm>
        </p:spPr>
        <p:txBody>
          <a:bodyPr>
            <a:normAutofit fontScale="92500"/>
          </a:bodyPr>
          <a:p>
            <a:pPr>
              <a:buNone/>
            </a:pPr>
            <a:r>
              <a:rPr dirty="0" lang="en-US" smtClean="0">
                <a:latin typeface="Calibri" pitchFamily="34" charset="0"/>
              </a:rPr>
              <a:t>			</a:t>
            </a:r>
            <a:r>
              <a:rPr b="1" dirty="0" sz="3600" i="1" lang="en-US" smtClean="0">
                <a:solidFill>
                  <a:srgbClr val="E828B6"/>
                </a:solidFill>
                <a:latin typeface="Calibri" pitchFamily="34" charset="0"/>
              </a:rPr>
              <a:t>Subsequent   Care</a:t>
            </a:r>
          </a:p>
          <a:p>
            <a:r>
              <a:rPr dirty="0" sz="3600" lang="en-US" smtClean="0">
                <a:effectLst/>
                <a:latin typeface="Calibri" pitchFamily="34" charset="0"/>
              </a:rPr>
              <a:t>Feed within the first 15 minutes of birth and ct on 2 hourly bases for the first 48 hrs to prevent hypoglycaemia</a:t>
            </a:r>
          </a:p>
          <a:p>
            <a:pPr>
              <a:buFont typeface="Wingdings" pitchFamily="2" charset="2"/>
              <a:buChar char="Ø"/>
            </a:pPr>
            <a:r>
              <a:rPr dirty="0" sz="3600" lang="en-US" smtClean="0">
                <a:effectLst/>
                <a:latin typeface="Calibri" pitchFamily="34" charset="0"/>
              </a:rPr>
              <a:t>Not possible , commence dextrose drip within the same duration.</a:t>
            </a:r>
          </a:p>
          <a:p>
            <a:r>
              <a:rPr dirty="0" sz="3600" lang="en-US" smtClean="0">
                <a:effectLst/>
                <a:latin typeface="Calibri" pitchFamily="34" charset="0"/>
              </a:rPr>
              <a:t>Monitor for signs of hypoglycaemia= irritability, hypothermia, feeble cry , apnoea tachycardia ,tremors &amp; cyanosis.</a:t>
            </a:r>
            <a:endParaRPr dirty="0" lang="en-US">
              <a:effectLst/>
              <a:latin typeface="Calibri" pitchFamily="34" charset="0"/>
            </a:endParaRPr>
          </a:p>
        </p:txBody>
      </p:sp>
      <p:sp>
        <p:nvSpPr>
          <p:cNvPr id="104957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089" name=""/>
        <p:cNvGrpSpPr/>
        <p:nvPr/>
      </p:nvGrpSpPr>
      <p:grpSpPr>
        <a:xfrm>
          <a:off x="0" y="0"/>
          <a:ext cx="0" cy="0"/>
          <a:chOff x="0" y="0"/>
          <a:chExt cx="0" cy="0"/>
        </a:xfrm>
      </p:grpSpPr>
      <p:sp>
        <p:nvSpPr>
          <p:cNvPr id="1049571" name="Content Placeholder 2"/>
          <p:cNvSpPr>
            <a:spLocks noGrp="1"/>
          </p:cNvSpPr>
          <p:nvPr>
            <p:ph sz="quarter" idx="1"/>
          </p:nvPr>
        </p:nvSpPr>
        <p:spPr>
          <a:xfrm>
            <a:off x="285751" y="1295400"/>
            <a:ext cx="10953750" cy="5410200"/>
          </a:xfrm>
        </p:spPr>
        <p:txBody>
          <a:bodyPr>
            <a:normAutofit/>
          </a:bodyPr>
          <a:p>
            <a:pPr>
              <a:buNone/>
            </a:pPr>
            <a:r>
              <a:rPr dirty="0" lang="en-US" smtClean="0">
                <a:latin typeface="Calibri" pitchFamily="34" charset="0"/>
              </a:rPr>
              <a:t>	</a:t>
            </a:r>
            <a:r>
              <a:rPr b="1" dirty="0" sz="3500" lang="en-US" smtClean="0">
                <a:solidFill>
                  <a:srgbClr val="E828B6"/>
                </a:solidFill>
                <a:latin typeface="Calibri" pitchFamily="34" charset="0"/>
              </a:rPr>
              <a:t>NB </a:t>
            </a:r>
            <a:r>
              <a:rPr dirty="0" lang="en-US" smtClean="0">
                <a:latin typeface="Calibri" pitchFamily="34" charset="0"/>
              </a:rPr>
              <a:t> </a:t>
            </a:r>
          </a:p>
          <a:p>
            <a:pPr>
              <a:buFont typeface="Wingdings" pitchFamily="2" charset="2"/>
              <a:buChar char="q"/>
            </a:pPr>
            <a:r>
              <a:rPr dirty="0" lang="en-US" smtClean="0">
                <a:latin typeface="Calibri" pitchFamily="34" charset="0"/>
              </a:rPr>
              <a:t> During the 1</a:t>
            </a:r>
            <a:r>
              <a:rPr baseline="30000" dirty="0" lang="en-US" smtClean="0">
                <a:latin typeface="Calibri" pitchFamily="34" charset="0"/>
              </a:rPr>
              <a:t>st</a:t>
            </a:r>
            <a:r>
              <a:rPr dirty="0" lang="en-US" smtClean="0">
                <a:latin typeface="Calibri" pitchFamily="34" charset="0"/>
              </a:rPr>
              <a:t>  2hrs of birth, blood sugar levels reduces very fast.</a:t>
            </a:r>
          </a:p>
          <a:p>
            <a:pPr>
              <a:buFont typeface="Wingdings" pitchFamily="2" charset="2"/>
              <a:buChar char="q"/>
            </a:pPr>
            <a:r>
              <a:rPr dirty="0" lang="en-US" smtClean="0">
                <a:latin typeface="Calibri" pitchFamily="34" charset="0"/>
              </a:rPr>
              <a:t> Convulsions/ Cardiac arrest can easily occur due to hypoglycaemia hence irreversible brain damage.</a:t>
            </a:r>
          </a:p>
          <a:p>
            <a:r>
              <a:rPr dirty="0" lang="en-US" smtClean="0">
                <a:latin typeface="Calibri" pitchFamily="34" charset="0"/>
              </a:rPr>
              <a:t>Estimate BS every:</a:t>
            </a:r>
          </a:p>
          <a:p>
            <a:pPr>
              <a:buFont typeface="Wingdings" pitchFamily="2" charset="2"/>
              <a:buChar char="Ø"/>
            </a:pPr>
            <a:r>
              <a:rPr dirty="0" lang="en-US" smtClean="0">
                <a:latin typeface="Calibri" pitchFamily="34" charset="0"/>
              </a:rPr>
              <a:t>Half(½)- 1(one) hourly for the first 2 hours.</a:t>
            </a:r>
          </a:p>
          <a:p>
            <a:pPr>
              <a:buFont typeface="Wingdings" pitchFamily="2" charset="2"/>
              <a:buChar char="Ø"/>
            </a:pPr>
            <a:r>
              <a:rPr dirty="0" lang="en-US" smtClean="0">
                <a:latin typeface="Calibri" pitchFamily="34" charset="0"/>
              </a:rPr>
              <a:t>Three(3)</a:t>
            </a:r>
            <a:r>
              <a:rPr dirty="0" lang="en-US" err="1" smtClean="0">
                <a:latin typeface="Calibri" pitchFamily="34" charset="0"/>
              </a:rPr>
              <a:t>hrly</a:t>
            </a:r>
            <a:r>
              <a:rPr dirty="0" lang="en-US" smtClean="0">
                <a:latin typeface="Calibri" pitchFamily="34" charset="0"/>
              </a:rPr>
              <a:t>  for 48 hours Maintain record all through and consult PRN.</a:t>
            </a:r>
          </a:p>
          <a:p>
            <a:pPr>
              <a:buFont typeface="Wingdings" pitchFamily="2" charset="2"/>
              <a:buChar char="Ø"/>
            </a:pPr>
            <a:r>
              <a:rPr dirty="0" lang="en-US" smtClean="0">
                <a:latin typeface="Calibri" pitchFamily="34" charset="0"/>
              </a:rPr>
              <a:t>Thereafter frequency is determined by clinical status of the newborn. </a:t>
            </a:r>
            <a:endParaRPr dirty="0" lang="en-US">
              <a:latin typeface="Calibri" pitchFamily="34" charset="0"/>
            </a:endParaRPr>
          </a:p>
        </p:txBody>
      </p:sp>
      <p:sp>
        <p:nvSpPr>
          <p:cNvPr id="104957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090" name=""/>
        <p:cNvGrpSpPr/>
        <p:nvPr/>
      </p:nvGrpSpPr>
      <p:grpSpPr>
        <a:xfrm>
          <a:off x="0" y="0"/>
          <a:ext cx="0" cy="0"/>
          <a:chOff x="0" y="0"/>
          <a:chExt cx="0" cy="0"/>
        </a:xfrm>
      </p:grpSpPr>
      <p:sp>
        <p:nvSpPr>
          <p:cNvPr id="1049573" name="Content Placeholder 2"/>
          <p:cNvSpPr>
            <a:spLocks noGrp="1"/>
          </p:cNvSpPr>
          <p:nvPr>
            <p:ph sz="quarter" idx="1"/>
          </p:nvPr>
        </p:nvSpPr>
        <p:spPr>
          <a:xfrm>
            <a:off x="285750" y="1371600"/>
            <a:ext cx="10858500" cy="4953000"/>
          </a:xfrm>
        </p:spPr>
        <p:txBody>
          <a:bodyPr/>
          <a:p>
            <a:r>
              <a:rPr dirty="0" lang="en-US" smtClean="0">
                <a:latin typeface="Calibri" pitchFamily="34" charset="0"/>
              </a:rPr>
              <a:t>Vital signs every 2 hourly for the 1</a:t>
            </a:r>
            <a:r>
              <a:rPr baseline="30000" dirty="0" lang="en-US" smtClean="0">
                <a:latin typeface="Calibri" pitchFamily="34" charset="0"/>
              </a:rPr>
              <a:t>st</a:t>
            </a:r>
            <a:r>
              <a:rPr dirty="0" lang="en-US" smtClean="0">
                <a:latin typeface="Calibri" pitchFamily="34" charset="0"/>
              </a:rPr>
              <a:t>  48 hours to diagnose shock &amp; features of  RDS.</a:t>
            </a:r>
          </a:p>
          <a:p>
            <a:r>
              <a:rPr dirty="0" lang="en-US" smtClean="0">
                <a:latin typeface="Calibri" pitchFamily="34" charset="0"/>
              </a:rPr>
              <a:t>Perform initial exam to confirm maturity , diagnose congenital abnormalities hence plan interventions for good prognosis.</a:t>
            </a:r>
          </a:p>
          <a:p>
            <a:r>
              <a:rPr dirty="0" lang="en-US" smtClean="0">
                <a:latin typeface="Calibri" pitchFamily="34" charset="0"/>
              </a:rPr>
              <a:t>Maintain high standards of hygiene and perform daily exam to evaluate the progress.</a:t>
            </a:r>
          </a:p>
          <a:p>
            <a:r>
              <a:rPr dirty="0" lang="en-US" smtClean="0">
                <a:latin typeface="Calibri" pitchFamily="34" charset="0"/>
              </a:rPr>
              <a:t>Finally </a:t>
            </a:r>
            <a:r>
              <a:rPr dirty="0" lang="en-US" err="1" smtClean="0">
                <a:latin typeface="Calibri" pitchFamily="34" charset="0"/>
              </a:rPr>
              <a:t>paeditrician</a:t>
            </a:r>
            <a:r>
              <a:rPr dirty="0" lang="en-US" smtClean="0">
                <a:latin typeface="Calibri" pitchFamily="34" charset="0"/>
              </a:rPr>
              <a:t> discharges to continue with  outpatient clinic for follow up &amp; close monitoring.  </a:t>
            </a:r>
            <a:endParaRPr dirty="0" lang="en-US">
              <a:latin typeface="Calibri" pitchFamily="34" charset="0"/>
            </a:endParaRPr>
          </a:p>
        </p:txBody>
      </p:sp>
      <p:sp>
        <p:nvSpPr>
          <p:cNvPr id="104957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091" name=""/>
        <p:cNvGrpSpPr/>
        <p:nvPr/>
      </p:nvGrpSpPr>
      <p:grpSpPr>
        <a:xfrm>
          <a:off x="0" y="0"/>
          <a:ext cx="0" cy="0"/>
          <a:chOff x="0" y="0"/>
          <a:chExt cx="0" cy="0"/>
        </a:xfrm>
      </p:grpSpPr>
      <p:sp>
        <p:nvSpPr>
          <p:cNvPr id="1049575" name="Title 1"/>
          <p:cNvSpPr>
            <a:spLocks noGrp="1"/>
          </p:cNvSpPr>
          <p:nvPr>
            <p:ph type="title"/>
          </p:nvPr>
        </p:nvSpPr>
        <p:spPr/>
        <p:txBody>
          <a:bodyPr/>
          <a:p>
            <a:r>
              <a:rPr b="1" dirty="0" lang="en-US" smtClean="0">
                <a:solidFill>
                  <a:schemeClr val="tx1"/>
                </a:solidFill>
                <a:latin typeface="+mn-lt"/>
              </a:rPr>
              <a:t>Effects Of Pregnancy On Diabetes</a:t>
            </a:r>
            <a:endParaRPr b="1" dirty="0" lang="en-US">
              <a:solidFill>
                <a:schemeClr val="tx1"/>
              </a:solidFill>
              <a:latin typeface="+mn-lt"/>
            </a:endParaRPr>
          </a:p>
        </p:txBody>
      </p:sp>
      <p:sp>
        <p:nvSpPr>
          <p:cNvPr id="1049576" name="Content Placeholder 2"/>
          <p:cNvSpPr>
            <a:spLocks noGrp="1"/>
          </p:cNvSpPr>
          <p:nvPr>
            <p:ph sz="quarter" idx="1"/>
          </p:nvPr>
        </p:nvSpPr>
        <p:spPr>
          <a:xfrm>
            <a:off x="285750" y="1600206"/>
            <a:ext cx="10572750" cy="4530725"/>
          </a:xfrm>
        </p:spPr>
        <p:txBody>
          <a:bodyPr/>
          <a:p>
            <a:pPr>
              <a:buFont typeface="Wingdings" pitchFamily="2" charset="2"/>
              <a:buChar char="v"/>
            </a:pPr>
            <a:r>
              <a:rPr dirty="0" sz="3400" lang="en-US" smtClean="0">
                <a:effectLst/>
                <a:latin typeface="Calibri" pitchFamily="34" charset="0"/>
              </a:rPr>
              <a:t>Refers to complications pregnancy state brings to an already known diabetes. They are:-</a:t>
            </a:r>
          </a:p>
          <a:p>
            <a:r>
              <a:rPr dirty="0" sz="3400" lang="en-US" smtClean="0">
                <a:effectLst/>
                <a:latin typeface="Calibri" pitchFamily="34" charset="0"/>
              </a:rPr>
              <a:t>Insulin </a:t>
            </a:r>
            <a:r>
              <a:rPr dirty="0" sz="3400" lang="en-US" err="1" smtClean="0">
                <a:effectLst/>
                <a:latin typeface="Calibri" pitchFamily="34" charset="0"/>
              </a:rPr>
              <a:t>dependancy</a:t>
            </a:r>
            <a:r>
              <a:rPr dirty="0" sz="3400" lang="en-US" smtClean="0">
                <a:effectLst/>
                <a:latin typeface="Calibri" pitchFamily="34" charset="0"/>
              </a:rPr>
              <a:t> ; because the requirements are increased.</a:t>
            </a:r>
          </a:p>
          <a:p>
            <a:r>
              <a:rPr dirty="0" sz="3400" lang="en-US" err="1" smtClean="0">
                <a:effectLst/>
                <a:latin typeface="Calibri" pitchFamily="34" charset="0"/>
              </a:rPr>
              <a:t>Ketoacidosis</a:t>
            </a:r>
            <a:r>
              <a:rPr dirty="0" sz="3400" lang="en-US" smtClean="0">
                <a:effectLst/>
                <a:latin typeface="Calibri" pitchFamily="34" charset="0"/>
              </a:rPr>
              <a:t>; due to poor control particularly in the 3</a:t>
            </a:r>
            <a:r>
              <a:rPr baseline="30000" dirty="0" sz="3400" lang="en-US" smtClean="0">
                <a:effectLst/>
                <a:latin typeface="Calibri" pitchFamily="34" charset="0"/>
              </a:rPr>
              <a:t>rd</a:t>
            </a:r>
            <a:r>
              <a:rPr dirty="0" sz="3400" lang="en-US" smtClean="0">
                <a:effectLst/>
                <a:latin typeface="Calibri" pitchFamily="34" charset="0"/>
              </a:rPr>
              <a:t> trimester leading to high levels of </a:t>
            </a:r>
            <a:r>
              <a:rPr dirty="0" sz="3400" lang="en-US" err="1" smtClean="0">
                <a:effectLst/>
                <a:latin typeface="Calibri" pitchFamily="34" charset="0"/>
              </a:rPr>
              <a:t>ketone</a:t>
            </a:r>
            <a:r>
              <a:rPr dirty="0" sz="3400" lang="en-US" smtClean="0">
                <a:effectLst/>
                <a:latin typeface="Calibri" pitchFamily="34" charset="0"/>
              </a:rPr>
              <a:t> bodies in the circulation. </a:t>
            </a:r>
            <a:endParaRPr dirty="0" sz="3400" lang="en-US">
              <a:effectLst/>
              <a:latin typeface="Calibri" pitchFamily="34" charset="0"/>
            </a:endParaRPr>
          </a:p>
        </p:txBody>
      </p:sp>
      <p:sp>
        <p:nvSpPr>
          <p:cNvPr id="104957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092" name=""/>
        <p:cNvGrpSpPr/>
        <p:nvPr/>
      </p:nvGrpSpPr>
      <p:grpSpPr>
        <a:xfrm>
          <a:off x="0" y="0"/>
          <a:ext cx="0" cy="0"/>
          <a:chOff x="0" y="0"/>
          <a:chExt cx="0" cy="0"/>
        </a:xfrm>
      </p:grpSpPr>
      <p:sp>
        <p:nvSpPr>
          <p:cNvPr id="1049578" name="Content Placeholder 2"/>
          <p:cNvSpPr>
            <a:spLocks noGrp="1"/>
          </p:cNvSpPr>
          <p:nvPr>
            <p:ph sz="quarter" idx="1"/>
          </p:nvPr>
        </p:nvSpPr>
        <p:spPr/>
        <p:txBody>
          <a:bodyPr/>
          <a:p>
            <a:r>
              <a:rPr dirty="0" sz="3600" lang="en-US" smtClean="0"/>
              <a:t>Renal failure ; due to presence of nephropathy in non pregnancy state. Highly associated with poorly controlled type 1 DM</a:t>
            </a:r>
          </a:p>
          <a:p>
            <a:r>
              <a:rPr dirty="0" sz="3600" lang="en-US" smtClean="0"/>
              <a:t>Blindness ; due to presence of retinopathy prior to pregnancy and control is poor. So vasoconstriction leads to the condition. </a:t>
            </a:r>
            <a:endParaRPr dirty="0" sz="3600" lang="en-US"/>
          </a:p>
        </p:txBody>
      </p:sp>
      <p:sp>
        <p:nvSpPr>
          <p:cNvPr id="104957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093" name=""/>
        <p:cNvGrpSpPr/>
        <p:nvPr/>
      </p:nvGrpSpPr>
      <p:grpSpPr>
        <a:xfrm>
          <a:off x="0" y="0"/>
          <a:ext cx="0" cy="0"/>
          <a:chOff x="0" y="0"/>
          <a:chExt cx="0" cy="0"/>
        </a:xfrm>
      </p:grpSpPr>
      <p:sp>
        <p:nvSpPr>
          <p:cNvPr id="1049580" name="Title 1"/>
          <p:cNvSpPr>
            <a:spLocks noGrp="1"/>
          </p:cNvSpPr>
          <p:nvPr>
            <p:ph type="title"/>
          </p:nvPr>
        </p:nvSpPr>
        <p:spPr/>
        <p:txBody>
          <a:bodyPr>
            <a:normAutofit/>
          </a:bodyPr>
          <a:p>
            <a:r>
              <a:rPr b="1" dirty="0" lang="en-US" smtClean="0">
                <a:solidFill>
                  <a:schemeClr val="tx1"/>
                </a:solidFill>
                <a:effectLst/>
                <a:latin typeface="+mn-lt"/>
              </a:rPr>
              <a:t>Effects Of  Diabetes On Pregnancy</a:t>
            </a:r>
            <a:endParaRPr dirty="0" lang="en-US">
              <a:solidFill>
                <a:schemeClr val="tx1"/>
              </a:solidFill>
              <a:latin typeface="+mn-lt"/>
            </a:endParaRPr>
          </a:p>
        </p:txBody>
      </p:sp>
      <p:sp>
        <p:nvSpPr>
          <p:cNvPr id="1049581" name="Content Placeholder 2"/>
          <p:cNvSpPr>
            <a:spLocks noGrp="1"/>
          </p:cNvSpPr>
          <p:nvPr>
            <p:ph sz="quarter" idx="1"/>
          </p:nvPr>
        </p:nvSpPr>
        <p:spPr>
          <a:xfrm>
            <a:off x="381000" y="1295403"/>
            <a:ext cx="10477500" cy="4835525"/>
          </a:xfrm>
        </p:spPr>
        <p:txBody>
          <a:bodyPr>
            <a:normAutofit fontScale="92500" lnSpcReduction="20000"/>
          </a:bodyPr>
          <a:p>
            <a:pPr>
              <a:buNone/>
            </a:pPr>
            <a:r>
              <a:rPr dirty="0" lang="en-US" smtClean="0"/>
              <a:t>	</a:t>
            </a:r>
            <a:endParaRPr b="1" dirty="0" lang="en-US" smtClean="0">
              <a:solidFill>
                <a:srgbClr val="FFC000"/>
              </a:solidFill>
              <a:effectLst/>
            </a:endParaRPr>
          </a:p>
          <a:p>
            <a:pPr>
              <a:buFont typeface="Wingdings" pitchFamily="2" charset="2"/>
              <a:buChar char="v"/>
            </a:pPr>
            <a:r>
              <a:rPr dirty="0" lang="en-US" smtClean="0">
                <a:effectLst/>
              </a:rPr>
              <a:t>Refers to complications to either fetus or baby due to poor control of the condition hence vasoconstriction.</a:t>
            </a:r>
          </a:p>
          <a:p>
            <a:pPr>
              <a:buFont typeface="Wingdings" pitchFamily="2" charset="2"/>
              <a:buChar char="v"/>
            </a:pPr>
            <a:r>
              <a:rPr dirty="0" lang="en-US" smtClean="0">
                <a:effectLst/>
              </a:rPr>
              <a:t>As well as those which occurs to the mother.</a:t>
            </a:r>
          </a:p>
          <a:p>
            <a:pPr>
              <a:buNone/>
            </a:pPr>
            <a:r>
              <a:rPr dirty="0" lang="en-US" smtClean="0">
                <a:effectLst/>
              </a:rPr>
              <a:t>		</a:t>
            </a:r>
            <a:r>
              <a:rPr b="1" dirty="0" sz="3600" i="1" lang="en-US" smtClean="0">
                <a:solidFill>
                  <a:srgbClr val="09B709"/>
                </a:solidFill>
                <a:effectLst/>
              </a:rPr>
              <a:t>Fetal</a:t>
            </a:r>
          </a:p>
          <a:p>
            <a:r>
              <a:rPr dirty="0" sz="3600" lang="en-US" smtClean="0">
                <a:effectLst/>
              </a:rPr>
              <a:t>Loss of pregnancy in terms of :</a:t>
            </a:r>
          </a:p>
          <a:p>
            <a:pPr>
              <a:buFont typeface="Wingdings" pitchFamily="2" charset="2"/>
              <a:buChar char="Ø"/>
            </a:pPr>
            <a:r>
              <a:rPr dirty="0" sz="3600" lang="en-US" smtClean="0">
                <a:effectLst/>
              </a:rPr>
              <a:t>Spontaneous abortion</a:t>
            </a:r>
          </a:p>
          <a:p>
            <a:pPr>
              <a:buFont typeface="Wingdings" pitchFamily="2" charset="2"/>
              <a:buChar char="Ø"/>
            </a:pPr>
            <a:r>
              <a:rPr dirty="0" sz="3600" lang="en-US" smtClean="0">
                <a:effectLst/>
              </a:rPr>
              <a:t>Intrauterine fetal death.</a:t>
            </a:r>
          </a:p>
          <a:p>
            <a:pPr>
              <a:buFont typeface="Wingdings" pitchFamily="2" charset="2"/>
              <a:buChar char="ü"/>
            </a:pPr>
            <a:r>
              <a:rPr dirty="0" sz="3600" lang="en-US" smtClean="0">
                <a:effectLst/>
              </a:rPr>
              <a:t>Due to severe placental dysfunction &amp; severe ketoacidosis  respectively.</a:t>
            </a:r>
            <a:endParaRPr dirty="0" lang="en-US"/>
          </a:p>
        </p:txBody>
      </p:sp>
      <p:sp>
        <p:nvSpPr>
          <p:cNvPr id="104958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094" name=""/>
        <p:cNvGrpSpPr/>
        <p:nvPr/>
      </p:nvGrpSpPr>
      <p:grpSpPr>
        <a:xfrm>
          <a:off x="0" y="0"/>
          <a:ext cx="0" cy="0"/>
          <a:chOff x="0" y="0"/>
          <a:chExt cx="0" cy="0"/>
        </a:xfrm>
      </p:grpSpPr>
      <p:sp>
        <p:nvSpPr>
          <p:cNvPr id="1049583" name="Content Placeholder 2"/>
          <p:cNvSpPr>
            <a:spLocks noGrp="1"/>
          </p:cNvSpPr>
          <p:nvPr>
            <p:ph sz="quarter" idx="1"/>
          </p:nvPr>
        </p:nvSpPr>
        <p:spPr>
          <a:xfrm>
            <a:off x="0" y="1600200"/>
            <a:ext cx="11430000" cy="4876800"/>
          </a:xfrm>
        </p:spPr>
        <p:txBody>
          <a:bodyPr>
            <a:normAutofit/>
          </a:bodyPr>
          <a:p>
            <a:r>
              <a:rPr dirty="0" sz="2800" lang="en-US" smtClean="0"/>
              <a:t>Congenital malformations due to high levels of glycated haemoglobin in the first trimester.</a:t>
            </a:r>
          </a:p>
          <a:p>
            <a:r>
              <a:rPr dirty="0" sz="2800" lang="en-US" smtClean="0"/>
              <a:t>Intrauterine growth restriction because of moderate degree of vascular involvement </a:t>
            </a:r>
          </a:p>
          <a:p>
            <a:r>
              <a:rPr dirty="0" sz="2800" lang="en-US" smtClean="0"/>
              <a:t>Macrosomia (</a:t>
            </a:r>
            <a:r>
              <a:rPr dirty="0" sz="2800" lang="en-US" err="1" smtClean="0"/>
              <a:t>Macrosoma</a:t>
            </a:r>
            <a:r>
              <a:rPr dirty="0" sz="2800" lang="en-US" smtClean="0"/>
              <a:t>). Refers to large fetus whose weight is ≥4500gm at birth, since large amount of glucose crosses the placenta barrier easily. </a:t>
            </a:r>
          </a:p>
          <a:p>
            <a:pPr>
              <a:buFont typeface="Wingdings" pitchFamily="2" charset="2"/>
              <a:buChar char="Ø"/>
            </a:pPr>
            <a:r>
              <a:rPr dirty="0" sz="2800" lang="en-US" smtClean="0">
                <a:effectLst/>
              </a:rPr>
              <a:t>Occurs in 80% of fetus  of DM  mothers.</a:t>
            </a:r>
          </a:p>
          <a:p>
            <a:r>
              <a:rPr dirty="0" sz="2800" lang="en-US" smtClean="0">
                <a:effectLst/>
              </a:rPr>
              <a:t>Fetal hypoxia due to vascular changes in the placenta hence vasoconstriction.</a:t>
            </a:r>
          </a:p>
          <a:p>
            <a:pPr>
              <a:buFont typeface="Wingdings" pitchFamily="2" charset="2"/>
              <a:buChar char="Ø"/>
            </a:pPr>
            <a:endParaRPr dirty="0" sz="2800" lang="en-US">
              <a:effectLst/>
            </a:endParaRPr>
          </a:p>
        </p:txBody>
      </p:sp>
      <p:sp>
        <p:nvSpPr>
          <p:cNvPr id="104958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095" name=""/>
        <p:cNvGrpSpPr/>
        <p:nvPr/>
      </p:nvGrpSpPr>
      <p:grpSpPr>
        <a:xfrm>
          <a:off x="0" y="0"/>
          <a:ext cx="0" cy="0"/>
          <a:chOff x="0" y="0"/>
          <a:chExt cx="0" cy="0"/>
        </a:xfrm>
      </p:grpSpPr>
      <p:sp>
        <p:nvSpPr>
          <p:cNvPr id="1049585" name="Content Placeholder 2"/>
          <p:cNvSpPr>
            <a:spLocks noGrp="1"/>
          </p:cNvSpPr>
          <p:nvPr>
            <p:ph sz="quarter" idx="1"/>
          </p:nvPr>
        </p:nvSpPr>
        <p:spPr>
          <a:xfrm>
            <a:off x="381000" y="1600200"/>
            <a:ext cx="10668000" cy="4800600"/>
          </a:xfrm>
        </p:spPr>
        <p:txBody>
          <a:bodyPr/>
          <a:p>
            <a:pPr>
              <a:buNone/>
            </a:pPr>
            <a:r>
              <a:rPr dirty="0" lang="en-US" smtClean="0">
                <a:latin typeface="Calibri" pitchFamily="34" charset="0"/>
              </a:rPr>
              <a:t>		</a:t>
            </a:r>
            <a:r>
              <a:rPr b="1" dirty="0" i="1" lang="en-US" smtClean="0">
                <a:solidFill>
                  <a:srgbClr val="09B709"/>
                </a:solidFill>
                <a:latin typeface="Calibri" pitchFamily="34" charset="0"/>
              </a:rPr>
              <a:t>Baby</a:t>
            </a:r>
          </a:p>
          <a:p>
            <a:r>
              <a:rPr dirty="0" lang="en-US" smtClean="0">
                <a:effectLst/>
                <a:latin typeface="Calibri" pitchFamily="34" charset="0"/>
              </a:rPr>
              <a:t>Excessive birth trauma due to macrosomia.</a:t>
            </a:r>
          </a:p>
          <a:p>
            <a:r>
              <a:rPr dirty="0" lang="en-US" smtClean="0">
                <a:effectLst/>
                <a:latin typeface="Calibri" pitchFamily="34" charset="0"/>
              </a:rPr>
              <a:t>Respiratory distress syndrome, despite being born at term.</a:t>
            </a:r>
          </a:p>
          <a:p>
            <a:pPr>
              <a:buFont typeface="Wingdings" pitchFamily="2" charset="2"/>
              <a:buChar char="Ø"/>
            </a:pPr>
            <a:r>
              <a:rPr dirty="0" lang="en-US" smtClean="0">
                <a:effectLst/>
                <a:latin typeface="Calibri" pitchFamily="34" charset="0"/>
              </a:rPr>
              <a:t>Results from slow lungs maturation </a:t>
            </a:r>
            <a:r>
              <a:rPr dirty="0" lang="en-US" err="1" smtClean="0">
                <a:effectLst/>
                <a:latin typeface="Calibri" pitchFamily="34" charset="0"/>
              </a:rPr>
              <a:t>bcos</a:t>
            </a:r>
            <a:r>
              <a:rPr dirty="0" lang="en-US" smtClean="0">
                <a:effectLst/>
                <a:latin typeface="Calibri" pitchFamily="34" charset="0"/>
              </a:rPr>
              <a:t> of poor oxygen supply to the pulmonary tissues.</a:t>
            </a:r>
          </a:p>
          <a:p>
            <a:r>
              <a:rPr dirty="0" lang="en-US" smtClean="0">
                <a:effectLst/>
                <a:latin typeface="Calibri" pitchFamily="34" charset="0"/>
              </a:rPr>
              <a:t>Hypoglycaemia :  Common in the first (1</a:t>
            </a:r>
            <a:r>
              <a:rPr baseline="30000" dirty="0" lang="en-US" smtClean="0">
                <a:effectLst/>
                <a:latin typeface="Calibri" pitchFamily="34" charset="0"/>
              </a:rPr>
              <a:t>st</a:t>
            </a:r>
            <a:r>
              <a:rPr dirty="0" lang="en-US" smtClean="0">
                <a:effectLst/>
                <a:latin typeface="Calibri" pitchFamily="34" charset="0"/>
              </a:rPr>
              <a:t> ) week , since pancreas continues to produce high levels of insulin.</a:t>
            </a:r>
            <a:endParaRPr dirty="0" lang="en-US">
              <a:effectLst/>
              <a:latin typeface="Calibri" pitchFamily="34" charset="0"/>
            </a:endParaRPr>
          </a:p>
        </p:txBody>
      </p:sp>
      <p:sp>
        <p:nvSpPr>
          <p:cNvPr id="104958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096" name=""/>
        <p:cNvGrpSpPr/>
        <p:nvPr/>
      </p:nvGrpSpPr>
      <p:grpSpPr>
        <a:xfrm>
          <a:off x="0" y="0"/>
          <a:ext cx="0" cy="0"/>
          <a:chOff x="0" y="0"/>
          <a:chExt cx="0" cy="0"/>
        </a:xfrm>
      </p:grpSpPr>
      <p:sp>
        <p:nvSpPr>
          <p:cNvPr id="1049587" name="Content Placeholder 2"/>
          <p:cNvSpPr>
            <a:spLocks noGrp="1"/>
          </p:cNvSpPr>
          <p:nvPr>
            <p:ph sz="quarter" idx="1"/>
          </p:nvPr>
        </p:nvSpPr>
        <p:spPr/>
        <p:txBody>
          <a:bodyPr>
            <a:normAutofit/>
          </a:bodyPr>
          <a:p>
            <a:r>
              <a:rPr dirty="0" lang="en-US" smtClean="0">
                <a:latin typeface="Calibri" pitchFamily="34" charset="0"/>
              </a:rPr>
              <a:t>Neonatal jaundice: because of excessive trauma , RDS, Polycythermia and prematurity.</a:t>
            </a:r>
          </a:p>
          <a:p>
            <a:r>
              <a:rPr dirty="0" lang="en-US" smtClean="0">
                <a:latin typeface="Calibri" pitchFamily="34" charset="0"/>
              </a:rPr>
              <a:t>Increased early neonatal mortality rate from hypoglycaemia &amp; RDS due to omission/ delay of immediate interventions.</a:t>
            </a:r>
          </a:p>
          <a:p>
            <a:r>
              <a:rPr dirty="0" lang="en-US" smtClean="0">
                <a:latin typeface="Calibri" pitchFamily="34" charset="0"/>
              </a:rPr>
              <a:t>Red appearance of the baby due to </a:t>
            </a:r>
            <a:r>
              <a:rPr dirty="0" lang="en-US" err="1" smtClean="0">
                <a:latin typeface="Calibri" pitchFamily="34" charset="0"/>
              </a:rPr>
              <a:t>polycythermia</a:t>
            </a:r>
            <a:r>
              <a:rPr dirty="0" lang="en-US" smtClean="0">
                <a:latin typeface="Calibri" pitchFamily="34" charset="0"/>
              </a:rPr>
              <a:t>.</a:t>
            </a:r>
          </a:p>
          <a:p>
            <a:pPr>
              <a:buFont typeface="Wingdings" pitchFamily="2" charset="2"/>
              <a:buChar char="Ø"/>
            </a:pPr>
            <a:r>
              <a:rPr dirty="0" lang="en-US" smtClean="0">
                <a:latin typeface="Calibri" pitchFamily="34" charset="0"/>
              </a:rPr>
              <a:t>The extra RBC are formed to compensate for the oxygen demand ,</a:t>
            </a:r>
            <a:r>
              <a:rPr dirty="0" lang="en-US" err="1" smtClean="0">
                <a:latin typeface="Calibri" pitchFamily="34" charset="0"/>
              </a:rPr>
              <a:t>bcos</a:t>
            </a:r>
            <a:r>
              <a:rPr dirty="0" lang="en-US" smtClean="0">
                <a:latin typeface="Calibri" pitchFamily="34" charset="0"/>
              </a:rPr>
              <a:t> of   </a:t>
            </a:r>
            <a:r>
              <a:rPr dirty="0" lang="en-US" err="1" smtClean="0">
                <a:latin typeface="Calibri" pitchFamily="34" charset="0"/>
              </a:rPr>
              <a:t>glycated</a:t>
            </a:r>
            <a:r>
              <a:rPr dirty="0" lang="en-US" smtClean="0">
                <a:latin typeface="Calibri" pitchFamily="34" charset="0"/>
              </a:rPr>
              <a:t> </a:t>
            </a:r>
            <a:r>
              <a:rPr dirty="0" lang="en-US" err="1" smtClean="0">
                <a:latin typeface="Calibri" pitchFamily="34" charset="0"/>
              </a:rPr>
              <a:t>haemoglobin</a:t>
            </a:r>
            <a:r>
              <a:rPr dirty="0" lang="en-US" smtClean="0">
                <a:latin typeface="Calibri" pitchFamily="34" charset="0"/>
              </a:rPr>
              <a:t> molecule to some extent. </a:t>
            </a:r>
            <a:endParaRPr dirty="0" lang="en-US">
              <a:latin typeface="Calibri" pitchFamily="34" charset="0"/>
            </a:endParaRPr>
          </a:p>
        </p:txBody>
      </p:sp>
      <p:sp>
        <p:nvSpPr>
          <p:cNvPr id="104958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097" name=""/>
        <p:cNvGrpSpPr/>
        <p:nvPr/>
      </p:nvGrpSpPr>
      <p:grpSpPr>
        <a:xfrm>
          <a:off x="0" y="0"/>
          <a:ext cx="0" cy="0"/>
          <a:chOff x="0" y="0"/>
          <a:chExt cx="0" cy="0"/>
        </a:xfrm>
      </p:grpSpPr>
      <p:sp>
        <p:nvSpPr>
          <p:cNvPr id="1049589" name="Content Placeholder 2"/>
          <p:cNvSpPr>
            <a:spLocks noGrp="1"/>
          </p:cNvSpPr>
          <p:nvPr>
            <p:ph sz="quarter" idx="1"/>
          </p:nvPr>
        </p:nvSpPr>
        <p:spPr>
          <a:xfrm>
            <a:off x="381000" y="1371600"/>
            <a:ext cx="10668000" cy="5257800"/>
          </a:xfrm>
        </p:spPr>
        <p:txBody>
          <a:bodyPr>
            <a:noAutofit/>
          </a:bodyPr>
          <a:p>
            <a:pPr>
              <a:buNone/>
            </a:pPr>
            <a:r>
              <a:rPr dirty="0" sz="2800" lang="en-US" smtClean="0">
                <a:latin typeface="Calibri" pitchFamily="34" charset="0"/>
              </a:rPr>
              <a:t>		</a:t>
            </a:r>
            <a:r>
              <a:rPr b="1" dirty="0" sz="2800" i="1" lang="en-US" smtClean="0">
                <a:solidFill>
                  <a:srgbClr val="09B709"/>
                </a:solidFill>
                <a:latin typeface="Calibri" pitchFamily="34" charset="0"/>
              </a:rPr>
              <a:t>Maternal</a:t>
            </a:r>
          </a:p>
          <a:p>
            <a:r>
              <a:rPr dirty="0" sz="2800" lang="en-US" smtClean="0">
                <a:effectLst/>
                <a:latin typeface="Calibri" pitchFamily="34" charset="0"/>
              </a:rPr>
              <a:t>Infection in terms of UTI, </a:t>
            </a:r>
            <a:r>
              <a:rPr dirty="0" sz="2800" lang="en-US" err="1" smtClean="0">
                <a:effectLst/>
                <a:latin typeface="Calibri" pitchFamily="34" charset="0"/>
              </a:rPr>
              <a:t>vulvo-vaginitis</a:t>
            </a:r>
            <a:r>
              <a:rPr dirty="0" sz="2800" lang="en-US" smtClean="0">
                <a:effectLst/>
                <a:latin typeface="Calibri" pitchFamily="34" charset="0"/>
              </a:rPr>
              <a:t> , candidiasis due to high acidity levels which </a:t>
            </a:r>
            <a:r>
              <a:rPr dirty="0" sz="2800" lang="en-US" err="1" smtClean="0">
                <a:effectLst/>
                <a:latin typeface="Calibri" pitchFamily="34" charset="0"/>
              </a:rPr>
              <a:t>favours</a:t>
            </a:r>
            <a:r>
              <a:rPr dirty="0" sz="2800" lang="en-US" smtClean="0">
                <a:effectLst/>
                <a:latin typeface="Calibri" pitchFamily="34" charset="0"/>
              </a:rPr>
              <a:t> growth of E. coli and Candida albican fungi</a:t>
            </a:r>
          </a:p>
          <a:p>
            <a:r>
              <a:rPr dirty="0" sz="2800" lang="en-US" smtClean="0">
                <a:effectLst/>
                <a:latin typeface="Calibri" pitchFamily="34" charset="0"/>
              </a:rPr>
              <a:t>Polyhydramnious </a:t>
            </a:r>
            <a:r>
              <a:rPr dirty="0" sz="2800" lang="en-US" err="1" smtClean="0">
                <a:effectLst/>
                <a:latin typeface="Calibri" pitchFamily="34" charset="0"/>
              </a:rPr>
              <a:t>bcos</a:t>
            </a:r>
            <a:r>
              <a:rPr dirty="0" sz="2800" lang="en-US" smtClean="0">
                <a:effectLst/>
                <a:latin typeface="Calibri" pitchFamily="34" charset="0"/>
              </a:rPr>
              <a:t> of possibility of congenital malformation.</a:t>
            </a:r>
          </a:p>
          <a:p>
            <a:r>
              <a:rPr dirty="0" sz="2800" lang="en-US" smtClean="0">
                <a:effectLst/>
                <a:latin typeface="Calibri" pitchFamily="34" charset="0"/>
              </a:rPr>
              <a:t>Superimposed preeclampsia; due to existing HTN, </a:t>
            </a:r>
            <a:r>
              <a:rPr dirty="0" sz="2800" lang="en-US" err="1" smtClean="0">
                <a:effectLst/>
                <a:latin typeface="Calibri" pitchFamily="34" charset="0"/>
              </a:rPr>
              <a:t>proteinuria</a:t>
            </a:r>
            <a:r>
              <a:rPr dirty="0" sz="2800" lang="en-US" smtClean="0">
                <a:effectLst/>
                <a:latin typeface="Calibri" pitchFamily="34" charset="0"/>
              </a:rPr>
              <a:t> from tubular damage and </a:t>
            </a:r>
            <a:r>
              <a:rPr dirty="0" sz="2800" lang="en-US" err="1" smtClean="0">
                <a:effectLst/>
                <a:latin typeface="Calibri" pitchFamily="34" charset="0"/>
              </a:rPr>
              <a:t>oedema</a:t>
            </a:r>
            <a:r>
              <a:rPr dirty="0" sz="2800" lang="en-US" smtClean="0">
                <a:effectLst/>
                <a:latin typeface="Calibri" pitchFamily="34" charset="0"/>
              </a:rPr>
              <a:t> from lowered osmotic pressure/ macrosomia.</a:t>
            </a:r>
          </a:p>
          <a:p>
            <a:r>
              <a:rPr dirty="0" sz="2800" lang="en-US" smtClean="0">
                <a:effectLst/>
                <a:latin typeface="Calibri" pitchFamily="34" charset="0"/>
              </a:rPr>
              <a:t>Abnormal labour pattern= either prolonged or obstructed , hence operative delivery.</a:t>
            </a:r>
          </a:p>
          <a:p>
            <a:endParaRPr dirty="0" sz="2800" lang="en-US">
              <a:effectLst/>
              <a:latin typeface="Calibri" pitchFamily="34" charset="0"/>
            </a:endParaRPr>
          </a:p>
        </p:txBody>
      </p:sp>
      <p:sp>
        <p:nvSpPr>
          <p:cNvPr id="104959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098" name=""/>
        <p:cNvGrpSpPr/>
        <p:nvPr/>
      </p:nvGrpSpPr>
      <p:grpSpPr>
        <a:xfrm>
          <a:off x="0" y="0"/>
          <a:ext cx="0" cy="0"/>
          <a:chOff x="0" y="0"/>
          <a:chExt cx="0" cy="0"/>
        </a:xfrm>
      </p:grpSpPr>
      <p:sp>
        <p:nvSpPr>
          <p:cNvPr id="1049591" name="Content Placeholder 2"/>
          <p:cNvSpPr>
            <a:spLocks noGrp="1"/>
          </p:cNvSpPr>
          <p:nvPr>
            <p:ph sz="quarter" idx="1"/>
          </p:nvPr>
        </p:nvSpPr>
        <p:spPr>
          <a:xfrm>
            <a:off x="571500" y="1600200"/>
            <a:ext cx="10287000" cy="5029200"/>
          </a:xfrm>
        </p:spPr>
        <p:txBody>
          <a:bodyPr/>
          <a:p>
            <a:r>
              <a:rPr dirty="0" lang="en-US" smtClean="0">
                <a:latin typeface="Calibri" pitchFamily="34" charset="0"/>
              </a:rPr>
              <a:t>Excessive trauma : either perineal tears , episiotomy or over relaxation of the pelvic floor.</a:t>
            </a:r>
          </a:p>
          <a:p>
            <a:r>
              <a:rPr dirty="0" lang="en-US" smtClean="0">
                <a:latin typeface="Calibri" pitchFamily="34" charset="0"/>
              </a:rPr>
              <a:t>Increased morbidity rate; due to  physiological effects  since pregnancy is diabetogenic.</a:t>
            </a:r>
          </a:p>
          <a:p>
            <a:pPr>
              <a:buNone/>
            </a:pPr>
            <a:endParaRPr dirty="0" lang="en-US" smtClean="0">
              <a:latin typeface="Calibri" pitchFamily="34" charset="0"/>
            </a:endParaRPr>
          </a:p>
          <a:p>
            <a:pPr>
              <a:buNone/>
            </a:pPr>
            <a:r>
              <a:rPr dirty="0" lang="en-US" smtClean="0">
                <a:latin typeface="Calibri" pitchFamily="34" charset="0"/>
              </a:rPr>
              <a:t>			</a:t>
            </a:r>
            <a:endParaRPr dirty="0" lang="en-US">
              <a:latin typeface="Calibri" pitchFamily="34" charset="0"/>
            </a:endParaRPr>
          </a:p>
        </p:txBody>
      </p:sp>
      <p:sp>
        <p:nvSpPr>
          <p:cNvPr id="1049592" name="Action Button: Sound 3">
            <a:hlinkClick r:id="" action="ppaction://noaction" highlightClick="1">
              <a:snd r:embed="rId1" name="applause.wav"/>
            </a:hlinkClick>
          </p:cNvPr>
          <p:cNvSpPr/>
          <p:nvPr/>
        </p:nvSpPr>
        <p:spPr bwMode="auto">
          <a:xfrm>
            <a:off x="2286010" y="4724409"/>
            <a:ext cx="4470990" cy="1724191"/>
          </a:xfrm>
          <a:prstGeom prst="actionButtonSound"/>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anchor="t" anchorCtr="0" bIns="45720" compatLnSpc="1" lIns="91440" numCol="1" rIns="91440" rtlCol="0" tIns="45720" vert="horz" wrap="square">
            <a:prstTxWarp prst="textNoShape"/>
          </a:bodyPr>
          <a:p>
            <a:pPr algn="ctr" defTabSz="914400" eaLnBrk="0" fontAlgn="base" hangingPunct="0" indent="0" latinLnBrk="0" marL="0" marR="0" rtl="0">
              <a:lnSpc>
                <a:spcPct val="100000"/>
              </a:lnSpc>
              <a:spcBef>
                <a:spcPct val="0"/>
              </a:spcBef>
              <a:spcAft>
                <a:spcPct val="0"/>
              </a:spcAft>
              <a:buClrTx/>
              <a:buSzTx/>
              <a:buFontTx/>
              <a:buNone/>
            </a:pPr>
            <a:r>
              <a:rPr b="1" dirty="0" sz="2800" lang="en-US" smtClean="0">
                <a:ln w="12700">
                  <a:solidFill>
                    <a:schemeClr val="tx2">
                      <a:satMod val="155000"/>
                    </a:schemeClr>
                  </a:solidFill>
                  <a:prstDash val="solid"/>
                </a:ln>
                <a:solidFill>
                  <a:srgbClr val="FFFF00"/>
                </a:solidFill>
                <a:effectLst>
                  <a:outerShdw algn="tl" blurRad="41275" dir="1800000" dist="20320" rotWithShape="0">
                    <a:srgbClr val="000000">
                      <a:alpha val="40000"/>
                    </a:srgbClr>
                  </a:outerShdw>
                </a:effectLst>
                <a:latin typeface="Tahoma" charset="0"/>
              </a:rPr>
              <a:t>END</a:t>
            </a:r>
          </a:p>
          <a:p>
            <a:pPr algn="l" defTabSz="914400" eaLnBrk="0" fontAlgn="base" hangingPunct="0" indent="0" latinLnBrk="0" marL="0" marR="0" rtl="0">
              <a:lnSpc>
                <a:spcPct val="100000"/>
              </a:lnSpc>
              <a:spcBef>
                <a:spcPct val="0"/>
              </a:spcBef>
              <a:spcAft>
                <a:spcPct val="0"/>
              </a:spcAft>
              <a:buClrTx/>
              <a:buSzTx/>
              <a:buFontTx/>
              <a:buNone/>
            </a:pPr>
            <a:r>
              <a:rPr b="1" dirty="0" sz="2800" lang="en-US" smtClean="0">
                <a:ln w="12700">
                  <a:solidFill>
                    <a:schemeClr val="tx2">
                      <a:satMod val="155000"/>
                    </a:schemeClr>
                  </a:solidFill>
                  <a:prstDash val="solid"/>
                </a:ln>
                <a:solidFill>
                  <a:srgbClr val="FFFF00"/>
                </a:solidFill>
                <a:effectLst>
                  <a:outerShdw algn="tl" blurRad="41275" dir="1800000" dist="20320" rotWithShape="0">
                    <a:srgbClr val="000000">
                      <a:alpha val="40000"/>
                    </a:srgbClr>
                  </a:outerShdw>
                </a:effectLst>
                <a:latin typeface="Tahoma" charset="0"/>
              </a:rPr>
              <a:t>QUESTIONS?</a:t>
            </a:r>
          </a:p>
          <a:p>
            <a:pPr algn="l" defTabSz="914400" eaLnBrk="0" fontAlgn="base" hangingPunct="0" indent="0" latinLnBrk="0" marL="0" marR="0" rtl="0">
              <a:lnSpc>
                <a:spcPct val="100000"/>
              </a:lnSpc>
              <a:spcBef>
                <a:spcPct val="0"/>
              </a:spcBef>
              <a:spcAft>
                <a:spcPct val="0"/>
              </a:spcAft>
              <a:buClrTx/>
              <a:buSzTx/>
              <a:buFontTx/>
              <a:buNone/>
            </a:pPr>
            <a:endParaRPr baseline="0" b="1" dirty="0" sz="2800" i="0" kumimoji="0" lang="en-US" normalizeH="0" strike="noStrike" u="none" smtClean="0">
              <a:ln w="12700">
                <a:solidFill>
                  <a:schemeClr val="tx2">
                    <a:satMod val="155000"/>
                  </a:schemeClr>
                </a:solidFill>
                <a:prstDash val="solid"/>
              </a:ln>
              <a:solidFill>
                <a:srgbClr val="FFFF00"/>
              </a:solidFill>
              <a:effectLst>
                <a:outerShdw algn="tl" blurRad="41275" dir="1800000" dist="20320" rotWithShape="0">
                  <a:srgbClr val="000000">
                    <a:alpha val="40000"/>
                  </a:srgbClr>
                </a:outerShdw>
              </a:effectLst>
              <a:latin typeface="Tahoma" charset="0"/>
            </a:endParaRPr>
          </a:p>
        </p:txBody>
      </p:sp>
      <p:sp>
        <p:nvSpPr>
          <p:cNvPr id="104959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112" name=""/>
        <p:cNvGrpSpPr/>
        <p:nvPr/>
      </p:nvGrpSpPr>
      <p:grpSpPr>
        <a:xfrm>
          <a:off x="0" y="0"/>
          <a:ext cx="0" cy="0"/>
          <a:chOff x="0" y="0"/>
          <a:chExt cx="0" cy="0"/>
        </a:xfrm>
      </p:grpSpPr>
      <p:sp>
        <p:nvSpPr>
          <p:cNvPr id="1049611" name="Title 1"/>
          <p:cNvSpPr>
            <a:spLocks noGrp="1"/>
          </p:cNvSpPr>
          <p:nvPr>
            <p:ph type="ctrTitle"/>
          </p:nvPr>
        </p:nvSpPr>
        <p:spPr>
          <a:xfrm>
            <a:off x="2171700" y="1295400"/>
            <a:ext cx="8686800" cy="2590800"/>
          </a:xfrm>
          <a:solidFill>
            <a:schemeClr val="accent4">
              <a:lumMod val="40000"/>
              <a:lumOff val="60000"/>
            </a:schemeClr>
          </a:solidFill>
          <a:ln>
            <a:noFill/>
          </a:ln>
          <a:effectLst>
            <a:glow rad="228600">
              <a:schemeClr val="accent3">
                <a:satMod val="175000"/>
                <a:alpha val="40000"/>
              </a:schemeClr>
            </a:glow>
          </a:effectLst>
          <a:scene3d>
            <a:camera prst="orthographicFront">
              <a:rot lat="0" lon="0" rev="0"/>
            </a:camera>
            <a:lightRig dir="t" rig="glow">
              <a:rot lat="0" lon="0" rev="14100000"/>
            </a:lightRig>
          </a:scene3d>
          <a:sp3d prstMaterial="softEdge">
            <a:bevelT w="127000" prst="artDeco"/>
          </a:sp3d>
        </p:spPr>
        <p:txBody>
          <a:bodyPr>
            <a:noAutofit/>
            <a:scene3d>
              <a:camera prst="orthographicFront"/>
              <a:lightRig dir="t" rig="flat">
                <a:rot lat="0" lon="0" rev="18900000"/>
              </a:lightRig>
            </a:scene3d>
            <a:sp3d extrusionH="31750" contourW="6350" prstMaterial="powder">
              <a:bevelT w="19050" h="19050" prst="angle"/>
              <a:contourClr>
                <a:schemeClr val="accent3">
                  <a:tint val="100000"/>
                  <a:shade val="100000"/>
                  <a:satMod val="100000"/>
                  <a:hueMod val="100000"/>
                </a:schemeClr>
              </a:contourClr>
            </a:sp3d>
          </a:bodyPr>
          <a:p>
            <a:pPr algn="ctr"/>
            <a:r>
              <a:rPr b="1" dirty="0" sz="6600" lang="en-US" smtClean="0">
                <a:solidFill>
                  <a:schemeClr val="accent3"/>
                </a:solidFill>
                <a:effectLst/>
                <a:latin typeface="Algerian" pitchFamily="82" charset="0"/>
              </a:rPr>
              <a:t/>
            </a:r>
            <a:br>
              <a:rPr b="1" dirty="0" sz="6600" lang="en-US" smtClean="0">
                <a:solidFill>
                  <a:schemeClr val="accent3"/>
                </a:solidFill>
                <a:effectLst/>
                <a:latin typeface="Algerian" pitchFamily="82" charset="0"/>
              </a:rPr>
            </a:br>
            <a:r>
              <a:rPr b="1" dirty="0" sz="6600" lang="en-US" smtClean="0">
                <a:solidFill>
                  <a:schemeClr val="accent3"/>
                </a:solidFill>
                <a:effectLst/>
                <a:latin typeface="Algerian" pitchFamily="82" charset="0"/>
              </a:rPr>
              <a:t>		</a:t>
            </a:r>
            <a:br>
              <a:rPr b="1" dirty="0" sz="6600" lang="en-US" smtClean="0">
                <a:solidFill>
                  <a:schemeClr val="accent3"/>
                </a:solidFill>
                <a:effectLst/>
                <a:latin typeface="Algerian" pitchFamily="82" charset="0"/>
              </a:rPr>
            </a:br>
            <a:r>
              <a:rPr b="1" dirty="0" sz="6600" lang="en-US" smtClean="0">
                <a:solidFill>
                  <a:schemeClr val="accent3"/>
                </a:solidFill>
                <a:effectLst/>
                <a:latin typeface="Algerian" pitchFamily="82" charset="0"/>
              </a:rPr>
              <a:t/>
            </a:r>
            <a:br>
              <a:rPr b="1" dirty="0" sz="6600" lang="en-US" smtClean="0">
                <a:solidFill>
                  <a:schemeClr val="accent3"/>
                </a:solidFill>
                <a:effectLst/>
                <a:latin typeface="Algerian" pitchFamily="82" charset="0"/>
              </a:rPr>
            </a:br>
            <a:r>
              <a:rPr b="1" dirty="0" sz="6600" lang="en-US" smtClean="0">
                <a:solidFill>
                  <a:schemeClr val="accent3"/>
                </a:solidFill>
                <a:effectLst/>
                <a:latin typeface="Algerian" pitchFamily="82" charset="0"/>
              </a:rPr>
              <a:t/>
            </a:r>
            <a:br>
              <a:rPr b="1" dirty="0" sz="6600" lang="en-US" smtClean="0">
                <a:solidFill>
                  <a:schemeClr val="accent3"/>
                </a:solidFill>
                <a:effectLst/>
                <a:latin typeface="Algerian" pitchFamily="82" charset="0"/>
              </a:rPr>
            </a:br>
            <a:r>
              <a:rPr b="1" dirty="0" sz="6600" lang="en-US" smtClean="0">
                <a:solidFill>
                  <a:schemeClr val="accent3"/>
                </a:solidFill>
                <a:effectLst/>
                <a:latin typeface="Algerian" pitchFamily="82" charset="0"/>
              </a:rPr>
              <a:t/>
            </a:r>
            <a:br>
              <a:rPr b="1" dirty="0" sz="6600" lang="en-US" smtClean="0">
                <a:solidFill>
                  <a:schemeClr val="accent3"/>
                </a:solidFill>
                <a:effectLst/>
                <a:latin typeface="Algerian" pitchFamily="82" charset="0"/>
              </a:rPr>
            </a:br>
            <a:r>
              <a:rPr b="1" dirty="0" sz="6600" lang="en-US" smtClean="0">
                <a:solidFill>
                  <a:schemeClr val="accent3"/>
                </a:solidFill>
                <a:effectLst/>
                <a:latin typeface="Algerian" pitchFamily="82" charset="0"/>
              </a:rPr>
              <a:t>	</a:t>
            </a:r>
            <a:br>
              <a:rPr b="1" dirty="0" sz="6600" lang="en-US" smtClean="0">
                <a:solidFill>
                  <a:schemeClr val="accent3"/>
                </a:solidFill>
                <a:effectLst/>
                <a:latin typeface="Algerian" pitchFamily="82" charset="0"/>
              </a:rPr>
            </a:br>
            <a:r>
              <a:rPr b="1" dirty="0" sz="6600" lang="en-US" smtClean="0">
                <a:solidFill>
                  <a:schemeClr val="accent3"/>
                </a:solidFill>
                <a:effectLst/>
                <a:latin typeface="Algerian" pitchFamily="82" charset="0"/>
              </a:rPr>
              <a:t/>
            </a:r>
            <a:br>
              <a:rPr b="1" dirty="0" sz="6600" lang="en-US" smtClean="0">
                <a:solidFill>
                  <a:schemeClr val="accent3"/>
                </a:solidFill>
                <a:effectLst/>
                <a:latin typeface="Algerian" pitchFamily="82" charset="0"/>
              </a:rPr>
            </a:br>
            <a:r>
              <a:rPr b="1" dirty="0" sz="6600" lang="en-US" smtClean="0">
                <a:solidFill>
                  <a:schemeClr val="accent3"/>
                </a:solidFill>
                <a:effectLst/>
                <a:latin typeface="Algerian" pitchFamily="82" charset="0"/>
              </a:rPr>
              <a:t/>
            </a:r>
            <a:br>
              <a:rPr b="1" dirty="0" sz="6600" lang="en-US" smtClean="0">
                <a:solidFill>
                  <a:schemeClr val="accent3"/>
                </a:solidFill>
                <a:effectLst/>
                <a:latin typeface="Algerian" pitchFamily="82" charset="0"/>
              </a:rPr>
            </a:br>
            <a:r>
              <a:rPr b="1" dirty="0" sz="6600" lang="en-US" smtClean="0">
                <a:solidFill>
                  <a:schemeClr val="accent3"/>
                </a:solidFill>
                <a:effectLst>
                  <a:glow rad="228600">
                    <a:schemeClr val="accent4">
                      <a:satMod val="175000"/>
                      <a:alpha val="40000"/>
                    </a:schemeClr>
                  </a:glow>
                </a:effectLst>
                <a:latin typeface="Algerian" pitchFamily="82" charset="0"/>
                <a:ea typeface="Batang" pitchFamily="18" charset="-127"/>
              </a:rPr>
              <a:t>ANAEMIA</a:t>
            </a:r>
            <a:r>
              <a:rPr b="1" dirty="0" sz="6600" lang="en-US" smtClean="0">
                <a:solidFill>
                  <a:schemeClr val="accent3"/>
                </a:solidFill>
                <a:effectLst/>
                <a:latin typeface="Algerian" pitchFamily="82" charset="0"/>
              </a:rPr>
              <a:t/>
            </a:r>
            <a:br>
              <a:rPr b="1" dirty="0" sz="6600" lang="en-US" smtClean="0">
                <a:solidFill>
                  <a:schemeClr val="accent3"/>
                </a:solidFill>
                <a:effectLst/>
                <a:latin typeface="Algerian" pitchFamily="82" charset="0"/>
              </a:rPr>
            </a:br>
            <a:endParaRPr b="1" dirty="0" sz="6600" lang="en-US">
              <a:solidFill>
                <a:schemeClr val="accent3"/>
              </a:solidFill>
              <a:effectLst/>
              <a:latin typeface="Algerian" pitchFamily="82" charset="0"/>
            </a:endParaRPr>
          </a:p>
        </p:txBody>
      </p:sp>
    </p:spTree>
  </p:cSld>
  <p:clrMapOvr>
    <a:masterClrMapping/>
  </p:clrMapOvr>
  <p:transition xmlns:p14="http://schemas.microsoft.com/office/powerpoint/2010/main" spd="slow">
    <p:strips dir="ru"/>
  </p:transition>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114" name=""/>
        <p:cNvGrpSpPr/>
        <p:nvPr/>
      </p:nvGrpSpPr>
      <p:grpSpPr>
        <a:xfrm>
          <a:off x="0" y="0"/>
          <a:ext cx="0" cy="0"/>
          <a:chOff x="0" y="0"/>
          <a:chExt cx="0" cy="0"/>
        </a:xfrm>
      </p:grpSpPr>
      <p:sp>
        <p:nvSpPr>
          <p:cNvPr id="1049617" name="Title 1"/>
          <p:cNvSpPr>
            <a:spLocks noGrp="1"/>
          </p:cNvSpPr>
          <p:nvPr>
            <p:ph type="title"/>
          </p:nvPr>
        </p:nvSpPr>
        <p:spPr/>
        <p:txBody>
          <a:bodyPr/>
          <a:p>
            <a:r>
              <a:rPr b="1" dirty="0" lang="en-US" smtClean="0">
                <a:solidFill>
                  <a:srgbClr val="7030A0"/>
                </a:solidFill>
              </a:rPr>
              <a:t>	INTRODUCTION</a:t>
            </a:r>
            <a:endParaRPr b="1" dirty="0" lang="en-US">
              <a:solidFill>
                <a:srgbClr val="7030A0"/>
              </a:solidFill>
            </a:endParaRPr>
          </a:p>
        </p:txBody>
      </p:sp>
      <p:sp>
        <p:nvSpPr>
          <p:cNvPr id="1049618" name="Content Placeholder 2"/>
          <p:cNvSpPr>
            <a:spLocks noGrp="1"/>
          </p:cNvSpPr>
          <p:nvPr>
            <p:ph idx="1"/>
          </p:nvPr>
        </p:nvSpPr>
        <p:spPr>
          <a:xfrm>
            <a:off x="1794509" y="1219200"/>
            <a:ext cx="9372600" cy="5486400"/>
          </a:xfrm>
        </p:spPr>
        <p:txBody>
          <a:bodyPr>
            <a:noAutofit/>
          </a:bodyPr>
          <a:p>
            <a:r>
              <a:rPr dirty="0" sz="2800" lang="en-US" smtClean="0"/>
              <a:t>Description</a:t>
            </a:r>
          </a:p>
          <a:p>
            <a:r>
              <a:rPr dirty="0" sz="2800" lang="en-US" smtClean="0"/>
              <a:t>Common types</a:t>
            </a:r>
          </a:p>
          <a:p>
            <a:r>
              <a:rPr dirty="0" sz="2800" lang="en-US" smtClean="0"/>
              <a:t>General Causes </a:t>
            </a:r>
          </a:p>
          <a:p>
            <a:r>
              <a:rPr dirty="0" sz="2800" lang="en-US" smtClean="0"/>
              <a:t> Iron </a:t>
            </a:r>
            <a:r>
              <a:rPr dirty="0" sz="2800" lang="en-US" err="1" smtClean="0"/>
              <a:t>defficiency</a:t>
            </a:r>
            <a:r>
              <a:rPr dirty="0" sz="2800" lang="en-US" smtClean="0"/>
              <a:t> anaemia</a:t>
            </a:r>
          </a:p>
          <a:p>
            <a:r>
              <a:rPr dirty="0" sz="2800" lang="en-US" smtClean="0"/>
              <a:t>Folic acid  “            “</a:t>
            </a:r>
          </a:p>
          <a:p>
            <a:r>
              <a:rPr dirty="0" sz="2800" lang="en-US" smtClean="0"/>
              <a:t>Classification</a:t>
            </a:r>
          </a:p>
          <a:p>
            <a:r>
              <a:rPr dirty="0" sz="2800" lang="en-US" smtClean="0"/>
              <a:t>Clinical features</a:t>
            </a:r>
          </a:p>
          <a:p>
            <a:r>
              <a:rPr dirty="0" sz="2800" lang="en-US" smtClean="0"/>
              <a:t>Diagnostic factors</a:t>
            </a:r>
          </a:p>
          <a:p>
            <a:r>
              <a:rPr dirty="0" sz="2800" lang="en-US" smtClean="0"/>
              <a:t>Specific management</a:t>
            </a:r>
          </a:p>
          <a:p>
            <a:r>
              <a:rPr dirty="0" sz="2800" lang="en-US" smtClean="0"/>
              <a:t>Complications</a:t>
            </a:r>
          </a:p>
          <a:p>
            <a:r>
              <a:rPr dirty="0" sz="2800" lang="en-US" smtClean="0"/>
              <a:t>Prevention</a:t>
            </a:r>
          </a:p>
          <a:p>
            <a:endParaRPr dirty="0" sz="2800" lang="en-US"/>
          </a:p>
        </p:txBody>
      </p:sp>
      <p:sp>
        <p:nvSpPr>
          <p:cNvPr id="104961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115" name=""/>
        <p:cNvGrpSpPr/>
        <p:nvPr/>
      </p:nvGrpSpPr>
      <p:grpSpPr>
        <a:xfrm>
          <a:off x="0" y="0"/>
          <a:ext cx="0" cy="0"/>
          <a:chOff x="0" y="0"/>
          <a:chExt cx="0" cy="0"/>
        </a:xfrm>
      </p:grpSpPr>
      <p:sp>
        <p:nvSpPr>
          <p:cNvPr id="1049620" name="Title 1"/>
          <p:cNvSpPr>
            <a:spLocks noGrp="1"/>
          </p:cNvSpPr>
          <p:nvPr>
            <p:ph type="title"/>
          </p:nvPr>
        </p:nvSpPr>
        <p:spPr/>
        <p:txBody>
          <a:bodyPr/>
          <a:p>
            <a:r>
              <a:rPr dirty="0" lang="en-US" smtClean="0"/>
              <a:t>		</a:t>
            </a:r>
            <a:r>
              <a:rPr b="1" dirty="0" sz="4400" lang="en-US" smtClean="0">
                <a:solidFill>
                  <a:srgbClr val="7030A0"/>
                </a:solidFill>
              </a:rPr>
              <a:t> DESCRIPTION</a:t>
            </a:r>
            <a:endParaRPr dirty="0" lang="en-US"/>
          </a:p>
        </p:txBody>
      </p:sp>
      <p:sp>
        <p:nvSpPr>
          <p:cNvPr id="1049621" name="Content Placeholder 2"/>
          <p:cNvSpPr>
            <a:spLocks noGrp="1"/>
          </p:cNvSpPr>
          <p:nvPr>
            <p:ph idx="1"/>
          </p:nvPr>
        </p:nvSpPr>
        <p:spPr/>
        <p:txBody>
          <a:bodyPr>
            <a:normAutofit/>
          </a:bodyPr>
          <a:p>
            <a:pPr algn="just"/>
            <a:r>
              <a:rPr dirty="0" sz="4400" lang="en-US" smtClean="0"/>
              <a:t>Anaemia</a:t>
            </a:r>
            <a:r>
              <a:rPr b="1" dirty="0" sz="4400" lang="en-US" smtClean="0"/>
              <a:t>  </a:t>
            </a:r>
            <a:r>
              <a:rPr dirty="0" sz="4400" lang="en-US" smtClean="0"/>
              <a:t>refers to a reduction of oxygen carrying capacity of blood, due to either decrease in red blood cells production , in </a:t>
            </a:r>
            <a:r>
              <a:rPr dirty="0" sz="4400" lang="en-US" err="1" smtClean="0"/>
              <a:t>haemoglobin</a:t>
            </a:r>
            <a:r>
              <a:rPr dirty="0" sz="4400" lang="en-US" smtClean="0"/>
              <a:t> content ,or combination of both.</a:t>
            </a:r>
            <a:endParaRPr b="1" dirty="0" sz="4400" lang="en-US"/>
          </a:p>
        </p:txBody>
      </p:sp>
      <p:sp>
        <p:nvSpPr>
          <p:cNvPr id="104962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116" name=""/>
        <p:cNvGrpSpPr/>
        <p:nvPr/>
      </p:nvGrpSpPr>
      <p:grpSpPr>
        <a:xfrm>
          <a:off x="0" y="0"/>
          <a:ext cx="0" cy="0"/>
          <a:chOff x="0" y="0"/>
          <a:chExt cx="0" cy="0"/>
        </a:xfrm>
      </p:grpSpPr>
      <p:sp>
        <p:nvSpPr>
          <p:cNvPr id="1049623" name="Title 1"/>
          <p:cNvSpPr>
            <a:spLocks noGrp="1"/>
          </p:cNvSpPr>
          <p:nvPr>
            <p:ph type="title"/>
          </p:nvPr>
        </p:nvSpPr>
        <p:spPr/>
        <p:txBody>
          <a:bodyPr/>
          <a:p>
            <a:r>
              <a:rPr dirty="0" lang="en-US" smtClean="0"/>
              <a:t>	</a:t>
            </a:r>
            <a:r>
              <a:rPr b="1" dirty="0" lang="en-US" smtClean="0">
                <a:solidFill>
                  <a:srgbClr val="7030A0"/>
                </a:solidFill>
              </a:rPr>
              <a:t> COMMON TYPES</a:t>
            </a:r>
            <a:endParaRPr dirty="0" lang="en-US"/>
          </a:p>
        </p:txBody>
      </p:sp>
      <p:sp>
        <p:nvSpPr>
          <p:cNvPr id="1049624" name="Content Placeholder 2"/>
          <p:cNvSpPr>
            <a:spLocks noGrp="1"/>
          </p:cNvSpPr>
          <p:nvPr>
            <p:ph idx="1"/>
          </p:nvPr>
        </p:nvSpPr>
        <p:spPr>
          <a:xfrm>
            <a:off x="1238250" y="1447800"/>
            <a:ext cx="9928859" cy="4800600"/>
          </a:xfrm>
        </p:spPr>
        <p:txBody>
          <a:bodyPr>
            <a:normAutofit/>
          </a:bodyPr>
          <a:p>
            <a:r>
              <a:rPr dirty="0" lang="en-US" smtClean="0"/>
              <a:t>Iron deficiency, due to excessive demand of iron.</a:t>
            </a:r>
          </a:p>
          <a:p>
            <a:r>
              <a:rPr dirty="0" lang="en-US" err="1" smtClean="0"/>
              <a:t>Haemolytic,from</a:t>
            </a:r>
            <a:r>
              <a:rPr dirty="0" lang="en-US" smtClean="0"/>
              <a:t> systemic conditions such as , malaria ,sickle cell disease etc.</a:t>
            </a:r>
          </a:p>
          <a:p>
            <a:r>
              <a:rPr dirty="0" lang="en-US" err="1" smtClean="0"/>
              <a:t>Haemorrhagic</a:t>
            </a:r>
            <a:r>
              <a:rPr dirty="0" lang="en-US" smtClean="0"/>
              <a:t>, due to too frequent deliveries, worm infestation &amp; APH.</a:t>
            </a:r>
          </a:p>
          <a:p>
            <a:r>
              <a:rPr dirty="0" lang="en-US" smtClean="0"/>
              <a:t>Physiological, from </a:t>
            </a:r>
            <a:r>
              <a:rPr dirty="0" lang="en-US" err="1" smtClean="0"/>
              <a:t>haemodilution</a:t>
            </a:r>
            <a:r>
              <a:rPr dirty="0" lang="en-US" smtClean="0"/>
              <a:t>.</a:t>
            </a:r>
          </a:p>
          <a:p>
            <a:r>
              <a:rPr dirty="0" lang="en-US" smtClean="0"/>
              <a:t>Folic acid deficiency , though rare.</a:t>
            </a:r>
          </a:p>
          <a:p>
            <a:endParaRPr dirty="0" lang="en-US"/>
          </a:p>
        </p:txBody>
      </p:sp>
      <p:sp>
        <p:nvSpPr>
          <p:cNvPr id="104962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117" name=""/>
        <p:cNvGrpSpPr/>
        <p:nvPr/>
      </p:nvGrpSpPr>
      <p:grpSpPr>
        <a:xfrm>
          <a:off x="0" y="0"/>
          <a:ext cx="0" cy="0"/>
          <a:chOff x="0" y="0"/>
          <a:chExt cx="0" cy="0"/>
        </a:xfrm>
      </p:grpSpPr>
      <p:sp>
        <p:nvSpPr>
          <p:cNvPr id="1049626" name="Title 1"/>
          <p:cNvSpPr>
            <a:spLocks noGrp="1"/>
          </p:cNvSpPr>
          <p:nvPr>
            <p:ph type="title"/>
          </p:nvPr>
        </p:nvSpPr>
        <p:spPr/>
        <p:txBody>
          <a:bodyPr/>
          <a:p>
            <a:r>
              <a:rPr dirty="0" lang="en-US" smtClean="0"/>
              <a:t>	</a:t>
            </a:r>
            <a:r>
              <a:rPr b="1" dirty="0" lang="en-US" smtClean="0">
                <a:solidFill>
                  <a:srgbClr val="7030A0"/>
                </a:solidFill>
              </a:rPr>
              <a:t> GENERAL  CAUSES</a:t>
            </a:r>
            <a:endParaRPr dirty="0" lang="en-US"/>
          </a:p>
        </p:txBody>
      </p:sp>
      <p:sp>
        <p:nvSpPr>
          <p:cNvPr id="1049627" name="Content Placeholder 2"/>
          <p:cNvSpPr>
            <a:spLocks noGrp="1"/>
          </p:cNvSpPr>
          <p:nvPr>
            <p:ph idx="1"/>
          </p:nvPr>
        </p:nvSpPr>
        <p:spPr>
          <a:xfrm>
            <a:off x="1238250" y="1143000"/>
            <a:ext cx="9928859" cy="5562600"/>
          </a:xfrm>
        </p:spPr>
        <p:txBody>
          <a:bodyPr>
            <a:normAutofit/>
          </a:bodyPr>
          <a:p>
            <a:r>
              <a:rPr dirty="0" lang="en-US" smtClean="0"/>
              <a:t>Dietary deficiency of iron ,</a:t>
            </a:r>
            <a:r>
              <a:rPr dirty="0" lang="en-US" err="1" smtClean="0"/>
              <a:t>folate</a:t>
            </a:r>
            <a:r>
              <a:rPr dirty="0" lang="en-US" smtClean="0"/>
              <a:t> and protein due to:</a:t>
            </a:r>
          </a:p>
          <a:p>
            <a:pPr>
              <a:buFont typeface="Wingdings" pitchFamily="2" charset="2"/>
              <a:buChar char="Ø"/>
            </a:pPr>
            <a:r>
              <a:rPr dirty="0" lang="en-US" smtClean="0"/>
              <a:t>Food craving, ignorance, overcooking or  alkaline additives during cooking.</a:t>
            </a:r>
          </a:p>
          <a:p>
            <a:r>
              <a:rPr dirty="0" lang="en-US" smtClean="0"/>
              <a:t>Multiple pregnancy= increased iron demand.</a:t>
            </a:r>
          </a:p>
          <a:p>
            <a:r>
              <a:rPr dirty="0" lang="en-US" smtClean="0"/>
              <a:t>Gastro-intestinal disturbances leading to </a:t>
            </a:r>
            <a:r>
              <a:rPr dirty="0" lang="en-US" err="1" smtClean="0"/>
              <a:t>malabsorption</a:t>
            </a:r>
            <a:r>
              <a:rPr dirty="0" lang="en-US" smtClean="0"/>
              <a:t>.</a:t>
            </a:r>
          </a:p>
          <a:p>
            <a:r>
              <a:rPr dirty="0" lang="en-US" smtClean="0"/>
              <a:t>Chronic infections like typhoid and upper urinary tract infection.</a:t>
            </a:r>
          </a:p>
          <a:p>
            <a:endParaRPr dirty="0" lang="en-US" smtClean="0"/>
          </a:p>
          <a:p>
            <a:endParaRPr dirty="0" lang="en-US"/>
          </a:p>
        </p:txBody>
      </p:sp>
      <p:sp>
        <p:nvSpPr>
          <p:cNvPr id="104962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118" name=""/>
        <p:cNvGrpSpPr/>
        <p:nvPr/>
      </p:nvGrpSpPr>
      <p:grpSpPr>
        <a:xfrm>
          <a:off x="0" y="0"/>
          <a:ext cx="0" cy="0"/>
          <a:chOff x="0" y="0"/>
          <a:chExt cx="0" cy="0"/>
        </a:xfrm>
      </p:grpSpPr>
      <p:sp>
        <p:nvSpPr>
          <p:cNvPr id="1049629" name="Content Placeholder 2"/>
          <p:cNvSpPr>
            <a:spLocks noGrp="1"/>
          </p:cNvSpPr>
          <p:nvPr>
            <p:ph idx="1"/>
          </p:nvPr>
        </p:nvSpPr>
        <p:spPr>
          <a:xfrm>
            <a:off x="1333501" y="1219200"/>
            <a:ext cx="9833609" cy="5257800"/>
          </a:xfrm>
        </p:spPr>
        <p:txBody>
          <a:bodyPr>
            <a:noAutofit/>
          </a:bodyPr>
          <a:p>
            <a:r>
              <a:rPr dirty="0" sz="3300" lang="en-US" smtClean="0"/>
              <a:t>High plasma volume  increase physiologically.</a:t>
            </a:r>
          </a:p>
          <a:p>
            <a:r>
              <a:rPr dirty="0" sz="3300" lang="en-US" smtClean="0"/>
              <a:t>Acute  or chronic blood loss.</a:t>
            </a:r>
          </a:p>
          <a:p>
            <a:r>
              <a:rPr dirty="0" sz="3300" lang="en-US" smtClean="0"/>
              <a:t>High intake of caffeinated drinks ,hence reduced  absorption of iron.</a:t>
            </a:r>
          </a:p>
          <a:p>
            <a:r>
              <a:rPr dirty="0" sz="3300" lang="en-US" smtClean="0"/>
              <a:t>Intake of </a:t>
            </a:r>
            <a:r>
              <a:rPr dirty="0" sz="3300" lang="en-US" err="1" smtClean="0"/>
              <a:t>folate</a:t>
            </a:r>
            <a:r>
              <a:rPr dirty="0" sz="3300" lang="en-US" smtClean="0"/>
              <a:t> antagonists e.g. anticonvulsants ,sulphonamide &amp; alcohol.</a:t>
            </a:r>
          </a:p>
          <a:p>
            <a:r>
              <a:rPr dirty="0" sz="3300" lang="en-US" smtClean="0"/>
              <a:t>Systemic dse/conditions  eg malaria, PTB, sickle cell dse &amp; HIV/AIDS respectively.</a:t>
            </a:r>
            <a:endParaRPr dirty="0" sz="3300" lang="en-US"/>
          </a:p>
        </p:txBody>
      </p:sp>
      <p:sp>
        <p:nvSpPr>
          <p:cNvPr id="104963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119" name=""/>
        <p:cNvGrpSpPr/>
        <p:nvPr/>
      </p:nvGrpSpPr>
      <p:grpSpPr>
        <a:xfrm>
          <a:off x="0" y="0"/>
          <a:ext cx="0" cy="0"/>
          <a:chOff x="0" y="0"/>
          <a:chExt cx="0" cy="0"/>
        </a:xfrm>
      </p:grpSpPr>
      <p:sp>
        <p:nvSpPr>
          <p:cNvPr id="1049631" name="Title 1"/>
          <p:cNvSpPr>
            <a:spLocks noGrp="1"/>
          </p:cNvSpPr>
          <p:nvPr>
            <p:ph type="title"/>
          </p:nvPr>
        </p:nvSpPr>
        <p:spPr/>
        <p:txBody>
          <a:bodyPr/>
          <a:p>
            <a:r>
              <a:rPr b="1" dirty="0" lang="en-US" smtClean="0">
                <a:solidFill>
                  <a:schemeClr val="accent2">
                    <a:lumMod val="50000"/>
                  </a:schemeClr>
                </a:solidFill>
              </a:rPr>
              <a:t>IRON  DEFICIENY ANAEMIA</a:t>
            </a:r>
            <a:endParaRPr dirty="0" lang="en-US"/>
          </a:p>
        </p:txBody>
      </p:sp>
      <p:sp>
        <p:nvSpPr>
          <p:cNvPr id="1049632" name="Content Placeholder 2"/>
          <p:cNvSpPr>
            <a:spLocks noGrp="1"/>
          </p:cNvSpPr>
          <p:nvPr>
            <p:ph idx="1"/>
          </p:nvPr>
        </p:nvSpPr>
        <p:spPr>
          <a:xfrm>
            <a:off x="1428751" y="1447800"/>
            <a:ext cx="9738359" cy="4800600"/>
          </a:xfrm>
        </p:spPr>
        <p:txBody>
          <a:bodyPr>
            <a:noAutofit/>
          </a:bodyPr>
          <a:p>
            <a:r>
              <a:rPr dirty="0" sz="3400" lang="en-US" smtClean="0"/>
              <a:t>It’s the commonest type and results from lack of </a:t>
            </a:r>
            <a:r>
              <a:rPr dirty="0" sz="3400" lang="en-US" err="1" smtClean="0"/>
              <a:t>mobilisable</a:t>
            </a:r>
            <a:r>
              <a:rPr dirty="0" sz="3400" lang="en-US" smtClean="0"/>
              <a:t> iron stores, hence compromised  supply to body tissues.</a:t>
            </a:r>
          </a:p>
          <a:p>
            <a:r>
              <a:rPr dirty="0" sz="3400" lang="en-US" smtClean="0"/>
              <a:t>Iron is necessary for normal formation of the </a:t>
            </a:r>
            <a:r>
              <a:rPr dirty="0" sz="3400" lang="en-US" err="1" smtClean="0"/>
              <a:t>haemoglobin</a:t>
            </a:r>
            <a:r>
              <a:rPr dirty="0" sz="3400" lang="en-US" smtClean="0"/>
              <a:t> molecule.</a:t>
            </a:r>
          </a:p>
          <a:p>
            <a:r>
              <a:rPr dirty="0" sz="3400" lang="en-US" smtClean="0"/>
              <a:t>Daily requirement of iron increases greatly prenatally to cater for maternal and fetal stores.</a:t>
            </a:r>
            <a:endParaRPr dirty="0" sz="3400" lang="en-US"/>
          </a:p>
        </p:txBody>
      </p:sp>
      <p:sp>
        <p:nvSpPr>
          <p:cNvPr id="104963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120" name=""/>
        <p:cNvGrpSpPr/>
        <p:nvPr/>
      </p:nvGrpSpPr>
      <p:grpSpPr>
        <a:xfrm>
          <a:off x="0" y="0"/>
          <a:ext cx="0" cy="0"/>
          <a:chOff x="0" y="0"/>
          <a:chExt cx="0" cy="0"/>
        </a:xfrm>
      </p:grpSpPr>
      <p:sp>
        <p:nvSpPr>
          <p:cNvPr id="1049634" name="Title 1"/>
          <p:cNvSpPr>
            <a:spLocks noGrp="1"/>
          </p:cNvSpPr>
          <p:nvPr>
            <p:ph type="title"/>
          </p:nvPr>
        </p:nvSpPr>
        <p:spPr/>
        <p:txBody>
          <a:bodyPr/>
          <a:p>
            <a:r>
              <a:rPr dirty="0" lang="en-US" smtClean="0"/>
              <a:t>	</a:t>
            </a:r>
            <a:r>
              <a:rPr b="1" dirty="0" sz="4400" lang="en-US" smtClean="0"/>
              <a:t> </a:t>
            </a:r>
            <a:r>
              <a:rPr b="1" dirty="0" sz="4400" lang="en-US" smtClean="0">
                <a:solidFill>
                  <a:srgbClr val="7030A0"/>
                </a:solidFill>
              </a:rPr>
              <a:t>Specific Causes</a:t>
            </a:r>
            <a:endParaRPr dirty="0" lang="en-US">
              <a:solidFill>
                <a:srgbClr val="7030A0"/>
              </a:solidFill>
            </a:endParaRPr>
          </a:p>
        </p:txBody>
      </p:sp>
      <p:sp>
        <p:nvSpPr>
          <p:cNvPr id="1049635" name="Content Placeholder 2"/>
          <p:cNvSpPr>
            <a:spLocks noGrp="1"/>
          </p:cNvSpPr>
          <p:nvPr>
            <p:ph idx="1"/>
          </p:nvPr>
        </p:nvSpPr>
        <p:spPr>
          <a:ln>
            <a:solidFill>
              <a:schemeClr val="accent1"/>
            </a:solidFill>
          </a:ln>
        </p:spPr>
        <p:txBody>
          <a:bodyPr/>
          <a:p>
            <a:pPr>
              <a:buNone/>
            </a:pPr>
            <a:r>
              <a:rPr dirty="0" lang="en-US" smtClean="0"/>
              <a:t>		</a:t>
            </a:r>
            <a:endParaRPr b="1" dirty="0" sz="3600" lang="en-US" smtClean="0"/>
          </a:p>
          <a:p>
            <a:r>
              <a:rPr dirty="0" sz="3600" lang="en-US" smtClean="0"/>
              <a:t>Reduced dietary intake of iron or protein or both.</a:t>
            </a:r>
          </a:p>
          <a:p>
            <a:pPr>
              <a:buFont typeface="Wingdings" pitchFamily="2" charset="2"/>
              <a:buChar char="Ø"/>
            </a:pPr>
            <a:r>
              <a:rPr dirty="0" sz="3600" lang="en-US" smtClean="0"/>
              <a:t>Protein facilitates storage of iron in combination referred to as </a:t>
            </a:r>
            <a:r>
              <a:rPr dirty="0" sz="3600" lang="en-US" err="1" smtClean="0">
                <a:solidFill>
                  <a:srgbClr val="C00000"/>
                </a:solidFill>
              </a:rPr>
              <a:t>Ferritin</a:t>
            </a:r>
            <a:r>
              <a:rPr dirty="0" sz="3600" lang="en-US" smtClean="0">
                <a:solidFill>
                  <a:srgbClr val="C00000"/>
                </a:solidFill>
              </a:rPr>
              <a:t>.</a:t>
            </a:r>
          </a:p>
          <a:p>
            <a:r>
              <a:rPr dirty="0" sz="3600" lang="en-US" smtClean="0"/>
              <a:t>Excessive demand.</a:t>
            </a:r>
          </a:p>
          <a:p>
            <a:r>
              <a:rPr dirty="0" sz="3600" lang="en-US" smtClean="0"/>
              <a:t>Reduced absorption.</a:t>
            </a:r>
            <a:endParaRPr dirty="0" sz="3600" lang="en-US"/>
          </a:p>
        </p:txBody>
      </p:sp>
      <p:sp>
        <p:nvSpPr>
          <p:cNvPr id="104963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121" name=""/>
        <p:cNvGrpSpPr/>
        <p:nvPr/>
      </p:nvGrpSpPr>
      <p:grpSpPr>
        <a:xfrm>
          <a:off x="0" y="0"/>
          <a:ext cx="0" cy="0"/>
          <a:chOff x="0" y="0"/>
          <a:chExt cx="0" cy="0"/>
        </a:xfrm>
      </p:grpSpPr>
      <p:sp>
        <p:nvSpPr>
          <p:cNvPr id="1049637" name="Title 1"/>
          <p:cNvSpPr>
            <a:spLocks noGrp="1"/>
          </p:cNvSpPr>
          <p:nvPr>
            <p:ph type="title"/>
          </p:nvPr>
        </p:nvSpPr>
        <p:spPr/>
        <p:txBody>
          <a:bodyPr/>
          <a:p>
            <a:r>
              <a:rPr dirty="0" lang="en-US" smtClean="0"/>
              <a:t> </a:t>
            </a:r>
            <a:r>
              <a:rPr b="1" dirty="0" lang="en-US" smtClean="0">
                <a:solidFill>
                  <a:schemeClr val="accent2">
                    <a:lumMod val="50000"/>
                  </a:schemeClr>
                </a:solidFill>
              </a:rPr>
              <a:t>FOLIC  ACID DEFICIENCY</a:t>
            </a:r>
            <a:endParaRPr dirty="0" lang="en-US"/>
          </a:p>
        </p:txBody>
      </p:sp>
      <p:sp>
        <p:nvSpPr>
          <p:cNvPr id="1049638" name="Content Placeholder 2"/>
          <p:cNvSpPr>
            <a:spLocks noGrp="1"/>
          </p:cNvSpPr>
          <p:nvPr>
            <p:ph idx="1"/>
          </p:nvPr>
        </p:nvSpPr>
        <p:spPr>
          <a:xfrm>
            <a:off x="1333501" y="1447800"/>
            <a:ext cx="9833609" cy="4800600"/>
          </a:xfrm>
        </p:spPr>
        <p:txBody>
          <a:bodyPr>
            <a:normAutofit/>
          </a:bodyPr>
          <a:p>
            <a:r>
              <a:rPr dirty="0" sz="3600" lang="en-US" err="1" smtClean="0"/>
              <a:t>Folate</a:t>
            </a:r>
            <a:r>
              <a:rPr dirty="0" sz="3600" lang="en-US" smtClean="0"/>
              <a:t> facilitates normal cell growth (RBC maturation) in fetal &amp; maternal  circulation</a:t>
            </a:r>
          </a:p>
          <a:p>
            <a:r>
              <a:rPr dirty="0" sz="3600" lang="en-US" smtClean="0"/>
              <a:t>Anaemia commonly occurs towards the end of pregnancy because of the rapid fetal growth.</a:t>
            </a:r>
          </a:p>
          <a:p>
            <a:pPr>
              <a:buNone/>
            </a:pPr>
            <a:r>
              <a:rPr dirty="0" sz="3600" lang="en-US" smtClean="0"/>
              <a:t>NB:  Iron and Folic acid deficiency causes </a:t>
            </a:r>
            <a:r>
              <a:rPr dirty="0" sz="3600" lang="en-US" err="1" smtClean="0">
                <a:solidFill>
                  <a:srgbClr val="C00000"/>
                </a:solidFill>
              </a:rPr>
              <a:t>Diamorphic</a:t>
            </a:r>
            <a:r>
              <a:rPr dirty="0" sz="3600" lang="en-US" smtClean="0">
                <a:solidFill>
                  <a:srgbClr val="C00000"/>
                </a:solidFill>
              </a:rPr>
              <a:t> anaemia</a:t>
            </a:r>
            <a:r>
              <a:rPr dirty="0" sz="3600" lang="en-US" smtClean="0"/>
              <a:t>.</a:t>
            </a:r>
            <a:endParaRPr dirty="0" sz="3600" lang="en-US">
              <a:solidFill>
                <a:srgbClr val="C00000"/>
              </a:solidFill>
            </a:endParaRPr>
          </a:p>
        </p:txBody>
      </p:sp>
      <p:sp>
        <p:nvSpPr>
          <p:cNvPr id="104963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122" name=""/>
        <p:cNvGrpSpPr/>
        <p:nvPr/>
      </p:nvGrpSpPr>
      <p:grpSpPr>
        <a:xfrm>
          <a:off x="0" y="0"/>
          <a:ext cx="0" cy="0"/>
          <a:chOff x="0" y="0"/>
          <a:chExt cx="0" cy="0"/>
        </a:xfrm>
      </p:grpSpPr>
      <p:sp>
        <p:nvSpPr>
          <p:cNvPr id="1049640" name="Title 1"/>
          <p:cNvSpPr>
            <a:spLocks noGrp="1"/>
          </p:cNvSpPr>
          <p:nvPr>
            <p:ph type="title"/>
          </p:nvPr>
        </p:nvSpPr>
        <p:spPr/>
        <p:txBody>
          <a:bodyPr>
            <a:normAutofit fontScale="90000"/>
          </a:bodyPr>
          <a:p>
            <a:pPr algn="ctr"/>
            <a:r>
              <a:rPr dirty="0" lang="en-US" smtClean="0"/>
              <a:t>	</a:t>
            </a:r>
            <a:r>
              <a:rPr b="1" dirty="0" lang="en-US" smtClean="0">
                <a:solidFill>
                  <a:srgbClr val="7030A0"/>
                </a:solidFill>
                <a:effectLst>
                  <a:outerShdw algn="tl" blurRad="38100" dir="2700000" dist="38100">
                    <a:srgbClr val="000000">
                      <a:alpha val="43137"/>
                    </a:srgbClr>
                  </a:outerShdw>
                </a:effectLst>
              </a:rPr>
              <a:t> CLASSIFICATION OF ANAEMIA</a:t>
            </a:r>
            <a:endParaRPr dirty="0" lang="en-US"/>
          </a:p>
        </p:txBody>
      </p:sp>
      <p:sp>
        <p:nvSpPr>
          <p:cNvPr id="1049641" name="Content Placeholder 2"/>
          <p:cNvSpPr>
            <a:spLocks noGrp="1"/>
          </p:cNvSpPr>
          <p:nvPr>
            <p:ph idx="1"/>
          </p:nvPr>
        </p:nvSpPr>
        <p:spPr>
          <a:xfrm>
            <a:off x="1238250" y="1447800"/>
            <a:ext cx="9928859" cy="4800600"/>
          </a:xfrm>
        </p:spPr>
        <p:txBody>
          <a:bodyPr>
            <a:noAutofit/>
          </a:bodyPr>
          <a:p>
            <a:pPr>
              <a:buFont typeface="Wingdings" pitchFamily="2" charset="2"/>
              <a:buChar char="v"/>
            </a:pPr>
            <a:r>
              <a:rPr dirty="0" sz="3600" lang="en-US" smtClean="0"/>
              <a:t>Based on HB readings:</a:t>
            </a:r>
          </a:p>
          <a:p>
            <a:r>
              <a:rPr b="1" dirty="0" sz="3600" lang="en-US" smtClean="0"/>
              <a:t>Mild</a:t>
            </a:r>
            <a:r>
              <a:rPr dirty="0" sz="3600" lang="en-US" smtClean="0"/>
              <a:t> ; </a:t>
            </a:r>
            <a:r>
              <a:rPr dirty="0" sz="3600" lang="en-US" err="1" smtClean="0"/>
              <a:t>Haemoglobin</a:t>
            </a:r>
            <a:r>
              <a:rPr dirty="0" sz="3600" lang="en-US" smtClean="0"/>
              <a:t> level ranges between 8- 9.9gm/ dl.</a:t>
            </a:r>
          </a:p>
          <a:p>
            <a:r>
              <a:rPr b="1" dirty="0" sz="3600" lang="en-US" smtClean="0"/>
              <a:t>Moderate</a:t>
            </a:r>
            <a:r>
              <a:rPr dirty="0" sz="3600" lang="en-US" smtClean="0"/>
              <a:t> ; HB level ranges between       6-7.9  gm/dl.</a:t>
            </a:r>
          </a:p>
          <a:p>
            <a:r>
              <a:rPr b="1" dirty="0" sz="3600" lang="en-US" smtClean="0"/>
              <a:t>Severe</a:t>
            </a:r>
            <a:r>
              <a:rPr dirty="0" sz="3600" lang="en-US" smtClean="0"/>
              <a:t> ; HB level is between 4-6.9 gm/ dl.</a:t>
            </a:r>
          </a:p>
          <a:p>
            <a:r>
              <a:rPr b="1" dirty="0" sz="3600" lang="en-US" smtClean="0"/>
              <a:t>Very severe </a:t>
            </a:r>
            <a:r>
              <a:rPr dirty="0" sz="3600" lang="en-US" smtClean="0"/>
              <a:t>;HB level is below 4gm/dl.</a:t>
            </a:r>
            <a:endParaRPr dirty="0" sz="3600" lang="en-US"/>
          </a:p>
        </p:txBody>
      </p:sp>
      <p:sp>
        <p:nvSpPr>
          <p:cNvPr id="104964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123" name=""/>
        <p:cNvGrpSpPr/>
        <p:nvPr/>
      </p:nvGrpSpPr>
      <p:grpSpPr>
        <a:xfrm>
          <a:off x="0" y="0"/>
          <a:ext cx="0" cy="0"/>
          <a:chOff x="0" y="0"/>
          <a:chExt cx="0" cy="0"/>
        </a:xfrm>
      </p:grpSpPr>
      <p:sp>
        <p:nvSpPr>
          <p:cNvPr id="1049643" name="Title 1"/>
          <p:cNvSpPr>
            <a:spLocks noGrp="1"/>
          </p:cNvSpPr>
          <p:nvPr>
            <p:ph type="title"/>
          </p:nvPr>
        </p:nvSpPr>
        <p:spPr/>
        <p:txBody>
          <a:bodyPr/>
          <a:p>
            <a:r>
              <a:rPr b="1" dirty="0" lang="en-US" smtClean="0">
                <a:solidFill>
                  <a:srgbClr val="7030A0"/>
                </a:solidFill>
                <a:effectLst>
                  <a:outerShdw algn="tl" blurRad="38100" dir="2700000" dist="38100">
                    <a:srgbClr val="000000">
                      <a:alpha val="43137"/>
                    </a:srgbClr>
                  </a:outerShdw>
                </a:effectLst>
              </a:rPr>
              <a:t>	CLINICAL FEATURES</a:t>
            </a:r>
            <a:endParaRPr dirty="0" lang="en-US"/>
          </a:p>
        </p:txBody>
      </p:sp>
      <p:sp>
        <p:nvSpPr>
          <p:cNvPr id="1049644" name="Content Placeholder 2"/>
          <p:cNvSpPr>
            <a:spLocks noGrp="1"/>
          </p:cNvSpPr>
          <p:nvPr>
            <p:ph idx="1"/>
          </p:nvPr>
        </p:nvSpPr>
        <p:spPr>
          <a:xfrm>
            <a:off x="1333501" y="1447800"/>
            <a:ext cx="9833609" cy="4800600"/>
          </a:xfrm>
        </p:spPr>
        <p:txBody>
          <a:bodyPr>
            <a:normAutofit lnSpcReduction="10000"/>
          </a:bodyPr>
          <a:p>
            <a:r>
              <a:rPr dirty="0" lang="en-US" smtClean="0"/>
              <a:t>Pallor of the mucous membranes</a:t>
            </a:r>
          </a:p>
          <a:p>
            <a:r>
              <a:rPr dirty="0" lang="en-US" err="1" smtClean="0"/>
              <a:t>Koilonychia</a:t>
            </a:r>
            <a:r>
              <a:rPr dirty="0" lang="en-US" smtClean="0"/>
              <a:t> ,demonstrated by cracked and  spoon shaped  nails.</a:t>
            </a:r>
          </a:p>
          <a:p>
            <a:pPr>
              <a:buFont typeface="Wingdings" pitchFamily="2" charset="2"/>
              <a:buChar char="Ø"/>
            </a:pPr>
            <a:r>
              <a:rPr dirty="0" lang="en-US" smtClean="0"/>
              <a:t> Indicates iron deficiency anaemia.</a:t>
            </a:r>
          </a:p>
          <a:p>
            <a:r>
              <a:rPr dirty="0" lang="en-US" smtClean="0"/>
              <a:t>Fatigue, dizziness and fainting attacks.</a:t>
            </a:r>
          </a:p>
          <a:p>
            <a:r>
              <a:rPr dirty="0" lang="en-US" err="1" smtClean="0"/>
              <a:t>Exertional</a:t>
            </a:r>
            <a:r>
              <a:rPr dirty="0" lang="en-US" smtClean="0"/>
              <a:t> shortness of breath &amp; headache</a:t>
            </a:r>
          </a:p>
          <a:p>
            <a:r>
              <a:rPr dirty="0" lang="en-US" smtClean="0"/>
              <a:t>General weakness and H/o indigestion.</a:t>
            </a:r>
          </a:p>
          <a:p>
            <a:r>
              <a:rPr dirty="0" lang="en-US" smtClean="0"/>
              <a:t>Migratory </a:t>
            </a:r>
            <a:r>
              <a:rPr dirty="0" lang="en-US" err="1" smtClean="0"/>
              <a:t>glossitis</a:t>
            </a:r>
            <a:r>
              <a:rPr dirty="0" lang="en-US" smtClean="0"/>
              <a:t> &amp; tongue smoothness, indicating Folic deficiency.</a:t>
            </a:r>
            <a:endParaRPr dirty="0" lang="en-US"/>
          </a:p>
        </p:txBody>
      </p:sp>
      <p:sp>
        <p:nvSpPr>
          <p:cNvPr id="104964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124" name=""/>
        <p:cNvGrpSpPr/>
        <p:nvPr/>
      </p:nvGrpSpPr>
      <p:grpSpPr>
        <a:xfrm>
          <a:off x="0" y="0"/>
          <a:ext cx="0" cy="0"/>
          <a:chOff x="0" y="0"/>
          <a:chExt cx="0" cy="0"/>
        </a:xfrm>
      </p:grpSpPr>
      <p:sp>
        <p:nvSpPr>
          <p:cNvPr id="1049646" name="Content Placeholder 2"/>
          <p:cNvSpPr>
            <a:spLocks noGrp="1"/>
          </p:cNvSpPr>
          <p:nvPr>
            <p:ph idx="1"/>
          </p:nvPr>
        </p:nvSpPr>
        <p:spPr>
          <a:xfrm>
            <a:off x="1794509" y="1447800"/>
            <a:ext cx="9372600" cy="4953000"/>
          </a:xfrm>
        </p:spPr>
        <p:txBody>
          <a:bodyPr>
            <a:noAutofit/>
          </a:bodyPr>
          <a:p>
            <a:pPr>
              <a:buNone/>
            </a:pPr>
            <a:r>
              <a:rPr dirty="0" lang="en-US" smtClean="0"/>
              <a:t>	</a:t>
            </a:r>
            <a:r>
              <a:rPr b="1" dirty="0" sz="3600" i="1" lang="en-US" smtClean="0"/>
              <a:t>In severe state: </a:t>
            </a:r>
            <a:r>
              <a:rPr dirty="0" lang="en-US" smtClean="0"/>
              <a:t>fetus is in great danger.</a:t>
            </a:r>
          </a:p>
          <a:p>
            <a:r>
              <a:rPr dirty="0" lang="en-US" err="1" smtClean="0"/>
              <a:t>Pretibial</a:t>
            </a:r>
            <a:r>
              <a:rPr dirty="0" lang="en-US" smtClean="0"/>
              <a:t> and ankle </a:t>
            </a:r>
            <a:r>
              <a:rPr dirty="0" lang="en-US" err="1" smtClean="0"/>
              <a:t>oedema</a:t>
            </a:r>
            <a:endParaRPr dirty="0" lang="en-US" smtClean="0"/>
          </a:p>
          <a:p>
            <a:r>
              <a:rPr dirty="0" lang="en-US" smtClean="0"/>
              <a:t>Small fundal height compared to dates</a:t>
            </a:r>
          </a:p>
          <a:p>
            <a:r>
              <a:rPr dirty="0" lang="en-US" smtClean="0"/>
              <a:t>Signs of dehydration</a:t>
            </a:r>
          </a:p>
          <a:p>
            <a:r>
              <a:rPr dirty="0" lang="en-US" smtClean="0"/>
              <a:t>Tachycardia of </a:t>
            </a:r>
            <a:r>
              <a:rPr dirty="0" lang="en-US" err="1" smtClean="0"/>
              <a:t>thready</a:t>
            </a:r>
            <a:r>
              <a:rPr dirty="0" lang="en-US" smtClean="0"/>
              <a:t> (small) volume and slow rising character.</a:t>
            </a:r>
          </a:p>
          <a:p>
            <a:pPr>
              <a:buNone/>
            </a:pPr>
            <a:r>
              <a:rPr dirty="0" lang="en-US" smtClean="0"/>
              <a:t>	</a:t>
            </a:r>
            <a:r>
              <a:rPr b="1" dirty="0" i="1" lang="en-US" smtClean="0"/>
              <a:t>Very severe state:</a:t>
            </a:r>
            <a:r>
              <a:rPr b="1" dirty="0" lang="en-US" smtClean="0"/>
              <a:t> </a:t>
            </a:r>
            <a:r>
              <a:rPr dirty="0" lang="en-US" smtClean="0"/>
              <a:t>Mother’s life is in danger , hence presents with signs of heart failure as follows:</a:t>
            </a:r>
          </a:p>
        </p:txBody>
      </p:sp>
      <p:sp>
        <p:nvSpPr>
          <p:cNvPr id="104964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125" name=""/>
        <p:cNvGrpSpPr/>
        <p:nvPr/>
      </p:nvGrpSpPr>
      <p:grpSpPr>
        <a:xfrm>
          <a:off x="0" y="0"/>
          <a:ext cx="0" cy="0"/>
          <a:chOff x="0" y="0"/>
          <a:chExt cx="0" cy="0"/>
        </a:xfrm>
      </p:grpSpPr>
      <p:sp>
        <p:nvSpPr>
          <p:cNvPr id="1049648" name="Content Placeholder 2"/>
          <p:cNvSpPr>
            <a:spLocks noGrp="1"/>
          </p:cNvSpPr>
          <p:nvPr>
            <p:ph idx="1"/>
          </p:nvPr>
        </p:nvSpPr>
        <p:spPr>
          <a:xfrm>
            <a:off x="1238250" y="457200"/>
            <a:ext cx="9928859" cy="5791200"/>
          </a:xfrm>
        </p:spPr>
        <p:txBody>
          <a:bodyPr>
            <a:noAutofit/>
          </a:bodyPr>
          <a:p>
            <a:r>
              <a:rPr dirty="0" sz="3600" lang="en-US" smtClean="0"/>
              <a:t>Productive cough &amp; sputum is frothy.</a:t>
            </a:r>
          </a:p>
          <a:p>
            <a:r>
              <a:rPr dirty="0" sz="3600" lang="en-US" smtClean="0"/>
              <a:t>Distension of jugular vein</a:t>
            </a:r>
          </a:p>
          <a:p>
            <a:r>
              <a:rPr dirty="0" sz="3600" lang="en-US" smtClean="0"/>
              <a:t>Dyspnoea at rest</a:t>
            </a:r>
          </a:p>
          <a:p>
            <a:r>
              <a:rPr dirty="0" sz="3600" lang="en-US" err="1" smtClean="0"/>
              <a:t>Generalised</a:t>
            </a:r>
            <a:r>
              <a:rPr dirty="0" sz="3600" lang="en-US" smtClean="0"/>
              <a:t> </a:t>
            </a:r>
            <a:r>
              <a:rPr dirty="0" sz="3600" lang="en-US" err="1" smtClean="0"/>
              <a:t>oedema</a:t>
            </a:r>
            <a:r>
              <a:rPr dirty="0" sz="3600" lang="en-US" smtClean="0"/>
              <a:t>.</a:t>
            </a:r>
          </a:p>
          <a:p>
            <a:pPr>
              <a:buNone/>
            </a:pPr>
            <a:r>
              <a:rPr dirty="0" sz="3600" lang="en-US" smtClean="0"/>
              <a:t>	</a:t>
            </a:r>
            <a:r>
              <a:rPr dirty="0" sz="3600" i="1" lang="en-US" smtClean="0"/>
              <a:t>For </a:t>
            </a:r>
            <a:r>
              <a:rPr b="1" dirty="0" sz="3600" i="1" lang="en-US" err="1" smtClean="0"/>
              <a:t>Haemolytic</a:t>
            </a:r>
            <a:r>
              <a:rPr b="1" dirty="0" sz="3600" i="1" lang="en-US" smtClean="0"/>
              <a:t> </a:t>
            </a:r>
            <a:r>
              <a:rPr dirty="0" sz="3600" i="1" lang="en-US" smtClean="0"/>
              <a:t> causes:</a:t>
            </a:r>
          </a:p>
          <a:p>
            <a:r>
              <a:rPr dirty="0" sz="3600" lang="en-US" smtClean="0"/>
              <a:t>Jaundice signifying severe </a:t>
            </a:r>
            <a:r>
              <a:rPr dirty="0" sz="3600" lang="en-US" err="1" smtClean="0"/>
              <a:t>haemolysis</a:t>
            </a:r>
            <a:r>
              <a:rPr dirty="0" sz="3600" lang="en-US" smtClean="0"/>
              <a:t>.</a:t>
            </a:r>
          </a:p>
          <a:p>
            <a:r>
              <a:rPr dirty="0" sz="3600" lang="en-US" err="1" smtClean="0"/>
              <a:t>Hepato-spleenomegally</a:t>
            </a:r>
            <a:r>
              <a:rPr dirty="0" sz="3600" lang="en-US" smtClean="0"/>
              <a:t>.</a:t>
            </a:r>
            <a:endParaRPr dirty="0" sz="3600" lang="en-US"/>
          </a:p>
        </p:txBody>
      </p:sp>
      <p:sp>
        <p:nvSpPr>
          <p:cNvPr id="104964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126" name=""/>
        <p:cNvGrpSpPr/>
        <p:nvPr/>
      </p:nvGrpSpPr>
      <p:grpSpPr>
        <a:xfrm>
          <a:off x="0" y="0"/>
          <a:ext cx="0" cy="0"/>
          <a:chOff x="0" y="0"/>
          <a:chExt cx="0" cy="0"/>
        </a:xfrm>
      </p:grpSpPr>
      <p:sp>
        <p:nvSpPr>
          <p:cNvPr id="1049650" name="Title 1"/>
          <p:cNvSpPr>
            <a:spLocks noGrp="1"/>
          </p:cNvSpPr>
          <p:nvPr>
            <p:ph type="title"/>
          </p:nvPr>
        </p:nvSpPr>
        <p:spPr/>
        <p:txBody>
          <a:bodyPr/>
          <a:p>
            <a:r>
              <a:rPr dirty="0" lang="en-US" smtClean="0"/>
              <a:t>	</a:t>
            </a:r>
            <a:r>
              <a:rPr b="1" dirty="0" lang="en-US" smtClean="0">
                <a:solidFill>
                  <a:srgbClr val="7030A0"/>
                </a:solidFill>
              </a:rPr>
              <a:t> DIANOSTIC FACTORS</a:t>
            </a:r>
            <a:endParaRPr dirty="0" lang="en-US"/>
          </a:p>
        </p:txBody>
      </p:sp>
      <p:sp>
        <p:nvSpPr>
          <p:cNvPr id="1049651" name="Content Placeholder 2"/>
          <p:cNvSpPr>
            <a:spLocks noGrp="1"/>
          </p:cNvSpPr>
          <p:nvPr>
            <p:ph idx="1"/>
          </p:nvPr>
        </p:nvSpPr>
        <p:spPr>
          <a:xfrm>
            <a:off x="1143001" y="1219200"/>
            <a:ext cx="10024109" cy="5257800"/>
          </a:xfrm>
        </p:spPr>
        <p:txBody>
          <a:bodyPr>
            <a:noAutofit/>
          </a:bodyPr>
          <a:p>
            <a:r>
              <a:rPr dirty="0" lang="en-US" smtClean="0"/>
              <a:t>History and physical examination findings </a:t>
            </a:r>
          </a:p>
          <a:p>
            <a:r>
              <a:rPr dirty="0" lang="en-US" smtClean="0"/>
              <a:t>Laboratory tests  in :</a:t>
            </a:r>
          </a:p>
          <a:p>
            <a:pPr>
              <a:buFont typeface="Wingdings" pitchFamily="2" charset="2"/>
              <a:buChar char="Ø"/>
            </a:pPr>
            <a:r>
              <a:rPr dirty="0" lang="en-US" smtClean="0"/>
              <a:t>Blood specimens for ;</a:t>
            </a:r>
          </a:p>
          <a:p>
            <a:pPr>
              <a:buFont typeface="Wingdings" pitchFamily="2" charset="2"/>
              <a:buChar char="ü"/>
            </a:pPr>
            <a:r>
              <a:rPr dirty="0" lang="en-US" smtClean="0"/>
              <a:t>Full haemogram and positive outcomes are:</a:t>
            </a:r>
          </a:p>
          <a:p>
            <a:pPr lvl="1">
              <a:buFont typeface="Wingdings" pitchFamily="2" charset="2"/>
              <a:buChar char="§"/>
            </a:pPr>
            <a:r>
              <a:rPr dirty="0" sz="3200" lang="en-US" err="1" smtClean="0"/>
              <a:t>Microcytic</a:t>
            </a:r>
            <a:r>
              <a:rPr dirty="0" sz="3200" lang="en-US" smtClean="0"/>
              <a:t>(small) RBC = Iron deficiency.</a:t>
            </a:r>
          </a:p>
          <a:p>
            <a:pPr lvl="1">
              <a:buFont typeface="Wingdings" pitchFamily="2" charset="2"/>
              <a:buChar char="§"/>
            </a:pPr>
            <a:r>
              <a:rPr dirty="0" sz="3200" lang="en-US" err="1" smtClean="0"/>
              <a:t>Macrocytic</a:t>
            </a:r>
            <a:r>
              <a:rPr dirty="0" sz="3200" lang="en-US" smtClean="0"/>
              <a:t>(large), immature as well as </a:t>
            </a:r>
            <a:r>
              <a:rPr dirty="0" sz="3200" lang="en-US" err="1" smtClean="0"/>
              <a:t>hypochromic</a:t>
            </a:r>
            <a:r>
              <a:rPr dirty="0" sz="3200" lang="en-US" smtClean="0"/>
              <a:t>(pale) RBC= Folic acid deficiency. </a:t>
            </a:r>
          </a:p>
          <a:p>
            <a:pPr lvl="1">
              <a:buFont typeface="Wingdings" pitchFamily="2" charset="2"/>
              <a:buChar char="§"/>
            </a:pPr>
            <a:r>
              <a:rPr dirty="0" sz="3200" lang="en-US" err="1" smtClean="0"/>
              <a:t>Normocytic</a:t>
            </a:r>
            <a:r>
              <a:rPr dirty="0" sz="3200" lang="en-US" smtClean="0"/>
              <a:t> &amp; </a:t>
            </a:r>
            <a:r>
              <a:rPr dirty="0" sz="3200" lang="en-US" err="1" smtClean="0"/>
              <a:t>normachromic</a:t>
            </a:r>
            <a:r>
              <a:rPr dirty="0" sz="3200" lang="en-US" smtClean="0"/>
              <a:t> RBC, indicates </a:t>
            </a:r>
            <a:r>
              <a:rPr dirty="0" sz="3200" lang="en-US" err="1" smtClean="0"/>
              <a:t>haemorrhagic</a:t>
            </a:r>
            <a:r>
              <a:rPr dirty="0" sz="3200" lang="en-US" smtClean="0"/>
              <a:t> anaemia. </a:t>
            </a:r>
            <a:endParaRPr dirty="0" sz="3200" lang="en-US"/>
          </a:p>
        </p:txBody>
      </p:sp>
      <p:sp>
        <p:nvSpPr>
          <p:cNvPr id="104965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127" name=""/>
        <p:cNvGrpSpPr/>
        <p:nvPr/>
      </p:nvGrpSpPr>
      <p:grpSpPr>
        <a:xfrm>
          <a:off x="0" y="0"/>
          <a:ext cx="0" cy="0"/>
          <a:chOff x="0" y="0"/>
          <a:chExt cx="0" cy="0"/>
        </a:xfrm>
      </p:grpSpPr>
      <p:sp>
        <p:nvSpPr>
          <p:cNvPr id="1049653" name="Content Placeholder 2"/>
          <p:cNvSpPr>
            <a:spLocks noGrp="1"/>
          </p:cNvSpPr>
          <p:nvPr>
            <p:ph idx="1"/>
          </p:nvPr>
        </p:nvSpPr>
        <p:spPr>
          <a:xfrm>
            <a:off x="1794509" y="1219200"/>
            <a:ext cx="9372600" cy="5486400"/>
          </a:xfrm>
        </p:spPr>
        <p:txBody>
          <a:bodyPr>
            <a:noAutofit/>
          </a:bodyPr>
          <a:p>
            <a:pPr>
              <a:buFont typeface="Wingdings" pitchFamily="2" charset="2"/>
              <a:buChar char="ü"/>
            </a:pPr>
            <a:r>
              <a:rPr dirty="0" lang="en-US" smtClean="0"/>
              <a:t>Malaria parasite smear.</a:t>
            </a:r>
          </a:p>
          <a:p>
            <a:pPr>
              <a:buFont typeface="Wingdings" pitchFamily="2" charset="2"/>
              <a:buChar char="ü"/>
            </a:pPr>
            <a:r>
              <a:rPr dirty="0" lang="en-US" err="1" smtClean="0"/>
              <a:t>Sickling</a:t>
            </a:r>
            <a:r>
              <a:rPr dirty="0" lang="en-US" smtClean="0"/>
              <a:t>  test, for suggestive history</a:t>
            </a:r>
          </a:p>
          <a:p>
            <a:pPr>
              <a:buFont typeface="Wingdings" pitchFamily="2" charset="2"/>
              <a:buChar char="Ø"/>
            </a:pPr>
            <a:r>
              <a:rPr dirty="0" lang="en-US" smtClean="0"/>
              <a:t>Stool specimen for :</a:t>
            </a:r>
          </a:p>
          <a:p>
            <a:pPr>
              <a:buFont typeface="Wingdings" pitchFamily="2" charset="2"/>
              <a:buChar char="ü"/>
            </a:pPr>
            <a:r>
              <a:rPr dirty="0" lang="en-US" smtClean="0"/>
              <a:t>Hook worm  ova.</a:t>
            </a:r>
          </a:p>
          <a:p>
            <a:pPr>
              <a:buFont typeface="Wingdings" pitchFamily="2" charset="2"/>
              <a:buChar char="ü"/>
            </a:pPr>
            <a:r>
              <a:rPr dirty="0" lang="en-US" err="1" smtClean="0"/>
              <a:t>Schistosomal</a:t>
            </a:r>
            <a:r>
              <a:rPr dirty="0" lang="en-US" smtClean="0"/>
              <a:t>  ova .</a:t>
            </a:r>
          </a:p>
          <a:p>
            <a:pPr>
              <a:buFont typeface="Wingdings" pitchFamily="2" charset="2"/>
              <a:buChar char="Ø"/>
            </a:pPr>
            <a:r>
              <a:rPr dirty="0" lang="en-US" smtClean="0"/>
              <a:t>Urine specimen for:</a:t>
            </a:r>
          </a:p>
          <a:p>
            <a:pPr>
              <a:buFont typeface="Wingdings" pitchFamily="2" charset="2"/>
              <a:buChar char="ü"/>
            </a:pPr>
            <a:r>
              <a:rPr dirty="0" lang="en-US" smtClean="0"/>
              <a:t>Routine exam, microscopy, C/S= UTI.</a:t>
            </a:r>
          </a:p>
          <a:p>
            <a:pPr>
              <a:buFont typeface="Wingdings" pitchFamily="2" charset="2"/>
              <a:buChar char="ü"/>
            </a:pPr>
            <a:r>
              <a:rPr dirty="0" lang="en-US" err="1" smtClean="0"/>
              <a:t>Schistosomal</a:t>
            </a:r>
            <a:r>
              <a:rPr dirty="0" lang="en-US" smtClean="0"/>
              <a:t>  ova. </a:t>
            </a:r>
          </a:p>
          <a:p>
            <a:pPr>
              <a:buFont typeface="Arial" charset="0"/>
              <a:buChar char="•"/>
            </a:pPr>
            <a:endParaRPr dirty="0" lang="en-US"/>
          </a:p>
        </p:txBody>
      </p:sp>
      <p:sp>
        <p:nvSpPr>
          <p:cNvPr id="104965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128" name=""/>
        <p:cNvGrpSpPr/>
        <p:nvPr/>
      </p:nvGrpSpPr>
      <p:grpSpPr>
        <a:xfrm>
          <a:off x="0" y="0"/>
          <a:ext cx="0" cy="0"/>
          <a:chOff x="0" y="0"/>
          <a:chExt cx="0" cy="0"/>
        </a:xfrm>
      </p:grpSpPr>
      <p:sp>
        <p:nvSpPr>
          <p:cNvPr id="1049655" name="Title 1"/>
          <p:cNvSpPr>
            <a:spLocks noGrp="1"/>
          </p:cNvSpPr>
          <p:nvPr>
            <p:ph type="title"/>
          </p:nvPr>
        </p:nvSpPr>
        <p:spPr/>
        <p:txBody>
          <a:bodyPr>
            <a:normAutofit/>
          </a:bodyPr>
          <a:p>
            <a:r>
              <a:rPr b="1" dirty="0" lang="en-US" smtClean="0"/>
              <a:t> </a:t>
            </a:r>
            <a:r>
              <a:rPr b="1" dirty="0" lang="en-US" smtClean="0">
                <a:solidFill>
                  <a:srgbClr val="7030A0"/>
                </a:solidFill>
              </a:rPr>
              <a:t>SPECIFIC  MANAGEMENT</a:t>
            </a:r>
            <a:endParaRPr dirty="0" lang="en-US">
              <a:solidFill>
                <a:srgbClr val="7030A0"/>
              </a:solidFill>
            </a:endParaRPr>
          </a:p>
        </p:txBody>
      </p:sp>
      <p:sp>
        <p:nvSpPr>
          <p:cNvPr id="1049656" name="Content Placeholder 2"/>
          <p:cNvSpPr>
            <a:spLocks noGrp="1"/>
          </p:cNvSpPr>
          <p:nvPr>
            <p:ph idx="1"/>
          </p:nvPr>
        </p:nvSpPr>
        <p:spPr/>
        <p:txBody>
          <a:bodyPr>
            <a:normAutofit/>
          </a:bodyPr>
          <a:p>
            <a:pPr>
              <a:buNone/>
            </a:pPr>
            <a:r>
              <a:rPr b="1" dirty="0" lang="en-US" smtClean="0"/>
              <a:t>	Mild:</a:t>
            </a:r>
            <a:r>
              <a:rPr dirty="0" lang="en-US" smtClean="0"/>
              <a:t> </a:t>
            </a:r>
          </a:p>
          <a:p>
            <a:pPr>
              <a:buFont typeface="Wingdings" pitchFamily="2" charset="2"/>
              <a:buChar char="v"/>
            </a:pPr>
            <a:r>
              <a:rPr dirty="0" lang="en-US" smtClean="0"/>
              <a:t>Care is basically through the prenatal clinic, so refer to  the DR  for:</a:t>
            </a:r>
          </a:p>
          <a:p>
            <a:r>
              <a:rPr dirty="0" lang="en-US" smtClean="0"/>
              <a:t>Investigation of the cause.</a:t>
            </a:r>
          </a:p>
          <a:p>
            <a:r>
              <a:rPr dirty="0" lang="en-US" smtClean="0"/>
              <a:t>Prescription of  oral iron supplements e.g. </a:t>
            </a:r>
            <a:r>
              <a:rPr dirty="0" lang="en-US" err="1" smtClean="0"/>
              <a:t>Ranferon</a:t>
            </a:r>
            <a:r>
              <a:rPr dirty="0" lang="en-US" smtClean="0"/>
              <a:t> syrup 10 ml every 8 hourly till the HB reading is 11 gm/ dl &amp;above.</a:t>
            </a:r>
          </a:p>
          <a:p>
            <a:pPr>
              <a:buFont typeface="Wingdings" pitchFamily="2" charset="2"/>
              <a:buChar char="ü"/>
            </a:pPr>
            <a:r>
              <a:rPr dirty="0" lang="en-US" smtClean="0"/>
              <a:t>Alternatively, ferrous </a:t>
            </a:r>
            <a:r>
              <a:rPr dirty="0" lang="en-US" err="1" smtClean="0"/>
              <a:t>sulphate</a:t>
            </a:r>
            <a:r>
              <a:rPr dirty="0" lang="en-US" smtClean="0"/>
              <a:t> 200 mg 8 hrly and Folic acid 5 mg daily is given.</a:t>
            </a:r>
          </a:p>
        </p:txBody>
      </p:sp>
      <p:sp>
        <p:nvSpPr>
          <p:cNvPr id="104965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129" name=""/>
        <p:cNvGrpSpPr/>
        <p:nvPr/>
      </p:nvGrpSpPr>
      <p:grpSpPr>
        <a:xfrm>
          <a:off x="0" y="0"/>
          <a:ext cx="0" cy="0"/>
          <a:chOff x="0" y="0"/>
          <a:chExt cx="0" cy="0"/>
        </a:xfrm>
      </p:grpSpPr>
      <p:sp>
        <p:nvSpPr>
          <p:cNvPr id="1049658" name="Content Placeholder 2"/>
          <p:cNvSpPr>
            <a:spLocks noGrp="1"/>
          </p:cNvSpPr>
          <p:nvPr>
            <p:ph idx="1"/>
          </p:nvPr>
        </p:nvSpPr>
        <p:spPr>
          <a:xfrm>
            <a:off x="1333501" y="381000"/>
            <a:ext cx="9833609" cy="5867400"/>
          </a:xfrm>
        </p:spPr>
        <p:txBody>
          <a:bodyPr>
            <a:normAutofit/>
          </a:bodyPr>
          <a:p>
            <a:pPr>
              <a:buFont typeface="Wingdings" pitchFamily="2" charset="2"/>
              <a:buChar char="ü"/>
            </a:pPr>
            <a:r>
              <a:rPr dirty="0" lang="en-US" smtClean="0"/>
              <a:t>Counsel regarding side effects of the supplements.</a:t>
            </a:r>
          </a:p>
          <a:p>
            <a:pPr>
              <a:buFont typeface="Wingdings" pitchFamily="2" charset="2"/>
              <a:buChar char="Ø"/>
            </a:pPr>
            <a:r>
              <a:rPr dirty="0" lang="en-US" smtClean="0"/>
              <a:t>Offer supportive treatment as well , such as vitamin supplements to improve appetite.</a:t>
            </a:r>
          </a:p>
          <a:p>
            <a:pPr>
              <a:buFont typeface="Wingdings" pitchFamily="2" charset="2"/>
              <a:buChar char="Ø"/>
            </a:pPr>
            <a:r>
              <a:rPr dirty="0" lang="en-US" smtClean="0"/>
              <a:t>Treat the underlying cause as well.</a:t>
            </a:r>
          </a:p>
          <a:p>
            <a:r>
              <a:rPr dirty="0" lang="en-US" smtClean="0"/>
              <a:t>Advise on well balanced diet , rest &amp; hygiene.</a:t>
            </a:r>
          </a:p>
          <a:p>
            <a:r>
              <a:rPr dirty="0" lang="en-US" smtClean="0"/>
              <a:t>Discourage high intake of caffeinated drinks.</a:t>
            </a:r>
            <a:endParaRPr dirty="0" lang="en-US"/>
          </a:p>
        </p:txBody>
      </p:sp>
      <p:sp>
        <p:nvSpPr>
          <p:cNvPr id="104965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130" name=""/>
        <p:cNvGrpSpPr/>
        <p:nvPr/>
      </p:nvGrpSpPr>
      <p:grpSpPr>
        <a:xfrm>
          <a:off x="0" y="0"/>
          <a:ext cx="0" cy="0"/>
          <a:chOff x="0" y="0"/>
          <a:chExt cx="0" cy="0"/>
        </a:xfrm>
      </p:grpSpPr>
      <p:sp>
        <p:nvSpPr>
          <p:cNvPr id="1049660" name="Content Placeholder 2"/>
          <p:cNvSpPr>
            <a:spLocks noGrp="1"/>
          </p:cNvSpPr>
          <p:nvPr>
            <p:ph idx="1"/>
          </p:nvPr>
        </p:nvSpPr>
        <p:spPr>
          <a:xfrm>
            <a:off x="1238250" y="381000"/>
            <a:ext cx="9928859" cy="5867400"/>
          </a:xfrm>
        </p:spPr>
        <p:txBody>
          <a:bodyPr>
            <a:normAutofit/>
          </a:bodyPr>
          <a:p>
            <a:r>
              <a:rPr dirty="0" lang="en-US" smtClean="0"/>
              <a:t>Evaluate the effectiveness of treatment through regular control HB check ups.</a:t>
            </a:r>
          </a:p>
          <a:p>
            <a:r>
              <a:rPr dirty="0" lang="en-US" smtClean="0"/>
              <a:t>Closely follow up the client through </a:t>
            </a:r>
            <a:r>
              <a:rPr dirty="0" i="1" lang="en-US" smtClean="0"/>
              <a:t>weekly </a:t>
            </a:r>
            <a:r>
              <a:rPr dirty="0" lang="en-US" smtClean="0"/>
              <a:t>ANC visits.</a:t>
            </a:r>
          </a:p>
          <a:p>
            <a:pPr>
              <a:buNone/>
            </a:pPr>
            <a:r>
              <a:rPr dirty="0" lang="en-US" smtClean="0"/>
              <a:t>		</a:t>
            </a:r>
            <a:r>
              <a:rPr b="1" dirty="0" lang="en-US" smtClean="0"/>
              <a:t>Moderate: </a:t>
            </a:r>
          </a:p>
          <a:p>
            <a:r>
              <a:rPr dirty="0" lang="en-US" smtClean="0"/>
              <a:t>Admission  to hospital is determined by the severity of symptoms and the living standards.</a:t>
            </a:r>
          </a:p>
          <a:p>
            <a:r>
              <a:rPr dirty="0" lang="en-US" smtClean="0"/>
              <a:t>That who is not admitted , basic care is as in mild.</a:t>
            </a:r>
            <a:endParaRPr dirty="0" lang="en-US"/>
          </a:p>
        </p:txBody>
      </p:sp>
      <p:sp>
        <p:nvSpPr>
          <p:cNvPr id="104966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131" name=""/>
        <p:cNvGrpSpPr/>
        <p:nvPr/>
      </p:nvGrpSpPr>
      <p:grpSpPr>
        <a:xfrm>
          <a:off x="0" y="0"/>
          <a:ext cx="0" cy="0"/>
          <a:chOff x="0" y="0"/>
          <a:chExt cx="0" cy="0"/>
        </a:xfrm>
      </p:grpSpPr>
      <p:sp>
        <p:nvSpPr>
          <p:cNvPr id="1049662" name="Content Placeholder 2"/>
          <p:cNvSpPr>
            <a:spLocks noGrp="1"/>
          </p:cNvSpPr>
          <p:nvPr>
            <p:ph idx="1"/>
          </p:nvPr>
        </p:nvSpPr>
        <p:spPr>
          <a:xfrm>
            <a:off x="1047750" y="228600"/>
            <a:ext cx="10119360" cy="6477000"/>
          </a:xfrm>
        </p:spPr>
        <p:txBody>
          <a:bodyPr>
            <a:noAutofit/>
          </a:bodyPr>
          <a:p>
            <a:pPr>
              <a:buNone/>
            </a:pPr>
            <a:r>
              <a:rPr dirty="0" sz="3100" lang="en-US" smtClean="0"/>
              <a:t>For the admitted :</a:t>
            </a:r>
          </a:p>
          <a:p>
            <a:r>
              <a:rPr dirty="0" sz="3100" lang="en-US" smtClean="0"/>
              <a:t>Closely monitor vital signs &amp; FHS every4 hrly. </a:t>
            </a:r>
          </a:p>
          <a:p>
            <a:pPr>
              <a:buFont typeface="Wingdings" pitchFamily="2" charset="2"/>
              <a:buChar char="Ø"/>
            </a:pPr>
            <a:r>
              <a:rPr dirty="0" sz="3100" lang="en-US" smtClean="0"/>
              <a:t> Encourage mother to maintain a fetal kick record.</a:t>
            </a:r>
          </a:p>
          <a:p>
            <a:r>
              <a:rPr dirty="0" sz="3100" lang="en-US" smtClean="0"/>
              <a:t>Nurse on relative bedrest to facilitate placental and renal blood supply.</a:t>
            </a:r>
          </a:p>
          <a:p>
            <a:r>
              <a:rPr dirty="0" sz="3100" lang="en-US" smtClean="0"/>
              <a:t>Request for blood cross- match , just incase the condition deteriorates.</a:t>
            </a:r>
          </a:p>
          <a:p>
            <a:r>
              <a:rPr dirty="0" sz="3100" lang="en-US" smtClean="0"/>
              <a:t>Actual treatment includes, administration of  parenteral iron after a test dose to prevent  anaphylactic shock.</a:t>
            </a:r>
            <a:endParaRPr dirty="0" sz="3100" lang="en-US"/>
          </a:p>
        </p:txBody>
      </p:sp>
      <p:sp>
        <p:nvSpPr>
          <p:cNvPr id="104966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132" name=""/>
        <p:cNvGrpSpPr/>
        <p:nvPr/>
      </p:nvGrpSpPr>
      <p:grpSpPr>
        <a:xfrm>
          <a:off x="0" y="0"/>
          <a:ext cx="0" cy="0"/>
          <a:chOff x="0" y="0"/>
          <a:chExt cx="0" cy="0"/>
        </a:xfrm>
      </p:grpSpPr>
      <p:sp>
        <p:nvSpPr>
          <p:cNvPr id="1049664" name="Content Placeholder 2"/>
          <p:cNvSpPr>
            <a:spLocks noGrp="1"/>
          </p:cNvSpPr>
          <p:nvPr>
            <p:ph idx="1"/>
          </p:nvPr>
        </p:nvSpPr>
        <p:spPr>
          <a:xfrm>
            <a:off x="1333501" y="381000"/>
            <a:ext cx="9833609" cy="6248400"/>
          </a:xfrm>
        </p:spPr>
        <p:txBody>
          <a:bodyPr>
            <a:normAutofit/>
          </a:bodyPr>
          <a:p>
            <a:pPr>
              <a:buNone/>
            </a:pPr>
            <a:r>
              <a:rPr b="1" dirty="0" lang="en-US" smtClean="0"/>
              <a:t>NB: </a:t>
            </a:r>
            <a:r>
              <a:rPr dirty="0" lang="en-US" err="1" smtClean="0"/>
              <a:t>i</a:t>
            </a:r>
            <a:r>
              <a:rPr dirty="0" lang="en-US" smtClean="0"/>
              <a:t>. Specific dose depends on the HB reading deficit and body weight=1.5mg/</a:t>
            </a:r>
            <a:r>
              <a:rPr dirty="0" lang="en-US" err="1" smtClean="0"/>
              <a:t>wt</a:t>
            </a:r>
            <a:r>
              <a:rPr dirty="0" lang="en-US" smtClean="0"/>
              <a:t>/</a:t>
            </a:r>
            <a:r>
              <a:rPr dirty="0" lang="en-US" err="1" smtClean="0"/>
              <a:t>wk</a:t>
            </a:r>
            <a:endParaRPr dirty="0" lang="en-US" smtClean="0"/>
          </a:p>
          <a:p>
            <a:pPr>
              <a:buNone/>
            </a:pPr>
            <a:r>
              <a:rPr dirty="0" lang="en-US" smtClean="0"/>
              <a:t>		ii. Gestation period determines the route of 	   administration.</a:t>
            </a:r>
          </a:p>
          <a:p>
            <a:r>
              <a:rPr dirty="0" lang="en-US" smtClean="0"/>
              <a:t>For a gestation period ranging between 30-36 weeks ,dilute 50 mg of imferon (iron dextran) in ½ a </a:t>
            </a:r>
            <a:r>
              <a:rPr dirty="0" lang="en-US" err="1" smtClean="0"/>
              <a:t>litre</a:t>
            </a:r>
            <a:r>
              <a:rPr dirty="0" lang="en-US" smtClean="0"/>
              <a:t> of normal saline and  regulate to run  for 6 hours.</a:t>
            </a:r>
          </a:p>
          <a:p>
            <a:pPr>
              <a:buFont typeface="Wingdings" pitchFamily="2" charset="2"/>
              <a:buChar char="Ø"/>
            </a:pPr>
            <a:r>
              <a:rPr dirty="0" lang="en-US" smtClean="0"/>
              <a:t>Closely monitor vital signs for detection of shock</a:t>
            </a:r>
          </a:p>
          <a:p>
            <a:pPr>
              <a:buFont typeface="Wingdings" pitchFamily="2" charset="2"/>
              <a:buChar char="Ø"/>
            </a:pPr>
            <a:r>
              <a:rPr dirty="0" lang="en-US" smtClean="0"/>
              <a:t>Monitor for adverse reaction </a:t>
            </a:r>
            <a:r>
              <a:rPr dirty="0" lang="en-US" err="1" smtClean="0"/>
              <a:t>eg</a:t>
            </a:r>
            <a:r>
              <a:rPr dirty="0" lang="en-US" smtClean="0"/>
              <a:t> development of </a:t>
            </a:r>
            <a:r>
              <a:rPr dirty="0" lang="en-US" err="1" smtClean="0"/>
              <a:t>urticaria</a:t>
            </a:r>
            <a:r>
              <a:rPr dirty="0" lang="en-US" smtClean="0"/>
              <a:t> and intervene.</a:t>
            </a:r>
            <a:endParaRPr dirty="0" lang="en-US"/>
          </a:p>
        </p:txBody>
      </p:sp>
      <p:sp>
        <p:nvSpPr>
          <p:cNvPr id="104966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133" name=""/>
        <p:cNvGrpSpPr/>
        <p:nvPr/>
      </p:nvGrpSpPr>
      <p:grpSpPr>
        <a:xfrm>
          <a:off x="0" y="0"/>
          <a:ext cx="0" cy="0"/>
          <a:chOff x="0" y="0"/>
          <a:chExt cx="0" cy="0"/>
        </a:xfrm>
      </p:grpSpPr>
      <p:sp>
        <p:nvSpPr>
          <p:cNvPr id="1049666" name="Content Placeholder 2"/>
          <p:cNvSpPr>
            <a:spLocks noGrp="1"/>
          </p:cNvSpPr>
          <p:nvPr>
            <p:ph idx="1"/>
          </p:nvPr>
        </p:nvSpPr>
        <p:spPr>
          <a:xfrm>
            <a:off x="1524000" y="228600"/>
            <a:ext cx="9643109" cy="6400800"/>
          </a:xfrm>
        </p:spPr>
        <p:txBody>
          <a:bodyPr>
            <a:normAutofit/>
          </a:bodyPr>
          <a:p>
            <a:r>
              <a:rPr dirty="0" lang="en-US" smtClean="0"/>
              <a:t>Before 30 weeks and fetal condition is stable ,IM Iron </a:t>
            </a:r>
            <a:r>
              <a:rPr dirty="0" lang="en-US" err="1" smtClean="0"/>
              <a:t>sorbitol</a:t>
            </a:r>
            <a:r>
              <a:rPr dirty="0" lang="en-US" smtClean="0"/>
              <a:t> at 50 mg/ml is administered deeply using a “Z technique” to prevent skin staining and irritation at the  injection site.</a:t>
            </a:r>
          </a:p>
          <a:p>
            <a:r>
              <a:rPr dirty="0" lang="en-US" smtClean="0"/>
              <a:t>Administer supportive drugs such as vitamin B complex .</a:t>
            </a:r>
          </a:p>
          <a:p>
            <a:r>
              <a:rPr dirty="0" lang="en-US" smtClean="0"/>
              <a:t>Continue with oral haematinics  </a:t>
            </a:r>
            <a:r>
              <a:rPr b="1" dirty="0" lang="en-US" smtClean="0"/>
              <a:t>only after discontinuing </a:t>
            </a:r>
            <a:r>
              <a:rPr b="1" dirty="0" lang="en-US" err="1" smtClean="0"/>
              <a:t>parenteral</a:t>
            </a:r>
            <a:r>
              <a:rPr b="1" dirty="0" lang="en-US" smtClean="0"/>
              <a:t>  iron.</a:t>
            </a:r>
          </a:p>
          <a:p>
            <a:pPr>
              <a:buFont typeface="Wingdings" pitchFamily="2" charset="2"/>
              <a:buChar char="Ø"/>
            </a:pPr>
            <a:r>
              <a:rPr dirty="0" lang="en-US" smtClean="0"/>
              <a:t>Aim is to avoid overdose= toxicity hence, headache, dizziness nausea &amp; vomiting  occurs. </a:t>
            </a:r>
            <a:r>
              <a:rPr b="1" dirty="0" lang="en-US" smtClean="0"/>
              <a:t> </a:t>
            </a:r>
            <a:r>
              <a:rPr dirty="0" lang="en-US" smtClean="0"/>
              <a:t>  </a:t>
            </a:r>
            <a:endParaRPr dirty="0" lang="en-US"/>
          </a:p>
        </p:txBody>
      </p:sp>
      <p:sp>
        <p:nvSpPr>
          <p:cNvPr id="104966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134" name=""/>
        <p:cNvGrpSpPr/>
        <p:nvPr/>
      </p:nvGrpSpPr>
      <p:grpSpPr>
        <a:xfrm>
          <a:off x="0" y="0"/>
          <a:ext cx="0" cy="0"/>
          <a:chOff x="0" y="0"/>
          <a:chExt cx="0" cy="0"/>
        </a:xfrm>
      </p:grpSpPr>
      <p:sp>
        <p:nvSpPr>
          <p:cNvPr id="1049668" name="Content Placeholder 2"/>
          <p:cNvSpPr>
            <a:spLocks noGrp="1"/>
          </p:cNvSpPr>
          <p:nvPr>
            <p:ph idx="1"/>
          </p:nvPr>
        </p:nvSpPr>
        <p:spPr>
          <a:xfrm>
            <a:off x="1428751" y="228600"/>
            <a:ext cx="9738359" cy="6019800"/>
          </a:xfrm>
        </p:spPr>
        <p:txBody>
          <a:bodyPr>
            <a:normAutofit/>
          </a:bodyPr>
          <a:p>
            <a:r>
              <a:rPr dirty="0" lang="en-US" smtClean="0"/>
              <a:t>Encourage well balanced diet with extra proteins vitamins and fluids.</a:t>
            </a:r>
          </a:p>
          <a:p>
            <a:r>
              <a:rPr dirty="0" lang="en-US" smtClean="0"/>
              <a:t>High standards of hygiene to prevent infection.</a:t>
            </a:r>
          </a:p>
          <a:p>
            <a:r>
              <a:rPr dirty="0" lang="en-US" smtClean="0"/>
              <a:t>Daily evaluate the progress through examination and interview findings. Control HB at least weekly.</a:t>
            </a:r>
          </a:p>
          <a:p>
            <a:r>
              <a:rPr dirty="0" lang="en-US" smtClean="0"/>
              <a:t>As improvement occurs , encourage </a:t>
            </a:r>
            <a:r>
              <a:rPr dirty="0" lang="en-US" err="1" smtClean="0"/>
              <a:t>mobilisation</a:t>
            </a:r>
            <a:r>
              <a:rPr dirty="0" lang="en-US" smtClean="0"/>
              <a:t> and if  not at term , the doctor discharges to continue with weekly ANC.</a:t>
            </a:r>
            <a:endParaRPr dirty="0" lang="en-US"/>
          </a:p>
        </p:txBody>
      </p:sp>
      <p:sp>
        <p:nvSpPr>
          <p:cNvPr id="104966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135" name=""/>
        <p:cNvGrpSpPr/>
        <p:nvPr/>
      </p:nvGrpSpPr>
      <p:grpSpPr>
        <a:xfrm>
          <a:off x="0" y="0"/>
          <a:ext cx="0" cy="0"/>
          <a:chOff x="0" y="0"/>
          <a:chExt cx="0" cy="0"/>
        </a:xfrm>
      </p:grpSpPr>
      <p:sp>
        <p:nvSpPr>
          <p:cNvPr id="1049670" name="Content Placeholder 2"/>
          <p:cNvSpPr>
            <a:spLocks noGrp="1"/>
          </p:cNvSpPr>
          <p:nvPr>
            <p:ph idx="1"/>
          </p:nvPr>
        </p:nvSpPr>
        <p:spPr/>
        <p:txBody>
          <a:bodyPr>
            <a:normAutofit/>
          </a:bodyPr>
          <a:p>
            <a:r>
              <a:rPr dirty="0" sz="3600" lang="en-US" smtClean="0"/>
              <a:t>So, prepare for discharge by sharing on :</a:t>
            </a:r>
          </a:p>
          <a:p>
            <a:pPr>
              <a:buFont typeface="Wingdings" pitchFamily="2" charset="2"/>
              <a:buChar char="Ø"/>
            </a:pPr>
            <a:r>
              <a:rPr dirty="0" sz="3600" lang="en-US" smtClean="0"/>
              <a:t>Compliance with drugs as per prescription and return visits schedule.</a:t>
            </a:r>
          </a:p>
          <a:p>
            <a:pPr>
              <a:buFont typeface="Wingdings" pitchFamily="2" charset="2"/>
              <a:buChar char="Ø"/>
            </a:pPr>
            <a:r>
              <a:rPr dirty="0" sz="3600" lang="en-US" smtClean="0"/>
              <a:t>Diet, hygiene &amp; rest.</a:t>
            </a:r>
          </a:p>
          <a:p>
            <a:pPr>
              <a:buFont typeface="Wingdings" pitchFamily="2" charset="2"/>
              <a:buChar char="Ø"/>
            </a:pPr>
            <a:r>
              <a:rPr dirty="0" sz="3600" lang="en-US" smtClean="0"/>
              <a:t>Hospital delivery </a:t>
            </a:r>
          </a:p>
          <a:p>
            <a:pPr>
              <a:buFont typeface="Wingdings" pitchFamily="2" charset="2"/>
              <a:buChar char="Ø"/>
            </a:pPr>
            <a:endParaRPr dirty="0" sz="3600" lang="en-US"/>
          </a:p>
        </p:txBody>
      </p:sp>
      <p:sp>
        <p:nvSpPr>
          <p:cNvPr id="104967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136" name=""/>
        <p:cNvGrpSpPr/>
        <p:nvPr/>
      </p:nvGrpSpPr>
      <p:grpSpPr>
        <a:xfrm>
          <a:off x="0" y="0"/>
          <a:ext cx="0" cy="0"/>
          <a:chOff x="0" y="0"/>
          <a:chExt cx="0" cy="0"/>
        </a:xfrm>
      </p:grpSpPr>
      <p:sp>
        <p:nvSpPr>
          <p:cNvPr id="1049672" name="Content Placeholder 2"/>
          <p:cNvSpPr>
            <a:spLocks noGrp="1"/>
          </p:cNvSpPr>
          <p:nvPr>
            <p:ph idx="1"/>
          </p:nvPr>
        </p:nvSpPr>
        <p:spPr>
          <a:xfrm>
            <a:off x="1794509" y="228600"/>
            <a:ext cx="9372600" cy="6019800"/>
          </a:xfrm>
        </p:spPr>
        <p:txBody>
          <a:bodyPr/>
          <a:p>
            <a:pPr>
              <a:buNone/>
            </a:pPr>
            <a:r>
              <a:rPr b="1" dirty="0" lang="en-US" smtClean="0"/>
              <a:t>		</a:t>
            </a:r>
            <a:r>
              <a:rPr b="1" dirty="0" sz="3600" lang="en-US" smtClean="0"/>
              <a:t>Severe-very severe :</a:t>
            </a:r>
            <a:endParaRPr b="1" dirty="0" lang="en-US" smtClean="0"/>
          </a:p>
          <a:p>
            <a:r>
              <a:rPr dirty="0" lang="en-US" smtClean="0"/>
              <a:t>Admit at first contact and inform the DR immediately.</a:t>
            </a:r>
          </a:p>
          <a:p>
            <a:r>
              <a:rPr dirty="0" lang="en-US" smtClean="0"/>
              <a:t>Nurse in fowler’s position to control dyspnoea and administer oxygen PRN.</a:t>
            </a:r>
          </a:p>
          <a:p>
            <a:r>
              <a:rPr dirty="0" lang="en-US" smtClean="0"/>
              <a:t>Closely monitor vital signs  every 2 hourly, FHS 4 hrly and encourage her to keep fetal kick record. Then interpret accurately and consult PRN</a:t>
            </a:r>
            <a:endParaRPr dirty="0" lang="en-US"/>
          </a:p>
        </p:txBody>
      </p:sp>
      <p:sp>
        <p:nvSpPr>
          <p:cNvPr id="104967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137" name=""/>
        <p:cNvGrpSpPr/>
        <p:nvPr/>
      </p:nvGrpSpPr>
      <p:grpSpPr>
        <a:xfrm>
          <a:off x="0" y="0"/>
          <a:ext cx="0" cy="0"/>
          <a:chOff x="0" y="0"/>
          <a:chExt cx="0" cy="0"/>
        </a:xfrm>
      </p:grpSpPr>
      <p:sp>
        <p:nvSpPr>
          <p:cNvPr id="1049674" name="Content Placeholder 2"/>
          <p:cNvSpPr>
            <a:spLocks noGrp="1"/>
          </p:cNvSpPr>
          <p:nvPr>
            <p:ph idx="1"/>
          </p:nvPr>
        </p:nvSpPr>
        <p:spPr>
          <a:xfrm>
            <a:off x="1794509" y="381000"/>
            <a:ext cx="9372600" cy="5867400"/>
          </a:xfrm>
        </p:spPr>
        <p:txBody>
          <a:bodyPr>
            <a:normAutofit/>
          </a:bodyPr>
          <a:p>
            <a:r>
              <a:rPr dirty="0" lang="en-US" smtClean="0"/>
              <a:t>Investigate the cause and treat accordingly</a:t>
            </a:r>
          </a:p>
          <a:p>
            <a:r>
              <a:rPr dirty="0" lang="en-US" smtClean="0"/>
              <a:t>Request for blood group if not done already, and cross-match of at least 2 units in  preparation for transfusion.</a:t>
            </a:r>
          </a:p>
          <a:p>
            <a:pPr>
              <a:buFont typeface="Wingdings" pitchFamily="2" charset="2"/>
              <a:buChar char="Ø"/>
            </a:pPr>
            <a:r>
              <a:rPr dirty="0" lang="en-US" smtClean="0"/>
              <a:t>Initially administer Iron </a:t>
            </a:r>
            <a:r>
              <a:rPr dirty="0" lang="en-US" err="1" smtClean="0"/>
              <a:t>dextran</a:t>
            </a:r>
            <a:r>
              <a:rPr dirty="0" lang="en-US" smtClean="0"/>
              <a:t> (imferon) awaiting  safe blood and blood products.</a:t>
            </a:r>
          </a:p>
          <a:p>
            <a:r>
              <a:rPr dirty="0" lang="en-US" smtClean="0"/>
              <a:t>If already in heart failure, transfuse packed cells and administer Frusemide 40 mg IV with each unit to prevent cardiac arrest.</a:t>
            </a:r>
            <a:endParaRPr dirty="0" lang="en-US"/>
          </a:p>
        </p:txBody>
      </p:sp>
      <p:sp>
        <p:nvSpPr>
          <p:cNvPr id="104967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138" name=""/>
        <p:cNvGrpSpPr/>
        <p:nvPr/>
      </p:nvGrpSpPr>
      <p:grpSpPr>
        <a:xfrm>
          <a:off x="0" y="0"/>
          <a:ext cx="0" cy="0"/>
          <a:chOff x="0" y="0"/>
          <a:chExt cx="0" cy="0"/>
        </a:xfrm>
      </p:grpSpPr>
      <p:sp>
        <p:nvSpPr>
          <p:cNvPr id="1049676" name="Content Placeholder 2"/>
          <p:cNvSpPr>
            <a:spLocks noGrp="1"/>
          </p:cNvSpPr>
          <p:nvPr>
            <p:ph idx="1"/>
          </p:nvPr>
        </p:nvSpPr>
        <p:spPr>
          <a:xfrm>
            <a:off x="1333501" y="228600"/>
            <a:ext cx="9833609" cy="6172200"/>
          </a:xfrm>
        </p:spPr>
        <p:txBody>
          <a:bodyPr>
            <a:normAutofit/>
          </a:bodyPr>
          <a:p>
            <a:pPr>
              <a:buFont typeface="Wingdings" pitchFamily="2" charset="2"/>
              <a:buChar char="Ø"/>
            </a:pPr>
            <a:r>
              <a:rPr dirty="0" lang="en-US" smtClean="0"/>
              <a:t>In desperate situations, whole blood is transfused slowly within 6hrs &amp; frusemide administered as well.</a:t>
            </a:r>
          </a:p>
          <a:p>
            <a:pPr>
              <a:buFont typeface="Wingdings" pitchFamily="2" charset="2"/>
              <a:buChar char="Ø"/>
            </a:pPr>
            <a:r>
              <a:rPr dirty="0" lang="en-US" smtClean="0"/>
              <a:t>Maintain fluid balance chart to assess kidney functions.</a:t>
            </a:r>
          </a:p>
          <a:p>
            <a:r>
              <a:rPr dirty="0" lang="en-US" smtClean="0"/>
              <a:t>Encourage a balanced diet and high standards of hygiene.</a:t>
            </a:r>
          </a:p>
          <a:p>
            <a:r>
              <a:rPr dirty="0" lang="en-US" smtClean="0"/>
              <a:t>Allay anxiety by explaining the condition to patient &amp; close relatives .</a:t>
            </a:r>
          </a:p>
          <a:p>
            <a:r>
              <a:rPr dirty="0" lang="en-US" smtClean="0"/>
              <a:t>Regularly evaluate the progress &amp; promote mobilization.</a:t>
            </a:r>
          </a:p>
          <a:p>
            <a:r>
              <a:rPr dirty="0" lang="en-US" smtClean="0"/>
              <a:t>Not at term, discharge as in moderate</a:t>
            </a:r>
            <a:endParaRPr dirty="0" lang="en-US"/>
          </a:p>
        </p:txBody>
      </p:sp>
      <p:sp>
        <p:nvSpPr>
          <p:cNvPr id="104967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139" name=""/>
        <p:cNvGrpSpPr/>
        <p:nvPr/>
      </p:nvGrpSpPr>
      <p:grpSpPr>
        <a:xfrm>
          <a:off x="0" y="0"/>
          <a:ext cx="0" cy="0"/>
          <a:chOff x="0" y="0"/>
          <a:chExt cx="0" cy="0"/>
        </a:xfrm>
      </p:grpSpPr>
      <p:sp>
        <p:nvSpPr>
          <p:cNvPr id="1049678" name="Title 1"/>
          <p:cNvSpPr>
            <a:spLocks noGrp="1"/>
          </p:cNvSpPr>
          <p:nvPr>
            <p:ph type="title"/>
          </p:nvPr>
        </p:nvSpPr>
        <p:spPr/>
        <p:txBody>
          <a:bodyPr/>
          <a:p>
            <a:r>
              <a:rPr dirty="0" lang="en-US" smtClean="0"/>
              <a:t>		</a:t>
            </a:r>
            <a:r>
              <a:rPr b="1" dirty="0" lang="en-US" u="sng" smtClean="0">
                <a:solidFill>
                  <a:schemeClr val="accent2">
                    <a:lumMod val="75000"/>
                  </a:schemeClr>
                </a:solidFill>
              </a:rPr>
              <a:t> </a:t>
            </a:r>
            <a:r>
              <a:rPr dirty="0" lang="en-US" u="sng" smtClean="0">
                <a:solidFill>
                  <a:schemeClr val="accent2">
                    <a:lumMod val="75000"/>
                  </a:schemeClr>
                </a:solidFill>
                <a:effectLst/>
              </a:rPr>
              <a:t>INTRAPARTUM</a:t>
            </a:r>
            <a:endParaRPr dirty="0" lang="en-US">
              <a:effectLst/>
            </a:endParaRPr>
          </a:p>
        </p:txBody>
      </p:sp>
      <p:sp>
        <p:nvSpPr>
          <p:cNvPr id="1049679" name="Content Placeholder 2"/>
          <p:cNvSpPr>
            <a:spLocks noGrp="1"/>
          </p:cNvSpPr>
          <p:nvPr>
            <p:ph idx="1"/>
          </p:nvPr>
        </p:nvSpPr>
        <p:spPr>
          <a:xfrm>
            <a:off x="1333501" y="1066800"/>
            <a:ext cx="9833609" cy="5562600"/>
          </a:xfrm>
        </p:spPr>
        <p:txBody>
          <a:bodyPr>
            <a:normAutofit/>
          </a:bodyPr>
          <a:p>
            <a:pPr>
              <a:buNone/>
            </a:pPr>
            <a:r>
              <a:rPr dirty="0" lang="en-US" smtClean="0"/>
              <a:t>		</a:t>
            </a:r>
            <a:r>
              <a:rPr dirty="0" i="1" lang="en-US" smtClean="0"/>
              <a:t>First (1</a:t>
            </a:r>
            <a:r>
              <a:rPr baseline="30000" dirty="0" i="1" lang="en-US" smtClean="0"/>
              <a:t>st</a:t>
            </a:r>
            <a:r>
              <a:rPr dirty="0" i="1" lang="en-US" smtClean="0"/>
              <a:t> ) Stage:</a:t>
            </a:r>
          </a:p>
          <a:p>
            <a:r>
              <a:rPr dirty="0" lang="en-US" smtClean="0"/>
              <a:t>Monitoring technique is  as usual although, towards 2</a:t>
            </a:r>
            <a:r>
              <a:rPr baseline="30000" dirty="0" lang="en-US" smtClean="0"/>
              <a:t>nd</a:t>
            </a:r>
            <a:r>
              <a:rPr dirty="0" lang="en-US" smtClean="0"/>
              <a:t>  stage , pulse rate is on every ¼ hrly and BP on hourly bases for the severely </a:t>
            </a:r>
            <a:r>
              <a:rPr dirty="0" lang="en-US" err="1" smtClean="0"/>
              <a:t>anaemic</a:t>
            </a:r>
            <a:r>
              <a:rPr dirty="0" lang="en-US" smtClean="0"/>
              <a:t>.</a:t>
            </a:r>
          </a:p>
          <a:p>
            <a:r>
              <a:rPr dirty="0" lang="en-US" smtClean="0"/>
              <a:t>Precisely, closely monitor :</a:t>
            </a:r>
          </a:p>
          <a:p>
            <a:pPr>
              <a:buFont typeface="Wingdings" pitchFamily="2" charset="2"/>
              <a:buChar char="Ø"/>
            </a:pPr>
            <a:r>
              <a:rPr dirty="0" lang="en-US" smtClean="0"/>
              <a:t> Labour   progress, because of the possibility of prolongation </a:t>
            </a:r>
          </a:p>
          <a:p>
            <a:pPr>
              <a:buFont typeface="Wingdings" pitchFamily="2" charset="2"/>
              <a:buChar char="Ø"/>
            </a:pPr>
            <a:r>
              <a:rPr dirty="0" lang="en-US" smtClean="0"/>
              <a:t>Fetal condition due to </a:t>
            </a:r>
            <a:r>
              <a:rPr dirty="0" lang="en-US" err="1" smtClean="0"/>
              <a:t>possibity</a:t>
            </a:r>
            <a:r>
              <a:rPr dirty="0" lang="en-US" smtClean="0"/>
              <a:t> of hypoxia.</a:t>
            </a:r>
          </a:p>
          <a:p>
            <a:pPr>
              <a:buFont typeface="Wingdings" pitchFamily="2" charset="2"/>
              <a:buChar char="Ø"/>
            </a:pPr>
            <a:r>
              <a:rPr dirty="0" lang="en-US" smtClean="0"/>
              <a:t>Maternal condition due to probability of exhaustion leading to distress.</a:t>
            </a:r>
            <a:endParaRPr dirty="0" lang="en-US"/>
          </a:p>
        </p:txBody>
      </p:sp>
      <p:sp>
        <p:nvSpPr>
          <p:cNvPr id="104968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140" name=""/>
        <p:cNvGrpSpPr/>
        <p:nvPr/>
      </p:nvGrpSpPr>
      <p:grpSpPr>
        <a:xfrm>
          <a:off x="0" y="0"/>
          <a:ext cx="0" cy="0"/>
          <a:chOff x="0" y="0"/>
          <a:chExt cx="0" cy="0"/>
        </a:xfrm>
      </p:grpSpPr>
      <p:sp>
        <p:nvSpPr>
          <p:cNvPr id="1049681" name="Content Placeholder 2"/>
          <p:cNvSpPr>
            <a:spLocks noGrp="1"/>
          </p:cNvSpPr>
          <p:nvPr>
            <p:ph idx="1"/>
          </p:nvPr>
        </p:nvSpPr>
        <p:spPr>
          <a:xfrm>
            <a:off x="1794509" y="304800"/>
            <a:ext cx="9372600" cy="5943600"/>
          </a:xfrm>
        </p:spPr>
        <p:txBody>
          <a:bodyPr>
            <a:normAutofit/>
          </a:bodyPr>
          <a:p>
            <a:r>
              <a:rPr dirty="0" lang="en-US" smtClean="0"/>
              <a:t>For the severely </a:t>
            </a:r>
            <a:r>
              <a:rPr dirty="0" lang="en-US" err="1" smtClean="0"/>
              <a:t>anaemic</a:t>
            </a:r>
            <a:r>
              <a:rPr dirty="0" lang="en-US" smtClean="0"/>
              <a:t>:-</a:t>
            </a:r>
          </a:p>
          <a:p>
            <a:pPr>
              <a:buFont typeface="Wingdings" pitchFamily="2" charset="2"/>
              <a:buChar char="Ø"/>
            </a:pPr>
            <a:r>
              <a:rPr dirty="0" lang="en-US" smtClean="0"/>
              <a:t>Position in fowler’s and administer oxygen.</a:t>
            </a:r>
          </a:p>
          <a:p>
            <a:pPr>
              <a:buFont typeface="Wingdings" pitchFamily="2" charset="2"/>
              <a:buChar char="Ø"/>
            </a:pPr>
            <a:r>
              <a:rPr dirty="0" lang="en-US" smtClean="0"/>
              <a:t>Transfuse blood and closely monitor for adverse effects, if present intervene appropriately.</a:t>
            </a:r>
          </a:p>
          <a:p>
            <a:pPr>
              <a:buFont typeface="Wingdings" pitchFamily="2" charset="2"/>
              <a:buChar char="Ø"/>
            </a:pPr>
            <a:r>
              <a:rPr dirty="0" lang="en-US" smtClean="0"/>
              <a:t>Strictly observe aseptic technique with all invasive procedures &amp;maintain high hygienic measures </a:t>
            </a:r>
            <a:r>
              <a:rPr dirty="0" lang="en-US" err="1" smtClean="0"/>
              <a:t>bcos</a:t>
            </a:r>
            <a:r>
              <a:rPr dirty="0" lang="en-US" smtClean="0"/>
              <a:t> of poor immunity.</a:t>
            </a:r>
          </a:p>
          <a:p>
            <a:pPr>
              <a:buFont typeface="Wingdings" pitchFamily="2" charset="2"/>
              <a:buChar char="Ø"/>
            </a:pPr>
            <a:r>
              <a:rPr dirty="0" lang="en-US" smtClean="0"/>
              <a:t>Prepare to resuscitate both PRN.</a:t>
            </a:r>
            <a:endParaRPr dirty="0" lang="en-US"/>
          </a:p>
        </p:txBody>
      </p:sp>
      <p:sp>
        <p:nvSpPr>
          <p:cNvPr id="104968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141" name=""/>
        <p:cNvGrpSpPr/>
        <p:nvPr/>
      </p:nvGrpSpPr>
      <p:grpSpPr>
        <a:xfrm>
          <a:off x="0" y="0"/>
          <a:ext cx="0" cy="0"/>
          <a:chOff x="0" y="0"/>
          <a:chExt cx="0" cy="0"/>
        </a:xfrm>
      </p:grpSpPr>
      <p:sp>
        <p:nvSpPr>
          <p:cNvPr id="1049683" name="Content Placeholder 2"/>
          <p:cNvSpPr>
            <a:spLocks noGrp="1"/>
          </p:cNvSpPr>
          <p:nvPr>
            <p:ph idx="1"/>
          </p:nvPr>
        </p:nvSpPr>
        <p:spPr>
          <a:xfrm>
            <a:off x="1794509" y="609600"/>
            <a:ext cx="9372600" cy="5638800"/>
          </a:xfrm>
        </p:spPr>
        <p:txBody>
          <a:bodyPr>
            <a:normAutofit/>
          </a:bodyPr>
          <a:p>
            <a:pPr>
              <a:buNone/>
            </a:pPr>
            <a:r>
              <a:rPr dirty="0" sz="3600" lang="en-US" smtClean="0"/>
              <a:t>		</a:t>
            </a:r>
            <a:r>
              <a:rPr dirty="0" sz="3600" i="1" lang="en-US" smtClean="0"/>
              <a:t>Second (2</a:t>
            </a:r>
            <a:r>
              <a:rPr baseline="30000" dirty="0" sz="3600" i="1" lang="en-US" smtClean="0"/>
              <a:t>nd</a:t>
            </a:r>
            <a:r>
              <a:rPr dirty="0" sz="3600" i="1" lang="en-US" smtClean="0"/>
              <a:t> ) Stage</a:t>
            </a:r>
          </a:p>
          <a:p>
            <a:r>
              <a:rPr dirty="0" sz="3600" lang="en-US" smtClean="0"/>
              <a:t>Hasten the </a:t>
            </a:r>
            <a:r>
              <a:rPr dirty="0" sz="3600" lang="en-US" err="1" smtClean="0"/>
              <a:t>perineal</a:t>
            </a:r>
            <a:r>
              <a:rPr dirty="0" sz="3600" lang="en-US" smtClean="0"/>
              <a:t> phase since the fetus is usually hypoxic to some extent and maternal efforts are poor.</a:t>
            </a:r>
          </a:p>
          <a:p>
            <a:r>
              <a:rPr dirty="0" sz="3600" lang="en-US" smtClean="0"/>
              <a:t>Administer uterotonic agents correctly to control excessive bleeding during 3</a:t>
            </a:r>
            <a:r>
              <a:rPr baseline="30000" dirty="0" sz="3600" lang="en-US" smtClean="0"/>
              <a:t>rd</a:t>
            </a:r>
            <a:r>
              <a:rPr dirty="0" sz="3600" lang="en-US" smtClean="0"/>
              <a:t> stage.</a:t>
            </a:r>
          </a:p>
          <a:p>
            <a:r>
              <a:rPr dirty="0" sz="3600" lang="en-US" smtClean="0"/>
              <a:t>Resuscitate neonate as necessary.</a:t>
            </a:r>
            <a:endParaRPr dirty="0" sz="3600" lang="en-US"/>
          </a:p>
        </p:txBody>
      </p:sp>
      <p:sp>
        <p:nvSpPr>
          <p:cNvPr id="104968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142" name=""/>
        <p:cNvGrpSpPr/>
        <p:nvPr/>
      </p:nvGrpSpPr>
      <p:grpSpPr>
        <a:xfrm>
          <a:off x="0" y="0"/>
          <a:ext cx="0" cy="0"/>
          <a:chOff x="0" y="0"/>
          <a:chExt cx="0" cy="0"/>
        </a:xfrm>
      </p:grpSpPr>
      <p:sp>
        <p:nvSpPr>
          <p:cNvPr id="1049685" name="Content Placeholder 2"/>
          <p:cNvSpPr>
            <a:spLocks noGrp="1"/>
          </p:cNvSpPr>
          <p:nvPr>
            <p:ph idx="1"/>
          </p:nvPr>
        </p:nvSpPr>
        <p:spPr>
          <a:xfrm>
            <a:off x="1238250" y="381000"/>
            <a:ext cx="9928859" cy="6324600"/>
          </a:xfrm>
        </p:spPr>
        <p:txBody>
          <a:bodyPr>
            <a:normAutofit/>
          </a:bodyPr>
          <a:p>
            <a:pPr>
              <a:buNone/>
            </a:pPr>
            <a:r>
              <a:rPr dirty="0" lang="en-US" smtClean="0"/>
              <a:t>		</a:t>
            </a:r>
            <a:r>
              <a:rPr dirty="0" i="1" lang="en-US" smtClean="0"/>
              <a:t>Third(3</a:t>
            </a:r>
            <a:r>
              <a:rPr baseline="30000" dirty="0" i="1" lang="en-US" smtClean="0"/>
              <a:t>rd</a:t>
            </a:r>
            <a:r>
              <a:rPr dirty="0" i="1" lang="en-US" smtClean="0"/>
              <a:t> ) Stage</a:t>
            </a:r>
          </a:p>
          <a:p>
            <a:r>
              <a:rPr dirty="0" lang="en-US" smtClean="0"/>
              <a:t>Control excess blood loss  appropriately through:</a:t>
            </a:r>
          </a:p>
          <a:p>
            <a:pPr>
              <a:buFont typeface="Wingdings" pitchFamily="2" charset="2"/>
              <a:buChar char="Ø"/>
            </a:pPr>
            <a:r>
              <a:rPr dirty="0" lang="en-US" smtClean="0"/>
              <a:t>Massage of the uterus to enhance effective contractions.</a:t>
            </a:r>
          </a:p>
          <a:p>
            <a:pPr>
              <a:buFont typeface="Wingdings" pitchFamily="2" charset="2"/>
              <a:buChar char="Ø"/>
            </a:pPr>
            <a:r>
              <a:rPr dirty="0" lang="en-US" smtClean="0"/>
              <a:t>Ensuring that all products of conception are delivered.</a:t>
            </a:r>
          </a:p>
          <a:p>
            <a:pPr>
              <a:buFont typeface="Wingdings" pitchFamily="2" charset="2"/>
              <a:buChar char="Ø"/>
            </a:pPr>
            <a:r>
              <a:rPr dirty="0" lang="en-US" smtClean="0"/>
              <a:t>Immediate repair of the injuries.</a:t>
            </a:r>
          </a:p>
          <a:p>
            <a:r>
              <a:rPr dirty="0" lang="en-US" smtClean="0"/>
              <a:t>Closely monitor for signs of shock (maternal collapse) due to auto-transfusion from placental bed following physiological control of the initial bleeding. Resuscitate PRN.</a:t>
            </a:r>
            <a:endParaRPr dirty="0" lang="en-US"/>
          </a:p>
        </p:txBody>
      </p:sp>
      <p:sp>
        <p:nvSpPr>
          <p:cNvPr id="104968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143" name=""/>
        <p:cNvGrpSpPr/>
        <p:nvPr/>
      </p:nvGrpSpPr>
      <p:grpSpPr>
        <a:xfrm>
          <a:off x="0" y="0"/>
          <a:ext cx="0" cy="0"/>
          <a:chOff x="0" y="0"/>
          <a:chExt cx="0" cy="0"/>
        </a:xfrm>
      </p:grpSpPr>
      <p:sp>
        <p:nvSpPr>
          <p:cNvPr id="1049687" name="Content Placeholder 2"/>
          <p:cNvSpPr>
            <a:spLocks noGrp="1"/>
          </p:cNvSpPr>
          <p:nvPr>
            <p:ph idx="1"/>
          </p:nvPr>
        </p:nvSpPr>
        <p:spPr>
          <a:xfrm>
            <a:off x="1333501" y="533400"/>
            <a:ext cx="9833609" cy="5715000"/>
          </a:xfrm>
        </p:spPr>
        <p:txBody>
          <a:bodyPr>
            <a:normAutofit/>
          </a:bodyPr>
          <a:p>
            <a:pPr>
              <a:buNone/>
            </a:pPr>
            <a:r>
              <a:rPr dirty="0" lang="en-US" smtClean="0"/>
              <a:t>		</a:t>
            </a:r>
            <a:r>
              <a:rPr dirty="0" i="1" lang="en-US" smtClean="0"/>
              <a:t>Fourth(4</a:t>
            </a:r>
            <a:r>
              <a:rPr baseline="30000" dirty="0" i="1" lang="en-US" smtClean="0"/>
              <a:t>th</a:t>
            </a:r>
            <a:r>
              <a:rPr dirty="0" i="1" lang="en-US" smtClean="0"/>
              <a:t> ) Stage: </a:t>
            </a:r>
            <a:r>
              <a:rPr dirty="0" lang="en-US" smtClean="0"/>
              <a:t>As usual.</a:t>
            </a:r>
          </a:p>
          <a:p>
            <a:pPr>
              <a:buNone/>
            </a:pPr>
            <a:r>
              <a:rPr dirty="0" lang="en-US" smtClean="0"/>
              <a:t>		</a:t>
            </a:r>
            <a:r>
              <a:rPr dirty="0" i="1" lang="en-US" err="1" smtClean="0"/>
              <a:t>Postnatally</a:t>
            </a:r>
            <a:endParaRPr dirty="0" i="1" lang="en-US" smtClean="0"/>
          </a:p>
          <a:p>
            <a:r>
              <a:rPr dirty="0" lang="en-US" smtClean="0"/>
              <a:t>Continue with daily examination, particularly to monitor for signs of infection and the state of anaemia. Then intervene.</a:t>
            </a:r>
          </a:p>
          <a:p>
            <a:r>
              <a:rPr dirty="0" lang="en-US" smtClean="0"/>
              <a:t>Administer  prophylactic course of broad spectrum antibiotic,e.g.Amoxycillin 500 mg 8 hrly×5 days &amp; syrup </a:t>
            </a:r>
            <a:r>
              <a:rPr dirty="0" lang="en-US" err="1" smtClean="0"/>
              <a:t>Ranferon</a:t>
            </a:r>
            <a:r>
              <a:rPr dirty="0" lang="en-US" smtClean="0"/>
              <a:t> 10 ml 8hrly for 1(one) month as a </a:t>
            </a:r>
            <a:r>
              <a:rPr dirty="0" lang="en-US" err="1" smtClean="0"/>
              <a:t>haematinic</a:t>
            </a:r>
            <a:r>
              <a:rPr dirty="0" lang="en-US" smtClean="0"/>
              <a:t>.</a:t>
            </a:r>
            <a:endParaRPr dirty="0" lang="en-US"/>
          </a:p>
        </p:txBody>
      </p:sp>
      <p:sp>
        <p:nvSpPr>
          <p:cNvPr id="104968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144" name=""/>
        <p:cNvGrpSpPr/>
        <p:nvPr/>
      </p:nvGrpSpPr>
      <p:grpSpPr>
        <a:xfrm>
          <a:off x="0" y="0"/>
          <a:ext cx="0" cy="0"/>
          <a:chOff x="0" y="0"/>
          <a:chExt cx="0" cy="0"/>
        </a:xfrm>
      </p:grpSpPr>
      <p:sp>
        <p:nvSpPr>
          <p:cNvPr id="1049689" name="Content Placeholder 2"/>
          <p:cNvSpPr>
            <a:spLocks noGrp="1"/>
          </p:cNvSpPr>
          <p:nvPr>
            <p:ph idx="1"/>
          </p:nvPr>
        </p:nvSpPr>
        <p:spPr>
          <a:xfrm>
            <a:off x="1238250" y="457200"/>
            <a:ext cx="9928859" cy="6248400"/>
          </a:xfrm>
        </p:spPr>
        <p:txBody>
          <a:bodyPr>
            <a:normAutofit/>
          </a:bodyPr>
          <a:p>
            <a:r>
              <a:rPr dirty="0" lang="en-US" smtClean="0"/>
              <a:t>Assist with baby care  and supervise breastfeeding to ensure effectiveness.</a:t>
            </a:r>
          </a:p>
          <a:p>
            <a:r>
              <a:rPr dirty="0" lang="en-US" smtClean="0"/>
              <a:t>As condition </a:t>
            </a:r>
            <a:r>
              <a:rPr dirty="0" lang="en-US" err="1" smtClean="0"/>
              <a:t>stabilises</a:t>
            </a:r>
            <a:r>
              <a:rPr dirty="0" lang="en-US" smtClean="0"/>
              <a:t>, the DR discharges ,  so share on home care through advise on:</a:t>
            </a:r>
          </a:p>
          <a:p>
            <a:pPr>
              <a:buFont typeface="Wingdings" pitchFamily="2" charset="2"/>
              <a:buChar char="Ø"/>
            </a:pPr>
            <a:r>
              <a:rPr dirty="0" lang="en-US" smtClean="0"/>
              <a:t>Well balanced diet=extra proteins + vitamin.</a:t>
            </a:r>
          </a:p>
          <a:p>
            <a:pPr>
              <a:buFont typeface="Wingdings" pitchFamily="2" charset="2"/>
              <a:buChar char="Ø"/>
            </a:pPr>
            <a:r>
              <a:rPr dirty="0" lang="en-US" smtClean="0"/>
              <a:t>Hygiene= personal, environmental &amp; food</a:t>
            </a:r>
          </a:p>
          <a:p>
            <a:pPr>
              <a:buFont typeface="Wingdings" pitchFamily="2" charset="2"/>
              <a:buChar char="Ø"/>
            </a:pPr>
            <a:r>
              <a:rPr dirty="0" lang="en-US" smtClean="0"/>
              <a:t>Rest for quick recovery &amp; to have ample time with the infant.</a:t>
            </a:r>
          </a:p>
          <a:p>
            <a:pPr>
              <a:buFont typeface="Wingdings" pitchFamily="2" charset="2"/>
              <a:buChar char="Ø"/>
            </a:pPr>
            <a:r>
              <a:rPr dirty="0" lang="en-US" smtClean="0"/>
              <a:t>Compliance with drugs dispensed on discharge and with review visits.</a:t>
            </a:r>
          </a:p>
          <a:p>
            <a:pPr>
              <a:buFont typeface="Wingdings" pitchFamily="2" charset="2"/>
              <a:buChar char="Ø"/>
            </a:pPr>
            <a:r>
              <a:rPr dirty="0" lang="en-US" smtClean="0"/>
              <a:t>Follow up in MCH/FP, GOC &amp;MOPC-severely </a:t>
            </a:r>
            <a:r>
              <a:rPr dirty="0" lang="en-US" err="1" smtClean="0"/>
              <a:t>anaemic</a:t>
            </a:r>
            <a:r>
              <a:rPr dirty="0" lang="en-US" smtClean="0"/>
              <a:t>.</a:t>
            </a:r>
            <a:endParaRPr dirty="0" lang="en-US"/>
          </a:p>
        </p:txBody>
      </p:sp>
      <p:sp>
        <p:nvSpPr>
          <p:cNvPr id="104969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145" name=""/>
        <p:cNvGrpSpPr/>
        <p:nvPr/>
      </p:nvGrpSpPr>
      <p:grpSpPr>
        <a:xfrm>
          <a:off x="0" y="0"/>
          <a:ext cx="0" cy="0"/>
          <a:chOff x="0" y="0"/>
          <a:chExt cx="0" cy="0"/>
        </a:xfrm>
      </p:grpSpPr>
      <p:sp>
        <p:nvSpPr>
          <p:cNvPr id="1049691" name="Title 1"/>
          <p:cNvSpPr>
            <a:spLocks noGrp="1"/>
          </p:cNvSpPr>
          <p:nvPr>
            <p:ph type="title"/>
          </p:nvPr>
        </p:nvSpPr>
        <p:spPr/>
        <p:txBody>
          <a:bodyPr/>
          <a:p>
            <a:r>
              <a:rPr dirty="0" lang="en-US" smtClean="0"/>
              <a:t>	</a:t>
            </a:r>
            <a:r>
              <a:rPr b="1" dirty="0" lang="en-US" smtClean="0">
                <a:solidFill>
                  <a:srgbClr val="7030A0"/>
                </a:solidFill>
              </a:rPr>
              <a:t> COMPLICATIONS</a:t>
            </a:r>
            <a:endParaRPr dirty="0" lang="en-US"/>
          </a:p>
        </p:txBody>
      </p:sp>
      <p:sp>
        <p:nvSpPr>
          <p:cNvPr id="1049692" name="Content Placeholder 2"/>
          <p:cNvSpPr>
            <a:spLocks noGrp="1"/>
          </p:cNvSpPr>
          <p:nvPr>
            <p:ph idx="1"/>
          </p:nvPr>
        </p:nvSpPr>
        <p:spPr>
          <a:xfrm>
            <a:off x="1794509" y="1219200"/>
            <a:ext cx="9372600" cy="5486400"/>
          </a:xfrm>
        </p:spPr>
        <p:txBody>
          <a:bodyPr>
            <a:normAutofit/>
          </a:bodyPr>
          <a:p>
            <a:r>
              <a:rPr dirty="0" lang="en-US" smtClean="0"/>
              <a:t>Loss of pregnancy  in spontaneous abortion and intrauterine fetal death.</a:t>
            </a:r>
          </a:p>
          <a:p>
            <a:r>
              <a:rPr dirty="0" lang="en-US" smtClean="0"/>
              <a:t>Low birth weight baby due to IUGR &amp; preterm birth.</a:t>
            </a:r>
          </a:p>
          <a:p>
            <a:r>
              <a:rPr dirty="0" lang="en-US" smtClean="0"/>
              <a:t>High perinatal mortality rate from fetal hypoxia leading to severe asphyxia hence early neonatal death.</a:t>
            </a:r>
          </a:p>
          <a:p>
            <a:r>
              <a:rPr dirty="0" lang="en-US" smtClean="0"/>
              <a:t>PPH  from normal blood loss in presence of severe anaemia.</a:t>
            </a:r>
          </a:p>
          <a:p>
            <a:r>
              <a:rPr dirty="0" lang="en-US" smtClean="0"/>
              <a:t>Congestive cardiac failure due to severe anaemia.</a:t>
            </a:r>
            <a:endParaRPr dirty="0" lang="en-US"/>
          </a:p>
        </p:txBody>
      </p:sp>
      <p:sp>
        <p:nvSpPr>
          <p:cNvPr id="104969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146" name=""/>
        <p:cNvGrpSpPr/>
        <p:nvPr/>
      </p:nvGrpSpPr>
      <p:grpSpPr>
        <a:xfrm>
          <a:off x="0" y="0"/>
          <a:ext cx="0" cy="0"/>
          <a:chOff x="0" y="0"/>
          <a:chExt cx="0" cy="0"/>
        </a:xfrm>
      </p:grpSpPr>
      <p:sp>
        <p:nvSpPr>
          <p:cNvPr id="1049694" name="Title 1"/>
          <p:cNvSpPr>
            <a:spLocks noGrp="1"/>
          </p:cNvSpPr>
          <p:nvPr>
            <p:ph type="title"/>
          </p:nvPr>
        </p:nvSpPr>
        <p:spPr/>
        <p:txBody>
          <a:bodyPr>
            <a:normAutofit/>
          </a:bodyPr>
          <a:p>
            <a:pPr algn="ctr"/>
            <a:r>
              <a:rPr dirty="0" lang="en-US" smtClean="0"/>
              <a:t>	</a:t>
            </a:r>
            <a:r>
              <a:rPr b="1" dirty="0" lang="en-US" smtClean="0">
                <a:solidFill>
                  <a:srgbClr val="7030A0"/>
                </a:solidFill>
              </a:rPr>
              <a:t> PREVENTION OF ANAEMIA</a:t>
            </a:r>
            <a:endParaRPr dirty="0" lang="en-US"/>
          </a:p>
        </p:txBody>
      </p:sp>
      <p:sp>
        <p:nvSpPr>
          <p:cNvPr id="1049695" name="Content Placeholder 2"/>
          <p:cNvSpPr>
            <a:spLocks noGrp="1"/>
          </p:cNvSpPr>
          <p:nvPr>
            <p:ph idx="1"/>
          </p:nvPr>
        </p:nvSpPr>
        <p:spPr>
          <a:xfrm>
            <a:off x="1333501" y="1447800"/>
            <a:ext cx="9833609" cy="4800600"/>
          </a:xfrm>
        </p:spPr>
        <p:txBody>
          <a:bodyPr>
            <a:noAutofit/>
          </a:bodyPr>
          <a:p>
            <a:r>
              <a:rPr dirty="0" sz="3600" lang="en-US" smtClean="0"/>
              <a:t>Prenatal identification of risk factors and appropriate interventions.</a:t>
            </a:r>
          </a:p>
          <a:p>
            <a:r>
              <a:rPr dirty="0" sz="3600" lang="en-US" smtClean="0"/>
              <a:t>Health promotion talks to all prenatal clients regarding, healthy life style in terms of diet, to avoid alcohol and self medication.</a:t>
            </a:r>
          </a:p>
          <a:p>
            <a:r>
              <a:rPr dirty="0" sz="3600" lang="en-US" smtClean="0"/>
              <a:t>Personal protection against the vectors e.g. malaria and </a:t>
            </a:r>
            <a:r>
              <a:rPr dirty="0" sz="3600" lang="en-US" err="1" smtClean="0"/>
              <a:t>bilharzia</a:t>
            </a:r>
            <a:r>
              <a:rPr dirty="0" sz="3600" lang="en-US" smtClean="0"/>
              <a:t> (</a:t>
            </a:r>
            <a:r>
              <a:rPr dirty="0" sz="3600" lang="en-US" err="1" smtClean="0"/>
              <a:t>schistosoma</a:t>
            </a:r>
            <a:r>
              <a:rPr dirty="0" sz="3600" lang="en-US" smtClean="0"/>
              <a:t>) </a:t>
            </a:r>
            <a:endParaRPr dirty="0" sz="3600" lang="en-US"/>
          </a:p>
        </p:txBody>
      </p:sp>
      <p:sp>
        <p:nvSpPr>
          <p:cNvPr id="104969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147" name=""/>
        <p:cNvGrpSpPr/>
        <p:nvPr/>
      </p:nvGrpSpPr>
      <p:grpSpPr>
        <a:xfrm>
          <a:off x="0" y="0"/>
          <a:ext cx="0" cy="0"/>
          <a:chOff x="0" y="0"/>
          <a:chExt cx="0" cy="0"/>
        </a:xfrm>
      </p:grpSpPr>
      <p:sp>
        <p:nvSpPr>
          <p:cNvPr id="1049697" name="Content Placeholder 2"/>
          <p:cNvSpPr>
            <a:spLocks noGrp="1"/>
          </p:cNvSpPr>
          <p:nvPr>
            <p:ph idx="1"/>
          </p:nvPr>
        </p:nvSpPr>
        <p:spPr/>
        <p:txBody>
          <a:bodyPr/>
          <a:p>
            <a:r>
              <a:rPr dirty="0" lang="en-US" smtClean="0"/>
              <a:t>Intermittent presumptive treatment(IPT) in malaria endemic areas and routine administration of  haematinics to the vulnerable group.</a:t>
            </a:r>
          </a:p>
          <a:p>
            <a:pPr>
              <a:buNone/>
            </a:pPr>
            <a:endParaRPr dirty="0" lang="en-US" smtClean="0"/>
          </a:p>
          <a:p>
            <a:pPr>
              <a:buNone/>
            </a:pPr>
            <a:r>
              <a:rPr dirty="0" lang="en-US" smtClean="0"/>
              <a:t>		</a:t>
            </a:r>
            <a:endParaRPr dirty="0" lang="en-US"/>
          </a:p>
        </p:txBody>
      </p:sp>
      <p:sp>
        <p:nvSpPr>
          <p:cNvPr id="1049698" name="Action Button: Sound 4">
            <a:hlinkClick r:id="" action="ppaction://noaction" highlightClick="1">
              <a:snd r:embed="rId1" name="applause.wav"/>
            </a:hlinkClick>
          </p:cNvPr>
          <p:cNvSpPr/>
          <p:nvPr/>
        </p:nvSpPr>
        <p:spPr>
          <a:xfrm>
            <a:off x="6667500" y="3048000"/>
            <a:ext cx="1809750" cy="990600"/>
          </a:xfrm>
          <a:prstGeom prst="actionButtonSound"/>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2400" lang="en-US" smtClean="0">
                <a:solidFill>
                  <a:srgbClr val="FFFF00"/>
                </a:solidFill>
              </a:rPr>
              <a:t>examples</a:t>
            </a:r>
            <a:endParaRPr b="1" dirty="0" sz="2400" lang="en-US">
              <a:solidFill>
                <a:srgbClr val="FFFF00"/>
              </a:solidFill>
            </a:endParaRPr>
          </a:p>
        </p:txBody>
      </p:sp>
      <p:sp>
        <p:nvSpPr>
          <p:cNvPr id="1049699" name="Smiley Face 5"/>
          <p:cNvSpPr/>
          <p:nvPr/>
        </p:nvSpPr>
        <p:spPr>
          <a:xfrm>
            <a:off x="4572001" y="3962400"/>
            <a:ext cx="6381750" cy="2133600"/>
          </a:xfrm>
          <a:prstGeom prst="smileyFace"/>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3200" lang="en-US" smtClean="0">
                <a:solidFill>
                  <a:srgbClr val="FFC000"/>
                </a:solidFill>
                <a:effectLst>
                  <a:outerShdw algn="tl" blurRad="38100" dir="2700000" dist="38100">
                    <a:srgbClr val="000000">
                      <a:alpha val="43137"/>
                    </a:srgbClr>
                  </a:outerShdw>
                </a:effectLst>
              </a:rPr>
              <a:t>END</a:t>
            </a:r>
            <a:endParaRPr b="1" dirty="0" sz="3200" lang="en-US">
              <a:solidFill>
                <a:srgbClr val="FFC000"/>
              </a:solidFill>
              <a:effectLst>
                <a:outerShdw algn="tl" blurRad="38100" dir="2700000" dist="38100">
                  <a:srgbClr val="000000">
                    <a:alpha val="43137"/>
                  </a:srgbClr>
                </a:outerShdw>
              </a:effectLst>
            </a:endParaRPr>
          </a:p>
        </p:txBody>
      </p:sp>
      <p:cxnSp>
        <p:nvCxnSpPr>
          <p:cNvPr id="3145730" name="Curved Connector 8"/>
          <p:cNvCxnSpPr>
            <a:cxnSpLocks/>
          </p:cNvCxnSpPr>
          <p:nvPr/>
        </p:nvCxnSpPr>
        <p:spPr>
          <a:xfrm>
            <a:off x="6000751" y="3276600"/>
            <a:ext cx="1428750" cy="990600"/>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04970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1.xml><?xml version="1.0" encoding="utf-8"?>
<p:sld xmlns:a="http://schemas.openxmlformats.org/drawingml/2006/main" xmlns:r="http://schemas.openxmlformats.org/officeDocument/2006/relationships" xmlns:p="http://schemas.openxmlformats.org/presentationml/2006/main">
  <p:cSld>
    <p:bg>
      <p:bgPr>
        <a:blipFill>
          <a:blip xmlns:r="http://schemas.openxmlformats.org/officeDocument/2006/relationships" r:embed="rId1" cstate="print"/>
          <a:tile algn="tl" flip="none" sx="100000" sy="100000" tx="0" ty="0"/>
        </a:blipFill>
      </p:bgPr>
    </p:bg>
    <p:spTree>
      <p:nvGrpSpPr>
        <p:cNvPr id="1149" name=""/>
        <p:cNvGrpSpPr/>
        <p:nvPr/>
      </p:nvGrpSpPr>
      <p:grpSpPr>
        <a:xfrm>
          <a:off x="0" y="0"/>
          <a:ext cx="0" cy="0"/>
          <a:chOff x="0" y="0"/>
          <a:chExt cx="0" cy="0"/>
        </a:xfrm>
      </p:grpSpPr>
      <p:sp>
        <p:nvSpPr>
          <p:cNvPr id="1049705" name="Title 1"/>
          <p:cNvSpPr>
            <a:spLocks noGrp="1"/>
          </p:cNvSpPr>
          <p:nvPr>
            <p:ph type="title"/>
          </p:nvPr>
        </p:nvSpPr>
        <p:spPr>
          <a:xfrm>
            <a:off x="1524000" y="1143000"/>
            <a:ext cx="9334500" cy="2971800"/>
          </a:xfrm>
          <a:prstGeom prst="wedgeEllipseCallout"/>
          <a:scene3d>
            <a:camera prst="perspectiveRelaxedModerately"/>
            <a:lightRig dir="tl" rig="brightRoom">
              <a:rot lat="0" lon="0" rev="5400000"/>
            </a:lightRig>
          </a:scene3d>
          <a:sp3d contourW="12700">
            <a:bevelT w="25400" h="50800" prst="angle"/>
            <a:contourClr>
              <a:schemeClr val="accent1"/>
            </a:contourClr>
          </a:sp3d>
        </p:spPr>
        <p:style>
          <a:lnRef idx="0">
            <a:schemeClr val="accent1"/>
          </a:lnRef>
          <a:fillRef idx="3">
            <a:schemeClr val="accent1"/>
          </a:fillRef>
          <a:effectRef idx="3">
            <a:schemeClr val="accent1"/>
          </a:effectRef>
          <a:fontRef idx="minor">
            <a:schemeClr val="lt1"/>
          </a:fontRef>
        </p:style>
        <p:txBody>
          <a:bodyPr>
            <a:normAutofit/>
            <a:scene3d>
              <a:camera prst="orthographicFront">
                <a:rot lat="0" lon="0" rev="0"/>
              </a:camera>
              <a:lightRig dir="t" rig="contrasting">
                <a:rot lat="0" lon="0" rev="4500000"/>
              </a:lightRig>
            </a:scene3d>
            <a:sp3d contourW="6350" prstMaterial="metal">
              <a:bevelT w="127000" h="31750" prst="relaxedInset"/>
              <a:contourClr>
                <a:schemeClr val="accent1">
                  <a:shade val="75000"/>
                </a:schemeClr>
              </a:contourClr>
            </a:sp3d>
          </a:bodyPr>
          <a:p>
            <a:pPr algn="ctr"/>
            <a:r>
              <a:rPr b="1" cap="all" dirty="0" sz="5400" lang="en-US" smtClean="0">
                <a:ln w="0"/>
                <a:solidFill>
                  <a:srgbClr val="FFFF00"/>
                </a:solidFill>
                <a:effectLst>
                  <a:outerShdw algn="tl" blurRad="38100" dir="2700000" dist="38100">
                    <a:srgbClr val="000000">
                      <a:alpha val="43137"/>
                    </a:srgbClr>
                  </a:outerShdw>
                  <a:reflection blurRad="12700" dir="5400000" dist="5000" endPos="50000" rotWithShape="0" stA="50000" sy="-100000"/>
                </a:effectLst>
                <a:latin typeface="Algerian" pitchFamily="82" charset="0"/>
              </a:rPr>
              <a:t>CARDIAC  DISEASE</a:t>
            </a:r>
            <a:br>
              <a:rPr b="1" cap="all" dirty="0" sz="5400" lang="en-US" smtClean="0">
                <a:ln w="0"/>
                <a:solidFill>
                  <a:srgbClr val="FFFF00"/>
                </a:solidFill>
                <a:effectLst>
                  <a:outerShdw algn="tl" blurRad="38100" dir="2700000" dist="38100">
                    <a:srgbClr val="000000">
                      <a:alpha val="43137"/>
                    </a:srgbClr>
                  </a:outerShdw>
                  <a:reflection blurRad="12700" dir="5400000" dist="5000" endPos="50000" rotWithShape="0" stA="50000" sy="-100000"/>
                </a:effectLst>
                <a:latin typeface="Algerian" pitchFamily="82" charset="0"/>
              </a:rPr>
            </a:br>
            <a:r>
              <a:rPr b="1" cap="all" dirty="0" sz="5400" lang="en-US" smtClean="0">
                <a:ln w="0"/>
                <a:solidFill>
                  <a:srgbClr val="FFFF00"/>
                </a:solidFill>
                <a:effectLst>
                  <a:outerShdw algn="tl" blurRad="38100" dir="2700000" dist="38100">
                    <a:srgbClr val="000000">
                      <a:alpha val="43137"/>
                    </a:srgbClr>
                  </a:outerShdw>
                  <a:reflection blurRad="12700" dir="5400000" dist="5000" endPos="50000" rotWithShape="0" stA="50000" sy="-100000"/>
                </a:effectLst>
                <a:latin typeface="Algerian" pitchFamily="82" charset="0"/>
              </a:rPr>
              <a:t>	</a:t>
            </a:r>
            <a:endParaRPr b="1" cap="all" dirty="0" sz="5400" lang="en-US">
              <a:ln w="0"/>
              <a:solidFill>
                <a:srgbClr val="FFFF00"/>
              </a:solidFill>
              <a:effectLst>
                <a:outerShdw algn="tl" blurRad="38100" dir="2700000" dist="38100">
                  <a:srgbClr val="000000">
                    <a:alpha val="43137"/>
                  </a:srgbClr>
                </a:outerShdw>
                <a:reflection blurRad="12700" dir="5400000" dist="5000" endPos="50000" rotWithShape="0" stA="50000" sy="-100000"/>
              </a:effectLst>
              <a:latin typeface="Algerian" pitchFamily="82" charset="0"/>
            </a:endParaRPr>
          </a:p>
        </p:txBody>
      </p:sp>
      <p:sp>
        <p:nvSpPr>
          <p:cNvPr id="1049706"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2.xml><?xml version="1.0" encoding="utf-8"?>
<p:sld xmlns:a="http://schemas.openxmlformats.org/drawingml/2006/main" xmlns:r="http://schemas.openxmlformats.org/officeDocument/2006/relationships" xmlns:p="http://schemas.openxmlformats.org/presentationml/2006/main">
  <p:cSld>
    <p:bg>
      <p:bgPr>
        <a:blipFill>
          <a:blip xmlns:r="http://schemas.openxmlformats.org/officeDocument/2006/relationships" r:embed="rId1" cstate="print"/>
          <a:tile algn="tl" flip="none" sx="100000" sy="100000" tx="0" ty="0"/>
        </a:blipFill>
      </p:bgPr>
    </p:bg>
    <p:spTree>
      <p:nvGrpSpPr>
        <p:cNvPr id="1150" name=""/>
        <p:cNvGrpSpPr/>
        <p:nvPr/>
      </p:nvGrpSpPr>
      <p:grpSpPr>
        <a:xfrm>
          <a:off x="0" y="0"/>
          <a:ext cx="0" cy="0"/>
          <a:chOff x="0" y="0"/>
          <a:chExt cx="0" cy="0"/>
        </a:xfrm>
      </p:grpSpPr>
      <p:sp>
        <p:nvSpPr>
          <p:cNvPr id="1049707" name="Title 1"/>
          <p:cNvSpPr>
            <a:spLocks noGrp="1"/>
          </p:cNvSpPr>
          <p:nvPr>
            <p:ph type="title"/>
          </p:nvPr>
        </p:nvSpPr>
        <p:spPr/>
        <p:txBody>
          <a:bodyPr/>
          <a:p>
            <a:r>
              <a:rPr b="1" dirty="0" lang="en-US" smtClean="0">
                <a:solidFill>
                  <a:schemeClr val="bg2">
                    <a:lumMod val="50000"/>
                  </a:schemeClr>
                </a:solidFill>
              </a:rPr>
              <a:t>OBJECTIVES</a:t>
            </a:r>
            <a:endParaRPr b="1" dirty="0" lang="en-US">
              <a:solidFill>
                <a:schemeClr val="bg2">
                  <a:lumMod val="50000"/>
                </a:schemeClr>
              </a:solidFill>
            </a:endParaRPr>
          </a:p>
        </p:txBody>
      </p:sp>
      <p:sp>
        <p:nvSpPr>
          <p:cNvPr id="1049708" name="Content Placeholder 2"/>
          <p:cNvSpPr>
            <a:spLocks noGrp="1"/>
          </p:cNvSpPr>
          <p:nvPr>
            <p:ph idx="1"/>
          </p:nvPr>
        </p:nvSpPr>
        <p:spPr/>
        <p:txBody>
          <a:bodyPr>
            <a:normAutofit fontScale="92500" lnSpcReduction="20000"/>
          </a:bodyPr>
          <a:p>
            <a:pPr>
              <a:buNone/>
            </a:pPr>
            <a:r>
              <a:rPr dirty="0" lang="en-US" smtClean="0"/>
              <a:t>	By the end of the session will have understood the following:</a:t>
            </a:r>
          </a:p>
          <a:p>
            <a:pPr>
              <a:buFont typeface="Wingdings" pitchFamily="2" charset="2"/>
              <a:buChar char="v"/>
            </a:pPr>
            <a:r>
              <a:rPr dirty="0" lang="en-US" smtClean="0"/>
              <a:t>Definition</a:t>
            </a:r>
          </a:p>
          <a:p>
            <a:pPr>
              <a:buFont typeface="Wingdings" pitchFamily="2" charset="2"/>
              <a:buChar char="v"/>
            </a:pPr>
            <a:r>
              <a:rPr dirty="0" lang="en-US" smtClean="0"/>
              <a:t>Determiners of positive outcome</a:t>
            </a:r>
          </a:p>
          <a:p>
            <a:pPr>
              <a:buFont typeface="Wingdings" pitchFamily="2" charset="2"/>
              <a:buChar char="v"/>
            </a:pPr>
            <a:r>
              <a:rPr dirty="0" lang="en-US" smtClean="0"/>
              <a:t>Major predisposing factors</a:t>
            </a:r>
          </a:p>
          <a:p>
            <a:pPr>
              <a:buFont typeface="Wingdings" pitchFamily="2" charset="2"/>
              <a:buChar char="v"/>
            </a:pPr>
            <a:r>
              <a:rPr dirty="0" lang="en-US" smtClean="0"/>
              <a:t>Clinical features</a:t>
            </a:r>
          </a:p>
          <a:p>
            <a:pPr>
              <a:buFont typeface="Wingdings" pitchFamily="2" charset="2"/>
              <a:buChar char="v"/>
            </a:pPr>
            <a:r>
              <a:rPr dirty="0" lang="en-US" smtClean="0"/>
              <a:t>Diagnostic factors</a:t>
            </a:r>
          </a:p>
          <a:p>
            <a:pPr>
              <a:buFont typeface="Wingdings" pitchFamily="2" charset="2"/>
              <a:buChar char="v"/>
            </a:pPr>
            <a:r>
              <a:rPr dirty="0" lang="en-US" smtClean="0"/>
              <a:t>Classification</a:t>
            </a:r>
          </a:p>
          <a:p>
            <a:pPr>
              <a:buFont typeface="Wingdings" pitchFamily="2" charset="2"/>
              <a:buChar char="v"/>
            </a:pPr>
            <a:r>
              <a:rPr dirty="0" lang="en-US" smtClean="0"/>
              <a:t>Specific management</a:t>
            </a:r>
          </a:p>
          <a:p>
            <a:pPr>
              <a:buFont typeface="Wingdings" pitchFamily="2" charset="2"/>
              <a:buChar char="v"/>
            </a:pPr>
            <a:r>
              <a:rPr dirty="0" lang="en-US" smtClean="0"/>
              <a:t>Effects of cardiac disease on pregnancy &amp; vice versa</a:t>
            </a:r>
            <a:endParaRPr dirty="0" lang="en-US"/>
          </a:p>
        </p:txBody>
      </p:sp>
      <p:sp>
        <p:nvSpPr>
          <p:cNvPr id="104970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3.xml><?xml version="1.0" encoding="utf-8"?>
<p:sld xmlns:a="http://schemas.openxmlformats.org/drawingml/2006/main" xmlns:r="http://schemas.openxmlformats.org/officeDocument/2006/relationships" xmlns:p="http://schemas.openxmlformats.org/presentationml/2006/main">
  <p:cSld>
    <p:bg>
      <p:bgPr>
        <a:blipFill>
          <a:blip xmlns:r="http://schemas.openxmlformats.org/officeDocument/2006/relationships" r:embed="rId1" cstate="print"/>
          <a:tile algn="tl" flip="none" sx="100000" sy="100000" tx="0" ty="0"/>
        </a:blipFill>
      </p:bgPr>
    </p:bg>
    <p:spTree>
      <p:nvGrpSpPr>
        <p:cNvPr id="1151" name=""/>
        <p:cNvGrpSpPr/>
        <p:nvPr/>
      </p:nvGrpSpPr>
      <p:grpSpPr>
        <a:xfrm>
          <a:off x="0" y="0"/>
          <a:ext cx="0" cy="0"/>
          <a:chOff x="0" y="0"/>
          <a:chExt cx="0" cy="0"/>
        </a:xfrm>
      </p:grpSpPr>
      <p:sp>
        <p:nvSpPr>
          <p:cNvPr id="1049710" name="Title 1"/>
          <p:cNvSpPr>
            <a:spLocks noGrp="1"/>
          </p:cNvSpPr>
          <p:nvPr>
            <p:ph type="title"/>
          </p:nvPr>
        </p:nvSpPr>
        <p:spPr/>
        <p:txBody>
          <a:bodyPr/>
          <a:p>
            <a:r>
              <a:rPr dirty="0" lang="en-US" smtClean="0"/>
              <a:t>		</a:t>
            </a:r>
            <a:r>
              <a:rPr b="1" dirty="0" lang="en-US" smtClean="0">
                <a:solidFill>
                  <a:schemeClr val="bg2">
                    <a:lumMod val="50000"/>
                  </a:schemeClr>
                </a:solidFill>
              </a:rPr>
              <a:t> DEFINITION</a:t>
            </a:r>
            <a:endParaRPr dirty="0" lang="en-US"/>
          </a:p>
        </p:txBody>
      </p:sp>
      <p:sp>
        <p:nvSpPr>
          <p:cNvPr id="1049711" name="Content Placeholder 2"/>
          <p:cNvSpPr>
            <a:spLocks noGrp="1"/>
          </p:cNvSpPr>
          <p:nvPr>
            <p:ph idx="1"/>
          </p:nvPr>
        </p:nvSpPr>
        <p:spPr/>
        <p:txBody>
          <a:bodyPr>
            <a:normAutofit/>
          </a:bodyPr>
          <a:p>
            <a:r>
              <a:rPr dirty="0" sz="4000" lang="en-US" smtClean="0"/>
              <a:t>Refers to any form of heart ailment ,which is severely affected by physiological changes  prenatally, since it doesn’t  have  reserved energy.</a:t>
            </a:r>
            <a:endParaRPr dirty="0" sz="4000" lang="en-US"/>
          </a:p>
        </p:txBody>
      </p:sp>
      <p:sp>
        <p:nvSpPr>
          <p:cNvPr id="104971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4.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52" name=""/>
        <p:cNvGrpSpPr/>
        <p:nvPr/>
      </p:nvGrpSpPr>
      <p:grpSpPr>
        <a:xfrm>
          <a:off x="0" y="0"/>
          <a:ext cx="0" cy="0"/>
          <a:chOff x="0" y="0"/>
          <a:chExt cx="0" cy="0"/>
        </a:xfrm>
      </p:grpSpPr>
      <p:sp>
        <p:nvSpPr>
          <p:cNvPr id="1049713" name="Title 1"/>
          <p:cNvSpPr>
            <a:spLocks noGrp="1"/>
          </p:cNvSpPr>
          <p:nvPr>
            <p:ph type="title"/>
          </p:nvPr>
        </p:nvSpPr>
        <p:spPr>
          <a:xfrm>
            <a:off x="1238251" y="457200"/>
            <a:ext cx="9525000" cy="1371600"/>
          </a:xfrm>
        </p:spPr>
        <p:txBody>
          <a:bodyPr>
            <a:normAutofit fontScale="90000"/>
          </a:bodyPr>
          <a:p>
            <a:r>
              <a:rPr dirty="0" lang="en-US" smtClean="0"/>
              <a:t/>
            </a:r>
            <a:br>
              <a:rPr dirty="0" lang="en-US" smtClean="0"/>
            </a:br>
            <a:r>
              <a:rPr b="1" dirty="0" lang="en-US" smtClean="0">
                <a:solidFill>
                  <a:schemeClr val="bg2">
                    <a:lumMod val="50000"/>
                  </a:schemeClr>
                </a:solidFill>
              </a:rPr>
              <a:t/>
            </a:r>
            <a:br>
              <a:rPr b="1" dirty="0" lang="en-US" smtClean="0">
                <a:solidFill>
                  <a:schemeClr val="bg2">
                    <a:lumMod val="50000"/>
                  </a:schemeClr>
                </a:solidFill>
              </a:rPr>
            </a:br>
            <a:r>
              <a:rPr b="1" dirty="0" lang="en-US" smtClean="0">
                <a:solidFill>
                  <a:schemeClr val="bg2">
                    <a:lumMod val="50000"/>
                  </a:schemeClr>
                </a:solidFill>
              </a:rPr>
              <a:t>Determiners   Of   Positive Outcome.          </a:t>
            </a:r>
            <a:r>
              <a:rPr dirty="0" lang="en-US" smtClean="0"/>
              <a:t/>
            </a:r>
            <a:br>
              <a:rPr dirty="0" lang="en-US" smtClean="0"/>
            </a:br>
            <a:r>
              <a:rPr dirty="0" lang="en-US" smtClean="0"/>
              <a:t>		</a:t>
            </a:r>
            <a:br>
              <a:rPr dirty="0" lang="en-US" smtClean="0"/>
            </a:br>
            <a:endParaRPr dirty="0" lang="en-US"/>
          </a:p>
        </p:txBody>
      </p:sp>
      <p:sp>
        <p:nvSpPr>
          <p:cNvPr id="1049714" name="Content Placeholder 2"/>
          <p:cNvSpPr>
            <a:spLocks noGrp="1"/>
          </p:cNvSpPr>
          <p:nvPr>
            <p:ph idx="1"/>
          </p:nvPr>
        </p:nvSpPr>
        <p:spPr>
          <a:xfrm>
            <a:off x="1047750" y="1828800"/>
            <a:ext cx="10119360" cy="4419600"/>
          </a:xfrm>
        </p:spPr>
        <p:txBody>
          <a:bodyPr>
            <a:normAutofit/>
          </a:bodyPr>
          <a:p>
            <a:r>
              <a:rPr dirty="0" sz="3200" lang="en-US" smtClean="0"/>
              <a:t>Specific nature of the lesion and its effect to the heart’s functional capacity.</a:t>
            </a:r>
          </a:p>
          <a:p>
            <a:r>
              <a:rPr dirty="0" sz="3200" lang="en-US" smtClean="0"/>
              <a:t>Absence of complications  </a:t>
            </a:r>
            <a:r>
              <a:rPr dirty="0" sz="3200" lang="en-US" err="1" smtClean="0"/>
              <a:t>e.g</a:t>
            </a:r>
            <a:r>
              <a:rPr dirty="0" sz="3200" lang="en-US" smtClean="0"/>
              <a:t> thrombosis &amp; haemorrhage= to increase of the heart’s workload.</a:t>
            </a:r>
          </a:p>
          <a:p>
            <a:r>
              <a:rPr dirty="0" sz="3200" lang="en-US" smtClean="0"/>
              <a:t>Quality of services in terms specialised personnel and physical facilities  to handle emergencies  e.g. ICU &amp; HDU( high dependency unit).     </a:t>
            </a:r>
            <a:endParaRPr dirty="0" sz="3200" lang="en-US"/>
          </a:p>
        </p:txBody>
      </p:sp>
      <p:sp>
        <p:nvSpPr>
          <p:cNvPr id="104971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5.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53" name=""/>
        <p:cNvGrpSpPr/>
        <p:nvPr/>
      </p:nvGrpSpPr>
      <p:grpSpPr>
        <a:xfrm>
          <a:off x="0" y="0"/>
          <a:ext cx="0" cy="0"/>
          <a:chOff x="0" y="0"/>
          <a:chExt cx="0" cy="0"/>
        </a:xfrm>
      </p:grpSpPr>
      <p:sp>
        <p:nvSpPr>
          <p:cNvPr id="1049716" name="Content Placeholder 2"/>
          <p:cNvSpPr>
            <a:spLocks noGrp="1"/>
          </p:cNvSpPr>
          <p:nvPr>
            <p:ph idx="1"/>
          </p:nvPr>
        </p:nvSpPr>
        <p:spPr>
          <a:xfrm>
            <a:off x="1333500" y="152400"/>
            <a:ext cx="9525000" cy="6477000"/>
          </a:xfrm>
        </p:spPr>
        <p:txBody>
          <a:bodyPr>
            <a:noAutofit/>
          </a:bodyPr>
          <a:p>
            <a:r>
              <a:rPr dirty="0" sz="3000" lang="en-US" smtClean="0"/>
              <a:t>Her knowledge and attitude ( psychological capability) towards the condition, in relationship  to pregnancy state. </a:t>
            </a:r>
          </a:p>
          <a:p>
            <a:pPr>
              <a:buNone/>
            </a:pPr>
            <a:r>
              <a:rPr dirty="0" sz="3000" lang="en-US" smtClean="0"/>
              <a:t>	</a:t>
            </a:r>
            <a:r>
              <a:rPr b="1" dirty="0" sz="3000" lang="en-US" u="sng" smtClean="0">
                <a:solidFill>
                  <a:schemeClr val="bg2">
                    <a:lumMod val="50000"/>
                  </a:schemeClr>
                </a:solidFill>
              </a:rPr>
              <a:t>MAJOR  PREDISPOSING  FACTORS</a:t>
            </a:r>
          </a:p>
          <a:p>
            <a:r>
              <a:rPr dirty="0" sz="3000" lang="en-US" smtClean="0"/>
              <a:t>Rheumatic  heart disease : Mostly from a streptococcal infection during childhood, leading to inflammation &amp; scarring of the heart valves.</a:t>
            </a:r>
          </a:p>
          <a:p>
            <a:pPr>
              <a:buFont typeface="Wingdings" pitchFamily="2" charset="2"/>
              <a:buChar char="Ø"/>
            </a:pPr>
            <a:r>
              <a:rPr dirty="0" sz="3000" lang="en-US" smtClean="0"/>
              <a:t>Stenosis occurs in  2/3(two –thirds) of the cases</a:t>
            </a:r>
          </a:p>
          <a:p>
            <a:pPr>
              <a:buFont typeface="Wingdings" pitchFamily="2" charset="2"/>
              <a:buChar char="Ø"/>
            </a:pPr>
            <a:r>
              <a:rPr dirty="0" sz="3000" lang="en-US" smtClean="0"/>
              <a:t>Incompetence occurs in 1/3 (a third).</a:t>
            </a:r>
          </a:p>
          <a:p>
            <a:pPr>
              <a:buFont typeface="Wingdings" pitchFamily="2" charset="2"/>
              <a:buChar char="ü"/>
            </a:pPr>
            <a:r>
              <a:rPr dirty="0" sz="3000" lang="en-US" smtClean="0"/>
              <a:t>The condition may be asymptomatic.  </a:t>
            </a:r>
            <a:endParaRPr dirty="0" sz="3000" lang="en-US"/>
          </a:p>
        </p:txBody>
      </p:sp>
      <p:sp>
        <p:nvSpPr>
          <p:cNvPr id="104971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6.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56" name=""/>
        <p:cNvGrpSpPr/>
        <p:nvPr/>
      </p:nvGrpSpPr>
      <p:grpSpPr>
        <a:xfrm>
          <a:off x="0" y="0"/>
          <a:ext cx="0" cy="0"/>
          <a:chOff x="0" y="0"/>
          <a:chExt cx="0" cy="0"/>
        </a:xfrm>
      </p:grpSpPr>
      <p:sp>
        <p:nvSpPr>
          <p:cNvPr id="1049721" name="Content Placeholder 2"/>
          <p:cNvSpPr>
            <a:spLocks noGrp="1"/>
          </p:cNvSpPr>
          <p:nvPr>
            <p:ph idx="1"/>
          </p:nvPr>
        </p:nvSpPr>
        <p:spPr>
          <a:xfrm>
            <a:off x="1238250" y="381000"/>
            <a:ext cx="9620250" cy="5943600"/>
          </a:xfrm>
        </p:spPr>
        <p:txBody>
          <a:bodyPr>
            <a:noAutofit/>
          </a:bodyPr>
          <a:p>
            <a:r>
              <a:rPr dirty="0" sz="3200" lang="en-US" smtClean="0"/>
              <a:t>Ischaemic heart disease: characterised by either angina pectoris or myocardial infarction.</a:t>
            </a:r>
          </a:p>
          <a:p>
            <a:r>
              <a:rPr dirty="0" sz="3200" lang="en-US" smtClean="0"/>
              <a:t>Congenital heart disease e.g. ASD, VSD, PDA, pulmonary </a:t>
            </a:r>
            <a:r>
              <a:rPr dirty="0" sz="3200" lang="en-US" err="1" smtClean="0"/>
              <a:t>stenosis</a:t>
            </a:r>
            <a:r>
              <a:rPr dirty="0" sz="3200" lang="en-US" smtClean="0"/>
              <a:t>, aortic </a:t>
            </a:r>
            <a:r>
              <a:rPr dirty="0" sz="3200" lang="en-US" err="1" smtClean="0"/>
              <a:t>stenosis</a:t>
            </a:r>
            <a:r>
              <a:rPr dirty="0" sz="3200" lang="en-US" smtClean="0"/>
              <a:t> and Fallot’s tetrallogy.uncorrected = to severe LT ventricular failure.</a:t>
            </a:r>
          </a:p>
          <a:p>
            <a:r>
              <a:rPr dirty="0" sz="3200" lang="en-US" smtClean="0"/>
              <a:t>Severe anaemia: perhaps from chronic condition like sickle cell and thalasseamia major= deterioration of heart functions</a:t>
            </a:r>
          </a:p>
          <a:p>
            <a:endParaRPr dirty="0" sz="3200" lang="en-US"/>
          </a:p>
        </p:txBody>
      </p:sp>
      <p:sp>
        <p:nvSpPr>
          <p:cNvPr id="104972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7.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57" name=""/>
        <p:cNvGrpSpPr/>
        <p:nvPr/>
      </p:nvGrpSpPr>
      <p:grpSpPr>
        <a:xfrm>
          <a:off x="0" y="0"/>
          <a:ext cx="0" cy="0"/>
          <a:chOff x="0" y="0"/>
          <a:chExt cx="0" cy="0"/>
        </a:xfrm>
      </p:grpSpPr>
      <p:sp>
        <p:nvSpPr>
          <p:cNvPr id="1049723" name="Content Placeholder 2"/>
          <p:cNvSpPr>
            <a:spLocks noGrp="1"/>
          </p:cNvSpPr>
          <p:nvPr>
            <p:ph idx="1"/>
          </p:nvPr>
        </p:nvSpPr>
        <p:spPr>
          <a:xfrm>
            <a:off x="1428751" y="228600"/>
            <a:ext cx="9738359" cy="6019800"/>
          </a:xfrm>
        </p:spPr>
        <p:txBody>
          <a:bodyPr>
            <a:normAutofit/>
          </a:bodyPr>
          <a:p>
            <a:r>
              <a:rPr dirty="0" sz="3600" lang="en-US" smtClean="0"/>
              <a:t>Obesity; because the heart have to pump harder to maintain systemic circulation.</a:t>
            </a:r>
          </a:p>
          <a:p>
            <a:r>
              <a:rPr dirty="0" sz="3600" lang="en-US" smtClean="0"/>
              <a:t>Smoking; due to vasoconstriction effect hence raised workload of the heart.</a:t>
            </a:r>
          </a:p>
          <a:p>
            <a:r>
              <a:rPr dirty="0" sz="3600" lang="en-US" smtClean="0"/>
              <a:t>Uncontrolled &amp; chronic hypertension; since the vessels are constricted for a long time.</a:t>
            </a:r>
          </a:p>
          <a:p>
            <a:endParaRPr dirty="0" sz="2800" lang="en-US" smtClean="0"/>
          </a:p>
          <a:p>
            <a:pPr>
              <a:buNone/>
            </a:pPr>
            <a:endParaRPr dirty="0" sz="2800" lang="en-US"/>
          </a:p>
        </p:txBody>
      </p:sp>
      <p:sp>
        <p:nvSpPr>
          <p:cNvPr id="104972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8.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58" name=""/>
        <p:cNvGrpSpPr/>
        <p:nvPr/>
      </p:nvGrpSpPr>
      <p:grpSpPr>
        <a:xfrm>
          <a:off x="0" y="0"/>
          <a:ext cx="0" cy="0"/>
          <a:chOff x="0" y="0"/>
          <a:chExt cx="0" cy="0"/>
        </a:xfrm>
      </p:grpSpPr>
      <p:sp>
        <p:nvSpPr>
          <p:cNvPr id="1049725" name="Title 1"/>
          <p:cNvSpPr>
            <a:spLocks noGrp="1"/>
          </p:cNvSpPr>
          <p:nvPr>
            <p:ph type="title"/>
          </p:nvPr>
        </p:nvSpPr>
        <p:spPr/>
        <p:txBody>
          <a:bodyPr/>
          <a:p>
            <a:r>
              <a:rPr b="1" dirty="0" lang="en-US" smtClean="0">
                <a:solidFill>
                  <a:schemeClr val="bg2">
                    <a:lumMod val="50000"/>
                  </a:schemeClr>
                </a:solidFill>
              </a:rPr>
              <a:t>    CLINICAL FEATURES</a:t>
            </a:r>
            <a:endParaRPr dirty="0" lang="en-US"/>
          </a:p>
        </p:txBody>
      </p:sp>
      <p:sp>
        <p:nvSpPr>
          <p:cNvPr id="1049726" name="Content Placeholder 2"/>
          <p:cNvSpPr>
            <a:spLocks noGrp="1"/>
          </p:cNvSpPr>
          <p:nvPr>
            <p:ph idx="1"/>
          </p:nvPr>
        </p:nvSpPr>
        <p:spPr>
          <a:xfrm>
            <a:off x="1238250" y="1600200"/>
            <a:ext cx="9620250" cy="4873752"/>
          </a:xfrm>
        </p:spPr>
        <p:txBody>
          <a:bodyPr>
            <a:normAutofit/>
          </a:bodyPr>
          <a:p>
            <a:r>
              <a:rPr dirty="0" sz="3100" lang="en-US" smtClean="0"/>
              <a:t>Breathlessness (shortness of breath) because of pulmonary oedema.</a:t>
            </a:r>
          </a:p>
          <a:p>
            <a:r>
              <a:rPr dirty="0" sz="3100" lang="en-US" smtClean="0"/>
              <a:t>Easy fatiguability, due to inadequate oxygen supply.</a:t>
            </a:r>
          </a:p>
          <a:p>
            <a:r>
              <a:rPr dirty="0" sz="3100" lang="en-US" smtClean="0"/>
              <a:t>Development of peripheral eodema, due to renal functions impairment &amp; poor venous return.</a:t>
            </a:r>
          </a:p>
          <a:p>
            <a:r>
              <a:rPr dirty="0" sz="3100" lang="en-US" smtClean="0"/>
              <a:t>Palpitations, as the heart overwork.</a:t>
            </a:r>
          </a:p>
          <a:p>
            <a:r>
              <a:rPr dirty="0" sz="3100" lang="en-US" smtClean="0"/>
              <a:t>Chest pain, due to reduced blood supply to the heart muscle.</a:t>
            </a:r>
          </a:p>
          <a:p>
            <a:endParaRPr dirty="0" sz="3100" lang="en-US"/>
          </a:p>
        </p:txBody>
      </p:sp>
      <p:sp>
        <p:nvSpPr>
          <p:cNvPr id="104972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89.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59" name=""/>
        <p:cNvGrpSpPr/>
        <p:nvPr/>
      </p:nvGrpSpPr>
      <p:grpSpPr>
        <a:xfrm>
          <a:off x="0" y="0"/>
          <a:ext cx="0" cy="0"/>
          <a:chOff x="0" y="0"/>
          <a:chExt cx="0" cy="0"/>
        </a:xfrm>
      </p:grpSpPr>
      <p:sp>
        <p:nvSpPr>
          <p:cNvPr id="1049728" name="Content Placeholder 2"/>
          <p:cNvSpPr>
            <a:spLocks noGrp="1"/>
          </p:cNvSpPr>
          <p:nvPr>
            <p:ph idx="1"/>
          </p:nvPr>
        </p:nvSpPr>
        <p:spPr>
          <a:xfrm>
            <a:off x="1333501" y="304800"/>
            <a:ext cx="9833609" cy="5943600"/>
          </a:xfrm>
        </p:spPr>
        <p:txBody>
          <a:bodyPr>
            <a:normAutofit/>
          </a:bodyPr>
          <a:p>
            <a:r>
              <a:rPr dirty="0" sz="3200" lang="en-US" smtClean="0"/>
              <a:t>Tachycardia of irregular rhythm.</a:t>
            </a:r>
          </a:p>
          <a:p>
            <a:r>
              <a:rPr dirty="0" sz="3200" lang="en-US" smtClean="0"/>
              <a:t>Raised (distended) jugular veins.</a:t>
            </a:r>
          </a:p>
          <a:p>
            <a:r>
              <a:rPr dirty="0" sz="3200" lang="en-US" smtClean="0"/>
              <a:t>Presence of a murmur on auscultation and a thrill on palpation of the pericardial region.</a:t>
            </a:r>
          </a:p>
          <a:p>
            <a:r>
              <a:rPr dirty="0" sz="3200" lang="en-US" smtClean="0"/>
              <a:t>Progressive limitation of physical activity.</a:t>
            </a:r>
          </a:p>
          <a:p>
            <a:r>
              <a:rPr dirty="0" sz="3200" lang="en-US" smtClean="0"/>
              <a:t>Ascites, basal crepitation and hepatomegally in extreme cases.</a:t>
            </a:r>
          </a:p>
          <a:p>
            <a:endParaRPr dirty="0" sz="3200" lang="en-US"/>
          </a:p>
        </p:txBody>
      </p:sp>
      <p:sp>
        <p:nvSpPr>
          <p:cNvPr id="104972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0.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60" name=""/>
        <p:cNvGrpSpPr/>
        <p:nvPr/>
      </p:nvGrpSpPr>
      <p:grpSpPr>
        <a:xfrm>
          <a:off x="0" y="0"/>
          <a:ext cx="0" cy="0"/>
          <a:chOff x="0" y="0"/>
          <a:chExt cx="0" cy="0"/>
        </a:xfrm>
      </p:grpSpPr>
      <p:sp>
        <p:nvSpPr>
          <p:cNvPr id="1049730" name="Title 1"/>
          <p:cNvSpPr>
            <a:spLocks noGrp="1"/>
          </p:cNvSpPr>
          <p:nvPr>
            <p:ph type="title"/>
          </p:nvPr>
        </p:nvSpPr>
        <p:spPr/>
        <p:txBody>
          <a:bodyPr>
            <a:normAutofit/>
          </a:bodyPr>
          <a:p>
            <a:r>
              <a:rPr dirty="0" lang="en-US" smtClean="0"/>
              <a:t>	</a:t>
            </a:r>
            <a:r>
              <a:rPr b="1" dirty="0" lang="en-US" smtClean="0">
                <a:solidFill>
                  <a:schemeClr val="bg2">
                    <a:lumMod val="50000"/>
                  </a:schemeClr>
                </a:solidFill>
              </a:rPr>
              <a:t> DIAGNOSTIC  FACTORS</a:t>
            </a:r>
            <a:endParaRPr dirty="0" lang="en-US"/>
          </a:p>
        </p:txBody>
      </p:sp>
      <p:sp>
        <p:nvSpPr>
          <p:cNvPr id="1049731" name="Content Placeholder 2"/>
          <p:cNvSpPr>
            <a:spLocks noGrp="1"/>
          </p:cNvSpPr>
          <p:nvPr>
            <p:ph idx="1"/>
          </p:nvPr>
        </p:nvSpPr>
        <p:spPr>
          <a:xfrm>
            <a:off x="1238250" y="1295400"/>
            <a:ext cx="9620250" cy="5181600"/>
          </a:xfrm>
        </p:spPr>
        <p:txBody>
          <a:bodyPr>
            <a:normAutofit/>
          </a:bodyPr>
          <a:p>
            <a:r>
              <a:rPr dirty="0" sz="3200" lang="en-US" smtClean="0"/>
              <a:t>History and physical examination results.</a:t>
            </a:r>
          </a:p>
          <a:p>
            <a:r>
              <a:rPr dirty="0" sz="3200" lang="en-US" smtClean="0"/>
              <a:t>Laboratory tests; </a:t>
            </a:r>
          </a:p>
          <a:p>
            <a:pPr>
              <a:buFont typeface="Wingdings" pitchFamily="2" charset="2"/>
              <a:buChar char="Ø"/>
            </a:pPr>
            <a:r>
              <a:rPr dirty="0" sz="3200" lang="en-US" smtClean="0"/>
              <a:t>Full blood count for anaemia &amp; signs of infection.</a:t>
            </a:r>
          </a:p>
          <a:p>
            <a:pPr>
              <a:buFont typeface="Wingdings" pitchFamily="2" charset="2"/>
              <a:buChar char="Ø"/>
            </a:pPr>
            <a:r>
              <a:rPr dirty="0" sz="3200" lang="en-US" smtClean="0"/>
              <a:t>Clotting studies for possibility of  DVT.</a:t>
            </a:r>
          </a:p>
          <a:p>
            <a:r>
              <a:rPr dirty="0" sz="3200" lang="en-US" smtClean="0"/>
              <a:t>Electrocardiogram(ECG) –abn.  Tracing.</a:t>
            </a:r>
          </a:p>
          <a:p>
            <a:r>
              <a:rPr dirty="0" sz="3200" lang="en-US" smtClean="0"/>
              <a:t>Radiological examination:</a:t>
            </a:r>
          </a:p>
          <a:p>
            <a:pPr>
              <a:buFont typeface="Wingdings" pitchFamily="2" charset="2"/>
              <a:buChar char="Ø"/>
            </a:pPr>
            <a:r>
              <a:rPr dirty="0" sz="3200" lang="en-US" smtClean="0"/>
              <a:t>Echocardiography =Ultrasound of the heart.</a:t>
            </a:r>
          </a:p>
          <a:p>
            <a:pPr>
              <a:buFont typeface="Wingdings" pitchFamily="2" charset="2"/>
              <a:buChar char="Ø"/>
            </a:pPr>
            <a:r>
              <a:rPr dirty="0" sz="3200" lang="en-US" smtClean="0"/>
              <a:t>Chest X- ray in absence of ultrasound, only shows the size of the heart.</a:t>
            </a:r>
          </a:p>
          <a:p>
            <a:pPr>
              <a:buFont typeface="Wingdings" pitchFamily="2" charset="2"/>
              <a:buChar char="Ø"/>
            </a:pPr>
            <a:endParaRPr dirty="0" sz="3200" lang="en-US"/>
          </a:p>
        </p:txBody>
      </p:sp>
      <p:sp>
        <p:nvSpPr>
          <p:cNvPr id="104973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1.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63" name=""/>
        <p:cNvGrpSpPr/>
        <p:nvPr/>
      </p:nvGrpSpPr>
      <p:grpSpPr>
        <a:xfrm>
          <a:off x="0" y="0"/>
          <a:ext cx="0" cy="0"/>
          <a:chOff x="0" y="0"/>
          <a:chExt cx="0" cy="0"/>
        </a:xfrm>
      </p:grpSpPr>
      <p:sp>
        <p:nvSpPr>
          <p:cNvPr id="1049736" name="Title 1"/>
          <p:cNvSpPr>
            <a:spLocks noGrp="1"/>
          </p:cNvSpPr>
          <p:nvPr>
            <p:ph type="title"/>
          </p:nvPr>
        </p:nvSpPr>
        <p:spPr>
          <a:xfrm>
            <a:off x="1752600" y="0"/>
            <a:ext cx="9372600" cy="1143000"/>
          </a:xfrm>
        </p:spPr>
        <p:txBody>
          <a:bodyPr/>
          <a:p>
            <a:r>
              <a:rPr dirty="0" lang="en-US" smtClean="0"/>
              <a:t>		</a:t>
            </a:r>
            <a:r>
              <a:rPr b="1" dirty="0" lang="en-US" smtClean="0">
                <a:solidFill>
                  <a:schemeClr val="bg2">
                    <a:lumMod val="50000"/>
                  </a:schemeClr>
                </a:solidFill>
              </a:rPr>
              <a:t>CLASSIFICATION</a:t>
            </a:r>
            <a:endParaRPr b="1" dirty="0" lang="en-US">
              <a:solidFill>
                <a:schemeClr val="bg2">
                  <a:lumMod val="50000"/>
                </a:schemeClr>
              </a:solidFill>
            </a:endParaRPr>
          </a:p>
        </p:txBody>
      </p:sp>
      <p:sp>
        <p:nvSpPr>
          <p:cNvPr id="1049737" name="Content Placeholder 2"/>
          <p:cNvSpPr>
            <a:spLocks noGrp="1"/>
          </p:cNvSpPr>
          <p:nvPr>
            <p:ph idx="1"/>
          </p:nvPr>
        </p:nvSpPr>
        <p:spPr>
          <a:xfrm>
            <a:off x="1238251" y="1219200"/>
            <a:ext cx="9810750" cy="5257800"/>
          </a:xfrm>
        </p:spPr>
        <p:txBody>
          <a:bodyPr>
            <a:noAutofit/>
          </a:bodyPr>
          <a:p>
            <a:pPr>
              <a:buFont typeface="Wingdings" pitchFamily="2" charset="2"/>
              <a:buChar char="v"/>
            </a:pPr>
            <a:r>
              <a:rPr dirty="0" sz="2900" lang="en-US" smtClean="0"/>
              <a:t>Based on the level/ amount of physical activity  the patient can undertake comfortably.</a:t>
            </a:r>
          </a:p>
          <a:p>
            <a:r>
              <a:rPr b="1" dirty="0" sz="2900" lang="en-US" smtClean="0"/>
              <a:t>Grade (class) 1</a:t>
            </a:r>
            <a:r>
              <a:rPr dirty="0" sz="2900" lang="en-US" smtClean="0"/>
              <a:t>: Also referred to as organic heart disease.</a:t>
            </a:r>
          </a:p>
          <a:p>
            <a:pPr>
              <a:buFont typeface="Wingdings" pitchFamily="2" charset="2"/>
              <a:buChar char="Ø"/>
            </a:pPr>
            <a:r>
              <a:rPr dirty="0" sz="2900" lang="en-US" smtClean="0"/>
              <a:t>There is </a:t>
            </a:r>
            <a:r>
              <a:rPr dirty="0" sz="2900" i="1" lang="en-US" smtClean="0"/>
              <a:t>no limitation </a:t>
            </a:r>
            <a:r>
              <a:rPr dirty="0" sz="2900" lang="en-US" smtClean="0"/>
              <a:t>of physical activity= the PT is asymptomatic.</a:t>
            </a:r>
          </a:p>
          <a:p>
            <a:pPr>
              <a:buFont typeface="Wingdings" pitchFamily="2" charset="2"/>
              <a:buChar char="Ø"/>
            </a:pPr>
            <a:r>
              <a:rPr dirty="0" sz="2900" lang="en-US" smtClean="0"/>
              <a:t>Diagnosis is made during routine antenatal physical examination= a murmur or abn. ECG.</a:t>
            </a:r>
          </a:p>
          <a:p>
            <a:r>
              <a:rPr b="1" dirty="0" sz="2900" lang="en-US" smtClean="0"/>
              <a:t>Grade (class) 2: </a:t>
            </a:r>
            <a:r>
              <a:rPr dirty="0" sz="2900" lang="en-US" smtClean="0"/>
              <a:t>Characterised by </a:t>
            </a:r>
            <a:r>
              <a:rPr dirty="0" sz="2900" i="1" lang="en-US" smtClean="0"/>
              <a:t>slight/ mild limitations </a:t>
            </a:r>
            <a:r>
              <a:rPr dirty="0" sz="2900" lang="en-US" smtClean="0"/>
              <a:t>of physical activity.</a:t>
            </a:r>
            <a:endParaRPr dirty="0" sz="2900" lang="en-US"/>
          </a:p>
        </p:txBody>
      </p:sp>
      <p:sp>
        <p:nvSpPr>
          <p:cNvPr id="104973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2.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64" name=""/>
        <p:cNvGrpSpPr/>
        <p:nvPr/>
      </p:nvGrpSpPr>
      <p:grpSpPr>
        <a:xfrm>
          <a:off x="0" y="0"/>
          <a:ext cx="0" cy="0"/>
          <a:chOff x="0" y="0"/>
          <a:chExt cx="0" cy="0"/>
        </a:xfrm>
      </p:grpSpPr>
      <p:sp>
        <p:nvSpPr>
          <p:cNvPr id="1049739" name="Content Placeholder 2"/>
          <p:cNvSpPr>
            <a:spLocks noGrp="1"/>
          </p:cNvSpPr>
          <p:nvPr>
            <p:ph idx="1"/>
          </p:nvPr>
        </p:nvSpPr>
        <p:spPr>
          <a:xfrm>
            <a:off x="1238250" y="228600"/>
            <a:ext cx="9715500" cy="6324600"/>
          </a:xfrm>
        </p:spPr>
        <p:txBody>
          <a:bodyPr>
            <a:noAutofit/>
          </a:bodyPr>
          <a:p>
            <a:pPr>
              <a:buFont typeface="Wingdings" pitchFamily="2" charset="2"/>
              <a:buChar char="Ø"/>
            </a:pPr>
            <a:r>
              <a:rPr dirty="0" sz="3300" lang="en-US" smtClean="0"/>
              <a:t>Ordinary activities eg normal house chores undertaken in normal pace, results to fatigue ,palpitations, chest pain and dsypnoea.</a:t>
            </a:r>
          </a:p>
          <a:p>
            <a:pPr>
              <a:buFont typeface="Wingdings" pitchFamily="2" charset="2"/>
              <a:buChar char="Ø"/>
            </a:pPr>
            <a:r>
              <a:rPr dirty="0" sz="3300" lang="en-US" smtClean="0"/>
              <a:t>Becomes comfortable at rest.</a:t>
            </a:r>
          </a:p>
          <a:p>
            <a:r>
              <a:rPr b="1" dirty="0" sz="3300" lang="en-US" smtClean="0"/>
              <a:t>Grade (Class) 3</a:t>
            </a:r>
            <a:r>
              <a:rPr dirty="0" sz="3300" lang="en-US" smtClean="0"/>
              <a:t>,  </a:t>
            </a:r>
            <a:r>
              <a:rPr dirty="0" sz="3300" i="1" lang="en-US" smtClean="0"/>
              <a:t>marked limitation </a:t>
            </a:r>
            <a:r>
              <a:rPr dirty="0" sz="3300" lang="en-US" smtClean="0"/>
              <a:t>of physical activity which are less than ordinary.</a:t>
            </a:r>
          </a:p>
          <a:p>
            <a:pPr>
              <a:buFont typeface="Wingdings" pitchFamily="2" charset="2"/>
              <a:buChar char="Ø"/>
            </a:pPr>
            <a:r>
              <a:rPr dirty="0" sz="3300" lang="en-US" smtClean="0"/>
              <a:t>They includes, talking normally, having a  meal walking comfortably on a level  ground.</a:t>
            </a:r>
            <a:endParaRPr dirty="0" sz="3300" lang="en-US"/>
          </a:p>
        </p:txBody>
      </p:sp>
      <p:sp>
        <p:nvSpPr>
          <p:cNvPr id="104974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3.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65" name=""/>
        <p:cNvGrpSpPr/>
        <p:nvPr/>
      </p:nvGrpSpPr>
      <p:grpSpPr>
        <a:xfrm>
          <a:off x="0" y="0"/>
          <a:ext cx="0" cy="0"/>
          <a:chOff x="0" y="0"/>
          <a:chExt cx="0" cy="0"/>
        </a:xfrm>
      </p:grpSpPr>
      <p:sp>
        <p:nvSpPr>
          <p:cNvPr id="1049741" name="Content Placeholder 2"/>
          <p:cNvSpPr>
            <a:spLocks noGrp="1"/>
          </p:cNvSpPr>
          <p:nvPr>
            <p:ph idx="1"/>
          </p:nvPr>
        </p:nvSpPr>
        <p:spPr>
          <a:xfrm>
            <a:off x="1794509" y="304800"/>
            <a:ext cx="9372600" cy="5943600"/>
          </a:xfrm>
        </p:spPr>
        <p:txBody>
          <a:bodyPr>
            <a:normAutofit/>
          </a:bodyPr>
          <a:p>
            <a:pPr>
              <a:buFont typeface="Wingdings" pitchFamily="2" charset="2"/>
              <a:buChar char="Ø"/>
            </a:pPr>
            <a:r>
              <a:rPr dirty="0" sz="3600" lang="en-US" smtClean="0"/>
              <a:t>This leads to symptoms as in grade 2.</a:t>
            </a:r>
          </a:p>
          <a:p>
            <a:pPr>
              <a:buFont typeface="Wingdings" pitchFamily="2" charset="2"/>
              <a:buChar char="Ø"/>
            </a:pPr>
            <a:r>
              <a:rPr dirty="0" sz="3600" lang="en-US" smtClean="0"/>
              <a:t>Comfortable at rest and when quiet.</a:t>
            </a:r>
          </a:p>
          <a:p>
            <a:r>
              <a:rPr b="1" dirty="0" sz="3600" lang="en-US" smtClean="0"/>
              <a:t>Grade (class)4</a:t>
            </a:r>
            <a:r>
              <a:rPr dirty="0" sz="3600" lang="en-US" smtClean="0"/>
              <a:t>,  characterised by </a:t>
            </a:r>
            <a:r>
              <a:rPr dirty="0" sz="3600" i="1" lang="en-US" smtClean="0"/>
              <a:t>absolute limitation </a:t>
            </a:r>
            <a:r>
              <a:rPr dirty="0" sz="3600" lang="en-US" smtClean="0"/>
              <a:t>of physical activity</a:t>
            </a:r>
          </a:p>
          <a:p>
            <a:pPr>
              <a:buFont typeface="Wingdings" pitchFamily="2" charset="2"/>
              <a:buChar char="Ø"/>
            </a:pPr>
            <a:r>
              <a:rPr dirty="0" sz="3600" lang="en-US" smtClean="0"/>
              <a:t>Is also symptomatic even at total rest.</a:t>
            </a:r>
            <a:endParaRPr dirty="0" sz="3600" lang="en-US"/>
          </a:p>
        </p:txBody>
      </p:sp>
      <p:sp>
        <p:nvSpPr>
          <p:cNvPr id="104974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4.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66" name=""/>
        <p:cNvGrpSpPr/>
        <p:nvPr/>
      </p:nvGrpSpPr>
      <p:grpSpPr>
        <a:xfrm>
          <a:off x="0" y="0"/>
          <a:ext cx="0" cy="0"/>
          <a:chOff x="0" y="0"/>
          <a:chExt cx="0" cy="0"/>
        </a:xfrm>
      </p:grpSpPr>
      <p:sp>
        <p:nvSpPr>
          <p:cNvPr id="1049743" name="Title 1"/>
          <p:cNvSpPr>
            <a:spLocks noGrp="1"/>
          </p:cNvSpPr>
          <p:nvPr>
            <p:ph type="title"/>
          </p:nvPr>
        </p:nvSpPr>
        <p:spPr/>
        <p:txBody>
          <a:bodyPr/>
          <a:p>
            <a:r>
              <a:rPr b="1" dirty="0" lang="en-US" smtClean="0">
                <a:solidFill>
                  <a:schemeClr val="bg2">
                    <a:lumMod val="50000"/>
                  </a:schemeClr>
                </a:solidFill>
              </a:rPr>
              <a:t>  SPECIFIC  MANAGEMENT</a:t>
            </a:r>
            <a:endParaRPr dirty="0" lang="en-US"/>
          </a:p>
        </p:txBody>
      </p:sp>
      <p:sp>
        <p:nvSpPr>
          <p:cNvPr id="1049744" name="Content Placeholder 2"/>
          <p:cNvSpPr>
            <a:spLocks noGrp="1"/>
          </p:cNvSpPr>
          <p:nvPr>
            <p:ph idx="1"/>
          </p:nvPr>
        </p:nvSpPr>
        <p:spPr/>
        <p:txBody>
          <a:bodyPr>
            <a:normAutofit/>
          </a:bodyPr>
          <a:p>
            <a:pPr>
              <a:buNone/>
            </a:pPr>
            <a:r>
              <a:rPr b="1" dirty="0" sz="3600" lang="en-US" smtClean="0"/>
              <a:t>	</a:t>
            </a:r>
            <a:r>
              <a:rPr b="1" dirty="0" sz="3600" lang="en-US" u="sng" smtClean="0"/>
              <a:t>Preconception care</a:t>
            </a:r>
          </a:p>
          <a:p>
            <a:pPr>
              <a:buFont typeface="Wingdings" pitchFamily="2" charset="2"/>
              <a:buChar char="Ø"/>
            </a:pPr>
            <a:r>
              <a:rPr dirty="0" sz="3600" lang="en-US" smtClean="0"/>
              <a:t>Designed for those known to have heart lesions before conception.</a:t>
            </a:r>
          </a:p>
          <a:p>
            <a:pPr>
              <a:buFont typeface="Wingdings" pitchFamily="2" charset="2"/>
              <a:buChar char="Ø"/>
            </a:pPr>
            <a:r>
              <a:rPr dirty="0" sz="3600" lang="en-US" smtClean="0"/>
              <a:t>Care is in form of counselling, which is carried out by the  cardiologist, obstetrician &amp; midwife. It’s based on 4 areas namely:-</a:t>
            </a:r>
          </a:p>
          <a:p>
            <a:pPr>
              <a:buNone/>
            </a:pPr>
            <a:endParaRPr dirty="0" sz="3200" lang="en-US"/>
          </a:p>
        </p:txBody>
      </p:sp>
      <p:sp>
        <p:nvSpPr>
          <p:cNvPr id="104974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5.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67" name=""/>
        <p:cNvGrpSpPr/>
        <p:nvPr/>
      </p:nvGrpSpPr>
      <p:grpSpPr>
        <a:xfrm>
          <a:off x="0" y="0"/>
          <a:ext cx="0" cy="0"/>
          <a:chOff x="0" y="0"/>
          <a:chExt cx="0" cy="0"/>
        </a:xfrm>
      </p:grpSpPr>
      <p:sp>
        <p:nvSpPr>
          <p:cNvPr id="1049746" name="Content Placeholder 2"/>
          <p:cNvSpPr>
            <a:spLocks noGrp="1"/>
          </p:cNvSpPr>
          <p:nvPr>
            <p:ph idx="1"/>
          </p:nvPr>
        </p:nvSpPr>
        <p:spPr>
          <a:xfrm>
            <a:off x="1238250" y="304800"/>
            <a:ext cx="9620250" cy="6096000"/>
          </a:xfrm>
        </p:spPr>
        <p:txBody>
          <a:bodyPr>
            <a:normAutofit/>
          </a:bodyPr>
          <a:p>
            <a:r>
              <a:rPr b="1" dirty="0" sz="3600" i="1" lang="en-US" smtClean="0"/>
              <a:t>Medical Risks</a:t>
            </a:r>
            <a:r>
              <a:rPr dirty="0" sz="3600" i="1" lang="en-US" smtClean="0"/>
              <a:t>, </a:t>
            </a:r>
            <a:r>
              <a:rPr dirty="0" sz="3600" lang="en-US" smtClean="0"/>
              <a:t>in</a:t>
            </a:r>
            <a:r>
              <a:rPr dirty="0" sz="3200" lang="en-US" smtClean="0"/>
              <a:t> terms of:</a:t>
            </a:r>
          </a:p>
          <a:p>
            <a:pPr>
              <a:buFont typeface="Wingdings" pitchFamily="2" charset="2"/>
              <a:buChar char="Ø"/>
            </a:pPr>
            <a:r>
              <a:rPr dirty="0" sz="3200" lang="en-US" smtClean="0"/>
              <a:t>After every pregnancy, the classification drops with one(1) grade because of the physiological changes.</a:t>
            </a:r>
          </a:p>
          <a:p>
            <a:pPr>
              <a:buFont typeface="Wingdings" pitchFamily="2" charset="2"/>
              <a:buChar char="Ø"/>
            </a:pPr>
            <a:r>
              <a:rPr dirty="0" sz="3200" lang="en-US" smtClean="0"/>
              <a:t>Strict ways of preventing anaemia</a:t>
            </a:r>
          </a:p>
          <a:p>
            <a:pPr>
              <a:buFont typeface="Wingdings" pitchFamily="2" charset="2"/>
              <a:buChar char="Ø"/>
            </a:pPr>
            <a:r>
              <a:rPr dirty="0" sz="3200" lang="en-US" smtClean="0"/>
              <a:t>Long period of hospitalization for close follow up.</a:t>
            </a:r>
          </a:p>
          <a:p>
            <a:pPr>
              <a:buFont typeface="Wingdings" pitchFamily="2" charset="2"/>
              <a:buChar char="Ø"/>
            </a:pPr>
            <a:r>
              <a:rPr dirty="0" sz="3200" lang="en-US" smtClean="0"/>
              <a:t>Fetus likely to develop congenital abnormality= congenital  heart disease.</a:t>
            </a:r>
            <a:endParaRPr dirty="0" sz="3200" lang="en-US"/>
          </a:p>
        </p:txBody>
      </p:sp>
      <p:sp>
        <p:nvSpPr>
          <p:cNvPr id="104974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6.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68" name=""/>
        <p:cNvGrpSpPr/>
        <p:nvPr/>
      </p:nvGrpSpPr>
      <p:grpSpPr>
        <a:xfrm>
          <a:off x="0" y="0"/>
          <a:ext cx="0" cy="0"/>
          <a:chOff x="0" y="0"/>
          <a:chExt cx="0" cy="0"/>
        </a:xfrm>
      </p:grpSpPr>
      <p:sp>
        <p:nvSpPr>
          <p:cNvPr id="1049748" name="Content Placeholder 2"/>
          <p:cNvSpPr>
            <a:spLocks noGrp="1"/>
          </p:cNvSpPr>
          <p:nvPr>
            <p:ph idx="1"/>
          </p:nvPr>
        </p:nvSpPr>
        <p:spPr>
          <a:xfrm>
            <a:off x="1238250" y="304800"/>
            <a:ext cx="9620250" cy="6019800"/>
          </a:xfrm>
        </p:spPr>
        <p:txBody>
          <a:bodyPr>
            <a:normAutofit/>
          </a:bodyPr>
          <a:p>
            <a:pPr>
              <a:buFont typeface="Wingdings" pitchFamily="2" charset="2"/>
              <a:buChar char="Ø"/>
            </a:pPr>
            <a:r>
              <a:rPr dirty="0" sz="3200" lang="en-US" smtClean="0"/>
              <a:t>Increased maternal mortality rate during pregnancy</a:t>
            </a:r>
          </a:p>
          <a:p>
            <a:pPr>
              <a:buFont typeface="Wingdings" pitchFamily="2" charset="2"/>
              <a:buChar char="Ø"/>
            </a:pPr>
            <a:r>
              <a:rPr dirty="0" sz="3200" lang="en-US" smtClean="0"/>
              <a:t>Intensive maternal &amp; fetal monitoring during labour.</a:t>
            </a:r>
          </a:p>
          <a:p>
            <a:r>
              <a:rPr b="1" dirty="0" sz="3200" i="1" lang="en-US" smtClean="0"/>
              <a:t>Financial Implication</a:t>
            </a:r>
            <a:r>
              <a:rPr dirty="0" sz="3200" lang="en-US" smtClean="0"/>
              <a:t>, due to:</a:t>
            </a:r>
          </a:p>
          <a:p>
            <a:pPr>
              <a:buFont typeface="Wingdings" pitchFamily="2" charset="2"/>
              <a:buChar char="Ø"/>
            </a:pPr>
            <a:r>
              <a:rPr dirty="0" sz="3200" lang="en-US" smtClean="0"/>
              <a:t>Long period of hospital admission.</a:t>
            </a:r>
          </a:p>
          <a:p>
            <a:pPr>
              <a:buFont typeface="Wingdings" pitchFamily="2" charset="2"/>
              <a:buChar char="Ø"/>
            </a:pPr>
            <a:r>
              <a:rPr dirty="0" sz="3200" lang="en-US" smtClean="0"/>
              <a:t>Cost of drugs to control the condition and anaemia.</a:t>
            </a:r>
          </a:p>
          <a:p>
            <a:pPr>
              <a:buFont typeface="Wingdings" pitchFamily="2" charset="2"/>
              <a:buChar char="Ø"/>
            </a:pPr>
            <a:r>
              <a:rPr dirty="0" sz="3200" lang="en-US" smtClean="0"/>
              <a:t>Professional bills for the multidisciplinary team members.</a:t>
            </a:r>
            <a:endParaRPr dirty="0" sz="3200" lang="en-US"/>
          </a:p>
        </p:txBody>
      </p:sp>
      <p:sp>
        <p:nvSpPr>
          <p:cNvPr id="104974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7.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69" name=""/>
        <p:cNvGrpSpPr/>
        <p:nvPr/>
      </p:nvGrpSpPr>
      <p:grpSpPr>
        <a:xfrm>
          <a:off x="0" y="0"/>
          <a:ext cx="0" cy="0"/>
          <a:chOff x="0" y="0"/>
          <a:chExt cx="0" cy="0"/>
        </a:xfrm>
      </p:grpSpPr>
      <p:sp>
        <p:nvSpPr>
          <p:cNvPr id="1049750" name="Content Placeholder 2"/>
          <p:cNvSpPr>
            <a:spLocks noGrp="1"/>
          </p:cNvSpPr>
          <p:nvPr>
            <p:ph idx="1"/>
          </p:nvPr>
        </p:nvSpPr>
        <p:spPr>
          <a:xfrm>
            <a:off x="1794509" y="-76200"/>
            <a:ext cx="9372600" cy="6248400"/>
          </a:xfrm>
        </p:spPr>
        <p:txBody>
          <a:bodyPr>
            <a:normAutofit/>
          </a:bodyPr>
          <a:p>
            <a:r>
              <a:rPr b="1" dirty="0" sz="3200" i="1" lang="en-US" smtClean="0"/>
              <a:t>Stress management :</a:t>
            </a:r>
          </a:p>
          <a:p>
            <a:pPr>
              <a:buFont typeface="Wingdings" pitchFamily="2" charset="2"/>
              <a:buChar char="Ø"/>
            </a:pPr>
            <a:r>
              <a:rPr dirty="0" sz="3200" lang="en-US" smtClean="0"/>
              <a:t>Precisely, that comes  with the normal physiology of pregnancy, prolonged hospitalization &amp; socially.</a:t>
            </a:r>
          </a:p>
          <a:p>
            <a:r>
              <a:rPr b="1" dirty="0" sz="3200" i="1" lang="en-US" smtClean="0"/>
              <a:t>Family size</a:t>
            </a:r>
            <a:r>
              <a:rPr dirty="0" sz="3200" lang="en-US" smtClean="0"/>
              <a:t>, depends on the grade of heart lesion.</a:t>
            </a:r>
          </a:p>
          <a:p>
            <a:pPr>
              <a:buFont typeface="Wingdings" pitchFamily="2" charset="2"/>
              <a:buChar char="Ø"/>
            </a:pPr>
            <a:r>
              <a:rPr dirty="0" sz="3200" lang="en-US" smtClean="0"/>
              <a:t>The highest number of children  is 2-3 and the least none for already in grade  4.</a:t>
            </a:r>
            <a:endParaRPr dirty="0" sz="3200" lang="en-US"/>
          </a:p>
        </p:txBody>
      </p:sp>
      <p:sp>
        <p:nvSpPr>
          <p:cNvPr id="104975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8.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0" name=""/>
        <p:cNvGrpSpPr/>
        <p:nvPr/>
      </p:nvGrpSpPr>
      <p:grpSpPr>
        <a:xfrm>
          <a:off x="0" y="0"/>
          <a:ext cx="0" cy="0"/>
          <a:chOff x="0" y="0"/>
          <a:chExt cx="0" cy="0"/>
        </a:xfrm>
      </p:grpSpPr>
      <p:sp>
        <p:nvSpPr>
          <p:cNvPr id="1049752" name="Title 1"/>
          <p:cNvSpPr>
            <a:spLocks noGrp="1"/>
          </p:cNvSpPr>
          <p:nvPr>
            <p:ph type="title"/>
          </p:nvPr>
        </p:nvSpPr>
        <p:spPr>
          <a:xfrm>
            <a:off x="1794509" y="0"/>
            <a:ext cx="9372600" cy="914400"/>
          </a:xfrm>
        </p:spPr>
        <p:txBody>
          <a:bodyPr/>
          <a:p>
            <a:r>
              <a:rPr dirty="0" lang="en-US" smtClean="0"/>
              <a:t>		</a:t>
            </a:r>
            <a:r>
              <a:rPr b="1" dirty="0" lang="en-US" spc="300" smtClean="0">
                <a:solidFill>
                  <a:schemeClr val="bg2">
                    <a:lumMod val="50000"/>
                  </a:schemeClr>
                </a:solidFill>
              </a:rPr>
              <a:t>Antenatally</a:t>
            </a:r>
            <a:endParaRPr dirty="0" lang="en-US" spc="300">
              <a:solidFill>
                <a:schemeClr val="bg2">
                  <a:lumMod val="50000"/>
                </a:schemeClr>
              </a:solidFill>
            </a:endParaRPr>
          </a:p>
        </p:txBody>
      </p:sp>
      <p:sp>
        <p:nvSpPr>
          <p:cNvPr id="1049753" name="Content Placeholder 2"/>
          <p:cNvSpPr>
            <a:spLocks noGrp="1"/>
          </p:cNvSpPr>
          <p:nvPr>
            <p:ph idx="1"/>
          </p:nvPr>
        </p:nvSpPr>
        <p:spPr>
          <a:xfrm>
            <a:off x="1794509" y="838200"/>
            <a:ext cx="9372600" cy="5410200"/>
          </a:xfrm>
        </p:spPr>
        <p:txBody>
          <a:bodyPr>
            <a:normAutofit/>
          </a:bodyPr>
          <a:p>
            <a:r>
              <a:rPr dirty="0" sz="3200" lang="en-US" smtClean="0"/>
              <a:t>Aim is to maintain a steady hemodynamic state hence prevent complications.</a:t>
            </a:r>
          </a:p>
          <a:p>
            <a:pPr>
              <a:buNone/>
            </a:pPr>
            <a:r>
              <a:rPr dirty="0" sz="3200" lang="en-US" smtClean="0"/>
              <a:t>	</a:t>
            </a:r>
            <a:r>
              <a:rPr b="1" dirty="0" sz="3600" i="1" lang="en-US" smtClean="0"/>
              <a:t>Specific  investigations are:</a:t>
            </a:r>
          </a:p>
          <a:p>
            <a:pPr>
              <a:buFont typeface="Wingdings" pitchFamily="2" charset="2"/>
              <a:buChar char="Ø"/>
            </a:pPr>
            <a:r>
              <a:rPr dirty="0" sz="3600" lang="en-US" smtClean="0"/>
              <a:t>Urine specimen for microscopy, C/S to assess for UTI.</a:t>
            </a:r>
          </a:p>
          <a:p>
            <a:pPr>
              <a:buFont typeface="Wingdings" pitchFamily="2" charset="2"/>
              <a:buChar char="Ø"/>
            </a:pPr>
            <a:r>
              <a:rPr dirty="0" sz="3600" lang="en-US" smtClean="0"/>
              <a:t>Blood culture for possibility of septicaemia</a:t>
            </a:r>
          </a:p>
          <a:p>
            <a:pPr>
              <a:buFont typeface="Wingdings" pitchFamily="2" charset="2"/>
              <a:buChar char="Ø"/>
            </a:pPr>
            <a:r>
              <a:rPr dirty="0" sz="3600" lang="en-US" smtClean="0"/>
              <a:t>Urea &amp; electrolytes, for close monitoring of renal function. </a:t>
            </a:r>
            <a:endParaRPr dirty="0" sz="3200" lang="en-US" smtClean="0"/>
          </a:p>
          <a:p>
            <a:pPr>
              <a:buNone/>
            </a:pPr>
            <a:endParaRPr dirty="0" lang="en-US"/>
          </a:p>
        </p:txBody>
      </p:sp>
      <p:sp>
        <p:nvSpPr>
          <p:cNvPr id="104975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399.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1" name=""/>
        <p:cNvGrpSpPr/>
        <p:nvPr/>
      </p:nvGrpSpPr>
      <p:grpSpPr>
        <a:xfrm>
          <a:off x="0" y="0"/>
          <a:ext cx="0" cy="0"/>
          <a:chOff x="0" y="0"/>
          <a:chExt cx="0" cy="0"/>
        </a:xfrm>
      </p:grpSpPr>
      <p:sp>
        <p:nvSpPr>
          <p:cNvPr id="1049755" name="Title 1"/>
          <p:cNvSpPr>
            <a:spLocks noGrp="1"/>
          </p:cNvSpPr>
          <p:nvPr>
            <p:ph type="title"/>
          </p:nvPr>
        </p:nvSpPr>
        <p:spPr/>
        <p:txBody>
          <a:bodyPr/>
          <a:p>
            <a:r>
              <a:rPr dirty="0" lang="en-US" smtClean="0"/>
              <a:t>		GRADE  1</a:t>
            </a:r>
            <a:endParaRPr dirty="0" lang="en-US"/>
          </a:p>
        </p:txBody>
      </p:sp>
      <p:sp>
        <p:nvSpPr>
          <p:cNvPr id="1049756" name="Content Placeholder 2"/>
          <p:cNvSpPr>
            <a:spLocks noGrp="1"/>
          </p:cNvSpPr>
          <p:nvPr>
            <p:ph idx="1"/>
          </p:nvPr>
        </p:nvSpPr>
        <p:spPr>
          <a:xfrm>
            <a:off x="1238250" y="1295400"/>
            <a:ext cx="10191750" cy="5181600"/>
          </a:xfrm>
        </p:spPr>
        <p:txBody>
          <a:bodyPr>
            <a:noAutofit/>
          </a:bodyPr>
          <a:p>
            <a:r>
              <a:rPr dirty="0" lang="en-US" smtClean="0"/>
              <a:t>Review visits are in a hospital based  MCH.</a:t>
            </a:r>
          </a:p>
          <a:p>
            <a:pPr>
              <a:buFont typeface="Wingdings" pitchFamily="2" charset="2"/>
              <a:buChar char="Ø"/>
            </a:pPr>
            <a:r>
              <a:rPr dirty="0" lang="en-US" smtClean="0"/>
              <a:t>Every 2 weekly up to a gestation of 32 weeks.</a:t>
            </a:r>
          </a:p>
          <a:p>
            <a:pPr>
              <a:buFont typeface="Wingdings" pitchFamily="2" charset="2"/>
              <a:buChar char="Ø"/>
            </a:pPr>
            <a:r>
              <a:rPr dirty="0" lang="en-US" smtClean="0"/>
              <a:t>Thereafter weekly till 36 wks ,admission may be recommended depending on the state of the mother. If not continues with ANC.</a:t>
            </a:r>
          </a:p>
          <a:p>
            <a:r>
              <a:rPr dirty="0" lang="en-US" smtClean="0"/>
              <a:t>During the  visits she is seen by obstetrician on every visit ,but cardiologist on every 4 weekly.</a:t>
            </a:r>
          </a:p>
          <a:p>
            <a:r>
              <a:rPr dirty="0" lang="en-US" smtClean="0"/>
              <a:t>Closely monitor for features of deterioration such as:-</a:t>
            </a:r>
            <a:endParaRPr dirty="0" lang="en-US"/>
          </a:p>
        </p:txBody>
      </p:sp>
      <p:sp>
        <p:nvSpPr>
          <p:cNvPr id="104975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0.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2" name=""/>
        <p:cNvGrpSpPr/>
        <p:nvPr/>
      </p:nvGrpSpPr>
      <p:grpSpPr>
        <a:xfrm>
          <a:off x="0" y="0"/>
          <a:ext cx="0" cy="0"/>
          <a:chOff x="0" y="0"/>
          <a:chExt cx="0" cy="0"/>
        </a:xfrm>
      </p:grpSpPr>
      <p:sp>
        <p:nvSpPr>
          <p:cNvPr id="1049758" name="Content Placeholder 2"/>
          <p:cNvSpPr>
            <a:spLocks noGrp="1"/>
          </p:cNvSpPr>
          <p:nvPr>
            <p:ph idx="1"/>
          </p:nvPr>
        </p:nvSpPr>
        <p:spPr>
          <a:xfrm>
            <a:off x="1238250" y="0"/>
            <a:ext cx="10001250" cy="6858000"/>
          </a:xfrm>
        </p:spPr>
        <p:txBody>
          <a:bodyPr>
            <a:noAutofit/>
          </a:bodyPr>
          <a:p>
            <a:pPr>
              <a:buFont typeface="Wingdings" pitchFamily="2" charset="2"/>
              <a:buChar char="Ø"/>
            </a:pPr>
            <a:r>
              <a:rPr dirty="0" lang="en-US" smtClean="0"/>
              <a:t>Oedema, indicates  fluid  retention.</a:t>
            </a:r>
          </a:p>
          <a:p>
            <a:pPr>
              <a:buFont typeface="Wingdings" pitchFamily="2" charset="2"/>
              <a:buChar char="Ø"/>
            </a:pPr>
            <a:r>
              <a:rPr dirty="0" lang="en-US" smtClean="0"/>
              <a:t>Hypotension  &amp; dizziness  indicates  anaemia.</a:t>
            </a:r>
          </a:p>
          <a:p>
            <a:pPr>
              <a:buFont typeface="Wingdings" pitchFamily="2" charset="2"/>
              <a:buChar char="Ø"/>
            </a:pPr>
            <a:r>
              <a:rPr dirty="0" lang="en-US" smtClean="0"/>
              <a:t>Tachycardia/ Bradycardia  which is irregular =the condition is worsening.</a:t>
            </a:r>
          </a:p>
          <a:p>
            <a:pPr>
              <a:buFont typeface="Wingdings" pitchFamily="2" charset="2"/>
              <a:buChar char="Ø"/>
            </a:pPr>
            <a:r>
              <a:rPr dirty="0" lang="en-US" smtClean="0"/>
              <a:t>Breathlessness on exertion =pulmonary   oedema.</a:t>
            </a:r>
          </a:p>
          <a:p>
            <a:r>
              <a:rPr dirty="0" lang="en-US" smtClean="0"/>
              <a:t>For presence of any of the above , admission is recommended under a multidisciplinary  team.</a:t>
            </a:r>
          </a:p>
          <a:p>
            <a:r>
              <a:rPr dirty="0" lang="en-US" smtClean="0"/>
              <a:t>Following improvement, is discharged to CT with ANC weekly regardless of gestation  period.</a:t>
            </a:r>
            <a:endParaRPr dirty="0" lang="en-US"/>
          </a:p>
        </p:txBody>
      </p:sp>
      <p:sp>
        <p:nvSpPr>
          <p:cNvPr id="104975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1.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3" name=""/>
        <p:cNvGrpSpPr/>
        <p:nvPr/>
      </p:nvGrpSpPr>
      <p:grpSpPr>
        <a:xfrm>
          <a:off x="0" y="0"/>
          <a:ext cx="0" cy="0"/>
          <a:chOff x="0" y="0"/>
          <a:chExt cx="0" cy="0"/>
        </a:xfrm>
      </p:grpSpPr>
      <p:sp>
        <p:nvSpPr>
          <p:cNvPr id="1049760" name="Content Placeholder 2"/>
          <p:cNvSpPr>
            <a:spLocks noGrp="1"/>
          </p:cNvSpPr>
          <p:nvPr>
            <p:ph idx="1"/>
          </p:nvPr>
        </p:nvSpPr>
        <p:spPr>
          <a:xfrm>
            <a:off x="1143000" y="381000"/>
            <a:ext cx="9715500" cy="6172200"/>
          </a:xfrm>
        </p:spPr>
        <p:txBody>
          <a:bodyPr>
            <a:normAutofit/>
          </a:bodyPr>
          <a:p>
            <a:r>
              <a:rPr dirty="0" sz="2700" lang="en-US" smtClean="0"/>
              <a:t>Whether has been admitted or not advise on:-</a:t>
            </a:r>
          </a:p>
          <a:p>
            <a:pPr>
              <a:buFont typeface="Wingdings" pitchFamily="2" charset="2"/>
              <a:buChar char="Ø"/>
            </a:pPr>
            <a:r>
              <a:rPr dirty="0" sz="2700" lang="en-US" smtClean="0"/>
              <a:t>Balanced diet, but restrict on salt and cholesterol to avoid excessive weight gain.</a:t>
            </a:r>
          </a:p>
          <a:p>
            <a:pPr>
              <a:buFont typeface="Wingdings" pitchFamily="2" charset="2"/>
              <a:buChar char="Ø"/>
            </a:pPr>
            <a:r>
              <a:rPr dirty="0" sz="2700" lang="en-US" smtClean="0"/>
              <a:t>Hygiene and rest.</a:t>
            </a:r>
          </a:p>
          <a:p>
            <a:pPr>
              <a:buFont typeface="Wingdings" pitchFamily="2" charset="2"/>
              <a:buChar char="Ø"/>
            </a:pPr>
            <a:r>
              <a:rPr dirty="0" sz="2700" lang="en-US" smtClean="0"/>
              <a:t>Programmed exercises to  control excessive wt gain &amp; development of thrombo-embolic cdts.</a:t>
            </a:r>
          </a:p>
          <a:p>
            <a:pPr>
              <a:buFont typeface="Wingdings" pitchFamily="2" charset="2"/>
              <a:buChar char="Ø"/>
            </a:pPr>
            <a:r>
              <a:rPr dirty="0" sz="2700" lang="en-US" smtClean="0"/>
              <a:t>Importance of routine  haematinics to prevent  anaemia.</a:t>
            </a:r>
          </a:p>
          <a:p>
            <a:pPr>
              <a:buFont typeface="Wingdings" pitchFamily="2" charset="2"/>
              <a:buChar char="Ø"/>
            </a:pPr>
            <a:r>
              <a:rPr dirty="0" sz="2700" lang="en-US" smtClean="0"/>
              <a:t>Prompt treatment of any type of ailment.</a:t>
            </a:r>
          </a:p>
          <a:p>
            <a:pPr>
              <a:buNone/>
            </a:pPr>
            <a:r>
              <a:rPr b="1" dirty="0" sz="2700" lang="en-US" smtClean="0"/>
              <a:t>NB</a:t>
            </a:r>
            <a:r>
              <a:rPr dirty="0" sz="2700" lang="en-US" smtClean="0"/>
              <a:t> : Excessive WT gain=that of over 20% of  the expectation.</a:t>
            </a:r>
            <a:endParaRPr dirty="0" sz="2700" lang="en-US"/>
          </a:p>
        </p:txBody>
      </p:sp>
      <p:sp>
        <p:nvSpPr>
          <p:cNvPr id="104976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2.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4" name=""/>
        <p:cNvGrpSpPr/>
        <p:nvPr/>
      </p:nvGrpSpPr>
      <p:grpSpPr>
        <a:xfrm>
          <a:off x="0" y="0"/>
          <a:ext cx="0" cy="0"/>
          <a:chOff x="0" y="0"/>
          <a:chExt cx="0" cy="0"/>
        </a:xfrm>
      </p:grpSpPr>
      <p:sp>
        <p:nvSpPr>
          <p:cNvPr id="1049762" name="Title 1"/>
          <p:cNvSpPr>
            <a:spLocks noGrp="1"/>
          </p:cNvSpPr>
          <p:nvPr>
            <p:ph type="title"/>
          </p:nvPr>
        </p:nvSpPr>
        <p:spPr>
          <a:xfrm>
            <a:off x="1794509" y="0"/>
            <a:ext cx="9372600" cy="838200"/>
          </a:xfrm>
        </p:spPr>
        <p:txBody>
          <a:bodyPr/>
          <a:p>
            <a:r>
              <a:rPr dirty="0" lang="en-US" smtClean="0"/>
              <a:t>		 GRADE  2</a:t>
            </a:r>
            <a:endParaRPr dirty="0" lang="en-US"/>
          </a:p>
        </p:txBody>
      </p:sp>
      <p:sp>
        <p:nvSpPr>
          <p:cNvPr id="1049763" name="Content Placeholder 2"/>
          <p:cNvSpPr>
            <a:spLocks noGrp="1"/>
          </p:cNvSpPr>
          <p:nvPr>
            <p:ph idx="1"/>
          </p:nvPr>
        </p:nvSpPr>
        <p:spPr>
          <a:xfrm>
            <a:off x="1238250" y="762000"/>
            <a:ext cx="9620250" cy="5638800"/>
          </a:xfrm>
        </p:spPr>
        <p:txBody>
          <a:bodyPr/>
          <a:p>
            <a:r>
              <a:rPr dirty="0" sz="3200" lang="en-US" smtClean="0"/>
              <a:t>On booking visit ,she is reviewed by cardiologist and obstetrician, but routine services continues as usual.</a:t>
            </a:r>
          </a:p>
          <a:p>
            <a:r>
              <a:rPr dirty="0" sz="3200" lang="en-US" smtClean="0"/>
              <a:t>Return visits  are scheduled to:</a:t>
            </a:r>
          </a:p>
          <a:p>
            <a:pPr>
              <a:buFont typeface="Wingdings" pitchFamily="2" charset="2"/>
              <a:buChar char="Ø"/>
            </a:pPr>
            <a:r>
              <a:rPr dirty="0" sz="3200" lang="en-US" smtClean="0"/>
              <a:t>2 weekly up to a gestation of 28 weeks.</a:t>
            </a:r>
          </a:p>
          <a:p>
            <a:pPr>
              <a:buFont typeface="Wingdings" pitchFamily="2" charset="2"/>
              <a:buChar char="Ø"/>
            </a:pPr>
            <a:r>
              <a:rPr dirty="0" sz="3200" lang="en-US" smtClean="0"/>
              <a:t>Weekly up to  34 weeks to monitor the effect of haemodilution.</a:t>
            </a:r>
          </a:p>
          <a:p>
            <a:pPr>
              <a:buNone/>
            </a:pPr>
            <a:r>
              <a:rPr b="1" dirty="0" sz="3200" lang="en-US" smtClean="0"/>
              <a:t>NB </a:t>
            </a:r>
            <a:r>
              <a:rPr dirty="0" sz="3200" lang="en-US" smtClean="0"/>
              <a:t>   All through cardiologist reviews her.</a:t>
            </a:r>
            <a:endParaRPr dirty="0" sz="3200" lang="en-US"/>
          </a:p>
        </p:txBody>
      </p:sp>
      <p:sp>
        <p:nvSpPr>
          <p:cNvPr id="104976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3.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5" name=""/>
        <p:cNvGrpSpPr/>
        <p:nvPr/>
      </p:nvGrpSpPr>
      <p:grpSpPr>
        <a:xfrm>
          <a:off x="0" y="0"/>
          <a:ext cx="0" cy="0"/>
          <a:chOff x="0" y="0"/>
          <a:chExt cx="0" cy="0"/>
        </a:xfrm>
      </p:grpSpPr>
      <p:sp>
        <p:nvSpPr>
          <p:cNvPr id="1049765" name="Content Placeholder 2"/>
          <p:cNvSpPr>
            <a:spLocks noGrp="1"/>
          </p:cNvSpPr>
          <p:nvPr>
            <p:ph idx="1"/>
          </p:nvPr>
        </p:nvSpPr>
        <p:spPr>
          <a:xfrm>
            <a:off x="1238250" y="228600"/>
            <a:ext cx="9620250" cy="6477000"/>
          </a:xfrm>
        </p:spPr>
        <p:txBody>
          <a:bodyPr>
            <a:noAutofit/>
          </a:bodyPr>
          <a:p>
            <a:r>
              <a:rPr dirty="0" sz="2800" lang="en-US" smtClean="0"/>
              <a:t>As from 34-36 weeks  admission is recommended  for close monitoring  as she awaits labour. </a:t>
            </a:r>
          </a:p>
          <a:p>
            <a:pPr>
              <a:buFont typeface="Wingdings" pitchFamily="2" charset="2"/>
              <a:buChar char="v"/>
            </a:pPr>
            <a:r>
              <a:rPr dirty="0" sz="2800" lang="en-US" smtClean="0"/>
              <a:t>Care is basically supportive ,in terms of:-</a:t>
            </a:r>
          </a:p>
          <a:p>
            <a:pPr>
              <a:buFont typeface="Wingdings" pitchFamily="2" charset="2"/>
              <a:buChar char="Ø"/>
            </a:pPr>
            <a:r>
              <a:rPr dirty="0" sz="2800" lang="en-US" smtClean="0"/>
              <a:t>Vital signs and  FHS every 4 hrly, mother advised to maintain fetal kick record. Interpret &amp; consult PRN.</a:t>
            </a:r>
          </a:p>
          <a:p>
            <a:pPr>
              <a:buFont typeface="Wingdings" pitchFamily="2" charset="2"/>
              <a:buChar char="Ø"/>
            </a:pPr>
            <a:r>
              <a:rPr dirty="0" sz="2800" lang="en-US" smtClean="0"/>
              <a:t>Offer psychological support to ease stress.</a:t>
            </a:r>
          </a:p>
          <a:p>
            <a:pPr>
              <a:buFont typeface="Wingdings" pitchFamily="2" charset="2"/>
              <a:buChar char="Ø"/>
            </a:pPr>
            <a:r>
              <a:rPr dirty="0" sz="2800" lang="en-US" smtClean="0"/>
              <a:t>Administer haematinics,digitalise eg digoxin 0.125mg  every 12 hourly, loop </a:t>
            </a:r>
            <a:r>
              <a:rPr dirty="0" sz="2800" lang="en-US" err="1" smtClean="0"/>
              <a:t>diuretice.g</a:t>
            </a:r>
            <a:r>
              <a:rPr dirty="0" sz="2800" lang="en-US" smtClean="0"/>
              <a:t> lasix 20 mg BD or OD,and  prophylaxis  monthly Benthazine Penicillin appropriately.</a:t>
            </a:r>
            <a:endParaRPr dirty="0" sz="2800" lang="en-US"/>
          </a:p>
        </p:txBody>
      </p:sp>
      <p:sp>
        <p:nvSpPr>
          <p:cNvPr id="104976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4.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6" name=""/>
        <p:cNvGrpSpPr/>
        <p:nvPr/>
      </p:nvGrpSpPr>
      <p:grpSpPr>
        <a:xfrm>
          <a:off x="0" y="0"/>
          <a:ext cx="0" cy="0"/>
          <a:chOff x="0" y="0"/>
          <a:chExt cx="0" cy="0"/>
        </a:xfrm>
      </p:grpSpPr>
      <p:sp>
        <p:nvSpPr>
          <p:cNvPr id="1049767" name="Content Placeholder 2"/>
          <p:cNvSpPr>
            <a:spLocks noGrp="1"/>
          </p:cNvSpPr>
          <p:nvPr>
            <p:ph idx="1"/>
          </p:nvPr>
        </p:nvSpPr>
        <p:spPr>
          <a:xfrm>
            <a:off x="1333500" y="0"/>
            <a:ext cx="9525000" cy="6324600"/>
          </a:xfrm>
        </p:spPr>
        <p:txBody>
          <a:bodyPr>
            <a:normAutofit/>
          </a:bodyPr>
          <a:p>
            <a:pPr>
              <a:buFont typeface="Wingdings" pitchFamily="2" charset="2"/>
              <a:buChar char="Ø"/>
            </a:pPr>
            <a:r>
              <a:rPr dirty="0" sz="3200" lang="en-US" smtClean="0"/>
              <a:t>Maintain high standards of hygiene and encourage  balanced  diet.</a:t>
            </a:r>
          </a:p>
          <a:p>
            <a:pPr>
              <a:buFont typeface="Wingdings" pitchFamily="2" charset="2"/>
              <a:buChar char="Ø"/>
            </a:pPr>
            <a:r>
              <a:rPr dirty="0" sz="3200" lang="en-US" smtClean="0"/>
              <a:t>Weigh  weekly and intervene   PRN.</a:t>
            </a:r>
          </a:p>
          <a:p>
            <a:pPr>
              <a:buNone/>
            </a:pPr>
            <a:r>
              <a:rPr dirty="0" sz="3200" lang="en-US" smtClean="0"/>
              <a:t>			</a:t>
            </a:r>
            <a:r>
              <a:rPr b="1" dirty="0" sz="3200" lang="en-US" u="sng" smtClean="0"/>
              <a:t>GRADE  3</a:t>
            </a:r>
          </a:p>
          <a:p>
            <a:r>
              <a:rPr dirty="0" sz="3200" lang="en-US" smtClean="0"/>
              <a:t>Admission is recommended as from the first visit. The hospital must have specialist personnels  and physical facilities such as ICU NBU and threatre.</a:t>
            </a:r>
          </a:p>
          <a:p>
            <a:pPr>
              <a:buFont typeface="Wingdings" pitchFamily="2" charset="2"/>
              <a:buChar char="Ø"/>
            </a:pPr>
            <a:r>
              <a:rPr dirty="0" sz="3200" lang="en-US" smtClean="0"/>
              <a:t>Aim is early diagnoses of deterioration</a:t>
            </a:r>
            <a:endParaRPr dirty="0" sz="3200" lang="en-US"/>
          </a:p>
        </p:txBody>
      </p:sp>
      <p:sp>
        <p:nvSpPr>
          <p:cNvPr id="104976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5.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7" name=""/>
        <p:cNvGrpSpPr/>
        <p:nvPr/>
      </p:nvGrpSpPr>
      <p:grpSpPr>
        <a:xfrm>
          <a:off x="0" y="0"/>
          <a:ext cx="0" cy="0"/>
          <a:chOff x="0" y="0"/>
          <a:chExt cx="0" cy="0"/>
        </a:xfrm>
      </p:grpSpPr>
      <p:sp>
        <p:nvSpPr>
          <p:cNvPr id="1049769" name="Content Placeholder 2"/>
          <p:cNvSpPr>
            <a:spLocks noGrp="1"/>
          </p:cNvSpPr>
          <p:nvPr>
            <p:ph idx="1"/>
          </p:nvPr>
        </p:nvSpPr>
        <p:spPr>
          <a:xfrm>
            <a:off x="1143000" y="228600"/>
            <a:ext cx="9715500" cy="6477000"/>
          </a:xfrm>
        </p:spPr>
        <p:txBody>
          <a:bodyPr>
            <a:noAutofit/>
          </a:bodyPr>
          <a:p>
            <a:r>
              <a:rPr dirty="0" sz="3200" lang="en-US" smtClean="0"/>
              <a:t>Encourage complete bed rest  and administer   Oxygen PRN , maintain hygiene  as well as balanced diet.</a:t>
            </a:r>
          </a:p>
          <a:p>
            <a:r>
              <a:rPr dirty="0" sz="3200" lang="en-US" smtClean="0"/>
              <a:t>2-4 hrly vital signs &amp; FHS. To maintain a fetal kick record.</a:t>
            </a:r>
          </a:p>
          <a:p>
            <a:r>
              <a:rPr dirty="0" sz="3200" lang="en-US" smtClean="0"/>
              <a:t>Daily evaluation for oedema , state of symptoms and signs of infection.</a:t>
            </a:r>
          </a:p>
          <a:p>
            <a:r>
              <a:rPr dirty="0" sz="3200" lang="en-US" smtClean="0"/>
              <a:t>Weekly ECG tracing  &amp; alternate days weighing.</a:t>
            </a:r>
          </a:p>
          <a:p>
            <a:r>
              <a:rPr dirty="0" sz="3200" lang="en-US" smtClean="0"/>
              <a:t>Discourage activities, to control symptoms.</a:t>
            </a:r>
            <a:endParaRPr dirty="0" sz="3200" lang="en-US"/>
          </a:p>
        </p:txBody>
      </p:sp>
      <p:sp>
        <p:nvSpPr>
          <p:cNvPr id="104977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6.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8" name=""/>
        <p:cNvGrpSpPr/>
        <p:nvPr/>
      </p:nvGrpSpPr>
      <p:grpSpPr>
        <a:xfrm>
          <a:off x="0" y="0"/>
          <a:ext cx="0" cy="0"/>
          <a:chOff x="0" y="0"/>
          <a:chExt cx="0" cy="0"/>
        </a:xfrm>
      </p:grpSpPr>
      <p:sp>
        <p:nvSpPr>
          <p:cNvPr id="1049771" name="Content Placeholder 2"/>
          <p:cNvSpPr>
            <a:spLocks noGrp="1"/>
          </p:cNvSpPr>
          <p:nvPr>
            <p:ph idx="1"/>
          </p:nvPr>
        </p:nvSpPr>
        <p:spPr>
          <a:xfrm>
            <a:off x="1238251" y="228600"/>
            <a:ext cx="9810750" cy="6400800"/>
          </a:xfrm>
        </p:spPr>
        <p:txBody>
          <a:bodyPr>
            <a:normAutofit/>
          </a:bodyPr>
          <a:p>
            <a:r>
              <a:rPr dirty="0" sz="3000" lang="en-US" smtClean="0"/>
              <a:t>Offer psychological support to allay anxiety.</a:t>
            </a:r>
          </a:p>
          <a:p>
            <a:r>
              <a:rPr b="1" dirty="0" sz="3000" lang="en-US" smtClean="0"/>
              <a:t>Drugs;  </a:t>
            </a:r>
            <a:r>
              <a:rPr dirty="0" sz="3000" lang="en-US" smtClean="0"/>
              <a:t>haematinics, frusemide 40 mg BD, digoxin 0.5 mg 8 hrly and vitamin supplement eg Vit B complex 1 tablet  8 hourly.</a:t>
            </a:r>
          </a:p>
          <a:p>
            <a:pPr>
              <a:buNone/>
            </a:pPr>
            <a:r>
              <a:rPr dirty="0" sz="3000" lang="en-US" smtClean="0"/>
              <a:t>NB  : Condition deteriorates, </a:t>
            </a:r>
            <a:r>
              <a:rPr b="1" dirty="0" sz="3000" lang="en-US" smtClean="0">
                <a:solidFill>
                  <a:srgbClr val="DA269E"/>
                </a:solidFill>
              </a:rPr>
              <a:t>medical TOP </a:t>
            </a:r>
            <a:r>
              <a:rPr dirty="0" sz="3000" lang="en-US" smtClean="0"/>
              <a:t>is preferred.</a:t>
            </a:r>
          </a:p>
          <a:p>
            <a:pPr>
              <a:buNone/>
            </a:pPr>
            <a:r>
              <a:rPr dirty="0" sz="3000" lang="en-US" smtClean="0"/>
              <a:t>			</a:t>
            </a:r>
            <a:r>
              <a:rPr b="1" dirty="0" sz="3000" lang="en-US" u="sng" smtClean="0"/>
              <a:t>GRADE    4</a:t>
            </a:r>
          </a:p>
          <a:p>
            <a:r>
              <a:rPr dirty="0" sz="3000" lang="en-US" smtClean="0"/>
              <a:t>Immediately pregnancy is diagnosed, admission to a level 6 hospital  is recommended.</a:t>
            </a:r>
          </a:p>
          <a:p>
            <a:r>
              <a:rPr dirty="0" sz="3000" lang="en-US" smtClean="0"/>
              <a:t>Nursed on complete bed rest &amp; is fed to avoid undue stress.</a:t>
            </a:r>
          </a:p>
          <a:p>
            <a:pPr>
              <a:buNone/>
            </a:pPr>
            <a:endParaRPr dirty="0" sz="2800" lang="en-US"/>
          </a:p>
        </p:txBody>
      </p:sp>
      <p:sp>
        <p:nvSpPr>
          <p:cNvPr id="104977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7.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79" name=""/>
        <p:cNvGrpSpPr/>
        <p:nvPr/>
      </p:nvGrpSpPr>
      <p:grpSpPr>
        <a:xfrm>
          <a:off x="0" y="0"/>
          <a:ext cx="0" cy="0"/>
          <a:chOff x="0" y="0"/>
          <a:chExt cx="0" cy="0"/>
        </a:xfrm>
      </p:grpSpPr>
      <p:sp>
        <p:nvSpPr>
          <p:cNvPr id="1049773" name="Content Placeholder 2"/>
          <p:cNvSpPr>
            <a:spLocks noGrp="1"/>
          </p:cNvSpPr>
          <p:nvPr>
            <p:ph idx="1"/>
          </p:nvPr>
        </p:nvSpPr>
        <p:spPr>
          <a:xfrm>
            <a:off x="1238250" y="0"/>
            <a:ext cx="8953500" cy="6858000"/>
          </a:xfrm>
        </p:spPr>
        <p:txBody>
          <a:bodyPr>
            <a:noAutofit/>
          </a:bodyPr>
          <a:p>
            <a:r>
              <a:rPr dirty="0" sz="3200" lang="en-US" smtClean="0"/>
              <a:t>On nutrition, restrict fluid intake and  encourage a balanced diet of easily digestible   foods.</a:t>
            </a:r>
          </a:p>
          <a:p>
            <a:pPr>
              <a:buFont typeface="Wingdings" pitchFamily="2" charset="2"/>
              <a:buChar char="Ø"/>
            </a:pPr>
            <a:r>
              <a:rPr dirty="0" sz="3200" lang="en-US" smtClean="0"/>
              <a:t>It’s served  in small amounts frequently to avoid worsening the symptoms. </a:t>
            </a:r>
          </a:p>
          <a:p>
            <a:r>
              <a:rPr dirty="0" sz="3200" lang="en-US" smtClean="0"/>
              <a:t>Closely monitor  as in grade 3 and offer psychological support accordingly.</a:t>
            </a:r>
          </a:p>
          <a:p>
            <a:r>
              <a:rPr dirty="0" sz="3200" lang="en-US" smtClean="0"/>
              <a:t>Drugs as in grade 3.</a:t>
            </a:r>
          </a:p>
          <a:p>
            <a:r>
              <a:rPr dirty="0" sz="3200" lang="en-US" smtClean="0"/>
              <a:t>For deterioration, TOP is best performed  before a gestation  of  16 weeks.</a:t>
            </a:r>
            <a:endParaRPr dirty="0" sz="3200" lang="en-US"/>
          </a:p>
        </p:txBody>
      </p:sp>
      <p:sp>
        <p:nvSpPr>
          <p:cNvPr id="104977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8.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0" name=""/>
        <p:cNvGrpSpPr/>
        <p:nvPr/>
      </p:nvGrpSpPr>
      <p:grpSpPr>
        <a:xfrm>
          <a:off x="0" y="0"/>
          <a:ext cx="0" cy="0"/>
          <a:chOff x="0" y="0"/>
          <a:chExt cx="0" cy="0"/>
        </a:xfrm>
      </p:grpSpPr>
      <p:sp>
        <p:nvSpPr>
          <p:cNvPr id="1049775" name="Title 1"/>
          <p:cNvSpPr>
            <a:spLocks noGrp="1"/>
          </p:cNvSpPr>
          <p:nvPr>
            <p:ph type="title"/>
          </p:nvPr>
        </p:nvSpPr>
        <p:spPr>
          <a:xfrm>
            <a:off x="1794509" y="0"/>
            <a:ext cx="9372600" cy="838200"/>
          </a:xfrm>
        </p:spPr>
        <p:txBody>
          <a:bodyPr/>
          <a:p>
            <a:r>
              <a:rPr dirty="0" lang="en-US" smtClean="0"/>
              <a:t>		</a:t>
            </a:r>
            <a:r>
              <a:rPr dirty="0" lang="en-US" smtClean="0">
                <a:solidFill>
                  <a:schemeClr val="accent2">
                    <a:lumMod val="50000"/>
                  </a:schemeClr>
                </a:solidFill>
              </a:rPr>
              <a:t>I</a:t>
            </a:r>
            <a:r>
              <a:rPr b="1" dirty="0" lang="en-US" smtClean="0">
                <a:solidFill>
                  <a:schemeClr val="accent2">
                    <a:lumMod val="50000"/>
                  </a:schemeClr>
                </a:solidFill>
              </a:rPr>
              <a:t>ntrapartum</a:t>
            </a:r>
            <a:endParaRPr dirty="0" lang="en-US">
              <a:solidFill>
                <a:schemeClr val="accent2">
                  <a:lumMod val="50000"/>
                </a:schemeClr>
              </a:solidFill>
            </a:endParaRPr>
          </a:p>
        </p:txBody>
      </p:sp>
      <p:sp>
        <p:nvSpPr>
          <p:cNvPr id="1049776" name="Content Placeholder 2"/>
          <p:cNvSpPr>
            <a:spLocks noGrp="1"/>
          </p:cNvSpPr>
          <p:nvPr>
            <p:ph idx="1"/>
          </p:nvPr>
        </p:nvSpPr>
        <p:spPr>
          <a:xfrm>
            <a:off x="1238250" y="762000"/>
            <a:ext cx="10191750" cy="5943600"/>
          </a:xfrm>
        </p:spPr>
        <p:txBody>
          <a:bodyPr>
            <a:normAutofit/>
          </a:bodyPr>
          <a:p>
            <a:pPr>
              <a:buNone/>
            </a:pPr>
            <a:r>
              <a:rPr b="1" dirty="0" sz="3000" lang="en-US" smtClean="0"/>
              <a:t>	NB:  </a:t>
            </a:r>
            <a:r>
              <a:rPr dirty="0" sz="3000" lang="en-US" smtClean="0"/>
              <a:t>Spontaneous labour and delivery is the best option, due to various complications which occurs with  induction &amp; Caesarean Section respectively.</a:t>
            </a:r>
          </a:p>
          <a:p>
            <a:pPr>
              <a:buNone/>
            </a:pPr>
            <a:r>
              <a:rPr b="1" dirty="0" sz="3000" lang="en-US" smtClean="0"/>
              <a:t>		</a:t>
            </a:r>
            <a:r>
              <a:rPr b="1" dirty="0" sz="3000" i="1" lang="en-US" smtClean="0"/>
              <a:t>First Stage</a:t>
            </a:r>
          </a:p>
          <a:p>
            <a:r>
              <a:rPr dirty="0" sz="3000" lang="en-US" smtClean="0"/>
              <a:t>Care is closely supervised by a multidisciplinary team ,ie obstetrician, Cardiologist, anaesthetist, neonatologist  &amp; Midwife.</a:t>
            </a:r>
          </a:p>
          <a:p>
            <a:pPr>
              <a:buFont typeface="Wingdings" pitchFamily="2" charset="2"/>
              <a:buChar char="Ø"/>
            </a:pPr>
            <a:r>
              <a:rPr dirty="0" sz="3000" lang="en-US" smtClean="0"/>
              <a:t>MDW keeps the others updated of the progress</a:t>
            </a:r>
            <a:endParaRPr dirty="0" sz="3000" lang="en-US"/>
          </a:p>
        </p:txBody>
      </p:sp>
      <p:sp>
        <p:nvSpPr>
          <p:cNvPr id="104977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09.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1" name=""/>
        <p:cNvGrpSpPr/>
        <p:nvPr/>
      </p:nvGrpSpPr>
      <p:grpSpPr>
        <a:xfrm>
          <a:off x="0" y="0"/>
          <a:ext cx="0" cy="0"/>
          <a:chOff x="0" y="0"/>
          <a:chExt cx="0" cy="0"/>
        </a:xfrm>
      </p:grpSpPr>
      <p:sp>
        <p:nvSpPr>
          <p:cNvPr id="1049778" name="Content Placeholder 2"/>
          <p:cNvSpPr>
            <a:spLocks noGrp="1"/>
          </p:cNvSpPr>
          <p:nvPr>
            <p:ph idx="1"/>
          </p:nvPr>
        </p:nvSpPr>
        <p:spPr>
          <a:xfrm>
            <a:off x="1238250" y="0"/>
            <a:ext cx="9715500" cy="6705600"/>
          </a:xfrm>
        </p:spPr>
        <p:txBody>
          <a:bodyPr>
            <a:normAutofit/>
          </a:bodyPr>
          <a:p>
            <a:r>
              <a:rPr dirty="0" sz="2900" lang="en-US" smtClean="0"/>
              <a:t>For  grades 2-4 ,nurse in fowler’s position and administer oxygen 4-5L/min.</a:t>
            </a:r>
          </a:p>
          <a:p>
            <a:r>
              <a:rPr dirty="0" sz="2900" lang="en-US" smtClean="0"/>
              <a:t>Strictly maintain records of maternal observation every  ½ hourly.</a:t>
            </a:r>
          </a:p>
          <a:p>
            <a:r>
              <a:rPr dirty="0" sz="2900" lang="en-US" smtClean="0"/>
              <a:t>If resources are available, for grades 3 &amp; 4 pulse oximetry is utilised to assess arterial haemoglobin saturation. Normal is &gt; 92% .</a:t>
            </a:r>
          </a:p>
          <a:p>
            <a:pPr>
              <a:buFont typeface="Wingdings" pitchFamily="2" charset="2"/>
              <a:buChar char="Ø"/>
            </a:pPr>
            <a:r>
              <a:rPr dirty="0" sz="2900" lang="en-US" smtClean="0"/>
              <a:t>The   instrument also records pulse rate.</a:t>
            </a:r>
          </a:p>
          <a:p>
            <a:r>
              <a:rPr dirty="0" sz="2900" lang="en-US" smtClean="0"/>
              <a:t>For severe cases,  patient is connected to an ECG and central venous pressure catheter is inserted to accurately monitor </a:t>
            </a:r>
            <a:r>
              <a:rPr dirty="0" sz="2900" lang="en-US" err="1" smtClean="0"/>
              <a:t>haemodynaemic</a:t>
            </a:r>
            <a:r>
              <a:rPr dirty="0" sz="2900" lang="en-US" smtClean="0"/>
              <a:t> status.</a:t>
            </a:r>
            <a:endParaRPr dirty="0" sz="2900" lang="en-US"/>
          </a:p>
        </p:txBody>
      </p:sp>
      <p:sp>
        <p:nvSpPr>
          <p:cNvPr id="104977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0.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2" name=""/>
        <p:cNvGrpSpPr/>
        <p:nvPr/>
      </p:nvGrpSpPr>
      <p:grpSpPr>
        <a:xfrm>
          <a:off x="0" y="0"/>
          <a:ext cx="0" cy="0"/>
          <a:chOff x="0" y="0"/>
          <a:chExt cx="0" cy="0"/>
        </a:xfrm>
      </p:grpSpPr>
      <p:sp>
        <p:nvSpPr>
          <p:cNvPr id="1049780" name="Content Placeholder 2"/>
          <p:cNvSpPr>
            <a:spLocks noGrp="1"/>
          </p:cNvSpPr>
          <p:nvPr>
            <p:ph idx="1"/>
          </p:nvPr>
        </p:nvSpPr>
        <p:spPr>
          <a:xfrm>
            <a:off x="1428751" y="0"/>
            <a:ext cx="9738359" cy="6248400"/>
          </a:xfrm>
        </p:spPr>
        <p:txBody>
          <a:bodyPr>
            <a:normAutofit/>
          </a:bodyPr>
          <a:p>
            <a:r>
              <a:rPr dirty="0" sz="2800" lang="en-US" smtClean="0"/>
              <a:t>Carry  out  systemic review hourly.</a:t>
            </a:r>
          </a:p>
          <a:p>
            <a:r>
              <a:rPr dirty="0" sz="2800" lang="en-US" smtClean="0"/>
              <a:t>Pain relief , epidural anaesthesia  is the best ,because it leads to  peripheral vasodilatation hence decreases venous return. </a:t>
            </a:r>
          </a:p>
          <a:p>
            <a:pPr>
              <a:buFont typeface="Wingdings" pitchFamily="2" charset="2"/>
              <a:buChar char="Ø"/>
            </a:pPr>
            <a:r>
              <a:rPr dirty="0" sz="2800" lang="en-US" smtClean="0"/>
              <a:t>The mother remains comfortable ,since pulmonary congestion is alleviated.</a:t>
            </a:r>
          </a:p>
          <a:p>
            <a:pPr>
              <a:buFont typeface="Wingdings" pitchFamily="2" charset="2"/>
              <a:buChar char="Ø"/>
            </a:pPr>
            <a:r>
              <a:rPr dirty="0" sz="2800" lang="en-US" smtClean="0"/>
              <a:t>Medical methods of pain control can also be used.</a:t>
            </a:r>
          </a:p>
          <a:p>
            <a:r>
              <a:rPr dirty="0" sz="2800" lang="en-US" smtClean="0"/>
              <a:t>Administer prophylactic antibiotics eg cap Ampicillin 2 gm &amp; gentamycin 80 mg  stat.</a:t>
            </a:r>
          </a:p>
          <a:p>
            <a:pPr>
              <a:buNone/>
            </a:pPr>
            <a:endParaRPr dirty="0" sz="2800" lang="en-US"/>
          </a:p>
        </p:txBody>
      </p:sp>
      <p:sp>
        <p:nvSpPr>
          <p:cNvPr id="104978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1.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3" name=""/>
        <p:cNvGrpSpPr/>
        <p:nvPr/>
      </p:nvGrpSpPr>
      <p:grpSpPr>
        <a:xfrm>
          <a:off x="0" y="0"/>
          <a:ext cx="0" cy="0"/>
          <a:chOff x="0" y="0"/>
          <a:chExt cx="0" cy="0"/>
        </a:xfrm>
      </p:grpSpPr>
      <p:sp>
        <p:nvSpPr>
          <p:cNvPr id="1049782" name="Content Placeholder 2"/>
          <p:cNvSpPr>
            <a:spLocks noGrp="1"/>
          </p:cNvSpPr>
          <p:nvPr>
            <p:ph idx="1"/>
          </p:nvPr>
        </p:nvSpPr>
        <p:spPr>
          <a:xfrm>
            <a:off x="1143000" y="152400"/>
            <a:ext cx="9715500" cy="6172200"/>
          </a:xfrm>
        </p:spPr>
        <p:txBody>
          <a:bodyPr>
            <a:noAutofit/>
          </a:bodyPr>
          <a:p>
            <a:r>
              <a:rPr dirty="0" sz="2800" lang="en-US" smtClean="0"/>
              <a:t>Closely monitor the fetal condition and maintain records.</a:t>
            </a:r>
          </a:p>
          <a:p>
            <a:r>
              <a:rPr dirty="0" sz="2800" lang="en-US" smtClean="0"/>
              <a:t>Encourage oral fluids to provide energy, if not tolerated, commence  IVI to run at  10dpm.</a:t>
            </a:r>
          </a:p>
          <a:p>
            <a:r>
              <a:rPr dirty="0" sz="2800" lang="en-US" smtClean="0"/>
              <a:t>The stage should  not  exceed 10- 12 hours.</a:t>
            </a:r>
          </a:p>
          <a:p>
            <a:pPr>
              <a:buNone/>
            </a:pPr>
            <a:r>
              <a:rPr dirty="0" sz="2800" lang="en-US" smtClean="0"/>
              <a:t>			</a:t>
            </a:r>
            <a:r>
              <a:rPr b="1" dirty="0" sz="2800" i="1" lang="en-US" smtClean="0"/>
              <a:t>Second stage </a:t>
            </a:r>
          </a:p>
          <a:p>
            <a:r>
              <a:rPr dirty="0" sz="2800" lang="en-US" smtClean="0"/>
              <a:t>Have resuscitative equipments read to include specialist manpower for grades 2-4.</a:t>
            </a:r>
          </a:p>
          <a:p>
            <a:r>
              <a:rPr dirty="0" sz="2800" lang="en-US" smtClean="0"/>
              <a:t>Delivery should be conducted by the obstetrician.</a:t>
            </a:r>
            <a:endParaRPr dirty="0" sz="2800" lang="en-US"/>
          </a:p>
        </p:txBody>
      </p:sp>
      <p:sp>
        <p:nvSpPr>
          <p:cNvPr id="104978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2.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4" name=""/>
        <p:cNvGrpSpPr/>
        <p:nvPr/>
      </p:nvGrpSpPr>
      <p:grpSpPr>
        <a:xfrm>
          <a:off x="0" y="0"/>
          <a:ext cx="0" cy="0"/>
          <a:chOff x="0" y="0"/>
          <a:chExt cx="0" cy="0"/>
        </a:xfrm>
      </p:grpSpPr>
      <p:sp>
        <p:nvSpPr>
          <p:cNvPr id="1049784" name="Content Placeholder 2"/>
          <p:cNvSpPr>
            <a:spLocks noGrp="1"/>
          </p:cNvSpPr>
          <p:nvPr>
            <p:ph idx="1"/>
          </p:nvPr>
        </p:nvSpPr>
        <p:spPr>
          <a:xfrm>
            <a:off x="1238250" y="228600"/>
            <a:ext cx="9715500" cy="6477000"/>
          </a:xfrm>
        </p:spPr>
        <p:txBody>
          <a:bodyPr>
            <a:noAutofit/>
          </a:bodyPr>
          <a:p>
            <a:r>
              <a:rPr dirty="0" sz="2900" lang="en-US" smtClean="0"/>
              <a:t>Encourage a semi-fowler’s position for gd 1&amp;2 , fowler’s position for gd 3 &amp; 4.</a:t>
            </a:r>
          </a:p>
          <a:p>
            <a:r>
              <a:rPr dirty="0" sz="2900" lang="en-US" smtClean="0"/>
              <a:t>Grade 1 &amp;2 encourage pushing as per natural desires. </a:t>
            </a:r>
            <a:r>
              <a:rPr dirty="0" sz="2900" lang="en-US" smtClean="0">
                <a:solidFill>
                  <a:srgbClr val="DA269E"/>
                </a:solidFill>
              </a:rPr>
              <a:t> NB </a:t>
            </a:r>
            <a:r>
              <a:rPr dirty="0" sz="2900" lang="en-US" smtClean="0"/>
              <a:t>Holding the breathe during bearing down leads to rise of intrathoracic  pressure = to cardiac arrest.</a:t>
            </a:r>
          </a:p>
          <a:p>
            <a:r>
              <a:rPr dirty="0" sz="2900" lang="en-US" smtClean="0"/>
              <a:t>Grade 3 &amp;4 should not push at all because the effort strains the already  stressed heart = arrest.</a:t>
            </a:r>
          </a:p>
          <a:p>
            <a:r>
              <a:rPr dirty="0" sz="2900" lang="en-US" smtClean="0"/>
              <a:t>Episiotomy and vacuum extraction are performed to shorten perineal phase. </a:t>
            </a:r>
            <a:endParaRPr dirty="0" sz="2900" lang="en-US"/>
          </a:p>
        </p:txBody>
      </p:sp>
      <p:sp>
        <p:nvSpPr>
          <p:cNvPr id="104978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3.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5" name=""/>
        <p:cNvGrpSpPr/>
        <p:nvPr/>
      </p:nvGrpSpPr>
      <p:grpSpPr>
        <a:xfrm>
          <a:off x="0" y="0"/>
          <a:ext cx="0" cy="0"/>
          <a:chOff x="0" y="0"/>
          <a:chExt cx="0" cy="0"/>
        </a:xfrm>
      </p:grpSpPr>
      <p:sp>
        <p:nvSpPr>
          <p:cNvPr id="1049786" name="Content Placeholder 2"/>
          <p:cNvSpPr>
            <a:spLocks noGrp="1"/>
          </p:cNvSpPr>
          <p:nvPr>
            <p:ph idx="1"/>
          </p:nvPr>
        </p:nvSpPr>
        <p:spPr>
          <a:xfrm>
            <a:off x="1333500" y="304800"/>
            <a:ext cx="9810750" cy="6169152"/>
          </a:xfrm>
        </p:spPr>
        <p:txBody>
          <a:bodyPr>
            <a:noAutofit/>
          </a:bodyPr>
          <a:p>
            <a:r>
              <a:rPr dirty="0" sz="3200" lang="en-US" smtClean="0"/>
              <a:t>Avoid uterotonic agents as much as possible  since they lead to cardiac overload.</a:t>
            </a:r>
          </a:p>
          <a:p>
            <a:pPr>
              <a:buNone/>
            </a:pPr>
            <a:r>
              <a:rPr dirty="0" sz="3200" lang="en-US" smtClean="0"/>
              <a:t>			</a:t>
            </a:r>
            <a:r>
              <a:rPr b="1" dirty="0" sz="3200" i="1" lang="en-US" smtClean="0"/>
              <a:t>Third  Stage</a:t>
            </a:r>
          </a:p>
          <a:p>
            <a:r>
              <a:rPr dirty="0" sz="3200" lang="en-US" smtClean="0"/>
              <a:t>Be ready to resuscitate the mother when placenta separates. </a:t>
            </a:r>
          </a:p>
          <a:p>
            <a:r>
              <a:rPr dirty="0" sz="3200" lang="en-US" smtClean="0"/>
              <a:t>For imminent PPH, either commence synitocinon drip of 5 units in ½ L of 5% dextrose  to run for not more than 2 hrs, or a bolus of syntocinon 5units slowly.</a:t>
            </a:r>
          </a:p>
          <a:p>
            <a:pPr>
              <a:buFont typeface="Wingdings" pitchFamily="2" charset="2"/>
              <a:buChar char="Ø"/>
            </a:pPr>
            <a:r>
              <a:rPr dirty="0" sz="3200" lang="en-US" smtClean="0"/>
              <a:t>Watch out for hypotension and tachycardia. </a:t>
            </a:r>
            <a:endParaRPr dirty="0" sz="3200" lang="en-US"/>
          </a:p>
        </p:txBody>
      </p:sp>
      <p:sp>
        <p:nvSpPr>
          <p:cNvPr id="104978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4.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6" name=""/>
        <p:cNvGrpSpPr/>
        <p:nvPr/>
      </p:nvGrpSpPr>
      <p:grpSpPr>
        <a:xfrm>
          <a:off x="0" y="0"/>
          <a:ext cx="0" cy="0"/>
          <a:chOff x="0" y="0"/>
          <a:chExt cx="0" cy="0"/>
        </a:xfrm>
      </p:grpSpPr>
      <p:sp>
        <p:nvSpPr>
          <p:cNvPr id="1049788" name="Content Placeholder 2"/>
          <p:cNvSpPr>
            <a:spLocks noGrp="1"/>
          </p:cNvSpPr>
          <p:nvPr>
            <p:ph idx="1"/>
          </p:nvPr>
        </p:nvSpPr>
        <p:spPr>
          <a:xfrm>
            <a:off x="1333501" y="304800"/>
            <a:ext cx="9833609" cy="5943600"/>
          </a:xfrm>
        </p:spPr>
        <p:txBody>
          <a:bodyPr/>
          <a:p>
            <a:r>
              <a:rPr dirty="0" sz="3200" lang="en-US" smtClean="0"/>
              <a:t>For grade 3 &amp; 4, administer lasix 80 mg IV stat , as soon as placenta separates.</a:t>
            </a:r>
          </a:p>
          <a:p>
            <a:pPr>
              <a:buFont typeface="Wingdings" pitchFamily="2" charset="2"/>
              <a:buChar char="Ø"/>
            </a:pPr>
            <a:r>
              <a:rPr dirty="0" sz="3200" lang="en-US" smtClean="0"/>
              <a:t>Aim is to reduce fluid overload by facilitating diuresis.</a:t>
            </a:r>
          </a:p>
          <a:p>
            <a:r>
              <a:rPr dirty="0" sz="3200" lang="en-US" smtClean="0"/>
              <a:t>Discourage from breathing heavily,ie, gd 3&amp;4 and place the arm at the umbilicus level.</a:t>
            </a:r>
          </a:p>
          <a:p>
            <a:pPr>
              <a:buFont typeface="Wingdings" pitchFamily="2" charset="2"/>
              <a:buChar char="Ø"/>
            </a:pPr>
            <a:r>
              <a:rPr dirty="0" sz="3200" lang="en-US" smtClean="0"/>
              <a:t>This reduces intra-abdominal pressure hence control occurrence of cardiac arrest.</a:t>
            </a:r>
          </a:p>
          <a:p>
            <a:endParaRPr dirty="0" lang="en-US"/>
          </a:p>
        </p:txBody>
      </p:sp>
      <p:sp>
        <p:nvSpPr>
          <p:cNvPr id="104978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5.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7" name=""/>
        <p:cNvGrpSpPr/>
        <p:nvPr/>
      </p:nvGrpSpPr>
      <p:grpSpPr>
        <a:xfrm>
          <a:off x="0" y="0"/>
          <a:ext cx="0" cy="0"/>
          <a:chOff x="0" y="0"/>
          <a:chExt cx="0" cy="0"/>
        </a:xfrm>
      </p:grpSpPr>
      <p:sp>
        <p:nvSpPr>
          <p:cNvPr id="1049790" name="Title 1"/>
          <p:cNvSpPr>
            <a:spLocks noGrp="1"/>
          </p:cNvSpPr>
          <p:nvPr>
            <p:ph type="title"/>
          </p:nvPr>
        </p:nvSpPr>
        <p:spPr>
          <a:xfrm>
            <a:off x="1794509" y="0"/>
            <a:ext cx="9372600" cy="990600"/>
          </a:xfrm>
        </p:spPr>
        <p:txBody>
          <a:bodyPr/>
          <a:p>
            <a:r>
              <a:rPr dirty="0" i="1" lang="en-US" smtClean="0"/>
              <a:t>		</a:t>
            </a:r>
            <a:r>
              <a:rPr b="1" dirty="0" lang="en-US" smtClean="0">
                <a:solidFill>
                  <a:schemeClr val="accent2">
                    <a:lumMod val="50000"/>
                  </a:schemeClr>
                </a:solidFill>
              </a:rPr>
              <a:t>Postnatally</a:t>
            </a:r>
            <a:endParaRPr b="1" dirty="0" lang="en-US">
              <a:solidFill>
                <a:schemeClr val="accent2">
                  <a:lumMod val="50000"/>
                </a:schemeClr>
              </a:solidFill>
            </a:endParaRPr>
          </a:p>
        </p:txBody>
      </p:sp>
      <p:sp>
        <p:nvSpPr>
          <p:cNvPr id="1049791" name="Content Placeholder 2"/>
          <p:cNvSpPr>
            <a:spLocks noGrp="1"/>
          </p:cNvSpPr>
          <p:nvPr>
            <p:ph idx="1"/>
          </p:nvPr>
        </p:nvSpPr>
        <p:spPr>
          <a:xfrm>
            <a:off x="1238251" y="838200"/>
            <a:ext cx="9810750" cy="6019800"/>
          </a:xfrm>
        </p:spPr>
        <p:txBody>
          <a:bodyPr>
            <a:noAutofit/>
          </a:bodyPr>
          <a:p>
            <a:r>
              <a:rPr dirty="0" sz="3200" lang="en-US" smtClean="0"/>
              <a:t>Grade 1&amp;2 administer lasix 80 mg IV stat after 3</a:t>
            </a:r>
            <a:r>
              <a:rPr baseline="30000" dirty="0" sz="3200" lang="en-US" smtClean="0"/>
              <a:t>rd</a:t>
            </a:r>
            <a:r>
              <a:rPr dirty="0" sz="3200" lang="en-US" smtClean="0"/>
              <a:t> stage.</a:t>
            </a:r>
          </a:p>
          <a:p>
            <a:pPr>
              <a:buFont typeface="Wingdings" pitchFamily="2" charset="2"/>
              <a:buChar char="Ø"/>
            </a:pPr>
            <a:r>
              <a:rPr dirty="0" sz="3200" lang="en-US" smtClean="0"/>
              <a:t>Closely monitor vital signs &amp; other observations for the 1</a:t>
            </a:r>
            <a:r>
              <a:rPr baseline="30000" dirty="0" sz="3200" lang="en-US" smtClean="0"/>
              <a:t>st</a:t>
            </a:r>
            <a:r>
              <a:rPr dirty="0" sz="3200" lang="en-US" smtClean="0"/>
              <a:t> 48 hrs, to early diagnose complications. Frequency is :</a:t>
            </a:r>
          </a:p>
          <a:p>
            <a:pPr>
              <a:buFont typeface="Wingdings" pitchFamily="2" charset="2"/>
              <a:buChar char="ü"/>
            </a:pPr>
            <a:r>
              <a:rPr dirty="0" sz="3200" lang="en-US" smtClean="0"/>
              <a:t>¼ -½ hourly for the first 4 hours.</a:t>
            </a:r>
          </a:p>
          <a:p>
            <a:pPr>
              <a:buFont typeface="Wingdings" pitchFamily="2" charset="2"/>
              <a:buChar char="ü"/>
            </a:pPr>
            <a:r>
              <a:rPr dirty="0" sz="3200" lang="en-US" smtClean="0"/>
              <a:t>Hourly, for the next 20 hours .</a:t>
            </a:r>
          </a:p>
          <a:p>
            <a:pPr>
              <a:buFont typeface="Wingdings" pitchFamily="2" charset="2"/>
              <a:buChar char="ü"/>
            </a:pPr>
            <a:r>
              <a:rPr dirty="0" sz="3200" lang="en-US" smtClean="0"/>
              <a:t>Finally, 2hrly for the next 24 hours.</a:t>
            </a:r>
          </a:p>
          <a:p>
            <a:pPr>
              <a:buNone/>
            </a:pPr>
            <a:r>
              <a:rPr dirty="0" sz="3200" lang="en-US" smtClean="0"/>
              <a:t>	Maintain records, interpret &amp; consult PRN. </a:t>
            </a:r>
            <a:endParaRPr dirty="0" sz="3200" lang="en-US"/>
          </a:p>
        </p:txBody>
      </p:sp>
      <p:sp>
        <p:nvSpPr>
          <p:cNvPr id="104979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6.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8" name=""/>
        <p:cNvGrpSpPr/>
        <p:nvPr/>
      </p:nvGrpSpPr>
      <p:grpSpPr>
        <a:xfrm>
          <a:off x="0" y="0"/>
          <a:ext cx="0" cy="0"/>
          <a:chOff x="0" y="0"/>
          <a:chExt cx="0" cy="0"/>
        </a:xfrm>
      </p:grpSpPr>
      <p:sp>
        <p:nvSpPr>
          <p:cNvPr id="1049793" name="Content Placeholder 2"/>
          <p:cNvSpPr>
            <a:spLocks noGrp="1"/>
          </p:cNvSpPr>
          <p:nvPr>
            <p:ph idx="1"/>
          </p:nvPr>
        </p:nvSpPr>
        <p:spPr>
          <a:xfrm>
            <a:off x="1238250" y="304800"/>
            <a:ext cx="9620250" cy="6096000"/>
          </a:xfrm>
        </p:spPr>
        <p:txBody>
          <a:bodyPr>
            <a:normAutofit/>
          </a:bodyPr>
          <a:p>
            <a:pPr>
              <a:buFont typeface="Wingdings" pitchFamily="2" charset="2"/>
              <a:buChar char="Ø"/>
            </a:pPr>
            <a:r>
              <a:rPr dirty="0" sz="3200" lang="en-US" smtClean="0"/>
              <a:t>Nurse in a quiet room and sedate to facilitate rest. Midwife to be in attendance all through.</a:t>
            </a:r>
          </a:p>
          <a:p>
            <a:r>
              <a:rPr dirty="0" sz="3200" lang="en-US" smtClean="0"/>
              <a:t>Grade  3&amp;4, 4</a:t>
            </a:r>
            <a:r>
              <a:rPr baseline="30000" dirty="0" sz="3200" lang="en-US" smtClean="0"/>
              <a:t>th</a:t>
            </a:r>
            <a:r>
              <a:rPr dirty="0" sz="3200" lang="en-US" smtClean="0"/>
              <a:t> stage care is best carried out in ICU on a continuous  ECG monitor and pulse oximeter.</a:t>
            </a:r>
          </a:p>
          <a:p>
            <a:pPr>
              <a:buFont typeface="Wingdings" pitchFamily="2" charset="2"/>
              <a:buChar char="Ø"/>
            </a:pPr>
            <a:r>
              <a:rPr dirty="0" sz="3200" lang="en-US" smtClean="0"/>
              <a:t>Repeat the antibiotic dose given during 1</a:t>
            </a:r>
            <a:r>
              <a:rPr baseline="30000" dirty="0" sz="3200" lang="en-US" smtClean="0"/>
              <a:t>st</a:t>
            </a:r>
            <a:r>
              <a:rPr dirty="0" sz="3200" lang="en-US" smtClean="0"/>
              <a:t> stage 6 hours post delivery and CT oral Ampicillin 500 mg 6hrly for 2 weeks</a:t>
            </a:r>
          </a:p>
          <a:p>
            <a:pPr>
              <a:buFont typeface="Wingdings" pitchFamily="2" charset="2"/>
              <a:buChar char="Ø"/>
            </a:pPr>
            <a:r>
              <a:rPr dirty="0" sz="3200" lang="en-US" smtClean="0"/>
              <a:t>Continue digitalisation as usual.</a:t>
            </a:r>
            <a:endParaRPr dirty="0" sz="3200" lang="en-US"/>
          </a:p>
        </p:txBody>
      </p:sp>
      <p:sp>
        <p:nvSpPr>
          <p:cNvPr id="104979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7.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89" name=""/>
        <p:cNvGrpSpPr/>
        <p:nvPr/>
      </p:nvGrpSpPr>
      <p:grpSpPr>
        <a:xfrm>
          <a:off x="0" y="0"/>
          <a:ext cx="0" cy="0"/>
          <a:chOff x="0" y="0"/>
          <a:chExt cx="0" cy="0"/>
        </a:xfrm>
      </p:grpSpPr>
      <p:sp>
        <p:nvSpPr>
          <p:cNvPr id="1049795" name="Content Placeholder 2"/>
          <p:cNvSpPr>
            <a:spLocks noGrp="1"/>
          </p:cNvSpPr>
          <p:nvPr>
            <p:ph idx="1"/>
          </p:nvPr>
        </p:nvSpPr>
        <p:spPr>
          <a:xfrm>
            <a:off x="1238250" y="228600"/>
            <a:ext cx="9620250" cy="6248400"/>
          </a:xfrm>
        </p:spPr>
        <p:txBody>
          <a:bodyPr>
            <a:normAutofit/>
          </a:bodyPr>
          <a:p>
            <a:r>
              <a:rPr dirty="0" sz="3200" lang="en-US" smtClean="0"/>
              <a:t>Promote breastfeeding if it’s her choice and rest of the care is as usual.</a:t>
            </a:r>
          </a:p>
          <a:p>
            <a:r>
              <a:rPr dirty="0" sz="3200" lang="en-US" smtClean="0"/>
              <a:t>Generally, in absence of complications DR discharges home GD 1&amp;2 after 10 days and after 2 weeks </a:t>
            </a:r>
            <a:r>
              <a:rPr dirty="0" lang="en-US" smtClean="0"/>
              <a:t>,</a:t>
            </a:r>
            <a:r>
              <a:rPr dirty="0" sz="3200" lang="en-US" smtClean="0"/>
              <a:t> GD 3&amp;4.</a:t>
            </a:r>
          </a:p>
          <a:p>
            <a:r>
              <a:rPr dirty="0" sz="3200" lang="en-US" smtClean="0"/>
              <a:t>Advise on discharge includes:-</a:t>
            </a:r>
          </a:p>
          <a:p>
            <a:pPr>
              <a:buFont typeface="Wingdings" pitchFamily="2" charset="2"/>
              <a:buChar char="Ø"/>
            </a:pPr>
            <a:r>
              <a:rPr dirty="0" sz="3200" lang="en-US" smtClean="0"/>
              <a:t>Family planning services;</a:t>
            </a:r>
          </a:p>
          <a:p>
            <a:pPr>
              <a:buFont typeface="Wingdings" pitchFamily="2" charset="2"/>
              <a:buChar char="ü"/>
            </a:pPr>
            <a:r>
              <a:rPr dirty="0" sz="3200" lang="en-US" smtClean="0"/>
              <a:t>Grade 1&amp;2 to for about 4 years , using either natural methods , barrier or progesterone only agents. 2 children only.</a:t>
            </a:r>
            <a:endParaRPr dirty="0" sz="3200" lang="en-US"/>
          </a:p>
        </p:txBody>
      </p:sp>
      <p:sp>
        <p:nvSpPr>
          <p:cNvPr id="104979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8.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92" name=""/>
        <p:cNvGrpSpPr/>
        <p:nvPr/>
      </p:nvGrpSpPr>
      <p:grpSpPr>
        <a:xfrm>
          <a:off x="0" y="0"/>
          <a:ext cx="0" cy="0"/>
          <a:chOff x="0" y="0"/>
          <a:chExt cx="0" cy="0"/>
        </a:xfrm>
      </p:grpSpPr>
      <p:sp>
        <p:nvSpPr>
          <p:cNvPr id="1049800" name="Content Placeholder 2"/>
          <p:cNvSpPr>
            <a:spLocks noGrp="1"/>
          </p:cNvSpPr>
          <p:nvPr>
            <p:ph idx="1"/>
          </p:nvPr>
        </p:nvSpPr>
        <p:spPr>
          <a:xfrm>
            <a:off x="1238250" y="0"/>
            <a:ext cx="9906000" cy="6705600"/>
          </a:xfrm>
        </p:spPr>
        <p:txBody>
          <a:bodyPr>
            <a:noAutofit/>
          </a:bodyPr>
          <a:p>
            <a:pPr>
              <a:buFont typeface="Wingdings" pitchFamily="2" charset="2"/>
              <a:buChar char="ü"/>
            </a:pPr>
            <a:r>
              <a:rPr dirty="0" sz="3000" lang="en-US" smtClean="0"/>
              <a:t>Grade 3&amp; 4 Permanent sterilisation is adviced.</a:t>
            </a:r>
          </a:p>
          <a:p>
            <a:pPr>
              <a:buFont typeface="Wingdings" pitchFamily="2" charset="2"/>
              <a:buChar char="Ø"/>
            </a:pPr>
            <a:r>
              <a:rPr dirty="0" sz="3000" lang="en-US" smtClean="0"/>
              <a:t>Regular check up by the cardiologist ,so to strictly adhere  to the follow up schedule.</a:t>
            </a:r>
          </a:p>
          <a:p>
            <a:pPr>
              <a:buFont typeface="Wingdings" pitchFamily="2" charset="2"/>
              <a:buChar char="Ø"/>
            </a:pPr>
            <a:r>
              <a:rPr dirty="0" sz="3000" lang="en-US" smtClean="0"/>
              <a:t>Drugs compliance to control the heart lesion ,in terms of not  missing a dose &amp; to strictly keep observe time , hence maintain blood concentrations.</a:t>
            </a:r>
          </a:p>
          <a:p>
            <a:pPr>
              <a:buFont typeface="Wingdings" pitchFamily="2" charset="2"/>
              <a:buChar char="Ø"/>
            </a:pPr>
            <a:r>
              <a:rPr dirty="0" sz="3000" lang="en-US" smtClean="0"/>
              <a:t>Immediate and adequate treatment  of any ailment by a physician.</a:t>
            </a:r>
          </a:p>
        </p:txBody>
      </p:sp>
      <p:sp>
        <p:nvSpPr>
          <p:cNvPr id="104980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19.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93" name=""/>
        <p:cNvGrpSpPr/>
        <p:nvPr/>
      </p:nvGrpSpPr>
      <p:grpSpPr>
        <a:xfrm>
          <a:off x="0" y="0"/>
          <a:ext cx="0" cy="0"/>
          <a:chOff x="0" y="0"/>
          <a:chExt cx="0" cy="0"/>
        </a:xfrm>
      </p:grpSpPr>
      <p:sp>
        <p:nvSpPr>
          <p:cNvPr id="1049802" name="Content Placeholder 2"/>
          <p:cNvSpPr>
            <a:spLocks noGrp="1"/>
          </p:cNvSpPr>
          <p:nvPr>
            <p:ph idx="1"/>
          </p:nvPr>
        </p:nvSpPr>
        <p:spPr>
          <a:xfrm>
            <a:off x="1333500" y="533400"/>
            <a:ext cx="9144000" cy="5562600"/>
          </a:xfrm>
        </p:spPr>
        <p:txBody>
          <a:bodyPr>
            <a:normAutofit fontScale="92500" lnSpcReduction="10000"/>
          </a:bodyPr>
          <a:p>
            <a:pPr>
              <a:buFont typeface="Wingdings" pitchFamily="2" charset="2"/>
              <a:buChar char="Ø"/>
            </a:pPr>
            <a:r>
              <a:rPr dirty="0" sz="4200" lang="en-US" smtClean="0"/>
              <a:t>Importance of rest, hygiene and balanced diet, but to control obesity.  </a:t>
            </a:r>
          </a:p>
          <a:p>
            <a:pPr>
              <a:buFont typeface="Wingdings" pitchFamily="2" charset="2"/>
              <a:buChar char="Ø"/>
            </a:pPr>
            <a:r>
              <a:rPr dirty="0" sz="4200" lang="en-US" smtClean="0"/>
              <a:t>Child welfare services as usual- N –baby.</a:t>
            </a:r>
          </a:p>
          <a:p>
            <a:pPr>
              <a:buFont typeface="Wingdings" pitchFamily="2" charset="2"/>
              <a:buChar char="Ø"/>
            </a:pPr>
            <a:r>
              <a:rPr dirty="0" sz="4200" lang="en-US" smtClean="0"/>
              <a:t>Postnatal check up at 2 and 6 weeks respectively.</a:t>
            </a:r>
          </a:p>
          <a:p>
            <a:pPr>
              <a:buFont typeface="Wingdings" pitchFamily="2" charset="2"/>
              <a:buChar char="ü"/>
            </a:pPr>
            <a:r>
              <a:rPr dirty="0" sz="4200" lang="en-US" smtClean="0"/>
              <a:t>Reviewed by obstertician &amp; cardiologist.</a:t>
            </a:r>
          </a:p>
          <a:p>
            <a:pPr>
              <a:buNone/>
            </a:pPr>
            <a:r>
              <a:rPr dirty="0" sz="4200" lang="en-US" smtClean="0"/>
              <a:t>	</a:t>
            </a:r>
            <a:r>
              <a:rPr dirty="0" sz="4200" lang="en-US" smtClean="0">
                <a:solidFill>
                  <a:srgbClr val="FFC000"/>
                </a:solidFill>
              </a:rPr>
              <a:t>NB </a:t>
            </a:r>
            <a:r>
              <a:rPr dirty="0" sz="4200" lang="en-US" smtClean="0"/>
              <a:t>: For unsuccessful 1</a:t>
            </a:r>
            <a:r>
              <a:rPr baseline="30000" dirty="0" sz="4200" lang="en-US" smtClean="0"/>
              <a:t>st</a:t>
            </a:r>
            <a:r>
              <a:rPr dirty="0" sz="4200" lang="en-US" smtClean="0"/>
              <a:t>  stage = C/S</a:t>
            </a:r>
          </a:p>
          <a:p>
            <a:pPr>
              <a:buNone/>
            </a:pPr>
            <a:r>
              <a:rPr b="1" dirty="0" sz="3200" lang="en-US" smtClean="0"/>
              <a:t>	</a:t>
            </a:r>
          </a:p>
          <a:p>
            <a:pPr>
              <a:buNone/>
            </a:pPr>
            <a:r>
              <a:rPr dirty="0" sz="3200" lang="en-US" smtClean="0"/>
              <a:t>	</a:t>
            </a:r>
            <a:endParaRPr dirty="0" sz="3200" lang="en-US" smtClean="0">
              <a:solidFill>
                <a:srgbClr val="FFC000"/>
              </a:solidFill>
            </a:endParaRPr>
          </a:p>
          <a:p>
            <a:endParaRPr dirty="0" sz="3200" lang="en-US"/>
          </a:p>
        </p:txBody>
      </p:sp>
      <p:sp>
        <p:nvSpPr>
          <p:cNvPr id="104980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0.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94" name=""/>
        <p:cNvGrpSpPr/>
        <p:nvPr/>
      </p:nvGrpSpPr>
      <p:grpSpPr>
        <a:xfrm>
          <a:off x="0" y="0"/>
          <a:ext cx="0" cy="0"/>
          <a:chOff x="0" y="0"/>
          <a:chExt cx="0" cy="0"/>
        </a:xfrm>
      </p:grpSpPr>
      <p:sp>
        <p:nvSpPr>
          <p:cNvPr id="1049804" name="Title 1"/>
          <p:cNvSpPr>
            <a:spLocks noGrp="1"/>
          </p:cNvSpPr>
          <p:nvPr>
            <p:ph type="title"/>
          </p:nvPr>
        </p:nvSpPr>
        <p:spPr>
          <a:xfrm>
            <a:off x="1333500" y="0"/>
            <a:ext cx="9906000" cy="1447800"/>
          </a:xfrm>
        </p:spPr>
        <p:txBody>
          <a:bodyPr/>
          <a:p>
            <a:r>
              <a:rPr b="1" dirty="0" sz="2800" lang="en-US" smtClean="0">
                <a:solidFill>
                  <a:schemeClr val="accent2">
                    <a:lumMod val="50000"/>
                  </a:schemeClr>
                </a:solidFill>
              </a:rPr>
              <a:t>EFFECTS OF CARDIAC DISEASE ON PREGNANCY</a:t>
            </a:r>
            <a:endParaRPr dirty="0" sz="2800" lang="en-US">
              <a:solidFill>
                <a:schemeClr val="accent2">
                  <a:lumMod val="50000"/>
                </a:schemeClr>
              </a:solidFill>
            </a:endParaRPr>
          </a:p>
        </p:txBody>
      </p:sp>
      <p:sp>
        <p:nvSpPr>
          <p:cNvPr id="1049805" name="Content Placeholder 2"/>
          <p:cNvSpPr>
            <a:spLocks noGrp="1"/>
          </p:cNvSpPr>
          <p:nvPr>
            <p:ph idx="1"/>
          </p:nvPr>
        </p:nvSpPr>
        <p:spPr>
          <a:xfrm>
            <a:off x="1238250" y="1447800"/>
            <a:ext cx="9928859" cy="4800600"/>
          </a:xfrm>
        </p:spPr>
        <p:txBody>
          <a:bodyPr/>
          <a:p>
            <a:pPr>
              <a:buFont typeface="Wingdings" pitchFamily="2" charset="2"/>
              <a:buChar char="v"/>
            </a:pPr>
            <a:r>
              <a:rPr dirty="0" lang="en-US" smtClean="0"/>
              <a:t>Refer to </a:t>
            </a:r>
            <a:r>
              <a:rPr b="1" dirty="0" i="1" lang="en-US" smtClean="0"/>
              <a:t>complications </a:t>
            </a:r>
            <a:r>
              <a:rPr dirty="0" lang="en-US" smtClean="0"/>
              <a:t>likely to occur to fetus / baby due to poor placental blood supply.  They include:</a:t>
            </a:r>
          </a:p>
          <a:p>
            <a:r>
              <a:rPr dirty="0" lang="en-US" smtClean="0"/>
              <a:t>Loss of pregnancy, through either spontaneous abortion or intrauterine fetal death</a:t>
            </a:r>
          </a:p>
          <a:p>
            <a:endParaRPr dirty="0" lang="en-US"/>
          </a:p>
        </p:txBody>
      </p:sp>
      <p:sp>
        <p:nvSpPr>
          <p:cNvPr id="104980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1.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95" name=""/>
        <p:cNvGrpSpPr/>
        <p:nvPr/>
      </p:nvGrpSpPr>
      <p:grpSpPr>
        <a:xfrm>
          <a:off x="0" y="0"/>
          <a:ext cx="0" cy="0"/>
          <a:chOff x="0" y="0"/>
          <a:chExt cx="0" cy="0"/>
        </a:xfrm>
      </p:grpSpPr>
      <p:sp>
        <p:nvSpPr>
          <p:cNvPr id="1049807" name="Content Placeholder 2"/>
          <p:cNvSpPr>
            <a:spLocks noGrp="1"/>
          </p:cNvSpPr>
          <p:nvPr>
            <p:ph idx="1"/>
          </p:nvPr>
        </p:nvSpPr>
        <p:spPr>
          <a:xfrm>
            <a:off x="1238250" y="685800"/>
            <a:ext cx="8953500" cy="5334000"/>
          </a:xfrm>
        </p:spPr>
        <p:txBody>
          <a:bodyPr>
            <a:noAutofit/>
          </a:bodyPr>
          <a:p>
            <a:r>
              <a:rPr dirty="0" sz="3200" lang="en-US" smtClean="0"/>
              <a:t>Intrauterine growth restriction due to reduced uterine  provisions.</a:t>
            </a:r>
          </a:p>
          <a:p>
            <a:r>
              <a:rPr dirty="0" sz="3200" lang="en-US" smtClean="0"/>
              <a:t>Congenital abnormalities due to poor blood supply during embryonic stage.</a:t>
            </a:r>
          </a:p>
          <a:p>
            <a:r>
              <a:rPr dirty="0" sz="3200" lang="en-US" smtClean="0"/>
              <a:t>Preterm birth: to save the mother as condition worsens, or spontaneously due to reduction of respesctive hormonal levels.</a:t>
            </a:r>
            <a:endParaRPr dirty="0" sz="3200" lang="en-US"/>
          </a:p>
        </p:txBody>
      </p:sp>
      <p:sp>
        <p:nvSpPr>
          <p:cNvPr id="104980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2.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96" name=""/>
        <p:cNvGrpSpPr/>
        <p:nvPr/>
      </p:nvGrpSpPr>
      <p:grpSpPr>
        <a:xfrm>
          <a:off x="0" y="0"/>
          <a:ext cx="0" cy="0"/>
          <a:chOff x="0" y="0"/>
          <a:chExt cx="0" cy="0"/>
        </a:xfrm>
      </p:grpSpPr>
      <p:sp>
        <p:nvSpPr>
          <p:cNvPr id="1049809" name="Title 1"/>
          <p:cNvSpPr>
            <a:spLocks noGrp="1"/>
          </p:cNvSpPr>
          <p:nvPr>
            <p:ph type="title"/>
          </p:nvPr>
        </p:nvSpPr>
        <p:spPr>
          <a:xfrm>
            <a:off x="1333500" y="457200"/>
            <a:ext cx="9906000" cy="1371600"/>
          </a:xfrm>
        </p:spPr>
        <p:txBody>
          <a:bodyPr/>
          <a:p>
            <a:r>
              <a:rPr b="1" dirty="0" sz="2800" lang="en-US" smtClean="0">
                <a:solidFill>
                  <a:schemeClr val="accent2">
                    <a:lumMod val="50000"/>
                  </a:schemeClr>
                </a:solidFill>
              </a:rPr>
              <a:t>EFFECTS OF PREGNANCY ON CARDIAC DISEASE</a:t>
            </a:r>
            <a:endParaRPr dirty="0" sz="2800" lang="en-US">
              <a:solidFill>
                <a:schemeClr val="accent2">
                  <a:lumMod val="50000"/>
                </a:schemeClr>
              </a:solidFill>
            </a:endParaRPr>
          </a:p>
        </p:txBody>
      </p:sp>
      <p:sp>
        <p:nvSpPr>
          <p:cNvPr id="1049810" name="Content Placeholder 2"/>
          <p:cNvSpPr>
            <a:spLocks noGrp="1"/>
          </p:cNvSpPr>
          <p:nvPr>
            <p:ph idx="1"/>
          </p:nvPr>
        </p:nvSpPr>
        <p:spPr>
          <a:xfrm>
            <a:off x="1238250" y="1981200"/>
            <a:ext cx="9620250" cy="4495800"/>
          </a:xfrm>
        </p:spPr>
        <p:txBody>
          <a:bodyPr>
            <a:normAutofit/>
          </a:bodyPr>
          <a:p>
            <a:pPr>
              <a:buFont typeface="Wingdings" pitchFamily="2" charset="2"/>
              <a:buChar char="v"/>
            </a:pPr>
            <a:r>
              <a:rPr dirty="0" sz="3200" lang="en-US" smtClean="0"/>
              <a:t>Refers to complications to the mother.</a:t>
            </a:r>
          </a:p>
          <a:p>
            <a:r>
              <a:rPr dirty="0" sz="3200" lang="en-US" smtClean="0"/>
              <a:t>Congestive cardiac failure, due to physiological haemodynamic state.</a:t>
            </a:r>
          </a:p>
          <a:p>
            <a:r>
              <a:rPr dirty="0" sz="3200" lang="en-US" smtClean="0"/>
              <a:t>Ventricular aneurysm, results from relaxation effect of progesterone hormone accompanied by increased cardiac activity.</a:t>
            </a:r>
          </a:p>
          <a:p>
            <a:r>
              <a:rPr dirty="0" sz="3200" lang="en-US" smtClean="0"/>
              <a:t>Pulmonary oedema, due to generalised state of fluid retention.  </a:t>
            </a:r>
            <a:endParaRPr dirty="0" sz="3200" lang="en-US"/>
          </a:p>
        </p:txBody>
      </p:sp>
      <p:sp>
        <p:nvSpPr>
          <p:cNvPr id="104981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3.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199" name=""/>
        <p:cNvGrpSpPr/>
        <p:nvPr/>
      </p:nvGrpSpPr>
      <p:grpSpPr>
        <a:xfrm>
          <a:off x="0" y="0"/>
          <a:ext cx="0" cy="0"/>
          <a:chOff x="0" y="0"/>
          <a:chExt cx="0" cy="0"/>
        </a:xfrm>
      </p:grpSpPr>
      <p:sp>
        <p:nvSpPr>
          <p:cNvPr id="1049815" name="Content Placeholder 2"/>
          <p:cNvSpPr>
            <a:spLocks noGrp="1"/>
          </p:cNvSpPr>
          <p:nvPr>
            <p:ph idx="1"/>
          </p:nvPr>
        </p:nvSpPr>
        <p:spPr>
          <a:xfrm>
            <a:off x="1238250" y="685800"/>
            <a:ext cx="9620250" cy="5715000"/>
          </a:xfrm>
        </p:spPr>
        <p:txBody>
          <a:bodyPr>
            <a:normAutofit/>
          </a:bodyPr>
          <a:p>
            <a:r>
              <a:rPr dirty="0" sz="3600" lang="en-US" smtClean="0"/>
              <a:t>Thrombo-embolism, especially in presence of  arrhythmias, mitral valve </a:t>
            </a:r>
            <a:r>
              <a:rPr dirty="0" sz="3600" lang="en-US" err="1" smtClean="0"/>
              <a:t>stenosis</a:t>
            </a:r>
            <a:r>
              <a:rPr dirty="0" sz="3600" lang="en-US" smtClean="0"/>
              <a:t> or  valve replacement</a:t>
            </a:r>
          </a:p>
          <a:p>
            <a:pPr>
              <a:buFont typeface="Wingdings" pitchFamily="2" charset="2"/>
              <a:buChar char="Ø"/>
            </a:pPr>
            <a:r>
              <a:rPr dirty="0" sz="3600" lang="en-US" smtClean="0"/>
              <a:t>Due to possibility of anaemia &amp; retardation of venous return.</a:t>
            </a:r>
          </a:p>
          <a:p>
            <a:r>
              <a:rPr dirty="0" sz="3600" lang="en-US" smtClean="0"/>
              <a:t>Endocarditis, due to lowered immunity particularly in grade 3 &amp; 4.</a:t>
            </a:r>
          </a:p>
          <a:p>
            <a:pPr>
              <a:buFont typeface="Wingdings" pitchFamily="2" charset="2"/>
              <a:buChar char="Ø"/>
            </a:pPr>
            <a:r>
              <a:rPr dirty="0" sz="3600" lang="en-US" smtClean="0"/>
              <a:t>It results from septicaemia.</a:t>
            </a:r>
          </a:p>
          <a:p>
            <a:pPr>
              <a:buNone/>
            </a:pPr>
            <a:r>
              <a:rPr dirty="0" sz="3200" lang="en-US" smtClean="0"/>
              <a:t> </a:t>
            </a:r>
            <a:endParaRPr dirty="0" lang="en-US"/>
          </a:p>
        </p:txBody>
      </p:sp>
      <p:sp>
        <p:nvSpPr>
          <p:cNvPr id="104981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4.xml><?xml version="1.0" encoding="utf-8"?>
<p:sld xmlns:a="http://schemas.openxmlformats.org/drawingml/2006/main" xmlns:r="http://schemas.openxmlformats.org/officeDocument/2006/relationships" xmlns:p="http://schemas.openxmlformats.org/presentationml/2006/main">
  <p:cSld>
    <p:bg>
      <p:bgPr>
        <a:solidFill>
          <a:srgbClr val="00B0F0"/>
        </a:solidFill>
      </p:bgPr>
    </p:bg>
    <p:spTree>
      <p:nvGrpSpPr>
        <p:cNvPr id="1200" name=""/>
        <p:cNvGrpSpPr/>
        <p:nvPr/>
      </p:nvGrpSpPr>
      <p:grpSpPr>
        <a:xfrm>
          <a:off x="0" y="0"/>
          <a:ext cx="0" cy="0"/>
          <a:chOff x="0" y="0"/>
          <a:chExt cx="0" cy="0"/>
        </a:xfrm>
      </p:grpSpPr>
      <p:sp>
        <p:nvSpPr>
          <p:cNvPr id="1049817" name="Title 1"/>
          <p:cNvSpPr>
            <a:spLocks noGrp="1"/>
          </p:cNvSpPr>
          <p:nvPr>
            <p:ph type="title"/>
          </p:nvPr>
        </p:nvSpPr>
        <p:spPr/>
        <p:txBody>
          <a:bodyPr/>
          <a:p>
            <a:r>
              <a:rPr dirty="0" lang="en-US" smtClean="0"/>
              <a:t>		 </a:t>
            </a:r>
            <a:r>
              <a:rPr b="1" dirty="0" lang="en-US" smtClean="0">
                <a:solidFill>
                  <a:schemeClr val="accent2">
                    <a:lumMod val="50000"/>
                  </a:schemeClr>
                </a:solidFill>
              </a:rPr>
              <a:t>SUMMARY</a:t>
            </a:r>
            <a:endParaRPr b="1" dirty="0" lang="en-US">
              <a:solidFill>
                <a:schemeClr val="accent2">
                  <a:lumMod val="50000"/>
                </a:schemeClr>
              </a:solidFill>
            </a:endParaRPr>
          </a:p>
        </p:txBody>
      </p:sp>
      <p:sp>
        <p:nvSpPr>
          <p:cNvPr id="1049818" name="Content Placeholder 2"/>
          <p:cNvSpPr>
            <a:spLocks noGrp="1"/>
          </p:cNvSpPr>
          <p:nvPr>
            <p:ph idx="1"/>
          </p:nvPr>
        </p:nvSpPr>
        <p:spPr>
          <a:xfrm>
            <a:off x="1143000" y="1981200"/>
            <a:ext cx="9715500" cy="4648200"/>
          </a:xfrm>
        </p:spPr>
        <p:txBody>
          <a:bodyPr/>
          <a:p>
            <a:r>
              <a:rPr dirty="0" sz="3200" lang="en-US" smtClean="0"/>
              <a:t>3</a:t>
            </a:r>
            <a:r>
              <a:rPr baseline="30000" dirty="0" sz="3200" lang="en-US" smtClean="0"/>
              <a:t>rd</a:t>
            </a:r>
            <a:r>
              <a:rPr dirty="0" sz="3200" lang="en-US" smtClean="0"/>
              <a:t> stage is the most dangerous period as placental blood returns to the general circulation.</a:t>
            </a:r>
          </a:p>
          <a:p>
            <a:pPr>
              <a:buNone/>
            </a:pPr>
            <a:r>
              <a:rPr dirty="0" sz="3200" lang="en-US" smtClean="0"/>
              <a:t>			</a:t>
            </a:r>
          </a:p>
          <a:p>
            <a:pPr>
              <a:buNone/>
            </a:pPr>
            <a:r>
              <a:rPr dirty="0" sz="3200" lang="en-US" smtClean="0"/>
              <a:t>				</a:t>
            </a:r>
            <a:endParaRPr dirty="0" sz="3200" lang="en-US"/>
          </a:p>
        </p:txBody>
      </p:sp>
      <p:sp>
        <p:nvSpPr>
          <p:cNvPr id="1049819" name="Flowchart: Sequential Access Storage 3"/>
          <p:cNvSpPr/>
          <p:nvPr/>
        </p:nvSpPr>
        <p:spPr>
          <a:xfrm>
            <a:off x="3619500" y="4343400"/>
            <a:ext cx="4286250" cy="2209800"/>
          </a:xfrm>
          <a:prstGeom prst="flowChartMagneticTape"/>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4000" lang="en-US" smtClean="0">
                <a:solidFill>
                  <a:srgbClr val="FFFF00"/>
                </a:solidFill>
                <a:latin typeface="Harlow Solid Italic" pitchFamily="82" charset="0"/>
              </a:rPr>
              <a:t>END.</a:t>
            </a:r>
            <a:endParaRPr b="1" dirty="0" sz="4000" lang="en-US">
              <a:solidFill>
                <a:srgbClr val="FFFF00"/>
              </a:solidFill>
              <a:latin typeface="Harlow Solid Italic" pitchFamily="82" charset="0"/>
            </a:endParaRPr>
          </a:p>
        </p:txBody>
      </p:sp>
      <p:sp>
        <p:nvSpPr>
          <p:cNvPr id="1049820" name="Footer Placeholder 4"/>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201" name=""/>
        <p:cNvGrpSpPr/>
        <p:nvPr/>
      </p:nvGrpSpPr>
      <p:grpSpPr>
        <a:xfrm>
          <a:off x="0" y="0"/>
          <a:ext cx="0" cy="0"/>
          <a:chOff x="0" y="0"/>
          <a:chExt cx="0" cy="0"/>
        </a:xfrm>
      </p:grpSpPr>
      <p:graphicFrame>
        <p:nvGraphicFramePr>
          <p:cNvPr id="4194305" name="Diagram 5"/>
          <p:cNvGraphicFramePr>
            <a:graphicFrameLocks/>
          </p:cNvGraphicFramePr>
          <p:nvPr/>
        </p:nvGraphicFramePr>
        <p:xfrm>
          <a:off x="571501" y="1219200"/>
          <a:ext cx="10858500" cy="19050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Tree>
  </p:cSld>
  <p:clrMapOvr>
    <a:masterClrMapping/>
  </p:clrMapOvr>
  <p:transition xmlns:p14="http://schemas.microsoft.com/office/powerpoint/2010/main" spd="slow">
    <p:strips dir="ru"/>
  </p:transition>
  <p:timing/>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202" name=""/>
        <p:cNvGrpSpPr/>
        <p:nvPr/>
      </p:nvGrpSpPr>
      <p:grpSpPr>
        <a:xfrm>
          <a:off x="0" y="0"/>
          <a:ext cx="0" cy="0"/>
          <a:chOff x="0" y="0"/>
          <a:chExt cx="0" cy="0"/>
        </a:xfrm>
      </p:grpSpPr>
      <p:graphicFrame>
        <p:nvGraphicFramePr>
          <p:cNvPr id="4194306" name="Diagram 8"/>
          <p:cNvGraphicFramePr>
            <a:graphicFrameLocks/>
          </p:cNvGraphicFramePr>
          <p:nvPr/>
        </p:nvGraphicFramePr>
        <p:xfrm>
          <a:off x="571500" y="274639"/>
          <a:ext cx="10287000" cy="11430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pic>
        <p:nvPicPr>
          <p:cNvPr id="2097165" name="Picture 2"/>
          <p:cNvPicPr>
            <a:picLocks noChangeAspect="1" noGrp="1" noChangeArrowheads="1"/>
          </p:cNvPicPr>
          <p:nvPr>
            <p:ph idx="1"/>
          </p:nvPr>
        </p:nvPicPr>
        <p:blipFill>
          <a:blip xmlns:r="http://schemas.openxmlformats.org/officeDocument/2006/relationships" r:embed="rId6" cstate="print"/>
          <a:srcRect/>
          <a:stretch>
            <a:fillRect/>
          </a:stretch>
        </p:blipFill>
        <p:spPr bwMode="auto">
          <a:xfrm>
            <a:off x="381011" y="1371600"/>
            <a:ext cx="10572749" cy="4953000"/>
          </a:xfrm>
          <a:prstGeom prst="rect"/>
          <a:noFill/>
          <a:ln w="9525">
            <a:noFill/>
            <a:miter lim="800000"/>
            <a:headEnd/>
            <a:tailEnd/>
          </a:ln>
          <a:effectLst/>
        </p:spPr>
      </p:pic>
      <p:sp>
        <p:nvSpPr>
          <p:cNvPr id="104982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203" name=""/>
        <p:cNvGrpSpPr/>
        <p:nvPr/>
      </p:nvGrpSpPr>
      <p:grpSpPr>
        <a:xfrm>
          <a:off x="0" y="0"/>
          <a:ext cx="0" cy="0"/>
          <a:chOff x="0" y="0"/>
          <a:chExt cx="0" cy="0"/>
        </a:xfrm>
      </p:grpSpPr>
      <p:graphicFrame>
        <p:nvGraphicFramePr>
          <p:cNvPr id="4194307" name="Diagram 5"/>
          <p:cNvGraphicFramePr>
            <a:graphicFrameLocks/>
          </p:cNvGraphicFramePr>
          <p:nvPr/>
        </p:nvGraphicFramePr>
        <p:xfrm>
          <a:off x="571500" y="274639"/>
          <a:ext cx="10287000" cy="11430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9822" name="Content Placeholder 2"/>
          <p:cNvSpPr>
            <a:spLocks noGrp="1"/>
          </p:cNvSpPr>
          <p:nvPr>
            <p:ph idx="1"/>
          </p:nvPr>
        </p:nvSpPr>
        <p:spPr/>
        <p:txBody>
          <a:bodyPr>
            <a:normAutofit fontScale="92500" lnSpcReduction="10000"/>
          </a:bodyPr>
          <a:p>
            <a:pPr>
              <a:buNone/>
            </a:pPr>
            <a:r>
              <a:rPr dirty="0" lang="en-US" smtClean="0"/>
              <a:t>		</a:t>
            </a:r>
            <a:endParaRPr dirty="0" lang="en-US" smtClean="0">
              <a:solidFill>
                <a:srgbClr val="00B050"/>
              </a:solidFill>
            </a:endParaRPr>
          </a:p>
          <a:p>
            <a:r>
              <a:rPr dirty="0" lang="en-US" smtClean="0"/>
              <a:t>It’s an inflammatory condition of the renal pelvis  and some kidney tissues, in which the offending organism  mostly ascends from the external genitalia, though rarely it’s from septiceamia.</a:t>
            </a:r>
          </a:p>
          <a:p>
            <a:pPr>
              <a:buNone/>
            </a:pPr>
            <a:r>
              <a:rPr dirty="0" lang="en-US" smtClean="0"/>
              <a:t>	</a:t>
            </a:r>
            <a:r>
              <a:rPr b="1" dirty="0" sz="3200" lang="en-US" smtClean="0"/>
              <a:t>	</a:t>
            </a:r>
            <a:r>
              <a:rPr b="1" dirty="0" sz="3200" lang="en-US" smtClean="0">
                <a:solidFill>
                  <a:srgbClr val="00B050"/>
                </a:solidFill>
              </a:rPr>
              <a:t>Common Causative Organisms</a:t>
            </a:r>
            <a:endParaRPr b="1" dirty="0" lang="en-US" smtClean="0">
              <a:solidFill>
                <a:srgbClr val="00B050"/>
              </a:solidFill>
            </a:endParaRPr>
          </a:p>
          <a:p>
            <a:r>
              <a:rPr dirty="0" lang="en-US" smtClean="0"/>
              <a:t>Escherichia coli, accounts for 80% of the cases.</a:t>
            </a:r>
          </a:p>
          <a:p>
            <a:r>
              <a:rPr dirty="0" lang="en-US" smtClean="0"/>
              <a:t>Streptococcus faecalis, normal flora of  the anus and perineum .</a:t>
            </a:r>
          </a:p>
          <a:p>
            <a:r>
              <a:rPr dirty="0" lang="en-US" smtClean="0"/>
              <a:t>Proteus vulgaris, normal flora of bowels. </a:t>
            </a:r>
            <a:endParaRPr dirty="0" lang="en-US"/>
          </a:p>
        </p:txBody>
      </p:sp>
      <p:sp>
        <p:nvSpPr>
          <p:cNvPr id="104982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204" name=""/>
        <p:cNvGrpSpPr/>
        <p:nvPr/>
      </p:nvGrpSpPr>
      <p:grpSpPr>
        <a:xfrm>
          <a:off x="0" y="0"/>
          <a:ext cx="0" cy="0"/>
          <a:chOff x="0" y="0"/>
          <a:chExt cx="0" cy="0"/>
        </a:xfrm>
      </p:grpSpPr>
      <p:graphicFrame>
        <p:nvGraphicFramePr>
          <p:cNvPr id="4194308" name="Diagram 7"/>
          <p:cNvGraphicFramePr>
            <a:graphicFrameLocks/>
          </p:cNvGraphicFramePr>
          <p:nvPr/>
        </p:nvGraphicFramePr>
        <p:xfrm>
          <a:off x="571500" y="274639"/>
          <a:ext cx="10287000" cy="11430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9824" name="Content Placeholder 2"/>
          <p:cNvSpPr>
            <a:spLocks noGrp="1"/>
          </p:cNvSpPr>
          <p:nvPr>
            <p:ph idx="1"/>
          </p:nvPr>
        </p:nvSpPr>
        <p:spPr/>
        <p:txBody>
          <a:bodyPr>
            <a:normAutofit/>
          </a:bodyPr>
          <a:p>
            <a:r>
              <a:rPr dirty="0" sz="3000" lang="en-US" smtClean="0"/>
              <a:t>Physiological kinking of </a:t>
            </a:r>
            <a:r>
              <a:rPr dirty="0" sz="3000" lang="en-US" err="1" smtClean="0"/>
              <a:t>ureters</a:t>
            </a:r>
            <a:r>
              <a:rPr dirty="0" sz="3000" lang="en-US" smtClean="0"/>
              <a:t> due to effect of progesterone  hormone, hence </a:t>
            </a:r>
            <a:r>
              <a:rPr dirty="0" sz="3000" lang="en-US" err="1" smtClean="0"/>
              <a:t>hydronephrosis</a:t>
            </a:r>
            <a:r>
              <a:rPr dirty="0" sz="3000" lang="en-US" smtClean="0"/>
              <a:t>.</a:t>
            </a:r>
          </a:p>
          <a:p>
            <a:r>
              <a:rPr dirty="0" sz="3000" lang="en-US" smtClean="0"/>
              <a:t>Vesico-ureteric reflux, results from urine </a:t>
            </a:r>
            <a:r>
              <a:rPr dirty="0" sz="3000" lang="en-US" err="1" smtClean="0"/>
              <a:t>retension</a:t>
            </a:r>
            <a:r>
              <a:rPr dirty="0" sz="3000" lang="en-US" smtClean="0"/>
              <a:t> in the bladder.</a:t>
            </a:r>
          </a:p>
          <a:p>
            <a:r>
              <a:rPr dirty="0" sz="3000" lang="en-US" smtClean="0"/>
              <a:t>Renal  stones, obstructs the normal urinary bladder.</a:t>
            </a:r>
          </a:p>
          <a:p>
            <a:r>
              <a:rPr dirty="0" sz="3000" lang="en-US" smtClean="0"/>
              <a:t>Cystitis, it’s inflammation of the urinary bladder.</a:t>
            </a:r>
          </a:p>
          <a:p>
            <a:r>
              <a:rPr dirty="0" sz="3000" lang="en-US" smtClean="0"/>
              <a:t>Uncontrolled diabetes, leading  to high acidity in urine due to </a:t>
            </a:r>
            <a:r>
              <a:rPr dirty="0" sz="3000" lang="en-US" err="1" smtClean="0"/>
              <a:t>glycosuria</a:t>
            </a:r>
            <a:r>
              <a:rPr dirty="0" sz="3000" lang="en-US" smtClean="0"/>
              <a:t>.</a:t>
            </a:r>
            <a:endParaRPr dirty="0" sz="3000" lang="en-US"/>
          </a:p>
        </p:txBody>
      </p:sp>
      <p:sp>
        <p:nvSpPr>
          <p:cNvPr id="104982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205" name=""/>
        <p:cNvGrpSpPr/>
        <p:nvPr/>
      </p:nvGrpSpPr>
      <p:grpSpPr>
        <a:xfrm>
          <a:off x="0" y="0"/>
          <a:ext cx="0" cy="0"/>
          <a:chOff x="0" y="0"/>
          <a:chExt cx="0" cy="0"/>
        </a:xfrm>
      </p:grpSpPr>
      <p:sp>
        <p:nvSpPr>
          <p:cNvPr id="1049826" name="Content Placeholder 2"/>
          <p:cNvSpPr>
            <a:spLocks noGrp="1"/>
          </p:cNvSpPr>
          <p:nvPr>
            <p:ph idx="1"/>
          </p:nvPr>
        </p:nvSpPr>
        <p:spPr>
          <a:xfrm>
            <a:off x="1524000" y="228600"/>
            <a:ext cx="9334500" cy="6324600"/>
          </a:xfrm>
        </p:spPr>
        <p:txBody>
          <a:bodyPr>
            <a:normAutofit/>
          </a:bodyPr>
          <a:p>
            <a:r>
              <a:rPr dirty="0" lang="en-US" smtClean="0"/>
              <a:t>Asymptomatic  bacteruria related to </a:t>
            </a:r>
            <a:r>
              <a:rPr dirty="0" lang="en-US" err="1" smtClean="0"/>
              <a:t>ureteric</a:t>
            </a:r>
            <a:r>
              <a:rPr dirty="0" lang="en-US" smtClean="0"/>
              <a:t> compression. </a:t>
            </a:r>
          </a:p>
          <a:p>
            <a:pPr>
              <a:buFont typeface="Wingdings" pitchFamily="2" charset="2"/>
              <a:buChar char="Ø"/>
            </a:pPr>
            <a:r>
              <a:rPr dirty="0" lang="en-US" smtClean="0"/>
              <a:t>A bacteria colony of  100,000 or more per ml of urine is seen, yet client has no complain. </a:t>
            </a:r>
          </a:p>
          <a:p>
            <a:pPr>
              <a:buFont typeface="Wingdings" pitchFamily="2" charset="2"/>
              <a:buChar char="v"/>
            </a:pPr>
            <a:r>
              <a:rPr dirty="0" lang="en-US" smtClean="0"/>
              <a:t> Occurs to 2-10% of </a:t>
            </a:r>
            <a:r>
              <a:rPr dirty="0" lang="en-US" err="1" smtClean="0"/>
              <a:t>prenatals</a:t>
            </a:r>
            <a:r>
              <a:rPr dirty="0" lang="en-US" smtClean="0"/>
              <a:t>, untreated 25-30% develop the condition.</a:t>
            </a:r>
          </a:p>
          <a:p>
            <a:pPr>
              <a:buNone/>
            </a:pPr>
            <a:r>
              <a:rPr dirty="0" lang="en-US" smtClean="0"/>
              <a:t>	</a:t>
            </a:r>
            <a:r>
              <a:rPr dirty="0" sz="3200" lang="en-US" smtClean="0">
                <a:solidFill>
                  <a:srgbClr val="00B050"/>
                </a:solidFill>
              </a:rPr>
              <a:t>Clinical  features</a:t>
            </a:r>
            <a:endParaRPr dirty="0" lang="en-US" smtClean="0">
              <a:solidFill>
                <a:srgbClr val="00B050"/>
              </a:solidFill>
            </a:endParaRPr>
          </a:p>
          <a:p>
            <a:r>
              <a:rPr dirty="0" lang="en-US" smtClean="0"/>
              <a:t>Pyrexia, temperatures may reach 40 degrees &amp; accompanied by rigors.</a:t>
            </a:r>
          </a:p>
          <a:p>
            <a:r>
              <a:rPr dirty="0" lang="en-US" smtClean="0"/>
              <a:t>Dehydration due to nausea and vomiting.</a:t>
            </a:r>
          </a:p>
          <a:p>
            <a:r>
              <a:rPr dirty="0" lang="en-US" err="1" smtClean="0"/>
              <a:t>Dysuria</a:t>
            </a:r>
            <a:r>
              <a:rPr dirty="0" lang="en-US" smtClean="0"/>
              <a:t> accompanied by frequency and </a:t>
            </a:r>
            <a:r>
              <a:rPr dirty="0" lang="en-US" err="1" smtClean="0"/>
              <a:t>oliguria</a:t>
            </a:r>
            <a:r>
              <a:rPr dirty="0" lang="en-US" smtClean="0"/>
              <a:t>.</a:t>
            </a:r>
            <a:endParaRPr dirty="0" lang="en-US"/>
          </a:p>
        </p:txBody>
      </p:sp>
      <p:sp>
        <p:nvSpPr>
          <p:cNvPr id="104982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206" name=""/>
        <p:cNvGrpSpPr/>
        <p:nvPr/>
      </p:nvGrpSpPr>
      <p:grpSpPr>
        <a:xfrm>
          <a:off x="0" y="0"/>
          <a:ext cx="0" cy="0"/>
          <a:chOff x="0" y="0"/>
          <a:chExt cx="0" cy="0"/>
        </a:xfrm>
      </p:grpSpPr>
      <p:sp>
        <p:nvSpPr>
          <p:cNvPr id="1049828" name="Content Placeholder 2"/>
          <p:cNvSpPr>
            <a:spLocks noGrp="1"/>
          </p:cNvSpPr>
          <p:nvPr>
            <p:ph idx="1"/>
          </p:nvPr>
        </p:nvSpPr>
        <p:spPr>
          <a:xfrm>
            <a:off x="1333500" y="228600"/>
            <a:ext cx="9810750" cy="6324600"/>
          </a:xfrm>
        </p:spPr>
        <p:txBody>
          <a:bodyPr>
            <a:normAutofit/>
          </a:bodyPr>
          <a:p>
            <a:r>
              <a:rPr dirty="0" lang="en-US" smtClean="0"/>
              <a:t>Tachycardia due to pyrexia and sometimes anaemia.</a:t>
            </a:r>
          </a:p>
          <a:p>
            <a:r>
              <a:rPr dirty="0" lang="en-US" smtClean="0"/>
              <a:t>Renal  angle tenderness, due to inflammation of kidneys. Pain &amp;tenderness is over the loin , muscle guarding may be present.</a:t>
            </a:r>
          </a:p>
          <a:p>
            <a:pPr>
              <a:buFont typeface="Wingdings" pitchFamily="2" charset="2"/>
              <a:buChar char="v"/>
            </a:pPr>
            <a:r>
              <a:rPr dirty="0" lang="en-US" smtClean="0"/>
              <a:t>Pain follows </a:t>
            </a:r>
            <a:r>
              <a:rPr dirty="0" lang="en-US" err="1" smtClean="0"/>
              <a:t>ureters</a:t>
            </a:r>
            <a:r>
              <a:rPr dirty="0" lang="en-US" smtClean="0"/>
              <a:t> pathway &amp; radiate to the specific side of the </a:t>
            </a:r>
            <a:r>
              <a:rPr dirty="0" lang="en-US" err="1" smtClean="0"/>
              <a:t>suprapubic</a:t>
            </a:r>
            <a:r>
              <a:rPr dirty="0" lang="en-US" smtClean="0"/>
              <a:t>  region.</a:t>
            </a:r>
          </a:p>
          <a:p>
            <a:r>
              <a:rPr dirty="0" lang="en-US" smtClean="0"/>
              <a:t>Palpable kidneys, in extreme  cases.</a:t>
            </a:r>
          </a:p>
          <a:p>
            <a:r>
              <a:rPr dirty="0" lang="en-US" smtClean="0"/>
              <a:t>Cloudiness, fishy smell, sometimes </a:t>
            </a:r>
            <a:r>
              <a:rPr dirty="0" lang="en-US" err="1" smtClean="0"/>
              <a:t>haematuria</a:t>
            </a:r>
            <a:r>
              <a:rPr dirty="0" lang="en-US" smtClean="0"/>
              <a:t> and acidic reaction on urine examination.</a:t>
            </a:r>
          </a:p>
          <a:p>
            <a:pPr>
              <a:buFont typeface="Wingdings" pitchFamily="2" charset="2"/>
              <a:buChar char="v"/>
            </a:pPr>
            <a:r>
              <a:rPr dirty="0" lang="en-US" smtClean="0"/>
              <a:t>Presence of acidic reaction= E. coli is responsible.</a:t>
            </a:r>
            <a:endParaRPr dirty="0" lang="en-US"/>
          </a:p>
        </p:txBody>
      </p:sp>
      <p:sp>
        <p:nvSpPr>
          <p:cNvPr id="104982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207" name=""/>
        <p:cNvGrpSpPr/>
        <p:nvPr/>
      </p:nvGrpSpPr>
      <p:grpSpPr>
        <a:xfrm>
          <a:off x="0" y="0"/>
          <a:ext cx="0" cy="0"/>
          <a:chOff x="0" y="0"/>
          <a:chExt cx="0" cy="0"/>
        </a:xfrm>
      </p:grpSpPr>
      <p:sp>
        <p:nvSpPr>
          <p:cNvPr id="1049830" name="Content Placeholder 2"/>
          <p:cNvSpPr>
            <a:spLocks noGrp="1"/>
          </p:cNvSpPr>
          <p:nvPr>
            <p:ph idx="1"/>
          </p:nvPr>
        </p:nvSpPr>
        <p:spPr>
          <a:xfrm>
            <a:off x="1794509" y="228600"/>
            <a:ext cx="9372600" cy="6019800"/>
          </a:xfrm>
        </p:spPr>
        <p:txBody>
          <a:bodyPr>
            <a:normAutofit/>
          </a:bodyPr>
          <a:p>
            <a:r>
              <a:rPr dirty="0" lang="en-US" smtClean="0"/>
              <a:t>Fetal  hypoxia signs, due to pyrexia and poor placental perfusion.</a:t>
            </a:r>
          </a:p>
          <a:p>
            <a:r>
              <a:rPr dirty="0" lang="en-US" smtClean="0"/>
              <a:t>Intrauterine growth restriction,  due to deficiency of requirements for  survival.</a:t>
            </a:r>
          </a:p>
          <a:p>
            <a:r>
              <a:rPr dirty="0" lang="en-US" smtClean="0"/>
              <a:t>Loss of pregnancy,  due to  intrauterine toxicity.</a:t>
            </a:r>
          </a:p>
          <a:p>
            <a:r>
              <a:rPr dirty="0" lang="en-US" smtClean="0"/>
              <a:t>Anaemia resulting from </a:t>
            </a:r>
            <a:r>
              <a:rPr dirty="0" lang="en-US" err="1" smtClean="0"/>
              <a:t>haemolysis</a:t>
            </a:r>
            <a:r>
              <a:rPr dirty="0" lang="en-US" smtClean="0"/>
              <a:t>  and destruction of renal tubules.</a:t>
            </a:r>
          </a:p>
          <a:p>
            <a:r>
              <a:rPr dirty="0" lang="en-US" err="1" smtClean="0"/>
              <a:t>Oedema</a:t>
            </a:r>
            <a:r>
              <a:rPr dirty="0" lang="en-US" smtClean="0"/>
              <a:t> and </a:t>
            </a:r>
            <a:r>
              <a:rPr dirty="0" lang="en-US" err="1" smtClean="0"/>
              <a:t>oliguria</a:t>
            </a:r>
            <a:r>
              <a:rPr dirty="0" lang="en-US" smtClean="0"/>
              <a:t> in severe cases, since high levels of sodium are retained.</a:t>
            </a:r>
            <a:endParaRPr dirty="0" lang="en-US"/>
          </a:p>
        </p:txBody>
      </p:sp>
      <p:sp>
        <p:nvSpPr>
          <p:cNvPr id="104983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208" name=""/>
        <p:cNvGrpSpPr/>
        <p:nvPr/>
      </p:nvGrpSpPr>
      <p:grpSpPr>
        <a:xfrm>
          <a:off x="0" y="0"/>
          <a:ext cx="0" cy="0"/>
          <a:chOff x="0" y="0"/>
          <a:chExt cx="0" cy="0"/>
        </a:xfrm>
      </p:grpSpPr>
      <p:graphicFrame>
        <p:nvGraphicFramePr>
          <p:cNvPr id="4194309" name="Diagram 5"/>
          <p:cNvGraphicFramePr>
            <a:graphicFrameLocks/>
          </p:cNvGraphicFramePr>
          <p:nvPr/>
        </p:nvGraphicFramePr>
        <p:xfrm>
          <a:off x="1219200" y="152400"/>
          <a:ext cx="10210800" cy="1265239"/>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9832" name="Content Placeholder 2"/>
          <p:cNvSpPr>
            <a:spLocks noGrp="1"/>
          </p:cNvSpPr>
          <p:nvPr>
            <p:ph idx="1"/>
          </p:nvPr>
        </p:nvSpPr>
        <p:spPr/>
        <p:txBody>
          <a:bodyPr>
            <a:normAutofit lnSpcReduction="10000"/>
          </a:bodyPr>
          <a:p>
            <a:pPr algn="just"/>
            <a:r>
              <a:rPr dirty="0" lang="en-US" smtClean="0"/>
              <a:t>History of  the presenting complains and physical examination findings.</a:t>
            </a:r>
          </a:p>
          <a:p>
            <a:pPr algn="just"/>
            <a:r>
              <a:rPr dirty="0" lang="en-US" smtClean="0"/>
              <a:t>Urinalysis results, from inspection , smell, reagents/ biochemical strip and microscopy.</a:t>
            </a:r>
          </a:p>
          <a:p>
            <a:pPr algn="just"/>
            <a:r>
              <a:rPr dirty="0" lang="en-US" smtClean="0"/>
              <a:t>Radiological examination, in form of :-</a:t>
            </a:r>
          </a:p>
          <a:p>
            <a:pPr algn="just">
              <a:buNone/>
            </a:pPr>
            <a:r>
              <a:rPr dirty="0" lang="en-US" smtClean="0"/>
              <a:t>		-Ultrasound of the kidneys.</a:t>
            </a:r>
          </a:p>
          <a:p>
            <a:pPr algn="just">
              <a:buNone/>
            </a:pPr>
            <a:r>
              <a:rPr dirty="0" lang="en-US" smtClean="0"/>
              <a:t>		-Intravenous  urography (IVU)</a:t>
            </a:r>
          </a:p>
          <a:p>
            <a:pPr algn="just">
              <a:buNone/>
            </a:pPr>
            <a:r>
              <a:rPr dirty="0" lang="en-US" smtClean="0">
                <a:solidFill>
                  <a:srgbClr val="FF0000"/>
                </a:solidFill>
              </a:rPr>
              <a:t>NB: </a:t>
            </a:r>
            <a:r>
              <a:rPr dirty="0" lang="en-US" smtClean="0"/>
              <a:t>IVU is recommended after 30 wks due to teratogenic  effects to the fetus. </a:t>
            </a:r>
            <a:endParaRPr dirty="0" lang="en-US"/>
          </a:p>
        </p:txBody>
      </p:sp>
      <p:sp>
        <p:nvSpPr>
          <p:cNvPr id="104983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209" name=""/>
        <p:cNvGrpSpPr/>
        <p:nvPr/>
      </p:nvGrpSpPr>
      <p:grpSpPr>
        <a:xfrm>
          <a:off x="0" y="0"/>
          <a:ext cx="0" cy="0"/>
          <a:chOff x="0" y="0"/>
          <a:chExt cx="0" cy="0"/>
        </a:xfrm>
      </p:grpSpPr>
      <p:graphicFrame>
        <p:nvGraphicFramePr>
          <p:cNvPr id="4194310" name="Diagram 5"/>
          <p:cNvGraphicFramePr>
            <a:graphicFrameLocks/>
          </p:cNvGraphicFramePr>
          <p:nvPr/>
        </p:nvGraphicFramePr>
        <p:xfrm>
          <a:off x="571500" y="274639"/>
          <a:ext cx="10287000" cy="11430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9834" name="Content Placeholder 2"/>
          <p:cNvSpPr>
            <a:spLocks noGrp="1"/>
          </p:cNvSpPr>
          <p:nvPr>
            <p:ph idx="1"/>
          </p:nvPr>
        </p:nvSpPr>
        <p:spPr>
          <a:xfrm>
            <a:off x="1238250" y="1447800"/>
            <a:ext cx="9928859" cy="5257800"/>
          </a:xfrm>
        </p:spPr>
        <p:txBody>
          <a:bodyPr>
            <a:noAutofit/>
          </a:bodyPr>
          <a:p>
            <a:pPr>
              <a:buNone/>
            </a:pPr>
            <a:r>
              <a:rPr dirty="0" sz="2800" lang="en-US" smtClean="0"/>
              <a:t>	</a:t>
            </a:r>
            <a:r>
              <a:rPr b="1" dirty="0" sz="2800" lang="en-US" u="sng" smtClean="0"/>
              <a:t>Mild  cases</a:t>
            </a:r>
            <a:r>
              <a:rPr b="1" dirty="0" sz="2800" lang="en-US" u="sng" smtClean="0">
                <a:solidFill>
                  <a:srgbClr val="00B050"/>
                </a:solidFill>
              </a:rPr>
              <a:t>  </a:t>
            </a:r>
          </a:p>
          <a:p>
            <a:pPr>
              <a:buFont typeface="Wingdings" pitchFamily="2" charset="2"/>
              <a:buChar char="v"/>
            </a:pPr>
            <a:r>
              <a:rPr dirty="0" sz="2800" lang="en-US" smtClean="0"/>
              <a:t>Managed in ambulatory (out patient) department.</a:t>
            </a:r>
          </a:p>
          <a:p>
            <a:pPr>
              <a:buFont typeface="Wingdings" pitchFamily="2" charset="2"/>
              <a:buChar char="v"/>
            </a:pPr>
            <a:r>
              <a:rPr dirty="0" sz="2800" lang="en-US" smtClean="0"/>
              <a:t>Refer to the DR for investigations and drugs prescription.</a:t>
            </a:r>
          </a:p>
          <a:p>
            <a:r>
              <a:rPr dirty="0" sz="2800" lang="en-US" smtClean="0"/>
              <a:t>Investigations  includes: Physical exam, urinalysis for route  microscopy culture and sensitivity.</a:t>
            </a:r>
          </a:p>
          <a:p>
            <a:r>
              <a:rPr dirty="0" sz="2800" lang="en-US" smtClean="0"/>
              <a:t>Sometimes ultrasound of the kidneys though not urgent.</a:t>
            </a:r>
          </a:p>
          <a:p>
            <a:r>
              <a:rPr dirty="0" sz="2800" lang="en-US" smtClean="0"/>
              <a:t>Drugs / medications:- Oral antibiotics e.g.  Amoxyl </a:t>
            </a:r>
            <a:r>
              <a:rPr dirty="0" sz="2800" lang="en-US"/>
              <a:t>500 mg  TDS for 10-14 days.</a:t>
            </a:r>
          </a:p>
          <a:p>
            <a:pPr indent="0" marL="82296">
              <a:buNone/>
            </a:pPr>
            <a:endParaRPr dirty="0" sz="2800" lang="en-US"/>
          </a:p>
        </p:txBody>
      </p:sp>
      <p:sp>
        <p:nvSpPr>
          <p:cNvPr id="104983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210" name=""/>
        <p:cNvGrpSpPr/>
        <p:nvPr/>
      </p:nvGrpSpPr>
      <p:grpSpPr>
        <a:xfrm>
          <a:off x="0" y="0"/>
          <a:ext cx="0" cy="0"/>
          <a:chOff x="0" y="0"/>
          <a:chExt cx="0" cy="0"/>
        </a:xfrm>
      </p:grpSpPr>
      <p:sp>
        <p:nvSpPr>
          <p:cNvPr id="1049836" name="Content Placeholder 2"/>
          <p:cNvSpPr>
            <a:spLocks noGrp="1"/>
          </p:cNvSpPr>
          <p:nvPr>
            <p:ph idx="1"/>
          </p:nvPr>
        </p:nvSpPr>
        <p:spPr>
          <a:xfrm>
            <a:off x="1333500" y="228600"/>
            <a:ext cx="10096500" cy="6324600"/>
          </a:xfrm>
        </p:spPr>
        <p:txBody>
          <a:bodyPr>
            <a:noAutofit/>
          </a:bodyPr>
          <a:p>
            <a:pPr>
              <a:buNone/>
            </a:pPr>
            <a:r>
              <a:rPr dirty="0" sz="2900" lang="en-US" smtClean="0"/>
              <a:t>	 Alternatively,  urinary antiseptic </a:t>
            </a:r>
            <a:r>
              <a:rPr dirty="0" sz="2900" lang="en-US" err="1" smtClean="0"/>
              <a:t>eg</a:t>
            </a:r>
            <a:r>
              <a:rPr dirty="0" sz="2900" lang="en-US" smtClean="0"/>
              <a:t>  Nitrofurantoin 100 mg QDS for  10 days, or cephalosporin </a:t>
            </a:r>
            <a:r>
              <a:rPr dirty="0" sz="2900" lang="en-US" err="1" smtClean="0"/>
              <a:t>eg</a:t>
            </a:r>
            <a:r>
              <a:rPr dirty="0" sz="2900" lang="en-US" smtClean="0"/>
              <a:t> </a:t>
            </a:r>
            <a:r>
              <a:rPr dirty="0" sz="2900" lang="en-US" err="1" smtClean="0"/>
              <a:t>Ciproxin</a:t>
            </a:r>
            <a:r>
              <a:rPr dirty="0" sz="2900" lang="en-US" smtClean="0"/>
              <a:t> 500 mg BD for 10 – 14 days.</a:t>
            </a:r>
          </a:p>
          <a:p>
            <a:pPr>
              <a:buFont typeface="Wingdings" pitchFamily="2" charset="2"/>
              <a:buChar char="Ø"/>
            </a:pPr>
            <a:r>
              <a:rPr dirty="0" sz="2900" lang="en-US" smtClean="0"/>
              <a:t> </a:t>
            </a:r>
            <a:r>
              <a:rPr dirty="0" sz="2900" lang="en-US" err="1" smtClean="0"/>
              <a:t>Panadols</a:t>
            </a:r>
            <a:r>
              <a:rPr dirty="0" sz="2900" lang="en-US" smtClean="0"/>
              <a:t> for analgesics, 2 tablets TDS  for 3 days.</a:t>
            </a:r>
          </a:p>
          <a:p>
            <a:r>
              <a:rPr dirty="0" sz="2900" lang="en-US" smtClean="0"/>
              <a:t>Advise on high fluid  intake , at least 3litres in 24 hrs. </a:t>
            </a:r>
          </a:p>
          <a:p>
            <a:pPr>
              <a:buFont typeface="Wingdings" pitchFamily="2" charset="2"/>
              <a:buChar char="v"/>
            </a:pPr>
            <a:r>
              <a:rPr dirty="0" sz="2900" lang="en-US" smtClean="0"/>
              <a:t>Aim is to flush out the offending organisms and correct dehydration.</a:t>
            </a:r>
          </a:p>
          <a:p>
            <a:r>
              <a:rPr dirty="0" sz="2900" lang="en-US" smtClean="0"/>
              <a:t>Balanced diet , rest to increase blood flow to kidneys and placental bed.</a:t>
            </a:r>
            <a:endParaRPr dirty="0" sz="2900" lang="en-US"/>
          </a:p>
        </p:txBody>
      </p:sp>
      <p:sp>
        <p:nvSpPr>
          <p:cNvPr id="104983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211" name=""/>
        <p:cNvGrpSpPr/>
        <p:nvPr/>
      </p:nvGrpSpPr>
      <p:grpSpPr>
        <a:xfrm>
          <a:off x="0" y="0"/>
          <a:ext cx="0" cy="0"/>
          <a:chOff x="0" y="0"/>
          <a:chExt cx="0" cy="0"/>
        </a:xfrm>
      </p:grpSpPr>
      <p:sp>
        <p:nvSpPr>
          <p:cNvPr id="1049838" name="Content Placeholder 2"/>
          <p:cNvSpPr>
            <a:spLocks noGrp="1"/>
          </p:cNvSpPr>
          <p:nvPr>
            <p:ph idx="1"/>
          </p:nvPr>
        </p:nvSpPr>
        <p:spPr>
          <a:xfrm>
            <a:off x="1238250" y="0"/>
            <a:ext cx="10191750" cy="6553200"/>
          </a:xfrm>
        </p:spPr>
        <p:txBody>
          <a:bodyPr>
            <a:noAutofit/>
          </a:bodyPr>
          <a:p>
            <a:r>
              <a:rPr dirty="0" sz="3000" lang="en-US" smtClean="0"/>
              <a:t>High standards of hygiene to prevent re-infection.</a:t>
            </a:r>
          </a:p>
          <a:p>
            <a:r>
              <a:rPr dirty="0" sz="3000" lang="en-US" smtClean="0"/>
              <a:t>Treat/control various predisposing  factors.</a:t>
            </a:r>
          </a:p>
          <a:p>
            <a:r>
              <a:rPr dirty="0" sz="3000" lang="en-US" smtClean="0"/>
              <a:t>Schedule either weekly or 2  weekly  review visits, to monitor the progress through interviewing for the state of symptoms, </a:t>
            </a:r>
            <a:r>
              <a:rPr dirty="0" sz="3000" lang="en-US" err="1" smtClean="0"/>
              <a:t>phy</a:t>
            </a:r>
            <a:r>
              <a:rPr dirty="0" sz="3000" lang="en-US" smtClean="0"/>
              <a:t>. Exam and </a:t>
            </a:r>
            <a:r>
              <a:rPr dirty="0" sz="3000" lang="en-US" err="1" smtClean="0"/>
              <a:t>urinaysis</a:t>
            </a:r>
            <a:r>
              <a:rPr dirty="0" sz="3000" lang="en-US" smtClean="0"/>
              <a:t> findings.</a:t>
            </a:r>
          </a:p>
          <a:p>
            <a:pPr>
              <a:buNone/>
            </a:pPr>
            <a:r>
              <a:rPr dirty="0" sz="3000" lang="en-US" smtClean="0"/>
              <a:t>	</a:t>
            </a:r>
            <a:r>
              <a:rPr b="1" dirty="0" sz="3000" lang="en-US" u="sng" smtClean="0"/>
              <a:t>Moderate – Severe  cases</a:t>
            </a:r>
          </a:p>
          <a:p>
            <a:r>
              <a:rPr dirty="0" sz="3000" lang="en-US" smtClean="0"/>
              <a:t>Admit at first contact ,for rest , observations and treatment due to the possible complications to the fetus and mother . </a:t>
            </a:r>
          </a:p>
          <a:p>
            <a:r>
              <a:rPr dirty="0" sz="3000" lang="en-US" smtClean="0"/>
              <a:t>Nurse on complete bed rest.</a:t>
            </a:r>
            <a:endParaRPr dirty="0" sz="3000" lang="en-US"/>
          </a:p>
        </p:txBody>
      </p:sp>
      <p:sp>
        <p:nvSpPr>
          <p:cNvPr id="104983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212" name=""/>
        <p:cNvGrpSpPr/>
        <p:nvPr/>
      </p:nvGrpSpPr>
      <p:grpSpPr>
        <a:xfrm>
          <a:off x="0" y="0"/>
          <a:ext cx="0" cy="0"/>
          <a:chOff x="0" y="0"/>
          <a:chExt cx="0" cy="0"/>
        </a:xfrm>
      </p:grpSpPr>
      <p:sp>
        <p:nvSpPr>
          <p:cNvPr id="1049840" name="Content Placeholder 2"/>
          <p:cNvSpPr>
            <a:spLocks noGrp="1"/>
          </p:cNvSpPr>
          <p:nvPr>
            <p:ph idx="1"/>
          </p:nvPr>
        </p:nvSpPr>
        <p:spPr>
          <a:xfrm>
            <a:off x="1238250" y="381000"/>
            <a:ext cx="9906000" cy="6172200"/>
          </a:xfrm>
        </p:spPr>
        <p:txBody>
          <a:bodyPr>
            <a:normAutofit/>
          </a:bodyPr>
          <a:p>
            <a:r>
              <a:rPr dirty="0" lang="en-US" smtClean="0"/>
              <a:t>Inform the DR immediately, for medical care.</a:t>
            </a:r>
          </a:p>
          <a:p>
            <a:r>
              <a:rPr dirty="0" lang="en-US" smtClean="0"/>
              <a:t>Encourage plenty of fluids </a:t>
            </a:r>
            <a:r>
              <a:rPr dirty="0" lang="en-US" err="1" smtClean="0"/>
              <a:t>e.g</a:t>
            </a:r>
            <a:r>
              <a:rPr dirty="0" lang="en-US" smtClean="0"/>
              <a:t> 3litres in  24 hrs to control dehydration.</a:t>
            </a:r>
          </a:p>
          <a:p>
            <a:pPr>
              <a:buFont typeface="Wingdings" pitchFamily="2" charset="2"/>
              <a:buChar char="Ø"/>
            </a:pPr>
            <a:r>
              <a:rPr dirty="0" lang="en-US" smtClean="0"/>
              <a:t> Nausea  or vomiting present, commence IV fluids  3L in 24 hrs.</a:t>
            </a:r>
          </a:p>
          <a:p>
            <a:pPr>
              <a:buFont typeface="Wingdings" pitchFamily="2" charset="2"/>
              <a:buChar char="v"/>
            </a:pPr>
            <a:r>
              <a:rPr dirty="0" lang="en-US" smtClean="0"/>
              <a:t>Maintain a fluid balance chart  strictly to assess for renal failure.</a:t>
            </a:r>
          </a:p>
          <a:p>
            <a:r>
              <a:rPr dirty="0" lang="en-US" smtClean="0"/>
              <a:t>Observations:  Vital signs , fetal heart sounds every 2 hrly initially, mother to maintain fetal kick chart as well.</a:t>
            </a:r>
          </a:p>
          <a:p>
            <a:pPr>
              <a:buFont typeface="Wingdings" pitchFamily="2" charset="2"/>
              <a:buChar char="Ø"/>
            </a:pPr>
            <a:r>
              <a:rPr dirty="0" lang="en-US" smtClean="0"/>
              <a:t> Later change to 4 hrly, depending on the findings. Interprete correctly  &amp; consult PRN.</a:t>
            </a:r>
            <a:endParaRPr dirty="0" lang="en-US"/>
          </a:p>
        </p:txBody>
      </p:sp>
      <p:sp>
        <p:nvSpPr>
          <p:cNvPr id="104984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213" name=""/>
        <p:cNvGrpSpPr/>
        <p:nvPr/>
      </p:nvGrpSpPr>
      <p:grpSpPr>
        <a:xfrm>
          <a:off x="0" y="0"/>
          <a:ext cx="0" cy="0"/>
          <a:chOff x="0" y="0"/>
          <a:chExt cx="0" cy="0"/>
        </a:xfrm>
      </p:grpSpPr>
      <p:sp>
        <p:nvSpPr>
          <p:cNvPr id="1049842" name="Content Placeholder 2"/>
          <p:cNvSpPr>
            <a:spLocks noGrp="1"/>
          </p:cNvSpPr>
          <p:nvPr>
            <p:ph idx="1"/>
          </p:nvPr>
        </p:nvSpPr>
        <p:spPr>
          <a:xfrm>
            <a:off x="1428751" y="304800"/>
            <a:ext cx="9738359" cy="5943600"/>
          </a:xfrm>
        </p:spPr>
        <p:txBody>
          <a:bodyPr>
            <a:noAutofit/>
          </a:bodyPr>
          <a:p>
            <a:pPr>
              <a:buFont typeface="Wingdings" pitchFamily="2" charset="2"/>
              <a:buChar char="Ø"/>
            </a:pPr>
            <a:r>
              <a:rPr dirty="0" sz="2700" lang="en-US" smtClean="0"/>
              <a:t>Do routine urinalysis daily &amp; maintain records .</a:t>
            </a:r>
          </a:p>
          <a:p>
            <a:r>
              <a:rPr dirty="0" sz="2700" lang="en-US" smtClean="0"/>
              <a:t>Investigate through :-</a:t>
            </a:r>
          </a:p>
          <a:p>
            <a:pPr>
              <a:buFont typeface="Wingdings" pitchFamily="2" charset="2"/>
              <a:buChar char="Ø"/>
            </a:pPr>
            <a:r>
              <a:rPr dirty="0" sz="2700" lang="en-US" smtClean="0"/>
              <a:t> Routine blood tests</a:t>
            </a:r>
            <a:r>
              <a:rPr dirty="0" sz="2700" lang="en-US"/>
              <a:t>	</a:t>
            </a:r>
            <a:endParaRPr dirty="0" sz="2700" lang="en-US" smtClean="0"/>
          </a:p>
          <a:p>
            <a:pPr>
              <a:buFont typeface="Wingdings" pitchFamily="2" charset="2"/>
              <a:buChar char="Ø"/>
            </a:pPr>
            <a:r>
              <a:rPr dirty="0" sz="2700" lang="en-US" smtClean="0"/>
              <a:t>Midstream specimen of urine, for microscopy, culture &amp; sensitivity.  Escherichia coli  or </a:t>
            </a:r>
            <a:r>
              <a:rPr dirty="0" sz="2700" lang="en-US" err="1" smtClean="0"/>
              <a:t>klebsiella</a:t>
            </a:r>
            <a:r>
              <a:rPr dirty="0" sz="2700" lang="en-US" smtClean="0"/>
              <a:t> </a:t>
            </a:r>
            <a:r>
              <a:rPr dirty="0" sz="2700" lang="en-US" err="1" smtClean="0"/>
              <a:t>enterobacteria</a:t>
            </a:r>
            <a:r>
              <a:rPr dirty="0" sz="2700" lang="en-US" smtClean="0"/>
              <a:t>  are commonly isolated.</a:t>
            </a:r>
          </a:p>
          <a:p>
            <a:pPr>
              <a:buFont typeface="Wingdings" pitchFamily="2" charset="2"/>
              <a:buChar char="Ø"/>
            </a:pPr>
            <a:r>
              <a:rPr dirty="0" sz="2700" lang="en-US" smtClean="0"/>
              <a:t>Radiological examination in terms of renal ultrasound.</a:t>
            </a:r>
          </a:p>
          <a:p>
            <a:r>
              <a:rPr dirty="0" sz="2700" lang="en-US" smtClean="0"/>
              <a:t>Drugs: Intravenous  broad spectrum antibiotic initially, </a:t>
            </a:r>
            <a:r>
              <a:rPr dirty="0" sz="2700" lang="en-US" err="1" smtClean="0"/>
              <a:t>eg</a:t>
            </a:r>
            <a:r>
              <a:rPr dirty="0" sz="2700" lang="en-US" smtClean="0"/>
              <a:t> </a:t>
            </a:r>
            <a:r>
              <a:rPr dirty="0" sz="2700" lang="en-US" err="1" smtClean="0"/>
              <a:t>Ampicillin</a:t>
            </a:r>
            <a:r>
              <a:rPr dirty="0" sz="2700" lang="en-US" smtClean="0"/>
              <a:t> 500 mg QDS or 2 days and </a:t>
            </a:r>
            <a:r>
              <a:rPr dirty="0" sz="2700" lang="en-US" err="1" smtClean="0"/>
              <a:t>Gentamycin</a:t>
            </a:r>
            <a:r>
              <a:rPr dirty="0" sz="2700" lang="en-US" smtClean="0"/>
              <a:t> 80 mg TDS for 1 week.</a:t>
            </a:r>
          </a:p>
          <a:p>
            <a:pPr>
              <a:buNone/>
            </a:pPr>
            <a:endParaRPr dirty="0" sz="2700" lang="en-US" smtClean="0"/>
          </a:p>
          <a:p>
            <a:pPr>
              <a:buNone/>
            </a:pPr>
            <a:endParaRPr dirty="0" sz="2700" lang="en-US" smtClean="0"/>
          </a:p>
        </p:txBody>
      </p:sp>
      <p:sp>
        <p:nvSpPr>
          <p:cNvPr id="104984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214" name=""/>
        <p:cNvGrpSpPr/>
        <p:nvPr/>
      </p:nvGrpSpPr>
      <p:grpSpPr>
        <a:xfrm>
          <a:off x="0" y="0"/>
          <a:ext cx="0" cy="0"/>
          <a:chOff x="0" y="0"/>
          <a:chExt cx="0" cy="0"/>
        </a:xfrm>
      </p:grpSpPr>
      <p:sp>
        <p:nvSpPr>
          <p:cNvPr id="1049844" name="Content Placeholder 2"/>
          <p:cNvSpPr>
            <a:spLocks noGrp="1"/>
          </p:cNvSpPr>
          <p:nvPr>
            <p:ph idx="1"/>
          </p:nvPr>
        </p:nvSpPr>
        <p:spPr>
          <a:xfrm>
            <a:off x="1333501" y="152400"/>
            <a:ext cx="9833609" cy="6096000"/>
          </a:xfrm>
        </p:spPr>
        <p:txBody>
          <a:bodyPr>
            <a:normAutofit/>
          </a:bodyPr>
          <a:p>
            <a:pPr>
              <a:buFont typeface="Wingdings" pitchFamily="2" charset="2"/>
              <a:buChar char="ü"/>
            </a:pPr>
            <a:r>
              <a:rPr dirty="0" lang="en-US" smtClean="0"/>
              <a:t>Later  as oral treatment becomes tolerate,  regiment is as in mild for 10 -14 days.</a:t>
            </a:r>
          </a:p>
          <a:p>
            <a:pPr>
              <a:buFont typeface="Wingdings" pitchFamily="2" charset="2"/>
              <a:buChar char="ü"/>
            </a:pPr>
            <a:r>
              <a:rPr dirty="0" lang="en-US" err="1" smtClean="0"/>
              <a:t>Sulphonamides</a:t>
            </a:r>
            <a:r>
              <a:rPr dirty="0" lang="en-US" smtClean="0"/>
              <a:t>  can also be given , though not in late pregnancy to avoid occurring of neonatal jaundice and folic acid deficiency anaemia respectively.</a:t>
            </a:r>
          </a:p>
          <a:p>
            <a:pPr>
              <a:buFont typeface="Wingdings" pitchFamily="2" charset="2"/>
              <a:buChar char="Ø"/>
            </a:pPr>
            <a:r>
              <a:rPr dirty="0" lang="en-US" smtClean="0"/>
              <a:t> Antipyretic  in injectable form is administered due to the pyrexia , later orally.</a:t>
            </a:r>
          </a:p>
          <a:p>
            <a:pPr>
              <a:buFont typeface="Wingdings" pitchFamily="2" charset="2"/>
              <a:buChar char="Ø"/>
            </a:pPr>
            <a:r>
              <a:rPr dirty="0" lang="en-US" smtClean="0"/>
              <a:t> For severe pain, antispasmodics are highly preferred </a:t>
            </a:r>
            <a:r>
              <a:rPr dirty="0" lang="en-US" err="1" smtClean="0"/>
              <a:t>eg</a:t>
            </a:r>
            <a:r>
              <a:rPr dirty="0" lang="en-US" smtClean="0"/>
              <a:t> </a:t>
            </a:r>
            <a:r>
              <a:rPr dirty="0" lang="en-US" err="1" smtClean="0"/>
              <a:t>Buscopan</a:t>
            </a:r>
            <a:r>
              <a:rPr dirty="0" lang="en-US" smtClean="0"/>
              <a:t> 20 mg IV or IM every 8 hourly, later orally for 5 days  </a:t>
            </a:r>
            <a:endParaRPr dirty="0" lang="en-US"/>
          </a:p>
        </p:txBody>
      </p:sp>
      <p:sp>
        <p:nvSpPr>
          <p:cNvPr id="104984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215" name=""/>
        <p:cNvGrpSpPr/>
        <p:nvPr/>
      </p:nvGrpSpPr>
      <p:grpSpPr>
        <a:xfrm>
          <a:off x="0" y="0"/>
          <a:ext cx="0" cy="0"/>
          <a:chOff x="0" y="0"/>
          <a:chExt cx="0" cy="0"/>
        </a:xfrm>
      </p:grpSpPr>
      <p:sp>
        <p:nvSpPr>
          <p:cNvPr id="1049846" name="Content Placeholder 2"/>
          <p:cNvSpPr>
            <a:spLocks noGrp="1"/>
          </p:cNvSpPr>
          <p:nvPr>
            <p:ph idx="1"/>
          </p:nvPr>
        </p:nvSpPr>
        <p:spPr>
          <a:xfrm>
            <a:off x="1524000" y="304800"/>
            <a:ext cx="9643109" cy="5943600"/>
          </a:xfrm>
        </p:spPr>
        <p:txBody>
          <a:bodyPr>
            <a:normAutofit/>
          </a:bodyPr>
          <a:p>
            <a:pPr>
              <a:buFont typeface="Wingdings" pitchFamily="2" charset="2"/>
              <a:buChar char="Ø"/>
            </a:pPr>
            <a:r>
              <a:rPr dirty="0" lang="en-US" smtClean="0"/>
              <a:t> For severe vomiting, antiemetic eg </a:t>
            </a:r>
            <a:r>
              <a:rPr dirty="0" lang="en-US" err="1" smtClean="0"/>
              <a:t>Plasil</a:t>
            </a:r>
            <a:r>
              <a:rPr dirty="0" lang="en-US" smtClean="0"/>
              <a:t> 10 mg or Phenergan 25 mg IM 8 hrly for 3 days.</a:t>
            </a:r>
          </a:p>
          <a:p>
            <a:pPr>
              <a:buFont typeface="Wingdings" pitchFamily="2" charset="2"/>
              <a:buChar char="Ø"/>
            </a:pPr>
            <a:r>
              <a:rPr dirty="0" lang="en-US" smtClean="0"/>
              <a:t> Due to severe </a:t>
            </a:r>
            <a:r>
              <a:rPr dirty="0" lang="en-US" err="1" smtClean="0"/>
              <a:t>dysuria</a:t>
            </a:r>
            <a:r>
              <a:rPr dirty="0" lang="en-US" smtClean="0"/>
              <a:t>/ scalding sensation on </a:t>
            </a:r>
            <a:r>
              <a:rPr dirty="0" lang="en-US" err="1" smtClean="0"/>
              <a:t>micturition</a:t>
            </a:r>
            <a:r>
              <a:rPr dirty="0" lang="en-US" smtClean="0"/>
              <a:t> oral alkalinize </a:t>
            </a:r>
            <a:r>
              <a:rPr dirty="0" lang="en-US" err="1" smtClean="0"/>
              <a:t>eg</a:t>
            </a:r>
            <a:r>
              <a:rPr dirty="0" lang="en-US" smtClean="0"/>
              <a:t> potassium citrate 30 ml every 8 hourly  may be given . It also inhibit the growth  &amp; multiplication of  E. coli.</a:t>
            </a:r>
          </a:p>
          <a:p>
            <a:r>
              <a:rPr dirty="0" lang="en-US" smtClean="0"/>
              <a:t>Treat other underlying conditions.</a:t>
            </a:r>
          </a:p>
          <a:p>
            <a:r>
              <a:rPr dirty="0" lang="en-US" smtClean="0"/>
              <a:t>Offer psychological support regularly to allay anxiety.</a:t>
            </a:r>
          </a:p>
          <a:p>
            <a:r>
              <a:rPr dirty="0" lang="en-US" smtClean="0"/>
              <a:t>Encourage chest and leg exercises to </a:t>
            </a:r>
            <a:r>
              <a:rPr dirty="0" lang="en-US" err="1" smtClean="0"/>
              <a:t>aviod</a:t>
            </a:r>
            <a:r>
              <a:rPr dirty="0" lang="en-US" smtClean="0"/>
              <a:t> complication , e.g. DVT &amp; hypostatic pneumonia.</a:t>
            </a:r>
            <a:endParaRPr dirty="0" lang="en-US"/>
          </a:p>
        </p:txBody>
      </p:sp>
      <p:sp>
        <p:nvSpPr>
          <p:cNvPr id="104984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216" name=""/>
        <p:cNvGrpSpPr/>
        <p:nvPr/>
      </p:nvGrpSpPr>
      <p:grpSpPr>
        <a:xfrm>
          <a:off x="0" y="0"/>
          <a:ext cx="0" cy="0"/>
          <a:chOff x="0" y="0"/>
          <a:chExt cx="0" cy="0"/>
        </a:xfrm>
      </p:grpSpPr>
      <p:sp>
        <p:nvSpPr>
          <p:cNvPr id="1049848" name="Content Placeholder 2"/>
          <p:cNvSpPr>
            <a:spLocks noGrp="1"/>
          </p:cNvSpPr>
          <p:nvPr>
            <p:ph idx="1"/>
          </p:nvPr>
        </p:nvSpPr>
        <p:spPr>
          <a:xfrm>
            <a:off x="1238250" y="152400"/>
            <a:ext cx="9928859" cy="6019800"/>
          </a:xfrm>
        </p:spPr>
        <p:txBody>
          <a:bodyPr>
            <a:normAutofit/>
          </a:bodyPr>
          <a:p>
            <a:r>
              <a:rPr dirty="0" lang="en-US" smtClean="0"/>
              <a:t>Closely monitor for onset of preterm labour through cardiotocograph , because uterine contractions may be masked by the severe pain from the condition.</a:t>
            </a:r>
          </a:p>
          <a:p>
            <a:r>
              <a:rPr dirty="0" lang="en-US" smtClean="0"/>
              <a:t>Maintain high standards of hygiene, particularly vulval.</a:t>
            </a:r>
          </a:p>
          <a:p>
            <a:r>
              <a:rPr dirty="0" lang="en-US" smtClean="0"/>
              <a:t>As vomiting and nausea subsides, encourage oral fluids &amp; stop drip, later emphasis on a balanced diet.</a:t>
            </a:r>
          </a:p>
          <a:p>
            <a:r>
              <a:rPr dirty="0" lang="en-US" smtClean="0"/>
              <a:t>Regularly, evaluate effectiveness of the treatment through interview of symptoms, physical exam &amp; MSSU repeat 48 hrs after start of RX + twice wkly.</a:t>
            </a:r>
            <a:endParaRPr dirty="0" lang="en-US"/>
          </a:p>
        </p:txBody>
      </p:sp>
      <p:sp>
        <p:nvSpPr>
          <p:cNvPr id="104984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217" name=""/>
        <p:cNvGrpSpPr/>
        <p:nvPr/>
      </p:nvGrpSpPr>
      <p:grpSpPr>
        <a:xfrm>
          <a:off x="0" y="0"/>
          <a:ext cx="0" cy="0"/>
          <a:chOff x="0" y="0"/>
          <a:chExt cx="0" cy="0"/>
        </a:xfrm>
      </p:grpSpPr>
      <p:sp>
        <p:nvSpPr>
          <p:cNvPr id="1049850" name="Content Placeholder 2"/>
          <p:cNvSpPr>
            <a:spLocks noGrp="1"/>
          </p:cNvSpPr>
          <p:nvPr>
            <p:ph idx="1"/>
          </p:nvPr>
        </p:nvSpPr>
        <p:spPr>
          <a:xfrm>
            <a:off x="1238250" y="304800"/>
            <a:ext cx="10001250" cy="6248400"/>
          </a:xfrm>
        </p:spPr>
        <p:txBody>
          <a:bodyPr>
            <a:noAutofit/>
          </a:bodyPr>
          <a:p>
            <a:r>
              <a:rPr dirty="0" sz="2900" lang="en-US" smtClean="0"/>
              <a:t>Encourage ambulation as condition stabilises.</a:t>
            </a:r>
          </a:p>
          <a:p>
            <a:r>
              <a:rPr dirty="0" sz="2900" lang="en-US" smtClean="0"/>
              <a:t>Finally prepare for discharge through sharing on :-	</a:t>
            </a:r>
          </a:p>
          <a:p>
            <a:pPr>
              <a:buFont typeface="Wingdings" pitchFamily="2" charset="2"/>
              <a:buChar char="Ø"/>
            </a:pPr>
            <a:r>
              <a:rPr dirty="0" sz="2900" lang="en-US" smtClean="0"/>
              <a:t>Diet; well balanced &amp; plenty of fluids.</a:t>
            </a:r>
          </a:p>
          <a:p>
            <a:pPr>
              <a:buFont typeface="Wingdings" pitchFamily="2" charset="2"/>
              <a:buChar char="Ø"/>
            </a:pPr>
            <a:r>
              <a:rPr dirty="0" sz="2900" lang="en-US" smtClean="0"/>
              <a:t>Hygiene; particularly of  vulva.</a:t>
            </a:r>
          </a:p>
          <a:p>
            <a:pPr>
              <a:buFont typeface="Wingdings" pitchFamily="2" charset="2"/>
              <a:buChar char="Ø"/>
            </a:pPr>
            <a:r>
              <a:rPr dirty="0" sz="2900" lang="en-US" smtClean="0"/>
              <a:t>Rest ; increases kidneys and placental bed blood flow.</a:t>
            </a:r>
          </a:p>
          <a:p>
            <a:pPr>
              <a:buFont typeface="Wingdings" pitchFamily="2" charset="2"/>
              <a:buChar char="Ø"/>
            </a:pPr>
            <a:r>
              <a:rPr dirty="0" sz="2900" lang="en-US" smtClean="0"/>
              <a:t>Compliance; with review visits &amp; drugs.</a:t>
            </a:r>
          </a:p>
          <a:p>
            <a:pPr>
              <a:buFont typeface="Wingdings" pitchFamily="2" charset="2"/>
              <a:buChar char="Ø"/>
            </a:pPr>
            <a:r>
              <a:rPr dirty="0" sz="2900" lang="en-US" smtClean="0"/>
              <a:t>Seek medical attention; promptly, if symptoms relapses.</a:t>
            </a:r>
          </a:p>
          <a:p>
            <a:pPr>
              <a:buFont typeface="Wingdings" pitchFamily="2" charset="2"/>
              <a:buChar char="Ø"/>
            </a:pPr>
            <a:r>
              <a:rPr dirty="0" sz="2900" lang="en-US" smtClean="0"/>
              <a:t>To deliver; in a hospital setting because of possibility of fetal complications</a:t>
            </a:r>
          </a:p>
        </p:txBody>
      </p:sp>
      <p:sp>
        <p:nvSpPr>
          <p:cNvPr id="104985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218" name=""/>
        <p:cNvGrpSpPr/>
        <p:nvPr/>
      </p:nvGrpSpPr>
      <p:grpSpPr>
        <a:xfrm>
          <a:off x="0" y="0"/>
          <a:ext cx="0" cy="0"/>
          <a:chOff x="0" y="0"/>
          <a:chExt cx="0" cy="0"/>
        </a:xfrm>
      </p:grpSpPr>
      <p:sp>
        <p:nvSpPr>
          <p:cNvPr id="1049852" name="Content Placeholder 2"/>
          <p:cNvSpPr>
            <a:spLocks noGrp="1"/>
          </p:cNvSpPr>
          <p:nvPr>
            <p:ph idx="1"/>
          </p:nvPr>
        </p:nvSpPr>
        <p:spPr>
          <a:xfrm>
            <a:off x="1428750" y="0"/>
            <a:ext cx="10001250" cy="6553200"/>
          </a:xfrm>
        </p:spPr>
        <p:txBody>
          <a:bodyPr>
            <a:noAutofit/>
          </a:bodyPr>
          <a:p>
            <a:pPr>
              <a:buFont typeface="Wingdings" pitchFamily="2" charset="2"/>
              <a:buChar char="v"/>
            </a:pPr>
            <a:r>
              <a:rPr dirty="0" lang="en-US" smtClean="0"/>
              <a:t>To have  IVU examination 3 months after delivery.</a:t>
            </a:r>
          </a:p>
          <a:p>
            <a:pPr>
              <a:buNone/>
            </a:pPr>
            <a:r>
              <a:rPr dirty="0" lang="en-US" smtClean="0"/>
              <a:t>	         </a:t>
            </a:r>
            <a:r>
              <a:rPr b="1" dirty="0" sz="3600" lang="en-US" smtClean="0">
                <a:solidFill>
                  <a:srgbClr val="00B050"/>
                </a:solidFill>
              </a:rPr>
              <a:t>Complications</a:t>
            </a:r>
            <a:endParaRPr b="1" dirty="0" lang="en-US" smtClean="0">
              <a:solidFill>
                <a:srgbClr val="00B050"/>
              </a:solidFill>
            </a:endParaRPr>
          </a:p>
          <a:p>
            <a:r>
              <a:rPr dirty="0" lang="en-US" smtClean="0"/>
              <a:t>Loss of pregnancy; in  abortion or stillbirth.</a:t>
            </a:r>
          </a:p>
          <a:p>
            <a:r>
              <a:rPr dirty="0" lang="en-US" smtClean="0"/>
              <a:t>Low birth weight; due to either preterm labour or intrauterine growth restriction.</a:t>
            </a:r>
          </a:p>
          <a:p>
            <a:r>
              <a:rPr dirty="0" lang="en-US" err="1" smtClean="0"/>
              <a:t>Perinephric</a:t>
            </a:r>
            <a:r>
              <a:rPr dirty="0" lang="en-US" smtClean="0"/>
              <a:t> abscess; due to mismanaged </a:t>
            </a:r>
            <a:r>
              <a:rPr dirty="0" lang="en-US" err="1" smtClean="0"/>
              <a:t>pyelonephritis</a:t>
            </a:r>
            <a:r>
              <a:rPr dirty="0" lang="en-US" smtClean="0"/>
              <a:t>. </a:t>
            </a:r>
          </a:p>
          <a:p>
            <a:pPr>
              <a:buFont typeface="Wingdings" pitchFamily="2" charset="2"/>
              <a:buChar char="Ø"/>
            </a:pPr>
            <a:r>
              <a:rPr dirty="0" lang="en-US" smtClean="0"/>
              <a:t>Pus collects around the kidneys.</a:t>
            </a:r>
          </a:p>
          <a:p>
            <a:r>
              <a:rPr dirty="0" lang="en-US" smtClean="0"/>
              <a:t>Chronic renal failure= progress loss of renal functions.</a:t>
            </a:r>
          </a:p>
          <a:p>
            <a:pPr>
              <a:buNone/>
            </a:pPr>
            <a:r>
              <a:rPr dirty="0" lang="en-US" smtClean="0"/>
              <a:t>				</a:t>
            </a:r>
            <a:r>
              <a:rPr b="1" dirty="0" sz="6600" i="1" lang="en-US" smtClean="0">
                <a:solidFill>
                  <a:srgbClr val="FF00FF"/>
                </a:solidFill>
                <a:latin typeface="Castellar" pitchFamily="18" charset="0"/>
              </a:rPr>
              <a:t>END</a:t>
            </a:r>
            <a:endParaRPr b="1" dirty="0" sz="6600" i="1" lang="en-US">
              <a:solidFill>
                <a:srgbClr val="FF00FF"/>
              </a:solidFill>
              <a:latin typeface="Castellar" pitchFamily="18" charset="0"/>
            </a:endParaRPr>
          </a:p>
        </p:txBody>
      </p:sp>
      <p:sp>
        <p:nvSpPr>
          <p:cNvPr id="104985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219" name=""/>
        <p:cNvGrpSpPr/>
        <p:nvPr/>
      </p:nvGrpSpPr>
      <p:grpSpPr>
        <a:xfrm>
          <a:off x="0" y="0"/>
          <a:ext cx="0" cy="0"/>
          <a:chOff x="0" y="0"/>
          <a:chExt cx="0" cy="0"/>
        </a:xfrm>
      </p:grpSpPr>
      <p:sp>
        <p:nvSpPr>
          <p:cNvPr id="1049854" name="Title 3"/>
          <p:cNvSpPr>
            <a:spLocks noGrp="1"/>
          </p:cNvSpPr>
          <p:nvPr>
            <p:ph type="ctrTitle"/>
          </p:nvPr>
        </p:nvSpPr>
        <p:spPr>
          <a:xfrm>
            <a:off x="1428750" y="1219200"/>
            <a:ext cx="9715500" cy="1776984"/>
          </a:xfrm>
          <a:solidFill>
            <a:srgbClr val="FF0000"/>
          </a:solidFill>
          <a:ln w="34925">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a:noAutofit/>
          </a:bodyPr>
          <a:p>
            <a:pPr algn="ctr"/>
            <a:r>
              <a:rPr b="1" dirty="0" sz="6000" lang="en-US" smtClean="0">
                <a:solidFill>
                  <a:schemeClr val="bg1"/>
                </a:solidFill>
                <a:latin typeface="Stencil" pitchFamily="82" charset="0"/>
              </a:rPr>
              <a:t>MALARIA IN PREGNANCY</a:t>
            </a:r>
            <a:endParaRPr b="1" dirty="0" sz="6000" lang="en-US">
              <a:solidFill>
                <a:schemeClr val="bg1"/>
              </a:solidFill>
              <a:latin typeface="Stencil" pitchFamily="82" charset="0"/>
            </a:endParaRPr>
          </a:p>
        </p:txBody>
      </p:sp>
    </p:spTree>
  </p:cSld>
  <p:clrMapOvr>
    <a:masterClrMapping/>
  </p:clrMapOvr>
  <p:transition xmlns:p14="http://schemas.microsoft.com/office/powerpoint/2010/main" spd="slow">
    <p:strips dir="ru"/>
  </p:transition>
  <p:timing/>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220" name=""/>
        <p:cNvGrpSpPr/>
        <p:nvPr/>
      </p:nvGrpSpPr>
      <p:grpSpPr>
        <a:xfrm>
          <a:off x="0" y="0"/>
          <a:ext cx="0" cy="0"/>
          <a:chOff x="0" y="0"/>
          <a:chExt cx="0" cy="0"/>
        </a:xfrm>
      </p:grpSpPr>
      <p:sp>
        <p:nvSpPr>
          <p:cNvPr id="1049855" name="Title 1"/>
          <p:cNvSpPr>
            <a:spLocks noGrp="1"/>
          </p:cNvSpPr>
          <p:nvPr>
            <p:ph type="title"/>
          </p:nvPr>
        </p:nvSpPr>
        <p:spPr>
          <a:xfrm>
            <a:off x="1794509" y="0"/>
            <a:ext cx="9372600" cy="609600"/>
          </a:xfrm>
        </p:spPr>
        <p:txBody>
          <a:bodyPr>
            <a:normAutofit fontScale="90000"/>
            <a:scene3d>
              <a:camera prst="orthographicFront">
                <a:rot lat="0" lon="0" rev="0"/>
              </a:camera>
              <a:lightRig dir="t" rig="contrasting">
                <a:rot lat="0" lon="0" rev="4500000"/>
              </a:lightRig>
            </a:scene3d>
            <a:sp3d contourW="6350" prstMaterial="metal">
              <a:bevelT w="127000" h="31750" prst="relaxedInset"/>
              <a:contourClr>
                <a:schemeClr val="accent1">
                  <a:shade val="75000"/>
                </a:schemeClr>
              </a:contourClr>
            </a:sp3d>
          </a:bodyPr>
          <a:p>
            <a:pPr algn="ctr"/>
            <a:r>
              <a:rPr b="1" dirty="0" lang="en-US" smtClean="0">
                <a:solidFill>
                  <a:srgbClr val="00FF00"/>
                </a:solidFill>
              </a:rPr>
              <a:t>DESCRIPTION</a:t>
            </a:r>
            <a:endParaRPr b="1" cap="all" dirty="0" lang="en-US">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dir="5400000" dist="5000" endPos="50000" rotWithShape="0" stA="50000" sy="-100000"/>
              </a:effectLst>
            </a:endParaRPr>
          </a:p>
        </p:txBody>
      </p:sp>
      <p:sp>
        <p:nvSpPr>
          <p:cNvPr id="1049856" name="Content Placeholder 2"/>
          <p:cNvSpPr>
            <a:spLocks noGrp="1"/>
          </p:cNvSpPr>
          <p:nvPr>
            <p:ph idx="1"/>
          </p:nvPr>
        </p:nvSpPr>
        <p:spPr>
          <a:xfrm>
            <a:off x="1238250" y="457200"/>
            <a:ext cx="10191750" cy="6324600"/>
          </a:xfrm>
        </p:spPr>
        <p:txBody>
          <a:bodyPr>
            <a:noAutofit/>
          </a:bodyPr>
          <a:p>
            <a:r>
              <a:rPr dirty="0" sz="2400" lang="en-US" smtClean="0"/>
              <a:t>It’s a vector borne disease/infection, transmitted by a parasite mostly plasmodium falciparum, which leads to severe haemolysis. Precisely, transmission is through a mosquito bite.</a:t>
            </a:r>
          </a:p>
          <a:p>
            <a:pPr algn="ctr">
              <a:buNone/>
            </a:pPr>
            <a:r>
              <a:rPr b="1" dirty="0" sz="2400" lang="en-US" u="sng" smtClean="0">
                <a:solidFill>
                  <a:srgbClr val="00B050"/>
                </a:solidFill>
                <a:latin typeface="Aharoni" pitchFamily="2" charset="-79"/>
                <a:cs typeface="Aharoni" pitchFamily="2" charset="-79"/>
              </a:rPr>
              <a:t>INCIDENCE &amp; INTRODUCTION</a:t>
            </a:r>
          </a:p>
          <a:p>
            <a:pPr indent="-514350" marL="596646"/>
            <a:r>
              <a:rPr dirty="0" sz="2400" lang="en-US" smtClean="0"/>
              <a:t>Nationally, Plasmodium </a:t>
            </a:r>
            <a:r>
              <a:rPr dirty="0" sz="2400" lang="en-US" err="1" smtClean="0"/>
              <a:t>falciparum</a:t>
            </a:r>
            <a:r>
              <a:rPr dirty="0" sz="2400" lang="en-US" smtClean="0"/>
              <a:t> is the predominant species accounting for 98.2% of all infections. </a:t>
            </a:r>
          </a:p>
          <a:p>
            <a:pPr indent="-514350" marL="596646"/>
            <a:r>
              <a:rPr dirty="0" sz="2400" lang="en-US" smtClean="0"/>
              <a:t>It causes 5 times more illness than TB, AIDS, measles and leprosy combined. </a:t>
            </a:r>
          </a:p>
          <a:p>
            <a:pPr indent="-514350" marL="596646"/>
            <a:r>
              <a:rPr dirty="0" sz="2400" lang="en-US" smtClean="0"/>
              <a:t>It is responsible for 20- 45% of hospital admissions and 25 -35% of outpatient clinic visits. In Kenya alone, 96 children die daily from malaria (MOH, 2012). </a:t>
            </a:r>
          </a:p>
          <a:p>
            <a:pPr indent="-514350" marL="596646"/>
            <a:r>
              <a:rPr dirty="0" sz="2400" lang="en-US" smtClean="0"/>
              <a:t>It is also a major cause of maternal morbidity and mortality, accounting for 10% of maternal deaths. </a:t>
            </a:r>
            <a:r>
              <a:rPr b="1" dirty="0" sz="2400" lang="en-US" smtClean="0"/>
              <a:t>By preventing malaria during pregnancy,</a:t>
            </a:r>
            <a:r>
              <a:rPr dirty="0" sz="2400" lang="en-US" smtClean="0"/>
              <a:t> an estimated 25,000 lives could be saved each year. </a:t>
            </a:r>
          </a:p>
          <a:p>
            <a:pPr>
              <a:buNone/>
            </a:pPr>
            <a:r>
              <a:rPr dirty="0" sz="2400" lang="en-US" smtClean="0">
                <a:solidFill>
                  <a:srgbClr val="00FF00"/>
                </a:solidFill>
              </a:rPr>
              <a:t>		</a:t>
            </a:r>
            <a:endParaRPr dirty="0" sz="2400" lang="en-US"/>
          </a:p>
        </p:txBody>
      </p:sp>
      <p:sp>
        <p:nvSpPr>
          <p:cNvPr id="104985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221" name=""/>
        <p:cNvGrpSpPr/>
        <p:nvPr/>
      </p:nvGrpSpPr>
      <p:grpSpPr>
        <a:xfrm>
          <a:off x="0" y="0"/>
          <a:ext cx="0" cy="0"/>
          <a:chOff x="0" y="0"/>
          <a:chExt cx="0" cy="0"/>
        </a:xfrm>
      </p:grpSpPr>
      <p:sp>
        <p:nvSpPr>
          <p:cNvPr id="1049858" name="Title 1"/>
          <p:cNvSpPr>
            <a:spLocks noGrp="1"/>
          </p:cNvSpPr>
          <p:nvPr>
            <p:ph type="title"/>
          </p:nvPr>
        </p:nvSpPr>
        <p:spPr>
          <a:xfrm>
            <a:off x="1238250" y="-228600"/>
            <a:ext cx="10191750" cy="990600"/>
          </a:xfrm>
        </p:spPr>
        <p:txBody>
          <a:bodyPr/>
          <a:p>
            <a:r>
              <a:rPr b="1" dirty="0" lang="en-US" smtClean="0">
                <a:solidFill>
                  <a:srgbClr val="0000FF"/>
                </a:solidFill>
              </a:rPr>
              <a:t>Malaria </a:t>
            </a:r>
            <a:r>
              <a:rPr b="1" dirty="0" lang="en-US" err="1" smtClean="0">
                <a:solidFill>
                  <a:srgbClr val="0000FF"/>
                </a:solidFill>
              </a:rPr>
              <a:t>endemicity</a:t>
            </a:r>
            <a:r>
              <a:rPr b="1" dirty="0" lang="en-US" smtClean="0">
                <a:solidFill>
                  <a:srgbClr val="0000FF"/>
                </a:solidFill>
              </a:rPr>
              <a:t> in Kenya</a:t>
            </a:r>
            <a:endParaRPr b="1" dirty="0" lang="en-US">
              <a:solidFill>
                <a:srgbClr val="0000FF"/>
              </a:solidFill>
            </a:endParaRPr>
          </a:p>
        </p:txBody>
      </p:sp>
      <p:sp>
        <p:nvSpPr>
          <p:cNvPr id="1049859" name="Content Placeholder 2"/>
          <p:cNvSpPr>
            <a:spLocks noGrp="1"/>
          </p:cNvSpPr>
          <p:nvPr>
            <p:ph idx="1"/>
          </p:nvPr>
        </p:nvSpPr>
        <p:spPr>
          <a:xfrm>
            <a:off x="1238250" y="685800"/>
            <a:ext cx="10191750" cy="6172200"/>
          </a:xfrm>
        </p:spPr>
        <p:txBody>
          <a:bodyPr>
            <a:normAutofit/>
          </a:bodyPr>
          <a:p>
            <a:pPr>
              <a:buNone/>
            </a:pPr>
            <a:r>
              <a:rPr dirty="0" sz="2800" lang="en-US" smtClean="0">
                <a:latin typeface="Calibri" pitchFamily="34" charset="0"/>
              </a:rPr>
              <a:t>Kenya has four malaria epidemiological zones, with diversity in risk determined largely by altitude, rainfall patterns and temperature. The zones are: </a:t>
            </a:r>
          </a:p>
          <a:p>
            <a:r>
              <a:rPr dirty="0" sz="2800" lang="en-US" smtClean="0">
                <a:latin typeface="Calibri" pitchFamily="34" charset="0"/>
              </a:rPr>
              <a:t> </a:t>
            </a:r>
            <a:r>
              <a:rPr b="1" dirty="0" sz="2800" lang="en-US" u="sng" smtClean="0">
                <a:latin typeface="Calibri" pitchFamily="34" charset="0"/>
              </a:rPr>
              <a:t>Endemic:</a:t>
            </a:r>
            <a:r>
              <a:rPr dirty="0" sz="2800" lang="en-US" smtClean="0">
                <a:latin typeface="Calibri" pitchFamily="34" charset="0"/>
              </a:rPr>
              <a:t> Areas of stable malaria include around Lake Victoria, in western Kenya and in the coastal regions. Transmission is intense throughout the year </a:t>
            </a:r>
          </a:p>
          <a:p>
            <a:r>
              <a:rPr b="1" dirty="0" sz="2800" lang="en-US" u="sng" smtClean="0">
                <a:latin typeface="Calibri" pitchFamily="34" charset="0"/>
              </a:rPr>
              <a:t>Seasonal transmission: </a:t>
            </a:r>
            <a:r>
              <a:rPr dirty="0" sz="2800" lang="en-US" smtClean="0">
                <a:latin typeface="Calibri" pitchFamily="34" charset="0"/>
              </a:rPr>
              <a:t>Arid and semi-arid areas of northern and south-eastern parts of the country experience short periods of intense malaria transmission during the rainfall seasons. </a:t>
            </a:r>
          </a:p>
          <a:p>
            <a:endParaRPr dirty="0" sz="2800" lang="en-US">
              <a:latin typeface="Calibri" pitchFamily="34" charset="0"/>
            </a:endParaRPr>
          </a:p>
        </p:txBody>
      </p:sp>
      <p:sp>
        <p:nvSpPr>
          <p:cNvPr id="104986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222" name=""/>
        <p:cNvGrpSpPr/>
        <p:nvPr/>
      </p:nvGrpSpPr>
      <p:grpSpPr>
        <a:xfrm>
          <a:off x="0" y="0"/>
          <a:ext cx="0" cy="0"/>
          <a:chOff x="0" y="0"/>
          <a:chExt cx="0" cy="0"/>
        </a:xfrm>
      </p:grpSpPr>
      <p:sp>
        <p:nvSpPr>
          <p:cNvPr id="1049861" name="Content Placeholder 2"/>
          <p:cNvSpPr>
            <a:spLocks noGrp="1"/>
          </p:cNvSpPr>
          <p:nvPr>
            <p:ph idx="1"/>
          </p:nvPr>
        </p:nvSpPr>
        <p:spPr>
          <a:xfrm>
            <a:off x="1333501" y="457200"/>
            <a:ext cx="9833609" cy="6400800"/>
          </a:xfrm>
        </p:spPr>
        <p:txBody>
          <a:bodyPr>
            <a:normAutofit/>
          </a:bodyPr>
          <a:p>
            <a:r>
              <a:rPr b="1" dirty="0" lang="en-US" u="sng" smtClean="0">
                <a:latin typeface="Calibri" pitchFamily="34" charset="0"/>
              </a:rPr>
              <a:t>Epidemic prone areas </a:t>
            </a:r>
            <a:r>
              <a:rPr dirty="0" lang="en-US" smtClean="0">
                <a:latin typeface="Calibri" pitchFamily="34" charset="0"/>
              </a:rPr>
              <a:t>of western highlands of Kenya: Malaria transmission in the western highlands of Kenya is seasonal, with considerable year-to-year variation. Epidemics are experienced when climatic conditions favor sustainability of minimum temperatures around 18˚C. </a:t>
            </a:r>
          </a:p>
          <a:p>
            <a:r>
              <a:rPr dirty="0" lang="en-US" smtClean="0">
                <a:latin typeface="Calibri" pitchFamily="34" charset="0"/>
              </a:rPr>
              <a:t> </a:t>
            </a:r>
            <a:r>
              <a:rPr b="1" dirty="0" lang="en-US" u="sng" smtClean="0">
                <a:latin typeface="Calibri" pitchFamily="34" charset="0"/>
              </a:rPr>
              <a:t>Low risk malaria areas: </a:t>
            </a:r>
            <a:r>
              <a:rPr dirty="0" lang="en-US" smtClean="0">
                <a:latin typeface="Calibri" pitchFamily="34" charset="0"/>
              </a:rPr>
              <a:t>This zone covers the central highlands of Kenya including Nairobi. The temperatures are usually too low to allow completion of the </a:t>
            </a:r>
            <a:r>
              <a:rPr dirty="0" lang="en-US" err="1" smtClean="0">
                <a:latin typeface="Calibri" pitchFamily="34" charset="0"/>
              </a:rPr>
              <a:t>sporogonic</a:t>
            </a:r>
            <a:r>
              <a:rPr dirty="0" lang="en-US" smtClean="0">
                <a:latin typeface="Calibri" pitchFamily="34" charset="0"/>
              </a:rPr>
              <a:t> cycle of the malaria parasite in the vector. </a:t>
            </a:r>
          </a:p>
          <a:p>
            <a:endParaRPr dirty="0" lang="en-US"/>
          </a:p>
        </p:txBody>
      </p:sp>
      <p:sp>
        <p:nvSpPr>
          <p:cNvPr id="104986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223" name=""/>
        <p:cNvGrpSpPr/>
        <p:nvPr/>
      </p:nvGrpSpPr>
      <p:grpSpPr>
        <a:xfrm>
          <a:off x="0" y="0"/>
          <a:ext cx="0" cy="0"/>
          <a:chOff x="0" y="0"/>
          <a:chExt cx="0" cy="0"/>
        </a:xfrm>
      </p:grpSpPr>
      <p:sp>
        <p:nvSpPr>
          <p:cNvPr id="1049863" name="Content Placeholder 2"/>
          <p:cNvSpPr>
            <a:spLocks noGrp="1"/>
          </p:cNvSpPr>
          <p:nvPr>
            <p:ph idx="1"/>
          </p:nvPr>
        </p:nvSpPr>
        <p:spPr>
          <a:xfrm>
            <a:off x="1333501" y="152400"/>
            <a:ext cx="9833609" cy="6096000"/>
          </a:xfrm>
        </p:spPr>
        <p:txBody>
          <a:bodyPr>
            <a:normAutofit/>
          </a:bodyPr>
          <a:p>
            <a:pPr>
              <a:buNone/>
            </a:pPr>
            <a:r>
              <a:rPr b="1" dirty="0" sz="2800" lang="en-US" u="sng" smtClean="0">
                <a:solidFill>
                  <a:srgbClr val="0000FF"/>
                </a:solidFill>
              </a:rPr>
              <a:t>CLINICAL FEATURES</a:t>
            </a:r>
          </a:p>
          <a:p>
            <a:pPr>
              <a:buNone/>
            </a:pPr>
            <a:r>
              <a:rPr dirty="0" sz="2800" lang="en-US" smtClean="0"/>
              <a:t>1. </a:t>
            </a:r>
            <a:r>
              <a:rPr b="1" dirty="0" sz="2800" i="1" lang="en-US" smtClean="0"/>
              <a:t>UNCOMPLICATED MALARIA:</a:t>
            </a:r>
          </a:p>
          <a:p>
            <a:r>
              <a:rPr dirty="0" sz="2800" lang="en-US"/>
              <a:t>F</a:t>
            </a:r>
            <a:r>
              <a:rPr dirty="0" sz="2800" lang="en-US" smtClean="0"/>
              <a:t>ever in the presence of peripheral </a:t>
            </a:r>
            <a:r>
              <a:rPr dirty="0" sz="2800" lang="en-US" err="1" smtClean="0"/>
              <a:t>parasitaemia</a:t>
            </a:r>
            <a:r>
              <a:rPr dirty="0" sz="2800" lang="en-US" smtClean="0"/>
              <a:t> (TEMP &gt; 38˚C)</a:t>
            </a:r>
          </a:p>
          <a:p>
            <a:r>
              <a:rPr dirty="0" sz="2800" lang="en-US" smtClean="0"/>
              <a:t>Joint pains due to inadequate blood supply.</a:t>
            </a:r>
          </a:p>
          <a:p>
            <a:r>
              <a:rPr dirty="0" sz="2800" lang="en-US" err="1" smtClean="0"/>
              <a:t>Hepatospleenomegally</a:t>
            </a:r>
            <a:r>
              <a:rPr dirty="0" sz="2800" lang="en-US" smtClean="0"/>
              <a:t>, as these organs overwork to cope with </a:t>
            </a:r>
            <a:r>
              <a:rPr dirty="0" sz="2800" lang="en-US" err="1" smtClean="0"/>
              <a:t>haemoysis</a:t>
            </a:r>
            <a:r>
              <a:rPr dirty="0" sz="2800" lang="en-US" smtClean="0"/>
              <a:t>.</a:t>
            </a:r>
          </a:p>
          <a:p>
            <a:r>
              <a:rPr dirty="0" sz="2800" lang="en-US" smtClean="0"/>
              <a:t>Headache, because of the increased intracranial pressure, from hyperpyrexia and reduced blood supply to the brain tissues.</a:t>
            </a:r>
          </a:p>
          <a:p>
            <a:r>
              <a:rPr dirty="0" sz="2800" lang="en-US" smtClean="0"/>
              <a:t>General malaise due to high temperatures, insufficiency of oxygen and nutrients supply to the body.</a:t>
            </a:r>
          </a:p>
          <a:p>
            <a:pPr>
              <a:buNone/>
            </a:pPr>
            <a:endParaRPr dirty="0" sz="2800" lang="en-US" smtClean="0"/>
          </a:p>
          <a:p>
            <a:endParaRPr dirty="0" sz="2800" lang="en-US"/>
          </a:p>
        </p:txBody>
      </p:sp>
      <p:sp>
        <p:nvSpPr>
          <p:cNvPr id="104986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224" name=""/>
        <p:cNvGrpSpPr/>
        <p:nvPr/>
      </p:nvGrpSpPr>
      <p:grpSpPr>
        <a:xfrm>
          <a:off x="0" y="0"/>
          <a:ext cx="0" cy="0"/>
          <a:chOff x="0" y="0"/>
          <a:chExt cx="0" cy="0"/>
        </a:xfrm>
      </p:grpSpPr>
      <p:sp>
        <p:nvSpPr>
          <p:cNvPr id="1049865" name="Title 2"/>
          <p:cNvSpPr>
            <a:spLocks noGrp="1"/>
          </p:cNvSpPr>
          <p:nvPr>
            <p:ph type="title"/>
          </p:nvPr>
        </p:nvSpPr>
        <p:spPr>
          <a:xfrm>
            <a:off x="1238250" y="0"/>
            <a:ext cx="9928859" cy="914400"/>
          </a:xfrm>
        </p:spPr>
        <p:txBody>
          <a:bodyPr>
            <a:normAutofit/>
          </a:bodyPr>
          <a:p>
            <a:r>
              <a:rPr b="1" dirty="0" lang="en-US" smtClean="0">
                <a:solidFill>
                  <a:srgbClr val="0000FF"/>
                </a:solidFill>
              </a:rPr>
              <a:t>2. COMPLICATED MALARIA</a:t>
            </a:r>
            <a:endParaRPr b="1" dirty="0" lang="en-US">
              <a:solidFill>
                <a:srgbClr val="0000FF"/>
              </a:solidFill>
            </a:endParaRPr>
          </a:p>
        </p:txBody>
      </p:sp>
      <p:sp>
        <p:nvSpPr>
          <p:cNvPr id="1049866" name="Content Placeholder 1"/>
          <p:cNvSpPr>
            <a:spLocks noGrp="1"/>
          </p:cNvSpPr>
          <p:nvPr>
            <p:ph idx="1"/>
          </p:nvPr>
        </p:nvSpPr>
        <p:spPr>
          <a:xfrm>
            <a:off x="1143000" y="838200"/>
            <a:ext cx="10287000" cy="6019800"/>
          </a:xfrm>
        </p:spPr>
        <p:txBody>
          <a:bodyPr>
            <a:normAutofit/>
          </a:bodyPr>
          <a:p>
            <a:pPr>
              <a:buNone/>
            </a:pPr>
            <a:r>
              <a:rPr dirty="0" sz="2800" lang="en-US" smtClean="0"/>
              <a:t>This is a life threatening manifestation of malaria, and is defined as the detection of </a:t>
            </a:r>
            <a:r>
              <a:rPr dirty="0" sz="2800" i="1" lang="en-US" smtClean="0"/>
              <a:t>P. </a:t>
            </a:r>
            <a:r>
              <a:rPr dirty="0" sz="2800" i="1" lang="en-US" err="1" smtClean="0"/>
              <a:t>falciparum</a:t>
            </a:r>
            <a:r>
              <a:rPr dirty="0" sz="2800" i="1" lang="en-US" smtClean="0"/>
              <a:t> </a:t>
            </a:r>
            <a:r>
              <a:rPr dirty="0" sz="2800" lang="en-US" smtClean="0"/>
              <a:t>in the peripheral blood in the presence of any of one or more of the clinical or laboratory features listed below: </a:t>
            </a:r>
          </a:p>
          <a:p>
            <a:r>
              <a:rPr dirty="0" sz="2800" lang="en-US" smtClean="0"/>
              <a:t>Prostration (inability or difficulty to sit upright, stand or walk without support in a person normally able to do so) </a:t>
            </a:r>
          </a:p>
          <a:p>
            <a:r>
              <a:rPr dirty="0" sz="2800" lang="en-US" smtClean="0"/>
              <a:t>Alteration in the level of consciousness (ranging from drowsiness to deep coma) </a:t>
            </a:r>
          </a:p>
          <a:p>
            <a:r>
              <a:rPr dirty="0" sz="2800" lang="en-US" smtClean="0"/>
              <a:t>Cerebral malaria (</a:t>
            </a:r>
            <a:r>
              <a:rPr dirty="0" sz="2800" lang="en-US" err="1" smtClean="0"/>
              <a:t>unrousable</a:t>
            </a:r>
            <a:r>
              <a:rPr dirty="0" sz="2800" lang="en-US" smtClean="0"/>
              <a:t> coma not attributable to any other cause in a patient with </a:t>
            </a:r>
            <a:r>
              <a:rPr dirty="0" sz="2800" i="1" lang="en-US" err="1" smtClean="0"/>
              <a:t>falciparum</a:t>
            </a:r>
            <a:r>
              <a:rPr dirty="0" sz="2800" i="1" lang="en-US" smtClean="0"/>
              <a:t> malaria) </a:t>
            </a:r>
          </a:p>
          <a:p>
            <a:r>
              <a:rPr dirty="0" sz="2800" lang="en-US" smtClean="0"/>
              <a:t>Respiratory distress (</a:t>
            </a:r>
            <a:r>
              <a:rPr dirty="0" sz="2800" lang="en-US" err="1" smtClean="0"/>
              <a:t>acidotic</a:t>
            </a:r>
            <a:r>
              <a:rPr dirty="0" sz="2800" lang="en-US" smtClean="0"/>
              <a:t> breathing) </a:t>
            </a:r>
          </a:p>
          <a:p>
            <a:endParaRPr dirty="0" sz="2800" lang="en-US"/>
          </a:p>
        </p:txBody>
      </p:sp>
      <p:sp>
        <p:nvSpPr>
          <p:cNvPr id="104986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225" name=""/>
        <p:cNvGrpSpPr/>
        <p:nvPr/>
      </p:nvGrpSpPr>
      <p:grpSpPr>
        <a:xfrm>
          <a:off x="0" y="0"/>
          <a:ext cx="0" cy="0"/>
          <a:chOff x="0" y="0"/>
          <a:chExt cx="0" cy="0"/>
        </a:xfrm>
      </p:grpSpPr>
      <p:sp>
        <p:nvSpPr>
          <p:cNvPr id="1049868" name="Content Placeholder 2"/>
          <p:cNvSpPr>
            <a:spLocks noGrp="1"/>
          </p:cNvSpPr>
          <p:nvPr>
            <p:ph idx="1"/>
          </p:nvPr>
        </p:nvSpPr>
        <p:spPr>
          <a:xfrm>
            <a:off x="1238250" y="228600"/>
            <a:ext cx="9928859" cy="6019800"/>
          </a:xfrm>
        </p:spPr>
        <p:txBody>
          <a:bodyPr>
            <a:normAutofit lnSpcReduction="10000"/>
          </a:bodyPr>
          <a:p>
            <a:r>
              <a:rPr dirty="0" lang="en-US" smtClean="0"/>
              <a:t>Multiple generalized convulsions (2 or more episodes within a 24 hour period) </a:t>
            </a:r>
          </a:p>
          <a:p>
            <a:r>
              <a:rPr dirty="0" lang="en-US" smtClean="0"/>
              <a:t>Shock (circulatory collapse, septicemia) </a:t>
            </a:r>
          </a:p>
          <a:p>
            <a:r>
              <a:rPr dirty="0" lang="en-US" smtClean="0"/>
              <a:t>Pulmonary edema </a:t>
            </a:r>
          </a:p>
          <a:p>
            <a:r>
              <a:rPr dirty="0" lang="en-US" smtClean="0"/>
              <a:t>Abnormal bleeding (Disseminated Intravascular </a:t>
            </a:r>
            <a:r>
              <a:rPr dirty="0" lang="en-US" err="1" smtClean="0"/>
              <a:t>Coagulopathy</a:t>
            </a:r>
            <a:r>
              <a:rPr dirty="0" lang="en-US" smtClean="0"/>
              <a:t> -DIC) </a:t>
            </a:r>
          </a:p>
          <a:p>
            <a:r>
              <a:rPr dirty="0" lang="en-US" smtClean="0"/>
              <a:t>Jaundice </a:t>
            </a:r>
            <a:r>
              <a:rPr dirty="0" lang="en-US" err="1" smtClean="0"/>
              <a:t>becoz</a:t>
            </a:r>
            <a:r>
              <a:rPr dirty="0" lang="en-US" smtClean="0"/>
              <a:t> of increased rate of </a:t>
            </a:r>
            <a:r>
              <a:rPr dirty="0" lang="en-US" err="1" smtClean="0"/>
              <a:t>hemolysis</a:t>
            </a:r>
            <a:endParaRPr dirty="0" lang="en-US" smtClean="0"/>
          </a:p>
          <a:p>
            <a:r>
              <a:rPr dirty="0" lang="en-US" err="1" smtClean="0"/>
              <a:t>Haemoglobinuria</a:t>
            </a:r>
            <a:r>
              <a:rPr dirty="0" lang="en-US" smtClean="0"/>
              <a:t> (black water fever) </a:t>
            </a:r>
          </a:p>
          <a:p>
            <a:r>
              <a:rPr dirty="0" lang="en-US" smtClean="0"/>
              <a:t>Acute renal failure - presenting as </a:t>
            </a:r>
            <a:r>
              <a:rPr dirty="0" lang="en-US" err="1" smtClean="0"/>
              <a:t>oliguria</a:t>
            </a:r>
            <a:r>
              <a:rPr dirty="0" lang="en-US" smtClean="0"/>
              <a:t> or </a:t>
            </a:r>
            <a:r>
              <a:rPr dirty="0" lang="en-US" err="1" smtClean="0"/>
              <a:t>anuria</a:t>
            </a:r>
            <a:r>
              <a:rPr dirty="0" lang="en-US" smtClean="0"/>
              <a:t> </a:t>
            </a:r>
          </a:p>
          <a:p>
            <a:r>
              <a:rPr dirty="0" lang="en-US" smtClean="0"/>
              <a:t>Severe anemia (Hemoglobin &lt; 6g/dl or </a:t>
            </a:r>
            <a:r>
              <a:rPr dirty="0" lang="en-US" err="1" smtClean="0"/>
              <a:t>Haematocrit</a:t>
            </a:r>
            <a:r>
              <a:rPr dirty="0" lang="en-US" smtClean="0"/>
              <a:t> &lt; 15%) </a:t>
            </a:r>
          </a:p>
          <a:p>
            <a:r>
              <a:rPr dirty="0" lang="en-US" smtClean="0"/>
              <a:t>Hypoglycemia (blood glucose level &lt; 2.2.mmol/l) </a:t>
            </a:r>
          </a:p>
          <a:p>
            <a:pPr>
              <a:buNone/>
            </a:pPr>
            <a:endParaRPr dirty="0" lang="en-US" smtClean="0"/>
          </a:p>
          <a:p>
            <a:endParaRPr dirty="0" lang="en-US"/>
          </a:p>
        </p:txBody>
      </p:sp>
      <p:sp>
        <p:nvSpPr>
          <p:cNvPr id="104986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226" name=""/>
        <p:cNvGrpSpPr/>
        <p:nvPr/>
      </p:nvGrpSpPr>
      <p:grpSpPr>
        <a:xfrm>
          <a:off x="0" y="0"/>
          <a:ext cx="0" cy="0"/>
          <a:chOff x="0" y="0"/>
          <a:chExt cx="0" cy="0"/>
        </a:xfrm>
      </p:grpSpPr>
      <p:sp>
        <p:nvSpPr>
          <p:cNvPr id="1049870" name="Title 2"/>
          <p:cNvSpPr>
            <a:spLocks noGrp="1"/>
          </p:cNvSpPr>
          <p:nvPr>
            <p:ph type="title"/>
          </p:nvPr>
        </p:nvSpPr>
        <p:spPr>
          <a:xfrm>
            <a:off x="1794509" y="0"/>
            <a:ext cx="9372600" cy="762000"/>
          </a:xfrm>
        </p:spPr>
        <p:txBody>
          <a:bodyPr/>
          <a:p>
            <a:r>
              <a:rPr b="1" dirty="0" lang="en-US" smtClean="0">
                <a:solidFill>
                  <a:srgbClr val="00FF00"/>
                </a:solidFill>
                <a:latin typeface="Aharoni" pitchFamily="2" charset="-79"/>
                <a:cs typeface="Aharoni" pitchFamily="2" charset="-79"/>
              </a:rPr>
              <a:t>DIAGNOSTIC  FACTORS</a:t>
            </a:r>
            <a:endParaRPr b="1" dirty="0" lang="en-US">
              <a:latin typeface="Aharoni" pitchFamily="2" charset="-79"/>
              <a:cs typeface="Aharoni" pitchFamily="2" charset="-79"/>
            </a:endParaRPr>
          </a:p>
        </p:txBody>
      </p:sp>
      <p:sp>
        <p:nvSpPr>
          <p:cNvPr id="1049871" name="Content Placeholder 1"/>
          <p:cNvSpPr>
            <a:spLocks noGrp="1"/>
          </p:cNvSpPr>
          <p:nvPr>
            <p:ph idx="1"/>
          </p:nvPr>
        </p:nvSpPr>
        <p:spPr>
          <a:xfrm>
            <a:off x="1238250" y="685800"/>
            <a:ext cx="10191750" cy="6172200"/>
          </a:xfrm>
        </p:spPr>
        <p:txBody>
          <a:bodyPr>
            <a:normAutofit/>
          </a:bodyPr>
          <a:p>
            <a:r>
              <a:rPr dirty="0" lang="en-US" smtClean="0"/>
              <a:t>History and physical examination findings.</a:t>
            </a:r>
          </a:p>
          <a:p>
            <a:r>
              <a:rPr dirty="0" lang="en-US" smtClean="0"/>
              <a:t>Positive malarial parasite smear. Confirmatory test</a:t>
            </a:r>
          </a:p>
          <a:p>
            <a:pPr>
              <a:buNone/>
            </a:pPr>
            <a:r>
              <a:rPr dirty="0" lang="en-US" smtClean="0"/>
              <a:t>	</a:t>
            </a:r>
            <a:r>
              <a:rPr b="1" dirty="0" lang="en-US" smtClean="0">
                <a:solidFill>
                  <a:srgbClr val="FF0000"/>
                </a:solidFill>
              </a:rPr>
              <a:t>NB:-   </a:t>
            </a:r>
            <a:r>
              <a:rPr dirty="0" lang="en-US" smtClean="0"/>
              <a:t>MPS may be negative or only a few parasites are seen despite of the mother being quite sick-looking.</a:t>
            </a:r>
          </a:p>
          <a:p>
            <a:pPr>
              <a:buNone/>
            </a:pPr>
            <a:r>
              <a:rPr dirty="0" lang="en-US" smtClean="0"/>
              <a:t>	It’s because the parasites hide at the placental bed.</a:t>
            </a:r>
          </a:p>
          <a:p>
            <a:pPr>
              <a:buNone/>
            </a:pPr>
            <a:r>
              <a:rPr dirty="0" lang="en-US" smtClean="0"/>
              <a:t>		</a:t>
            </a:r>
            <a:r>
              <a:rPr b="1" dirty="0" sz="3800" lang="en-US" u="sng" smtClean="0">
                <a:solidFill>
                  <a:srgbClr val="00FF00"/>
                </a:solidFill>
                <a:latin typeface="Aharoni" pitchFamily="2" charset="-79"/>
                <a:cs typeface="Aharoni" pitchFamily="2" charset="-79"/>
              </a:rPr>
              <a:t>SPECIFIC MANAGEMENT</a:t>
            </a:r>
          </a:p>
          <a:p>
            <a:r>
              <a:rPr dirty="0" lang="en-US" smtClean="0"/>
              <a:t>All antenatal clients in the endemic areas should receive intermittent presumptive treatment (</a:t>
            </a:r>
            <a:r>
              <a:rPr b="1" dirty="0" lang="en-US" err="1" smtClean="0"/>
              <a:t>IPTp</a:t>
            </a:r>
            <a:r>
              <a:rPr dirty="0" lang="en-US" smtClean="0"/>
              <a:t>) at least 3-4 doses as from  16</a:t>
            </a:r>
            <a:r>
              <a:rPr baseline="30000" dirty="0" lang="en-US" smtClean="0"/>
              <a:t>th</a:t>
            </a:r>
            <a:r>
              <a:rPr dirty="0" lang="en-US" smtClean="0"/>
              <a:t>  week of pregnancy/ after quickening.</a:t>
            </a:r>
          </a:p>
          <a:p>
            <a:pPr>
              <a:buFont typeface="Wingdings" pitchFamily="2" charset="2"/>
              <a:buChar char="Ø"/>
            </a:pPr>
            <a:r>
              <a:rPr dirty="0" lang="en-US" smtClean="0"/>
              <a:t> Recommended drug is </a:t>
            </a:r>
            <a:r>
              <a:rPr dirty="0" lang="en-US" err="1" smtClean="0"/>
              <a:t>sulfadoxine</a:t>
            </a:r>
            <a:r>
              <a:rPr dirty="0" lang="en-US" smtClean="0"/>
              <a:t> pyrimethamine(</a:t>
            </a:r>
            <a:r>
              <a:rPr b="1" dirty="0" lang="en-US" smtClean="0"/>
              <a:t>SP</a:t>
            </a:r>
            <a:r>
              <a:rPr dirty="0" lang="en-US" smtClean="0"/>
              <a:t>)=</a:t>
            </a:r>
            <a:r>
              <a:rPr dirty="0" lang="en-US" err="1" smtClean="0"/>
              <a:t>Fansidar</a:t>
            </a:r>
            <a:r>
              <a:rPr dirty="0" lang="en-US" smtClean="0"/>
              <a:t> /</a:t>
            </a:r>
            <a:r>
              <a:rPr dirty="0" lang="en-US" err="1" smtClean="0"/>
              <a:t>Falcidin</a:t>
            </a:r>
            <a:r>
              <a:rPr dirty="0" lang="en-US" smtClean="0"/>
              <a:t>.</a:t>
            </a:r>
          </a:p>
          <a:p>
            <a:endParaRPr dirty="0" lang="en-US" smtClean="0"/>
          </a:p>
          <a:p>
            <a:pPr>
              <a:buNone/>
            </a:pPr>
            <a:endParaRPr dirty="0" lang="en-US"/>
          </a:p>
        </p:txBody>
      </p:sp>
      <p:sp>
        <p:nvSpPr>
          <p:cNvPr id="104987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227" name=""/>
        <p:cNvGrpSpPr/>
        <p:nvPr/>
      </p:nvGrpSpPr>
      <p:grpSpPr>
        <a:xfrm>
          <a:off x="0" y="0"/>
          <a:ext cx="0" cy="0"/>
          <a:chOff x="0" y="0"/>
          <a:chExt cx="0" cy="0"/>
        </a:xfrm>
      </p:grpSpPr>
      <p:sp>
        <p:nvSpPr>
          <p:cNvPr id="1049873" name="Title 1"/>
          <p:cNvSpPr>
            <a:spLocks noGrp="1"/>
          </p:cNvSpPr>
          <p:nvPr>
            <p:ph type="title"/>
          </p:nvPr>
        </p:nvSpPr>
        <p:spPr>
          <a:xfrm>
            <a:off x="1794509" y="0"/>
            <a:ext cx="9372600" cy="609600"/>
          </a:xfrm>
        </p:spPr>
        <p:txBody>
          <a:bodyPr>
            <a:normAutofit fontScale="90000"/>
          </a:bodyPr>
          <a:p>
            <a:r>
              <a:rPr b="1" dirty="0" lang="en-US" err="1" smtClean="0"/>
              <a:t>IPTp</a:t>
            </a:r>
            <a:r>
              <a:rPr b="1" dirty="0" lang="en-US" smtClean="0"/>
              <a:t> Dosage</a:t>
            </a:r>
            <a:endParaRPr b="1" dirty="0" lang="en-US"/>
          </a:p>
        </p:txBody>
      </p:sp>
      <p:sp>
        <p:nvSpPr>
          <p:cNvPr id="1049874" name="Content Placeholder 2"/>
          <p:cNvSpPr>
            <a:spLocks noGrp="1"/>
          </p:cNvSpPr>
          <p:nvPr>
            <p:ph idx="1"/>
          </p:nvPr>
        </p:nvSpPr>
        <p:spPr>
          <a:xfrm>
            <a:off x="1333501" y="838200"/>
            <a:ext cx="9833609" cy="6019800"/>
          </a:xfrm>
        </p:spPr>
        <p:txBody>
          <a:bodyPr>
            <a:normAutofit/>
          </a:bodyPr>
          <a:p>
            <a:r>
              <a:rPr dirty="0" sz="2800" lang="en-US" smtClean="0"/>
              <a:t>SP should be given to all pregnant women in malaria endemic zones</a:t>
            </a:r>
          </a:p>
          <a:p>
            <a:pPr>
              <a:buNone/>
            </a:pPr>
            <a:r>
              <a:rPr b="1" dirty="0" sz="2800" lang="en-US" smtClean="0"/>
              <a:t>NB:</a:t>
            </a:r>
            <a:r>
              <a:rPr dirty="0" sz="2800" lang="en-US" smtClean="0"/>
              <a:t> 1. </a:t>
            </a:r>
            <a:r>
              <a:rPr dirty="0" sz="2800" i="1" lang="en-US" smtClean="0"/>
              <a:t>assume that every pregnant woman in a malaria endemic area has malaria parasites in blood or placenta</a:t>
            </a:r>
          </a:p>
          <a:p>
            <a:pPr>
              <a:buNone/>
            </a:pPr>
            <a:r>
              <a:rPr dirty="0" sz="2800" i="1" lang="en-US" smtClean="0"/>
              <a:t>2. SP should be administered with each visit after quickening</a:t>
            </a:r>
          </a:p>
          <a:p>
            <a:r>
              <a:rPr dirty="0" sz="2800" lang="en-US" smtClean="0"/>
              <a:t>Give SP 3 tablets under direct observed therapy in ANC</a:t>
            </a:r>
          </a:p>
          <a:p>
            <a:r>
              <a:rPr dirty="0" sz="2800" lang="en-US" smtClean="0"/>
              <a:t>The doses should be given </a:t>
            </a:r>
            <a:r>
              <a:rPr dirty="0" sz="2800" lang="en-US" err="1" smtClean="0"/>
              <a:t>atleast</a:t>
            </a:r>
            <a:r>
              <a:rPr dirty="0" sz="2800" lang="en-US" smtClean="0"/>
              <a:t> 4 wks apart</a:t>
            </a:r>
            <a:endParaRPr dirty="0" sz="2800" lang="en-US"/>
          </a:p>
        </p:txBody>
      </p:sp>
      <p:sp>
        <p:nvSpPr>
          <p:cNvPr id="104987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228" name=""/>
        <p:cNvGrpSpPr/>
        <p:nvPr/>
      </p:nvGrpSpPr>
      <p:grpSpPr>
        <a:xfrm>
          <a:off x="0" y="0"/>
          <a:ext cx="0" cy="0"/>
          <a:chOff x="0" y="0"/>
          <a:chExt cx="0" cy="0"/>
        </a:xfrm>
      </p:grpSpPr>
      <p:sp>
        <p:nvSpPr>
          <p:cNvPr id="1049876" name="Title 1"/>
          <p:cNvSpPr>
            <a:spLocks noGrp="1"/>
          </p:cNvSpPr>
          <p:nvPr>
            <p:ph type="title"/>
          </p:nvPr>
        </p:nvSpPr>
        <p:spPr>
          <a:xfrm>
            <a:off x="1794509" y="274641"/>
            <a:ext cx="9372600" cy="487363"/>
          </a:xfrm>
        </p:spPr>
        <p:txBody>
          <a:bodyPr>
            <a:normAutofit fontScale="90000"/>
          </a:bodyPr>
          <a:p>
            <a:r>
              <a:rPr b="1" dirty="0" lang="en-US" smtClean="0"/>
              <a:t>Note!</a:t>
            </a:r>
            <a:endParaRPr b="1" dirty="0" lang="en-US"/>
          </a:p>
        </p:txBody>
      </p:sp>
      <p:sp>
        <p:nvSpPr>
          <p:cNvPr id="1049877" name="Content Placeholder 2"/>
          <p:cNvSpPr>
            <a:spLocks noGrp="1"/>
          </p:cNvSpPr>
          <p:nvPr>
            <p:ph idx="1"/>
          </p:nvPr>
        </p:nvSpPr>
        <p:spPr>
          <a:xfrm>
            <a:off x="1333501" y="914400"/>
            <a:ext cx="9833609" cy="5943600"/>
          </a:xfrm>
        </p:spPr>
        <p:txBody>
          <a:bodyPr>
            <a:normAutofit/>
          </a:bodyPr>
          <a:p>
            <a:r>
              <a:rPr dirty="0" sz="2800" lang="en-US" err="1" smtClean="0"/>
              <a:t>IPTp</a:t>
            </a:r>
            <a:r>
              <a:rPr dirty="0" sz="2800" lang="en-US" smtClean="0"/>
              <a:t> should not be given together with folic acid due to drug interaction effects that increases the chances of parasite survival( the parasite feeds on folic acid for survival)</a:t>
            </a:r>
          </a:p>
          <a:p>
            <a:r>
              <a:rPr dirty="0" sz="2800" lang="en-US" smtClean="0"/>
              <a:t>Folic acid should be discontinued for 2 wks following SP administration</a:t>
            </a:r>
          </a:p>
          <a:p>
            <a:pPr>
              <a:buNone/>
            </a:pPr>
            <a:r>
              <a:rPr b="1" dirty="0" sz="2800" lang="en-US" err="1" u="sng" smtClean="0"/>
              <a:t>IPTp</a:t>
            </a:r>
            <a:r>
              <a:rPr b="1" dirty="0" sz="2800" lang="en-US" u="sng" smtClean="0"/>
              <a:t> &amp; HIV Positive women</a:t>
            </a:r>
          </a:p>
          <a:p>
            <a:r>
              <a:rPr dirty="0" sz="2800" lang="en-US" smtClean="0"/>
              <a:t>All HIV positive women should receive SP for </a:t>
            </a:r>
            <a:r>
              <a:rPr dirty="0" sz="2800" lang="en-US" err="1" smtClean="0"/>
              <a:t>IPTp</a:t>
            </a:r>
            <a:r>
              <a:rPr dirty="0" sz="2800" lang="en-US" smtClean="0"/>
              <a:t> </a:t>
            </a:r>
            <a:r>
              <a:rPr dirty="0" sz="2800" lang="en-US" err="1" smtClean="0"/>
              <a:t>atleast</a:t>
            </a:r>
            <a:r>
              <a:rPr dirty="0" sz="2800" lang="en-US" smtClean="0"/>
              <a:t> 4 times </a:t>
            </a:r>
          </a:p>
          <a:p>
            <a:r>
              <a:rPr dirty="0" sz="2800" lang="en-US" smtClean="0"/>
              <a:t>Those taking daily </a:t>
            </a:r>
            <a:r>
              <a:rPr dirty="0" sz="2800" lang="en-US" err="1" smtClean="0"/>
              <a:t>cotrimoxazole</a:t>
            </a:r>
            <a:r>
              <a:rPr dirty="0" sz="2800" lang="en-US" smtClean="0"/>
              <a:t> prophylaxis should not receive </a:t>
            </a:r>
            <a:r>
              <a:rPr dirty="0" sz="2800" lang="en-US" err="1" smtClean="0"/>
              <a:t>IPTp</a:t>
            </a:r>
            <a:r>
              <a:rPr dirty="0" sz="2800" lang="en-US" smtClean="0"/>
              <a:t> (</a:t>
            </a:r>
            <a:r>
              <a:rPr dirty="0" sz="2800" lang="en-US" err="1" smtClean="0"/>
              <a:t>septrin</a:t>
            </a:r>
            <a:r>
              <a:rPr dirty="0" sz="2800" lang="en-US" smtClean="0"/>
              <a:t> contains </a:t>
            </a:r>
            <a:r>
              <a:rPr dirty="0" sz="2800" lang="en-US" err="1" smtClean="0"/>
              <a:t>sulphur</a:t>
            </a:r>
            <a:r>
              <a:rPr dirty="0" sz="2800" lang="en-US" smtClean="0"/>
              <a:t>)</a:t>
            </a:r>
            <a:endParaRPr dirty="0" sz="2800" lang="en-US"/>
          </a:p>
        </p:txBody>
      </p:sp>
      <p:sp>
        <p:nvSpPr>
          <p:cNvPr id="104987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229" name=""/>
        <p:cNvGrpSpPr/>
        <p:nvPr/>
      </p:nvGrpSpPr>
      <p:grpSpPr>
        <a:xfrm>
          <a:off x="0" y="0"/>
          <a:ext cx="0" cy="0"/>
          <a:chOff x="0" y="0"/>
          <a:chExt cx="0" cy="0"/>
        </a:xfrm>
      </p:grpSpPr>
      <p:sp>
        <p:nvSpPr>
          <p:cNvPr id="1049879" name="Content Placeholder 1"/>
          <p:cNvSpPr>
            <a:spLocks noGrp="1"/>
          </p:cNvSpPr>
          <p:nvPr>
            <p:ph idx="1"/>
          </p:nvPr>
        </p:nvSpPr>
        <p:spPr>
          <a:xfrm>
            <a:off x="1238250" y="0"/>
            <a:ext cx="10001250" cy="6553200"/>
          </a:xfrm>
        </p:spPr>
        <p:txBody>
          <a:bodyPr>
            <a:normAutofit fontScale="92500" lnSpcReduction="10000"/>
          </a:bodyPr>
          <a:p>
            <a:pPr>
              <a:buNone/>
            </a:pPr>
            <a:r>
              <a:rPr dirty="0" lang="en-US" smtClean="0"/>
              <a:t>		</a:t>
            </a:r>
            <a:r>
              <a:rPr b="1" dirty="0" i="1" lang="en-US" u="sng" smtClean="0"/>
              <a:t>Benefits of </a:t>
            </a:r>
            <a:r>
              <a:rPr b="1" dirty="0" i="1" lang="en-US" err="1" u="sng" smtClean="0"/>
              <a:t>IPTp</a:t>
            </a:r>
            <a:r>
              <a:rPr b="1" dirty="0" i="1" lang="en-US" u="sng" smtClean="0"/>
              <a:t> are:-</a:t>
            </a:r>
          </a:p>
          <a:p>
            <a:r>
              <a:rPr dirty="0" lang="en-US" smtClean="0"/>
              <a:t>Clears the parasites at the placenta site, hence normal functions of the placenta are restored.</a:t>
            </a:r>
          </a:p>
          <a:p>
            <a:r>
              <a:rPr dirty="0" lang="en-US" smtClean="0"/>
              <a:t>Eradicates peripheral </a:t>
            </a:r>
            <a:r>
              <a:rPr dirty="0" lang="en-US" err="1" smtClean="0"/>
              <a:t>parasitaemia</a:t>
            </a:r>
            <a:r>
              <a:rPr dirty="0" lang="en-US" smtClean="0"/>
              <a:t>, so the mother recovers from </a:t>
            </a:r>
            <a:r>
              <a:rPr dirty="0" lang="en-US" err="1" smtClean="0"/>
              <a:t>anaemia</a:t>
            </a:r>
            <a:r>
              <a:rPr dirty="0" lang="en-US" smtClean="0"/>
              <a:t>.</a:t>
            </a:r>
          </a:p>
          <a:p>
            <a:r>
              <a:rPr dirty="0" lang="en-US" smtClean="0"/>
              <a:t>Can be taken on an empty stomach</a:t>
            </a:r>
          </a:p>
          <a:p>
            <a:r>
              <a:rPr dirty="0" lang="en-US" smtClean="0"/>
              <a:t>It is safe &amp; effective during pregnancy</a:t>
            </a:r>
          </a:p>
          <a:p>
            <a:pPr>
              <a:buNone/>
            </a:pPr>
            <a:r>
              <a:rPr dirty="0" lang="en-US" smtClean="0"/>
              <a:t>	</a:t>
            </a:r>
            <a:r>
              <a:rPr b="1" dirty="0" i="1" lang="en-US" u="sng" smtClean="0"/>
              <a:t>Side effects includes:</a:t>
            </a:r>
          </a:p>
          <a:p>
            <a:r>
              <a:rPr dirty="0" lang="en-US" smtClean="0"/>
              <a:t>Nausea  headache and occasional vomiting for the mild.</a:t>
            </a:r>
          </a:p>
          <a:p>
            <a:r>
              <a:rPr dirty="0" lang="en-US" smtClean="0"/>
              <a:t>Stevens Johnson syndrome  . It’s a complication for  sulfa based drugs.</a:t>
            </a:r>
          </a:p>
          <a:p>
            <a:r>
              <a:rPr dirty="0" lang="en-US" smtClean="0"/>
              <a:t>Advice to sleep under long lasting insecticide treated nets (LLITNs)</a:t>
            </a:r>
          </a:p>
          <a:p>
            <a:endParaRPr dirty="0" lang="en-US"/>
          </a:p>
        </p:txBody>
      </p:sp>
      <p:sp>
        <p:nvSpPr>
          <p:cNvPr id="1049880"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230" name=""/>
        <p:cNvGrpSpPr/>
        <p:nvPr/>
      </p:nvGrpSpPr>
      <p:grpSpPr>
        <a:xfrm>
          <a:off x="0" y="0"/>
          <a:ext cx="0" cy="0"/>
          <a:chOff x="0" y="0"/>
          <a:chExt cx="0" cy="0"/>
        </a:xfrm>
      </p:grpSpPr>
      <p:sp>
        <p:nvSpPr>
          <p:cNvPr id="1049881" name="Content Placeholder 1"/>
          <p:cNvSpPr>
            <a:spLocks noGrp="1"/>
          </p:cNvSpPr>
          <p:nvPr>
            <p:ph idx="1"/>
          </p:nvPr>
        </p:nvSpPr>
        <p:spPr>
          <a:xfrm>
            <a:off x="1794509" y="304800"/>
            <a:ext cx="9372600" cy="5943600"/>
          </a:xfrm>
        </p:spPr>
        <p:txBody>
          <a:bodyPr>
            <a:normAutofit lnSpcReduction="10000"/>
          </a:bodyPr>
          <a:p>
            <a:r>
              <a:rPr dirty="0" lang="en-US" smtClean="0"/>
              <a:t>That who suffers malaria , admission to hospital is vital irrespective of the MPS results so long as she is symptomatic.</a:t>
            </a:r>
          </a:p>
          <a:p>
            <a:r>
              <a:rPr dirty="0" lang="en-US" smtClean="0"/>
              <a:t>Inform the DR. immediately</a:t>
            </a:r>
          </a:p>
          <a:p>
            <a:r>
              <a:rPr dirty="0" lang="en-US" smtClean="0"/>
              <a:t>Assess the condition through history and physical examination results.</a:t>
            </a:r>
          </a:p>
          <a:p>
            <a:r>
              <a:rPr dirty="0" lang="en-US" smtClean="0"/>
              <a:t>Monitor fetal and maternal condition every 4 hourly. Instruct mother to maintain fetal kick chart . Monitor  onset of uterine contractions. Document correctly, interpret &amp; consult appropriately.</a:t>
            </a:r>
          </a:p>
          <a:p>
            <a:r>
              <a:rPr dirty="0" lang="en-US" smtClean="0"/>
              <a:t>Nurse on complete bed rest to facilitate adequate blood supply to the placental bed and kidneys.</a:t>
            </a:r>
          </a:p>
          <a:p>
            <a:endParaRPr dirty="0" lang="en-US"/>
          </a:p>
        </p:txBody>
      </p:sp>
      <p:sp>
        <p:nvSpPr>
          <p:cNvPr id="1049882"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231" name=""/>
        <p:cNvGrpSpPr/>
        <p:nvPr/>
      </p:nvGrpSpPr>
      <p:grpSpPr>
        <a:xfrm>
          <a:off x="0" y="0"/>
          <a:ext cx="0" cy="0"/>
          <a:chOff x="0" y="0"/>
          <a:chExt cx="0" cy="0"/>
        </a:xfrm>
      </p:grpSpPr>
      <p:sp>
        <p:nvSpPr>
          <p:cNvPr id="1049883" name="Content Placeholder 1"/>
          <p:cNvSpPr>
            <a:spLocks noGrp="1"/>
          </p:cNvSpPr>
          <p:nvPr>
            <p:ph idx="1"/>
          </p:nvPr>
        </p:nvSpPr>
        <p:spPr>
          <a:xfrm>
            <a:off x="1238250" y="0"/>
            <a:ext cx="10191750" cy="6309360"/>
          </a:xfrm>
        </p:spPr>
        <p:txBody>
          <a:bodyPr>
            <a:noAutofit/>
          </a:bodyPr>
          <a:p>
            <a:r>
              <a:rPr dirty="0" lang="en-US" smtClean="0"/>
              <a:t>Investigate thoroughly thru, MPS urea &amp; electrolytes, blood sugar  and serum </a:t>
            </a:r>
            <a:r>
              <a:rPr dirty="0" lang="en-US" err="1" smtClean="0"/>
              <a:t>bilirubin</a:t>
            </a:r>
            <a:r>
              <a:rPr dirty="0" lang="en-US" smtClean="0"/>
              <a:t>. </a:t>
            </a:r>
          </a:p>
          <a:p>
            <a:r>
              <a:rPr dirty="0" lang="en-US" smtClean="0"/>
              <a:t>In some cases cross-match is done, as well as ultrasound to assess fetal growth &amp; health.</a:t>
            </a:r>
          </a:p>
          <a:p>
            <a:pPr>
              <a:buNone/>
            </a:pPr>
            <a:r>
              <a:rPr b="1" dirty="0" lang="en-US" smtClean="0">
                <a:solidFill>
                  <a:srgbClr val="FF0000"/>
                </a:solidFill>
              </a:rPr>
              <a:t>NB:  </a:t>
            </a:r>
            <a:r>
              <a:rPr dirty="0" lang="en-US" smtClean="0"/>
              <a:t>MPS  &amp; HB levels are estimated regularly to assess the progress.</a:t>
            </a:r>
          </a:p>
          <a:p>
            <a:r>
              <a:rPr dirty="0" lang="en-US" smtClean="0"/>
              <a:t>Correct dehydration thru intravenous infusion of 3 litres in 24 hrs, if vomiting / diarrhoea are present. </a:t>
            </a:r>
          </a:p>
          <a:p>
            <a:pPr>
              <a:buFont typeface="Wingdings" pitchFamily="2" charset="2"/>
              <a:buChar char="Ø"/>
            </a:pPr>
            <a:r>
              <a:rPr dirty="0" lang="en-US" smtClean="0"/>
              <a:t>If absent encourage free oral fluid, amounting  to 3L× 24 hrs.</a:t>
            </a:r>
          </a:p>
          <a:p>
            <a:pPr>
              <a:buFont typeface="Wingdings" pitchFamily="2" charset="2"/>
              <a:buChar char="Ø"/>
            </a:pPr>
            <a:r>
              <a:rPr dirty="0" lang="en-US" smtClean="0"/>
              <a:t>Maintain FBC strictly to evaluate renal functions.</a:t>
            </a:r>
            <a:endParaRPr dirty="0" lang="en-US"/>
          </a:p>
        </p:txBody>
      </p:sp>
      <p:sp>
        <p:nvSpPr>
          <p:cNvPr id="1049884"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234" name=""/>
        <p:cNvGrpSpPr/>
        <p:nvPr/>
      </p:nvGrpSpPr>
      <p:grpSpPr>
        <a:xfrm>
          <a:off x="0" y="0"/>
          <a:ext cx="0" cy="0"/>
          <a:chOff x="0" y="0"/>
          <a:chExt cx="0" cy="0"/>
        </a:xfrm>
      </p:grpSpPr>
      <p:sp>
        <p:nvSpPr>
          <p:cNvPr id="1049888" name="Content Placeholder 1"/>
          <p:cNvSpPr>
            <a:spLocks noGrp="1"/>
          </p:cNvSpPr>
          <p:nvPr>
            <p:ph idx="1"/>
          </p:nvPr>
        </p:nvSpPr>
        <p:spPr>
          <a:xfrm>
            <a:off x="1333500" y="0"/>
            <a:ext cx="10096500" cy="6858000"/>
          </a:xfrm>
        </p:spPr>
        <p:txBody>
          <a:bodyPr>
            <a:normAutofit/>
          </a:bodyPr>
          <a:p>
            <a:r>
              <a:rPr dirty="0" sz="2800" lang="en-US" smtClean="0"/>
              <a:t>For features of incomplete / inevitable abortion, prepare for evacuation of the uterus.</a:t>
            </a:r>
          </a:p>
          <a:p>
            <a:r>
              <a:rPr dirty="0" sz="2800" lang="en-US" smtClean="0"/>
              <a:t>For  IUFD  and in labour, monitor  as well as deliver as usual. Not in labour,  control the malaria condition then induce.</a:t>
            </a:r>
          </a:p>
          <a:p>
            <a:pPr>
              <a:buNone/>
            </a:pPr>
            <a:r>
              <a:rPr dirty="0" sz="2800" lang="en-US" smtClean="0"/>
              <a:t>		</a:t>
            </a:r>
            <a:r>
              <a:rPr b="1" dirty="0" sz="2800" i="1" lang="en-US" u="sng" smtClean="0"/>
              <a:t>DRUGS/ PHARMACOLOGICAL MGT:</a:t>
            </a:r>
          </a:p>
          <a:p>
            <a:r>
              <a:rPr dirty="0" sz="2800" lang="en-US" smtClean="0"/>
              <a:t>For </a:t>
            </a:r>
            <a:r>
              <a:rPr dirty="0" sz="2800" lang="en-US" u="sng" smtClean="0"/>
              <a:t>uncomplicated malaria </a:t>
            </a:r>
            <a:r>
              <a:rPr dirty="0" sz="2800" lang="en-US" smtClean="0"/>
              <a:t>in 1</a:t>
            </a:r>
            <a:r>
              <a:rPr baseline="30000" dirty="0" sz="2800" lang="en-US" smtClean="0"/>
              <a:t>st</a:t>
            </a:r>
            <a:r>
              <a:rPr dirty="0" sz="2800" lang="en-US" smtClean="0"/>
              <a:t> trimester, Either oral </a:t>
            </a:r>
            <a:r>
              <a:rPr b="1" dirty="0" sz="2800" lang="en-US" smtClean="0"/>
              <a:t>quinine (</a:t>
            </a:r>
            <a:r>
              <a:rPr dirty="0" sz="2800" lang="en-US" smtClean="0"/>
              <a:t>1</a:t>
            </a:r>
            <a:r>
              <a:rPr baseline="30000" dirty="0" sz="2800" lang="en-US" smtClean="0"/>
              <a:t>st</a:t>
            </a:r>
            <a:r>
              <a:rPr dirty="0" sz="2800" lang="en-US" smtClean="0"/>
              <a:t> choice</a:t>
            </a:r>
            <a:r>
              <a:rPr b="1" dirty="0" sz="2800" lang="en-US" smtClean="0"/>
              <a:t>)</a:t>
            </a:r>
            <a:r>
              <a:rPr dirty="0" sz="2800" lang="en-US" smtClean="0"/>
              <a:t> 600 mg 8 </a:t>
            </a:r>
            <a:r>
              <a:rPr dirty="0" sz="2800" lang="en-US" err="1" smtClean="0"/>
              <a:t>hrly</a:t>
            </a:r>
            <a:r>
              <a:rPr dirty="0" sz="2800" lang="en-US" smtClean="0"/>
              <a:t> for 7 </a:t>
            </a:r>
            <a:r>
              <a:rPr dirty="0" sz="2800" lang="en-US" err="1" smtClean="0"/>
              <a:t>dys</a:t>
            </a:r>
            <a:r>
              <a:rPr dirty="0" sz="2800" lang="en-US" smtClean="0"/>
              <a:t> or </a:t>
            </a:r>
            <a:r>
              <a:rPr dirty="0" sz="2800" lang="en-US" err="1" smtClean="0"/>
              <a:t>Artemether</a:t>
            </a:r>
            <a:r>
              <a:rPr dirty="0" sz="2800" lang="en-US" smtClean="0"/>
              <a:t> </a:t>
            </a:r>
            <a:r>
              <a:rPr dirty="0" sz="2800" lang="en-US" err="1" smtClean="0"/>
              <a:t>Lumefantrine</a:t>
            </a:r>
            <a:r>
              <a:rPr dirty="0" sz="2800" lang="en-US" smtClean="0"/>
              <a:t>  (</a:t>
            </a:r>
            <a:r>
              <a:rPr b="1" dirty="0" sz="2800" lang="en-US" smtClean="0"/>
              <a:t>AL</a:t>
            </a:r>
            <a:r>
              <a:rPr dirty="0" sz="2800" lang="en-US" smtClean="0"/>
              <a:t>).</a:t>
            </a:r>
          </a:p>
          <a:p>
            <a:pPr>
              <a:buNone/>
            </a:pPr>
            <a:r>
              <a:rPr b="1" dirty="0" sz="2800" i="1" lang="en-US" smtClean="0"/>
              <a:t>NB:</a:t>
            </a:r>
            <a:r>
              <a:rPr dirty="0" sz="2800" i="1" lang="en-US" smtClean="0"/>
              <a:t> avoid AL in the 1</a:t>
            </a:r>
            <a:r>
              <a:rPr baseline="30000" dirty="0" sz="2800" i="1" lang="en-US" smtClean="0"/>
              <a:t>st</a:t>
            </a:r>
            <a:r>
              <a:rPr dirty="0" sz="2800" i="1" lang="en-US" smtClean="0"/>
              <a:t> trimester (concern about safety, but don’t withhold if quinine is not available)</a:t>
            </a:r>
          </a:p>
          <a:p>
            <a:r>
              <a:rPr dirty="0" sz="2800" lang="en-US" smtClean="0"/>
              <a:t>For AL, a 6- dose regimen is given for 3 </a:t>
            </a:r>
            <a:r>
              <a:rPr dirty="0" sz="2800" lang="en-US" err="1" smtClean="0"/>
              <a:t>dys</a:t>
            </a:r>
            <a:r>
              <a:rPr dirty="0" sz="2800" lang="en-US" smtClean="0"/>
              <a:t> as follows: 4 tablets stat, repeat after 8hrs, 24hrs, 36 hrs, 48 hrs &amp; 60 hrs  </a:t>
            </a:r>
          </a:p>
          <a:p>
            <a:pPr>
              <a:buFont typeface="Wingdings" pitchFamily="2" charset="2"/>
              <a:buChar char="Ø"/>
            </a:pPr>
            <a:r>
              <a:rPr dirty="0" sz="2800" lang="en-US" smtClean="0"/>
              <a:t>Recommended for mild- moderate cases, fetal health not affected &amp; no diarrhoea or vomiting.</a:t>
            </a:r>
            <a:endParaRPr dirty="0" sz="2800" lang="en-US"/>
          </a:p>
        </p:txBody>
      </p:sp>
      <p:sp>
        <p:nvSpPr>
          <p:cNvPr id="1049889"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235" name=""/>
        <p:cNvGrpSpPr/>
        <p:nvPr/>
      </p:nvGrpSpPr>
      <p:grpSpPr>
        <a:xfrm>
          <a:off x="0" y="0"/>
          <a:ext cx="0" cy="0"/>
          <a:chOff x="0" y="0"/>
          <a:chExt cx="0" cy="0"/>
        </a:xfrm>
      </p:grpSpPr>
      <p:sp>
        <p:nvSpPr>
          <p:cNvPr id="1049890" name="Content Placeholder 2"/>
          <p:cNvSpPr>
            <a:spLocks noGrp="1"/>
          </p:cNvSpPr>
          <p:nvPr>
            <p:ph idx="1"/>
          </p:nvPr>
        </p:nvSpPr>
        <p:spPr>
          <a:xfrm>
            <a:off x="1333501" y="152400"/>
            <a:ext cx="9833609" cy="6553200"/>
          </a:xfrm>
        </p:spPr>
        <p:txBody>
          <a:bodyPr>
            <a:normAutofit/>
          </a:bodyPr>
          <a:p>
            <a:r>
              <a:rPr dirty="0" lang="en-US" smtClean="0"/>
              <a:t>For treatment of uncomplicated malaria during the </a:t>
            </a:r>
            <a:r>
              <a:rPr b="1" dirty="0" lang="en-US" smtClean="0"/>
              <a:t>2</a:t>
            </a:r>
            <a:r>
              <a:rPr baseline="30000" b="1" dirty="0" lang="en-US" smtClean="0"/>
              <a:t>nd</a:t>
            </a:r>
            <a:r>
              <a:rPr b="1" dirty="0" lang="en-US" smtClean="0"/>
              <a:t> or 3</a:t>
            </a:r>
            <a:r>
              <a:rPr baseline="30000" b="1" dirty="0" lang="en-US" smtClean="0"/>
              <a:t>rd</a:t>
            </a:r>
            <a:r>
              <a:rPr b="1" dirty="0" lang="en-US" smtClean="0"/>
              <a:t> trimester</a:t>
            </a:r>
            <a:r>
              <a:rPr dirty="0" lang="en-US" smtClean="0"/>
              <a:t>;</a:t>
            </a:r>
          </a:p>
          <a:p>
            <a:pPr lvl="1"/>
            <a:r>
              <a:rPr dirty="0" sz="3200" lang="en-US" smtClean="0"/>
              <a:t>Use AL (1</a:t>
            </a:r>
            <a:r>
              <a:rPr baseline="30000" dirty="0" sz="3200" lang="en-US" smtClean="0"/>
              <a:t>st</a:t>
            </a:r>
            <a:r>
              <a:rPr dirty="0" sz="3200" lang="en-US" smtClean="0"/>
              <a:t> choice) or</a:t>
            </a:r>
          </a:p>
          <a:p>
            <a:pPr lvl="1"/>
            <a:r>
              <a:rPr dirty="0" sz="3200" lang="en-US" smtClean="0"/>
              <a:t>Oral quinine if AL is not available</a:t>
            </a:r>
            <a:endParaRPr dirty="0" sz="3200" lang="en-US"/>
          </a:p>
        </p:txBody>
      </p:sp>
      <p:sp>
        <p:nvSpPr>
          <p:cNvPr id="104989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236" name=""/>
        <p:cNvGrpSpPr/>
        <p:nvPr/>
      </p:nvGrpSpPr>
      <p:grpSpPr>
        <a:xfrm>
          <a:off x="0" y="0"/>
          <a:ext cx="0" cy="0"/>
          <a:chOff x="0" y="0"/>
          <a:chExt cx="0" cy="0"/>
        </a:xfrm>
      </p:grpSpPr>
      <p:sp>
        <p:nvSpPr>
          <p:cNvPr id="1049892" name="Content Placeholder 1"/>
          <p:cNvSpPr>
            <a:spLocks noGrp="1"/>
          </p:cNvSpPr>
          <p:nvPr>
            <p:ph idx="1"/>
          </p:nvPr>
        </p:nvSpPr>
        <p:spPr>
          <a:xfrm>
            <a:off x="1219200" y="0"/>
            <a:ext cx="10210800" cy="6858000"/>
          </a:xfrm>
        </p:spPr>
        <p:txBody>
          <a:bodyPr>
            <a:noAutofit/>
          </a:bodyPr>
          <a:p>
            <a:pPr algn="just"/>
            <a:r>
              <a:rPr dirty="0" sz="2800" lang="en-US" smtClean="0">
                <a:latin typeface="Calibri" panose="020F0502020204030204" pitchFamily="34" charset="0"/>
              </a:rPr>
              <a:t>For </a:t>
            </a:r>
            <a:r>
              <a:rPr b="1" dirty="0" sz="2800" lang="en-US" u="sng" smtClean="0">
                <a:latin typeface="Calibri" panose="020F0502020204030204" pitchFamily="34" charset="0"/>
              </a:rPr>
              <a:t>severe malaria </a:t>
            </a:r>
            <a:r>
              <a:rPr dirty="0" sz="2800" lang="en-US" smtClean="0">
                <a:latin typeface="Calibri" panose="020F0502020204030204" pitchFamily="34" charset="0"/>
              </a:rPr>
              <a:t>in pregnancy; intravenous quinine (1</a:t>
            </a:r>
            <a:r>
              <a:rPr baseline="30000" dirty="0" sz="2800" lang="en-US" smtClean="0">
                <a:latin typeface="Calibri" panose="020F0502020204030204" pitchFamily="34" charset="0"/>
              </a:rPr>
              <a:t>st</a:t>
            </a:r>
            <a:r>
              <a:rPr dirty="0" sz="2800" lang="en-US" smtClean="0">
                <a:latin typeface="Calibri" panose="020F0502020204030204" pitchFamily="34" charset="0"/>
              </a:rPr>
              <a:t> choice) or IV </a:t>
            </a:r>
            <a:r>
              <a:rPr dirty="0" sz="2800" lang="en-US" err="1" smtClean="0">
                <a:latin typeface="Calibri" panose="020F0502020204030204" pitchFamily="34" charset="0"/>
              </a:rPr>
              <a:t>artemesinins</a:t>
            </a:r>
            <a:r>
              <a:rPr dirty="0" sz="2800" lang="en-US" smtClean="0">
                <a:latin typeface="Calibri" panose="020F0502020204030204" pitchFamily="34" charset="0"/>
              </a:rPr>
              <a:t> (</a:t>
            </a:r>
            <a:r>
              <a:rPr dirty="0" sz="2800" lang="en-US" err="1" smtClean="0">
                <a:latin typeface="Calibri" panose="020F0502020204030204" pitchFamily="34" charset="0"/>
              </a:rPr>
              <a:t>artemether</a:t>
            </a:r>
            <a:r>
              <a:rPr dirty="0" sz="2800" lang="en-US" smtClean="0">
                <a:latin typeface="Calibri" panose="020F0502020204030204" pitchFamily="34" charset="0"/>
              </a:rPr>
              <a:t> or </a:t>
            </a:r>
            <a:r>
              <a:rPr dirty="0" sz="2800" lang="en-US" err="1" smtClean="0">
                <a:latin typeface="Calibri" panose="020F0502020204030204" pitchFamily="34" charset="0"/>
              </a:rPr>
              <a:t>artesunate</a:t>
            </a:r>
            <a:r>
              <a:rPr dirty="0" sz="2800" lang="en-US" smtClean="0">
                <a:latin typeface="Calibri" panose="020F0502020204030204" pitchFamily="34" charset="0"/>
              </a:rPr>
              <a:t>) are given as follows:-</a:t>
            </a:r>
          </a:p>
          <a:p>
            <a:pPr algn="just">
              <a:buNone/>
            </a:pPr>
            <a:r>
              <a:rPr b="1" dirty="0" sz="2800" i="1" lang="en-US" smtClean="0">
                <a:latin typeface="Calibri" panose="020F0502020204030204" pitchFamily="34" charset="0"/>
              </a:rPr>
              <a:t>Quinine administration:</a:t>
            </a:r>
          </a:p>
          <a:p>
            <a:pPr algn="just">
              <a:buFont typeface="Wingdings" pitchFamily="2" charset="2"/>
              <a:buChar char="Ø"/>
            </a:pPr>
            <a:r>
              <a:rPr dirty="0" sz="2800" lang="en-US" smtClean="0">
                <a:latin typeface="Calibri" panose="020F0502020204030204" pitchFamily="34" charset="0"/>
              </a:rPr>
              <a:t>Loading dose at 20 mg / kg to a maximum of 1200mg in ½  L  of 5% dextrose or n/ saline (</a:t>
            </a:r>
            <a:r>
              <a:rPr b="1" dirty="0" sz="2800" lang="en-US" smtClean="0">
                <a:latin typeface="Calibri" panose="020F0502020204030204" pitchFamily="34" charset="0"/>
              </a:rPr>
              <a:t>preferably dextrose</a:t>
            </a:r>
            <a:r>
              <a:rPr dirty="0" sz="2800" lang="en-US" smtClean="0">
                <a:latin typeface="Calibri" panose="020F0502020204030204" pitchFamily="34" charset="0"/>
              </a:rPr>
              <a:t>) to run over 4 hours.</a:t>
            </a:r>
          </a:p>
          <a:p>
            <a:pPr algn="just">
              <a:buFont typeface="Wingdings" pitchFamily="2" charset="2"/>
              <a:buChar char="Ø"/>
            </a:pPr>
            <a:r>
              <a:rPr dirty="0" sz="2800" lang="en-US" err="1" smtClean="0">
                <a:latin typeface="Calibri" panose="020F0502020204030204" pitchFamily="34" charset="0"/>
              </a:rPr>
              <a:t>Maintainance</a:t>
            </a:r>
            <a:r>
              <a:rPr dirty="0" sz="2800" lang="en-US" smtClean="0">
                <a:latin typeface="Calibri" panose="020F0502020204030204" pitchFamily="34" charset="0"/>
              </a:rPr>
              <a:t> dose of 10 mg / kg to a maximum of 600mg in ½ L of  5 % dextrose or N/saline to run over 4 hrs</a:t>
            </a:r>
          </a:p>
          <a:p>
            <a:pPr algn="just">
              <a:buNone/>
            </a:pPr>
            <a:r>
              <a:rPr b="1" dirty="0" sz="2800" lang="en-US" smtClean="0">
                <a:solidFill>
                  <a:srgbClr val="FF0000"/>
                </a:solidFill>
                <a:latin typeface="Calibri" panose="020F0502020204030204" pitchFamily="34" charset="0"/>
              </a:rPr>
              <a:t>NB: </a:t>
            </a:r>
            <a:r>
              <a:rPr dirty="0" sz="2800" lang="en-US" smtClean="0">
                <a:latin typeface="Calibri" panose="020F0502020204030204" pitchFamily="34" charset="0"/>
              </a:rPr>
              <a:t>Not possible to weigh, recommended loading dose is 900 mg &amp; </a:t>
            </a:r>
            <a:r>
              <a:rPr dirty="0" sz="2800" lang="en-US" err="1" smtClean="0">
                <a:latin typeface="Calibri" panose="020F0502020204030204" pitchFamily="34" charset="0"/>
              </a:rPr>
              <a:t>maintainance</a:t>
            </a:r>
            <a:r>
              <a:rPr dirty="0" sz="2800" lang="en-US" smtClean="0">
                <a:latin typeface="Calibri" panose="020F0502020204030204" pitchFamily="34" charset="0"/>
              </a:rPr>
              <a:t> dose of 600mg. </a:t>
            </a:r>
          </a:p>
          <a:p>
            <a:pPr algn="just">
              <a:buFont typeface="Wingdings" pitchFamily="2" charset="2"/>
              <a:buChar char="Ø"/>
            </a:pPr>
            <a:r>
              <a:rPr dirty="0" sz="2800" lang="en-US" smtClean="0">
                <a:latin typeface="Calibri" panose="020F0502020204030204" pitchFamily="34" charset="0"/>
              </a:rPr>
              <a:t>The respective quinine dose  to be repeated at 8 hourly intervals, until vomiting is controlled which is mostly done , within 2 days &amp; thereafter ct with oral treatment (AL or oral quinine for 7 days)</a:t>
            </a:r>
          </a:p>
        </p:txBody>
      </p:sp>
      <p:sp>
        <p:nvSpPr>
          <p:cNvPr id="1049893"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237" name=""/>
        <p:cNvGrpSpPr/>
        <p:nvPr/>
      </p:nvGrpSpPr>
      <p:grpSpPr>
        <a:xfrm>
          <a:off x="0" y="0"/>
          <a:ext cx="0" cy="0"/>
          <a:chOff x="0" y="0"/>
          <a:chExt cx="0" cy="0"/>
        </a:xfrm>
      </p:grpSpPr>
      <p:sp>
        <p:nvSpPr>
          <p:cNvPr id="1049894" name="Content Placeholder 1"/>
          <p:cNvSpPr>
            <a:spLocks noGrp="1"/>
          </p:cNvSpPr>
          <p:nvPr>
            <p:ph idx="1"/>
          </p:nvPr>
        </p:nvSpPr>
        <p:spPr>
          <a:xfrm>
            <a:off x="1238250" y="228600"/>
            <a:ext cx="10001250" cy="6324600"/>
          </a:xfrm>
        </p:spPr>
        <p:txBody>
          <a:bodyPr>
            <a:noAutofit/>
          </a:bodyPr>
          <a:p>
            <a:pPr algn="just">
              <a:buFont typeface="Wingdings" pitchFamily="2" charset="2"/>
              <a:buChar char="Ø"/>
            </a:pPr>
            <a:r>
              <a:rPr dirty="0" lang="en-US" smtClean="0">
                <a:latin typeface="Calibri" panose="020F0502020204030204" pitchFamily="34" charset="0"/>
              </a:rPr>
              <a:t>During treatment closely monitor for:-</a:t>
            </a:r>
          </a:p>
          <a:p>
            <a:pPr algn="just" lvl="1">
              <a:buFont typeface="Wingdings" pitchFamily="2" charset="2"/>
              <a:buChar char="v"/>
            </a:pPr>
            <a:r>
              <a:rPr dirty="0" sz="3200" lang="en-US" err="1" smtClean="0">
                <a:latin typeface="Calibri" panose="020F0502020204030204" pitchFamily="34" charset="0"/>
              </a:rPr>
              <a:t>Cardiotoxicity</a:t>
            </a:r>
            <a:r>
              <a:rPr dirty="0" sz="3200" lang="en-US" smtClean="0">
                <a:latin typeface="Calibri" panose="020F0502020204030204" pitchFamily="34" charset="0"/>
              </a:rPr>
              <a:t>, </a:t>
            </a:r>
            <a:r>
              <a:rPr dirty="0" sz="3200" lang="en-US" err="1" smtClean="0">
                <a:latin typeface="Calibri" panose="020F0502020204030204" pitchFamily="34" charset="0"/>
              </a:rPr>
              <a:t>characterised</a:t>
            </a:r>
            <a:r>
              <a:rPr dirty="0" sz="3200" lang="en-US" smtClean="0">
                <a:latin typeface="Calibri" panose="020F0502020204030204" pitchFamily="34" charset="0"/>
              </a:rPr>
              <a:t> by presence of </a:t>
            </a:r>
            <a:r>
              <a:rPr dirty="0" sz="3200" lang="en-US" err="1" smtClean="0">
                <a:latin typeface="Calibri" panose="020F0502020204030204" pitchFamily="34" charset="0"/>
              </a:rPr>
              <a:t>arrythmia</a:t>
            </a:r>
            <a:r>
              <a:rPr dirty="0" sz="3200" lang="en-US" smtClean="0">
                <a:latin typeface="Calibri" panose="020F0502020204030204" pitchFamily="34" charset="0"/>
              </a:rPr>
              <a:t> and fibrillation . Palpitations , cyanosis &amp; </a:t>
            </a:r>
            <a:r>
              <a:rPr dirty="0" sz="3200" lang="en-US" err="1" smtClean="0">
                <a:latin typeface="Calibri" panose="020F0502020204030204" pitchFamily="34" charset="0"/>
              </a:rPr>
              <a:t>dyspnoea</a:t>
            </a:r>
            <a:r>
              <a:rPr dirty="0" sz="3200" lang="en-US" smtClean="0">
                <a:latin typeface="Calibri" panose="020F0502020204030204" pitchFamily="34" charset="0"/>
              </a:rPr>
              <a:t> . </a:t>
            </a:r>
          </a:p>
          <a:p>
            <a:pPr algn="just" lvl="1">
              <a:buFont typeface="Wingdings" pitchFamily="2" charset="2"/>
              <a:buChar char="v"/>
            </a:pPr>
            <a:r>
              <a:rPr dirty="0" sz="3200" lang="en-US" smtClean="0">
                <a:latin typeface="Calibri" panose="020F0502020204030204" pitchFamily="34" charset="0"/>
              </a:rPr>
              <a:t>Signs of </a:t>
            </a:r>
            <a:r>
              <a:rPr dirty="0" sz="3200" lang="en-US" err="1" smtClean="0">
                <a:latin typeface="Calibri" panose="020F0502020204030204" pitchFamily="34" charset="0"/>
              </a:rPr>
              <a:t>hypoglycaemia</a:t>
            </a:r>
            <a:r>
              <a:rPr dirty="0" sz="3200" lang="en-US" smtClean="0">
                <a:latin typeface="Calibri" panose="020F0502020204030204" pitchFamily="34" charset="0"/>
              </a:rPr>
              <a:t>.</a:t>
            </a:r>
          </a:p>
          <a:p>
            <a:pPr algn="just" lvl="1">
              <a:buFont typeface="Wingdings" pitchFamily="2" charset="2"/>
              <a:buChar char="v"/>
            </a:pPr>
            <a:r>
              <a:rPr dirty="0" sz="3200" lang="en-US" smtClean="0">
                <a:latin typeface="Calibri" panose="020F0502020204030204" pitchFamily="34" charset="0"/>
              </a:rPr>
              <a:t>Premature labour</a:t>
            </a:r>
          </a:p>
          <a:p>
            <a:pPr algn="just">
              <a:buFont typeface="Wingdings" pitchFamily="2" charset="2"/>
              <a:buChar char="Ø"/>
            </a:pPr>
            <a:r>
              <a:rPr dirty="0" lang="en-US" smtClean="0">
                <a:latin typeface="Calibri" panose="020F0502020204030204" pitchFamily="34" charset="0"/>
              </a:rPr>
              <a:t>Remedies to the above side effects are:-</a:t>
            </a:r>
          </a:p>
          <a:p>
            <a:pPr algn="just" lvl="1">
              <a:buFont typeface="Wingdings" pitchFamily="2" charset="2"/>
              <a:buChar char="v"/>
            </a:pPr>
            <a:r>
              <a:rPr dirty="0" sz="3200" lang="en-US" smtClean="0">
                <a:latin typeface="Calibri" panose="020F0502020204030204" pitchFamily="34" charset="0"/>
              </a:rPr>
              <a:t>Supportive treatment </a:t>
            </a:r>
            <a:r>
              <a:rPr dirty="0" sz="3200" lang="en-US" err="1" smtClean="0">
                <a:latin typeface="Calibri" panose="020F0502020204030204" pitchFamily="34" charset="0"/>
              </a:rPr>
              <a:t>eg</a:t>
            </a:r>
            <a:r>
              <a:rPr dirty="0" sz="3200" lang="en-US" smtClean="0">
                <a:latin typeface="Calibri" panose="020F0502020204030204" pitchFamily="34" charset="0"/>
              </a:rPr>
              <a:t> administration of beta blocker such as </a:t>
            </a:r>
            <a:r>
              <a:rPr dirty="0" sz="3200" lang="en-US" err="1" smtClean="0">
                <a:latin typeface="Calibri" panose="020F0502020204030204" pitchFamily="34" charset="0"/>
              </a:rPr>
              <a:t>Inderal</a:t>
            </a:r>
            <a:r>
              <a:rPr dirty="0" sz="3200" lang="en-US" smtClean="0">
                <a:latin typeface="Calibri" panose="020F0502020204030204" pitchFamily="34" charset="0"/>
              </a:rPr>
              <a:t> 40mg 8 hourly. Also reduce the drip rate.</a:t>
            </a:r>
          </a:p>
          <a:p>
            <a:pPr algn="just" lvl="1">
              <a:buFont typeface="Wingdings" pitchFamily="2" charset="2"/>
              <a:buChar char="v"/>
            </a:pPr>
            <a:r>
              <a:rPr dirty="0" sz="3200" lang="en-US" smtClean="0">
                <a:latin typeface="Calibri" panose="020F0502020204030204" pitchFamily="34" charset="0"/>
              </a:rPr>
              <a:t>For </a:t>
            </a:r>
            <a:r>
              <a:rPr dirty="0" sz="3200" lang="en-US" err="1" smtClean="0">
                <a:latin typeface="Calibri" panose="020F0502020204030204" pitchFamily="34" charset="0"/>
              </a:rPr>
              <a:t>hypoglycaemia</a:t>
            </a:r>
            <a:r>
              <a:rPr dirty="0" sz="3200" lang="en-US" smtClean="0">
                <a:latin typeface="Calibri" panose="020F0502020204030204" pitchFamily="34" charset="0"/>
              </a:rPr>
              <a:t>, administer 50% dextrose bolus 1 ml/kg.</a:t>
            </a:r>
          </a:p>
          <a:p>
            <a:pPr algn="just" lvl="1">
              <a:buFont typeface="Wingdings" pitchFamily="2" charset="2"/>
              <a:buChar char="v"/>
            </a:pPr>
            <a:r>
              <a:rPr dirty="0" sz="3200" lang="en-US" smtClean="0">
                <a:latin typeface="Calibri" panose="020F0502020204030204" pitchFamily="34" charset="0"/>
              </a:rPr>
              <a:t>For contractions, parentral / oral </a:t>
            </a:r>
            <a:r>
              <a:rPr dirty="0" sz="3200" lang="en-US" err="1" smtClean="0">
                <a:latin typeface="Calibri" panose="020F0502020204030204" pitchFamily="34" charset="0"/>
              </a:rPr>
              <a:t>tocolytic</a:t>
            </a:r>
            <a:r>
              <a:rPr dirty="0" sz="3200" lang="en-US" smtClean="0">
                <a:latin typeface="Calibri" panose="020F0502020204030204" pitchFamily="34" charset="0"/>
              </a:rPr>
              <a:t> </a:t>
            </a:r>
            <a:r>
              <a:rPr dirty="0" sz="3200" lang="en-US" err="1" smtClean="0">
                <a:latin typeface="Calibri" panose="020F0502020204030204" pitchFamily="34" charset="0"/>
              </a:rPr>
              <a:t>eg</a:t>
            </a:r>
            <a:r>
              <a:rPr dirty="0" sz="3200" lang="en-US" smtClean="0">
                <a:latin typeface="Calibri" panose="020F0502020204030204" pitchFamily="34" charset="0"/>
              </a:rPr>
              <a:t> </a:t>
            </a:r>
            <a:r>
              <a:rPr dirty="0" sz="3200" lang="en-US" err="1" smtClean="0">
                <a:latin typeface="Calibri" panose="020F0502020204030204" pitchFamily="34" charset="0"/>
              </a:rPr>
              <a:t>ventolin</a:t>
            </a:r>
            <a:r>
              <a:rPr dirty="0" sz="3200" lang="en-US" smtClean="0">
                <a:latin typeface="Calibri" panose="020F0502020204030204" pitchFamily="34" charset="0"/>
              </a:rPr>
              <a:t>.        </a:t>
            </a:r>
            <a:endParaRPr dirty="0" sz="3200" lang="en-US">
              <a:latin typeface="Calibri" panose="020F0502020204030204" pitchFamily="34" charset="0"/>
            </a:endParaRPr>
          </a:p>
        </p:txBody>
      </p:sp>
      <p:sp>
        <p:nvSpPr>
          <p:cNvPr id="1049895"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238" name=""/>
        <p:cNvGrpSpPr/>
        <p:nvPr/>
      </p:nvGrpSpPr>
      <p:grpSpPr>
        <a:xfrm>
          <a:off x="0" y="0"/>
          <a:ext cx="0" cy="0"/>
          <a:chOff x="0" y="0"/>
          <a:chExt cx="0" cy="0"/>
        </a:xfrm>
      </p:grpSpPr>
      <p:sp>
        <p:nvSpPr>
          <p:cNvPr id="1049896" name="Content Placeholder 1"/>
          <p:cNvSpPr>
            <a:spLocks noGrp="1"/>
          </p:cNvSpPr>
          <p:nvPr>
            <p:ph idx="1"/>
          </p:nvPr>
        </p:nvSpPr>
        <p:spPr>
          <a:xfrm>
            <a:off x="1447800" y="304800"/>
            <a:ext cx="9719309" cy="5943600"/>
          </a:xfrm>
        </p:spPr>
        <p:txBody>
          <a:bodyPr>
            <a:normAutofit/>
          </a:bodyPr>
          <a:p>
            <a:pPr algn="just"/>
            <a:r>
              <a:rPr dirty="0" lang="en-US" smtClean="0"/>
              <a:t>Assess the renal function by accurately interpreting the fluid balance chart.</a:t>
            </a:r>
          </a:p>
          <a:p>
            <a:pPr algn="just">
              <a:buNone/>
            </a:pPr>
            <a:r>
              <a:rPr b="1" dirty="0" lang="en-US" smtClean="0">
                <a:solidFill>
                  <a:srgbClr val="FF0000"/>
                </a:solidFill>
              </a:rPr>
              <a:t>NB :</a:t>
            </a:r>
            <a:r>
              <a:rPr dirty="0" lang="en-US" smtClean="0"/>
              <a:t> If after 2 days of parentral quinine, renal failure features are present, reduce the dose of quinine to half</a:t>
            </a:r>
          </a:p>
          <a:p>
            <a:pPr algn="just"/>
            <a:r>
              <a:rPr dirty="0" lang="en-US" smtClean="0"/>
              <a:t>As soon as oral feeds are tolerated change to oral quinine to complete 7 days of therapy or to </a:t>
            </a:r>
            <a:r>
              <a:rPr dirty="0" lang="en-US" err="1" smtClean="0"/>
              <a:t>Artemether</a:t>
            </a:r>
            <a:r>
              <a:rPr dirty="0" lang="en-US" smtClean="0"/>
              <a:t> </a:t>
            </a:r>
            <a:r>
              <a:rPr dirty="0" lang="en-US" err="1" smtClean="0"/>
              <a:t>Lumefantrine</a:t>
            </a:r>
            <a:r>
              <a:rPr dirty="0" lang="en-US" smtClean="0"/>
              <a:t> 4 tablets 12 hourly ×3/7 .</a:t>
            </a:r>
          </a:p>
          <a:p>
            <a:pPr algn="just">
              <a:buFont typeface="Wingdings" pitchFamily="2" charset="2"/>
              <a:buChar char="Ø"/>
            </a:pPr>
            <a:r>
              <a:rPr dirty="0" lang="en-US" smtClean="0"/>
              <a:t>Administer haematinics &amp; vitamin supplements .</a:t>
            </a:r>
          </a:p>
          <a:p>
            <a:pPr algn="just"/>
            <a:r>
              <a:rPr dirty="0" lang="en-US" smtClean="0"/>
              <a:t>Encourage a balanced diet and plenty of fluids.</a:t>
            </a:r>
          </a:p>
          <a:p>
            <a:pPr algn="just"/>
            <a:endParaRPr dirty="0" lang="en-US"/>
          </a:p>
        </p:txBody>
      </p:sp>
      <p:sp>
        <p:nvSpPr>
          <p:cNvPr id="1049897"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239" name=""/>
        <p:cNvGrpSpPr/>
        <p:nvPr/>
      </p:nvGrpSpPr>
      <p:grpSpPr>
        <a:xfrm>
          <a:off x="0" y="0"/>
          <a:ext cx="0" cy="0"/>
          <a:chOff x="0" y="0"/>
          <a:chExt cx="0" cy="0"/>
        </a:xfrm>
      </p:grpSpPr>
      <p:sp>
        <p:nvSpPr>
          <p:cNvPr id="1049898" name="Content Placeholder 2"/>
          <p:cNvSpPr>
            <a:spLocks noGrp="1"/>
          </p:cNvSpPr>
          <p:nvPr>
            <p:ph idx="1"/>
          </p:nvPr>
        </p:nvSpPr>
        <p:spPr>
          <a:xfrm>
            <a:off x="1371600" y="228600"/>
            <a:ext cx="9795509" cy="6019800"/>
          </a:xfrm>
        </p:spPr>
        <p:txBody>
          <a:bodyPr>
            <a:normAutofit/>
          </a:bodyPr>
          <a:p>
            <a:pPr algn="just"/>
            <a:r>
              <a:rPr dirty="0" lang="en-US" smtClean="0"/>
              <a:t>Maintain high standards of hygiene.</a:t>
            </a:r>
          </a:p>
          <a:p>
            <a:pPr algn="just"/>
            <a:r>
              <a:rPr dirty="0" lang="en-US" smtClean="0"/>
              <a:t>Offer psychological support to allay anxiety to patient &amp; relatives.</a:t>
            </a:r>
          </a:p>
          <a:p>
            <a:pPr algn="just"/>
            <a:r>
              <a:rPr dirty="0" lang="en-US" smtClean="0"/>
              <a:t>Encourage gradual </a:t>
            </a:r>
            <a:r>
              <a:rPr dirty="0" lang="en-US" err="1" smtClean="0"/>
              <a:t>mobilisation</a:t>
            </a:r>
            <a:r>
              <a:rPr dirty="0" lang="en-US" smtClean="0"/>
              <a:t> to prevent complications.</a:t>
            </a:r>
          </a:p>
          <a:p>
            <a:pPr algn="just"/>
            <a:r>
              <a:rPr dirty="0" lang="en-US" smtClean="0"/>
              <a:t>Daily evaluate the effectiveness of treatment through alternate days MPS </a:t>
            </a:r>
            <a:r>
              <a:rPr dirty="0" lang="en-US" err="1" smtClean="0"/>
              <a:t>prn</a:t>
            </a:r>
            <a:r>
              <a:rPr dirty="0" lang="en-US" smtClean="0"/>
              <a:t>, daily </a:t>
            </a:r>
            <a:r>
              <a:rPr dirty="0" lang="en-US" err="1" smtClean="0"/>
              <a:t>phy</a:t>
            </a:r>
            <a:r>
              <a:rPr dirty="0" lang="en-US" smtClean="0"/>
              <a:t>. Examination &amp; interviewing  for the state of symptoms.</a:t>
            </a:r>
          </a:p>
          <a:p>
            <a:pPr algn="just"/>
            <a:r>
              <a:rPr dirty="0" lang="en-US" smtClean="0"/>
              <a:t>Eventually, patient is discharged, so prepare her for home care through sharing on:-</a:t>
            </a:r>
            <a:endParaRPr dirty="0" lang="en-US"/>
          </a:p>
        </p:txBody>
      </p:sp>
      <p:sp>
        <p:nvSpPr>
          <p:cNvPr id="104989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240" name=""/>
        <p:cNvGrpSpPr/>
        <p:nvPr/>
      </p:nvGrpSpPr>
      <p:grpSpPr>
        <a:xfrm>
          <a:off x="0" y="0"/>
          <a:ext cx="0" cy="0"/>
          <a:chOff x="0" y="0"/>
          <a:chExt cx="0" cy="0"/>
        </a:xfrm>
      </p:grpSpPr>
      <p:sp>
        <p:nvSpPr>
          <p:cNvPr id="1049900" name="Content Placeholder 2"/>
          <p:cNvSpPr>
            <a:spLocks noGrp="1"/>
          </p:cNvSpPr>
          <p:nvPr>
            <p:ph idx="1"/>
          </p:nvPr>
        </p:nvSpPr>
        <p:spPr>
          <a:xfrm>
            <a:off x="1794509" y="457200"/>
            <a:ext cx="9372600" cy="5791200"/>
          </a:xfrm>
        </p:spPr>
        <p:txBody>
          <a:bodyPr>
            <a:normAutofit/>
          </a:bodyPr>
          <a:p>
            <a:r>
              <a:rPr dirty="0" sz="3200" lang="en-US" smtClean="0"/>
              <a:t>Diet- well balanced</a:t>
            </a:r>
          </a:p>
          <a:p>
            <a:r>
              <a:rPr dirty="0" sz="3200" lang="en-US" smtClean="0"/>
              <a:t>Hygiene</a:t>
            </a:r>
          </a:p>
          <a:p>
            <a:r>
              <a:rPr dirty="0" sz="3200" lang="en-US" smtClean="0"/>
              <a:t>Follow up ,either weekly or every fortnight in the ANC.</a:t>
            </a:r>
          </a:p>
          <a:p>
            <a:pPr>
              <a:buFont typeface="Wingdings" pitchFamily="2" charset="2"/>
              <a:buChar char="Ø"/>
            </a:pPr>
            <a:r>
              <a:rPr dirty="0" sz="3200" lang="en-US" smtClean="0"/>
              <a:t>If has delivered MCH/FP services. </a:t>
            </a:r>
          </a:p>
          <a:p>
            <a:pPr>
              <a:buFont typeface="Wingdings" pitchFamily="2" charset="2"/>
              <a:buChar char="Ø"/>
            </a:pPr>
            <a:r>
              <a:rPr dirty="0" sz="3200" lang="en-US" smtClean="0"/>
              <a:t>If  has lost pregnancy = F/ Planning clinic.</a:t>
            </a:r>
          </a:p>
          <a:p>
            <a:r>
              <a:rPr dirty="0" sz="3200" lang="en-US" smtClean="0"/>
              <a:t>Rest to facilitate quick recovery.</a:t>
            </a:r>
          </a:p>
          <a:p>
            <a:endParaRPr dirty="0" sz="3200" lang="en-US" smtClean="0"/>
          </a:p>
        </p:txBody>
      </p:sp>
      <p:sp>
        <p:nvSpPr>
          <p:cNvPr id="104990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241" name=""/>
        <p:cNvGrpSpPr/>
        <p:nvPr/>
      </p:nvGrpSpPr>
      <p:grpSpPr>
        <a:xfrm>
          <a:off x="0" y="0"/>
          <a:ext cx="0" cy="0"/>
          <a:chOff x="0" y="0"/>
          <a:chExt cx="0" cy="0"/>
        </a:xfrm>
      </p:grpSpPr>
      <p:sp>
        <p:nvSpPr>
          <p:cNvPr id="1049902" name="Title 1"/>
          <p:cNvSpPr>
            <a:spLocks noGrp="1"/>
          </p:cNvSpPr>
          <p:nvPr>
            <p:ph type="title"/>
          </p:nvPr>
        </p:nvSpPr>
        <p:spPr/>
        <p:txBody>
          <a:bodyPr>
            <a:normAutofit/>
          </a:bodyPr>
          <a:p>
            <a:r>
              <a:rPr b="1" dirty="0" sz="3200" lang="en-US" smtClean="0">
                <a:solidFill>
                  <a:srgbClr val="00FF00"/>
                </a:solidFill>
                <a:latin typeface="Aharoni" pitchFamily="2" charset="-79"/>
                <a:cs typeface="Aharoni" pitchFamily="2" charset="-79"/>
              </a:rPr>
              <a:t>EFFCTS OF PREGNANCY ON MALARIA</a:t>
            </a:r>
            <a:endParaRPr b="1" dirty="0" sz="3200" lang="en-US">
              <a:latin typeface="Aharoni" pitchFamily="2" charset="-79"/>
              <a:cs typeface="Aharoni" pitchFamily="2" charset="-79"/>
            </a:endParaRPr>
          </a:p>
        </p:txBody>
      </p:sp>
      <p:sp>
        <p:nvSpPr>
          <p:cNvPr id="1049903" name="Content Placeholder 2"/>
          <p:cNvSpPr>
            <a:spLocks noGrp="1"/>
          </p:cNvSpPr>
          <p:nvPr>
            <p:ph idx="1"/>
          </p:nvPr>
        </p:nvSpPr>
        <p:spPr/>
        <p:txBody>
          <a:bodyPr>
            <a:normAutofit/>
          </a:bodyPr>
          <a:p>
            <a:r>
              <a:rPr dirty="0" sz="3600" lang="en-US" smtClean="0"/>
              <a:t>Severe condition, while quite a low level/count of  parasites is isolated due to placental </a:t>
            </a:r>
            <a:r>
              <a:rPr dirty="0" sz="3600" lang="en-US" err="1" smtClean="0"/>
              <a:t>parasitisation</a:t>
            </a:r>
            <a:r>
              <a:rPr dirty="0" sz="3600" lang="en-US" smtClean="0"/>
              <a:t>.</a:t>
            </a:r>
          </a:p>
          <a:p>
            <a:r>
              <a:rPr dirty="0" sz="3600" lang="en-US" smtClean="0"/>
              <a:t>Limitation of </a:t>
            </a:r>
            <a:r>
              <a:rPr dirty="0" sz="3600" lang="en-US" err="1" smtClean="0"/>
              <a:t>antimalarial</a:t>
            </a:r>
            <a:r>
              <a:rPr dirty="0" sz="3600" lang="en-US" smtClean="0"/>
              <a:t> therapy because the fetal related unwanted effects in most of the malarial drugs . </a:t>
            </a:r>
            <a:endParaRPr dirty="0" sz="3600" lang="en-US"/>
          </a:p>
        </p:txBody>
      </p:sp>
      <p:sp>
        <p:nvSpPr>
          <p:cNvPr id="104990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242" name=""/>
        <p:cNvGrpSpPr/>
        <p:nvPr/>
      </p:nvGrpSpPr>
      <p:grpSpPr>
        <a:xfrm>
          <a:off x="0" y="0"/>
          <a:ext cx="0" cy="0"/>
          <a:chOff x="0" y="0"/>
          <a:chExt cx="0" cy="0"/>
        </a:xfrm>
      </p:grpSpPr>
      <p:sp>
        <p:nvSpPr>
          <p:cNvPr id="1049905" name="Title 1"/>
          <p:cNvSpPr>
            <a:spLocks noGrp="1"/>
          </p:cNvSpPr>
          <p:nvPr>
            <p:ph type="title"/>
          </p:nvPr>
        </p:nvSpPr>
        <p:spPr>
          <a:xfrm>
            <a:off x="1794509" y="0"/>
            <a:ext cx="9372600" cy="914400"/>
          </a:xfrm>
        </p:spPr>
        <p:txBody>
          <a:bodyPr>
            <a:normAutofit/>
          </a:bodyPr>
          <a:p>
            <a:r>
              <a:rPr b="1" dirty="0" sz="3200" lang="en-US" smtClean="0">
                <a:solidFill>
                  <a:srgbClr val="00FF00"/>
                </a:solidFill>
                <a:latin typeface="Aharoni" pitchFamily="2" charset="-79"/>
                <a:cs typeface="Aharoni" pitchFamily="2" charset="-79"/>
              </a:rPr>
              <a:t>EFFECTS OF MALARIA ON PREGNANCY</a:t>
            </a:r>
            <a:endParaRPr b="1" dirty="0" sz="3200" lang="en-US">
              <a:latin typeface="Aharoni" pitchFamily="2" charset="-79"/>
              <a:cs typeface="Aharoni" pitchFamily="2" charset="-79"/>
            </a:endParaRPr>
          </a:p>
        </p:txBody>
      </p:sp>
      <p:sp>
        <p:nvSpPr>
          <p:cNvPr id="1049906" name="Content Placeholder 2"/>
          <p:cNvSpPr>
            <a:spLocks noGrp="1"/>
          </p:cNvSpPr>
          <p:nvPr>
            <p:ph idx="1"/>
          </p:nvPr>
        </p:nvSpPr>
        <p:spPr>
          <a:xfrm>
            <a:off x="1333500" y="762000"/>
            <a:ext cx="10096500" cy="5791200"/>
          </a:xfrm>
        </p:spPr>
        <p:txBody>
          <a:bodyPr>
            <a:noAutofit/>
          </a:bodyPr>
          <a:p>
            <a:r>
              <a:rPr dirty="0" sz="2800" lang="en-US" smtClean="0"/>
              <a:t>Development of severe </a:t>
            </a:r>
            <a:r>
              <a:rPr dirty="0" sz="2800" lang="en-US" err="1" smtClean="0"/>
              <a:t>anaemia</a:t>
            </a:r>
            <a:r>
              <a:rPr dirty="0" sz="2800" lang="en-US" smtClean="0"/>
              <a:t> due to destruction of maternal RBCs thus resulting in </a:t>
            </a:r>
            <a:r>
              <a:rPr dirty="0" sz="2800" lang="en-US" err="1" smtClean="0"/>
              <a:t>ancrease</a:t>
            </a:r>
            <a:r>
              <a:rPr dirty="0" sz="2800" lang="en-US" smtClean="0"/>
              <a:t> in the rate of </a:t>
            </a:r>
            <a:r>
              <a:rPr dirty="0" sz="2800" lang="en-US" err="1" smtClean="0"/>
              <a:t>hemolysis</a:t>
            </a:r>
            <a:r>
              <a:rPr dirty="0" sz="2800" lang="en-US" smtClean="0"/>
              <a:t>.</a:t>
            </a:r>
          </a:p>
          <a:p>
            <a:r>
              <a:rPr dirty="0" sz="2800" lang="en-US" smtClean="0"/>
              <a:t>Loss of pregnancy, either in abortion, IUFD or stillbirth due to pyrexia and severe dysfunction of the placenta.</a:t>
            </a:r>
          </a:p>
          <a:p>
            <a:r>
              <a:rPr dirty="0" sz="2800" lang="en-US" smtClean="0"/>
              <a:t>Preterm delivery, due to </a:t>
            </a:r>
            <a:r>
              <a:rPr dirty="0" sz="2800" lang="en-US" err="1" smtClean="0"/>
              <a:t>hypoglycaemia</a:t>
            </a:r>
            <a:r>
              <a:rPr dirty="0" sz="2800" lang="en-US" smtClean="0"/>
              <a:t> &amp; adverse effect of the recommended therapy.</a:t>
            </a:r>
          </a:p>
          <a:p>
            <a:r>
              <a:rPr dirty="0" sz="2800" lang="en-US" smtClean="0"/>
              <a:t>Small for gestation baby, results from placental </a:t>
            </a:r>
            <a:r>
              <a:rPr dirty="0" sz="2800" lang="en-US" err="1" smtClean="0"/>
              <a:t>parasitisation</a:t>
            </a:r>
            <a:r>
              <a:rPr dirty="0" sz="2800" lang="en-US" smtClean="0"/>
              <a:t>.</a:t>
            </a:r>
          </a:p>
          <a:p>
            <a:r>
              <a:rPr dirty="0" sz="2800" lang="en-US" smtClean="0"/>
              <a:t>High perinatal mortality rate, due to low birth weight and severe asphyxia or development of RDS.  </a:t>
            </a:r>
            <a:endParaRPr dirty="0" sz="2800" lang="en-US"/>
          </a:p>
        </p:txBody>
      </p:sp>
      <p:sp>
        <p:nvSpPr>
          <p:cNvPr id="104990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243" name=""/>
        <p:cNvGrpSpPr/>
        <p:nvPr/>
      </p:nvGrpSpPr>
      <p:grpSpPr>
        <a:xfrm>
          <a:off x="0" y="0"/>
          <a:ext cx="0" cy="0"/>
          <a:chOff x="0" y="0"/>
          <a:chExt cx="0" cy="0"/>
        </a:xfrm>
      </p:grpSpPr>
      <p:sp>
        <p:nvSpPr>
          <p:cNvPr id="1049908" name="Content Placeholder 2"/>
          <p:cNvSpPr>
            <a:spLocks noGrp="1"/>
          </p:cNvSpPr>
          <p:nvPr>
            <p:ph idx="1"/>
          </p:nvPr>
        </p:nvSpPr>
        <p:spPr>
          <a:xfrm>
            <a:off x="1238251" y="304800"/>
            <a:ext cx="9810750" cy="6248400"/>
          </a:xfrm>
        </p:spPr>
        <p:txBody>
          <a:bodyPr>
            <a:noAutofit/>
          </a:bodyPr>
          <a:p>
            <a:r>
              <a:rPr dirty="0" sz="3200" lang="en-US" smtClean="0"/>
              <a:t>High maternal morbidity rate, in terms of anaemia, jaundice and general chronic -ill health due to severe haemolysis + delay in accessing proper medical attention .</a:t>
            </a:r>
          </a:p>
          <a:p>
            <a:pPr>
              <a:buNone/>
            </a:pPr>
            <a:r>
              <a:rPr dirty="0" sz="3200" lang="en-US" smtClean="0"/>
              <a:t>	</a:t>
            </a:r>
            <a:r>
              <a:rPr b="1" dirty="0" sz="3200" lang="en-US" smtClean="0"/>
              <a:t>	</a:t>
            </a:r>
            <a:r>
              <a:rPr b="1" dirty="0" sz="3200" lang="en-US" u="sng" smtClean="0">
                <a:solidFill>
                  <a:srgbClr val="00FF00"/>
                </a:solidFill>
                <a:latin typeface="Aharoni" pitchFamily="2" charset="-79"/>
                <a:cs typeface="Aharoni" pitchFamily="2" charset="-79"/>
              </a:rPr>
              <a:t>PREVENTION</a:t>
            </a:r>
          </a:p>
          <a:p>
            <a:r>
              <a:rPr dirty="0" sz="3200" lang="en-US" smtClean="0"/>
              <a:t>Prophylactic </a:t>
            </a:r>
            <a:r>
              <a:rPr dirty="0" sz="3200" lang="en-US" err="1" smtClean="0"/>
              <a:t>antimalarial</a:t>
            </a:r>
            <a:r>
              <a:rPr dirty="0" sz="3200" lang="en-US" smtClean="0"/>
              <a:t> therapy to all in endemic areas, as per ministerial directive.</a:t>
            </a:r>
          </a:p>
          <a:p>
            <a:r>
              <a:rPr dirty="0" sz="3200" lang="en-US" smtClean="0"/>
              <a:t>Personal protection from mosquito bite, thru  LLITNs (long-lasting insecticide-treated nets), mosquito proof houses and use of repellents.</a:t>
            </a:r>
            <a:endParaRPr dirty="0" sz="3200" lang="en-US"/>
          </a:p>
        </p:txBody>
      </p:sp>
      <p:sp>
        <p:nvSpPr>
          <p:cNvPr id="104990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244" name=""/>
        <p:cNvGrpSpPr/>
        <p:nvPr/>
      </p:nvGrpSpPr>
      <p:grpSpPr>
        <a:xfrm>
          <a:off x="0" y="0"/>
          <a:ext cx="0" cy="0"/>
          <a:chOff x="0" y="0"/>
          <a:chExt cx="0" cy="0"/>
        </a:xfrm>
      </p:grpSpPr>
      <p:sp>
        <p:nvSpPr>
          <p:cNvPr id="1049910" name="Content Placeholder 2"/>
          <p:cNvSpPr>
            <a:spLocks noGrp="1"/>
          </p:cNvSpPr>
          <p:nvPr>
            <p:ph idx="1"/>
          </p:nvPr>
        </p:nvSpPr>
        <p:spPr>
          <a:xfrm>
            <a:off x="1524000" y="0"/>
            <a:ext cx="9334500" cy="6553200"/>
          </a:xfrm>
        </p:spPr>
        <p:txBody>
          <a:bodyPr>
            <a:normAutofit/>
          </a:bodyPr>
          <a:p>
            <a:endParaRPr dirty="0" sz="2800" lang="en-US" smtClean="0"/>
          </a:p>
          <a:p>
            <a:r>
              <a:rPr dirty="0" sz="2800" lang="en-US" smtClean="0"/>
              <a:t>Provision of prompt diagnosis and treatment of fever due to malaria </a:t>
            </a:r>
            <a:endParaRPr dirty="0" sz="3000" lang="en-US" smtClean="0"/>
          </a:p>
          <a:p>
            <a:r>
              <a:rPr dirty="0" sz="3000" lang="en-US" smtClean="0"/>
              <a:t>Health education on pro</a:t>
            </a:r>
            <a:r>
              <a:rPr dirty="0" sz="3100" lang="en-US" smtClean="0"/>
              <a:t>per environmental hygiene practice to control the vector in terms of:-</a:t>
            </a:r>
          </a:p>
          <a:p>
            <a:pPr lvl="1">
              <a:buFont typeface="Wingdings" pitchFamily="2" charset="2"/>
              <a:buChar char="Ø"/>
            </a:pPr>
            <a:r>
              <a:rPr dirty="0" sz="3100" lang="en-US" smtClean="0"/>
              <a:t>Drainage of stagnated water or spray it.</a:t>
            </a:r>
          </a:p>
          <a:p>
            <a:pPr lvl="1">
              <a:buFont typeface="Wingdings" pitchFamily="2" charset="2"/>
              <a:buChar char="Ø"/>
            </a:pPr>
            <a:r>
              <a:rPr dirty="0" sz="3100" lang="en-US" smtClean="0"/>
              <a:t>Clear the bush around the homestead.</a:t>
            </a:r>
          </a:p>
          <a:p>
            <a:pPr lvl="1">
              <a:buFont typeface="Wingdings" pitchFamily="2" charset="2"/>
              <a:buChar char="Ø"/>
            </a:pPr>
            <a:r>
              <a:rPr dirty="0" sz="3100" lang="en-US" smtClean="0"/>
              <a:t>Burry or burn up items that can hold water</a:t>
            </a:r>
            <a:r>
              <a:rPr dirty="0" lang="en-US" smtClean="0"/>
              <a:t>.</a:t>
            </a:r>
          </a:p>
          <a:p>
            <a:pPr>
              <a:buNone/>
            </a:pPr>
            <a:endParaRPr dirty="0" lang="en-US" smtClean="0"/>
          </a:p>
          <a:p>
            <a:pPr>
              <a:buNone/>
            </a:pPr>
            <a:endParaRPr dirty="0" lang="en-US" smtClean="0"/>
          </a:p>
          <a:p>
            <a:pPr>
              <a:buNone/>
            </a:pPr>
            <a:r>
              <a:rPr dirty="0" lang="en-US" smtClean="0"/>
              <a:t>			</a:t>
            </a:r>
          </a:p>
        </p:txBody>
      </p:sp>
      <p:sp>
        <p:nvSpPr>
          <p:cNvPr id="1049911" name="Flowchart: Punched Tape 3"/>
          <p:cNvSpPr/>
          <p:nvPr/>
        </p:nvSpPr>
        <p:spPr>
          <a:xfrm>
            <a:off x="4000500" y="4648200"/>
            <a:ext cx="2952750" cy="1981200"/>
          </a:xfrm>
          <a:prstGeom prst="flowChartPunchedTape"/>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3600" lang="en-US" smtClean="0">
                <a:solidFill>
                  <a:srgbClr val="FFFF00"/>
                </a:solidFill>
              </a:rPr>
              <a:t>END. </a:t>
            </a:r>
            <a:endParaRPr dirty="0" lang="en-US">
              <a:solidFill>
                <a:srgbClr val="FFFF00"/>
              </a:solidFill>
            </a:endParaRPr>
          </a:p>
        </p:txBody>
      </p:sp>
      <p:sp>
        <p:nvSpPr>
          <p:cNvPr id="104991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247" name=""/>
        <p:cNvGrpSpPr/>
        <p:nvPr/>
      </p:nvGrpSpPr>
      <p:grpSpPr>
        <a:xfrm>
          <a:off x="0" y="0"/>
          <a:ext cx="0" cy="0"/>
          <a:chOff x="0" y="0"/>
          <a:chExt cx="0" cy="0"/>
        </a:xfrm>
      </p:grpSpPr>
      <p:sp>
        <p:nvSpPr>
          <p:cNvPr id="1049916" name="Title 3"/>
          <p:cNvSpPr>
            <a:spLocks noGrp="1"/>
          </p:cNvSpPr>
          <p:nvPr>
            <p:ph type="ctrTitle"/>
          </p:nvPr>
        </p:nvSpPr>
        <p:spPr>
          <a:xfrm>
            <a:off x="285750" y="1371601"/>
            <a:ext cx="10858500" cy="1929684"/>
          </a:xfrm>
        </p:spPr>
        <p:txBody>
          <a:bodyPr>
            <a:noAutofit/>
          </a:bodyPr>
          <a:p>
            <a:pPr algn="ctr"/>
            <a:r>
              <a:rPr b="1" dirty="0" sz="5400" lang="en-US" smtClean="0">
                <a:solidFill>
                  <a:srgbClr val="0000FF"/>
                </a:solidFill>
                <a:effectLst>
                  <a:outerShdw algn="tl" blurRad="38100" dir="2700000" dist="38100">
                    <a:srgbClr val="000000">
                      <a:alpha val="43137"/>
                    </a:srgbClr>
                  </a:outerShdw>
                </a:effectLst>
                <a:latin typeface="Rockwell" panose="02060603020205020403" pitchFamily="18" charset="0"/>
              </a:rPr>
              <a:t>LABOUR &amp; PUERPERIUM RELATED:</a:t>
            </a:r>
            <a:endParaRPr b="1" dirty="0" sz="5400" lang="en-US">
              <a:solidFill>
                <a:srgbClr val="0000FF"/>
              </a:solidFill>
              <a:effectLst>
                <a:outerShdw algn="tl" blurRad="38100" dir="2700000" dist="38100">
                  <a:srgbClr val="000000">
                    <a:alpha val="43137"/>
                  </a:srgbClr>
                </a:outerShdw>
              </a:effectLst>
              <a:latin typeface="Rockwell" panose="02060603020205020403" pitchFamily="18" charset="0"/>
            </a:endParaRPr>
          </a:p>
        </p:txBody>
      </p:sp>
    </p:spTree>
  </p:cSld>
  <p:clrMapOvr>
    <a:masterClrMapping/>
  </p:clrMapOvr>
  <p:transition xmlns:p14="http://schemas.microsoft.com/office/powerpoint/2010/main" spd="slow">
    <p:strips dir="ru"/>
  </p:transition>
  <p:timing/>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248" name=""/>
        <p:cNvGrpSpPr/>
        <p:nvPr/>
      </p:nvGrpSpPr>
      <p:grpSpPr>
        <a:xfrm>
          <a:off x="0" y="0"/>
          <a:ext cx="0" cy="0"/>
          <a:chOff x="0" y="0"/>
          <a:chExt cx="0" cy="0"/>
        </a:xfrm>
      </p:grpSpPr>
      <p:sp>
        <p:nvSpPr>
          <p:cNvPr id="1049917" name="Title 3"/>
          <p:cNvSpPr>
            <a:spLocks noGrp="1"/>
          </p:cNvSpPr>
          <p:nvPr>
            <p:ph type="ctrTitle"/>
          </p:nvPr>
        </p:nvSpPr>
        <p:spPr>
          <a:xfrm>
            <a:off x="952500" y="2133600"/>
            <a:ext cx="10115550" cy="2057400"/>
          </a:xfrm>
        </p:spPr>
        <p:txBody>
          <a:bodyPr>
            <a:normAutofit/>
          </a:bodyPr>
          <a:p>
            <a:pPr algn="ctr"/>
            <a:r>
              <a:rPr b="1" dirty="0" lang="en-US" smtClean="0">
                <a:solidFill>
                  <a:srgbClr val="FF0000"/>
                </a:solidFill>
                <a:latin typeface="Algerian" pitchFamily="82" charset="0"/>
              </a:rPr>
              <a:t>1. PAIN RELIEF DURING LABOUR</a:t>
            </a:r>
            <a:endParaRPr b="1" dirty="0" lang="en-US">
              <a:solidFill>
                <a:srgbClr val="FF0000"/>
              </a:solidFill>
              <a:latin typeface="Algerian" pitchFamily="82" charset="0"/>
            </a:endParaRPr>
          </a:p>
        </p:txBody>
      </p:sp>
    </p:spTree>
  </p:cSld>
  <p:clrMapOvr>
    <a:masterClrMapping/>
  </p:clrMapOvr>
  <p:transition xmlns:p14="http://schemas.microsoft.com/office/powerpoint/2010/main" spd="slow">
    <p:strips dir="ru"/>
  </p:transition>
  <p:timing/>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249" name=""/>
        <p:cNvGrpSpPr/>
        <p:nvPr/>
      </p:nvGrpSpPr>
      <p:grpSpPr>
        <a:xfrm>
          <a:off x="0" y="0"/>
          <a:ext cx="0" cy="0"/>
          <a:chOff x="0" y="0"/>
          <a:chExt cx="0" cy="0"/>
        </a:xfrm>
      </p:grpSpPr>
      <p:sp>
        <p:nvSpPr>
          <p:cNvPr id="1049918" name="Title 1"/>
          <p:cNvSpPr>
            <a:spLocks noGrp="1"/>
          </p:cNvSpPr>
          <p:nvPr>
            <p:ph type="title"/>
          </p:nvPr>
        </p:nvSpPr>
        <p:spPr>
          <a:xfrm>
            <a:off x="476250" y="228600"/>
            <a:ext cx="10287000" cy="1143000"/>
          </a:xfrm>
        </p:spPr>
        <p:txBody>
          <a:bodyPr/>
          <a:p>
            <a:pPr algn="ctr"/>
            <a:r>
              <a:rPr b="1" dirty="0" lang="en-US" smtClean="0">
                <a:solidFill>
                  <a:srgbClr val="0000FF"/>
                </a:solidFill>
              </a:rPr>
              <a:t>Overview:</a:t>
            </a:r>
            <a:endParaRPr b="1" dirty="0" lang="en-US">
              <a:solidFill>
                <a:srgbClr val="0000FF"/>
              </a:solidFill>
            </a:endParaRPr>
          </a:p>
        </p:txBody>
      </p:sp>
      <p:sp>
        <p:nvSpPr>
          <p:cNvPr id="1049919" name="Content Placeholder 2"/>
          <p:cNvSpPr>
            <a:spLocks noGrp="1"/>
          </p:cNvSpPr>
          <p:nvPr>
            <p:ph idx="1"/>
          </p:nvPr>
        </p:nvSpPr>
        <p:spPr>
          <a:xfrm>
            <a:off x="190500" y="1295400"/>
            <a:ext cx="11049000" cy="5410200"/>
          </a:xfrm>
        </p:spPr>
        <p:txBody>
          <a:bodyPr>
            <a:normAutofit/>
          </a:bodyPr>
          <a:p>
            <a:pPr algn="just"/>
            <a:r>
              <a:rPr dirty="0" sz="2800" lang="en-US" smtClean="0"/>
              <a:t>Explain the factors </a:t>
            </a:r>
            <a:r>
              <a:rPr dirty="0" sz="2800" lang="en-US"/>
              <a:t>affecting perception of pain and individual reactions to pain</a:t>
            </a:r>
          </a:p>
          <a:p>
            <a:pPr algn="just"/>
            <a:r>
              <a:rPr dirty="0" sz="2800" lang="en-US" smtClean="0"/>
              <a:t>Describe the physiology </a:t>
            </a:r>
            <a:r>
              <a:rPr dirty="0" sz="2800" lang="en-US"/>
              <a:t>of pain with particular reference to sources of pain in </a:t>
            </a:r>
            <a:r>
              <a:rPr dirty="0" sz="2800" lang="en-US" err="1"/>
              <a:t>labour</a:t>
            </a:r>
            <a:endParaRPr dirty="0" sz="2800" lang="en-US"/>
          </a:p>
          <a:p>
            <a:pPr algn="just"/>
            <a:r>
              <a:rPr dirty="0" sz="2800" lang="en-US" smtClean="0"/>
              <a:t>Outline the importance </a:t>
            </a:r>
            <a:r>
              <a:rPr dirty="0" sz="2800" lang="en-US"/>
              <a:t>of support, encouragement, information giving &amp; provision of a relaxing environment in the </a:t>
            </a:r>
            <a:r>
              <a:rPr dirty="0" sz="2800" lang="en-US" err="1"/>
              <a:t>mgt</a:t>
            </a:r>
            <a:r>
              <a:rPr dirty="0" sz="2800" lang="en-US"/>
              <a:t> of </a:t>
            </a:r>
            <a:r>
              <a:rPr dirty="0" sz="2800" lang="en-US" err="1" smtClean="0"/>
              <a:t>labour</a:t>
            </a:r>
            <a:r>
              <a:rPr dirty="0" sz="2800" lang="en-US" smtClean="0"/>
              <a:t> pain</a:t>
            </a:r>
            <a:endParaRPr dirty="0" sz="2800" lang="en-US"/>
          </a:p>
          <a:p>
            <a:pPr algn="just"/>
            <a:r>
              <a:rPr dirty="0" sz="2800" lang="en-US"/>
              <a:t>Describe those aspects of physical care that relate to </a:t>
            </a:r>
            <a:r>
              <a:rPr dirty="0" sz="2800" lang="en-US" smtClean="0"/>
              <a:t>comfort during </a:t>
            </a:r>
            <a:r>
              <a:rPr dirty="0" sz="2800" lang="en-US" err="1" smtClean="0"/>
              <a:t>labour</a:t>
            </a:r>
            <a:endParaRPr dirty="0" sz="2800" lang="en-US"/>
          </a:p>
          <a:p>
            <a:pPr algn="just"/>
            <a:r>
              <a:rPr dirty="0" sz="2800" lang="en-US" smtClean="0"/>
              <a:t>Describe the methods of </a:t>
            </a:r>
            <a:r>
              <a:rPr dirty="0" sz="2800" lang="en-US"/>
              <a:t>pain relief</a:t>
            </a:r>
          </a:p>
          <a:p>
            <a:pPr algn="just"/>
            <a:endParaRPr dirty="0" sz="2800" lang="en-US"/>
          </a:p>
        </p:txBody>
      </p:sp>
      <p:sp>
        <p:nvSpPr>
          <p:cNvPr id="104992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250" name=""/>
        <p:cNvGrpSpPr/>
        <p:nvPr/>
      </p:nvGrpSpPr>
      <p:grpSpPr>
        <a:xfrm>
          <a:off x="0" y="0"/>
          <a:ext cx="0" cy="0"/>
          <a:chOff x="0" y="0"/>
          <a:chExt cx="0" cy="0"/>
        </a:xfrm>
      </p:grpSpPr>
      <p:sp>
        <p:nvSpPr>
          <p:cNvPr id="1049921" name="Title 1"/>
          <p:cNvSpPr>
            <a:spLocks noGrp="1"/>
          </p:cNvSpPr>
          <p:nvPr>
            <p:ph type="title"/>
          </p:nvPr>
        </p:nvSpPr>
        <p:spPr>
          <a:xfrm>
            <a:off x="571500" y="152400"/>
            <a:ext cx="10287000" cy="1143000"/>
          </a:xfrm>
        </p:spPr>
        <p:txBody>
          <a:bodyPr>
            <a:normAutofit/>
          </a:bodyPr>
          <a:p>
            <a:r>
              <a:rPr b="1" dirty="0" sz="4400" lang="en-US" smtClean="0">
                <a:solidFill>
                  <a:srgbClr val="7030A0"/>
                </a:solidFill>
              </a:rPr>
              <a:t>         Description</a:t>
            </a:r>
            <a:endParaRPr b="1" dirty="0" lang="en-US"/>
          </a:p>
        </p:txBody>
      </p:sp>
      <p:sp>
        <p:nvSpPr>
          <p:cNvPr id="1049922" name="Content Placeholder 2"/>
          <p:cNvSpPr>
            <a:spLocks noGrp="1"/>
          </p:cNvSpPr>
          <p:nvPr>
            <p:ph idx="1"/>
          </p:nvPr>
        </p:nvSpPr>
        <p:spPr>
          <a:xfrm>
            <a:off x="190500" y="1143000"/>
            <a:ext cx="11049000" cy="5486400"/>
          </a:xfrm>
        </p:spPr>
        <p:txBody>
          <a:bodyPr>
            <a:normAutofit/>
          </a:bodyPr>
          <a:p>
            <a:pPr algn="just"/>
            <a:r>
              <a:rPr dirty="0" sz="3000" lang="en-US" smtClean="0"/>
              <a:t>Pain is an unpleasant  complex , personal, subjective/emotional, multifactorial phenomenon/incidence, which is influenced by  psychological, biological ,sociocultural and economic factors, associated with actual or potential tissue damage.</a:t>
            </a:r>
          </a:p>
          <a:p>
            <a:pPr algn="just">
              <a:buNone/>
            </a:pPr>
            <a:r>
              <a:rPr dirty="0" sz="3000" lang="en-US" smtClean="0"/>
              <a:t>			</a:t>
            </a:r>
            <a:r>
              <a:rPr b="1" dirty="0" sz="3200" lang="en-US" smtClean="0">
                <a:solidFill>
                  <a:srgbClr val="7030A0"/>
                </a:solidFill>
              </a:rPr>
              <a:t>Definition</a:t>
            </a:r>
            <a:endParaRPr b="1" dirty="0" sz="3000" lang="en-US" smtClean="0">
              <a:solidFill>
                <a:srgbClr val="7030A0"/>
              </a:solidFill>
            </a:endParaRPr>
          </a:p>
          <a:p>
            <a:pPr algn="just"/>
            <a:r>
              <a:rPr dirty="0" sz="3000" lang="en-US" smtClean="0"/>
              <a:t>Generally, pain is a feeling of distress, suffering or agony caused by stimulation of specialized nerve endings. </a:t>
            </a:r>
            <a:endParaRPr dirty="0" sz="3000" lang="en-US"/>
          </a:p>
        </p:txBody>
      </p:sp>
      <p:sp>
        <p:nvSpPr>
          <p:cNvPr id="104992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251" name=""/>
        <p:cNvGrpSpPr/>
        <p:nvPr/>
      </p:nvGrpSpPr>
      <p:grpSpPr>
        <a:xfrm>
          <a:off x="0" y="0"/>
          <a:ext cx="0" cy="0"/>
          <a:chOff x="0" y="0"/>
          <a:chExt cx="0" cy="0"/>
        </a:xfrm>
      </p:grpSpPr>
      <p:sp>
        <p:nvSpPr>
          <p:cNvPr id="1049924" name="Title 2"/>
          <p:cNvSpPr>
            <a:spLocks noGrp="1"/>
          </p:cNvSpPr>
          <p:nvPr>
            <p:ph type="title"/>
          </p:nvPr>
        </p:nvSpPr>
        <p:spPr>
          <a:xfrm>
            <a:off x="571500" y="381000"/>
            <a:ext cx="10287000" cy="1143000"/>
          </a:xfrm>
        </p:spPr>
        <p:txBody>
          <a:bodyPr>
            <a:normAutofit/>
          </a:bodyPr>
          <a:p>
            <a:r>
              <a:rPr b="1" dirty="0" lang="en-US" smtClean="0"/>
              <a:t>		</a:t>
            </a:r>
            <a:r>
              <a:rPr b="1" dirty="0" sz="4400" lang="en-US" smtClean="0">
                <a:solidFill>
                  <a:srgbClr val="7030A0"/>
                </a:solidFill>
              </a:rPr>
              <a:t> Source</a:t>
            </a:r>
            <a:endParaRPr b="1" dirty="0" lang="en-US"/>
          </a:p>
        </p:txBody>
      </p:sp>
      <p:sp>
        <p:nvSpPr>
          <p:cNvPr id="1049925" name="Content Placeholder 1"/>
          <p:cNvSpPr>
            <a:spLocks noGrp="1"/>
          </p:cNvSpPr>
          <p:nvPr>
            <p:ph idx="1"/>
          </p:nvPr>
        </p:nvSpPr>
        <p:spPr>
          <a:xfrm>
            <a:off x="571500" y="1481328"/>
            <a:ext cx="10287000" cy="4843272"/>
          </a:xfrm>
        </p:spPr>
        <p:txBody>
          <a:bodyPr>
            <a:noAutofit/>
          </a:bodyPr>
          <a:p>
            <a:pPr algn="just"/>
            <a:r>
              <a:rPr dirty="0" sz="2900" lang="en-US" smtClean="0"/>
              <a:t>Uterine contractions, Interpretation based on :</a:t>
            </a:r>
          </a:p>
          <a:p>
            <a:pPr algn="just">
              <a:buFont typeface="Courier New" pitchFamily="49" charset="0"/>
              <a:buChar char="o"/>
            </a:pPr>
            <a:r>
              <a:rPr dirty="0" sz="2900" lang="en-US" smtClean="0"/>
              <a:t>	Basal(resting) tone, ie pressure within the uterine cavity between contractions( when uterus is relaxed).</a:t>
            </a:r>
          </a:p>
          <a:p>
            <a:pPr algn="just">
              <a:buFont typeface="Courier New" pitchFamily="49" charset="0"/>
              <a:buChar char="o"/>
            </a:pPr>
            <a:r>
              <a:rPr dirty="0" sz="2900" lang="en-US" smtClean="0"/>
              <a:t>	Intensity, at the height of a contraction.</a:t>
            </a:r>
          </a:p>
          <a:p>
            <a:pPr algn="just">
              <a:buFont typeface="Courier New" pitchFamily="49" charset="0"/>
              <a:buChar char="o"/>
            </a:pPr>
            <a:r>
              <a:rPr dirty="0" sz="2900" lang="en-US" smtClean="0"/>
              <a:t>	Duration, dwelling period for each contraction.</a:t>
            </a:r>
          </a:p>
          <a:p>
            <a:pPr algn="just">
              <a:buFont typeface="Courier New" pitchFamily="49" charset="0"/>
              <a:buChar char="o"/>
            </a:pPr>
            <a:r>
              <a:rPr dirty="0" sz="2900" lang="en-US" smtClean="0"/>
              <a:t>	Frequency, number of contraction per standard time unit, </a:t>
            </a:r>
            <a:r>
              <a:rPr dirty="0" sz="2900" lang="en-US" err="1" smtClean="0"/>
              <a:t>eg</a:t>
            </a:r>
            <a:r>
              <a:rPr dirty="0" sz="2900" lang="en-US" smtClean="0"/>
              <a:t>  in a period of 10 minutes.</a:t>
            </a:r>
          </a:p>
          <a:p>
            <a:pPr algn="just">
              <a:buFont typeface="Wingdings" pitchFamily="2" charset="2"/>
              <a:buChar char="v"/>
            </a:pPr>
            <a:r>
              <a:rPr dirty="0" sz="2900" lang="en-US" smtClean="0"/>
              <a:t>Pain is  from nerve roots T11 and T12.</a:t>
            </a:r>
            <a:endParaRPr dirty="0" sz="2900" lang="en-US"/>
          </a:p>
        </p:txBody>
      </p:sp>
      <p:sp>
        <p:nvSpPr>
          <p:cNvPr id="104992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252" name=""/>
        <p:cNvGrpSpPr/>
        <p:nvPr/>
      </p:nvGrpSpPr>
      <p:grpSpPr>
        <a:xfrm>
          <a:off x="0" y="0"/>
          <a:ext cx="0" cy="0"/>
          <a:chOff x="0" y="0"/>
          <a:chExt cx="0" cy="0"/>
        </a:xfrm>
      </p:grpSpPr>
      <p:sp>
        <p:nvSpPr>
          <p:cNvPr id="1049927" name="Content Placeholder 1"/>
          <p:cNvSpPr>
            <a:spLocks noGrp="1"/>
          </p:cNvSpPr>
          <p:nvPr>
            <p:ph idx="1"/>
          </p:nvPr>
        </p:nvSpPr>
        <p:spPr>
          <a:xfrm>
            <a:off x="571500" y="685800"/>
            <a:ext cx="10287000" cy="5715000"/>
          </a:xfrm>
        </p:spPr>
        <p:txBody>
          <a:bodyPr>
            <a:noAutofit/>
          </a:bodyPr>
          <a:p>
            <a:pPr algn="just"/>
            <a:r>
              <a:rPr dirty="0" sz="2800" lang="en-US" smtClean="0"/>
              <a:t>Dilatation of the cervix.</a:t>
            </a:r>
          </a:p>
          <a:p>
            <a:pPr algn="just"/>
            <a:r>
              <a:rPr dirty="0" sz="2800" lang="en-US" smtClean="0"/>
              <a:t>Stretching of the vagina and pelvic floor during late first stage as well as in 2</a:t>
            </a:r>
            <a:r>
              <a:rPr baseline="30000" dirty="0" sz="2800" lang="en-US" smtClean="0"/>
              <a:t>nd</a:t>
            </a:r>
            <a:r>
              <a:rPr dirty="0" sz="2800" lang="en-US" smtClean="0"/>
              <a:t> stage, to accommodate the descending fetus.</a:t>
            </a:r>
          </a:p>
          <a:p>
            <a:pPr algn="just">
              <a:buFont typeface="Wingdings" pitchFamily="2" charset="2"/>
              <a:buChar char="v"/>
            </a:pPr>
            <a:r>
              <a:rPr dirty="0" sz="2800" lang="en-US" smtClean="0"/>
              <a:t>Pain is from nerve roots S2 &amp; S3.</a:t>
            </a:r>
          </a:p>
          <a:p>
            <a:pPr algn="just">
              <a:buNone/>
            </a:pPr>
            <a:r>
              <a:rPr dirty="0" sz="2800" lang="en-US" smtClean="0"/>
              <a:t>	</a:t>
            </a:r>
            <a:r>
              <a:rPr b="1" dirty="0" sz="2800" lang="en-US" smtClean="0">
                <a:solidFill>
                  <a:srgbClr val="7030A0"/>
                </a:solidFill>
              </a:rPr>
              <a:t>Physiological response to labour pain</a:t>
            </a:r>
          </a:p>
          <a:p>
            <a:pPr algn="just">
              <a:buFont typeface="Wingdings" pitchFamily="2" charset="2"/>
              <a:buChar char="v"/>
            </a:pPr>
            <a:r>
              <a:rPr dirty="0" sz="2800" lang="en-US" smtClean="0"/>
              <a:t>Body systems are generally affected by </a:t>
            </a:r>
            <a:r>
              <a:rPr dirty="0" sz="2800" lang="en-US" err="1" smtClean="0"/>
              <a:t>labour</a:t>
            </a:r>
            <a:r>
              <a:rPr dirty="0" sz="2800" lang="en-US" smtClean="0"/>
              <a:t> pain, but the following are clearly marked:-</a:t>
            </a:r>
          </a:p>
          <a:p>
            <a:pPr algn="just"/>
            <a:r>
              <a:rPr dirty="0" sz="2800" lang="en-US" smtClean="0"/>
              <a:t>Increase of the respiratory rate.</a:t>
            </a:r>
          </a:p>
          <a:p>
            <a:pPr algn="just">
              <a:buFont typeface="Courier New" pitchFamily="49" charset="0"/>
              <a:buChar char="o"/>
            </a:pPr>
            <a:r>
              <a:rPr dirty="0" sz="2800" lang="en-US" smtClean="0"/>
              <a:t>This leads to a decrease of PaCO2 level, hence rise in PH of blood. </a:t>
            </a:r>
          </a:p>
        </p:txBody>
      </p:sp>
      <p:sp>
        <p:nvSpPr>
          <p:cNvPr id="1049928"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253" name=""/>
        <p:cNvGrpSpPr/>
        <p:nvPr/>
      </p:nvGrpSpPr>
      <p:grpSpPr>
        <a:xfrm>
          <a:off x="0" y="0"/>
          <a:ext cx="0" cy="0"/>
          <a:chOff x="0" y="0"/>
          <a:chExt cx="0" cy="0"/>
        </a:xfrm>
      </p:grpSpPr>
      <p:sp>
        <p:nvSpPr>
          <p:cNvPr id="1049929" name="Content Placeholder 1"/>
          <p:cNvSpPr>
            <a:spLocks noGrp="1"/>
          </p:cNvSpPr>
          <p:nvPr>
            <p:ph idx="1"/>
          </p:nvPr>
        </p:nvSpPr>
        <p:spPr>
          <a:xfrm>
            <a:off x="0" y="533400"/>
            <a:ext cx="11430000" cy="6019800"/>
          </a:xfrm>
        </p:spPr>
        <p:txBody>
          <a:bodyPr>
            <a:noAutofit/>
          </a:bodyPr>
          <a:p>
            <a:pPr algn="just">
              <a:buFont typeface="Courier New" pitchFamily="49" charset="0"/>
              <a:buChar char="o"/>
            </a:pPr>
            <a:r>
              <a:rPr dirty="0" sz="2900" lang="en-US" smtClean="0"/>
              <a:t>Hyperventilation and breathing exercises also alters the acid-base equilibrium of the system , particularly in presence of exaggeration.</a:t>
            </a:r>
          </a:p>
          <a:p>
            <a:pPr algn="just">
              <a:buFont typeface="Courier New" pitchFamily="49" charset="0"/>
              <a:buChar char="o"/>
            </a:pPr>
            <a:r>
              <a:rPr dirty="0" sz="2900" lang="en-US" smtClean="0"/>
              <a:t>Alkalosis may affect the diffusion of oxygen across the placenta, leading to some degree of fetal hypoxia.</a:t>
            </a:r>
          </a:p>
          <a:p>
            <a:pPr algn="just"/>
            <a:r>
              <a:rPr dirty="0" sz="2900" lang="en-US" smtClean="0"/>
              <a:t>Increase of cardiac output.</a:t>
            </a:r>
          </a:p>
          <a:p>
            <a:pPr algn="just">
              <a:buFont typeface="Courier New" pitchFamily="49" charset="0"/>
              <a:buChar char="o"/>
            </a:pPr>
            <a:r>
              <a:rPr dirty="0" sz="2900" lang="en-US" smtClean="0"/>
              <a:t> Occurs in late 1</a:t>
            </a:r>
            <a:r>
              <a:rPr baseline="30000" dirty="0" sz="2900" lang="en-US" smtClean="0"/>
              <a:t>st</a:t>
            </a:r>
            <a:r>
              <a:rPr dirty="0" sz="2900" lang="en-US" smtClean="0"/>
              <a:t> stage &amp; in 2</a:t>
            </a:r>
            <a:r>
              <a:rPr baseline="30000" dirty="0" sz="2900" lang="en-US" smtClean="0"/>
              <a:t>nd</a:t>
            </a:r>
            <a:r>
              <a:rPr dirty="0" sz="2900" lang="en-US" smtClean="0"/>
              <a:t> stage.</a:t>
            </a:r>
          </a:p>
          <a:p>
            <a:pPr algn="just">
              <a:buFont typeface="Courier New" pitchFamily="49" charset="0"/>
              <a:buChar char="o"/>
            </a:pPr>
            <a:r>
              <a:rPr dirty="0" sz="2900" lang="en-US" smtClean="0"/>
              <a:t> Caused by return of about 250-300 ml of uterine blood to the maternal circulation with each contraction.</a:t>
            </a:r>
          </a:p>
          <a:p>
            <a:pPr algn="just">
              <a:buFont typeface="Courier New" pitchFamily="49" charset="0"/>
              <a:buChar char="o"/>
            </a:pPr>
            <a:r>
              <a:rPr dirty="0" sz="2900" lang="en-US" smtClean="0"/>
              <a:t> Other contributing factors are ; pain, apprehension etc, hence sympathetic response(uterine action reduces) .</a:t>
            </a:r>
            <a:endParaRPr dirty="0" sz="2900" lang="en-US"/>
          </a:p>
        </p:txBody>
      </p:sp>
      <p:sp>
        <p:nvSpPr>
          <p:cNvPr id="1049930"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254" name=""/>
        <p:cNvGrpSpPr/>
        <p:nvPr/>
      </p:nvGrpSpPr>
      <p:grpSpPr>
        <a:xfrm>
          <a:off x="0" y="0"/>
          <a:ext cx="0" cy="0"/>
          <a:chOff x="0" y="0"/>
          <a:chExt cx="0" cy="0"/>
        </a:xfrm>
      </p:grpSpPr>
      <p:sp>
        <p:nvSpPr>
          <p:cNvPr id="1049931" name="Content Placeholder 1"/>
          <p:cNvSpPr>
            <a:spLocks noGrp="1"/>
          </p:cNvSpPr>
          <p:nvPr>
            <p:ph idx="1"/>
          </p:nvPr>
        </p:nvSpPr>
        <p:spPr>
          <a:xfrm>
            <a:off x="152400" y="609600"/>
            <a:ext cx="10991850" cy="6019800"/>
          </a:xfrm>
        </p:spPr>
        <p:txBody>
          <a:bodyPr>
            <a:noAutofit/>
          </a:bodyPr>
          <a:p>
            <a:pPr algn="just">
              <a:buNone/>
            </a:pPr>
            <a:r>
              <a:rPr b="1" dirty="0" sz="2800" lang="en-US" smtClean="0">
                <a:solidFill>
                  <a:srgbClr val="FF0000"/>
                </a:solidFill>
              </a:rPr>
              <a:t>NB:  </a:t>
            </a:r>
            <a:r>
              <a:rPr dirty="0" sz="2800" lang="en-US" smtClean="0"/>
              <a:t>Uterine activity may reduce due to  the effect of adrenaline in the catecholamine, in which adrenaline (epinephrine) reduces  uterine blood flow. </a:t>
            </a:r>
          </a:p>
          <a:p>
            <a:pPr algn="just">
              <a:buNone/>
            </a:pPr>
            <a:r>
              <a:rPr b="1" dirty="0" sz="3200" lang="en-US" smtClean="0">
                <a:solidFill>
                  <a:srgbClr val="7030A0"/>
                </a:solidFill>
              </a:rPr>
              <a:t>Factors affecting her perception and reaction to pain</a:t>
            </a:r>
          </a:p>
          <a:p>
            <a:pPr algn="just"/>
            <a:r>
              <a:rPr dirty="0" sz="2800" i="1" lang="en-US" smtClean="0"/>
              <a:t>Cultural and social expectations.</a:t>
            </a:r>
          </a:p>
          <a:p>
            <a:pPr algn="just">
              <a:buFont typeface="Courier New" pitchFamily="49" charset="0"/>
              <a:buChar char="o"/>
            </a:pPr>
            <a:r>
              <a:rPr dirty="0" sz="2800" lang="en-US" smtClean="0"/>
              <a:t>Some cultures highly uphold stoicism while others encourages expression of pain both verbally &amp; non-verbally.</a:t>
            </a:r>
          </a:p>
          <a:p>
            <a:pPr algn="just">
              <a:buFont typeface="Courier New" pitchFamily="49" charset="0"/>
              <a:buChar char="o"/>
            </a:pPr>
            <a:r>
              <a:rPr dirty="0" sz="2800" lang="en-US" smtClean="0"/>
              <a:t>Socially a mother who has suffered pain and  hardship previously, definitely tends to exaggerate.</a:t>
            </a:r>
          </a:p>
          <a:p>
            <a:pPr algn="just"/>
            <a:endParaRPr dirty="0" sz="2800" lang="en-US"/>
          </a:p>
        </p:txBody>
      </p:sp>
      <p:sp>
        <p:nvSpPr>
          <p:cNvPr id="1049932"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255" name=""/>
        <p:cNvGrpSpPr/>
        <p:nvPr/>
      </p:nvGrpSpPr>
      <p:grpSpPr>
        <a:xfrm>
          <a:off x="0" y="0"/>
          <a:ext cx="0" cy="0"/>
          <a:chOff x="0" y="0"/>
          <a:chExt cx="0" cy="0"/>
        </a:xfrm>
      </p:grpSpPr>
      <p:sp>
        <p:nvSpPr>
          <p:cNvPr id="1049933" name="Content Placeholder 1"/>
          <p:cNvSpPr>
            <a:spLocks noGrp="1"/>
          </p:cNvSpPr>
          <p:nvPr>
            <p:ph idx="1"/>
          </p:nvPr>
        </p:nvSpPr>
        <p:spPr>
          <a:xfrm>
            <a:off x="285750" y="457200"/>
            <a:ext cx="10858500" cy="6096000"/>
          </a:xfrm>
        </p:spPr>
        <p:txBody>
          <a:bodyPr>
            <a:normAutofit/>
          </a:bodyPr>
          <a:p>
            <a:pPr algn="just"/>
            <a:r>
              <a:rPr dirty="0" sz="2900" i="1" lang="en-US" smtClean="0"/>
              <a:t>Fatigue:</a:t>
            </a:r>
            <a:r>
              <a:rPr dirty="0" sz="2900" lang="en-US" smtClean="0"/>
              <a:t>  due to perhaps several hours of labour,  from sleepless nights resulting from false labour  and discomforts.</a:t>
            </a:r>
          </a:p>
          <a:p>
            <a:pPr algn="just">
              <a:buFont typeface="Courier New" pitchFamily="49" charset="0"/>
              <a:buChar char="o"/>
            </a:pPr>
            <a:r>
              <a:rPr dirty="0" sz="2900" lang="en-US" smtClean="0"/>
              <a:t>So coping mechanism is severely distorted.</a:t>
            </a:r>
          </a:p>
          <a:p>
            <a:pPr algn="just"/>
            <a:r>
              <a:rPr dirty="0" sz="2900" i="1" lang="en-US" smtClean="0"/>
              <a:t>Personality:- </a:t>
            </a:r>
            <a:r>
              <a:rPr dirty="0" sz="2900" lang="en-US" smtClean="0"/>
              <a:t>A naturally tensed and anxious woman will cope less well than one who is relaxed and confident. More so if  social crisis e.g. unwanted pregnancy &amp; abusive relationship prevails.</a:t>
            </a:r>
          </a:p>
          <a:p>
            <a:pPr algn="just"/>
            <a:r>
              <a:rPr dirty="0" sz="2900" i="1" lang="en-US" smtClean="0"/>
              <a:t>Fear &amp; anxiety</a:t>
            </a:r>
            <a:r>
              <a:rPr dirty="0" sz="2900" lang="en-US" smtClean="0"/>
              <a:t>:- Source of fear could be, a previous bad experience, information gathered from other women  and doubts on the coping ability.</a:t>
            </a:r>
            <a:endParaRPr dirty="0" sz="2900" lang="en-US"/>
          </a:p>
        </p:txBody>
      </p:sp>
      <p:sp>
        <p:nvSpPr>
          <p:cNvPr id="1049934"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256" name=""/>
        <p:cNvGrpSpPr/>
        <p:nvPr/>
      </p:nvGrpSpPr>
      <p:grpSpPr>
        <a:xfrm>
          <a:off x="0" y="0"/>
          <a:ext cx="0" cy="0"/>
          <a:chOff x="0" y="0"/>
          <a:chExt cx="0" cy="0"/>
        </a:xfrm>
      </p:grpSpPr>
      <p:sp>
        <p:nvSpPr>
          <p:cNvPr id="1049935" name="Content Placeholder 1"/>
          <p:cNvSpPr>
            <a:spLocks noGrp="1"/>
          </p:cNvSpPr>
          <p:nvPr>
            <p:ph idx="1"/>
          </p:nvPr>
        </p:nvSpPr>
        <p:spPr>
          <a:xfrm>
            <a:off x="0" y="685800"/>
            <a:ext cx="11144250" cy="5867400"/>
          </a:xfrm>
        </p:spPr>
        <p:txBody>
          <a:bodyPr>
            <a:noAutofit/>
          </a:bodyPr>
          <a:p>
            <a:pPr algn="just">
              <a:buFont typeface="Courier New" pitchFamily="49" charset="0"/>
              <a:buChar char="o"/>
            </a:pPr>
            <a:r>
              <a:rPr dirty="0" sz="2800" lang="en-US" smtClean="0"/>
              <a:t>Anxiety will result from fear in which she either overreacts or be withdrawn.</a:t>
            </a:r>
          </a:p>
          <a:p>
            <a:pPr algn="just">
              <a:buFont typeface="Courier New" pitchFamily="49" charset="0"/>
              <a:buChar char="o"/>
            </a:pPr>
            <a:r>
              <a:rPr dirty="0" sz="2800" lang="en-US" smtClean="0"/>
              <a:t>Finally she doesn't effectively participate in the care hence becomes uncooperative.</a:t>
            </a:r>
          </a:p>
          <a:p>
            <a:pPr algn="just"/>
            <a:r>
              <a:rPr dirty="0" sz="2800" i="1" lang="en-US" smtClean="0"/>
              <a:t>Expectations:</a:t>
            </a:r>
            <a:r>
              <a:rPr dirty="0" sz="2800" lang="en-US" smtClean="0"/>
              <a:t>- Being realistic of the labour process makes the mother respond to the pain positively hence cope better.</a:t>
            </a:r>
          </a:p>
          <a:p>
            <a:pPr algn="just">
              <a:buNone/>
            </a:pPr>
            <a:r>
              <a:rPr b="1" dirty="0" sz="2800" lang="en-US" smtClean="0">
                <a:solidFill>
                  <a:srgbClr val="FF0000"/>
                </a:solidFill>
              </a:rPr>
              <a:t>NB</a:t>
            </a:r>
            <a:r>
              <a:rPr dirty="0" sz="2800" lang="en-US" smtClean="0"/>
              <a:t> </a:t>
            </a:r>
            <a:r>
              <a:rPr dirty="0" sz="2800" lang="en-US" err="1" smtClean="0"/>
              <a:t>i</a:t>
            </a:r>
            <a:r>
              <a:rPr dirty="0" sz="2800" lang="en-US" smtClean="0"/>
              <a:t>) General methods and concepts of pain  relief ought to be discussed during prenatal period.</a:t>
            </a:r>
          </a:p>
          <a:p>
            <a:pPr algn="just">
              <a:buNone/>
            </a:pPr>
            <a:r>
              <a:rPr dirty="0" sz="2800" lang="en-US" smtClean="0"/>
              <a:t>	  ii) Discuss labour  process prenatally to dispel fears and worries gathered from other </a:t>
            </a:r>
            <a:r>
              <a:rPr dirty="0" sz="2800" lang="en-US" err="1" smtClean="0"/>
              <a:t>parous</a:t>
            </a:r>
            <a:r>
              <a:rPr dirty="0" sz="2800" lang="en-US" smtClean="0"/>
              <a:t> women.</a:t>
            </a:r>
          </a:p>
          <a:p>
            <a:pPr algn="just">
              <a:buNone/>
            </a:pPr>
            <a:r>
              <a:rPr dirty="0" sz="2800" lang="en-US" smtClean="0"/>
              <a:t>	However, unbearable pain should be dealt with accordingly.</a:t>
            </a:r>
            <a:endParaRPr dirty="0" sz="2800" lang="en-US"/>
          </a:p>
        </p:txBody>
      </p:sp>
      <p:sp>
        <p:nvSpPr>
          <p:cNvPr id="1049936"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257" name=""/>
        <p:cNvGrpSpPr/>
        <p:nvPr/>
      </p:nvGrpSpPr>
      <p:grpSpPr>
        <a:xfrm>
          <a:off x="0" y="0"/>
          <a:ext cx="0" cy="0"/>
          <a:chOff x="0" y="0"/>
          <a:chExt cx="0" cy="0"/>
        </a:xfrm>
      </p:grpSpPr>
      <p:sp>
        <p:nvSpPr>
          <p:cNvPr id="1049937" name="Title 2"/>
          <p:cNvSpPr>
            <a:spLocks noGrp="1"/>
          </p:cNvSpPr>
          <p:nvPr>
            <p:ph type="title"/>
          </p:nvPr>
        </p:nvSpPr>
        <p:spPr>
          <a:xfrm>
            <a:off x="666750" y="228600"/>
            <a:ext cx="10287000" cy="1143000"/>
          </a:xfrm>
        </p:spPr>
        <p:txBody>
          <a:bodyPr>
            <a:normAutofit/>
          </a:bodyPr>
          <a:p>
            <a:r>
              <a:rPr b="1" dirty="0" lang="en-US" smtClean="0"/>
              <a:t>	</a:t>
            </a:r>
            <a:r>
              <a:rPr b="1" dirty="0" lang="en-US" smtClean="0">
                <a:solidFill>
                  <a:srgbClr val="7030A0"/>
                </a:solidFill>
              </a:rPr>
              <a:t> METHODS  OF PAIN  RELIEF</a:t>
            </a:r>
            <a:endParaRPr b="1" dirty="0" lang="en-US"/>
          </a:p>
        </p:txBody>
      </p:sp>
      <p:sp>
        <p:nvSpPr>
          <p:cNvPr id="1049938" name="Content Placeholder 1"/>
          <p:cNvSpPr>
            <a:spLocks noGrp="1"/>
          </p:cNvSpPr>
          <p:nvPr>
            <p:ph idx="1"/>
          </p:nvPr>
        </p:nvSpPr>
        <p:spPr>
          <a:xfrm>
            <a:off x="571500" y="1481328"/>
            <a:ext cx="10287000" cy="4995672"/>
          </a:xfrm>
        </p:spPr>
        <p:txBody>
          <a:bodyPr>
            <a:normAutofit/>
          </a:bodyPr>
          <a:p>
            <a:pPr algn="just">
              <a:buNone/>
            </a:pPr>
            <a:r>
              <a:rPr dirty="0" sz="3000" lang="en-US" smtClean="0"/>
              <a:t>	</a:t>
            </a:r>
            <a:r>
              <a:rPr dirty="0" sz="3000" lang="en-US" smtClean="0">
                <a:solidFill>
                  <a:srgbClr val="7030A0"/>
                </a:solidFill>
              </a:rPr>
              <a:t>	</a:t>
            </a:r>
            <a:r>
              <a:rPr b="1" dirty="0" sz="3000" lang="en-US" smtClean="0">
                <a:solidFill>
                  <a:srgbClr val="7030A0"/>
                </a:solidFill>
              </a:rPr>
              <a:t>I.Non-Pharmacological</a:t>
            </a:r>
          </a:p>
          <a:p>
            <a:pPr algn="just">
              <a:buFont typeface="Wingdings" pitchFamily="2" charset="2"/>
              <a:buChar char="v"/>
            </a:pPr>
            <a:r>
              <a:rPr dirty="0" sz="3000" lang="en-US" smtClean="0"/>
              <a:t>Don’t  require any form of drugs. They  include:-</a:t>
            </a:r>
          </a:p>
          <a:p>
            <a:pPr algn="just"/>
            <a:r>
              <a:rPr b="1" dirty="0" sz="3000" lang="en-US" smtClean="0"/>
              <a:t>Homeopathy: </a:t>
            </a:r>
            <a:r>
              <a:rPr dirty="0" sz="3000" lang="en-US" smtClean="0"/>
              <a:t>Prepared from plant extracts and from minerals.</a:t>
            </a:r>
          </a:p>
          <a:p>
            <a:pPr algn="just">
              <a:buFont typeface="Courier New" pitchFamily="49" charset="0"/>
              <a:buChar char="o"/>
            </a:pPr>
            <a:r>
              <a:rPr dirty="0" sz="3000" lang="en-US" smtClean="0"/>
              <a:t>The products  basically relieves anxiety &amp; back pain during labour.</a:t>
            </a:r>
          </a:p>
          <a:p>
            <a:pPr algn="just"/>
            <a:r>
              <a:rPr b="1" dirty="0" sz="3000" lang="en-US" smtClean="0"/>
              <a:t>Hydrotherapy</a:t>
            </a:r>
            <a:r>
              <a:rPr dirty="0" sz="3000" lang="en-US" smtClean="0"/>
              <a:t>: Refers to immersion in water during labour.</a:t>
            </a:r>
          </a:p>
          <a:p>
            <a:pPr algn="just"/>
            <a:r>
              <a:rPr b="1" dirty="0" sz="3000" lang="en-US" smtClean="0"/>
              <a:t>Music therapy</a:t>
            </a:r>
            <a:r>
              <a:rPr dirty="0" sz="3000" lang="en-US" smtClean="0"/>
              <a:t>: Soothing music is played in the unit.</a:t>
            </a:r>
            <a:endParaRPr dirty="0" sz="3000" lang="en-US"/>
          </a:p>
        </p:txBody>
      </p:sp>
      <p:sp>
        <p:nvSpPr>
          <p:cNvPr id="104993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258" name=""/>
        <p:cNvGrpSpPr/>
        <p:nvPr/>
      </p:nvGrpSpPr>
      <p:grpSpPr>
        <a:xfrm>
          <a:off x="0" y="0"/>
          <a:ext cx="0" cy="0"/>
          <a:chOff x="0" y="0"/>
          <a:chExt cx="0" cy="0"/>
        </a:xfrm>
      </p:grpSpPr>
      <p:sp>
        <p:nvSpPr>
          <p:cNvPr id="1049940" name="Content Placeholder 1"/>
          <p:cNvSpPr>
            <a:spLocks noGrp="1"/>
          </p:cNvSpPr>
          <p:nvPr>
            <p:ph idx="1"/>
          </p:nvPr>
        </p:nvSpPr>
        <p:spPr>
          <a:xfrm>
            <a:off x="571500" y="685800"/>
            <a:ext cx="10287000" cy="5791200"/>
          </a:xfrm>
        </p:spPr>
        <p:txBody>
          <a:bodyPr>
            <a:noAutofit/>
          </a:bodyPr>
          <a:p>
            <a:r>
              <a:rPr dirty="0" sz="3200" lang="en-US" smtClean="0"/>
              <a:t>Transcutaneous electric nerve stimulation (</a:t>
            </a:r>
            <a:r>
              <a:rPr b="1" dirty="0" sz="3200" lang="en-US" smtClean="0"/>
              <a:t>TENS)</a:t>
            </a:r>
            <a:r>
              <a:rPr dirty="0" sz="3200" lang="en-US" smtClean="0"/>
              <a:t>.</a:t>
            </a:r>
          </a:p>
          <a:p>
            <a:pPr indent="0" marL="0">
              <a:buNone/>
            </a:pPr>
            <a:r>
              <a:rPr b="1" dirty="0" sz="3200" lang="en-US" u="sng" smtClean="0"/>
              <a:t>Definition of TENS</a:t>
            </a:r>
          </a:p>
          <a:p>
            <a:r>
              <a:rPr dirty="0" sz="3200" lang="en-US" smtClean="0"/>
              <a:t>This is the </a:t>
            </a:r>
            <a:r>
              <a:rPr dirty="0" sz="3200" lang="en-US"/>
              <a:t>use of electric current produced by a device to stimulate the nerves for therapeutic purposes. </a:t>
            </a:r>
            <a:endParaRPr dirty="0" sz="3200" lang="en-US" smtClean="0"/>
          </a:p>
          <a:p>
            <a:r>
              <a:rPr dirty="0" sz="3200" lang="en-US" smtClean="0"/>
              <a:t>It relieves pain by counter-irritation on the nociceptors</a:t>
            </a:r>
          </a:p>
          <a:p>
            <a:r>
              <a:rPr dirty="0" sz="3200" lang="en-US" smtClean="0"/>
              <a:t>Two pairs of electrodes are placed on the woman’s back to coincide with T10 &amp; L1 nerve pathways.</a:t>
            </a:r>
          </a:p>
        </p:txBody>
      </p:sp>
      <p:sp>
        <p:nvSpPr>
          <p:cNvPr id="1049941"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259" name=""/>
        <p:cNvGrpSpPr/>
        <p:nvPr/>
      </p:nvGrpSpPr>
      <p:grpSpPr>
        <a:xfrm>
          <a:off x="0" y="0"/>
          <a:ext cx="0" cy="0"/>
          <a:chOff x="0" y="0"/>
          <a:chExt cx="0" cy="0"/>
        </a:xfrm>
      </p:grpSpPr>
      <p:sp>
        <p:nvSpPr>
          <p:cNvPr id="1049942" name="Content Placeholder 2"/>
          <p:cNvSpPr>
            <a:spLocks noGrp="1"/>
          </p:cNvSpPr>
          <p:nvPr>
            <p:ph idx="1"/>
          </p:nvPr>
        </p:nvSpPr>
        <p:spPr/>
        <p:txBody>
          <a:bodyPr/>
          <a:p>
            <a:pPr>
              <a:buNone/>
            </a:pPr>
            <a:endParaRPr dirty="0" lang="en-US" smtClean="0"/>
          </a:p>
          <a:p>
            <a:endParaRPr dirty="0" lang="en-US"/>
          </a:p>
        </p:txBody>
      </p:sp>
      <p:pic>
        <p:nvPicPr>
          <p:cNvPr id="2097166" name="Picture 3" descr="https://upload.wikimedia.org/wikipedia/commons/thumb/6/6b/Tens.jpg/230px-Tens.jpg">
            <a:hlinkClick r:id="rId1"/>
          </p:cNvPr>
          <p:cNvPicPr>
            <a:picLocks/>
          </p:cNvPicPr>
          <p:nvPr/>
        </p:nvPicPr>
        <p:blipFill>
          <a:blip xmlns:r="http://schemas.openxmlformats.org/officeDocument/2006/relationships" r:embed="rId2" cstate="print"/>
          <a:srcRect/>
          <a:stretch>
            <a:fillRect/>
          </a:stretch>
        </p:blipFill>
        <p:spPr bwMode="auto">
          <a:xfrm>
            <a:off x="8" y="685807"/>
            <a:ext cx="11429999" cy="6172199"/>
          </a:xfrm>
          <a:prstGeom prst="rect"/>
          <a:noFill/>
          <a:ln w="9525">
            <a:noFill/>
            <a:miter lim="800000"/>
            <a:headEnd/>
            <a:tailEnd/>
          </a:ln>
        </p:spPr>
      </p:pic>
      <p:sp>
        <p:nvSpPr>
          <p:cNvPr id="1049943" name="TextBox 4"/>
          <p:cNvSpPr txBox="1"/>
          <p:nvPr/>
        </p:nvSpPr>
        <p:spPr>
          <a:xfrm>
            <a:off x="0" y="762001"/>
            <a:ext cx="3714750" cy="369332"/>
          </a:xfrm>
          <a:prstGeom prst="rect"/>
          <a:noFill/>
        </p:spPr>
        <p:txBody>
          <a:bodyPr rtlCol="0" wrap="square">
            <a:spAutoFit/>
          </a:bodyPr>
          <a:p>
            <a:r>
              <a:rPr b="1" dirty="0" i="1" lang="en-US" smtClean="0"/>
              <a:t>A four-lead TENS unit</a:t>
            </a:r>
            <a:endParaRPr b="1" dirty="0" i="1" lang="en-US"/>
          </a:p>
        </p:txBody>
      </p:sp>
      <p:sp>
        <p:nvSpPr>
          <p:cNvPr id="104994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med">
    <p:fade/>
  </p:transition>
  <p:timing/>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260" name=""/>
        <p:cNvGrpSpPr/>
        <p:nvPr/>
      </p:nvGrpSpPr>
      <p:grpSpPr>
        <a:xfrm>
          <a:off x="0" y="0"/>
          <a:ext cx="0" cy="0"/>
          <a:chOff x="0" y="0"/>
          <a:chExt cx="0" cy="0"/>
        </a:xfrm>
      </p:grpSpPr>
      <p:sp>
        <p:nvSpPr>
          <p:cNvPr id="1049945" name="Title 1"/>
          <p:cNvSpPr>
            <a:spLocks noGrp="1"/>
          </p:cNvSpPr>
          <p:nvPr>
            <p:ph type="title"/>
          </p:nvPr>
        </p:nvSpPr>
        <p:spPr/>
        <p:txBody>
          <a:bodyPr>
            <a:normAutofit fontScale="90000"/>
          </a:bodyPr>
          <a:p>
            <a:r>
              <a:rPr b="1" dirty="0" lang="en-US" smtClean="0"/>
              <a:t>Medical uses of TENS</a:t>
            </a:r>
            <a:r>
              <a:rPr dirty="0" lang="en-US" smtClean="0"/>
              <a:t/>
            </a:r>
            <a:br>
              <a:rPr dirty="0" lang="en-US" smtClean="0"/>
            </a:br>
            <a:endParaRPr dirty="0" lang="en-US"/>
          </a:p>
        </p:txBody>
      </p:sp>
      <p:sp>
        <p:nvSpPr>
          <p:cNvPr id="1049946" name="Content Placeholder 2"/>
          <p:cNvSpPr>
            <a:spLocks noGrp="1"/>
          </p:cNvSpPr>
          <p:nvPr>
            <p:ph idx="1"/>
          </p:nvPr>
        </p:nvSpPr>
        <p:spPr/>
        <p:txBody>
          <a:bodyPr/>
          <a:p>
            <a:r>
              <a:rPr b="1" dirty="0" lang="en-US" err="1" smtClean="0"/>
              <a:t>Labour</a:t>
            </a:r>
            <a:r>
              <a:rPr b="1" dirty="0" lang="en-US" smtClean="0"/>
              <a:t> Pain reduction.</a:t>
            </a:r>
            <a:endParaRPr dirty="0" lang="en-US" smtClean="0"/>
          </a:p>
          <a:p>
            <a:pPr>
              <a:buNone/>
            </a:pPr>
            <a:r>
              <a:rPr dirty="0" lang="en-US" smtClean="0"/>
              <a:t>TENS is a non-invasive, low-risk nerve stimulation intended to reduce </a:t>
            </a:r>
            <a:r>
              <a:rPr dirty="0" lang="en-US" err="1" smtClean="0"/>
              <a:t>labour</a:t>
            </a:r>
            <a:r>
              <a:rPr dirty="0" lang="en-US" smtClean="0"/>
              <a:t> pain. </a:t>
            </a:r>
            <a:endParaRPr dirty="0" lang="en-US"/>
          </a:p>
        </p:txBody>
      </p:sp>
      <p:sp>
        <p:nvSpPr>
          <p:cNvPr id="104994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med">
    <p:fade/>
  </p:transition>
  <p:timing/>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261" name=""/>
        <p:cNvGrpSpPr/>
        <p:nvPr/>
      </p:nvGrpSpPr>
      <p:grpSpPr>
        <a:xfrm>
          <a:off x="0" y="0"/>
          <a:ext cx="0" cy="0"/>
          <a:chOff x="0" y="0"/>
          <a:chExt cx="0" cy="0"/>
        </a:xfrm>
      </p:grpSpPr>
      <p:sp>
        <p:nvSpPr>
          <p:cNvPr id="1049948" name="Title 1"/>
          <p:cNvSpPr>
            <a:spLocks noGrp="1"/>
          </p:cNvSpPr>
          <p:nvPr>
            <p:ph type="title"/>
          </p:nvPr>
        </p:nvSpPr>
        <p:spPr/>
        <p:txBody>
          <a:bodyPr>
            <a:normAutofit fontScale="90000"/>
          </a:bodyPr>
          <a:p>
            <a:r>
              <a:rPr b="1" dirty="0" lang="en-US" smtClean="0"/>
              <a:t>Safety measures when using TENS</a:t>
            </a:r>
            <a:r>
              <a:rPr dirty="0" lang="en-US" smtClean="0"/>
              <a:t/>
            </a:r>
            <a:br>
              <a:rPr dirty="0" lang="en-US" smtClean="0"/>
            </a:br>
            <a:endParaRPr dirty="0" lang="en-US"/>
          </a:p>
        </p:txBody>
      </p:sp>
      <p:sp>
        <p:nvSpPr>
          <p:cNvPr id="1049949" name="Content Placeholder 2"/>
          <p:cNvSpPr>
            <a:spLocks noGrp="1"/>
          </p:cNvSpPr>
          <p:nvPr>
            <p:ph idx="1"/>
          </p:nvPr>
        </p:nvSpPr>
        <p:spPr>
          <a:xfrm>
            <a:off x="285750" y="1143000"/>
            <a:ext cx="10858500" cy="5486400"/>
          </a:xfrm>
        </p:spPr>
        <p:txBody>
          <a:bodyPr>
            <a:normAutofit/>
          </a:bodyPr>
          <a:p>
            <a:pPr algn="just">
              <a:buNone/>
            </a:pPr>
            <a:r>
              <a:rPr dirty="0" sz="3200" i="1" lang="en-US" smtClean="0"/>
              <a:t>TENS electrodes should never be placed:</a:t>
            </a:r>
          </a:p>
          <a:p>
            <a:pPr algn="just" lvl="0"/>
            <a:r>
              <a:rPr dirty="0" sz="3200" lang="en-US" smtClean="0"/>
              <a:t>Over the eyes due to the risk of increasing intraocular pressure</a:t>
            </a:r>
          </a:p>
          <a:p>
            <a:pPr algn="just" lvl="0"/>
            <a:r>
              <a:rPr dirty="0" sz="3200" lang="en-US" smtClean="0"/>
              <a:t>Transcerebrally</a:t>
            </a:r>
          </a:p>
          <a:p>
            <a:pPr algn="just" lvl="0"/>
            <a:r>
              <a:rPr dirty="0" sz="3200" lang="en-US" smtClean="0"/>
              <a:t>On the front of the neck due to the risk of an acute hypotension (through a vasovagal reflex) or even a laryngospasm</a:t>
            </a:r>
          </a:p>
          <a:p>
            <a:pPr algn="just" lvl="0"/>
            <a:r>
              <a:rPr dirty="0" sz="3200" lang="en-US" smtClean="0"/>
              <a:t>Through the chest using an anterior and posterior electrode positions</a:t>
            </a:r>
          </a:p>
          <a:p>
            <a:pPr algn="just"/>
            <a:endParaRPr dirty="0" sz="3200" lang="en-US"/>
          </a:p>
        </p:txBody>
      </p:sp>
      <p:sp>
        <p:nvSpPr>
          <p:cNvPr id="104995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med">
    <p:fade/>
  </p:transition>
  <p:timing/>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262" name=""/>
        <p:cNvGrpSpPr/>
        <p:nvPr/>
      </p:nvGrpSpPr>
      <p:grpSpPr>
        <a:xfrm>
          <a:off x="0" y="0"/>
          <a:ext cx="0" cy="0"/>
          <a:chOff x="0" y="0"/>
          <a:chExt cx="0" cy="0"/>
        </a:xfrm>
      </p:grpSpPr>
      <p:sp>
        <p:nvSpPr>
          <p:cNvPr id="1049951" name="Title 1"/>
          <p:cNvSpPr>
            <a:spLocks noGrp="1"/>
          </p:cNvSpPr>
          <p:nvPr>
            <p:ph type="title"/>
          </p:nvPr>
        </p:nvSpPr>
        <p:spPr/>
        <p:txBody>
          <a:bodyPr/>
          <a:p>
            <a:r>
              <a:rPr dirty="0" lang="en-US" smtClean="0"/>
              <a:t>Sefety cntd…</a:t>
            </a:r>
            <a:endParaRPr dirty="0" lang="en-US"/>
          </a:p>
        </p:txBody>
      </p:sp>
      <p:sp>
        <p:nvSpPr>
          <p:cNvPr id="1049952" name="Content Placeholder 2"/>
          <p:cNvSpPr>
            <a:spLocks noGrp="1"/>
          </p:cNvSpPr>
          <p:nvPr>
            <p:ph idx="1"/>
          </p:nvPr>
        </p:nvSpPr>
        <p:spPr/>
        <p:txBody>
          <a:bodyPr>
            <a:normAutofit/>
          </a:bodyPr>
          <a:p>
            <a:pPr algn="just" lvl="0"/>
            <a:r>
              <a:rPr dirty="0" sz="3200" lang="en-US" smtClean="0"/>
              <a:t>Internally, except for specific applications of dental, vaginal, and anal stimulation that employ specialized TENS units</a:t>
            </a:r>
          </a:p>
          <a:p>
            <a:pPr algn="just" lvl="0"/>
            <a:r>
              <a:rPr dirty="0" sz="3200" lang="en-US" smtClean="0"/>
              <a:t>On broken skin areas or wounds. </a:t>
            </a:r>
          </a:p>
          <a:p>
            <a:pPr algn="just" lvl="0"/>
            <a:r>
              <a:rPr dirty="0" sz="3200" lang="en-US" smtClean="0"/>
              <a:t>Over a </a:t>
            </a:r>
            <a:r>
              <a:rPr dirty="0" sz="3200" lang="en-US" err="1" smtClean="0"/>
              <a:t>tumour</a:t>
            </a:r>
            <a:r>
              <a:rPr dirty="0" sz="3200" lang="en-US" smtClean="0"/>
              <a:t>/malignancy (electricity promotes cell growth) </a:t>
            </a:r>
          </a:p>
          <a:p>
            <a:pPr algn="just" lvl="0"/>
            <a:r>
              <a:rPr dirty="0" sz="3200" lang="en-US" smtClean="0"/>
              <a:t>Directly over the spinal column</a:t>
            </a:r>
          </a:p>
          <a:p>
            <a:pPr algn="just"/>
            <a:endParaRPr dirty="0" sz="3200" lang="en-US"/>
          </a:p>
        </p:txBody>
      </p:sp>
      <p:sp>
        <p:nvSpPr>
          <p:cNvPr id="104995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med">
    <p:fade/>
  </p:transition>
  <p:timing/>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263" name=""/>
        <p:cNvGrpSpPr/>
        <p:nvPr/>
      </p:nvGrpSpPr>
      <p:grpSpPr>
        <a:xfrm>
          <a:off x="0" y="0"/>
          <a:ext cx="0" cy="0"/>
          <a:chOff x="0" y="0"/>
          <a:chExt cx="0" cy="0"/>
        </a:xfrm>
      </p:grpSpPr>
      <p:sp>
        <p:nvSpPr>
          <p:cNvPr id="1049954" name="Content Placeholder 2"/>
          <p:cNvSpPr>
            <a:spLocks noGrp="1"/>
          </p:cNvSpPr>
          <p:nvPr>
            <p:ph idx="1"/>
          </p:nvPr>
        </p:nvSpPr>
        <p:spPr>
          <a:xfrm>
            <a:off x="571500" y="990600"/>
            <a:ext cx="10287000" cy="5334000"/>
          </a:xfrm>
        </p:spPr>
        <p:txBody>
          <a:bodyPr>
            <a:normAutofit/>
          </a:bodyPr>
          <a:p>
            <a:pPr algn="just"/>
            <a:r>
              <a:rPr b="1" dirty="0" sz="3200" lang="en-US"/>
              <a:t>Psychological</a:t>
            </a:r>
            <a:r>
              <a:rPr dirty="0" sz="3200" lang="en-US"/>
              <a:t> / Nursing methods</a:t>
            </a:r>
          </a:p>
          <a:p>
            <a:pPr algn="just">
              <a:buFont typeface="Courier New" pitchFamily="49" charset="0"/>
              <a:buChar char="o"/>
            </a:pPr>
            <a:r>
              <a:rPr dirty="0" sz="3200" lang="en-US"/>
              <a:t> Control is through  various activities and merely keeping her company. Specific steps are:</a:t>
            </a:r>
          </a:p>
          <a:p>
            <a:pPr algn="just">
              <a:buFont typeface="Courier New" pitchFamily="49" charset="0"/>
              <a:buChar char="o"/>
            </a:pPr>
            <a:r>
              <a:rPr dirty="0" sz="3200" lang="en-US"/>
              <a:t> Rubbing ( touch &amp;massage) of the lumbar- sacral region in a  circular massage during a contraction.</a:t>
            </a:r>
          </a:p>
          <a:p>
            <a:pPr algn="just">
              <a:buFont typeface="Wingdings" pitchFamily="2" charset="2"/>
              <a:buChar char="v"/>
            </a:pPr>
            <a:r>
              <a:rPr dirty="0" sz="3200" lang="en-US"/>
              <a:t>Example of  massage methods are, vibration, stroking and continuous steady pressure at a </a:t>
            </a:r>
            <a:r>
              <a:rPr dirty="0" sz="3200" lang="en-US" err="1"/>
              <a:t>localised</a:t>
            </a:r>
            <a:r>
              <a:rPr dirty="0" sz="3200" lang="en-US"/>
              <a:t> area on the lower back.</a:t>
            </a:r>
          </a:p>
          <a:p>
            <a:pPr algn="just">
              <a:buFont typeface="Courier New" pitchFamily="49" charset="0"/>
              <a:buChar char="o"/>
            </a:pPr>
            <a:r>
              <a:rPr dirty="0" sz="3200" lang="en-US"/>
              <a:t>Encourage relaxation when a contraction passes out. </a:t>
            </a:r>
          </a:p>
          <a:p>
            <a:pPr algn="just"/>
            <a:endParaRPr dirty="0" sz="3200" lang="en-US"/>
          </a:p>
        </p:txBody>
      </p:sp>
      <p:sp>
        <p:nvSpPr>
          <p:cNvPr id="104995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264" name=""/>
        <p:cNvGrpSpPr/>
        <p:nvPr/>
      </p:nvGrpSpPr>
      <p:grpSpPr>
        <a:xfrm>
          <a:off x="0" y="0"/>
          <a:ext cx="0" cy="0"/>
          <a:chOff x="0" y="0"/>
          <a:chExt cx="0" cy="0"/>
        </a:xfrm>
      </p:grpSpPr>
      <p:sp>
        <p:nvSpPr>
          <p:cNvPr id="1049956" name="Content Placeholder 1"/>
          <p:cNvSpPr>
            <a:spLocks noGrp="1"/>
          </p:cNvSpPr>
          <p:nvPr>
            <p:ph idx="1"/>
          </p:nvPr>
        </p:nvSpPr>
        <p:spPr>
          <a:xfrm>
            <a:off x="571500" y="685808"/>
            <a:ext cx="10287000" cy="5445127"/>
          </a:xfrm>
        </p:spPr>
        <p:txBody>
          <a:bodyPr>
            <a:normAutofit/>
          </a:bodyPr>
          <a:p>
            <a:pPr>
              <a:buFont typeface="Wingdings" pitchFamily="2" charset="2"/>
              <a:buChar char="ü"/>
            </a:pPr>
            <a:r>
              <a:rPr dirty="0" sz="2800" lang="en-US" smtClean="0"/>
              <a:t> Relaxation lessens muscle tension and also distracts attention from the contraction.</a:t>
            </a:r>
          </a:p>
          <a:p>
            <a:pPr>
              <a:buFont typeface="Courier New" pitchFamily="49" charset="0"/>
              <a:buChar char="o"/>
            </a:pPr>
            <a:r>
              <a:rPr dirty="0" sz="2800" lang="en-US" smtClean="0"/>
              <a:t> Keep her updated  of the progress hence is encourage to bear positively.</a:t>
            </a:r>
          </a:p>
          <a:p>
            <a:pPr>
              <a:buFont typeface="Courier New" pitchFamily="49" charset="0"/>
              <a:buChar char="o"/>
            </a:pPr>
            <a:r>
              <a:rPr dirty="0" sz="2800" lang="en-US" smtClean="0"/>
              <a:t> Encourage change of position </a:t>
            </a:r>
            <a:r>
              <a:rPr dirty="0" sz="2800" lang="en-US" err="1" smtClean="0"/>
              <a:t>e.g</a:t>
            </a:r>
            <a:r>
              <a:rPr dirty="0" sz="2800" lang="en-US" smtClean="0"/>
              <a:t>  to stand and lean forward over the bed, sitting upright on a chair and walking around. Relieves back pain caused by pressure of the </a:t>
            </a:r>
            <a:r>
              <a:rPr dirty="0" sz="2800" lang="en-US" err="1" smtClean="0"/>
              <a:t>occiput</a:t>
            </a:r>
            <a:r>
              <a:rPr dirty="0" sz="2800" lang="en-US" smtClean="0"/>
              <a:t> on the sacrum.</a:t>
            </a:r>
          </a:p>
          <a:p>
            <a:pPr>
              <a:buFont typeface="Courier New" pitchFamily="49" charset="0"/>
              <a:buChar char="o"/>
            </a:pPr>
            <a:r>
              <a:rPr dirty="0" sz="2800" lang="en-US" smtClean="0"/>
              <a:t> Encourage  her to breathe normally through the open mouth during a contraction, hence prevent premature bearing down.</a:t>
            </a:r>
            <a:endParaRPr dirty="0" sz="2800" lang="en-US"/>
          </a:p>
        </p:txBody>
      </p:sp>
      <p:sp>
        <p:nvSpPr>
          <p:cNvPr id="1049957"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265" name=""/>
        <p:cNvGrpSpPr/>
        <p:nvPr/>
      </p:nvGrpSpPr>
      <p:grpSpPr>
        <a:xfrm>
          <a:off x="0" y="0"/>
          <a:ext cx="0" cy="0"/>
          <a:chOff x="0" y="0"/>
          <a:chExt cx="0" cy="0"/>
        </a:xfrm>
      </p:grpSpPr>
      <p:sp>
        <p:nvSpPr>
          <p:cNvPr id="1049958" name="Title 2"/>
          <p:cNvSpPr>
            <a:spLocks noGrp="1"/>
          </p:cNvSpPr>
          <p:nvPr>
            <p:ph type="title"/>
          </p:nvPr>
        </p:nvSpPr>
        <p:spPr>
          <a:xfrm>
            <a:off x="571500" y="9"/>
            <a:ext cx="10287000" cy="1295399"/>
          </a:xfrm>
        </p:spPr>
        <p:txBody>
          <a:bodyPr>
            <a:normAutofit fontScale="90000"/>
          </a:bodyPr>
          <a:p>
            <a:pPr algn="ctr"/>
            <a:r>
              <a:rPr b="1" dirty="0" lang="en-US" smtClean="0"/>
              <a:t>		</a:t>
            </a:r>
            <a:br>
              <a:rPr b="1" dirty="0" lang="en-US" smtClean="0"/>
            </a:br>
            <a:r>
              <a:rPr b="1" dirty="0" lang="en-US" smtClean="0"/>
              <a:t>	</a:t>
            </a:r>
            <a:br>
              <a:rPr b="1" dirty="0" lang="en-US" smtClean="0"/>
            </a:br>
            <a:r>
              <a:rPr b="1" dirty="0" lang="en-US"/>
              <a:t/>
            </a:r>
            <a:br>
              <a:rPr b="1" dirty="0" lang="en-US"/>
            </a:br>
            <a:r>
              <a:rPr b="1" dirty="0" lang="en-US" smtClean="0">
                <a:solidFill>
                  <a:srgbClr val="7030A0"/>
                </a:solidFill>
              </a:rPr>
              <a:t>II. Pharmacological</a:t>
            </a:r>
            <a:br>
              <a:rPr b="1" dirty="0" lang="en-US" smtClean="0">
                <a:solidFill>
                  <a:srgbClr val="7030A0"/>
                </a:solidFill>
              </a:rPr>
            </a:br>
            <a:endParaRPr b="1" dirty="0" lang="en-US"/>
          </a:p>
        </p:txBody>
      </p:sp>
      <p:sp>
        <p:nvSpPr>
          <p:cNvPr id="1049959" name="Content Placeholder 1"/>
          <p:cNvSpPr>
            <a:spLocks noGrp="1"/>
          </p:cNvSpPr>
          <p:nvPr>
            <p:ph idx="1"/>
          </p:nvPr>
        </p:nvSpPr>
        <p:spPr>
          <a:xfrm>
            <a:off x="190500" y="762000"/>
            <a:ext cx="11049000" cy="5791200"/>
          </a:xfrm>
        </p:spPr>
        <p:txBody>
          <a:bodyPr>
            <a:noAutofit/>
          </a:bodyPr>
          <a:p>
            <a:pPr algn="just">
              <a:buFont typeface="Wingdings" pitchFamily="2" charset="2"/>
              <a:buChar char="v"/>
            </a:pPr>
            <a:r>
              <a:rPr dirty="0" sz="3200" lang="en-US" smtClean="0"/>
              <a:t>Systemic as well as regional analgesia are administered.</a:t>
            </a:r>
          </a:p>
          <a:p>
            <a:pPr algn="just">
              <a:buNone/>
            </a:pPr>
            <a:r>
              <a:rPr dirty="0" sz="3200" lang="en-US" smtClean="0"/>
              <a:t>	</a:t>
            </a:r>
            <a:r>
              <a:rPr b="1" dirty="0" sz="3200" lang="en-US" smtClean="0"/>
              <a:t>1.SYSTEMIC DRUGS:-</a:t>
            </a:r>
          </a:p>
          <a:p>
            <a:pPr algn="just"/>
            <a:r>
              <a:rPr dirty="0" sz="3200" lang="en-US" smtClean="0"/>
              <a:t> Commonly used are ,opiates/narcotics, antispasmodics and sedatives.</a:t>
            </a:r>
          </a:p>
          <a:p>
            <a:pPr algn="just"/>
            <a:r>
              <a:rPr dirty="0" sz="3200" lang="en-US" smtClean="0"/>
              <a:t>The drug should not affect  the contractions, fetal and maternal condition.</a:t>
            </a:r>
          </a:p>
          <a:p>
            <a:pPr algn="just"/>
            <a:r>
              <a:rPr dirty="0" sz="3200" lang="en-US" smtClean="0"/>
              <a:t>So before its administration, establish whether the client has:- intolerable pain, is anxious or in a state of insomnia. </a:t>
            </a:r>
          </a:p>
          <a:p>
            <a:pPr algn="just"/>
            <a:r>
              <a:rPr dirty="0" sz="3200" lang="en-US" smtClean="0"/>
              <a:t>Determine progress of labour as well. </a:t>
            </a:r>
            <a:endParaRPr dirty="0" sz="3200" lang="en-US"/>
          </a:p>
        </p:txBody>
      </p:sp>
      <p:sp>
        <p:nvSpPr>
          <p:cNvPr id="104996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266" name=""/>
        <p:cNvGrpSpPr/>
        <p:nvPr/>
      </p:nvGrpSpPr>
      <p:grpSpPr>
        <a:xfrm>
          <a:off x="0" y="0"/>
          <a:ext cx="0" cy="0"/>
          <a:chOff x="0" y="0"/>
          <a:chExt cx="0" cy="0"/>
        </a:xfrm>
      </p:grpSpPr>
      <p:sp>
        <p:nvSpPr>
          <p:cNvPr id="1049961" name="Content Placeholder 1"/>
          <p:cNvSpPr>
            <a:spLocks noGrp="1"/>
          </p:cNvSpPr>
          <p:nvPr>
            <p:ph idx="1"/>
          </p:nvPr>
        </p:nvSpPr>
        <p:spPr>
          <a:xfrm>
            <a:off x="381000" y="685800"/>
            <a:ext cx="10477500" cy="5715000"/>
          </a:xfrm>
        </p:spPr>
        <p:txBody>
          <a:bodyPr>
            <a:noAutofit/>
          </a:bodyPr>
          <a:p>
            <a:pPr algn="just"/>
            <a:r>
              <a:rPr dirty="0" sz="3200" lang="en-US" smtClean="0"/>
              <a:t>Narcotics are recommended in intolerable pain, </a:t>
            </a:r>
            <a:r>
              <a:rPr dirty="0" sz="3200" lang="en-US" err="1" smtClean="0"/>
              <a:t>e.g</a:t>
            </a:r>
            <a:r>
              <a:rPr dirty="0" sz="3200" lang="en-US" smtClean="0"/>
              <a:t> pethidine, </a:t>
            </a:r>
            <a:r>
              <a:rPr dirty="0" sz="3200" lang="en-US" err="1" smtClean="0"/>
              <a:t>diamorphine</a:t>
            </a:r>
            <a:r>
              <a:rPr dirty="0" sz="3200" lang="en-US" smtClean="0"/>
              <a:t>, tramadol and diclofenac; route parentally.</a:t>
            </a:r>
          </a:p>
          <a:p>
            <a:pPr algn="just">
              <a:buFont typeface="Courier New" pitchFamily="49" charset="0"/>
              <a:buChar char="o"/>
            </a:pPr>
            <a:r>
              <a:rPr dirty="0" sz="3200" lang="en-US" smtClean="0"/>
              <a:t>Pethidine is commonly used, for its safe administration ensure :</a:t>
            </a:r>
          </a:p>
          <a:p>
            <a:pPr algn="just">
              <a:buFont typeface="Wingdings" pitchFamily="2" charset="2"/>
              <a:buChar char="ü"/>
            </a:pPr>
            <a:r>
              <a:rPr dirty="0" sz="3200" lang="en-US" smtClean="0"/>
              <a:t> Fetal condition is satisfactory because it leads to some degree of fetal hypoxia.</a:t>
            </a:r>
          </a:p>
          <a:p>
            <a:pPr algn="just">
              <a:buFont typeface="Wingdings" pitchFamily="2" charset="2"/>
              <a:buChar char="ü"/>
            </a:pPr>
            <a:r>
              <a:rPr dirty="0" sz="3200" lang="en-US" smtClean="0"/>
              <a:t>Delivery is not expected in the next 2 hrs since its relaxation &amp; sedative effects leads to prolonged labour.</a:t>
            </a:r>
          </a:p>
          <a:p>
            <a:pPr algn="just">
              <a:buFont typeface="Wingdings" pitchFamily="2" charset="2"/>
              <a:buChar char="ü"/>
            </a:pPr>
            <a:r>
              <a:rPr dirty="0" sz="3200" lang="en-US" smtClean="0"/>
              <a:t>Fetus must be mature because it has a respiratory depression effect. </a:t>
            </a:r>
          </a:p>
        </p:txBody>
      </p:sp>
      <p:sp>
        <p:nvSpPr>
          <p:cNvPr id="1049962"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267" name=""/>
        <p:cNvGrpSpPr/>
        <p:nvPr/>
      </p:nvGrpSpPr>
      <p:grpSpPr>
        <a:xfrm>
          <a:off x="0" y="0"/>
          <a:ext cx="0" cy="0"/>
          <a:chOff x="0" y="0"/>
          <a:chExt cx="0" cy="0"/>
        </a:xfrm>
      </p:grpSpPr>
      <p:sp>
        <p:nvSpPr>
          <p:cNvPr id="1049963" name="Title 2"/>
          <p:cNvSpPr>
            <a:spLocks noGrp="1"/>
          </p:cNvSpPr>
          <p:nvPr>
            <p:ph type="title"/>
          </p:nvPr>
        </p:nvSpPr>
        <p:spPr>
          <a:xfrm>
            <a:off x="571500" y="1"/>
            <a:ext cx="10287000" cy="914400"/>
          </a:xfrm>
        </p:spPr>
        <p:txBody>
          <a:bodyPr/>
          <a:p>
            <a:r>
              <a:rPr b="1" dirty="0" lang="en-US" smtClean="0"/>
              <a:t>	 2.REGIONAL  ANALGESIA</a:t>
            </a:r>
            <a:endParaRPr b="1" dirty="0" lang="en-US"/>
          </a:p>
        </p:txBody>
      </p:sp>
      <p:sp>
        <p:nvSpPr>
          <p:cNvPr id="1049964" name="Content Placeholder 1"/>
          <p:cNvSpPr>
            <a:spLocks noGrp="1"/>
          </p:cNvSpPr>
          <p:nvPr>
            <p:ph idx="1"/>
          </p:nvPr>
        </p:nvSpPr>
        <p:spPr>
          <a:xfrm>
            <a:off x="190500" y="838200"/>
            <a:ext cx="11239500" cy="6019800"/>
          </a:xfrm>
        </p:spPr>
        <p:txBody>
          <a:bodyPr>
            <a:noAutofit/>
          </a:bodyPr>
          <a:p>
            <a:pPr algn="just"/>
            <a:r>
              <a:rPr dirty="0" sz="3000" lang="en-US" smtClean="0"/>
              <a:t>The administered medication eradicates sensation of pain and sometimes other stimuli from the targeted areas without bringing about unconsciousness.</a:t>
            </a:r>
          </a:p>
          <a:p>
            <a:pPr algn="just">
              <a:buNone/>
            </a:pPr>
            <a:r>
              <a:rPr dirty="0" sz="3000" lang="en-US" smtClean="0"/>
              <a:t>	</a:t>
            </a:r>
            <a:r>
              <a:rPr dirty="0" sz="3000" lang="en-US" smtClean="0">
                <a:solidFill>
                  <a:schemeClr val="accent3">
                    <a:lumMod val="50000"/>
                  </a:schemeClr>
                </a:solidFill>
              </a:rPr>
              <a:t>	</a:t>
            </a:r>
            <a:r>
              <a:rPr b="1" dirty="0" sz="3000" lang="en-US" u="sng" smtClean="0">
                <a:solidFill>
                  <a:schemeClr val="accent3">
                    <a:lumMod val="50000"/>
                  </a:schemeClr>
                </a:solidFill>
              </a:rPr>
              <a:t>Epidural  analgesia</a:t>
            </a:r>
          </a:p>
          <a:p>
            <a:pPr algn="just"/>
            <a:r>
              <a:rPr dirty="0" sz="3000" lang="en-US" smtClean="0"/>
              <a:t>Recommended from a dilatation of 8 cm to avoid neurological damage with prolonged use.</a:t>
            </a:r>
          </a:p>
          <a:p>
            <a:pPr algn="just"/>
            <a:r>
              <a:rPr dirty="0" sz="3000" lang="en-US" smtClean="0"/>
              <a:t>Local </a:t>
            </a:r>
            <a:r>
              <a:rPr dirty="0" sz="3000" lang="en-US" err="1" smtClean="0"/>
              <a:t>anaesthesia</a:t>
            </a:r>
            <a:r>
              <a:rPr dirty="0" sz="3000" lang="en-US" smtClean="0"/>
              <a:t> is injected into the epidural space.</a:t>
            </a:r>
          </a:p>
          <a:p>
            <a:pPr algn="just"/>
            <a:r>
              <a:rPr dirty="0" sz="3000" lang="en-US" smtClean="0"/>
              <a:t>Pain relief is obtained by blocking conduction of impulses along sensory nerves as they enter the spinal cord. </a:t>
            </a:r>
          </a:p>
        </p:txBody>
      </p:sp>
      <p:sp>
        <p:nvSpPr>
          <p:cNvPr id="1049965"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268" name=""/>
        <p:cNvGrpSpPr/>
        <p:nvPr/>
      </p:nvGrpSpPr>
      <p:grpSpPr>
        <a:xfrm>
          <a:off x="0" y="0"/>
          <a:ext cx="0" cy="0"/>
          <a:chOff x="0" y="0"/>
          <a:chExt cx="0" cy="0"/>
        </a:xfrm>
      </p:grpSpPr>
      <p:sp>
        <p:nvSpPr>
          <p:cNvPr id="1049966" name="Content Placeholder 1"/>
          <p:cNvSpPr>
            <a:spLocks noGrp="1"/>
          </p:cNvSpPr>
          <p:nvPr>
            <p:ph idx="1"/>
          </p:nvPr>
        </p:nvSpPr>
        <p:spPr>
          <a:xfrm>
            <a:off x="571501" y="609600"/>
            <a:ext cx="10572750" cy="5943600"/>
          </a:xfrm>
        </p:spPr>
        <p:txBody>
          <a:bodyPr>
            <a:noAutofit/>
          </a:bodyPr>
          <a:p>
            <a:pPr algn="just"/>
            <a:r>
              <a:rPr dirty="0" sz="3000" lang="en-US" smtClean="0"/>
              <a:t>So pain- free labour is experienced , but  urge to push, mictirution &amp;bowel movements as well as lower limbs movements are normal. </a:t>
            </a:r>
          </a:p>
          <a:p>
            <a:pPr algn="just">
              <a:buNone/>
            </a:pPr>
            <a:r>
              <a:rPr dirty="0" sz="3000" lang="en-US" smtClean="0"/>
              <a:t>		</a:t>
            </a:r>
            <a:r>
              <a:rPr b="1" dirty="0" sz="3000" lang="en-US" smtClean="0">
                <a:solidFill>
                  <a:srgbClr val="7030A0"/>
                </a:solidFill>
              </a:rPr>
              <a:t>Spinal  analgesia</a:t>
            </a:r>
          </a:p>
          <a:p>
            <a:pPr algn="just"/>
            <a:r>
              <a:rPr dirty="0" sz="3000" lang="en-US" smtClean="0"/>
              <a:t>Produces total block of both sensory and motor nerves.</a:t>
            </a:r>
          </a:p>
          <a:p>
            <a:pPr algn="just"/>
            <a:r>
              <a:rPr dirty="0" sz="3000" lang="en-US" smtClean="0"/>
              <a:t>Therefore used for shorter procedures </a:t>
            </a:r>
            <a:r>
              <a:rPr dirty="0" sz="3000" lang="en-US" err="1" smtClean="0"/>
              <a:t>e.g</a:t>
            </a:r>
            <a:r>
              <a:rPr dirty="0" sz="3000" lang="en-US" smtClean="0"/>
              <a:t> caesarean section because of the many complications.</a:t>
            </a:r>
          </a:p>
          <a:p>
            <a:pPr algn="just"/>
            <a:r>
              <a:rPr dirty="0" sz="3000" lang="en-US" smtClean="0"/>
              <a:t>A smaller dose of anaesthetic agent is used compared to epidural and it’s administered into the subarachnoid space. </a:t>
            </a:r>
          </a:p>
          <a:p>
            <a:pPr algn="just"/>
            <a:endParaRPr dirty="0" sz="3000" lang="en-US"/>
          </a:p>
        </p:txBody>
      </p:sp>
      <p:sp>
        <p:nvSpPr>
          <p:cNvPr id="1049967"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269" name=""/>
        <p:cNvGrpSpPr/>
        <p:nvPr/>
      </p:nvGrpSpPr>
      <p:grpSpPr>
        <a:xfrm>
          <a:off x="0" y="0"/>
          <a:ext cx="0" cy="0"/>
          <a:chOff x="0" y="0"/>
          <a:chExt cx="0" cy="0"/>
        </a:xfrm>
      </p:grpSpPr>
      <p:sp>
        <p:nvSpPr>
          <p:cNvPr id="1049968" name="Content Placeholder 1"/>
          <p:cNvSpPr>
            <a:spLocks noGrp="1"/>
          </p:cNvSpPr>
          <p:nvPr>
            <p:ph idx="1"/>
          </p:nvPr>
        </p:nvSpPr>
        <p:spPr>
          <a:xfrm>
            <a:off x="285751" y="762000"/>
            <a:ext cx="10953750" cy="5791200"/>
          </a:xfrm>
        </p:spPr>
        <p:txBody>
          <a:bodyPr>
            <a:normAutofit/>
          </a:bodyPr>
          <a:p>
            <a:pPr algn="just">
              <a:buNone/>
            </a:pPr>
            <a:r>
              <a:rPr dirty="0" sz="3200" lang="en-US" smtClean="0"/>
              <a:t>		</a:t>
            </a:r>
            <a:r>
              <a:rPr b="1" dirty="0" sz="3200" i="1" lang="en-US" smtClean="0"/>
              <a:t>General  preparation</a:t>
            </a:r>
          </a:p>
          <a:p>
            <a:pPr algn="just"/>
            <a:r>
              <a:rPr dirty="0" sz="3200" lang="en-US" smtClean="0"/>
              <a:t>Re-explain the procedure briefly to gain consent though ,it’s thoroughly  discussed prenatally.</a:t>
            </a:r>
          </a:p>
          <a:p>
            <a:pPr algn="just"/>
            <a:r>
              <a:rPr dirty="0" sz="3200" lang="en-US" smtClean="0"/>
              <a:t>Commence intravenous infusion of crystalloid fluid to prevent hypotension, which occurs due to total nerves blockage.</a:t>
            </a:r>
          </a:p>
          <a:p>
            <a:pPr algn="just"/>
            <a:r>
              <a:rPr dirty="0" sz="3200" lang="en-US" smtClean="0"/>
              <a:t>Mother positioned either in left lateral or to sit up and lean forward. Aim is to flex the back hence vertebrae are separated.</a:t>
            </a:r>
          </a:p>
          <a:p>
            <a:pPr algn="just"/>
            <a:r>
              <a:rPr dirty="0" sz="3200" lang="en-US" smtClean="0"/>
              <a:t>Monitor FHR &amp; maternal BP regularly.</a:t>
            </a:r>
            <a:endParaRPr dirty="0" sz="3200" lang="en-US"/>
          </a:p>
        </p:txBody>
      </p:sp>
      <p:sp>
        <p:nvSpPr>
          <p:cNvPr id="1049969"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270" name=""/>
        <p:cNvGrpSpPr/>
        <p:nvPr/>
      </p:nvGrpSpPr>
      <p:grpSpPr>
        <a:xfrm>
          <a:off x="0" y="0"/>
          <a:ext cx="0" cy="0"/>
          <a:chOff x="0" y="0"/>
          <a:chExt cx="0" cy="0"/>
        </a:xfrm>
      </p:grpSpPr>
      <p:sp>
        <p:nvSpPr>
          <p:cNvPr id="1049970" name="Content Placeholder 1"/>
          <p:cNvSpPr>
            <a:spLocks noGrp="1"/>
          </p:cNvSpPr>
          <p:nvPr>
            <p:ph idx="1"/>
          </p:nvPr>
        </p:nvSpPr>
        <p:spPr>
          <a:xfrm>
            <a:off x="285750" y="609600"/>
            <a:ext cx="10858500" cy="5715000"/>
          </a:xfrm>
        </p:spPr>
        <p:txBody>
          <a:bodyPr>
            <a:normAutofit/>
          </a:bodyPr>
          <a:p>
            <a:pPr algn="just">
              <a:buNone/>
            </a:pPr>
            <a:r>
              <a:rPr dirty="0" sz="3000" lang="en-US" smtClean="0"/>
              <a:t>		</a:t>
            </a:r>
            <a:r>
              <a:rPr b="1" dirty="0" sz="3000" i="1" lang="en-US" smtClean="0"/>
              <a:t>Specific  Observations after procedure</a:t>
            </a:r>
          </a:p>
          <a:p>
            <a:pPr algn="just"/>
            <a:r>
              <a:rPr dirty="0" sz="3000" lang="en-US" smtClean="0"/>
              <a:t>Position in either fowler’s or  semi-fowler’s ,but tilt to one side , hence prevent </a:t>
            </a:r>
            <a:r>
              <a:rPr dirty="0" sz="3000" lang="en-US" err="1" smtClean="0"/>
              <a:t>aortocaval</a:t>
            </a:r>
            <a:r>
              <a:rPr dirty="0" sz="3000" lang="en-US" smtClean="0"/>
              <a:t> compression.</a:t>
            </a:r>
          </a:p>
          <a:p>
            <a:pPr algn="just"/>
            <a:r>
              <a:rPr dirty="0" sz="3000" lang="en-US" smtClean="0"/>
              <a:t>Continue regular monitoring of  FHS, BP and pulse rate. </a:t>
            </a:r>
          </a:p>
          <a:p>
            <a:pPr algn="just"/>
            <a:r>
              <a:rPr dirty="0" sz="3000" lang="en-US" smtClean="0"/>
              <a:t>Encourage bladder emptying through </a:t>
            </a:r>
            <a:r>
              <a:rPr dirty="0" sz="3000" lang="en-US" err="1" smtClean="0"/>
              <a:t>catheterisation</a:t>
            </a:r>
            <a:r>
              <a:rPr dirty="0" sz="3000" lang="en-US" smtClean="0"/>
              <a:t>.</a:t>
            </a:r>
          </a:p>
          <a:p>
            <a:pPr algn="just"/>
            <a:r>
              <a:rPr dirty="0" sz="3000" lang="en-US" smtClean="0"/>
              <a:t>Closely monitor labour progress to correctly identify 2</a:t>
            </a:r>
            <a:r>
              <a:rPr baseline="30000" dirty="0" sz="3000" lang="en-US" smtClean="0"/>
              <a:t>nd</a:t>
            </a:r>
            <a:r>
              <a:rPr dirty="0" sz="3000" lang="en-US" smtClean="0"/>
              <a:t> stage, since contractions are not perceived.</a:t>
            </a:r>
          </a:p>
          <a:p>
            <a:pPr algn="just"/>
            <a:r>
              <a:rPr dirty="0" sz="3000" lang="en-US" smtClean="0"/>
              <a:t>Monitor the extent of anaesthetic effect regularly and </a:t>
            </a:r>
            <a:r>
              <a:rPr dirty="0" sz="3000" lang="en-US" err="1" smtClean="0"/>
              <a:t>organise</a:t>
            </a:r>
            <a:r>
              <a:rPr dirty="0" sz="3000" lang="en-US" smtClean="0"/>
              <a:t> for top up appropriately.</a:t>
            </a:r>
          </a:p>
        </p:txBody>
      </p:sp>
      <p:sp>
        <p:nvSpPr>
          <p:cNvPr id="1049971"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271" name=""/>
        <p:cNvGrpSpPr/>
        <p:nvPr/>
      </p:nvGrpSpPr>
      <p:grpSpPr>
        <a:xfrm>
          <a:off x="0" y="0"/>
          <a:ext cx="0" cy="0"/>
          <a:chOff x="0" y="0"/>
          <a:chExt cx="0" cy="0"/>
        </a:xfrm>
      </p:grpSpPr>
      <p:sp>
        <p:nvSpPr>
          <p:cNvPr id="1049972" name="Content Placeholder 1"/>
          <p:cNvSpPr>
            <a:spLocks noGrp="1"/>
          </p:cNvSpPr>
          <p:nvPr>
            <p:ph idx="1"/>
          </p:nvPr>
        </p:nvSpPr>
        <p:spPr>
          <a:xfrm>
            <a:off x="571501" y="762000"/>
            <a:ext cx="10572750" cy="5867400"/>
          </a:xfrm>
        </p:spPr>
        <p:txBody>
          <a:bodyPr>
            <a:noAutofit/>
          </a:bodyPr>
          <a:p>
            <a:pPr algn="just">
              <a:buNone/>
            </a:pPr>
            <a:r>
              <a:rPr dirty="0" sz="2900" lang="en-US" smtClean="0"/>
              <a:t>		</a:t>
            </a:r>
            <a:r>
              <a:rPr b="1" dirty="0" sz="2900" i="1" lang="en-US" smtClean="0"/>
              <a:t>Advantages / Benefits</a:t>
            </a:r>
          </a:p>
          <a:p>
            <a:pPr algn="just"/>
            <a:r>
              <a:rPr dirty="0" sz="2900" lang="en-US" smtClean="0"/>
              <a:t>Facilitates surgical procedures e.g. caesarean section.</a:t>
            </a:r>
          </a:p>
          <a:p>
            <a:pPr algn="just"/>
            <a:r>
              <a:rPr dirty="0" sz="2900" lang="en-US" smtClean="0"/>
              <a:t>Doesn’t  depress the fetal respiratory centre.</a:t>
            </a:r>
          </a:p>
          <a:p>
            <a:pPr algn="just"/>
            <a:r>
              <a:rPr dirty="0" sz="2900" lang="en-US" smtClean="0"/>
              <a:t>Facilitates control of  BP , incase of preeclampsia.</a:t>
            </a:r>
          </a:p>
          <a:p>
            <a:pPr algn="just">
              <a:buNone/>
            </a:pPr>
            <a:r>
              <a:rPr dirty="0" sz="2900" lang="en-US" smtClean="0"/>
              <a:t>		</a:t>
            </a:r>
            <a:r>
              <a:rPr b="1" dirty="0" sz="2900" i="1" lang="en-US" smtClean="0"/>
              <a:t>complications  (both)</a:t>
            </a:r>
          </a:p>
          <a:p>
            <a:pPr algn="just"/>
            <a:r>
              <a:rPr dirty="0" sz="2900" lang="en-US" smtClean="0"/>
              <a:t>Headache, due to dural  puncture . Occurs accidentally during the search for epidural space.</a:t>
            </a:r>
          </a:p>
          <a:p>
            <a:pPr algn="just">
              <a:buFont typeface="Courier New" pitchFamily="49" charset="0"/>
              <a:buChar char="o"/>
            </a:pPr>
            <a:r>
              <a:rPr dirty="0" sz="2900" lang="en-US" smtClean="0"/>
              <a:t> Drug irritation also causes.</a:t>
            </a:r>
          </a:p>
          <a:p>
            <a:pPr algn="just"/>
            <a:r>
              <a:rPr dirty="0" sz="2900" lang="en-US" smtClean="0"/>
              <a:t>Urine and stool incontinence , due to severe nerves damage </a:t>
            </a:r>
            <a:endParaRPr dirty="0" sz="2900" lang="en-US"/>
          </a:p>
        </p:txBody>
      </p:sp>
      <p:sp>
        <p:nvSpPr>
          <p:cNvPr id="1049973"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272" name=""/>
        <p:cNvGrpSpPr/>
        <p:nvPr/>
      </p:nvGrpSpPr>
      <p:grpSpPr>
        <a:xfrm>
          <a:off x="0" y="0"/>
          <a:ext cx="0" cy="0"/>
          <a:chOff x="0" y="0"/>
          <a:chExt cx="0" cy="0"/>
        </a:xfrm>
      </p:grpSpPr>
      <p:sp>
        <p:nvSpPr>
          <p:cNvPr id="1049974" name="Content Placeholder 1"/>
          <p:cNvSpPr>
            <a:spLocks noGrp="1"/>
          </p:cNvSpPr>
          <p:nvPr>
            <p:ph idx="1"/>
          </p:nvPr>
        </p:nvSpPr>
        <p:spPr>
          <a:xfrm>
            <a:off x="571500" y="609600"/>
            <a:ext cx="10287000" cy="5715000"/>
          </a:xfrm>
        </p:spPr>
        <p:txBody>
          <a:bodyPr>
            <a:noAutofit/>
          </a:bodyPr>
          <a:p>
            <a:r>
              <a:rPr dirty="0" sz="3200" lang="en-US" smtClean="0"/>
              <a:t>Cardiac and respiratory arrest, due to unrecognised  dural puncture leading to total spinal blockage.</a:t>
            </a:r>
          </a:p>
          <a:p>
            <a:r>
              <a:rPr dirty="0" sz="3200" lang="en-US" smtClean="0"/>
              <a:t>Prolonged labour, because of less sensation of expulsive efforts and over-relaxation of the pelvic floor.</a:t>
            </a:r>
          </a:p>
          <a:p>
            <a:r>
              <a:rPr dirty="0" sz="3200" lang="en-US" smtClean="0"/>
              <a:t>Hip dislocation, common with spinal analgesia, since control of the legs posture is lost for the next 6-8 hours, particularly with overdose.</a:t>
            </a:r>
          </a:p>
          <a:p>
            <a:pPr>
              <a:buNone/>
            </a:pPr>
            <a:r>
              <a:rPr dirty="0" sz="3200" lang="en-US" smtClean="0"/>
              <a:t> </a:t>
            </a:r>
            <a:endParaRPr dirty="0" sz="3200" lang="en-US"/>
          </a:p>
        </p:txBody>
      </p:sp>
      <p:sp>
        <p:nvSpPr>
          <p:cNvPr id="1049975"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273" name=""/>
        <p:cNvGrpSpPr/>
        <p:nvPr/>
      </p:nvGrpSpPr>
      <p:grpSpPr>
        <a:xfrm>
          <a:off x="0" y="0"/>
          <a:ext cx="0" cy="0"/>
          <a:chOff x="0" y="0"/>
          <a:chExt cx="0" cy="0"/>
        </a:xfrm>
      </p:grpSpPr>
      <p:sp>
        <p:nvSpPr>
          <p:cNvPr id="1049976" name="Title 2"/>
          <p:cNvSpPr>
            <a:spLocks noGrp="1"/>
          </p:cNvSpPr>
          <p:nvPr>
            <p:ph type="title"/>
          </p:nvPr>
        </p:nvSpPr>
        <p:spPr>
          <a:xfrm>
            <a:off x="666750" y="152400"/>
            <a:ext cx="10287000" cy="1143000"/>
          </a:xfrm>
        </p:spPr>
        <p:txBody>
          <a:bodyPr/>
          <a:p>
            <a:r>
              <a:rPr b="1" dirty="0" lang="en-US" smtClean="0"/>
              <a:t>	</a:t>
            </a:r>
            <a:r>
              <a:rPr b="1" dirty="0" lang="en-US" smtClean="0">
                <a:solidFill>
                  <a:srgbClr val="7030A0"/>
                </a:solidFill>
              </a:rPr>
              <a:t> III. Inhalational Analgesia</a:t>
            </a:r>
            <a:endParaRPr b="1" dirty="0" lang="en-US"/>
          </a:p>
        </p:txBody>
      </p:sp>
      <p:sp>
        <p:nvSpPr>
          <p:cNvPr id="1049977" name="Content Placeholder 1"/>
          <p:cNvSpPr>
            <a:spLocks noGrp="1"/>
          </p:cNvSpPr>
          <p:nvPr>
            <p:ph idx="1"/>
          </p:nvPr>
        </p:nvSpPr>
        <p:spPr>
          <a:xfrm>
            <a:off x="285750" y="1295400"/>
            <a:ext cx="10858500" cy="5181600"/>
          </a:xfrm>
        </p:spPr>
        <p:txBody>
          <a:bodyPr>
            <a:normAutofit lnSpcReduction="10000"/>
          </a:bodyPr>
          <a:p>
            <a:r>
              <a:rPr dirty="0" sz="2800" lang="en-US" smtClean="0"/>
              <a:t>Refers to inhalation of specific gases hence effective pain relief occurs.</a:t>
            </a:r>
          </a:p>
          <a:p>
            <a:r>
              <a:rPr dirty="0" sz="2800" lang="en-US" smtClean="0"/>
              <a:t>Their effects are short- lived, such that as soon as inhalation is stopped , pain sensation is regained.</a:t>
            </a:r>
          </a:p>
          <a:p>
            <a:pPr>
              <a:buFont typeface="Courier New" pitchFamily="49" charset="0"/>
              <a:buChar char="o"/>
            </a:pPr>
            <a:r>
              <a:rPr dirty="0" sz="2800" lang="en-US" smtClean="0"/>
              <a:t> They have no adverse effect to the fetus.</a:t>
            </a:r>
          </a:p>
          <a:p>
            <a:pPr>
              <a:buNone/>
            </a:pPr>
            <a:r>
              <a:rPr dirty="0" sz="2800" lang="en-US" smtClean="0"/>
              <a:t>		</a:t>
            </a:r>
            <a:r>
              <a:rPr dirty="0" sz="2800" lang="en-US" u="sng" smtClean="0">
                <a:solidFill>
                  <a:schemeClr val="accent3">
                    <a:lumMod val="50000"/>
                  </a:schemeClr>
                </a:solidFill>
              </a:rPr>
              <a:t>1. ENTONOX</a:t>
            </a:r>
          </a:p>
          <a:p>
            <a:r>
              <a:rPr dirty="0" sz="2800" lang="en-US" smtClean="0"/>
              <a:t>It’s a premixed gas, comprising of 50%  oxygen and 50%  nitrous oxide.</a:t>
            </a:r>
          </a:p>
          <a:p>
            <a:r>
              <a:rPr dirty="0" sz="2800" lang="en-US" smtClean="0"/>
              <a:t>It’s colourless &amp; oduorless.</a:t>
            </a:r>
          </a:p>
          <a:p>
            <a:r>
              <a:rPr dirty="0" sz="2800" lang="en-US" smtClean="0"/>
              <a:t>Stable at room temperature, but separates in temperatures under negative 7 degrees Celsius.</a:t>
            </a:r>
            <a:endParaRPr dirty="0" sz="2800" lang="en-US"/>
          </a:p>
        </p:txBody>
      </p:sp>
      <p:sp>
        <p:nvSpPr>
          <p:cNvPr id="104997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274" name=""/>
        <p:cNvGrpSpPr/>
        <p:nvPr/>
      </p:nvGrpSpPr>
      <p:grpSpPr>
        <a:xfrm>
          <a:off x="0" y="0"/>
          <a:ext cx="0" cy="0"/>
          <a:chOff x="0" y="0"/>
          <a:chExt cx="0" cy="0"/>
        </a:xfrm>
      </p:grpSpPr>
      <p:sp>
        <p:nvSpPr>
          <p:cNvPr id="1049979" name="Content Placeholder 1"/>
          <p:cNvSpPr>
            <a:spLocks noGrp="1"/>
          </p:cNvSpPr>
          <p:nvPr>
            <p:ph idx="1"/>
          </p:nvPr>
        </p:nvSpPr>
        <p:spPr>
          <a:xfrm>
            <a:off x="571500" y="685800"/>
            <a:ext cx="10287000" cy="5715000"/>
          </a:xfrm>
        </p:spPr>
        <p:txBody>
          <a:bodyPr>
            <a:noAutofit/>
          </a:bodyPr>
          <a:p>
            <a:pPr>
              <a:buNone/>
            </a:pPr>
            <a:r>
              <a:rPr dirty="0" sz="2800" lang="en-US" smtClean="0"/>
              <a:t>		</a:t>
            </a:r>
            <a:r>
              <a:rPr b="1" dirty="0" sz="2800" i="1" lang="en-US" smtClean="0"/>
              <a:t>Preparation</a:t>
            </a:r>
          </a:p>
          <a:p>
            <a:r>
              <a:rPr dirty="0" sz="2800" lang="en-US" smtClean="0"/>
              <a:t>Prenatally, discuss regarding the analgesia.</a:t>
            </a:r>
          </a:p>
          <a:p>
            <a:r>
              <a:rPr dirty="0" sz="2800" lang="en-US" smtClean="0"/>
              <a:t>Have the required skills (special training) to instruct client properly on apparatus, storage and how to inhale the gas.</a:t>
            </a:r>
          </a:p>
          <a:p>
            <a:r>
              <a:rPr dirty="0" sz="2800" lang="en-US" smtClean="0"/>
              <a:t>Ensure correct face mask to avoid leakage.</a:t>
            </a:r>
          </a:p>
          <a:p>
            <a:r>
              <a:rPr dirty="0" sz="2800" lang="en-US" smtClean="0"/>
              <a:t>Advice the client to:-</a:t>
            </a:r>
          </a:p>
          <a:p>
            <a:pPr>
              <a:buFont typeface="Courier New" pitchFamily="49" charset="0"/>
              <a:buChar char="o"/>
            </a:pPr>
            <a:r>
              <a:rPr dirty="0" sz="2800" lang="en-US" smtClean="0"/>
              <a:t>Fit the mask firmly over her face, or closely apply the lips around the mouth piece, to avoid gas leakage.</a:t>
            </a:r>
          </a:p>
          <a:p>
            <a:pPr>
              <a:buFont typeface="Courier New" pitchFamily="49" charset="0"/>
              <a:buChar char="o"/>
            </a:pPr>
            <a:r>
              <a:rPr dirty="0" sz="2800" lang="en-US" smtClean="0"/>
              <a:t>To avoid hyperventilation, because it leads to dizziness and numbness of hands as well as face.</a:t>
            </a:r>
          </a:p>
          <a:p>
            <a:pPr>
              <a:buNone/>
            </a:pPr>
            <a:endParaRPr dirty="0" sz="2800" lang="en-US" smtClean="0"/>
          </a:p>
        </p:txBody>
      </p:sp>
      <p:sp>
        <p:nvSpPr>
          <p:cNvPr id="1049980"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275" name=""/>
        <p:cNvGrpSpPr/>
        <p:nvPr/>
      </p:nvGrpSpPr>
      <p:grpSpPr>
        <a:xfrm>
          <a:off x="0" y="0"/>
          <a:ext cx="0" cy="0"/>
          <a:chOff x="0" y="0"/>
          <a:chExt cx="0" cy="0"/>
        </a:xfrm>
      </p:grpSpPr>
      <p:sp>
        <p:nvSpPr>
          <p:cNvPr id="1049981" name="Content Placeholder 1"/>
          <p:cNvSpPr>
            <a:spLocks noGrp="1"/>
          </p:cNvSpPr>
          <p:nvPr>
            <p:ph idx="1"/>
          </p:nvPr>
        </p:nvSpPr>
        <p:spPr>
          <a:xfrm>
            <a:off x="190500" y="762000"/>
            <a:ext cx="11239500" cy="5715000"/>
          </a:xfrm>
        </p:spPr>
        <p:txBody>
          <a:bodyPr>
            <a:noAutofit/>
          </a:bodyPr>
          <a:p>
            <a:pPr>
              <a:buFont typeface="Courier New" pitchFamily="49" charset="0"/>
              <a:buChar char="o"/>
            </a:pPr>
            <a:r>
              <a:rPr dirty="0" sz="2900" lang="en-US" smtClean="0"/>
              <a:t>To exhale into the mouth piece since it has an expiratory valve.</a:t>
            </a:r>
          </a:p>
          <a:p>
            <a:pPr>
              <a:buNone/>
            </a:pPr>
            <a:r>
              <a:rPr dirty="0" sz="2900" lang="en-US" smtClean="0"/>
              <a:t>		</a:t>
            </a:r>
            <a:r>
              <a:rPr b="1" dirty="0" sz="2900" i="1" lang="en-US" smtClean="0"/>
              <a:t>Procedure</a:t>
            </a:r>
          </a:p>
          <a:p>
            <a:r>
              <a:rPr dirty="0" sz="2900" lang="en-US" smtClean="0"/>
              <a:t>More effective if used in late 1</a:t>
            </a:r>
            <a:r>
              <a:rPr baseline="30000" dirty="0" sz="2900" lang="en-US" smtClean="0"/>
              <a:t>st</a:t>
            </a:r>
            <a:r>
              <a:rPr dirty="0" sz="2900" lang="en-US" smtClean="0"/>
              <a:t> stage ie 9cm onwards.</a:t>
            </a:r>
          </a:p>
          <a:p>
            <a:r>
              <a:rPr dirty="0" sz="2900" lang="en-US" smtClean="0"/>
              <a:t>Instruct client to start inhaling immediately a contraction begins, since it’s effective within 20 seconds.</a:t>
            </a:r>
          </a:p>
          <a:p>
            <a:r>
              <a:rPr dirty="0" sz="2900" lang="en-US" smtClean="0"/>
              <a:t>To continue with inhalation until the contraction passes out.</a:t>
            </a:r>
          </a:p>
          <a:p>
            <a:r>
              <a:rPr dirty="0" sz="2900" lang="en-US" smtClean="0"/>
              <a:t>Maximum efficacy occurs after about 45-60  seconds, hence ,if accurate advised, results to painless labour </a:t>
            </a:r>
          </a:p>
        </p:txBody>
      </p:sp>
      <p:sp>
        <p:nvSpPr>
          <p:cNvPr id="1049982"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276" name=""/>
        <p:cNvGrpSpPr/>
        <p:nvPr/>
      </p:nvGrpSpPr>
      <p:grpSpPr>
        <a:xfrm>
          <a:off x="0" y="0"/>
          <a:ext cx="0" cy="0"/>
          <a:chOff x="0" y="0"/>
          <a:chExt cx="0" cy="0"/>
        </a:xfrm>
      </p:grpSpPr>
      <p:sp>
        <p:nvSpPr>
          <p:cNvPr id="1049983" name="Content Placeholder 1"/>
          <p:cNvSpPr>
            <a:spLocks noGrp="1"/>
          </p:cNvSpPr>
          <p:nvPr>
            <p:ph idx="1"/>
          </p:nvPr>
        </p:nvSpPr>
        <p:spPr>
          <a:xfrm>
            <a:off x="381000" y="609600"/>
            <a:ext cx="10287000" cy="5791200"/>
          </a:xfrm>
        </p:spPr>
        <p:txBody>
          <a:bodyPr>
            <a:noAutofit/>
          </a:bodyPr>
          <a:p>
            <a:r>
              <a:rPr dirty="0" sz="3000" lang="en-US" smtClean="0"/>
              <a:t>Since the analgesia is self administered, the client develops sense of control hence cooperate.</a:t>
            </a:r>
          </a:p>
          <a:p>
            <a:pPr>
              <a:buNone/>
            </a:pPr>
            <a:r>
              <a:rPr b="1" dirty="0" sz="3000" lang="en-US" smtClean="0">
                <a:solidFill>
                  <a:srgbClr val="FF0000"/>
                </a:solidFill>
              </a:rPr>
              <a:t>NB:</a:t>
            </a:r>
            <a:r>
              <a:rPr dirty="0" sz="3000" lang="en-US" smtClean="0"/>
              <a:t> </a:t>
            </a:r>
          </a:p>
          <a:p>
            <a:pPr>
              <a:buNone/>
            </a:pPr>
            <a:r>
              <a:rPr dirty="0" sz="3000" lang="en-US" smtClean="0"/>
              <a:t> </a:t>
            </a:r>
            <a:r>
              <a:rPr dirty="0" sz="3000" lang="en-US" err="1" smtClean="0"/>
              <a:t>i</a:t>
            </a:r>
            <a:r>
              <a:rPr dirty="0" sz="3000" lang="en-US" smtClean="0"/>
              <a:t>) Maternal inspiratory efforts facilitates the flow.	</a:t>
            </a:r>
          </a:p>
          <a:p>
            <a:pPr>
              <a:buNone/>
            </a:pPr>
            <a:r>
              <a:rPr dirty="0" sz="3000" lang="en-US" smtClean="0"/>
              <a:t>ii) Gas is quickly excreted through the mother’s lungs.</a:t>
            </a:r>
          </a:p>
          <a:p>
            <a:pPr>
              <a:buNone/>
            </a:pPr>
            <a:r>
              <a:rPr dirty="0" sz="3000" lang="en-US" smtClean="0"/>
              <a:t>iii When not  in used store the cylinder horizontally instead of vertically </a:t>
            </a:r>
            <a:r>
              <a:rPr dirty="0" sz="3000" lang="en-US" err="1" smtClean="0"/>
              <a:t>bcos</a:t>
            </a:r>
            <a:r>
              <a:rPr dirty="0" sz="3000" lang="en-US" smtClean="0"/>
              <a:t> nitrous is heavier than oxygen.</a:t>
            </a:r>
          </a:p>
          <a:p>
            <a:pPr>
              <a:buNone/>
            </a:pPr>
            <a:r>
              <a:rPr dirty="0" sz="3000" lang="en-US" smtClean="0"/>
              <a:t>				</a:t>
            </a:r>
            <a:endParaRPr dirty="0" sz="3000" lang="en-US">
              <a:solidFill>
                <a:schemeClr val="accent6"/>
              </a:solidFill>
            </a:endParaRPr>
          </a:p>
        </p:txBody>
      </p:sp>
      <p:sp>
        <p:nvSpPr>
          <p:cNvPr id="1049984"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277" name=""/>
        <p:cNvGrpSpPr/>
        <p:nvPr/>
      </p:nvGrpSpPr>
      <p:grpSpPr>
        <a:xfrm>
          <a:off x="0" y="0"/>
          <a:ext cx="0" cy="0"/>
          <a:chOff x="0" y="0"/>
          <a:chExt cx="0" cy="0"/>
        </a:xfrm>
      </p:grpSpPr>
      <p:sp>
        <p:nvSpPr>
          <p:cNvPr id="1049985" name="Content Placeholder 1"/>
          <p:cNvSpPr>
            <a:spLocks noGrp="1"/>
          </p:cNvSpPr>
          <p:nvPr>
            <p:ph idx="1"/>
          </p:nvPr>
        </p:nvSpPr>
        <p:spPr/>
        <p:txBody>
          <a:bodyPr>
            <a:normAutofit lnSpcReduction="10000"/>
          </a:bodyPr>
          <a:p>
            <a:pPr>
              <a:buNone/>
            </a:pPr>
            <a:endParaRPr dirty="0" sz="2800" lang="en-US" smtClean="0"/>
          </a:p>
          <a:p>
            <a:pPr>
              <a:buNone/>
            </a:pPr>
            <a:endParaRPr dirty="0" sz="2800" lang="en-US" smtClean="0"/>
          </a:p>
          <a:p>
            <a:pPr>
              <a:buNone/>
            </a:pPr>
            <a:endParaRPr dirty="0" sz="2800" lang="en-US" smtClean="0"/>
          </a:p>
          <a:p>
            <a:pPr>
              <a:buNone/>
            </a:pPr>
            <a:endParaRPr dirty="0" sz="2800" lang="en-US" smtClean="0"/>
          </a:p>
          <a:p>
            <a:pPr>
              <a:buNone/>
            </a:pPr>
            <a:endParaRPr dirty="0" sz="2800" lang="en-US" smtClean="0"/>
          </a:p>
          <a:p>
            <a:pPr>
              <a:buNone/>
            </a:pPr>
            <a:endParaRPr dirty="0" sz="2800" lang="en-US" smtClean="0">
              <a:solidFill>
                <a:schemeClr val="accent2"/>
              </a:solidFill>
            </a:endParaRPr>
          </a:p>
          <a:p>
            <a:pPr>
              <a:buNone/>
            </a:pPr>
            <a:r>
              <a:rPr b="1" dirty="0" sz="2800" lang="en-US" err="1" smtClean="0">
                <a:solidFill>
                  <a:srgbClr val="0000FF"/>
                </a:solidFill>
              </a:rPr>
              <a:t>Assigments</a:t>
            </a:r>
            <a:r>
              <a:rPr b="1" dirty="0" sz="2800" lang="en-US" smtClean="0">
                <a:solidFill>
                  <a:srgbClr val="0000FF"/>
                </a:solidFill>
              </a:rPr>
              <a:t>: READ ON; </a:t>
            </a:r>
            <a:r>
              <a:rPr dirty="0" sz="2800" lang="en-US" smtClean="0">
                <a:solidFill>
                  <a:srgbClr val="0000FF"/>
                </a:solidFill>
              </a:rPr>
              <a:t>Effects of drugs in pregnancy.</a:t>
            </a:r>
          </a:p>
          <a:p>
            <a:pPr>
              <a:buNone/>
            </a:pPr>
            <a:r>
              <a:rPr dirty="0" sz="2800" lang="en-US" smtClean="0">
                <a:solidFill>
                  <a:srgbClr val="0000FF"/>
                </a:solidFill>
              </a:rPr>
              <a:t>Medical drugs used in </a:t>
            </a:r>
            <a:r>
              <a:rPr dirty="0" sz="2800" lang="en-US" err="1" smtClean="0">
                <a:solidFill>
                  <a:srgbClr val="0000FF"/>
                </a:solidFill>
              </a:rPr>
              <a:t>preg</a:t>
            </a:r>
            <a:r>
              <a:rPr dirty="0" sz="2800" lang="en-US" smtClean="0">
                <a:solidFill>
                  <a:srgbClr val="0000FF"/>
                </a:solidFill>
              </a:rPr>
              <a:t>.  Principles of managing drug in pregnancy.</a:t>
            </a:r>
          </a:p>
          <a:p>
            <a:endParaRPr dirty="0" lang="en-US"/>
          </a:p>
        </p:txBody>
      </p:sp>
      <p:sp>
        <p:nvSpPr>
          <p:cNvPr id="1049986" name="Cloud Callout 4"/>
          <p:cNvSpPr/>
          <p:nvPr/>
        </p:nvSpPr>
        <p:spPr>
          <a:xfrm>
            <a:off x="3048000" y="1828800"/>
            <a:ext cx="4286250" cy="1984248"/>
          </a:xfrm>
          <a:prstGeom prst="cloudCallout">
            <a:avLst>
              <a:gd name="adj1" fmla="val 5511"/>
              <a:gd name="adj2" fmla="val 65397"/>
            </a:avLst>
          </a:prstGeom>
          <a:solidFill>
            <a:srgbClr val="92D050"/>
          </a:solid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8000" lang="en-US" smtClean="0">
                <a:solidFill>
                  <a:srgbClr val="C00000"/>
                </a:solidFill>
                <a:latin typeface="Palace Script MT" pitchFamily="66" charset="0"/>
                <a:cs typeface="Miriam" pitchFamily="34" charset="-79"/>
              </a:rPr>
              <a:t>END</a:t>
            </a:r>
            <a:endParaRPr b="1" dirty="0" sz="8000" lang="en-US">
              <a:solidFill>
                <a:srgbClr val="C00000"/>
              </a:solidFill>
              <a:latin typeface="Palace Script MT" pitchFamily="66" charset="0"/>
              <a:cs typeface="Miriam" pitchFamily="34" charset="-79"/>
            </a:endParaRPr>
          </a:p>
        </p:txBody>
      </p:sp>
      <p:sp>
        <p:nvSpPr>
          <p:cNvPr id="1049987"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498.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78" name=""/>
        <p:cNvGrpSpPr/>
        <p:nvPr/>
      </p:nvGrpSpPr>
      <p:grpSpPr>
        <a:xfrm>
          <a:off x="0" y="0"/>
          <a:ext cx="0" cy="0"/>
          <a:chOff x="0" y="0"/>
          <a:chExt cx="0" cy="0"/>
        </a:xfrm>
      </p:grpSpPr>
      <p:graphicFrame>
        <p:nvGraphicFramePr>
          <p:cNvPr id="4194311" name="Diagram 5"/>
          <p:cNvGraphicFramePr>
            <a:graphicFrameLocks/>
          </p:cNvGraphicFramePr>
          <p:nvPr/>
        </p:nvGraphicFramePr>
        <p:xfrm>
          <a:off x="1809750" y="1066800"/>
          <a:ext cx="10287000" cy="22860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Tree>
  </p:cSld>
  <p:clrMapOvr>
    <a:masterClrMapping/>
  </p:clrMapOvr>
  <p:transition xmlns:p14="http://schemas.microsoft.com/office/powerpoint/2010/main" spd="slow">
    <p:strips dir="ru"/>
  </p:transition>
  <p:timing/>
</p:sld>
</file>

<file path=ppt/slides/slide499.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79" name=""/>
        <p:cNvGrpSpPr/>
        <p:nvPr/>
      </p:nvGrpSpPr>
      <p:grpSpPr>
        <a:xfrm>
          <a:off x="0" y="0"/>
          <a:ext cx="0" cy="0"/>
          <a:chOff x="0" y="0"/>
          <a:chExt cx="0" cy="0"/>
        </a:xfrm>
      </p:grpSpPr>
      <p:sp>
        <p:nvSpPr>
          <p:cNvPr id="1049988" name="Content Placeholder 2"/>
          <p:cNvSpPr>
            <a:spLocks noGrp="1"/>
          </p:cNvSpPr>
          <p:nvPr>
            <p:ph idx="1"/>
          </p:nvPr>
        </p:nvSpPr>
        <p:spPr>
          <a:xfrm>
            <a:off x="571500" y="304809"/>
            <a:ext cx="10287000" cy="5826125"/>
          </a:xfrm>
        </p:spPr>
        <p:txBody>
          <a:bodyPr>
            <a:normAutofit/>
          </a:bodyPr>
          <a:p>
            <a:pPr>
              <a:buFont typeface="Wingdings" pitchFamily="2" charset="2"/>
              <a:buChar char="v"/>
            </a:pPr>
            <a:r>
              <a:rPr dirty="0" lang="en-US" smtClean="0"/>
              <a:t>The normal course of labour is determined primarily by the 4 “Ps” namely:-</a:t>
            </a:r>
          </a:p>
          <a:p>
            <a:r>
              <a:rPr b="1" dirty="0" lang="en-US" u="sng" smtClean="0"/>
              <a:t>Powers</a:t>
            </a:r>
            <a:r>
              <a:rPr dirty="0" lang="en-US" smtClean="0"/>
              <a:t>, refers to uterine contractions required in all stages  as follows:</a:t>
            </a:r>
          </a:p>
          <a:p>
            <a:pPr>
              <a:buFont typeface="Wingdings" pitchFamily="2" charset="2"/>
              <a:buChar char="Ø"/>
            </a:pPr>
            <a:r>
              <a:rPr dirty="0" lang="en-US" smtClean="0"/>
              <a:t>1</a:t>
            </a:r>
            <a:r>
              <a:rPr baseline="30000" dirty="0" lang="en-US" smtClean="0"/>
              <a:t>st</a:t>
            </a:r>
            <a:r>
              <a:rPr dirty="0" lang="en-US" smtClean="0"/>
              <a:t> stage, they bring about progressive descent &amp; cervical dilatation.</a:t>
            </a:r>
          </a:p>
          <a:p>
            <a:pPr>
              <a:buFont typeface="Wingdings" pitchFamily="2" charset="2"/>
              <a:buChar char="Ø"/>
            </a:pPr>
            <a:r>
              <a:rPr dirty="0" lang="en-US" smtClean="0"/>
              <a:t> 2</a:t>
            </a:r>
            <a:r>
              <a:rPr baseline="30000" dirty="0" lang="en-US" smtClean="0"/>
              <a:t>nd</a:t>
            </a:r>
            <a:r>
              <a:rPr dirty="0" lang="en-US" smtClean="0"/>
              <a:t> stage, are reinforced by maternal efforts to bring about expulsion of fetus.</a:t>
            </a:r>
          </a:p>
          <a:p>
            <a:pPr>
              <a:buFont typeface="Wingdings" pitchFamily="2" charset="2"/>
              <a:buChar char="Ø"/>
            </a:pPr>
            <a:r>
              <a:rPr dirty="0" lang="en-US" smtClean="0"/>
              <a:t>3</a:t>
            </a:r>
            <a:r>
              <a:rPr baseline="30000" dirty="0" lang="en-US" smtClean="0"/>
              <a:t>rd</a:t>
            </a:r>
            <a:r>
              <a:rPr dirty="0" lang="en-US" smtClean="0"/>
              <a:t> stage ,facilitates placenta separation and descent as well as control of excessive bleeding. </a:t>
            </a:r>
          </a:p>
          <a:p>
            <a:endParaRPr dirty="0" lang="en-US"/>
          </a:p>
        </p:txBody>
      </p:sp>
      <p:sp>
        <p:nvSpPr>
          <p:cNvPr id="104998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0.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0" name=""/>
        <p:cNvGrpSpPr/>
        <p:nvPr/>
      </p:nvGrpSpPr>
      <p:grpSpPr>
        <a:xfrm>
          <a:off x="0" y="0"/>
          <a:ext cx="0" cy="0"/>
          <a:chOff x="0" y="0"/>
          <a:chExt cx="0" cy="0"/>
        </a:xfrm>
      </p:grpSpPr>
      <p:sp>
        <p:nvSpPr>
          <p:cNvPr id="1049990" name="Content Placeholder 2"/>
          <p:cNvSpPr>
            <a:spLocks noGrp="1"/>
          </p:cNvSpPr>
          <p:nvPr>
            <p:ph idx="1"/>
          </p:nvPr>
        </p:nvSpPr>
        <p:spPr>
          <a:xfrm>
            <a:off x="571500" y="381009"/>
            <a:ext cx="10287000" cy="5749925"/>
          </a:xfrm>
        </p:spPr>
        <p:txBody>
          <a:bodyPr>
            <a:noAutofit/>
          </a:bodyPr>
          <a:p>
            <a:pPr>
              <a:buFont typeface="Wingdings" pitchFamily="2" charset="2"/>
              <a:buChar char="Ø"/>
            </a:pPr>
            <a:r>
              <a:rPr dirty="0" sz="2800" lang="en-US" smtClean="0"/>
              <a:t> 4</a:t>
            </a:r>
            <a:r>
              <a:rPr baseline="30000" dirty="0" sz="2800" lang="en-US" smtClean="0"/>
              <a:t>th</a:t>
            </a:r>
            <a:r>
              <a:rPr dirty="0" sz="2800" lang="en-US" smtClean="0"/>
              <a:t> stage , maintains uterus well contracted hence prevents PPH.</a:t>
            </a:r>
          </a:p>
          <a:p>
            <a:r>
              <a:rPr b="1" dirty="0" sz="2800" lang="en-US" u="sng" smtClean="0"/>
              <a:t>Passage</a:t>
            </a:r>
            <a:r>
              <a:rPr dirty="0" sz="2800" lang="en-US" smtClean="0"/>
              <a:t>-way ; refers to the bony pelvis, specifically shape of the brim and various diameters.</a:t>
            </a:r>
          </a:p>
          <a:p>
            <a:r>
              <a:rPr b="1" dirty="0" sz="2800" lang="en-US" u="sng" smtClean="0"/>
              <a:t>Passenger </a:t>
            </a:r>
            <a:r>
              <a:rPr dirty="0" sz="2800" lang="en-US" smtClean="0"/>
              <a:t>; refers to the fetus in terms size, presentation, position and health.</a:t>
            </a:r>
          </a:p>
          <a:p>
            <a:r>
              <a:rPr b="1" dirty="0" sz="2800" lang="en-US" u="sng" smtClean="0"/>
              <a:t>Psyche</a:t>
            </a:r>
            <a:r>
              <a:rPr dirty="0" sz="2800" lang="en-US" smtClean="0"/>
              <a:t> ; it’s maternal reaction towards labour  ie whether anxious, afraid or relaxed, hence determines cooperation.</a:t>
            </a:r>
          </a:p>
        </p:txBody>
      </p:sp>
      <p:sp>
        <p:nvSpPr>
          <p:cNvPr id="104999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1.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1" name=""/>
        <p:cNvGrpSpPr/>
        <p:nvPr/>
      </p:nvGrpSpPr>
      <p:grpSpPr>
        <a:xfrm>
          <a:off x="0" y="0"/>
          <a:ext cx="0" cy="0"/>
          <a:chOff x="0" y="0"/>
          <a:chExt cx="0" cy="0"/>
        </a:xfrm>
      </p:grpSpPr>
      <p:sp>
        <p:nvSpPr>
          <p:cNvPr id="1049992" name="Title 1"/>
          <p:cNvSpPr>
            <a:spLocks noGrp="1"/>
          </p:cNvSpPr>
          <p:nvPr>
            <p:ph type="title"/>
          </p:nvPr>
        </p:nvSpPr>
        <p:spPr/>
        <p:txBody>
          <a:bodyPr/>
          <a:p>
            <a:r>
              <a:rPr dirty="0" lang="en-US" smtClean="0"/>
              <a:t>	</a:t>
            </a:r>
            <a:r>
              <a:rPr b="1" dirty="0" lang="en-US" smtClean="0"/>
              <a:t> </a:t>
            </a:r>
            <a:r>
              <a:rPr b="1" dirty="0" lang="en-US" smtClean="0">
                <a:solidFill>
                  <a:schemeClr val="tx1"/>
                </a:solidFill>
              </a:rPr>
              <a:t>Normal  pattern of labour</a:t>
            </a:r>
            <a:endParaRPr dirty="0" lang="en-US">
              <a:solidFill>
                <a:schemeClr val="tx1"/>
              </a:solidFill>
            </a:endParaRPr>
          </a:p>
        </p:txBody>
      </p:sp>
      <p:sp>
        <p:nvSpPr>
          <p:cNvPr id="1049993" name="Content Placeholder 2"/>
          <p:cNvSpPr>
            <a:spLocks noGrp="1"/>
          </p:cNvSpPr>
          <p:nvPr>
            <p:ph idx="1"/>
          </p:nvPr>
        </p:nvSpPr>
        <p:spPr/>
        <p:txBody>
          <a:bodyPr>
            <a:noAutofit/>
          </a:bodyPr>
          <a:p>
            <a:r>
              <a:rPr b="1" dirty="0" sz="2900" i="1" lang="en-US" smtClean="0"/>
              <a:t>Latent Phase:</a:t>
            </a:r>
            <a:r>
              <a:rPr b="1" dirty="0" sz="2900" lang="en-US" smtClean="0"/>
              <a:t> </a:t>
            </a:r>
            <a:r>
              <a:rPr dirty="0" sz="2900" lang="en-US" smtClean="0"/>
              <a:t>Characterized by primary inertia, in that mother only reports tightening of the abdominal muscles and no palpable contraction.</a:t>
            </a:r>
          </a:p>
          <a:p>
            <a:pPr>
              <a:buFont typeface="Wingdings" pitchFamily="2" charset="2"/>
              <a:buChar char="Ø"/>
            </a:pPr>
            <a:r>
              <a:rPr dirty="0" sz="2900" lang="en-US" smtClean="0"/>
              <a:t>Then hypotonic uterine contractions accompanied by scanty show and slow cervical dilatation.</a:t>
            </a:r>
          </a:p>
          <a:p>
            <a:r>
              <a:rPr b="1" dirty="0" sz="2900" i="1" lang="en-US" smtClean="0"/>
              <a:t>Active Phase:</a:t>
            </a:r>
            <a:r>
              <a:rPr b="1" dirty="0" sz="2900" lang="en-US" smtClean="0"/>
              <a:t> </a:t>
            </a:r>
            <a:r>
              <a:rPr dirty="0" sz="2900" lang="en-US" smtClean="0"/>
              <a:t>Contractions are moderate initially &amp; later strong, dilatation rate  1 cm /hr, descent 1 part every 2 hrly , show moderate &amp; later plenty.</a:t>
            </a:r>
            <a:endParaRPr dirty="0" sz="2900" i="1" lang="en-US"/>
          </a:p>
        </p:txBody>
      </p:sp>
      <p:sp>
        <p:nvSpPr>
          <p:cNvPr id="104999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2.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2" name=""/>
        <p:cNvGrpSpPr/>
        <p:nvPr/>
      </p:nvGrpSpPr>
      <p:grpSpPr>
        <a:xfrm>
          <a:off x="0" y="0"/>
          <a:ext cx="0" cy="0"/>
          <a:chOff x="0" y="0"/>
          <a:chExt cx="0" cy="0"/>
        </a:xfrm>
      </p:grpSpPr>
      <p:sp>
        <p:nvSpPr>
          <p:cNvPr id="1049995" name="Title 1"/>
          <p:cNvSpPr>
            <a:spLocks noGrp="1"/>
          </p:cNvSpPr>
          <p:nvPr>
            <p:ph type="title"/>
          </p:nvPr>
        </p:nvSpPr>
        <p:spPr>
          <a:xfrm>
            <a:off x="381000" y="274639"/>
            <a:ext cx="10477500" cy="1143000"/>
          </a:xfrm>
        </p:spPr>
        <p:txBody>
          <a:bodyPr>
            <a:normAutofit/>
          </a:bodyPr>
          <a:p>
            <a:r>
              <a:rPr b="1" dirty="0" lang="en-US" smtClean="0">
                <a:solidFill>
                  <a:schemeClr val="tx1"/>
                </a:solidFill>
              </a:rPr>
              <a:t>Factors indicating abnormal  pattern</a:t>
            </a:r>
            <a:endParaRPr dirty="0" lang="en-US">
              <a:solidFill>
                <a:schemeClr val="tx1"/>
              </a:solidFill>
            </a:endParaRPr>
          </a:p>
        </p:txBody>
      </p:sp>
      <p:sp>
        <p:nvSpPr>
          <p:cNvPr id="1049996" name="Content Placeholder 2"/>
          <p:cNvSpPr>
            <a:spLocks noGrp="1"/>
          </p:cNvSpPr>
          <p:nvPr>
            <p:ph idx="1"/>
          </p:nvPr>
        </p:nvSpPr>
        <p:spPr/>
        <p:txBody>
          <a:bodyPr>
            <a:normAutofit fontScale="92500" lnSpcReduction="10000"/>
          </a:bodyPr>
          <a:p>
            <a:r>
              <a:rPr dirty="0" lang="en-US" smtClean="0"/>
              <a:t>Early rupture of membranes because fore and hind waters are not completely separated.</a:t>
            </a:r>
          </a:p>
          <a:p>
            <a:r>
              <a:rPr dirty="0" lang="en-US" smtClean="0"/>
              <a:t>Abnormalities on vaginal examination findings in terms of:</a:t>
            </a:r>
          </a:p>
          <a:p>
            <a:pPr>
              <a:buFont typeface="Wingdings" pitchFamily="2" charset="2"/>
              <a:buChar char="Ø"/>
            </a:pPr>
            <a:r>
              <a:rPr dirty="0" lang="en-US" smtClean="0"/>
              <a:t> vulva is oedematous, vagina hot &amp; dry , cervical dilatation and descent arrested hence obstructed labour.</a:t>
            </a:r>
          </a:p>
          <a:p>
            <a:pPr>
              <a:buFont typeface="Wingdings" pitchFamily="2" charset="2"/>
              <a:buChar char="Ø"/>
            </a:pPr>
            <a:r>
              <a:rPr dirty="0" lang="en-US" smtClean="0"/>
              <a:t> Slow descent and cervical dilatation indicates  prolonged labour.</a:t>
            </a:r>
          </a:p>
          <a:p>
            <a:r>
              <a:rPr dirty="0" lang="en-US" smtClean="0"/>
              <a:t>On inspection of the abdomen, presence of  bandl’s ring is a sign of obstructed labour.</a:t>
            </a:r>
            <a:endParaRPr dirty="0" lang="en-US"/>
          </a:p>
        </p:txBody>
      </p:sp>
      <p:sp>
        <p:nvSpPr>
          <p:cNvPr id="104999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3.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3" name=""/>
        <p:cNvGrpSpPr/>
        <p:nvPr/>
      </p:nvGrpSpPr>
      <p:grpSpPr>
        <a:xfrm>
          <a:off x="0" y="0"/>
          <a:ext cx="0" cy="0"/>
          <a:chOff x="0" y="0"/>
          <a:chExt cx="0" cy="0"/>
        </a:xfrm>
      </p:grpSpPr>
      <p:sp>
        <p:nvSpPr>
          <p:cNvPr id="1049998" name="Content Placeholder 2"/>
          <p:cNvSpPr>
            <a:spLocks noGrp="1"/>
          </p:cNvSpPr>
          <p:nvPr>
            <p:ph idx="1"/>
          </p:nvPr>
        </p:nvSpPr>
        <p:spPr>
          <a:xfrm>
            <a:off x="857250" y="381000"/>
            <a:ext cx="10001250" cy="5867400"/>
          </a:xfrm>
        </p:spPr>
        <p:txBody>
          <a:bodyPr>
            <a:normAutofit lnSpcReduction="10000"/>
          </a:bodyPr>
          <a:p>
            <a:r>
              <a:rPr dirty="0" lang="en-US" smtClean="0"/>
              <a:t>Abnormalities in contractions in terms of , hypotonic , uncoordinated and hypertonic.</a:t>
            </a:r>
          </a:p>
          <a:p>
            <a:r>
              <a:rPr dirty="0" lang="en-US" smtClean="0"/>
              <a:t>Presence of severe birth trauma to both.</a:t>
            </a:r>
          </a:p>
          <a:p>
            <a:r>
              <a:rPr dirty="0" lang="en-US" smtClean="0"/>
              <a:t>Abnormalities in fetal &amp; maternal status, demonstrated by presence features of fetal and maternal hypoxia.</a:t>
            </a:r>
          </a:p>
          <a:p>
            <a:pPr>
              <a:buFont typeface="Wingdings" pitchFamily="2" charset="2"/>
              <a:buChar char="Ø"/>
            </a:pPr>
            <a:r>
              <a:rPr dirty="0" lang="en-US" smtClean="0"/>
              <a:t>Therefore, on the partograph,the cervical dilatation and descent curves:</a:t>
            </a:r>
          </a:p>
          <a:p>
            <a:pPr>
              <a:buFont typeface="Wingdings" pitchFamily="2" charset="2"/>
              <a:buChar char="ü"/>
            </a:pPr>
            <a:r>
              <a:rPr dirty="0" lang="en-US" smtClean="0"/>
              <a:t>Runs parallel to each other = obstructed labour.</a:t>
            </a:r>
          </a:p>
          <a:p>
            <a:pPr>
              <a:buFont typeface="Wingdings" pitchFamily="2" charset="2"/>
              <a:buChar char="ü"/>
            </a:pPr>
            <a:r>
              <a:rPr dirty="0" lang="en-US" smtClean="0"/>
              <a:t>Takes too long to cross = prolonged labour.</a:t>
            </a:r>
          </a:p>
          <a:p>
            <a:pPr>
              <a:buFont typeface="Wingdings" pitchFamily="2" charset="2"/>
              <a:buChar char="ü"/>
            </a:pPr>
            <a:r>
              <a:rPr dirty="0" lang="en-US" smtClean="0"/>
              <a:t>Latent phase is missed out, since the 2 curves crosses within 1-2 hrs = precipitate labour.  </a:t>
            </a:r>
            <a:endParaRPr dirty="0" lang="en-US"/>
          </a:p>
        </p:txBody>
      </p:sp>
      <p:sp>
        <p:nvSpPr>
          <p:cNvPr id="104999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4.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4" name=""/>
        <p:cNvGrpSpPr/>
        <p:nvPr/>
      </p:nvGrpSpPr>
      <p:grpSpPr>
        <a:xfrm>
          <a:off x="0" y="0"/>
          <a:ext cx="0" cy="0"/>
          <a:chOff x="0" y="0"/>
          <a:chExt cx="0" cy="0"/>
        </a:xfrm>
      </p:grpSpPr>
      <p:sp>
        <p:nvSpPr>
          <p:cNvPr id="1050000" name="Title 1"/>
          <p:cNvSpPr>
            <a:spLocks noGrp="1"/>
          </p:cNvSpPr>
          <p:nvPr>
            <p:ph type="title"/>
          </p:nvPr>
        </p:nvSpPr>
        <p:spPr/>
        <p:txBody>
          <a:bodyPr/>
          <a:p>
            <a:r>
              <a:rPr dirty="0" lang="en-US" smtClean="0"/>
              <a:t>		</a:t>
            </a:r>
            <a:r>
              <a:rPr b="1" dirty="0" lang="en-US" smtClean="0">
                <a:solidFill>
                  <a:schemeClr val="tx1"/>
                </a:solidFill>
              </a:rPr>
              <a:t>Definition</a:t>
            </a:r>
            <a:r>
              <a:rPr dirty="0" i="1" lang="en-US" smtClean="0"/>
              <a:t> </a:t>
            </a:r>
            <a:endParaRPr dirty="0" lang="en-US"/>
          </a:p>
        </p:txBody>
      </p:sp>
      <p:sp>
        <p:nvSpPr>
          <p:cNvPr id="1050001" name="Content Placeholder 2"/>
          <p:cNvSpPr>
            <a:spLocks noGrp="1"/>
          </p:cNvSpPr>
          <p:nvPr>
            <p:ph idx="1"/>
          </p:nvPr>
        </p:nvSpPr>
        <p:spPr>
          <a:xfrm>
            <a:off x="666750" y="1219200"/>
            <a:ext cx="10572750" cy="5486400"/>
          </a:xfrm>
        </p:spPr>
        <p:txBody>
          <a:bodyPr>
            <a:normAutofit/>
          </a:bodyPr>
          <a:p>
            <a:r>
              <a:rPr dirty="0" lang="en-US" smtClean="0"/>
              <a:t>Abnormal uterine action is a dysfunction of uterine muscles due to neuromuscular disharmony.</a:t>
            </a:r>
          </a:p>
          <a:p>
            <a:pPr>
              <a:buNone/>
            </a:pPr>
            <a:r>
              <a:rPr dirty="0" lang="en-US" smtClean="0"/>
              <a:t>		</a:t>
            </a:r>
            <a:r>
              <a:rPr b="1" dirty="0" sz="2800" lang="en-US" smtClean="0"/>
              <a:t>Classification / causes of abnormal pattern</a:t>
            </a:r>
            <a:endParaRPr b="1" dirty="0" lang="en-US" smtClean="0"/>
          </a:p>
          <a:p>
            <a:pPr>
              <a:buNone/>
            </a:pPr>
            <a:r>
              <a:rPr b="1" dirty="0" lang="en-US" smtClean="0"/>
              <a:t>		</a:t>
            </a:r>
            <a:r>
              <a:rPr b="1" dirty="0" i="1" lang="en-US" smtClean="0"/>
              <a:t>1.Hypotonic Uterine Action </a:t>
            </a:r>
            <a:endParaRPr b="1" dirty="0" lang="en-US" smtClean="0"/>
          </a:p>
          <a:p>
            <a:r>
              <a:rPr dirty="0" lang="en-US" smtClean="0"/>
              <a:t>This is poor tone in the uterine muscle fibres which results from weak/short contractions. The contractions are infrequent and cause less pain.</a:t>
            </a:r>
          </a:p>
          <a:p>
            <a:r>
              <a:rPr dirty="0" lang="en-US" smtClean="0"/>
              <a:t>The hypotonia can be primary or secondary.</a:t>
            </a:r>
          </a:p>
          <a:p>
            <a:r>
              <a:rPr dirty="0" lang="en-US" smtClean="0"/>
              <a:t> In case of the former, latent phase does not progress to active and cause is unknown. </a:t>
            </a:r>
            <a:r>
              <a:rPr b="1" dirty="0" lang="en-US" smtClean="0"/>
              <a:t> </a:t>
            </a:r>
          </a:p>
        </p:txBody>
      </p:sp>
      <p:sp>
        <p:nvSpPr>
          <p:cNvPr id="105000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5.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5" name=""/>
        <p:cNvGrpSpPr/>
        <p:nvPr/>
      </p:nvGrpSpPr>
      <p:grpSpPr>
        <a:xfrm>
          <a:off x="0" y="0"/>
          <a:ext cx="0" cy="0"/>
          <a:chOff x="0" y="0"/>
          <a:chExt cx="0" cy="0"/>
        </a:xfrm>
      </p:grpSpPr>
      <p:sp>
        <p:nvSpPr>
          <p:cNvPr id="1050003" name="Content Placeholder 2"/>
          <p:cNvSpPr>
            <a:spLocks noGrp="1"/>
          </p:cNvSpPr>
          <p:nvPr>
            <p:ph idx="1"/>
          </p:nvPr>
        </p:nvSpPr>
        <p:spPr>
          <a:xfrm>
            <a:off x="666750" y="152409"/>
            <a:ext cx="10763250" cy="6476999"/>
          </a:xfrm>
        </p:spPr>
        <p:txBody>
          <a:bodyPr>
            <a:normAutofit/>
          </a:bodyPr>
          <a:p>
            <a:r>
              <a:rPr dirty="0" lang="en-US" smtClean="0"/>
              <a:t>Secondary hypotonia occurs in a previously normal/established labour. Causes includes, CPD, malpresentation and  malposition , retained 2</a:t>
            </a:r>
            <a:r>
              <a:rPr baseline="30000" dirty="0" lang="en-US" smtClean="0"/>
              <a:t>nd</a:t>
            </a:r>
            <a:r>
              <a:rPr dirty="0" lang="en-US" smtClean="0"/>
              <a:t> twin, effects of epidural analgesia and maternal ketoacidosis/ dehydration.</a:t>
            </a:r>
          </a:p>
          <a:p>
            <a:pPr>
              <a:buNone/>
            </a:pPr>
            <a:r>
              <a:rPr dirty="0" lang="en-US" smtClean="0"/>
              <a:t>		</a:t>
            </a:r>
            <a:r>
              <a:rPr b="1" dirty="0" sz="2800" lang="en-US" smtClean="0">
                <a:effectLst>
                  <a:outerShdw algn="tl" blurRad="38100" dir="2700000" dist="38100">
                    <a:srgbClr val="000000">
                      <a:alpha val="43137"/>
                    </a:srgbClr>
                  </a:outerShdw>
                </a:effectLst>
              </a:rPr>
              <a:t>Specific  management  </a:t>
            </a:r>
            <a:endParaRPr b="1" dirty="0" lang="en-US" smtClean="0">
              <a:effectLst>
                <a:outerShdw algn="tl" blurRad="38100" dir="2700000" dist="38100">
                  <a:srgbClr val="000000">
                    <a:alpha val="43137"/>
                  </a:srgbClr>
                </a:outerShdw>
              </a:effectLst>
            </a:endParaRPr>
          </a:p>
          <a:p>
            <a:r>
              <a:rPr dirty="0" lang="en-US" smtClean="0"/>
              <a:t>Psychologically support her because of exhaustion.</a:t>
            </a:r>
          </a:p>
          <a:p>
            <a:r>
              <a:rPr dirty="0" lang="en-US" smtClean="0"/>
              <a:t>Inform the DR promptly to review the patient.</a:t>
            </a:r>
          </a:p>
          <a:p>
            <a:r>
              <a:rPr dirty="0" lang="en-US" smtClean="0"/>
              <a:t>Assess for possibility of malpresentation, CPD &amp; malposition. If any is present, C/S may be decided on.</a:t>
            </a:r>
            <a:endParaRPr dirty="0" lang="en-US"/>
          </a:p>
        </p:txBody>
      </p:sp>
      <p:sp>
        <p:nvSpPr>
          <p:cNvPr id="105000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6.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6" name=""/>
        <p:cNvGrpSpPr/>
        <p:nvPr/>
      </p:nvGrpSpPr>
      <p:grpSpPr>
        <a:xfrm>
          <a:off x="0" y="0"/>
          <a:ext cx="0" cy="0"/>
          <a:chOff x="0" y="0"/>
          <a:chExt cx="0" cy="0"/>
        </a:xfrm>
      </p:grpSpPr>
      <p:sp>
        <p:nvSpPr>
          <p:cNvPr id="1050005" name="Content Placeholder 2"/>
          <p:cNvSpPr>
            <a:spLocks noGrp="1"/>
          </p:cNvSpPr>
          <p:nvPr>
            <p:ph idx="1"/>
          </p:nvPr>
        </p:nvSpPr>
        <p:spPr>
          <a:xfrm>
            <a:off x="571500" y="381009"/>
            <a:ext cx="10287000" cy="5749925"/>
          </a:xfrm>
        </p:spPr>
        <p:txBody>
          <a:bodyPr>
            <a:normAutofit lnSpcReduction="10000"/>
          </a:bodyPr>
          <a:p>
            <a:r>
              <a:rPr dirty="0" lang="en-US" smtClean="0"/>
              <a:t>If absent ,augmentation with synitocinon drip is carried out. Dose depends with the parity.</a:t>
            </a:r>
          </a:p>
          <a:p>
            <a:r>
              <a:rPr dirty="0" lang="en-US" smtClean="0"/>
              <a:t>Closely monitor fetal  /maternal conditions as well as progress of labour, maintain records &amp; consult prn.</a:t>
            </a:r>
          </a:p>
          <a:p>
            <a:pPr>
              <a:buFont typeface="Wingdings" pitchFamily="2" charset="2"/>
              <a:buChar char="v"/>
            </a:pPr>
            <a:r>
              <a:rPr dirty="0" lang="en-US" smtClean="0"/>
              <a:t>Finally SVD occurs.</a:t>
            </a:r>
          </a:p>
          <a:p>
            <a:pPr>
              <a:buNone/>
            </a:pPr>
            <a:endParaRPr b="1" dirty="0" sz="3000" lang="en-US" smtClean="0"/>
          </a:p>
          <a:p>
            <a:pPr>
              <a:buNone/>
            </a:pPr>
            <a:r>
              <a:rPr b="1" dirty="0" sz="3000" lang="en-US" smtClean="0"/>
              <a:t>		</a:t>
            </a:r>
            <a:r>
              <a:rPr b="1" dirty="0" sz="3000" i="1" lang="en-US" smtClean="0"/>
              <a:t>2. Uncoordinated uterine action</a:t>
            </a:r>
          </a:p>
          <a:p>
            <a:r>
              <a:rPr dirty="0" lang="en-US" smtClean="0"/>
              <a:t>Main causes are:-</a:t>
            </a:r>
          </a:p>
          <a:p>
            <a:pPr>
              <a:buNone/>
            </a:pPr>
            <a:r>
              <a:rPr dirty="0" lang="en-US" smtClean="0"/>
              <a:t>	i) Alteration  or reverse of polarity.</a:t>
            </a:r>
          </a:p>
          <a:p>
            <a:pPr>
              <a:buNone/>
            </a:pPr>
            <a:r>
              <a:rPr dirty="0" lang="en-US" smtClean="0"/>
              <a:t>	ii) Total loss of polarity and fundal dominance, also referred to as disorganized  uterine action. </a:t>
            </a:r>
          </a:p>
          <a:p>
            <a:pPr>
              <a:buNone/>
            </a:pPr>
            <a:endParaRPr dirty="0" lang="en-US"/>
          </a:p>
        </p:txBody>
      </p:sp>
      <p:sp>
        <p:nvSpPr>
          <p:cNvPr id="105000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7.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7" name=""/>
        <p:cNvGrpSpPr/>
        <p:nvPr/>
      </p:nvGrpSpPr>
      <p:grpSpPr>
        <a:xfrm>
          <a:off x="0" y="0"/>
          <a:ext cx="0" cy="0"/>
          <a:chOff x="0" y="0"/>
          <a:chExt cx="0" cy="0"/>
        </a:xfrm>
      </p:grpSpPr>
      <p:sp>
        <p:nvSpPr>
          <p:cNvPr id="1050007" name="Content Placeholder 2"/>
          <p:cNvSpPr>
            <a:spLocks noGrp="1"/>
          </p:cNvSpPr>
          <p:nvPr>
            <p:ph idx="1"/>
          </p:nvPr>
        </p:nvSpPr>
        <p:spPr>
          <a:xfrm>
            <a:off x="571500" y="152409"/>
            <a:ext cx="10287000" cy="5978525"/>
          </a:xfrm>
        </p:spPr>
        <p:txBody>
          <a:bodyPr/>
          <a:p>
            <a:pPr>
              <a:buNone/>
            </a:pPr>
            <a:r>
              <a:rPr dirty="0" lang="en-US" smtClean="0"/>
              <a:t>	It presents as:-</a:t>
            </a:r>
          </a:p>
          <a:p>
            <a:pPr>
              <a:buNone/>
            </a:pPr>
            <a:r>
              <a:rPr dirty="0" lang="en-US" smtClean="0"/>
              <a:t>		</a:t>
            </a:r>
            <a:r>
              <a:rPr dirty="0" lang="en-US" u="sng" smtClean="0"/>
              <a:t>i. Hypertonic lower uterine segment</a:t>
            </a:r>
          </a:p>
          <a:p>
            <a:r>
              <a:rPr dirty="0" lang="en-US" smtClean="0"/>
              <a:t>Results from reverse of polarity hence fundal dominance is lost.</a:t>
            </a:r>
          </a:p>
          <a:p>
            <a:r>
              <a:rPr dirty="0" lang="en-US" smtClean="0"/>
              <a:t>So contractions starts at the lower  uterine segment and lasts longest there.</a:t>
            </a:r>
          </a:p>
          <a:p>
            <a:pPr>
              <a:buNone/>
            </a:pPr>
            <a:r>
              <a:rPr dirty="0" lang="en-US" smtClean="0"/>
              <a:t>			</a:t>
            </a:r>
            <a:r>
              <a:rPr dirty="0" i="1" lang="en-US" smtClean="0"/>
              <a:t>Clinical features</a:t>
            </a:r>
          </a:p>
          <a:p>
            <a:r>
              <a:rPr dirty="0" lang="en-US" smtClean="0"/>
              <a:t>C/o backache and premature bearing down before and after a palpable contraction.</a:t>
            </a:r>
          </a:p>
          <a:p>
            <a:r>
              <a:rPr dirty="0" lang="en-US" smtClean="0"/>
              <a:t>Intermittent abdominal pains.  </a:t>
            </a:r>
            <a:endParaRPr dirty="0" lang="en-US"/>
          </a:p>
        </p:txBody>
      </p:sp>
      <p:sp>
        <p:nvSpPr>
          <p:cNvPr id="105000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8.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8" name=""/>
        <p:cNvGrpSpPr/>
        <p:nvPr/>
      </p:nvGrpSpPr>
      <p:grpSpPr>
        <a:xfrm>
          <a:off x="0" y="0"/>
          <a:ext cx="0" cy="0"/>
          <a:chOff x="0" y="0"/>
          <a:chExt cx="0" cy="0"/>
        </a:xfrm>
      </p:grpSpPr>
      <p:sp>
        <p:nvSpPr>
          <p:cNvPr id="1050009" name="Content Placeholder 2"/>
          <p:cNvSpPr>
            <a:spLocks noGrp="1"/>
          </p:cNvSpPr>
          <p:nvPr>
            <p:ph idx="1"/>
          </p:nvPr>
        </p:nvSpPr>
        <p:spPr>
          <a:xfrm>
            <a:off x="762000" y="304800"/>
            <a:ext cx="10382250" cy="6248400"/>
          </a:xfrm>
        </p:spPr>
        <p:txBody>
          <a:bodyPr>
            <a:noAutofit/>
          </a:bodyPr>
          <a:p>
            <a:r>
              <a:rPr dirty="0" sz="2800" lang="en-US" smtClean="0"/>
              <a:t>The cervix fails to dilate.</a:t>
            </a:r>
          </a:p>
          <a:p>
            <a:pPr>
              <a:buNone/>
            </a:pPr>
            <a:r>
              <a:rPr dirty="0" sz="2800" lang="en-US" smtClean="0"/>
              <a:t>		</a:t>
            </a:r>
            <a:r>
              <a:rPr dirty="0" sz="2800" lang="en-US" u="sng" smtClean="0"/>
              <a:t>ii.Colicky uterus</a:t>
            </a:r>
          </a:p>
          <a:p>
            <a:r>
              <a:rPr dirty="0" sz="2800" lang="en-US" smtClean="0"/>
              <a:t>Referred to as erratic or irritable uterus.</a:t>
            </a:r>
          </a:p>
          <a:p>
            <a:r>
              <a:rPr dirty="0" sz="2800" lang="en-US" smtClean="0"/>
              <a:t>Results from total loss of polarity &amp; fundal dominance, such that different parts of the uterus contracts independently</a:t>
            </a:r>
          </a:p>
          <a:p>
            <a:r>
              <a:rPr dirty="0" sz="2800" lang="en-US" smtClean="0"/>
              <a:t>Eventually, the uterus does not relax, hence slow cervical dilatation, signs of fetal hypoxia as well as maternal distress. </a:t>
            </a:r>
          </a:p>
          <a:p>
            <a:r>
              <a:rPr dirty="0" sz="2800" lang="en-US" smtClean="0"/>
              <a:t>Neglected, uterine rupture occurs.</a:t>
            </a:r>
            <a:endParaRPr dirty="0" sz="2800" lang="en-US"/>
          </a:p>
        </p:txBody>
      </p:sp>
      <p:sp>
        <p:nvSpPr>
          <p:cNvPr id="105001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09.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89" name=""/>
        <p:cNvGrpSpPr/>
        <p:nvPr/>
      </p:nvGrpSpPr>
      <p:grpSpPr>
        <a:xfrm>
          <a:off x="0" y="0"/>
          <a:ext cx="0" cy="0"/>
          <a:chOff x="0" y="0"/>
          <a:chExt cx="0" cy="0"/>
        </a:xfrm>
      </p:grpSpPr>
      <p:sp>
        <p:nvSpPr>
          <p:cNvPr id="1050011" name="Title 1"/>
          <p:cNvSpPr>
            <a:spLocks noGrp="1"/>
          </p:cNvSpPr>
          <p:nvPr>
            <p:ph type="title"/>
          </p:nvPr>
        </p:nvSpPr>
        <p:spPr/>
        <p:txBody>
          <a:bodyPr/>
          <a:p>
            <a:r>
              <a:rPr dirty="0" lang="en-US" smtClean="0"/>
              <a:t>	 </a:t>
            </a:r>
            <a:r>
              <a:rPr dirty="0" lang="en-US" smtClean="0">
                <a:solidFill>
                  <a:schemeClr val="tx1"/>
                </a:solidFill>
              </a:rPr>
              <a:t>Specific  management</a:t>
            </a:r>
            <a:endParaRPr dirty="0" lang="en-US">
              <a:solidFill>
                <a:schemeClr val="tx1"/>
              </a:solidFill>
            </a:endParaRPr>
          </a:p>
        </p:txBody>
      </p:sp>
      <p:sp>
        <p:nvSpPr>
          <p:cNvPr id="1050012" name="Content Placeholder 2"/>
          <p:cNvSpPr>
            <a:spLocks noGrp="1"/>
          </p:cNvSpPr>
          <p:nvPr>
            <p:ph idx="1"/>
          </p:nvPr>
        </p:nvSpPr>
        <p:spPr/>
        <p:txBody>
          <a:bodyPr>
            <a:normAutofit/>
          </a:bodyPr>
          <a:p>
            <a:r>
              <a:rPr dirty="0" sz="3000" lang="en-US" smtClean="0"/>
              <a:t>Inform the doctor ( get medical help).</a:t>
            </a:r>
          </a:p>
          <a:p>
            <a:r>
              <a:rPr dirty="0" sz="3000" lang="en-US" smtClean="0"/>
              <a:t>Correct dehydration through IV infusion.</a:t>
            </a:r>
          </a:p>
          <a:p>
            <a:r>
              <a:rPr dirty="0" sz="3000" lang="en-US" smtClean="0"/>
              <a:t>Offer psychological support</a:t>
            </a:r>
          </a:p>
          <a:p>
            <a:r>
              <a:rPr dirty="0" sz="3000" lang="en-US" smtClean="0"/>
              <a:t>Closely monitor maternal &amp; fetal condition.</a:t>
            </a:r>
          </a:p>
          <a:p>
            <a:r>
              <a:rPr dirty="0" sz="3000" lang="en-US" smtClean="0"/>
              <a:t>For distress, administer 50% dextrose 10-20 ml IV, sodium bicarbonate 5 ml intravenously and oxygen therapy.</a:t>
            </a:r>
          </a:p>
          <a:p>
            <a:r>
              <a:rPr dirty="0" sz="3000" lang="en-US" smtClean="0"/>
              <a:t>Caesarean section  is common.</a:t>
            </a:r>
            <a:endParaRPr dirty="0" sz="3000" lang="en-US"/>
          </a:p>
        </p:txBody>
      </p:sp>
      <p:sp>
        <p:nvSpPr>
          <p:cNvPr id="105001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0.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0" name=""/>
        <p:cNvGrpSpPr/>
        <p:nvPr/>
      </p:nvGrpSpPr>
      <p:grpSpPr>
        <a:xfrm>
          <a:off x="0" y="0"/>
          <a:ext cx="0" cy="0"/>
          <a:chOff x="0" y="0"/>
          <a:chExt cx="0" cy="0"/>
        </a:xfrm>
      </p:grpSpPr>
      <p:sp>
        <p:nvSpPr>
          <p:cNvPr id="1050014" name="Content Placeholder 2"/>
          <p:cNvSpPr>
            <a:spLocks noGrp="1"/>
          </p:cNvSpPr>
          <p:nvPr>
            <p:ph idx="1"/>
          </p:nvPr>
        </p:nvSpPr>
        <p:spPr>
          <a:xfrm>
            <a:off x="571500" y="304809"/>
            <a:ext cx="10287000" cy="5826125"/>
          </a:xfrm>
        </p:spPr>
        <p:txBody>
          <a:bodyPr>
            <a:normAutofit/>
          </a:bodyPr>
          <a:p>
            <a:pPr>
              <a:buNone/>
            </a:pPr>
            <a:r>
              <a:rPr dirty="0" lang="en-US" smtClean="0"/>
              <a:t>	</a:t>
            </a:r>
            <a:r>
              <a:rPr dirty="0" sz="2900" lang="en-US" smtClean="0"/>
              <a:t>	</a:t>
            </a:r>
            <a:r>
              <a:rPr dirty="0" sz="2900" lang="en-US" u="sng" smtClean="0"/>
              <a:t>iii. Constriction  ring dystocia</a:t>
            </a:r>
            <a:endParaRPr dirty="0" sz="2900" lang="en-US" smtClean="0"/>
          </a:p>
          <a:p>
            <a:r>
              <a:rPr dirty="0" sz="2900" lang="en-US" smtClean="0"/>
              <a:t>Refers to development of localised spasms, at the retraction ring, hence inhibits continuous  descent as per labour stage.</a:t>
            </a:r>
          </a:p>
          <a:p>
            <a:r>
              <a:rPr dirty="0" sz="2900" lang="en-US" smtClean="0"/>
              <a:t>During late 1</a:t>
            </a:r>
            <a:r>
              <a:rPr baseline="30000" dirty="0" sz="2900" lang="en-US" smtClean="0"/>
              <a:t>st</a:t>
            </a:r>
            <a:r>
              <a:rPr dirty="0" sz="2900" lang="en-US" smtClean="0"/>
              <a:t> stage or in 2</a:t>
            </a:r>
            <a:r>
              <a:rPr baseline="30000" dirty="0" sz="2900" lang="en-US" smtClean="0"/>
              <a:t>nd</a:t>
            </a:r>
            <a:r>
              <a:rPr dirty="0" sz="2900" lang="en-US" smtClean="0"/>
              <a:t> stage , the ring embraces a narrow part of the fetus ie neck.</a:t>
            </a:r>
          </a:p>
          <a:p>
            <a:r>
              <a:rPr dirty="0" sz="2900" lang="en-US" smtClean="0"/>
              <a:t>In 3</a:t>
            </a:r>
            <a:r>
              <a:rPr baseline="30000" dirty="0" sz="2900" lang="en-US" smtClean="0"/>
              <a:t>rd</a:t>
            </a:r>
            <a:r>
              <a:rPr dirty="0" sz="2900" lang="en-US" smtClean="0"/>
              <a:t> stage , the constriction ring is known as hour-glass contraction. It prevents delivery of a separated placenta.</a:t>
            </a:r>
          </a:p>
        </p:txBody>
      </p:sp>
      <p:sp>
        <p:nvSpPr>
          <p:cNvPr id="105001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1.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1" name=""/>
        <p:cNvGrpSpPr/>
        <p:nvPr/>
      </p:nvGrpSpPr>
      <p:grpSpPr>
        <a:xfrm>
          <a:off x="0" y="0"/>
          <a:ext cx="0" cy="0"/>
          <a:chOff x="0" y="0"/>
          <a:chExt cx="0" cy="0"/>
        </a:xfrm>
      </p:grpSpPr>
      <p:sp>
        <p:nvSpPr>
          <p:cNvPr id="1050016" name="Title 1"/>
          <p:cNvSpPr>
            <a:spLocks noGrp="1"/>
          </p:cNvSpPr>
          <p:nvPr>
            <p:ph type="title"/>
          </p:nvPr>
        </p:nvSpPr>
        <p:spPr/>
        <p:txBody>
          <a:bodyPr/>
          <a:p>
            <a:r>
              <a:rPr dirty="0" lang="en-US" smtClean="0"/>
              <a:t>			</a:t>
            </a:r>
            <a:r>
              <a:rPr dirty="0" lang="en-US" smtClean="0">
                <a:solidFill>
                  <a:schemeClr val="tx1"/>
                </a:solidFill>
                <a:effectLst>
                  <a:outerShdw algn="tl" blurRad="38100" dir="2700000" dist="38100">
                    <a:srgbClr val="000000">
                      <a:alpha val="43137"/>
                    </a:srgbClr>
                  </a:outerShdw>
                </a:effectLst>
              </a:rPr>
              <a:t>Causes</a:t>
            </a:r>
            <a:endParaRPr dirty="0" lang="en-US">
              <a:solidFill>
                <a:schemeClr val="tx1"/>
              </a:solidFill>
            </a:endParaRPr>
          </a:p>
        </p:txBody>
      </p:sp>
      <p:sp>
        <p:nvSpPr>
          <p:cNvPr id="1050017" name="Content Placeholder 2"/>
          <p:cNvSpPr>
            <a:spLocks noGrp="1"/>
          </p:cNvSpPr>
          <p:nvPr>
            <p:ph idx="1"/>
          </p:nvPr>
        </p:nvSpPr>
        <p:spPr>
          <a:xfrm>
            <a:off x="762000" y="1447800"/>
            <a:ext cx="10096500" cy="5105400"/>
          </a:xfrm>
        </p:spPr>
        <p:txBody>
          <a:bodyPr>
            <a:normAutofit/>
          </a:bodyPr>
          <a:p>
            <a:r>
              <a:rPr dirty="0" sz="2800" lang="en-US" smtClean="0"/>
              <a:t> Colicky  uterus, leading to early rupture of membranes, hence the uterus mould around the fetus.</a:t>
            </a:r>
          </a:p>
          <a:p>
            <a:r>
              <a:rPr dirty="0" sz="2800" lang="en-US" smtClean="0"/>
              <a:t>Hypertonic lower uterine segment ,due to misuse of synitocinon or mishandling of uterus during 3</a:t>
            </a:r>
            <a:r>
              <a:rPr baseline="30000" dirty="0" sz="2800" lang="en-US" smtClean="0"/>
              <a:t>rd</a:t>
            </a:r>
            <a:r>
              <a:rPr dirty="0" sz="2800" lang="en-US" smtClean="0"/>
              <a:t> stage.</a:t>
            </a:r>
          </a:p>
          <a:p>
            <a:endParaRPr dirty="0" sz="2800" lang="en-US" smtClean="0"/>
          </a:p>
          <a:p>
            <a:pPr>
              <a:buNone/>
            </a:pPr>
            <a:r>
              <a:rPr dirty="0" sz="2800" lang="en-US" smtClean="0"/>
              <a:t>		</a:t>
            </a:r>
            <a:r>
              <a:rPr dirty="0" sz="2800" lang="en-US" smtClean="0">
                <a:effectLst>
                  <a:outerShdw algn="tl" blurRad="38100" dir="2700000" dist="38100">
                    <a:srgbClr val="000000">
                      <a:alpha val="43137"/>
                    </a:srgbClr>
                  </a:outerShdw>
                </a:effectLst>
              </a:rPr>
              <a:t>Clinical  features</a:t>
            </a:r>
          </a:p>
          <a:p>
            <a:r>
              <a:rPr dirty="0" sz="2800" lang="en-US" smtClean="0"/>
              <a:t>Tenderness of the upper uterine segment.</a:t>
            </a:r>
          </a:p>
          <a:p>
            <a:r>
              <a:rPr dirty="0" sz="2800" lang="en-US" smtClean="0"/>
              <a:t>Failure of descent to occur despite other factors being favorable.</a:t>
            </a:r>
          </a:p>
          <a:p>
            <a:endParaRPr dirty="0" lang="en-US" smtClean="0"/>
          </a:p>
          <a:p>
            <a:pPr>
              <a:buNone/>
            </a:pPr>
            <a:endParaRPr dirty="0" lang="en-US"/>
          </a:p>
        </p:txBody>
      </p:sp>
      <p:sp>
        <p:nvSpPr>
          <p:cNvPr id="105001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2.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2" name=""/>
        <p:cNvGrpSpPr/>
        <p:nvPr/>
      </p:nvGrpSpPr>
      <p:grpSpPr>
        <a:xfrm>
          <a:off x="0" y="0"/>
          <a:ext cx="0" cy="0"/>
          <a:chOff x="0" y="0"/>
          <a:chExt cx="0" cy="0"/>
        </a:xfrm>
      </p:grpSpPr>
      <p:sp>
        <p:nvSpPr>
          <p:cNvPr id="1050019" name="Content Placeholder 2"/>
          <p:cNvSpPr>
            <a:spLocks noGrp="1"/>
          </p:cNvSpPr>
          <p:nvPr>
            <p:ph idx="1"/>
          </p:nvPr>
        </p:nvSpPr>
        <p:spPr>
          <a:xfrm>
            <a:off x="857250" y="304800"/>
            <a:ext cx="10001250" cy="5867400"/>
          </a:xfrm>
        </p:spPr>
        <p:txBody>
          <a:bodyPr>
            <a:noAutofit/>
          </a:bodyPr>
          <a:p>
            <a:r>
              <a:rPr dirty="0" sz="2800" lang="en-US" smtClean="0"/>
              <a:t>Failure of delivery of the placenta, yet separation has occurred and cervix is open.</a:t>
            </a:r>
          </a:p>
          <a:p>
            <a:pPr>
              <a:buNone/>
            </a:pPr>
            <a:r>
              <a:rPr dirty="0" sz="2800" lang="en-US" smtClean="0"/>
              <a:t>		</a:t>
            </a:r>
            <a:r>
              <a:rPr dirty="0" sz="2800" lang="en-US" smtClean="0">
                <a:effectLst>
                  <a:outerShdw algn="tl" blurRad="38100" dir="2700000" dist="38100">
                    <a:srgbClr val="000000">
                      <a:alpha val="43137"/>
                    </a:srgbClr>
                  </a:outerShdw>
                </a:effectLst>
              </a:rPr>
              <a:t>Specific  Management</a:t>
            </a:r>
          </a:p>
          <a:p>
            <a:r>
              <a:rPr dirty="0" sz="2800" lang="en-US" smtClean="0"/>
              <a:t>Inform the doctor immediately.</a:t>
            </a:r>
          </a:p>
          <a:p>
            <a:r>
              <a:rPr dirty="0" sz="2800" lang="en-US" smtClean="0"/>
              <a:t>Since 1</a:t>
            </a:r>
            <a:r>
              <a:rPr baseline="30000" dirty="0" sz="2800" lang="en-US" smtClean="0"/>
              <a:t>st</a:t>
            </a:r>
            <a:r>
              <a:rPr dirty="0" sz="2800" lang="en-US" smtClean="0"/>
              <a:t> stage occurrence is rare, in 2</a:t>
            </a:r>
            <a:r>
              <a:rPr baseline="30000" dirty="0" sz="2800" lang="en-US" smtClean="0"/>
              <a:t>nd</a:t>
            </a:r>
            <a:r>
              <a:rPr dirty="0" sz="2800" lang="en-US" smtClean="0"/>
              <a:t> stage  prepare  mother for theatre and deep G/A is administered.</a:t>
            </a:r>
          </a:p>
          <a:p>
            <a:pPr>
              <a:buFont typeface="Wingdings" pitchFamily="2" charset="2"/>
              <a:buChar char="Ø"/>
            </a:pPr>
            <a:r>
              <a:rPr dirty="0" sz="2800" lang="en-US" smtClean="0"/>
              <a:t>Then delivery is achieved through use of instruments.</a:t>
            </a:r>
          </a:p>
          <a:p>
            <a:pPr>
              <a:buFont typeface="Wingdings" pitchFamily="2" charset="2"/>
              <a:buChar char="Ø"/>
            </a:pPr>
            <a:r>
              <a:rPr dirty="0" sz="2800" lang="en-US" smtClean="0"/>
              <a:t>If it fails, then caesarean  section is carried out.</a:t>
            </a:r>
          </a:p>
          <a:p>
            <a:r>
              <a:rPr dirty="0" sz="2800" lang="en-US" smtClean="0"/>
              <a:t>For 3</a:t>
            </a:r>
            <a:r>
              <a:rPr baseline="30000" dirty="0" sz="2800" lang="en-US" smtClean="0"/>
              <a:t>rd</a:t>
            </a:r>
            <a:r>
              <a:rPr dirty="0" sz="2800" lang="en-US" smtClean="0"/>
              <a:t> stage occurrence, in theatre mother inhales one</a:t>
            </a:r>
          </a:p>
          <a:p>
            <a:pPr>
              <a:buNone/>
            </a:pPr>
            <a:r>
              <a:rPr dirty="0" sz="2800" lang="en-US" smtClean="0"/>
              <a:t>	ampoule of amyl nitrite, failure, then deep G/A.</a:t>
            </a:r>
          </a:p>
        </p:txBody>
      </p:sp>
      <p:sp>
        <p:nvSpPr>
          <p:cNvPr id="105002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3.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3" name=""/>
        <p:cNvGrpSpPr/>
        <p:nvPr/>
      </p:nvGrpSpPr>
      <p:grpSpPr>
        <a:xfrm>
          <a:off x="0" y="0"/>
          <a:ext cx="0" cy="0"/>
          <a:chOff x="0" y="0"/>
          <a:chExt cx="0" cy="0"/>
        </a:xfrm>
      </p:grpSpPr>
      <p:sp>
        <p:nvSpPr>
          <p:cNvPr id="1050021" name="Title 1"/>
          <p:cNvSpPr>
            <a:spLocks noGrp="1"/>
          </p:cNvSpPr>
          <p:nvPr>
            <p:ph type="title"/>
          </p:nvPr>
        </p:nvSpPr>
        <p:spPr/>
        <p:txBody>
          <a:bodyPr/>
          <a:p>
            <a:r>
              <a:rPr dirty="0" lang="en-US" smtClean="0"/>
              <a:t>	</a:t>
            </a:r>
            <a:r>
              <a:rPr b="1" dirty="0" lang="en-US" smtClean="0">
                <a:solidFill>
                  <a:schemeClr val="tx1"/>
                </a:solidFill>
              </a:rPr>
              <a:t> </a:t>
            </a:r>
            <a:r>
              <a:rPr dirty="0" lang="en-US" smtClean="0">
                <a:solidFill>
                  <a:schemeClr val="tx1"/>
                </a:solidFill>
              </a:rPr>
              <a:t>iv. Spurious Labour </a:t>
            </a:r>
            <a:endParaRPr dirty="0" lang="en-US">
              <a:solidFill>
                <a:schemeClr val="tx1"/>
              </a:solidFill>
            </a:endParaRPr>
          </a:p>
        </p:txBody>
      </p:sp>
      <p:sp>
        <p:nvSpPr>
          <p:cNvPr id="1050022" name="Content Placeholder 2"/>
          <p:cNvSpPr>
            <a:spLocks noGrp="1"/>
          </p:cNvSpPr>
          <p:nvPr>
            <p:ph idx="1"/>
          </p:nvPr>
        </p:nvSpPr>
        <p:spPr/>
        <p:txBody>
          <a:bodyPr>
            <a:normAutofit/>
          </a:bodyPr>
          <a:p>
            <a:r>
              <a:rPr dirty="0" sz="2900" lang="en-US" smtClean="0"/>
              <a:t>It is a condition where contractions occur before the onset of true labour.</a:t>
            </a:r>
          </a:p>
          <a:p>
            <a:r>
              <a:rPr dirty="0" sz="2900" lang="en-US" smtClean="0"/>
              <a:t>They are painful and are accompanied by backache, but retraction of uterine muscles is absent.</a:t>
            </a:r>
          </a:p>
          <a:p>
            <a:r>
              <a:rPr dirty="0" sz="2900" lang="en-US" smtClean="0"/>
              <a:t>Show and cervical dilatation are absent too.</a:t>
            </a:r>
          </a:p>
          <a:p>
            <a:r>
              <a:rPr dirty="0" sz="2900" lang="en-US" smtClean="0"/>
              <a:t> Giving pethidine or morphine 1ml to relax the uterine contractions can abolish them.</a:t>
            </a:r>
          </a:p>
          <a:p>
            <a:r>
              <a:rPr dirty="0" sz="2900" lang="en-US" smtClean="0"/>
              <a:t> This differentiates it with true labour.</a:t>
            </a:r>
          </a:p>
          <a:p>
            <a:pPr>
              <a:buNone/>
            </a:pPr>
            <a:endParaRPr dirty="0" lang="en-US"/>
          </a:p>
        </p:txBody>
      </p:sp>
      <p:sp>
        <p:nvSpPr>
          <p:cNvPr id="105002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4.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4" name=""/>
        <p:cNvGrpSpPr/>
        <p:nvPr/>
      </p:nvGrpSpPr>
      <p:grpSpPr>
        <a:xfrm>
          <a:off x="0" y="0"/>
          <a:ext cx="0" cy="0"/>
          <a:chOff x="0" y="0"/>
          <a:chExt cx="0" cy="0"/>
        </a:xfrm>
      </p:grpSpPr>
      <p:sp>
        <p:nvSpPr>
          <p:cNvPr id="1050024" name="Title 1"/>
          <p:cNvSpPr>
            <a:spLocks noGrp="1"/>
          </p:cNvSpPr>
          <p:nvPr>
            <p:ph type="title"/>
          </p:nvPr>
        </p:nvSpPr>
        <p:spPr/>
        <p:txBody>
          <a:bodyPr/>
          <a:p>
            <a:r>
              <a:rPr dirty="0" lang="en-US" smtClean="0"/>
              <a:t>		</a:t>
            </a:r>
            <a:r>
              <a:rPr b="1" dirty="0" i="1" lang="en-US" smtClean="0">
                <a:solidFill>
                  <a:schemeClr val="tx1"/>
                </a:solidFill>
              </a:rPr>
              <a:t> 3. Cervical  </a:t>
            </a:r>
            <a:r>
              <a:rPr b="1" dirty="0" i="1" lang="en-US" err="1" smtClean="0">
                <a:solidFill>
                  <a:schemeClr val="tx1"/>
                </a:solidFill>
              </a:rPr>
              <a:t>Dystocia</a:t>
            </a:r>
            <a:endParaRPr b="1" dirty="0" lang="en-US">
              <a:solidFill>
                <a:schemeClr val="tx1"/>
              </a:solidFill>
            </a:endParaRPr>
          </a:p>
        </p:txBody>
      </p:sp>
      <p:sp>
        <p:nvSpPr>
          <p:cNvPr id="1050025" name="Content Placeholder 2"/>
          <p:cNvSpPr>
            <a:spLocks noGrp="1"/>
          </p:cNvSpPr>
          <p:nvPr>
            <p:ph idx="1"/>
          </p:nvPr>
        </p:nvSpPr>
        <p:spPr>
          <a:xfrm>
            <a:off x="571500" y="1524000"/>
            <a:ext cx="10287000" cy="4876800"/>
          </a:xfrm>
        </p:spPr>
        <p:txBody>
          <a:bodyPr>
            <a:normAutofit lnSpcReduction="10000"/>
          </a:bodyPr>
          <a:p>
            <a:r>
              <a:rPr dirty="0" lang="en-US" smtClean="0"/>
              <a:t>It’s a situation, where external cervical os fails to dilate despite good uterine contractions and well applied presenting part.</a:t>
            </a:r>
          </a:p>
          <a:p>
            <a:pPr>
              <a:buNone/>
            </a:pPr>
            <a:r>
              <a:rPr dirty="0" lang="en-US" smtClean="0"/>
              <a:t>		</a:t>
            </a:r>
            <a:r>
              <a:rPr dirty="0" sz="3200" lang="en-US" smtClean="0">
                <a:effectLst>
                  <a:outerShdw algn="tl" blurRad="38100" dir="2700000" dist="38100">
                    <a:srgbClr val="000000">
                      <a:alpha val="43137"/>
                    </a:srgbClr>
                  </a:outerShdw>
                </a:effectLst>
              </a:rPr>
              <a:t>Classification</a:t>
            </a:r>
            <a:endParaRPr dirty="0" lang="en-US" smtClean="0">
              <a:effectLst>
                <a:outerShdw algn="tl" blurRad="38100" dir="2700000" dist="38100">
                  <a:srgbClr val="000000">
                    <a:alpha val="43137"/>
                  </a:srgbClr>
                </a:outerShdw>
              </a:effectLst>
            </a:endParaRPr>
          </a:p>
          <a:p>
            <a:pPr>
              <a:buNone/>
            </a:pPr>
            <a:r>
              <a:rPr dirty="0" lang="en-US" smtClean="0"/>
              <a:t>	</a:t>
            </a:r>
            <a:r>
              <a:rPr dirty="0" lang="en-US" u="sng" smtClean="0"/>
              <a:t>a. Based on the cause.</a:t>
            </a:r>
          </a:p>
          <a:p>
            <a:r>
              <a:rPr dirty="0" lang="en-US" smtClean="0"/>
              <a:t>Primary: Results from congenital abnormality of the cervical structure. Cervix dilates up to a certain level, then a cartilageous ring forms.</a:t>
            </a:r>
          </a:p>
          <a:p>
            <a:r>
              <a:rPr dirty="0" lang="en-US" smtClean="0"/>
              <a:t>Secondary: Scarring of cervix from a previous trauma is responsible.</a:t>
            </a:r>
            <a:endParaRPr dirty="0" lang="en-US"/>
          </a:p>
        </p:txBody>
      </p:sp>
      <p:sp>
        <p:nvSpPr>
          <p:cNvPr id="105002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5.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5" name=""/>
        <p:cNvGrpSpPr/>
        <p:nvPr/>
      </p:nvGrpSpPr>
      <p:grpSpPr>
        <a:xfrm>
          <a:off x="0" y="0"/>
          <a:ext cx="0" cy="0"/>
          <a:chOff x="0" y="0"/>
          <a:chExt cx="0" cy="0"/>
        </a:xfrm>
      </p:grpSpPr>
      <p:sp>
        <p:nvSpPr>
          <p:cNvPr id="1050027" name="Content Placeholder 2"/>
          <p:cNvSpPr>
            <a:spLocks noGrp="1"/>
          </p:cNvSpPr>
          <p:nvPr>
            <p:ph idx="1"/>
          </p:nvPr>
        </p:nvSpPr>
        <p:spPr>
          <a:xfrm>
            <a:off x="666750" y="228600"/>
            <a:ext cx="10191750" cy="6019800"/>
          </a:xfrm>
        </p:spPr>
        <p:txBody>
          <a:bodyPr>
            <a:noAutofit/>
          </a:bodyPr>
          <a:p>
            <a:pPr>
              <a:buNone/>
            </a:pPr>
            <a:r>
              <a:rPr dirty="0" sz="3200" lang="en-US" smtClean="0"/>
              <a:t>	</a:t>
            </a:r>
            <a:r>
              <a:rPr dirty="0" sz="3200" lang="en-US" u="sng" smtClean="0"/>
              <a:t>b. Based on the state of the cervix.</a:t>
            </a:r>
          </a:p>
          <a:p>
            <a:r>
              <a:rPr dirty="0" sz="3200" lang="en-US" smtClean="0"/>
              <a:t>Rigid cervix: The cervix feels thin, tight and unyielding on vaginal examination.</a:t>
            </a:r>
          </a:p>
          <a:p>
            <a:pPr>
              <a:buFont typeface="Wingdings" pitchFamily="2" charset="2"/>
              <a:buChar char="Ø"/>
            </a:pPr>
            <a:r>
              <a:rPr dirty="0" sz="3200" lang="en-US" smtClean="0"/>
              <a:t>It is characterised by severe persistent backache.</a:t>
            </a:r>
          </a:p>
          <a:p>
            <a:r>
              <a:rPr dirty="0" sz="3200" lang="en-US" smtClean="0"/>
              <a:t>Annular detachement of the cervix: Characterised by persistent and prolonged pressure on the rigid cervix, hence ischemia. </a:t>
            </a:r>
          </a:p>
          <a:p>
            <a:pPr>
              <a:buFont typeface="Wingdings" pitchFamily="2" charset="2"/>
              <a:buChar char="Ø"/>
            </a:pPr>
            <a:r>
              <a:rPr dirty="0" sz="3200" lang="en-US" smtClean="0"/>
              <a:t>The necrosed ring of the cervix is detached and expelled leading to a uterine rupture.</a:t>
            </a:r>
          </a:p>
          <a:p>
            <a:endParaRPr dirty="0" sz="3200" lang="en-US" smtClean="0"/>
          </a:p>
          <a:p>
            <a:endParaRPr dirty="0" sz="3200" lang="en-US"/>
          </a:p>
        </p:txBody>
      </p:sp>
      <p:sp>
        <p:nvSpPr>
          <p:cNvPr id="105002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6.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6" name=""/>
        <p:cNvGrpSpPr/>
        <p:nvPr/>
      </p:nvGrpSpPr>
      <p:grpSpPr>
        <a:xfrm>
          <a:off x="0" y="0"/>
          <a:ext cx="0" cy="0"/>
          <a:chOff x="0" y="0"/>
          <a:chExt cx="0" cy="0"/>
        </a:xfrm>
      </p:grpSpPr>
      <p:sp>
        <p:nvSpPr>
          <p:cNvPr id="1050029" name="Content Placeholder 2"/>
          <p:cNvSpPr>
            <a:spLocks noGrp="1"/>
          </p:cNvSpPr>
          <p:nvPr>
            <p:ph idx="1"/>
          </p:nvPr>
        </p:nvSpPr>
        <p:spPr>
          <a:xfrm>
            <a:off x="762000" y="228600"/>
            <a:ext cx="10096500" cy="6248400"/>
          </a:xfrm>
        </p:spPr>
        <p:txBody>
          <a:bodyPr>
            <a:noAutofit/>
          </a:bodyPr>
          <a:p>
            <a:r>
              <a:rPr dirty="0" sz="2700" lang="en-US" smtClean="0"/>
              <a:t>Oedematous anterior lip of the cervix involves the anterior lip being nipped between the foetal head and the pelvic brim.</a:t>
            </a:r>
          </a:p>
          <a:p>
            <a:pPr>
              <a:buFont typeface="Wingdings" pitchFamily="2" charset="2"/>
              <a:buChar char="Ø"/>
            </a:pPr>
            <a:r>
              <a:rPr dirty="0" sz="2700" lang="en-US" smtClean="0"/>
              <a:t>The rest of the cervix feels thin hence delays first stage.</a:t>
            </a:r>
          </a:p>
          <a:p>
            <a:pPr>
              <a:buFont typeface="Wingdings" pitchFamily="2" charset="2"/>
              <a:buChar char="Ø"/>
            </a:pPr>
            <a:r>
              <a:rPr dirty="0" sz="2700" lang="en-US" smtClean="0"/>
              <a:t>During 2</a:t>
            </a:r>
            <a:r>
              <a:rPr baseline="30000" dirty="0" sz="2700" lang="en-US" smtClean="0"/>
              <a:t>nd</a:t>
            </a:r>
            <a:r>
              <a:rPr dirty="0" sz="2700" lang="en-US" smtClean="0"/>
              <a:t> stage , it’s seen at the vulva as a bluish glistering cervix, in front of fetal head anteriorly.</a:t>
            </a:r>
          </a:p>
          <a:p>
            <a:pPr>
              <a:buNone/>
            </a:pPr>
            <a:r>
              <a:rPr dirty="0" sz="2700" lang="en-US" smtClean="0"/>
              <a:t>			</a:t>
            </a:r>
            <a:r>
              <a:rPr b="1" dirty="0" sz="2800" lang="en-US" smtClean="0">
                <a:effectLst>
                  <a:outerShdw algn="tl" blurRad="38100" dir="2700000" dist="38100">
                    <a:srgbClr val="000000">
                      <a:alpha val="43137"/>
                    </a:srgbClr>
                  </a:outerShdw>
                </a:effectLst>
              </a:rPr>
              <a:t>Specific  Management</a:t>
            </a:r>
            <a:endParaRPr b="1" dirty="0" sz="2700" lang="en-US" smtClean="0">
              <a:effectLst>
                <a:outerShdw algn="tl" blurRad="38100" dir="2700000" dist="38100">
                  <a:srgbClr val="000000">
                    <a:alpha val="43137"/>
                  </a:srgbClr>
                </a:outerShdw>
              </a:effectLst>
            </a:endParaRPr>
          </a:p>
          <a:p>
            <a:r>
              <a:rPr dirty="0" sz="2700" lang="en-US" smtClean="0"/>
              <a:t>Generally,  caesarean section, except for  oedematous anterior lip, where gentle pressure is applied to ease the lip  over the fetal head during second stage. </a:t>
            </a:r>
            <a:r>
              <a:rPr dirty="0" sz="2700" lang="en-US" smtClean="0">
                <a:effectLst>
                  <a:outerShdw algn="tl" blurRad="38100" dir="2700000" dist="38100">
                    <a:srgbClr val="000000">
                      <a:alpha val="43137"/>
                    </a:srgbClr>
                  </a:outerShdw>
                </a:effectLst>
              </a:rPr>
              <a:t> </a:t>
            </a:r>
          </a:p>
        </p:txBody>
      </p:sp>
      <p:sp>
        <p:nvSpPr>
          <p:cNvPr id="105003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7.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7" name=""/>
        <p:cNvGrpSpPr/>
        <p:nvPr/>
      </p:nvGrpSpPr>
      <p:grpSpPr>
        <a:xfrm>
          <a:off x="0" y="0"/>
          <a:ext cx="0" cy="0"/>
          <a:chOff x="0" y="0"/>
          <a:chExt cx="0" cy="0"/>
        </a:xfrm>
      </p:grpSpPr>
      <p:sp>
        <p:nvSpPr>
          <p:cNvPr id="1050031" name="Title 1"/>
          <p:cNvSpPr>
            <a:spLocks noGrp="1"/>
          </p:cNvSpPr>
          <p:nvPr>
            <p:ph type="title"/>
          </p:nvPr>
        </p:nvSpPr>
        <p:spPr/>
        <p:txBody>
          <a:bodyPr>
            <a:normAutofit/>
          </a:bodyPr>
          <a:p>
            <a:r>
              <a:rPr dirty="0" lang="en-US" smtClean="0"/>
              <a:t>	</a:t>
            </a:r>
            <a:r>
              <a:rPr dirty="0" i="1" lang="en-US" smtClean="0"/>
              <a:t> </a:t>
            </a:r>
            <a:r>
              <a:rPr b="1" dirty="0" i="1" lang="en-US" smtClean="0">
                <a:solidFill>
                  <a:schemeClr val="tx1"/>
                </a:solidFill>
              </a:rPr>
              <a:t>4. Excessive  Uterine  Action</a:t>
            </a:r>
            <a:endParaRPr b="1" dirty="0" lang="en-US">
              <a:solidFill>
                <a:schemeClr val="tx1"/>
              </a:solidFill>
            </a:endParaRPr>
          </a:p>
        </p:txBody>
      </p:sp>
      <p:sp>
        <p:nvSpPr>
          <p:cNvPr id="1050032" name="Content Placeholder 2"/>
          <p:cNvSpPr>
            <a:spLocks noGrp="1"/>
          </p:cNvSpPr>
          <p:nvPr>
            <p:ph idx="1"/>
          </p:nvPr>
        </p:nvSpPr>
        <p:spPr>
          <a:xfrm>
            <a:off x="666750" y="1447800"/>
            <a:ext cx="10191750" cy="4953000"/>
          </a:xfrm>
        </p:spPr>
        <p:txBody>
          <a:bodyPr>
            <a:normAutofit lnSpcReduction="10000"/>
          </a:bodyPr>
          <a:p>
            <a:pPr>
              <a:buNone/>
            </a:pPr>
            <a:r>
              <a:rPr dirty="0" sz="2800" lang="en-US" smtClean="0"/>
              <a:t>		</a:t>
            </a:r>
            <a:r>
              <a:rPr dirty="0" sz="2800" lang="en-US" u="sng" smtClean="0"/>
              <a:t>i. Hypertonic(Tonic) Uterine contractions</a:t>
            </a:r>
          </a:p>
          <a:p>
            <a:r>
              <a:rPr dirty="0" sz="2800" lang="en-US" smtClean="0"/>
              <a:t>Contractions are excessively longer,stronger and more frequent such that they are almost continous, since the  relaxation periods are very short.</a:t>
            </a:r>
          </a:p>
          <a:p>
            <a:r>
              <a:rPr dirty="0" sz="2800" lang="en-US" smtClean="0"/>
              <a:t>Finally, descent and cervical dilatation may be very slow or arrested.</a:t>
            </a:r>
          </a:p>
          <a:p>
            <a:pPr>
              <a:buNone/>
            </a:pPr>
            <a:r>
              <a:rPr dirty="0" sz="2800" lang="en-US" smtClean="0"/>
              <a:t>		</a:t>
            </a:r>
            <a:r>
              <a:rPr dirty="0" sz="3600" lang="en-US" smtClean="0">
                <a:effectLst>
                  <a:outerShdw algn="tl" blurRad="38100" dir="2700000" dist="38100">
                    <a:srgbClr val="000000">
                      <a:alpha val="43137"/>
                    </a:srgbClr>
                  </a:outerShdw>
                </a:effectLst>
              </a:rPr>
              <a:t>Causes</a:t>
            </a:r>
            <a:endParaRPr dirty="0" sz="2800" lang="en-US" smtClean="0">
              <a:effectLst>
                <a:outerShdw algn="tl" blurRad="38100" dir="2700000" dist="38100">
                  <a:srgbClr val="000000">
                    <a:alpha val="43137"/>
                  </a:srgbClr>
                </a:outerShdw>
              </a:effectLst>
            </a:endParaRPr>
          </a:p>
          <a:p>
            <a:r>
              <a:rPr dirty="0" sz="2800" lang="en-US" smtClean="0"/>
              <a:t>Cephalpelvic  disproportion.</a:t>
            </a:r>
          </a:p>
          <a:p>
            <a:r>
              <a:rPr dirty="0" sz="2800" lang="en-US" smtClean="0"/>
              <a:t>Malpresentation.</a:t>
            </a:r>
          </a:p>
          <a:p>
            <a:r>
              <a:rPr dirty="0" sz="2800" lang="en-US" smtClean="0"/>
              <a:t>Misuse of  synitocinon.</a:t>
            </a:r>
          </a:p>
          <a:p>
            <a:pPr>
              <a:buNone/>
            </a:pPr>
            <a:endParaRPr dirty="0" sz="2800" lang="en-US"/>
          </a:p>
        </p:txBody>
      </p:sp>
      <p:sp>
        <p:nvSpPr>
          <p:cNvPr id="105003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8.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8" name=""/>
        <p:cNvGrpSpPr/>
        <p:nvPr/>
      </p:nvGrpSpPr>
      <p:grpSpPr>
        <a:xfrm>
          <a:off x="0" y="0"/>
          <a:ext cx="0" cy="0"/>
          <a:chOff x="0" y="0"/>
          <a:chExt cx="0" cy="0"/>
        </a:xfrm>
      </p:grpSpPr>
      <p:sp>
        <p:nvSpPr>
          <p:cNvPr id="1050034" name="Title 1"/>
          <p:cNvSpPr>
            <a:spLocks noGrp="1"/>
          </p:cNvSpPr>
          <p:nvPr>
            <p:ph type="title"/>
          </p:nvPr>
        </p:nvSpPr>
        <p:spPr/>
        <p:txBody>
          <a:bodyPr/>
          <a:p>
            <a:r>
              <a:rPr dirty="0" lang="en-US" smtClean="0"/>
              <a:t>	</a:t>
            </a:r>
            <a:r>
              <a:rPr dirty="0" lang="en-US" smtClean="0">
                <a:solidFill>
                  <a:schemeClr val="tx1"/>
                </a:solidFill>
              </a:rPr>
              <a:t>	</a:t>
            </a:r>
            <a:r>
              <a:rPr dirty="0" lang="en-US" smtClean="0">
                <a:solidFill>
                  <a:schemeClr val="tx1"/>
                </a:solidFill>
                <a:effectLst>
                  <a:outerShdw algn="tl" blurRad="38100" dir="2700000" dist="38100">
                    <a:srgbClr val="000000">
                      <a:alpha val="43137"/>
                    </a:srgbClr>
                  </a:outerShdw>
                </a:effectLst>
              </a:rPr>
              <a:t> Management</a:t>
            </a:r>
            <a:endParaRPr dirty="0" lang="en-US">
              <a:solidFill>
                <a:schemeClr val="tx1"/>
              </a:solidFill>
            </a:endParaRPr>
          </a:p>
        </p:txBody>
      </p:sp>
      <p:sp>
        <p:nvSpPr>
          <p:cNvPr id="1050035" name="Content Placeholder 2"/>
          <p:cNvSpPr>
            <a:spLocks noGrp="1"/>
          </p:cNvSpPr>
          <p:nvPr>
            <p:ph idx="1"/>
          </p:nvPr>
        </p:nvSpPr>
        <p:spPr>
          <a:xfrm>
            <a:off x="666750" y="1295400"/>
            <a:ext cx="10477500" cy="5105400"/>
          </a:xfrm>
        </p:spPr>
        <p:txBody>
          <a:bodyPr>
            <a:noAutofit/>
          </a:bodyPr>
          <a:p>
            <a:r>
              <a:rPr dirty="0" sz="2800" lang="en-US" smtClean="0"/>
              <a:t>Inform the doctor.</a:t>
            </a:r>
          </a:p>
          <a:p>
            <a:r>
              <a:rPr dirty="0" sz="2800" lang="en-US" smtClean="0"/>
              <a:t>Discontinue synitocinon drip if on and commence  normal saline drip, but if vomiting then a 5% dextrose.</a:t>
            </a:r>
          </a:p>
          <a:p>
            <a:r>
              <a:rPr dirty="0" sz="2800" lang="en-US" smtClean="0"/>
              <a:t>Reassess for the actual cause.</a:t>
            </a:r>
          </a:p>
          <a:p>
            <a:r>
              <a:rPr dirty="0" sz="2800" lang="en-US" smtClean="0"/>
              <a:t>Treat distress through oxygen administration and a dose of sodium bicarbonate to control metabolic acidosis.</a:t>
            </a:r>
          </a:p>
          <a:p>
            <a:r>
              <a:rPr dirty="0" sz="2800" lang="en-US" smtClean="0"/>
              <a:t>Monitor fetal/ maternal condition &amp; progress of labour closely.</a:t>
            </a:r>
          </a:p>
          <a:p>
            <a:r>
              <a:rPr dirty="0" sz="2800" lang="en-US" smtClean="0"/>
              <a:t> In most cases C/S is the best option,but if nearing 2</a:t>
            </a:r>
            <a:r>
              <a:rPr baseline="30000" dirty="0" sz="2800" lang="en-US" smtClean="0"/>
              <a:t>nd</a:t>
            </a:r>
            <a:r>
              <a:rPr dirty="0" sz="2800" lang="en-US" smtClean="0"/>
              <a:t> stage and all is well then  SVD.</a:t>
            </a:r>
          </a:p>
        </p:txBody>
      </p:sp>
      <p:sp>
        <p:nvSpPr>
          <p:cNvPr id="105003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19.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299" name=""/>
        <p:cNvGrpSpPr/>
        <p:nvPr/>
      </p:nvGrpSpPr>
      <p:grpSpPr>
        <a:xfrm>
          <a:off x="0" y="0"/>
          <a:ext cx="0" cy="0"/>
          <a:chOff x="0" y="0"/>
          <a:chExt cx="0" cy="0"/>
        </a:xfrm>
      </p:grpSpPr>
      <p:sp>
        <p:nvSpPr>
          <p:cNvPr id="1050037" name="Title 1"/>
          <p:cNvSpPr>
            <a:spLocks noGrp="1"/>
          </p:cNvSpPr>
          <p:nvPr>
            <p:ph type="title"/>
          </p:nvPr>
        </p:nvSpPr>
        <p:spPr/>
        <p:txBody>
          <a:bodyPr/>
          <a:p>
            <a:r>
              <a:rPr dirty="0" lang="en-US" smtClean="0"/>
              <a:t>	</a:t>
            </a:r>
            <a:r>
              <a:rPr b="1" dirty="0" i="1" lang="en-US" smtClean="0"/>
              <a:t> </a:t>
            </a:r>
            <a:r>
              <a:rPr dirty="0" lang="en-US" u="sng" smtClean="0">
                <a:solidFill>
                  <a:schemeClr val="tx1"/>
                </a:solidFill>
              </a:rPr>
              <a:t>ii. Precipitate  labour</a:t>
            </a:r>
            <a:endParaRPr dirty="0" lang="en-US" u="sng">
              <a:solidFill>
                <a:schemeClr val="tx1"/>
              </a:solidFill>
            </a:endParaRPr>
          </a:p>
        </p:txBody>
      </p:sp>
      <p:sp>
        <p:nvSpPr>
          <p:cNvPr id="1050038" name="Content Placeholder 2"/>
          <p:cNvSpPr>
            <a:spLocks noGrp="1"/>
          </p:cNvSpPr>
          <p:nvPr>
            <p:ph idx="1"/>
          </p:nvPr>
        </p:nvSpPr>
        <p:spPr/>
        <p:txBody>
          <a:bodyPr>
            <a:normAutofit/>
          </a:bodyPr>
          <a:p>
            <a:r>
              <a:rPr dirty="0" sz="2900" lang="en-US" smtClean="0"/>
              <a:t>It’s a type of labour, where the whole process is concluded in less than 3 hours.</a:t>
            </a:r>
          </a:p>
          <a:p>
            <a:pPr>
              <a:buNone/>
            </a:pPr>
            <a:r>
              <a:rPr dirty="0" sz="2900" lang="en-US" smtClean="0"/>
              <a:t>		</a:t>
            </a:r>
            <a:r>
              <a:rPr dirty="0" sz="3600" lang="en-US" smtClean="0">
                <a:effectLst>
                  <a:outerShdw algn="tl" blurRad="38100" dir="2700000" dist="38100">
                    <a:srgbClr val="000000">
                      <a:alpha val="43137"/>
                    </a:srgbClr>
                  </a:outerShdw>
                </a:effectLst>
              </a:rPr>
              <a:t>Clinical  features</a:t>
            </a:r>
            <a:endParaRPr dirty="0" sz="2900" lang="en-US" smtClean="0">
              <a:effectLst>
                <a:outerShdw algn="tl" blurRad="38100" dir="2700000" dist="38100">
                  <a:srgbClr val="000000">
                    <a:alpha val="43137"/>
                  </a:srgbClr>
                </a:outerShdw>
              </a:effectLst>
            </a:endParaRPr>
          </a:p>
          <a:p>
            <a:r>
              <a:rPr dirty="0" sz="2900" lang="en-US" smtClean="0"/>
              <a:t>Strong and frequent uterine contractions as from onset.</a:t>
            </a:r>
          </a:p>
          <a:p>
            <a:r>
              <a:rPr dirty="0" sz="2900" lang="en-US" smtClean="0"/>
              <a:t>Fast descent and cervical dilatation.</a:t>
            </a:r>
          </a:p>
          <a:p>
            <a:r>
              <a:rPr dirty="0" sz="2900" lang="en-US" smtClean="0"/>
              <a:t>Fast delivery ie in less than 10 minutes, 2</a:t>
            </a:r>
            <a:r>
              <a:rPr baseline="30000" dirty="0" sz="2900" lang="en-US" smtClean="0"/>
              <a:t>nd</a:t>
            </a:r>
            <a:r>
              <a:rPr dirty="0" sz="2900" lang="en-US" smtClean="0"/>
              <a:t> stage is completed, followed by  a 3</a:t>
            </a:r>
            <a:r>
              <a:rPr baseline="30000" dirty="0" sz="2900" lang="en-US" smtClean="0"/>
              <a:t>rd</a:t>
            </a:r>
            <a:r>
              <a:rPr dirty="0" sz="2900" lang="en-US" smtClean="0"/>
              <a:t> stage of perhaps 5 minutes.</a:t>
            </a:r>
          </a:p>
        </p:txBody>
      </p:sp>
      <p:sp>
        <p:nvSpPr>
          <p:cNvPr id="105003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20.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300" name=""/>
        <p:cNvGrpSpPr/>
        <p:nvPr/>
      </p:nvGrpSpPr>
      <p:grpSpPr>
        <a:xfrm>
          <a:off x="0" y="0"/>
          <a:ext cx="0" cy="0"/>
          <a:chOff x="0" y="0"/>
          <a:chExt cx="0" cy="0"/>
        </a:xfrm>
      </p:grpSpPr>
      <p:sp>
        <p:nvSpPr>
          <p:cNvPr id="1050040" name="Title 1"/>
          <p:cNvSpPr>
            <a:spLocks noGrp="1"/>
          </p:cNvSpPr>
          <p:nvPr>
            <p:ph type="title"/>
          </p:nvPr>
        </p:nvSpPr>
        <p:spPr/>
        <p:txBody>
          <a:bodyPr/>
          <a:p>
            <a:r>
              <a:rPr dirty="0" lang="en-US" smtClean="0"/>
              <a:t>		</a:t>
            </a:r>
            <a:r>
              <a:rPr dirty="0" lang="en-US" smtClean="0">
                <a:effectLst>
                  <a:outerShdw algn="tl" blurRad="38100" dir="2700000" dist="38100">
                    <a:srgbClr val="000000">
                      <a:alpha val="43137"/>
                    </a:srgbClr>
                  </a:outerShdw>
                </a:effectLst>
              </a:rPr>
              <a:t> </a:t>
            </a:r>
            <a:r>
              <a:rPr dirty="0" lang="en-US" smtClean="0">
                <a:solidFill>
                  <a:schemeClr val="tx1"/>
                </a:solidFill>
                <a:effectLst>
                  <a:outerShdw algn="tl" blurRad="38100" dir="2700000" dist="38100">
                    <a:srgbClr val="000000">
                      <a:alpha val="43137"/>
                    </a:srgbClr>
                  </a:outerShdw>
                </a:effectLst>
              </a:rPr>
              <a:t>Complications</a:t>
            </a:r>
            <a:endParaRPr dirty="0" lang="en-US">
              <a:solidFill>
                <a:schemeClr val="tx1"/>
              </a:solidFill>
            </a:endParaRPr>
          </a:p>
        </p:txBody>
      </p:sp>
      <p:sp>
        <p:nvSpPr>
          <p:cNvPr id="1050041" name="Content Placeholder 2"/>
          <p:cNvSpPr>
            <a:spLocks noGrp="1"/>
          </p:cNvSpPr>
          <p:nvPr>
            <p:ph idx="1"/>
          </p:nvPr>
        </p:nvSpPr>
        <p:spPr>
          <a:xfrm>
            <a:off x="571500" y="1447800"/>
            <a:ext cx="10287000" cy="4800600"/>
          </a:xfrm>
        </p:spPr>
        <p:txBody>
          <a:bodyPr>
            <a:normAutofit/>
          </a:bodyPr>
          <a:p>
            <a:pPr>
              <a:buNone/>
            </a:pPr>
            <a:r>
              <a:rPr dirty="0" sz="2800" lang="en-US" smtClean="0">
                <a:effectLst>
                  <a:outerShdw algn="tl" blurRad="38100" dir="2700000" dist="38100">
                    <a:srgbClr val="000000">
                      <a:alpha val="43137"/>
                    </a:srgbClr>
                  </a:outerShdw>
                </a:effectLst>
              </a:rPr>
              <a:t>	</a:t>
            </a:r>
            <a:r>
              <a:rPr b="1" dirty="0" sz="2800" lang="en-US" smtClean="0"/>
              <a:t> </a:t>
            </a:r>
            <a:r>
              <a:rPr b="1" dirty="0" sz="2800" lang="en-US" u="sng" smtClean="0"/>
              <a:t>i. Maternal</a:t>
            </a:r>
          </a:p>
          <a:p>
            <a:r>
              <a:rPr dirty="0" sz="2800" lang="en-US" smtClean="0"/>
              <a:t>Excessive trauma to the genital tract.</a:t>
            </a:r>
          </a:p>
          <a:p>
            <a:r>
              <a:rPr dirty="0" sz="2800" lang="en-US" smtClean="0"/>
              <a:t>Postpartum haemorrhage due to uterine atony or severe trauma.</a:t>
            </a:r>
          </a:p>
          <a:p>
            <a:r>
              <a:rPr dirty="0" sz="2800" lang="en-US" smtClean="0"/>
              <a:t>uterine inversion, shock and collapse may occur due to sudden relief of  intrauterine  pressure.</a:t>
            </a:r>
          </a:p>
          <a:p>
            <a:r>
              <a:rPr dirty="0" sz="2800" lang="en-US" smtClean="0"/>
              <a:t>Amniotic fluid embolism, as some drops may be  aspirated into the general circulation.</a:t>
            </a:r>
          </a:p>
          <a:p>
            <a:r>
              <a:rPr dirty="0" sz="2800" lang="en-US" smtClean="0"/>
              <a:t>Psychological trauma leading to poor outlook towards future pregnancy.</a:t>
            </a:r>
            <a:endParaRPr dirty="0" sz="2800" lang="en-US"/>
          </a:p>
        </p:txBody>
      </p:sp>
      <p:sp>
        <p:nvSpPr>
          <p:cNvPr id="105004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21.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301" name=""/>
        <p:cNvGrpSpPr/>
        <p:nvPr/>
      </p:nvGrpSpPr>
      <p:grpSpPr>
        <a:xfrm>
          <a:off x="0" y="0"/>
          <a:ext cx="0" cy="0"/>
          <a:chOff x="0" y="0"/>
          <a:chExt cx="0" cy="0"/>
        </a:xfrm>
      </p:grpSpPr>
      <p:sp>
        <p:nvSpPr>
          <p:cNvPr id="1050043" name="Content Placeholder 4"/>
          <p:cNvSpPr>
            <a:spLocks noGrp="1"/>
          </p:cNvSpPr>
          <p:nvPr>
            <p:ph idx="1"/>
          </p:nvPr>
        </p:nvSpPr>
        <p:spPr>
          <a:xfrm>
            <a:off x="571500" y="457200"/>
            <a:ext cx="10287000" cy="5867400"/>
          </a:xfrm>
        </p:spPr>
        <p:txBody>
          <a:bodyPr>
            <a:normAutofit/>
          </a:bodyPr>
          <a:p>
            <a:pPr>
              <a:buNone/>
            </a:pPr>
            <a:r>
              <a:rPr dirty="0" sz="2800" lang="en-US" smtClean="0"/>
              <a:t>	</a:t>
            </a:r>
            <a:r>
              <a:rPr b="1" dirty="0" sz="2800" lang="en-US" u="sng" smtClean="0"/>
              <a:t>2.Fetal / Neonate</a:t>
            </a:r>
          </a:p>
          <a:p>
            <a:r>
              <a:rPr dirty="0" sz="2800" lang="en-US" smtClean="0"/>
              <a:t>Fresh stillbirth due to tight cord around the neck as the mother deliver alone.</a:t>
            </a:r>
          </a:p>
          <a:p>
            <a:r>
              <a:rPr dirty="0" sz="2800" lang="en-US" smtClean="0"/>
              <a:t>Severe birth trauma, such as depressed fracture of the skull, excessive </a:t>
            </a:r>
            <a:r>
              <a:rPr dirty="0" sz="2800" lang="en-US" err="1" smtClean="0"/>
              <a:t>moulding</a:t>
            </a:r>
            <a:r>
              <a:rPr dirty="0" sz="2800" lang="en-US" smtClean="0"/>
              <a:t> and intracranial haemorrhage among others.</a:t>
            </a:r>
          </a:p>
          <a:p>
            <a:r>
              <a:rPr dirty="0" sz="2800" lang="en-US" smtClean="0"/>
              <a:t>Severe asphyxia, due to  severe birth injuries  and aspiration of liquor as she delivers alone in presence of a disabling condition.</a:t>
            </a:r>
          </a:p>
          <a:p>
            <a:r>
              <a:rPr dirty="0" sz="2800" lang="en-US" smtClean="0"/>
              <a:t>Neonatal tetanus, as birth occurs in unhygienic areas.</a:t>
            </a:r>
            <a:endParaRPr dirty="0" sz="2800" lang="en-US"/>
          </a:p>
        </p:txBody>
      </p:sp>
      <p:sp>
        <p:nvSpPr>
          <p:cNvPr id="105004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22.xml><?xml version="1.0" encoding="utf-8"?>
<p:sld xmlns:a="http://schemas.openxmlformats.org/drawingml/2006/main" xmlns:r="http://schemas.openxmlformats.org/officeDocument/2006/relationships" xmlns:p="http://schemas.openxmlformats.org/presentationml/2006/main">
  <p:cSld>
    <p:bg>
      <p:bgPr>
        <a:gradFill>
          <a:gsLst>
            <a:gs pos="0">
              <a:srgbClr val="D6B19C"/>
            </a:gs>
            <a:gs pos="30000">
              <a:srgbClr val="D49E6C"/>
            </a:gs>
            <a:gs pos="70000">
              <a:srgbClr val="A65528"/>
            </a:gs>
            <a:gs pos="100000">
              <a:srgbClr val="663012"/>
            </a:gs>
          </a:gsLst>
          <a:lin ang="5400000" scaled="0"/>
        </a:gradFill>
      </p:bgPr>
    </p:bg>
    <p:spTree>
      <p:nvGrpSpPr>
        <p:cNvPr id="1302" name=""/>
        <p:cNvGrpSpPr/>
        <p:nvPr/>
      </p:nvGrpSpPr>
      <p:grpSpPr>
        <a:xfrm>
          <a:off x="0" y="0"/>
          <a:ext cx="0" cy="0"/>
          <a:chOff x="0" y="0"/>
          <a:chExt cx="0" cy="0"/>
        </a:xfrm>
      </p:grpSpPr>
      <p:sp>
        <p:nvSpPr>
          <p:cNvPr id="1050045" name="Title 1"/>
          <p:cNvSpPr>
            <a:spLocks noGrp="1"/>
          </p:cNvSpPr>
          <p:nvPr>
            <p:ph type="title"/>
          </p:nvPr>
        </p:nvSpPr>
        <p:spPr/>
        <p:txBody>
          <a:bodyPr>
            <a:normAutofit/>
          </a:bodyPr>
          <a:p>
            <a:r>
              <a:rPr b="1" dirty="0" lang="en-US" smtClean="0"/>
              <a:t> </a:t>
            </a:r>
            <a:r>
              <a:rPr b="1" dirty="0" sz="3600" lang="en-US" smtClean="0">
                <a:solidFill>
                  <a:schemeClr val="tx1"/>
                </a:solidFill>
              </a:rPr>
              <a:t>Prevention of  Abnormal Patterns</a:t>
            </a:r>
            <a:endParaRPr dirty="0" sz="3600" lang="en-US">
              <a:solidFill>
                <a:schemeClr val="tx1"/>
              </a:solidFill>
            </a:endParaRPr>
          </a:p>
        </p:txBody>
      </p:sp>
      <p:sp>
        <p:nvSpPr>
          <p:cNvPr id="1050046" name="Content Placeholder 2"/>
          <p:cNvSpPr>
            <a:spLocks noGrp="1"/>
          </p:cNvSpPr>
          <p:nvPr>
            <p:ph idx="1"/>
          </p:nvPr>
        </p:nvSpPr>
        <p:spPr>
          <a:xfrm>
            <a:off x="476251" y="1447800"/>
            <a:ext cx="10572750" cy="4953000"/>
          </a:xfrm>
        </p:spPr>
        <p:txBody>
          <a:bodyPr>
            <a:normAutofit fontScale="92500"/>
          </a:bodyPr>
          <a:p>
            <a:r>
              <a:rPr dirty="0" sz="2800" lang="en-US" smtClean="0"/>
              <a:t>Identification of risk factors accurately and proper interventions.</a:t>
            </a:r>
          </a:p>
          <a:p>
            <a:r>
              <a:rPr dirty="0" sz="2800" lang="en-US" smtClean="0"/>
              <a:t>Health promotion talks, e.g.  diet, signs of true labour and expectations of the labour process to include unbearable pain control measures.</a:t>
            </a:r>
          </a:p>
          <a:p>
            <a:r>
              <a:rPr dirty="0" sz="2800" lang="en-US" smtClean="0"/>
              <a:t>Community awareness on the importance of antenatal services and its availability. This is carried out thru local leaders &amp; CBHWs.</a:t>
            </a:r>
          </a:p>
          <a:p>
            <a:r>
              <a:rPr dirty="0" sz="2800" lang="en-US" smtClean="0"/>
              <a:t>Have adequate and well equipped health facilities within reach.			</a:t>
            </a:r>
          </a:p>
          <a:p>
            <a:endParaRPr dirty="0" sz="2800" lang="en-US" smtClean="0"/>
          </a:p>
          <a:p>
            <a:pPr>
              <a:buNone/>
            </a:pPr>
            <a:r>
              <a:rPr dirty="0" sz="2800" lang="en-US" smtClean="0"/>
              <a:t>				</a:t>
            </a:r>
            <a:r>
              <a:rPr b="1" dirty="0" sz="7100" lang="en-US" err="1" smtClean="0">
                <a:ln w="18000">
                  <a:solidFill>
                    <a:schemeClr val="accent2">
                      <a:satMod val="140000"/>
                    </a:schemeClr>
                  </a:solidFill>
                  <a:prstDash val="solid"/>
                  <a:miter lim="800000"/>
                </a:ln>
                <a:solidFill>
                  <a:srgbClr val="10016B"/>
                </a:solidFill>
                <a:effectLst>
                  <a:outerShdw algn="tl" blurRad="25500" dir="7020000" dist="23000">
                    <a:srgbClr val="000000">
                      <a:alpha val="50000"/>
                    </a:srgbClr>
                  </a:outerShdw>
                </a:effectLst>
                <a:latin typeface="Ravie" pitchFamily="82" charset="0"/>
              </a:rPr>
              <a:t>ENd</a:t>
            </a:r>
            <a:endParaRPr b="1" dirty="0" sz="7100" lang="en-US" smtClean="0">
              <a:solidFill>
                <a:srgbClr val="10016B"/>
              </a:solidFill>
              <a:latin typeface="Ravie" pitchFamily="82" charset="0"/>
            </a:endParaRPr>
          </a:p>
          <a:p>
            <a:endParaRPr dirty="0" lang="en-US"/>
          </a:p>
        </p:txBody>
      </p:sp>
      <p:sp>
        <p:nvSpPr>
          <p:cNvPr id="105004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strips dir="ru"/>
  </p:transition>
  <p:timing/>
</p:sld>
</file>

<file path=ppt/slides/slide523.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04" name=""/>
        <p:cNvGrpSpPr/>
        <p:nvPr/>
      </p:nvGrpSpPr>
      <p:grpSpPr>
        <a:xfrm>
          <a:off x="0" y="0"/>
          <a:ext cx="0" cy="0"/>
          <a:chOff x="0" y="0"/>
          <a:chExt cx="0" cy="0"/>
        </a:xfrm>
      </p:grpSpPr>
      <p:graphicFrame>
        <p:nvGraphicFramePr>
          <p:cNvPr id="4194312" name="Diagram 6"/>
          <p:cNvGraphicFramePr>
            <a:graphicFrameLocks/>
          </p:cNvGraphicFramePr>
          <p:nvPr/>
        </p:nvGraphicFramePr>
        <p:xfrm>
          <a:off x="1524000" y="533400"/>
          <a:ext cx="9753600" cy="41148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400">
        <p14:door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41943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194312" grpId="0">
        <p:bldAsOne/>
      </p:bldGraphic>
    </p:bldLst>
  </p:timing>
</p:sld>
</file>

<file path=ppt/slides/slide524.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05" name=""/>
        <p:cNvGrpSpPr/>
        <p:nvPr/>
      </p:nvGrpSpPr>
      <p:grpSpPr>
        <a:xfrm>
          <a:off x="0" y="0"/>
          <a:ext cx="0" cy="0"/>
          <a:chOff x="0" y="0"/>
          <a:chExt cx="0" cy="0"/>
        </a:xfrm>
      </p:grpSpPr>
      <p:sp>
        <p:nvSpPr>
          <p:cNvPr id="1050055" name="Title 1"/>
          <p:cNvSpPr>
            <a:spLocks noGrp="1"/>
          </p:cNvSpPr>
          <p:nvPr>
            <p:ph type="title"/>
          </p:nvPr>
        </p:nvSpPr>
        <p:spPr/>
        <p:txBody>
          <a:bodyPr/>
          <a:p>
            <a:r>
              <a:rPr dirty="0" lang="en-US" smtClean="0">
                <a:solidFill>
                  <a:srgbClr val="FF00FF"/>
                </a:solidFill>
              </a:rPr>
              <a:t>Definition</a:t>
            </a:r>
            <a:endParaRPr dirty="0" lang="en-US">
              <a:solidFill>
                <a:srgbClr val="FF00FF"/>
              </a:solidFill>
            </a:endParaRPr>
          </a:p>
        </p:txBody>
      </p:sp>
      <p:sp>
        <p:nvSpPr>
          <p:cNvPr id="1050056" name="Content Placeholder 2"/>
          <p:cNvSpPr>
            <a:spLocks noGrp="1"/>
          </p:cNvSpPr>
          <p:nvPr>
            <p:ph idx="1"/>
          </p:nvPr>
        </p:nvSpPr>
        <p:spPr>
          <a:xfrm>
            <a:off x="1238250" y="1066800"/>
            <a:ext cx="9715500" cy="5410200"/>
          </a:xfrm>
        </p:spPr>
        <p:txBody>
          <a:bodyPr>
            <a:noAutofit/>
          </a:bodyPr>
          <a:p>
            <a:pPr algn="just"/>
            <a:r>
              <a:rPr dirty="0" lang="en-US" smtClean="0">
                <a:latin typeface="Calibri" panose="020F0502020204030204" pitchFamily="34" charset="0"/>
                <a:cs typeface="Times New Roman" pitchFamily="18" charset="0"/>
              </a:rPr>
              <a:t>It’s an obstetrical intervention which </a:t>
            </a:r>
            <a:r>
              <a:rPr dirty="0" lang="en-US">
                <a:latin typeface="Calibri" panose="020F0502020204030204" pitchFamily="34" charset="0"/>
                <a:cs typeface="Times New Roman" pitchFamily="18" charset="0"/>
              </a:rPr>
              <a:t>involves the </a:t>
            </a:r>
            <a:r>
              <a:rPr b="1" dirty="0" lang="en-US">
                <a:latin typeface="Calibri" panose="020F0502020204030204" pitchFamily="34" charset="0"/>
                <a:cs typeface="Times New Roman" pitchFamily="18" charset="0"/>
              </a:rPr>
              <a:t>initiation</a:t>
            </a:r>
            <a:r>
              <a:rPr dirty="0" lang="en-US">
                <a:latin typeface="Calibri" panose="020F0502020204030204" pitchFamily="34" charset="0"/>
                <a:cs typeface="Times New Roman" pitchFamily="18" charset="0"/>
              </a:rPr>
              <a:t> </a:t>
            </a:r>
            <a:r>
              <a:rPr dirty="0" lang="en-US" smtClean="0">
                <a:latin typeface="Calibri" panose="020F0502020204030204" pitchFamily="34" charset="0"/>
                <a:cs typeface="Times New Roman" pitchFamily="18" charset="0"/>
              </a:rPr>
              <a:t>of uterine contractions (labour) </a:t>
            </a:r>
            <a:r>
              <a:rPr b="1" dirty="0" lang="en-US" smtClean="0">
                <a:latin typeface="Calibri" panose="020F0502020204030204" pitchFamily="34" charset="0"/>
                <a:cs typeface="Times New Roman" pitchFamily="18" charset="0"/>
              </a:rPr>
              <a:t>artificially</a:t>
            </a:r>
            <a:r>
              <a:rPr dirty="0" lang="en-US" smtClean="0">
                <a:latin typeface="Calibri" panose="020F0502020204030204" pitchFamily="34" charset="0"/>
                <a:cs typeface="Times New Roman" pitchFamily="18" charset="0"/>
              </a:rPr>
              <a:t> or prior it’s spontaneous onset.</a:t>
            </a:r>
          </a:p>
          <a:p>
            <a:pPr algn="just">
              <a:buNone/>
            </a:pPr>
            <a:r>
              <a:rPr dirty="0" lang="en-US" smtClean="0">
                <a:latin typeface="Calibri" panose="020F0502020204030204" pitchFamily="34" charset="0"/>
                <a:cs typeface="Times New Roman" pitchFamily="18" charset="0"/>
              </a:rPr>
              <a:t>			</a:t>
            </a:r>
            <a:r>
              <a:rPr b="1" dirty="0" lang="en-US" smtClean="0">
                <a:solidFill>
                  <a:srgbClr val="FF00FF"/>
                </a:solidFill>
                <a:latin typeface="Calibri" panose="020F0502020204030204" pitchFamily="34" charset="0"/>
                <a:cs typeface="Times New Roman" pitchFamily="18" charset="0"/>
              </a:rPr>
              <a:t>Indications</a:t>
            </a:r>
          </a:p>
          <a:p>
            <a:pPr algn="just" lvl="0"/>
            <a:r>
              <a:rPr dirty="0" lang="en-US" smtClean="0">
                <a:latin typeface="Calibri" panose="020F0502020204030204" pitchFamily="34" charset="0"/>
                <a:cs typeface="Times New Roman" pitchFamily="18" charset="0"/>
              </a:rPr>
              <a:t>Prolonged pregnancy because after 42 weeks there is danger of placental insufficiency.</a:t>
            </a:r>
          </a:p>
          <a:p>
            <a:pPr algn="just" lvl="0"/>
            <a:r>
              <a:rPr dirty="0" lang="en-US" smtClean="0">
                <a:latin typeface="Calibri" panose="020F0502020204030204" pitchFamily="34" charset="0"/>
                <a:cs typeface="Times New Roman" pitchFamily="18" charset="0"/>
              </a:rPr>
              <a:t>Spontaneous rupture of membranes, after 36 weeks gestation and labour does not commence within 12 hours, danger of intra uterine infection is very high.</a:t>
            </a:r>
          </a:p>
          <a:p>
            <a:pPr algn="just"/>
            <a:endParaRPr dirty="0" lang="en-US">
              <a:latin typeface="Calibri" panose="020F0502020204030204" pitchFamily="34" charset="0"/>
              <a:cs typeface="Times New Roman" pitchFamily="18" charset="0"/>
            </a:endParaRPr>
          </a:p>
        </p:txBody>
      </p:sp>
      <p:sp>
        <p:nvSpPr>
          <p:cNvPr id="105005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25.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06" name=""/>
        <p:cNvGrpSpPr/>
        <p:nvPr/>
      </p:nvGrpSpPr>
      <p:grpSpPr>
        <a:xfrm>
          <a:off x="0" y="0"/>
          <a:ext cx="0" cy="0"/>
          <a:chOff x="0" y="0"/>
          <a:chExt cx="0" cy="0"/>
        </a:xfrm>
      </p:grpSpPr>
      <p:sp>
        <p:nvSpPr>
          <p:cNvPr id="1050058" name="Content Placeholder 2"/>
          <p:cNvSpPr>
            <a:spLocks noGrp="1"/>
          </p:cNvSpPr>
          <p:nvPr>
            <p:ph idx="1"/>
          </p:nvPr>
        </p:nvSpPr>
        <p:spPr>
          <a:xfrm>
            <a:off x="1238250" y="457200"/>
            <a:ext cx="9620250" cy="5852160"/>
          </a:xfrm>
        </p:spPr>
        <p:txBody>
          <a:bodyPr>
            <a:normAutofit lnSpcReduction="10000"/>
          </a:bodyPr>
          <a:p>
            <a:pPr algn="just"/>
            <a:r>
              <a:rPr dirty="0" sz="3100" lang="en-US" smtClean="0">
                <a:latin typeface="Calibri" panose="020F0502020204030204" pitchFamily="34" charset="0"/>
              </a:rPr>
              <a:t>Rhesus </a:t>
            </a:r>
            <a:r>
              <a:rPr dirty="0" sz="3100" lang="en-US" err="1" smtClean="0">
                <a:latin typeface="Calibri" panose="020F0502020204030204" pitchFamily="34" charset="0"/>
              </a:rPr>
              <a:t>iso-immunisation</a:t>
            </a:r>
            <a:r>
              <a:rPr dirty="0" sz="3100" lang="en-US" smtClean="0">
                <a:latin typeface="Calibri" panose="020F0502020204030204" pitchFamily="34" charset="0"/>
              </a:rPr>
              <a:t>, accompanied by high </a:t>
            </a:r>
            <a:r>
              <a:rPr dirty="0" sz="3100" lang="en-US" err="1" smtClean="0">
                <a:latin typeface="Calibri" panose="020F0502020204030204" pitchFamily="34" charset="0"/>
              </a:rPr>
              <a:t>titre</a:t>
            </a:r>
            <a:r>
              <a:rPr dirty="0" sz="3100" lang="en-US" smtClean="0">
                <a:latin typeface="Calibri" panose="020F0502020204030204" pitchFamily="34" charset="0"/>
              </a:rPr>
              <a:t> results at term. </a:t>
            </a:r>
          </a:p>
          <a:p>
            <a:pPr algn="just"/>
            <a:r>
              <a:rPr dirty="0" sz="3100" lang="en-US" smtClean="0">
                <a:latin typeface="Calibri" panose="020F0502020204030204" pitchFamily="34" charset="0"/>
              </a:rPr>
              <a:t>Diabetes mellitus, h/o intrauterine death </a:t>
            </a:r>
            <a:r>
              <a:rPr dirty="0" sz="3100" lang="en-US" err="1" smtClean="0">
                <a:latin typeface="Calibri" panose="020F0502020204030204" pitchFamily="34" charset="0"/>
              </a:rPr>
              <a:t>occuring</a:t>
            </a:r>
            <a:r>
              <a:rPr dirty="0" sz="3100" lang="en-US" smtClean="0">
                <a:latin typeface="Calibri" panose="020F0502020204030204" pitchFamily="34" charset="0"/>
              </a:rPr>
              <a:t> at 40 wks. </a:t>
            </a:r>
          </a:p>
          <a:p>
            <a:pPr algn="just" lvl="0"/>
            <a:r>
              <a:rPr dirty="0" sz="3100" lang="en-US" smtClean="0">
                <a:latin typeface="Calibri" panose="020F0502020204030204" pitchFamily="34" charset="0"/>
              </a:rPr>
              <a:t>Genital herpes, where labour is usually induced after 38 weeks gestation if disease is in remission</a:t>
            </a:r>
          </a:p>
          <a:p>
            <a:pPr algn="just" lvl="0"/>
            <a:r>
              <a:rPr dirty="0" sz="3100" lang="en-US" smtClean="0">
                <a:latin typeface="Calibri" panose="020F0502020204030204" pitchFamily="34" charset="0"/>
              </a:rPr>
              <a:t>Previous precipitate labour which tends to recur so induction is indicated at 38 weeks for safe delivery.</a:t>
            </a:r>
          </a:p>
          <a:p>
            <a:pPr algn="just" lvl="0"/>
            <a:r>
              <a:rPr dirty="0" sz="3100" lang="en-US" smtClean="0">
                <a:latin typeface="Calibri" panose="020F0502020204030204" pitchFamily="34" charset="0"/>
              </a:rPr>
              <a:t>Social reasons,  hence maternal request though not common.</a:t>
            </a:r>
          </a:p>
          <a:p>
            <a:pPr algn="just" lvl="0"/>
            <a:r>
              <a:rPr dirty="0" sz="3100" lang="en-US" smtClean="0">
                <a:latin typeface="Calibri" panose="020F0502020204030204" pitchFamily="34" charset="0"/>
              </a:rPr>
              <a:t>Intrauterine death and spontaneous onset of labour doesn’t occur shortly after.</a:t>
            </a:r>
          </a:p>
          <a:p>
            <a:pPr algn="just"/>
            <a:endParaRPr dirty="0" lang="en-US">
              <a:latin typeface="Calibri" panose="020F0502020204030204" pitchFamily="34" charset="0"/>
            </a:endParaRPr>
          </a:p>
        </p:txBody>
      </p:sp>
      <p:sp>
        <p:nvSpPr>
          <p:cNvPr id="105005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2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07" name=""/>
        <p:cNvGrpSpPr/>
        <p:nvPr/>
      </p:nvGrpSpPr>
      <p:grpSpPr>
        <a:xfrm>
          <a:off x="0" y="0"/>
          <a:ext cx="0" cy="0"/>
          <a:chOff x="0" y="0"/>
          <a:chExt cx="0" cy="0"/>
        </a:xfrm>
      </p:grpSpPr>
      <p:sp>
        <p:nvSpPr>
          <p:cNvPr id="1050060" name="Content Placeholder 2"/>
          <p:cNvSpPr>
            <a:spLocks noGrp="1"/>
          </p:cNvSpPr>
          <p:nvPr>
            <p:ph idx="1"/>
          </p:nvPr>
        </p:nvSpPr>
        <p:spPr>
          <a:xfrm>
            <a:off x="1143000" y="381000"/>
            <a:ext cx="9715500" cy="6096000"/>
          </a:xfrm>
        </p:spPr>
        <p:txBody>
          <a:bodyPr>
            <a:normAutofit/>
          </a:bodyPr>
          <a:p>
            <a:pPr algn="just" lvl="0"/>
            <a:r>
              <a:rPr dirty="0" sz="3000" lang="en-US" smtClean="0">
                <a:latin typeface="Calibri" panose="020F0502020204030204" pitchFamily="34" charset="0"/>
              </a:rPr>
              <a:t> Mild- moderate Preeclampsia at term, where both mother and baby are in danger of, eclampsia and   placental insufficiency respectively.</a:t>
            </a:r>
          </a:p>
          <a:p>
            <a:pPr algn="just" lvl="0"/>
            <a:r>
              <a:rPr dirty="0" sz="3000" lang="en-US" smtClean="0">
                <a:latin typeface="Calibri" panose="020F0502020204030204" pitchFamily="34" charset="0"/>
              </a:rPr>
              <a:t>Signs of intrauterine growth retardation at term, which can be detected by abdominal examination or serial ultrasound scan.</a:t>
            </a:r>
          </a:p>
          <a:p>
            <a:pPr algn="just" lvl="0"/>
            <a:r>
              <a:rPr dirty="0" sz="3000" lang="en-US" smtClean="0">
                <a:latin typeface="Calibri" panose="020F0502020204030204" pitchFamily="34" charset="0"/>
              </a:rPr>
              <a:t>When the health  of the mother or the </a:t>
            </a:r>
            <a:r>
              <a:rPr dirty="0" sz="3000" lang="en-US" err="1" smtClean="0">
                <a:latin typeface="Calibri" panose="020F0502020204030204" pitchFamily="34" charset="0"/>
              </a:rPr>
              <a:t>foetus</a:t>
            </a:r>
            <a:r>
              <a:rPr dirty="0" sz="3000" lang="en-US" smtClean="0">
                <a:latin typeface="Calibri" panose="020F0502020204030204" pitchFamily="34" charset="0"/>
              </a:rPr>
              <a:t> would be endangered if the pregnancy continues.</a:t>
            </a:r>
          </a:p>
          <a:p>
            <a:pPr algn="just" lvl="0"/>
            <a:r>
              <a:rPr dirty="0" sz="3000" lang="en-US" smtClean="0">
                <a:latin typeface="Calibri" panose="020F0502020204030204" pitchFamily="34" charset="0"/>
              </a:rPr>
              <a:t>Mild placental abruption &amp; placenta preavia type 1 at 40 weeks.</a:t>
            </a:r>
          </a:p>
          <a:p>
            <a:pPr algn="just"/>
            <a:endParaRPr dirty="0" sz="3000" lang="en-US">
              <a:latin typeface="Calibri" panose="020F0502020204030204" pitchFamily="34" charset="0"/>
            </a:endParaRPr>
          </a:p>
        </p:txBody>
      </p:sp>
      <p:sp>
        <p:nvSpPr>
          <p:cNvPr id="105006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2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08" name=""/>
        <p:cNvGrpSpPr/>
        <p:nvPr/>
      </p:nvGrpSpPr>
      <p:grpSpPr>
        <a:xfrm>
          <a:off x="0" y="0"/>
          <a:ext cx="0" cy="0"/>
          <a:chOff x="0" y="0"/>
          <a:chExt cx="0" cy="0"/>
        </a:xfrm>
      </p:grpSpPr>
      <p:sp>
        <p:nvSpPr>
          <p:cNvPr id="1050062" name="Title 1"/>
          <p:cNvSpPr>
            <a:spLocks noGrp="1"/>
          </p:cNvSpPr>
          <p:nvPr>
            <p:ph type="title"/>
          </p:nvPr>
        </p:nvSpPr>
        <p:spPr/>
        <p:txBody>
          <a:bodyPr/>
          <a:p>
            <a:r>
              <a:rPr dirty="0" lang="en-US" smtClean="0">
                <a:solidFill>
                  <a:srgbClr val="FF00FF"/>
                </a:solidFill>
              </a:rPr>
              <a:t>Contraindications</a:t>
            </a:r>
            <a:endParaRPr dirty="0" lang="en-US">
              <a:solidFill>
                <a:srgbClr val="FF00FF"/>
              </a:solidFill>
            </a:endParaRPr>
          </a:p>
        </p:txBody>
      </p:sp>
      <p:sp>
        <p:nvSpPr>
          <p:cNvPr id="1050063" name="Content Placeholder 2"/>
          <p:cNvSpPr>
            <a:spLocks noGrp="1"/>
          </p:cNvSpPr>
          <p:nvPr>
            <p:ph idx="1"/>
          </p:nvPr>
        </p:nvSpPr>
        <p:spPr>
          <a:xfrm>
            <a:off x="1295400" y="1219200"/>
            <a:ext cx="9871709" cy="5029200"/>
          </a:xfrm>
        </p:spPr>
        <p:txBody>
          <a:bodyPr>
            <a:normAutofit/>
          </a:bodyPr>
          <a:p>
            <a:pPr algn="just">
              <a:buFont typeface="Wingdings" pitchFamily="2" charset="2"/>
              <a:buChar char="v"/>
            </a:pPr>
            <a:r>
              <a:rPr dirty="0" lang="en-US" smtClean="0">
                <a:latin typeface="Calibri" panose="020F0502020204030204" pitchFamily="34" charset="0"/>
              </a:rPr>
              <a:t>Refers to factors that would prevent spontaneous delivery.</a:t>
            </a:r>
          </a:p>
          <a:p>
            <a:pPr algn="just">
              <a:buNone/>
            </a:pPr>
            <a:r>
              <a:rPr dirty="0" lang="en-US" smtClean="0">
                <a:latin typeface="Calibri" panose="020F0502020204030204" pitchFamily="34" charset="0"/>
              </a:rPr>
              <a:t>	Grouped into 2:</a:t>
            </a:r>
          </a:p>
          <a:p>
            <a:pPr algn="just">
              <a:buNone/>
            </a:pPr>
            <a:r>
              <a:rPr dirty="0" lang="en-US" smtClean="0">
                <a:latin typeface="Calibri" panose="020F0502020204030204" pitchFamily="34" charset="0"/>
              </a:rPr>
              <a:t>	</a:t>
            </a:r>
            <a:r>
              <a:rPr b="1" dirty="0" sz="3200" lang="en-US" smtClean="0">
                <a:latin typeface="Calibri" panose="020F0502020204030204" pitchFamily="34" charset="0"/>
              </a:rPr>
              <a:t>	</a:t>
            </a:r>
            <a:r>
              <a:rPr b="1" dirty="0" sz="3200" i="1" lang="en-US" smtClean="0">
                <a:latin typeface="Calibri" panose="020F0502020204030204" pitchFamily="34" charset="0"/>
              </a:rPr>
              <a:t>Absolute</a:t>
            </a:r>
            <a:endParaRPr b="1" dirty="0" i="1" lang="en-US" smtClean="0">
              <a:latin typeface="Calibri" panose="020F0502020204030204" pitchFamily="34" charset="0"/>
            </a:endParaRPr>
          </a:p>
          <a:p>
            <a:pPr algn="just" lvl="0"/>
            <a:r>
              <a:rPr dirty="0" lang="en-US" err="1" smtClean="0">
                <a:latin typeface="Calibri" panose="020F0502020204030204" pitchFamily="34" charset="0"/>
              </a:rPr>
              <a:t>Cephalopelvic</a:t>
            </a:r>
            <a:r>
              <a:rPr dirty="0" lang="en-US" smtClean="0">
                <a:latin typeface="Calibri" panose="020F0502020204030204" pitchFamily="34" charset="0"/>
              </a:rPr>
              <a:t> disproportion</a:t>
            </a:r>
          </a:p>
          <a:p>
            <a:pPr algn="just" lvl="0"/>
            <a:r>
              <a:rPr dirty="0" lang="en-US" smtClean="0">
                <a:latin typeface="Calibri" panose="020F0502020204030204" pitchFamily="34" charset="0"/>
              </a:rPr>
              <a:t>Malpresentation , due to prolonged labour. </a:t>
            </a:r>
          </a:p>
          <a:p>
            <a:pPr algn="just"/>
            <a:r>
              <a:rPr dirty="0" lang="en-US" err="1" smtClean="0">
                <a:latin typeface="Calibri" panose="020F0502020204030204" pitchFamily="34" charset="0"/>
              </a:rPr>
              <a:t>Foetal</a:t>
            </a:r>
            <a:r>
              <a:rPr dirty="0" lang="en-US" smtClean="0">
                <a:latin typeface="Calibri" panose="020F0502020204030204" pitchFamily="34" charset="0"/>
              </a:rPr>
              <a:t> compromise, that is, if the </a:t>
            </a:r>
            <a:r>
              <a:rPr dirty="0" lang="en-US" err="1" smtClean="0">
                <a:latin typeface="Calibri" panose="020F0502020204030204" pitchFamily="34" charset="0"/>
              </a:rPr>
              <a:t>foetus</a:t>
            </a:r>
            <a:r>
              <a:rPr dirty="0" lang="en-US" smtClean="0">
                <a:latin typeface="Calibri" panose="020F0502020204030204" pitchFamily="34" charset="0"/>
              </a:rPr>
              <a:t> can not stand the uterine contractions due to prematurity or placenta insufficiency. </a:t>
            </a:r>
            <a:endParaRPr dirty="0" lang="en-US">
              <a:latin typeface="Calibri" panose="020F0502020204030204" pitchFamily="34" charset="0"/>
            </a:endParaRPr>
          </a:p>
        </p:txBody>
      </p:sp>
      <p:sp>
        <p:nvSpPr>
          <p:cNvPr id="105006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28.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09" name=""/>
        <p:cNvGrpSpPr/>
        <p:nvPr/>
      </p:nvGrpSpPr>
      <p:grpSpPr>
        <a:xfrm>
          <a:off x="0" y="0"/>
          <a:ext cx="0" cy="0"/>
          <a:chOff x="0" y="0"/>
          <a:chExt cx="0" cy="0"/>
        </a:xfrm>
      </p:grpSpPr>
      <p:sp>
        <p:nvSpPr>
          <p:cNvPr id="1050065" name="Content Placeholder 2"/>
          <p:cNvSpPr>
            <a:spLocks noGrp="1"/>
          </p:cNvSpPr>
          <p:nvPr>
            <p:ph idx="1"/>
          </p:nvPr>
        </p:nvSpPr>
        <p:spPr>
          <a:xfrm>
            <a:off x="1428751" y="457200"/>
            <a:ext cx="9738359" cy="5791200"/>
          </a:xfrm>
        </p:spPr>
        <p:txBody>
          <a:bodyPr>
            <a:noAutofit/>
          </a:bodyPr>
          <a:p>
            <a:pPr algn="just" lvl="0"/>
            <a:r>
              <a:rPr dirty="0" sz="3200" lang="en-US" smtClean="0">
                <a:latin typeface="Calibri" panose="020F0502020204030204" pitchFamily="34" charset="0"/>
              </a:rPr>
              <a:t>Placenta praevia type 2 </a:t>
            </a:r>
            <a:r>
              <a:rPr dirty="0" sz="3200" lang="en-US" err="1" smtClean="0">
                <a:latin typeface="Calibri" panose="020F0502020204030204" pitchFamily="34" charset="0"/>
              </a:rPr>
              <a:t>posteriorly</a:t>
            </a:r>
            <a:r>
              <a:rPr dirty="0" sz="3200" lang="en-US" smtClean="0">
                <a:latin typeface="Calibri" panose="020F0502020204030204" pitchFamily="34" charset="0"/>
              </a:rPr>
              <a:t>  located, through  to type 4.</a:t>
            </a:r>
          </a:p>
          <a:p>
            <a:pPr algn="just" lvl="0"/>
            <a:r>
              <a:rPr dirty="0" sz="3200" lang="en-US" smtClean="0">
                <a:latin typeface="Calibri" panose="020F0502020204030204" pitchFamily="34" charset="0"/>
              </a:rPr>
              <a:t>Grandemultiparality, because of the poor tone of the uterine muscles</a:t>
            </a:r>
          </a:p>
          <a:p>
            <a:pPr algn="just" lvl="0">
              <a:buNone/>
            </a:pPr>
            <a:r>
              <a:rPr dirty="0" sz="3200" lang="en-US" smtClean="0">
                <a:latin typeface="Calibri" panose="020F0502020204030204" pitchFamily="34" charset="0"/>
              </a:rPr>
              <a:t>		</a:t>
            </a:r>
            <a:r>
              <a:rPr b="1" dirty="0" sz="3200" i="1" lang="en-US" smtClean="0">
                <a:latin typeface="Calibri" panose="020F0502020204030204" pitchFamily="34" charset="0"/>
              </a:rPr>
              <a:t>Relative</a:t>
            </a:r>
          </a:p>
          <a:p>
            <a:pPr algn="just"/>
            <a:r>
              <a:rPr dirty="0" sz="3200" lang="en-US" smtClean="0">
                <a:latin typeface="Calibri" panose="020F0502020204030204" pitchFamily="34" charset="0"/>
              </a:rPr>
              <a:t>Previous uterine scar, though controversial.</a:t>
            </a:r>
          </a:p>
          <a:p>
            <a:pPr algn="just"/>
            <a:r>
              <a:rPr dirty="0" sz="3200" lang="en-US" smtClean="0">
                <a:latin typeface="Calibri" panose="020F0502020204030204" pitchFamily="34" charset="0"/>
              </a:rPr>
              <a:t>High and floating fetal head, due to possibility of cord </a:t>
            </a:r>
            <a:r>
              <a:rPr dirty="0" sz="3200" lang="en-US" err="1" smtClean="0">
                <a:latin typeface="Calibri" panose="020F0502020204030204" pitchFamily="34" charset="0"/>
              </a:rPr>
              <a:t>prolapse</a:t>
            </a:r>
            <a:endParaRPr dirty="0" sz="3200" lang="en-US" smtClean="0">
              <a:latin typeface="Calibri" panose="020F0502020204030204" pitchFamily="34" charset="0"/>
            </a:endParaRPr>
          </a:p>
        </p:txBody>
      </p:sp>
      <p:sp>
        <p:nvSpPr>
          <p:cNvPr id="105006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29.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0" name=""/>
        <p:cNvGrpSpPr/>
        <p:nvPr/>
      </p:nvGrpSpPr>
      <p:grpSpPr>
        <a:xfrm>
          <a:off x="0" y="0"/>
          <a:ext cx="0" cy="0"/>
          <a:chOff x="0" y="0"/>
          <a:chExt cx="0" cy="0"/>
        </a:xfrm>
      </p:grpSpPr>
      <p:sp>
        <p:nvSpPr>
          <p:cNvPr id="1050067" name="Content Placeholder 2"/>
          <p:cNvSpPr>
            <a:spLocks noGrp="1"/>
          </p:cNvSpPr>
          <p:nvPr>
            <p:ph idx="1"/>
          </p:nvPr>
        </p:nvSpPr>
        <p:spPr>
          <a:xfrm>
            <a:off x="1295400" y="228600"/>
            <a:ext cx="9848853" cy="6248400"/>
          </a:xfrm>
        </p:spPr>
        <p:txBody>
          <a:bodyPr>
            <a:noAutofit/>
          </a:bodyPr>
          <a:p>
            <a:pPr algn="just" lvl="0"/>
            <a:r>
              <a:rPr dirty="0" lang="en-US" smtClean="0">
                <a:latin typeface="Calibri" panose="020F0502020204030204" pitchFamily="34" charset="0"/>
              </a:rPr>
              <a:t>Active genital herpes.</a:t>
            </a:r>
          </a:p>
          <a:p>
            <a:pPr algn="just"/>
            <a:r>
              <a:rPr dirty="0" lang="en-US" smtClean="0">
                <a:latin typeface="Calibri" panose="020F0502020204030204" pitchFamily="34" charset="0"/>
              </a:rPr>
              <a:t>Psychological factors, for example, if the mother is against induction, her decision should be respected</a:t>
            </a:r>
          </a:p>
          <a:p>
            <a:pPr algn="just"/>
            <a:r>
              <a:rPr dirty="0" lang="en-US" smtClean="0">
                <a:latin typeface="Calibri" panose="020F0502020204030204" pitchFamily="34" charset="0"/>
              </a:rPr>
              <a:t>Unreliable estimated date of delivery ,in absence of other means of confirming maturity .</a:t>
            </a:r>
          </a:p>
          <a:p>
            <a:pPr algn="just">
              <a:buNone/>
            </a:pPr>
            <a:r>
              <a:rPr b="1" dirty="0" lang="en-US" smtClean="0">
                <a:latin typeface="Calibri" panose="020F0502020204030204" pitchFamily="34" charset="0"/>
              </a:rPr>
              <a:t>		</a:t>
            </a:r>
            <a:r>
              <a:rPr b="1" dirty="0" lang="en-US" err="1" smtClean="0">
                <a:latin typeface="Calibri" panose="020F0502020204030204" pitchFamily="34" charset="0"/>
              </a:rPr>
              <a:t>Favourable</a:t>
            </a:r>
            <a:r>
              <a:rPr b="1" dirty="0" lang="en-US" smtClean="0">
                <a:latin typeface="Calibri" panose="020F0502020204030204" pitchFamily="34" charset="0"/>
              </a:rPr>
              <a:t>  factors</a:t>
            </a:r>
          </a:p>
          <a:p>
            <a:pPr algn="just" lvl="0"/>
            <a:r>
              <a:rPr dirty="0" lang="en-US" smtClean="0">
                <a:latin typeface="Calibri" panose="020F0502020204030204" pitchFamily="34" charset="0"/>
              </a:rPr>
              <a:t>38 or more weeks of gestation.</a:t>
            </a:r>
          </a:p>
          <a:p>
            <a:pPr algn="just"/>
            <a:r>
              <a:rPr dirty="0" lang="en-US" smtClean="0">
                <a:latin typeface="Calibri" panose="020F0502020204030204" pitchFamily="34" charset="0"/>
              </a:rPr>
              <a:t>Cervical readiness , assessed through a scoring  system referred to as the </a:t>
            </a:r>
            <a:r>
              <a:rPr b="1" dirty="0" lang="en-US" smtClean="0">
                <a:solidFill>
                  <a:srgbClr val="FF00FF"/>
                </a:solidFill>
                <a:latin typeface="Calibri" panose="020F0502020204030204" pitchFamily="34" charset="0"/>
              </a:rPr>
              <a:t>Bishop’s score.</a:t>
            </a:r>
          </a:p>
          <a:p>
            <a:pPr algn="just" lvl="0"/>
            <a:endParaRPr dirty="0" lang="en-US" smtClean="0">
              <a:latin typeface="Calibri" panose="020F0502020204030204" pitchFamily="34" charset="0"/>
            </a:endParaRPr>
          </a:p>
          <a:p>
            <a:pPr algn="just"/>
            <a:endParaRPr dirty="0" lang="en-US">
              <a:latin typeface="Calibri" panose="020F0502020204030204" pitchFamily="34" charset="0"/>
            </a:endParaRPr>
          </a:p>
        </p:txBody>
      </p:sp>
      <p:sp>
        <p:nvSpPr>
          <p:cNvPr id="105006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0.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1" name=""/>
        <p:cNvGrpSpPr/>
        <p:nvPr/>
      </p:nvGrpSpPr>
      <p:grpSpPr>
        <a:xfrm>
          <a:off x="0" y="0"/>
          <a:ext cx="0" cy="0"/>
          <a:chOff x="0" y="0"/>
          <a:chExt cx="0" cy="0"/>
        </a:xfrm>
      </p:grpSpPr>
      <p:sp>
        <p:nvSpPr>
          <p:cNvPr id="1050069" name="Title 1"/>
          <p:cNvSpPr>
            <a:spLocks noGrp="1"/>
          </p:cNvSpPr>
          <p:nvPr>
            <p:ph type="title"/>
          </p:nvPr>
        </p:nvSpPr>
        <p:spPr>
          <a:xfrm>
            <a:off x="1794509" y="0"/>
            <a:ext cx="9372600" cy="762000"/>
          </a:xfrm>
        </p:spPr>
        <p:txBody>
          <a:bodyPr/>
          <a:p>
            <a:r>
              <a:rPr b="1" dirty="0" lang="en-US" smtClean="0"/>
              <a:t>The Bishop’s score</a:t>
            </a:r>
            <a:endParaRPr b="1" dirty="0" lang="en-US"/>
          </a:p>
        </p:txBody>
      </p:sp>
      <p:sp>
        <p:nvSpPr>
          <p:cNvPr id="1050070" name="Content Placeholder 2"/>
          <p:cNvSpPr>
            <a:spLocks noGrp="1"/>
          </p:cNvSpPr>
          <p:nvPr>
            <p:ph idx="1"/>
          </p:nvPr>
        </p:nvSpPr>
        <p:spPr>
          <a:xfrm>
            <a:off x="1238250" y="762000"/>
            <a:ext cx="10191750" cy="6096000"/>
          </a:xfrm>
        </p:spPr>
        <p:txBody>
          <a:bodyPr>
            <a:noAutofit/>
          </a:bodyPr>
          <a:p>
            <a:pPr algn="ctr" indent="0" marL="82296">
              <a:buNone/>
            </a:pPr>
            <a:r>
              <a:rPr dirty="0" lang="en-US" u="sng" smtClean="0">
                <a:latin typeface="Calibri" panose="020F0502020204030204" pitchFamily="34" charset="0"/>
              </a:rPr>
              <a:t>DESCRIPTION:</a:t>
            </a:r>
          </a:p>
          <a:p>
            <a:pPr algn="just">
              <a:buFont typeface="Wingdings" pitchFamily="2" charset="2"/>
              <a:buChar char="Ø"/>
            </a:pPr>
            <a:r>
              <a:rPr dirty="0" sz="2800" lang="en-US" smtClean="0">
                <a:latin typeface="Calibri" panose="020F0502020204030204" pitchFamily="34" charset="0"/>
              </a:rPr>
              <a:t>This is an objective method of assessing whether the cervix is favorable for induction of </a:t>
            </a:r>
            <a:r>
              <a:rPr dirty="0" sz="2800" lang="en-US" err="1" smtClean="0">
                <a:latin typeface="Calibri" panose="020F0502020204030204" pitchFamily="34" charset="0"/>
              </a:rPr>
              <a:t>labour</a:t>
            </a:r>
            <a:r>
              <a:rPr dirty="0" sz="2800" lang="en-US" smtClean="0">
                <a:latin typeface="Calibri" panose="020F0502020204030204" pitchFamily="34" charset="0"/>
              </a:rPr>
              <a:t>.</a:t>
            </a:r>
          </a:p>
          <a:p>
            <a:pPr algn="just">
              <a:buFont typeface="Wingdings" pitchFamily="2" charset="2"/>
              <a:buChar char="Ø"/>
            </a:pPr>
            <a:r>
              <a:rPr dirty="0" sz="2800" lang="en-US" smtClean="0">
                <a:latin typeface="Calibri" panose="020F0502020204030204" pitchFamily="34" charset="0"/>
              </a:rPr>
              <a:t>The score is based on four(4) features of the cervix and the relationship of the presenting part to the maternal </a:t>
            </a:r>
            <a:r>
              <a:rPr dirty="0" sz="2800" lang="en-US" err="1" smtClean="0">
                <a:latin typeface="Calibri" panose="020F0502020204030204" pitchFamily="34" charset="0"/>
              </a:rPr>
              <a:t>ischial</a:t>
            </a:r>
            <a:r>
              <a:rPr dirty="0" sz="2800" lang="en-US" smtClean="0">
                <a:latin typeface="Calibri" panose="020F0502020204030204" pitchFamily="34" charset="0"/>
              </a:rPr>
              <a:t> spines; Where 3/5ths of the head or less is palpable above the pelvic brim</a:t>
            </a:r>
          </a:p>
          <a:p>
            <a:pPr algn="just"/>
            <a:r>
              <a:rPr dirty="0" sz="2800" lang="en-US">
                <a:latin typeface="Calibri" panose="020F0502020204030204" pitchFamily="34" charset="0"/>
              </a:rPr>
              <a:t>Each score is awarded 0 - 3 </a:t>
            </a:r>
            <a:r>
              <a:rPr dirty="0" sz="2800" lang="en-US" smtClean="0">
                <a:latin typeface="Calibri" panose="020F0502020204030204" pitchFamily="34" charset="0"/>
              </a:rPr>
              <a:t>on vaginal examination and </a:t>
            </a:r>
            <a:r>
              <a:rPr dirty="0" sz="2800" lang="en-US">
                <a:latin typeface="Calibri" panose="020F0502020204030204" pitchFamily="34" charset="0"/>
              </a:rPr>
              <a:t>the range </a:t>
            </a:r>
            <a:r>
              <a:rPr dirty="0" sz="2800" lang="en-US" smtClean="0">
                <a:latin typeface="Calibri" panose="020F0502020204030204" pitchFamily="34" charset="0"/>
              </a:rPr>
              <a:t>of scores </a:t>
            </a:r>
            <a:r>
              <a:rPr dirty="0" sz="2800" lang="en-US">
                <a:latin typeface="Calibri" panose="020F0502020204030204" pitchFamily="34" charset="0"/>
              </a:rPr>
              <a:t>is 0 - 13. </a:t>
            </a:r>
            <a:r>
              <a:rPr dirty="0" sz="2800" lang="en-US" smtClean="0">
                <a:latin typeface="Calibri" panose="020F0502020204030204" pitchFamily="34" charset="0"/>
              </a:rPr>
              <a:t> </a:t>
            </a:r>
          </a:p>
          <a:p>
            <a:pPr algn="just"/>
            <a:r>
              <a:rPr dirty="0" sz="2800" lang="en-US" smtClean="0">
                <a:latin typeface="Calibri" panose="020F0502020204030204" pitchFamily="34" charset="0"/>
              </a:rPr>
              <a:t>A </a:t>
            </a:r>
            <a:r>
              <a:rPr dirty="0" sz="2800" lang="en-US">
                <a:latin typeface="Calibri" panose="020F0502020204030204" pitchFamily="34" charset="0"/>
              </a:rPr>
              <a:t>score of 8</a:t>
            </a:r>
            <a:r>
              <a:rPr dirty="0" sz="2800" lang="en-US" smtClean="0">
                <a:latin typeface="Calibri" panose="020F0502020204030204" pitchFamily="34" charset="0"/>
              </a:rPr>
              <a:t> </a:t>
            </a:r>
            <a:r>
              <a:rPr dirty="0" sz="2800" lang="en-US">
                <a:latin typeface="Calibri" panose="020F0502020204030204" pitchFamily="34" charset="0"/>
              </a:rPr>
              <a:t>or </a:t>
            </a:r>
            <a:r>
              <a:rPr dirty="0" sz="2800" lang="en-US" smtClean="0">
                <a:latin typeface="Calibri" panose="020F0502020204030204" pitchFamily="34" charset="0"/>
              </a:rPr>
              <a:t>more equates to a ripe cervix &amp; one that is favorable for induction of </a:t>
            </a:r>
            <a:r>
              <a:rPr dirty="0" sz="2800" lang="en-US" err="1" smtClean="0">
                <a:latin typeface="Calibri" panose="020F0502020204030204" pitchFamily="34" charset="0"/>
              </a:rPr>
              <a:t>labour</a:t>
            </a:r>
            <a:r>
              <a:rPr dirty="0" sz="2800" lang="en-US" smtClean="0">
                <a:latin typeface="Calibri" panose="020F0502020204030204" pitchFamily="34" charset="0"/>
              </a:rPr>
              <a:t> thus shows that the mother will have </a:t>
            </a:r>
            <a:r>
              <a:rPr dirty="0" sz="2800" lang="en-US">
                <a:latin typeface="Calibri" panose="020F0502020204030204" pitchFamily="34" charset="0"/>
              </a:rPr>
              <a:t>a safe, successful induction with </a:t>
            </a:r>
            <a:r>
              <a:rPr dirty="0" sz="2800" lang="en-US" smtClean="0">
                <a:latin typeface="Calibri" panose="020F0502020204030204" pitchFamily="34" charset="0"/>
              </a:rPr>
              <a:t>an estimated </a:t>
            </a:r>
            <a:r>
              <a:rPr dirty="0" sz="2800" lang="en-US">
                <a:latin typeface="Calibri" panose="020F0502020204030204" pitchFamily="34" charset="0"/>
              </a:rPr>
              <a:t>length of </a:t>
            </a:r>
            <a:r>
              <a:rPr dirty="0" sz="2800" lang="en-US" err="1">
                <a:latin typeface="Calibri" panose="020F0502020204030204" pitchFamily="34" charset="0"/>
              </a:rPr>
              <a:t>labour</a:t>
            </a:r>
            <a:r>
              <a:rPr dirty="0" sz="2800" lang="en-US">
                <a:latin typeface="Calibri" panose="020F0502020204030204" pitchFamily="34" charset="0"/>
              </a:rPr>
              <a:t> of less than </a:t>
            </a:r>
            <a:r>
              <a:rPr dirty="0" sz="2800" lang="en-US" smtClean="0">
                <a:latin typeface="Calibri" panose="020F0502020204030204" pitchFamily="34" charset="0"/>
              </a:rPr>
              <a:t>four hours</a:t>
            </a:r>
            <a:r>
              <a:rPr dirty="0" sz="2800" lang="en-US">
                <a:latin typeface="Calibri" panose="020F0502020204030204" pitchFamily="34" charset="0"/>
              </a:rPr>
              <a:t>.</a:t>
            </a:r>
            <a:r>
              <a:rPr dirty="0" sz="2800" lang="en-US" smtClean="0">
                <a:latin typeface="Calibri" panose="020F0502020204030204" pitchFamily="34" charset="0"/>
              </a:rPr>
              <a:t> </a:t>
            </a:r>
          </a:p>
        </p:txBody>
      </p:sp>
      <p:sp>
        <p:nvSpPr>
          <p:cNvPr id="1050071"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1.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2" name=""/>
        <p:cNvGrpSpPr/>
        <p:nvPr/>
      </p:nvGrpSpPr>
      <p:grpSpPr>
        <a:xfrm>
          <a:off x="0" y="0"/>
          <a:ext cx="0" cy="0"/>
          <a:chOff x="0" y="0"/>
          <a:chExt cx="0" cy="0"/>
        </a:xfrm>
      </p:grpSpPr>
      <p:sp>
        <p:nvSpPr>
          <p:cNvPr id="1050072" name="Title 1"/>
          <p:cNvSpPr>
            <a:spLocks noGrp="1"/>
          </p:cNvSpPr>
          <p:nvPr>
            <p:ph type="title"/>
          </p:nvPr>
        </p:nvSpPr>
        <p:spPr/>
        <p:txBody>
          <a:bodyPr/>
          <a:p>
            <a:r>
              <a:rPr dirty="0" lang="en-US" smtClean="0"/>
              <a:t>					</a:t>
            </a:r>
            <a:endParaRPr dirty="0" lang="en-US"/>
          </a:p>
        </p:txBody>
      </p:sp>
      <p:sp>
        <p:nvSpPr>
          <p:cNvPr id="1050073" name="Content Placeholder 2"/>
          <p:cNvSpPr>
            <a:spLocks noGrp="1"/>
          </p:cNvSpPr>
          <p:nvPr>
            <p:ph idx="1"/>
          </p:nvPr>
        </p:nvSpPr>
        <p:spPr/>
        <p:txBody>
          <a:bodyPr/>
          <a:p>
            <a:pPr>
              <a:buNone/>
            </a:pPr>
            <a:r>
              <a:rPr dirty="0" lang="en-US" smtClean="0"/>
              <a:t>	</a:t>
            </a:r>
            <a:endParaRPr dirty="0" lang="en-US"/>
          </a:p>
        </p:txBody>
      </p:sp>
      <p:pic>
        <p:nvPicPr>
          <p:cNvPr id="2097167" name="ia_el_25_innerEl" descr="Bishop Score Table"/>
          <p:cNvPicPr>
            <a:picLocks/>
          </p:cNvPicPr>
          <p:nvPr/>
        </p:nvPicPr>
        <p:blipFill>
          <a:blip xmlns:r="http://schemas.openxmlformats.org/officeDocument/2006/relationships" r:embed="rId1" cstate="print"/>
          <a:srcRect/>
          <a:stretch>
            <a:fillRect/>
          </a:stretch>
        </p:blipFill>
        <p:spPr bwMode="auto">
          <a:xfrm>
            <a:off x="381000" y="990600"/>
            <a:ext cx="10858500" cy="5410200"/>
          </a:xfrm>
          <a:prstGeom prst="rect"/>
          <a:noFill/>
          <a:ln w="9525">
            <a:noFill/>
            <a:miter lim="800000"/>
            <a:headEnd/>
            <a:tailEnd/>
          </a:ln>
        </p:spPr>
      </p:pic>
      <p:sp>
        <p:nvSpPr>
          <p:cNvPr id="105007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pull dir="d"/>
  </p:transition>
  <p:timing/>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313" name=""/>
        <p:cNvGrpSpPr/>
        <p:nvPr/>
      </p:nvGrpSpPr>
      <p:grpSpPr>
        <a:xfrm>
          <a:off x="0" y="0"/>
          <a:ext cx="0" cy="0"/>
          <a:chOff x="0" y="0"/>
          <a:chExt cx="0" cy="0"/>
        </a:xfrm>
      </p:grpSpPr>
      <p:sp>
        <p:nvSpPr>
          <p:cNvPr id="1050075" name="Content Placeholder 2"/>
          <p:cNvSpPr>
            <a:spLocks noGrp="1"/>
          </p:cNvSpPr>
          <p:nvPr>
            <p:ph idx="1"/>
          </p:nvPr>
        </p:nvSpPr>
        <p:spPr>
          <a:xfrm>
            <a:off x="1371600" y="304800"/>
            <a:ext cx="9372600" cy="4800600"/>
          </a:xfrm>
        </p:spPr>
        <p:txBody>
          <a:bodyPr/>
          <a:p>
            <a:pPr indent="0" marL="82296">
              <a:buNone/>
            </a:pPr>
            <a:r>
              <a:rPr b="1" dirty="0" sz="3600" lang="en-US" smtClean="0">
                <a:solidFill>
                  <a:srgbClr val="FF0000"/>
                </a:solidFill>
                <a:latin typeface="AR BERKLEY" panose="02000000000000000000" pitchFamily="2" charset="0"/>
              </a:rPr>
              <a:t>Note!!</a:t>
            </a:r>
          </a:p>
          <a:p>
            <a:pPr algn="just"/>
            <a:r>
              <a:rPr dirty="0" lang="en-US" smtClean="0"/>
              <a:t>Prior to any method used to induce </a:t>
            </a:r>
            <a:r>
              <a:rPr dirty="0" lang="en-US" err="1" smtClean="0"/>
              <a:t>labour</a:t>
            </a:r>
            <a:r>
              <a:rPr dirty="0" lang="en-US" smtClean="0"/>
              <a:t>, it’s extremely important for a midwife to carry out an abdominal examination confirming the lie, presentation, descent of presenting part and the fetal wellbeing</a:t>
            </a:r>
            <a:endParaRPr dirty="0" lang="en-US"/>
          </a:p>
        </p:txBody>
      </p:sp>
      <p:sp>
        <p:nvSpPr>
          <p:cNvPr id="105007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3.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4" name=""/>
        <p:cNvGrpSpPr/>
        <p:nvPr/>
      </p:nvGrpSpPr>
      <p:grpSpPr>
        <a:xfrm>
          <a:off x="0" y="0"/>
          <a:ext cx="0" cy="0"/>
          <a:chOff x="0" y="0"/>
          <a:chExt cx="0" cy="0"/>
        </a:xfrm>
      </p:grpSpPr>
      <p:sp>
        <p:nvSpPr>
          <p:cNvPr id="1050077" name="Title 1"/>
          <p:cNvSpPr>
            <a:spLocks noGrp="1"/>
          </p:cNvSpPr>
          <p:nvPr>
            <p:ph type="title"/>
          </p:nvPr>
        </p:nvSpPr>
        <p:spPr/>
        <p:txBody>
          <a:bodyPr>
            <a:normAutofit/>
          </a:bodyPr>
          <a:p>
            <a:r>
              <a:rPr b="1" dirty="0" sz="4400" lang="en-US" smtClean="0">
                <a:solidFill>
                  <a:srgbClr val="FF00FF"/>
                </a:solidFill>
              </a:rPr>
              <a:t>Methods of induction of </a:t>
            </a:r>
            <a:r>
              <a:rPr b="1" dirty="0" sz="4400" lang="en-US" err="1" smtClean="0">
                <a:solidFill>
                  <a:srgbClr val="FF00FF"/>
                </a:solidFill>
              </a:rPr>
              <a:t>labour</a:t>
            </a:r>
            <a:endParaRPr b="1" dirty="0" lang="en-US">
              <a:solidFill>
                <a:srgbClr val="FF00FF"/>
              </a:solidFill>
            </a:endParaRPr>
          </a:p>
        </p:txBody>
      </p:sp>
      <p:sp>
        <p:nvSpPr>
          <p:cNvPr id="1050078" name="Content Placeholder 2"/>
          <p:cNvSpPr>
            <a:spLocks noGrp="1"/>
          </p:cNvSpPr>
          <p:nvPr>
            <p:ph idx="1"/>
          </p:nvPr>
        </p:nvSpPr>
        <p:spPr>
          <a:xfrm>
            <a:off x="1238250" y="1295400"/>
            <a:ext cx="9620250" cy="5257800"/>
          </a:xfrm>
        </p:spPr>
        <p:txBody>
          <a:bodyPr>
            <a:noAutofit/>
          </a:bodyPr>
          <a:p>
            <a:pPr algn="just">
              <a:buNone/>
            </a:pPr>
            <a:r>
              <a:rPr dirty="0" sz="3200" lang="en-US" smtClean="0">
                <a:latin typeface="Calibri" panose="020F0502020204030204" pitchFamily="34" charset="0"/>
              </a:rPr>
              <a:t>	</a:t>
            </a:r>
            <a:r>
              <a:rPr b="1" dirty="0" sz="3200" lang="en-US" smtClean="0">
                <a:latin typeface="Calibri" panose="020F0502020204030204" pitchFamily="34" charset="0"/>
              </a:rPr>
              <a:t>		</a:t>
            </a:r>
            <a:r>
              <a:rPr b="1" dirty="0" sz="3200" i="1" lang="en-US" smtClean="0">
                <a:solidFill>
                  <a:srgbClr val="00FF00"/>
                </a:solidFill>
                <a:latin typeface="Calibri" panose="020F0502020204030204" pitchFamily="34" charset="0"/>
              </a:rPr>
              <a:t>I . MEDICAL</a:t>
            </a:r>
            <a:endParaRPr b="1" dirty="0" sz="3200" lang="en-US" smtClean="0">
              <a:solidFill>
                <a:srgbClr val="00FF00"/>
              </a:solidFill>
              <a:latin typeface="Calibri" panose="020F0502020204030204" pitchFamily="34" charset="0"/>
            </a:endParaRPr>
          </a:p>
          <a:p>
            <a:pPr algn="just">
              <a:buFont typeface="Wingdings" pitchFamily="2" charset="2"/>
              <a:buChar char="v"/>
            </a:pPr>
            <a:r>
              <a:rPr dirty="0" sz="3200" lang="en-US" smtClean="0">
                <a:latin typeface="Calibri" panose="020F0502020204030204" pitchFamily="34" charset="0"/>
              </a:rPr>
              <a:t> Drugs (pharmaceutical preparation) alone are used and the amniotic sac remains intact. They include:-</a:t>
            </a:r>
          </a:p>
          <a:p>
            <a:pPr algn="just"/>
            <a:r>
              <a:rPr b="1" dirty="0" sz="3200" lang="en-US" smtClean="0">
                <a:latin typeface="Calibri" panose="020F0502020204030204" pitchFamily="34" charset="0"/>
              </a:rPr>
              <a:t>Prostaglandin E2 (PGE2)</a:t>
            </a:r>
          </a:p>
          <a:p>
            <a:pPr algn="just">
              <a:buFont typeface="Wingdings" pitchFamily="2" charset="2"/>
              <a:buChar char="Ø"/>
            </a:pPr>
            <a:r>
              <a:rPr dirty="0" sz="3200" lang="en-US" err="1" smtClean="0">
                <a:latin typeface="Calibri" panose="020F0502020204030204" pitchFamily="34" charset="0"/>
              </a:rPr>
              <a:t>Intravaginal</a:t>
            </a:r>
            <a:r>
              <a:rPr dirty="0" sz="3200" lang="en-US" smtClean="0">
                <a:latin typeface="Calibri" panose="020F0502020204030204" pitchFamily="34" charset="0"/>
              </a:rPr>
              <a:t> prostaglandin E2 are  in the form of </a:t>
            </a:r>
            <a:r>
              <a:rPr dirty="0" sz="3200" lang="en-US" err="1" smtClean="0">
                <a:latin typeface="Calibri" panose="020F0502020204030204" pitchFamily="34" charset="0"/>
              </a:rPr>
              <a:t>pessaries</a:t>
            </a:r>
            <a:r>
              <a:rPr dirty="0" sz="3200" lang="en-US" smtClean="0">
                <a:latin typeface="Calibri" panose="020F0502020204030204" pitchFamily="34" charset="0"/>
              </a:rPr>
              <a:t> (2.5mg), vaginal tablets (3-6mg) or gel (2.5-5mg) </a:t>
            </a:r>
            <a:r>
              <a:rPr dirty="0" sz="3200" lang="en-US" err="1" smtClean="0">
                <a:latin typeface="Calibri" panose="020F0502020204030204" pitchFamily="34" charset="0"/>
              </a:rPr>
              <a:t>e.g</a:t>
            </a:r>
            <a:r>
              <a:rPr dirty="0" sz="3200" lang="en-US" smtClean="0">
                <a:latin typeface="Calibri" panose="020F0502020204030204" pitchFamily="34" charset="0"/>
              </a:rPr>
              <a:t> </a:t>
            </a:r>
            <a:r>
              <a:rPr dirty="0" sz="3200" lang="en-US" err="1" smtClean="0">
                <a:latin typeface="Calibri" panose="020F0502020204030204" pitchFamily="34" charset="0"/>
              </a:rPr>
              <a:t>Dinoprostone</a:t>
            </a:r>
            <a:r>
              <a:rPr dirty="0" sz="3200" lang="en-US" smtClean="0">
                <a:latin typeface="Calibri" panose="020F0502020204030204" pitchFamily="34" charset="0"/>
              </a:rPr>
              <a:t>.</a:t>
            </a:r>
          </a:p>
          <a:p>
            <a:pPr algn="just">
              <a:buFont typeface="Wingdings" pitchFamily="2" charset="2"/>
              <a:buChar char="ü"/>
            </a:pPr>
            <a:r>
              <a:rPr dirty="0" sz="3200" lang="en-US" smtClean="0">
                <a:latin typeface="Calibri" panose="020F0502020204030204" pitchFamily="34" charset="0"/>
              </a:rPr>
              <a:t>It prepares the cervix and initiates uterine contractions. </a:t>
            </a:r>
            <a:endParaRPr dirty="0" sz="3200" lang="en-US">
              <a:latin typeface="Calibri" panose="020F0502020204030204" pitchFamily="34" charset="0"/>
            </a:endParaRPr>
          </a:p>
        </p:txBody>
      </p:sp>
      <p:sp>
        <p:nvSpPr>
          <p:cNvPr id="1050079"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4.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5" name=""/>
        <p:cNvGrpSpPr/>
        <p:nvPr/>
      </p:nvGrpSpPr>
      <p:grpSpPr>
        <a:xfrm>
          <a:off x="0" y="0"/>
          <a:ext cx="0" cy="0"/>
          <a:chOff x="0" y="0"/>
          <a:chExt cx="0" cy="0"/>
        </a:xfrm>
      </p:grpSpPr>
      <p:sp>
        <p:nvSpPr>
          <p:cNvPr id="1050080" name="Content Placeholder 2"/>
          <p:cNvSpPr>
            <a:spLocks noGrp="1"/>
          </p:cNvSpPr>
          <p:nvPr>
            <p:ph idx="1"/>
          </p:nvPr>
        </p:nvSpPr>
        <p:spPr>
          <a:xfrm>
            <a:off x="1238250" y="381000"/>
            <a:ext cx="9906000" cy="5867400"/>
          </a:xfrm>
        </p:spPr>
        <p:txBody>
          <a:bodyPr>
            <a:noAutofit/>
          </a:bodyPr>
          <a:p>
            <a:pPr algn="just"/>
            <a:r>
              <a:rPr b="1" dirty="0" sz="2800" lang="en-US" smtClean="0">
                <a:latin typeface="Calibri" panose="020F0502020204030204" pitchFamily="34" charset="0"/>
              </a:rPr>
              <a:t>Misoprostol</a:t>
            </a:r>
            <a:r>
              <a:rPr dirty="0" sz="2800" lang="en-US" smtClean="0">
                <a:latin typeface="Calibri" panose="020F0502020204030204" pitchFamily="34" charset="0"/>
              </a:rPr>
              <a:t> ( </a:t>
            </a:r>
            <a:r>
              <a:rPr dirty="0" sz="2800" lang="en-US" err="1" smtClean="0">
                <a:latin typeface="Calibri" panose="020F0502020204030204" pitchFamily="34" charset="0"/>
              </a:rPr>
              <a:t>Cytotec</a:t>
            </a:r>
            <a:r>
              <a:rPr dirty="0" sz="2800" lang="en-US" smtClean="0">
                <a:latin typeface="Calibri" panose="020F0502020204030204" pitchFamily="34" charset="0"/>
              </a:rPr>
              <a:t>)  or PGE1</a:t>
            </a:r>
          </a:p>
          <a:p>
            <a:pPr algn="just">
              <a:buFont typeface="Wingdings" pitchFamily="2" charset="2"/>
              <a:buChar char="Ø"/>
            </a:pPr>
            <a:r>
              <a:rPr dirty="0" sz="2800" lang="en-US" smtClean="0">
                <a:latin typeface="Calibri" panose="020F0502020204030204" pitchFamily="34" charset="0"/>
              </a:rPr>
              <a:t>Normally packed in form of a tablet of 200 mcg.</a:t>
            </a:r>
          </a:p>
          <a:p>
            <a:pPr algn="just">
              <a:buFont typeface="Wingdings" pitchFamily="2" charset="2"/>
              <a:buChar char="Ø"/>
            </a:pPr>
            <a:r>
              <a:rPr dirty="0" sz="2800" lang="en-US" smtClean="0">
                <a:latin typeface="Calibri" panose="020F0502020204030204" pitchFamily="34" charset="0"/>
              </a:rPr>
              <a:t>Recommended dose is 50 mcg, inserted to the posterior fornix per vaginal.</a:t>
            </a:r>
          </a:p>
          <a:p>
            <a:pPr algn="just">
              <a:buFont typeface="Wingdings" pitchFamily="2" charset="2"/>
              <a:buChar char="ü"/>
            </a:pPr>
            <a:r>
              <a:rPr dirty="0" sz="2800" lang="en-US" smtClean="0">
                <a:latin typeface="Calibri" panose="020F0502020204030204" pitchFamily="34" charset="0"/>
              </a:rPr>
              <a:t> Membranes should be intact.</a:t>
            </a:r>
          </a:p>
          <a:p>
            <a:pPr algn="just">
              <a:buFont typeface="Wingdings" pitchFamily="2" charset="2"/>
              <a:buChar char="ü"/>
            </a:pPr>
            <a:r>
              <a:rPr dirty="0" sz="2800" lang="en-US" smtClean="0">
                <a:latin typeface="Calibri" panose="020F0502020204030204" pitchFamily="34" charset="0"/>
              </a:rPr>
              <a:t>Adv , High success rate. </a:t>
            </a:r>
            <a:r>
              <a:rPr dirty="0" sz="2800" lang="en-US" err="1" smtClean="0">
                <a:latin typeface="Calibri" panose="020F0502020204030204" pitchFamily="34" charset="0"/>
              </a:rPr>
              <a:t>Disadv</a:t>
            </a:r>
            <a:r>
              <a:rPr dirty="0" sz="2800" lang="en-US" smtClean="0">
                <a:latin typeface="Calibri" panose="020F0502020204030204" pitchFamily="34" charset="0"/>
              </a:rPr>
              <a:t>,  Very rapid labour leading to negative  psychological impact</a:t>
            </a:r>
          </a:p>
          <a:p>
            <a:pPr algn="just"/>
            <a:r>
              <a:rPr b="1" dirty="0" sz="2800" lang="en-US" smtClean="0">
                <a:latin typeface="Calibri" panose="020F0502020204030204" pitchFamily="34" charset="0"/>
              </a:rPr>
              <a:t>Synitocinon /Oxytocin /</a:t>
            </a:r>
            <a:r>
              <a:rPr b="1" dirty="0" sz="2800" lang="en-US" err="1" smtClean="0">
                <a:latin typeface="Calibri" panose="020F0502020204030204" pitchFamily="34" charset="0"/>
              </a:rPr>
              <a:t>Pitocin</a:t>
            </a:r>
            <a:endParaRPr b="1" dirty="0" sz="2800" lang="en-US" smtClean="0">
              <a:latin typeface="Calibri" panose="020F0502020204030204" pitchFamily="34" charset="0"/>
            </a:endParaRPr>
          </a:p>
          <a:p>
            <a:pPr algn="just">
              <a:buFont typeface="Wingdings" pitchFamily="2" charset="2"/>
              <a:buChar char="Ø"/>
            </a:pPr>
            <a:r>
              <a:rPr dirty="0" sz="2800" lang="en-US" smtClean="0">
                <a:latin typeface="Calibri" panose="020F0502020204030204" pitchFamily="34" charset="0"/>
              </a:rPr>
              <a:t>Packed at doses of 5 and 10 units per </a:t>
            </a:r>
            <a:r>
              <a:rPr dirty="0" sz="2800" lang="en-US" err="1" smtClean="0">
                <a:latin typeface="Calibri" panose="020F0502020204030204" pitchFamily="34" charset="0"/>
              </a:rPr>
              <a:t>mililitre</a:t>
            </a:r>
            <a:r>
              <a:rPr dirty="0" sz="2800" lang="en-US" smtClean="0">
                <a:latin typeface="Calibri" panose="020F0502020204030204" pitchFamily="34" charset="0"/>
              </a:rPr>
              <a:t>.</a:t>
            </a:r>
          </a:p>
          <a:p>
            <a:pPr algn="just">
              <a:buFont typeface="Wingdings" pitchFamily="2" charset="2"/>
              <a:buChar char="Ø"/>
            </a:pPr>
            <a:r>
              <a:rPr dirty="0" sz="2800" lang="en-US" smtClean="0">
                <a:latin typeface="Calibri" panose="020F0502020204030204" pitchFamily="34" charset="0"/>
              </a:rPr>
              <a:t>Recommended dose for </a:t>
            </a:r>
            <a:r>
              <a:rPr dirty="0" sz="2800" lang="en-US" err="1" smtClean="0">
                <a:latin typeface="Calibri" panose="020F0502020204030204" pitchFamily="34" charset="0"/>
              </a:rPr>
              <a:t>primigravida</a:t>
            </a:r>
            <a:r>
              <a:rPr dirty="0" sz="2800" lang="en-US" smtClean="0">
                <a:latin typeface="Calibri" panose="020F0502020204030204" pitchFamily="34" charset="0"/>
              </a:rPr>
              <a:t> is 5 units &amp;</a:t>
            </a:r>
            <a:endParaRPr dirty="0" sz="2800" lang="en-US">
              <a:latin typeface="Calibri" panose="020F0502020204030204" pitchFamily="34" charset="0"/>
            </a:endParaRPr>
          </a:p>
        </p:txBody>
      </p:sp>
      <p:sp>
        <p:nvSpPr>
          <p:cNvPr id="105008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5.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6" name=""/>
        <p:cNvGrpSpPr/>
        <p:nvPr/>
      </p:nvGrpSpPr>
      <p:grpSpPr>
        <a:xfrm>
          <a:off x="0" y="0"/>
          <a:ext cx="0" cy="0"/>
          <a:chOff x="0" y="0"/>
          <a:chExt cx="0" cy="0"/>
        </a:xfrm>
      </p:grpSpPr>
      <p:sp>
        <p:nvSpPr>
          <p:cNvPr id="1050082" name="Content Placeholder 2"/>
          <p:cNvSpPr>
            <a:spLocks noGrp="1"/>
          </p:cNvSpPr>
          <p:nvPr>
            <p:ph idx="1"/>
          </p:nvPr>
        </p:nvSpPr>
        <p:spPr>
          <a:xfrm>
            <a:off x="1428750" y="228609"/>
            <a:ext cx="9429750" cy="5902327"/>
          </a:xfrm>
        </p:spPr>
        <p:txBody>
          <a:bodyPr>
            <a:noAutofit/>
          </a:bodyPr>
          <a:p>
            <a:pPr algn="just">
              <a:buNone/>
            </a:pPr>
            <a:r>
              <a:rPr dirty="0" lang="en-US" smtClean="0">
                <a:latin typeface="Calibri" panose="020F0502020204030204" pitchFamily="34" charset="0"/>
              </a:rPr>
              <a:t>	multiparous 2.5 units in ½ L of 5% or 10% dextrose commenced at 10 </a:t>
            </a:r>
            <a:r>
              <a:rPr dirty="0" lang="en-US" err="1" smtClean="0">
                <a:latin typeface="Calibri" panose="020F0502020204030204" pitchFamily="34" charset="0"/>
              </a:rPr>
              <a:t>dpm</a:t>
            </a:r>
            <a:r>
              <a:rPr dirty="0" lang="en-US" smtClean="0">
                <a:latin typeface="Calibri" panose="020F0502020204030204" pitchFamily="34" charset="0"/>
              </a:rPr>
              <a:t>. 	</a:t>
            </a:r>
          </a:p>
          <a:p>
            <a:pPr algn="just">
              <a:buFont typeface="Wingdings" pitchFamily="2" charset="2"/>
              <a:buChar char="ü"/>
            </a:pPr>
            <a:r>
              <a:rPr dirty="0" lang="en-US" smtClean="0">
                <a:latin typeface="Calibri" panose="020F0502020204030204" pitchFamily="34" charset="0"/>
              </a:rPr>
              <a:t>Drops are increased every ½ hrly with 10  </a:t>
            </a:r>
            <a:r>
              <a:rPr dirty="0" lang="en-US" err="1" smtClean="0">
                <a:latin typeface="Calibri" panose="020F0502020204030204" pitchFamily="34" charset="0"/>
              </a:rPr>
              <a:t>dpm</a:t>
            </a:r>
            <a:r>
              <a:rPr dirty="0" lang="en-US" smtClean="0">
                <a:latin typeface="Calibri" panose="020F0502020204030204" pitchFamily="34" charset="0"/>
              </a:rPr>
              <a:t> up to a maximum of 60 </a:t>
            </a:r>
            <a:r>
              <a:rPr dirty="0" lang="en-US" err="1" smtClean="0">
                <a:latin typeface="Calibri" panose="020F0502020204030204" pitchFamily="34" charset="0"/>
              </a:rPr>
              <a:t>dpm</a:t>
            </a:r>
            <a:r>
              <a:rPr dirty="0" lang="en-US" smtClean="0">
                <a:latin typeface="Calibri" panose="020F0502020204030204" pitchFamily="34" charset="0"/>
              </a:rPr>
              <a:t> or till 3 moderate contractions are achieved.</a:t>
            </a:r>
          </a:p>
          <a:p>
            <a:pPr algn="just">
              <a:buNone/>
            </a:pPr>
            <a:r>
              <a:rPr b="1" dirty="0" lang="en-US" smtClean="0">
                <a:solidFill>
                  <a:srgbClr val="00FF00"/>
                </a:solidFill>
                <a:latin typeface="Calibri" panose="020F0502020204030204" pitchFamily="34" charset="0"/>
              </a:rPr>
              <a:t>NB : </a:t>
            </a:r>
            <a:r>
              <a:rPr dirty="0" lang="en-US" smtClean="0">
                <a:latin typeface="Calibri" panose="020F0502020204030204" pitchFamily="34" charset="0"/>
              </a:rPr>
              <a:t>Stop drops increase on attaining 3 moderate contractions</a:t>
            </a:r>
          </a:p>
          <a:p>
            <a:pPr algn="just">
              <a:buFont typeface="Wingdings" pitchFamily="2" charset="2"/>
              <a:buChar char="ü"/>
            </a:pPr>
            <a:r>
              <a:rPr dirty="0" lang="en-US" err="1" smtClean="0">
                <a:latin typeface="Calibri" panose="020F0502020204030204" pitchFamily="34" charset="0"/>
              </a:rPr>
              <a:t>Evacuant</a:t>
            </a:r>
            <a:r>
              <a:rPr dirty="0" lang="en-US" smtClean="0">
                <a:latin typeface="Calibri" panose="020F0502020204030204" pitchFamily="34" charset="0"/>
              </a:rPr>
              <a:t> enema may be necessary prior to synitocinon      drip.		</a:t>
            </a:r>
          </a:p>
          <a:p>
            <a:pPr algn="just">
              <a:buNone/>
            </a:pPr>
            <a:endParaRPr dirty="0" lang="en-US" smtClean="0">
              <a:latin typeface="Calibri" panose="020F0502020204030204" pitchFamily="34" charset="0"/>
            </a:endParaRPr>
          </a:p>
          <a:p>
            <a:pPr algn="just">
              <a:buNone/>
            </a:pPr>
            <a:r>
              <a:rPr dirty="0" lang="en-US" smtClean="0">
                <a:latin typeface="Calibri" panose="020F0502020204030204" pitchFamily="34" charset="0"/>
              </a:rPr>
              <a:t>	</a:t>
            </a:r>
            <a:endParaRPr dirty="0" lang="en-US">
              <a:latin typeface="Calibri" panose="020F0502020204030204" pitchFamily="34" charset="0"/>
            </a:endParaRPr>
          </a:p>
        </p:txBody>
      </p:sp>
      <p:sp>
        <p:nvSpPr>
          <p:cNvPr id="105008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7" name=""/>
        <p:cNvGrpSpPr/>
        <p:nvPr/>
      </p:nvGrpSpPr>
      <p:grpSpPr>
        <a:xfrm>
          <a:off x="0" y="0"/>
          <a:ext cx="0" cy="0"/>
          <a:chOff x="0" y="0"/>
          <a:chExt cx="0" cy="0"/>
        </a:xfrm>
      </p:grpSpPr>
      <p:sp>
        <p:nvSpPr>
          <p:cNvPr id="1050084" name="Title 1"/>
          <p:cNvSpPr>
            <a:spLocks noGrp="1"/>
          </p:cNvSpPr>
          <p:nvPr>
            <p:ph type="title"/>
          </p:nvPr>
        </p:nvSpPr>
        <p:spPr>
          <a:xfrm>
            <a:off x="571500" y="1"/>
            <a:ext cx="10287000" cy="990600"/>
          </a:xfrm>
        </p:spPr>
        <p:txBody>
          <a:bodyPr>
            <a:normAutofit fontScale="90000"/>
          </a:bodyPr>
          <a:p>
            <a:r>
              <a:rPr dirty="0" i="1" lang="en-US" smtClean="0"/>
              <a:t/>
            </a:r>
            <a:br>
              <a:rPr dirty="0" i="1" lang="en-US" smtClean="0"/>
            </a:br>
            <a:r>
              <a:rPr dirty="0" i="1" lang="en-US" smtClean="0">
                <a:solidFill>
                  <a:srgbClr val="00FF00"/>
                </a:solidFill>
              </a:rPr>
              <a:t>11. SURGICAL</a:t>
            </a:r>
            <a:r>
              <a:rPr dirty="0" i="1" lang="en-US" smtClean="0"/>
              <a:t/>
            </a:r>
            <a:br>
              <a:rPr dirty="0" i="1" lang="en-US" smtClean="0"/>
            </a:br>
            <a:endParaRPr dirty="0" lang="en-US"/>
          </a:p>
        </p:txBody>
      </p:sp>
      <p:sp>
        <p:nvSpPr>
          <p:cNvPr id="1050085" name="Content Placeholder 2"/>
          <p:cNvSpPr>
            <a:spLocks noGrp="1"/>
          </p:cNvSpPr>
          <p:nvPr>
            <p:ph idx="1"/>
          </p:nvPr>
        </p:nvSpPr>
        <p:spPr>
          <a:xfrm>
            <a:off x="1333500" y="762000"/>
            <a:ext cx="10096500" cy="6096000"/>
          </a:xfrm>
        </p:spPr>
        <p:txBody>
          <a:bodyPr>
            <a:noAutofit/>
          </a:bodyPr>
          <a:p>
            <a:pPr>
              <a:buFont typeface="Wingdings" pitchFamily="2" charset="2"/>
              <a:buChar char="v"/>
            </a:pPr>
            <a:r>
              <a:rPr dirty="0" lang="en-US" err="1" smtClean="0">
                <a:latin typeface="Calibri" panose="020F0502020204030204" pitchFamily="34" charset="0"/>
              </a:rPr>
              <a:t>Characterised</a:t>
            </a:r>
            <a:r>
              <a:rPr dirty="0" lang="en-US" smtClean="0">
                <a:latin typeface="Calibri" panose="020F0502020204030204" pitchFamily="34" charset="0"/>
              </a:rPr>
              <a:t> by various mechanical measures, namely:</a:t>
            </a:r>
          </a:p>
          <a:p>
            <a:r>
              <a:rPr b="1" dirty="0" lang="en-US" smtClean="0">
                <a:latin typeface="Calibri" panose="020F0502020204030204" pitchFamily="34" charset="0"/>
              </a:rPr>
              <a:t>Bulb  induction for multiparous:</a:t>
            </a:r>
          </a:p>
          <a:p>
            <a:pPr>
              <a:buFont typeface="Wingdings" pitchFamily="2" charset="2"/>
              <a:buChar char="Ø"/>
            </a:pPr>
            <a:r>
              <a:rPr dirty="0" lang="en-US" smtClean="0">
                <a:latin typeface="Calibri" panose="020F0502020204030204" pitchFamily="34" charset="0"/>
              </a:rPr>
              <a:t>A sterile  catheter is inserted through the cervix , such that  the tip and </a:t>
            </a:r>
            <a:r>
              <a:rPr dirty="0" lang="en-US" err="1" smtClean="0">
                <a:latin typeface="Calibri" panose="020F0502020204030204" pitchFamily="34" charset="0"/>
              </a:rPr>
              <a:t>ballon</a:t>
            </a:r>
            <a:r>
              <a:rPr dirty="0" lang="en-US" smtClean="0">
                <a:latin typeface="Calibri" panose="020F0502020204030204" pitchFamily="34" charset="0"/>
              </a:rPr>
              <a:t> are  within the lower uterine segment.</a:t>
            </a:r>
          </a:p>
          <a:p>
            <a:pPr>
              <a:buFont typeface="Wingdings" pitchFamily="2" charset="2"/>
              <a:buChar char="Ø"/>
            </a:pPr>
            <a:r>
              <a:rPr dirty="0" lang="en-US" smtClean="0">
                <a:latin typeface="Calibri" panose="020F0502020204030204" pitchFamily="34" charset="0"/>
              </a:rPr>
              <a:t> Inflate  </a:t>
            </a:r>
            <a:r>
              <a:rPr dirty="0" lang="en-US" err="1" smtClean="0">
                <a:latin typeface="Calibri" panose="020F0502020204030204" pitchFamily="34" charset="0"/>
              </a:rPr>
              <a:t>ballon</a:t>
            </a:r>
            <a:r>
              <a:rPr dirty="0" lang="en-US" smtClean="0">
                <a:latin typeface="Calibri" panose="020F0502020204030204" pitchFamily="34" charset="0"/>
              </a:rPr>
              <a:t> with 60 ml of fluid &amp; continues adding  by 10 ml hourly to a maximum of 60 ml.</a:t>
            </a:r>
          </a:p>
          <a:p>
            <a:pPr>
              <a:buFont typeface="Wingdings" pitchFamily="2" charset="2"/>
              <a:buChar char="Ø"/>
            </a:pPr>
            <a:r>
              <a:rPr dirty="0" lang="en-US" smtClean="0">
                <a:latin typeface="Calibri" panose="020F0502020204030204" pitchFamily="34" charset="0"/>
              </a:rPr>
              <a:t>Simultaneously keep the catheter on traction against the cervix by sticking it on the thigh.</a:t>
            </a:r>
          </a:p>
          <a:p>
            <a:pPr>
              <a:buFont typeface="Wingdings" pitchFamily="2" charset="2"/>
              <a:buChar char="ü"/>
            </a:pPr>
            <a:r>
              <a:rPr dirty="0" lang="en-US" smtClean="0">
                <a:latin typeface="Calibri" panose="020F0502020204030204" pitchFamily="34" charset="0"/>
              </a:rPr>
              <a:t> This continues until the bulb falls off which indicates 6 cm.</a:t>
            </a:r>
          </a:p>
          <a:p>
            <a:pPr>
              <a:buNone/>
            </a:pPr>
            <a:r>
              <a:rPr dirty="0" lang="en-US" smtClean="0">
                <a:latin typeface="Calibri" panose="020F0502020204030204" pitchFamily="34" charset="0"/>
              </a:rPr>
              <a:t> </a:t>
            </a:r>
          </a:p>
          <a:p>
            <a:endParaRPr dirty="0" lang="en-US">
              <a:latin typeface="Calibri" panose="020F0502020204030204" pitchFamily="34" charset="0"/>
            </a:endParaRPr>
          </a:p>
        </p:txBody>
      </p:sp>
      <p:sp>
        <p:nvSpPr>
          <p:cNvPr id="105008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8" name=""/>
        <p:cNvGrpSpPr/>
        <p:nvPr/>
      </p:nvGrpSpPr>
      <p:grpSpPr>
        <a:xfrm>
          <a:off x="0" y="0"/>
          <a:ext cx="0" cy="0"/>
          <a:chOff x="0" y="0"/>
          <a:chExt cx="0" cy="0"/>
        </a:xfrm>
      </p:grpSpPr>
      <p:sp>
        <p:nvSpPr>
          <p:cNvPr id="1050087" name="Content Placeholder 2"/>
          <p:cNvSpPr>
            <a:spLocks noGrp="1"/>
          </p:cNvSpPr>
          <p:nvPr>
            <p:ph idx="1"/>
          </p:nvPr>
        </p:nvSpPr>
        <p:spPr>
          <a:xfrm>
            <a:off x="1238250" y="609600"/>
            <a:ext cx="9620250" cy="5699760"/>
          </a:xfrm>
        </p:spPr>
        <p:txBody>
          <a:bodyPr>
            <a:noAutofit/>
          </a:bodyPr>
          <a:p>
            <a:r>
              <a:rPr b="1" dirty="0" sz="3600" lang="en-US" smtClean="0"/>
              <a:t>Sweep of the membranes:</a:t>
            </a:r>
          </a:p>
          <a:p>
            <a:pPr>
              <a:buFont typeface="Wingdings" pitchFamily="2" charset="2"/>
              <a:buChar char="Ø"/>
            </a:pPr>
            <a:r>
              <a:rPr dirty="0" sz="3600" lang="en-US" smtClean="0"/>
              <a:t>Possible from a dilatation of at least 3 cm.</a:t>
            </a:r>
          </a:p>
          <a:p>
            <a:pPr>
              <a:buFont typeface="Wingdings" pitchFamily="2" charset="2"/>
              <a:buChar char="Ø"/>
            </a:pPr>
            <a:r>
              <a:rPr dirty="0" sz="3600" lang="en-US" smtClean="0"/>
              <a:t>After a vaginal examination, the index &amp; 2</a:t>
            </a:r>
            <a:r>
              <a:rPr baseline="30000" dirty="0" sz="3600" lang="en-US" smtClean="0"/>
              <a:t>nd</a:t>
            </a:r>
            <a:r>
              <a:rPr dirty="0" sz="3600" lang="en-US" smtClean="0"/>
              <a:t>  finger  sweeps through the cervical os to detach </a:t>
            </a:r>
            <a:r>
              <a:rPr dirty="0" sz="3600" lang="en-US" err="1" smtClean="0"/>
              <a:t>foetal</a:t>
            </a:r>
            <a:r>
              <a:rPr dirty="0" sz="3600" lang="en-US" smtClean="0"/>
              <a:t> membranes from the decidua. </a:t>
            </a:r>
          </a:p>
          <a:p>
            <a:pPr>
              <a:buFont typeface="Wingdings" pitchFamily="2" charset="2"/>
              <a:buChar char="v"/>
            </a:pPr>
            <a:r>
              <a:rPr dirty="0" sz="3600" lang="en-US" smtClean="0"/>
              <a:t>The action facilitates release of natural  prostaglandin.</a:t>
            </a:r>
          </a:p>
        </p:txBody>
      </p:sp>
      <p:sp>
        <p:nvSpPr>
          <p:cNvPr id="105008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8.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19" name=""/>
        <p:cNvGrpSpPr/>
        <p:nvPr/>
      </p:nvGrpSpPr>
      <p:grpSpPr>
        <a:xfrm>
          <a:off x="0" y="0"/>
          <a:ext cx="0" cy="0"/>
          <a:chOff x="0" y="0"/>
          <a:chExt cx="0" cy="0"/>
        </a:xfrm>
      </p:grpSpPr>
      <p:sp>
        <p:nvSpPr>
          <p:cNvPr id="1050089" name="Content Placeholder 2"/>
          <p:cNvSpPr>
            <a:spLocks noGrp="1"/>
          </p:cNvSpPr>
          <p:nvPr>
            <p:ph idx="1"/>
          </p:nvPr>
        </p:nvSpPr>
        <p:spPr>
          <a:xfrm>
            <a:off x="1333500" y="381009"/>
            <a:ext cx="9525000" cy="5749925"/>
          </a:xfrm>
        </p:spPr>
        <p:txBody>
          <a:bodyPr>
            <a:noAutofit/>
          </a:bodyPr>
          <a:p>
            <a:r>
              <a:rPr b="1" dirty="0" lang="en-US" smtClean="0"/>
              <a:t>Amniotomy / ARM:</a:t>
            </a:r>
          </a:p>
          <a:p>
            <a:pPr>
              <a:buFont typeface="Wingdings" pitchFamily="2" charset="2"/>
              <a:buChar char="Ø"/>
            </a:pPr>
            <a:r>
              <a:rPr dirty="0" lang="en-US" smtClean="0"/>
              <a:t>Carried out safely when presenting part has engaged and well applied to the cervix.</a:t>
            </a:r>
          </a:p>
          <a:p>
            <a:pPr>
              <a:buNone/>
            </a:pPr>
            <a:r>
              <a:rPr dirty="0" lang="en-US" smtClean="0"/>
              <a:t>		</a:t>
            </a:r>
            <a:r>
              <a:rPr b="1" dirty="0" i="1" lang="en-US" smtClean="0">
                <a:solidFill>
                  <a:srgbClr val="00FF00"/>
                </a:solidFill>
              </a:rPr>
              <a:t>COMBINED  METHOD</a:t>
            </a:r>
          </a:p>
          <a:p>
            <a:r>
              <a:rPr dirty="0" lang="en-US" smtClean="0"/>
              <a:t>Mostly in terms of  either </a:t>
            </a:r>
            <a:r>
              <a:rPr dirty="0" lang="en-US" err="1" smtClean="0"/>
              <a:t>cytotec</a:t>
            </a:r>
            <a:r>
              <a:rPr dirty="0" lang="en-US" smtClean="0"/>
              <a:t>, or </a:t>
            </a:r>
            <a:r>
              <a:rPr dirty="0" lang="en-US" err="1" smtClean="0"/>
              <a:t>syntocinon</a:t>
            </a:r>
            <a:r>
              <a:rPr dirty="0" lang="en-US" smtClean="0"/>
              <a:t> drip and  artificial rupture of membranes in established labour.</a:t>
            </a:r>
          </a:p>
          <a:p>
            <a:r>
              <a:rPr dirty="0" lang="en-US" smtClean="0"/>
              <a:t>Alternatively, membranes sweep, in pre-labour rupture and synitocinon drip.  </a:t>
            </a:r>
          </a:p>
          <a:p>
            <a:pPr>
              <a:buNone/>
            </a:pPr>
            <a:r>
              <a:rPr dirty="0" lang="en-US" smtClean="0"/>
              <a:t>		</a:t>
            </a:r>
            <a:endParaRPr dirty="0" lang="en-US"/>
          </a:p>
        </p:txBody>
      </p:sp>
      <p:sp>
        <p:nvSpPr>
          <p:cNvPr id="105009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39.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0" name=""/>
        <p:cNvGrpSpPr/>
        <p:nvPr/>
      </p:nvGrpSpPr>
      <p:grpSpPr>
        <a:xfrm>
          <a:off x="0" y="0"/>
          <a:ext cx="0" cy="0"/>
          <a:chOff x="0" y="0"/>
          <a:chExt cx="0" cy="0"/>
        </a:xfrm>
      </p:grpSpPr>
      <p:sp>
        <p:nvSpPr>
          <p:cNvPr id="1050091" name="Title 1"/>
          <p:cNvSpPr>
            <a:spLocks noGrp="1"/>
          </p:cNvSpPr>
          <p:nvPr>
            <p:ph type="title"/>
          </p:nvPr>
        </p:nvSpPr>
        <p:spPr/>
        <p:txBody>
          <a:bodyPr/>
          <a:p>
            <a:r>
              <a:rPr dirty="0" sz="4400" lang="en-US" smtClean="0">
                <a:solidFill>
                  <a:srgbClr val="FF00FF"/>
                </a:solidFill>
              </a:rPr>
              <a:t>Specific  Management</a:t>
            </a:r>
            <a:endParaRPr dirty="0" lang="en-US">
              <a:solidFill>
                <a:srgbClr val="FF00FF"/>
              </a:solidFill>
            </a:endParaRPr>
          </a:p>
        </p:txBody>
      </p:sp>
      <p:sp>
        <p:nvSpPr>
          <p:cNvPr id="1050092" name="Content Placeholder 2"/>
          <p:cNvSpPr>
            <a:spLocks noGrp="1"/>
          </p:cNvSpPr>
          <p:nvPr>
            <p:ph idx="1"/>
          </p:nvPr>
        </p:nvSpPr>
        <p:spPr>
          <a:xfrm>
            <a:off x="1428751" y="1447800"/>
            <a:ext cx="9738359" cy="4800600"/>
          </a:xfrm>
        </p:spPr>
        <p:txBody>
          <a:bodyPr>
            <a:noAutofit/>
          </a:bodyPr>
          <a:p>
            <a:pPr algn="just"/>
            <a:r>
              <a:rPr dirty="0" lang="en-US" smtClean="0">
                <a:latin typeface="Calibri" panose="020F0502020204030204" pitchFamily="34" charset="0"/>
              </a:rPr>
              <a:t>Discuss with the client either prenatally or just before the procedure, regarding: </a:t>
            </a:r>
          </a:p>
          <a:p>
            <a:pPr algn="just">
              <a:buFont typeface="Wingdings" pitchFamily="2" charset="2"/>
              <a:buChar char="Ø"/>
            </a:pPr>
            <a:r>
              <a:rPr dirty="0" lang="en-US" smtClean="0">
                <a:latin typeface="Calibri" panose="020F0502020204030204" pitchFamily="34" charset="0"/>
              </a:rPr>
              <a:t> Indications , Expectation and  Possible outcome.</a:t>
            </a:r>
          </a:p>
          <a:p>
            <a:pPr algn="just"/>
            <a:r>
              <a:rPr dirty="0" lang="en-US" smtClean="0">
                <a:latin typeface="Calibri" panose="020F0502020204030204" pitchFamily="34" charset="0"/>
              </a:rPr>
              <a:t>The DR prescribes the induction method after assessment, to include Bishop’s score.</a:t>
            </a:r>
          </a:p>
          <a:p>
            <a:pPr algn="just"/>
            <a:r>
              <a:rPr dirty="0" lang="en-US" smtClean="0">
                <a:latin typeface="Calibri" panose="020F0502020204030204" pitchFamily="34" charset="0"/>
              </a:rPr>
              <a:t>Depending on the institutional policy, the procedure is best started in the morning, though ripening of the cervix can be done at any time. </a:t>
            </a:r>
            <a:endParaRPr dirty="0" lang="en-US">
              <a:latin typeface="Calibri" panose="020F0502020204030204" pitchFamily="34" charset="0"/>
            </a:endParaRPr>
          </a:p>
        </p:txBody>
      </p:sp>
      <p:sp>
        <p:nvSpPr>
          <p:cNvPr id="105009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0.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1" name=""/>
        <p:cNvGrpSpPr/>
        <p:nvPr/>
      </p:nvGrpSpPr>
      <p:grpSpPr>
        <a:xfrm>
          <a:off x="0" y="0"/>
          <a:ext cx="0" cy="0"/>
          <a:chOff x="0" y="0"/>
          <a:chExt cx="0" cy="0"/>
        </a:xfrm>
      </p:grpSpPr>
      <p:sp>
        <p:nvSpPr>
          <p:cNvPr id="1050094" name="Content Placeholder 2"/>
          <p:cNvSpPr>
            <a:spLocks noGrp="1"/>
          </p:cNvSpPr>
          <p:nvPr>
            <p:ph idx="1"/>
          </p:nvPr>
        </p:nvSpPr>
        <p:spPr>
          <a:xfrm>
            <a:off x="1136294" y="457207"/>
            <a:ext cx="10287000" cy="5826125"/>
          </a:xfrm>
        </p:spPr>
        <p:txBody>
          <a:bodyPr>
            <a:noAutofit/>
          </a:bodyPr>
          <a:p>
            <a:pPr algn="just">
              <a:buNone/>
            </a:pPr>
            <a:r>
              <a:rPr dirty="0" lang="en-US" smtClean="0">
                <a:latin typeface="Calibri" panose="020F0502020204030204" pitchFamily="34" charset="0"/>
              </a:rPr>
              <a:t>		  </a:t>
            </a:r>
            <a:r>
              <a:rPr dirty="0" i="1" lang="en-US" smtClean="0">
                <a:solidFill>
                  <a:srgbClr val="00FF00"/>
                </a:solidFill>
                <a:latin typeface="Calibri" panose="020F0502020204030204" pitchFamily="34" charset="0"/>
              </a:rPr>
              <a:t>First  Stage</a:t>
            </a:r>
          </a:p>
          <a:p>
            <a:pPr algn="just"/>
            <a:r>
              <a:rPr dirty="0" lang="en-US" smtClean="0">
                <a:latin typeface="Calibri" panose="020F0502020204030204" pitchFamily="34" charset="0"/>
              </a:rPr>
              <a:t>Closely monitor maternal ,fetal conditions as well as progress of labour.</a:t>
            </a:r>
          </a:p>
          <a:p>
            <a:pPr algn="just"/>
            <a:r>
              <a:rPr dirty="0" lang="en-US" smtClean="0">
                <a:latin typeface="Calibri" panose="020F0502020204030204" pitchFamily="34" charset="0"/>
              </a:rPr>
              <a:t>Initially, contractions are  absent for sometimes, so encourage relaxation.</a:t>
            </a:r>
          </a:p>
          <a:p>
            <a:pPr algn="just"/>
            <a:r>
              <a:rPr dirty="0" lang="en-US" smtClean="0">
                <a:latin typeface="Calibri" panose="020F0502020204030204" pitchFamily="34" charset="0"/>
              </a:rPr>
              <a:t>As they commence gradually, discourage overreaction to prevent premature bearing down.</a:t>
            </a:r>
          </a:p>
          <a:p>
            <a:pPr algn="just"/>
            <a:r>
              <a:rPr dirty="0" lang="en-US" smtClean="0">
                <a:latin typeface="Calibri" panose="020F0502020204030204" pitchFamily="34" charset="0"/>
              </a:rPr>
              <a:t>Offer free oral fluids and observe aseptic technique with invasive procedure to prevent introduction of micro-organisms.</a:t>
            </a:r>
            <a:endParaRPr dirty="0" lang="en-US">
              <a:latin typeface="Calibri" panose="020F0502020204030204" pitchFamily="34" charset="0"/>
            </a:endParaRPr>
          </a:p>
        </p:txBody>
      </p:sp>
      <p:sp>
        <p:nvSpPr>
          <p:cNvPr id="105009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1.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2" name=""/>
        <p:cNvGrpSpPr/>
        <p:nvPr/>
      </p:nvGrpSpPr>
      <p:grpSpPr>
        <a:xfrm>
          <a:off x="0" y="0"/>
          <a:ext cx="0" cy="0"/>
          <a:chOff x="0" y="0"/>
          <a:chExt cx="0" cy="0"/>
        </a:xfrm>
      </p:grpSpPr>
      <p:sp>
        <p:nvSpPr>
          <p:cNvPr id="1050096" name="Content Placeholder 2"/>
          <p:cNvSpPr>
            <a:spLocks noGrp="1"/>
          </p:cNvSpPr>
          <p:nvPr>
            <p:ph idx="1"/>
          </p:nvPr>
        </p:nvSpPr>
        <p:spPr>
          <a:xfrm>
            <a:off x="1238250" y="381000"/>
            <a:ext cx="9906000" cy="6172200"/>
          </a:xfrm>
        </p:spPr>
        <p:txBody>
          <a:bodyPr>
            <a:noAutofit/>
          </a:bodyPr>
          <a:p>
            <a:r>
              <a:rPr dirty="0" sz="2900" lang="en-US" smtClean="0">
                <a:latin typeface="Calibri" panose="020F0502020204030204" pitchFamily="34" charset="0"/>
              </a:rPr>
              <a:t>For sudden onset of strong uterine contractions, common in </a:t>
            </a:r>
            <a:r>
              <a:rPr dirty="0" sz="2900" lang="en-US" err="1" smtClean="0">
                <a:latin typeface="Calibri" panose="020F0502020204030204" pitchFamily="34" charset="0"/>
              </a:rPr>
              <a:t>cytotec</a:t>
            </a:r>
            <a:r>
              <a:rPr dirty="0" sz="2900" lang="en-US" smtClean="0">
                <a:latin typeface="Calibri" panose="020F0502020204030204" pitchFamily="34" charset="0"/>
              </a:rPr>
              <a:t> use, closely monitor FHS &amp; maternal pulse every ¼ hourly initially, for possibility of fetal hypoxia and maternal distress respectively.</a:t>
            </a:r>
          </a:p>
          <a:p>
            <a:r>
              <a:rPr dirty="0" sz="2900" lang="en-US" smtClean="0">
                <a:latin typeface="Calibri" panose="020F0502020204030204" pitchFamily="34" charset="0"/>
              </a:rPr>
              <a:t>Encourage regular bladder emptying to facilitate descent.</a:t>
            </a:r>
          </a:p>
          <a:p>
            <a:r>
              <a:rPr dirty="0" sz="2900" lang="en-US" smtClean="0">
                <a:latin typeface="Calibri" panose="020F0502020204030204" pitchFamily="34" charset="0"/>
              </a:rPr>
              <a:t>For  synitocinon drip, always assess the uterine tone ( no. of contractions as well as their strength) before increasing the  drops.</a:t>
            </a:r>
          </a:p>
          <a:p>
            <a:r>
              <a:rPr dirty="0" sz="2900" lang="en-US" smtClean="0">
                <a:latin typeface="Calibri" panose="020F0502020204030204" pitchFamily="34" charset="0"/>
              </a:rPr>
              <a:t>As membranes rupture,  note the </a:t>
            </a:r>
            <a:r>
              <a:rPr dirty="0" sz="2900" lang="en-US" err="1" smtClean="0">
                <a:latin typeface="Calibri" panose="020F0502020204030204" pitchFamily="34" charset="0"/>
              </a:rPr>
              <a:t>colour</a:t>
            </a:r>
            <a:r>
              <a:rPr dirty="0" sz="2900" lang="en-US" smtClean="0">
                <a:latin typeface="Calibri" panose="020F0502020204030204" pitchFamily="34" charset="0"/>
              </a:rPr>
              <a:t> of liquor for signs of fetal distress. If meconium stained, grade correctly  and take appropriate action. </a:t>
            </a:r>
            <a:endParaRPr dirty="0" sz="2900" lang="en-US">
              <a:latin typeface="Calibri" panose="020F0502020204030204" pitchFamily="34" charset="0"/>
            </a:endParaRPr>
          </a:p>
        </p:txBody>
      </p:sp>
      <p:sp>
        <p:nvSpPr>
          <p:cNvPr id="105009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2.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3" name=""/>
        <p:cNvGrpSpPr/>
        <p:nvPr/>
      </p:nvGrpSpPr>
      <p:grpSpPr>
        <a:xfrm>
          <a:off x="0" y="0"/>
          <a:ext cx="0" cy="0"/>
          <a:chOff x="0" y="0"/>
          <a:chExt cx="0" cy="0"/>
        </a:xfrm>
      </p:grpSpPr>
      <p:sp>
        <p:nvSpPr>
          <p:cNvPr id="1050098" name="Content Placeholder 2"/>
          <p:cNvSpPr>
            <a:spLocks noGrp="1"/>
          </p:cNvSpPr>
          <p:nvPr>
            <p:ph idx="1"/>
          </p:nvPr>
        </p:nvSpPr>
        <p:spPr>
          <a:xfrm>
            <a:off x="1238250" y="304800"/>
            <a:ext cx="9906000" cy="6172200"/>
          </a:xfrm>
        </p:spPr>
        <p:txBody>
          <a:bodyPr>
            <a:noAutofit/>
          </a:bodyPr>
          <a:p>
            <a:pPr algn="just"/>
            <a:r>
              <a:rPr dirty="0" sz="3200" lang="en-US" smtClean="0">
                <a:latin typeface="Calibri" panose="020F0502020204030204" pitchFamily="34" charset="0"/>
              </a:rPr>
              <a:t>Keep the DR informed of progress.</a:t>
            </a:r>
          </a:p>
          <a:p>
            <a:pPr algn="just"/>
            <a:r>
              <a:rPr dirty="0" sz="3200" lang="en-US" smtClean="0">
                <a:latin typeface="Calibri" panose="020F0502020204030204" pitchFamily="34" charset="0"/>
              </a:rPr>
              <a:t>Maintain a fluid balance chart because of the </a:t>
            </a:r>
            <a:r>
              <a:rPr dirty="0" sz="3200" lang="en-US" err="1" smtClean="0">
                <a:latin typeface="Calibri" panose="020F0502020204030204" pitchFamily="34" charset="0"/>
              </a:rPr>
              <a:t>synitocinon’s</a:t>
            </a:r>
            <a:r>
              <a:rPr dirty="0" sz="3200" lang="en-US" smtClean="0">
                <a:latin typeface="Calibri" panose="020F0502020204030204" pitchFamily="34" charset="0"/>
              </a:rPr>
              <a:t>  </a:t>
            </a:r>
            <a:r>
              <a:rPr dirty="0" sz="3200" lang="en-US" err="1" smtClean="0">
                <a:latin typeface="Calibri" panose="020F0502020204030204" pitchFamily="34" charset="0"/>
              </a:rPr>
              <a:t>antidiuretic</a:t>
            </a:r>
            <a:r>
              <a:rPr dirty="0" sz="3200" lang="en-US" smtClean="0">
                <a:latin typeface="Calibri" panose="020F0502020204030204" pitchFamily="34" charset="0"/>
              </a:rPr>
              <a:t> effect.</a:t>
            </a:r>
          </a:p>
          <a:p>
            <a:pPr algn="just"/>
            <a:r>
              <a:rPr dirty="0" sz="3200" lang="en-US" smtClean="0">
                <a:latin typeface="Calibri" panose="020F0502020204030204" pitchFamily="34" charset="0"/>
              </a:rPr>
              <a:t>Monitor  maternal reaction to pain and administer the most appropriate method of relief.</a:t>
            </a:r>
          </a:p>
          <a:p>
            <a:pPr algn="just"/>
            <a:r>
              <a:rPr dirty="0" sz="3200" lang="en-US" smtClean="0">
                <a:latin typeface="Calibri" panose="020F0502020204030204" pitchFamily="34" charset="0"/>
              </a:rPr>
              <a:t>Keep her company, inform of the progress and reassure as necessary.</a:t>
            </a:r>
          </a:p>
          <a:p>
            <a:pPr algn="just"/>
            <a:r>
              <a:rPr dirty="0" sz="3200" lang="en-US" smtClean="0">
                <a:latin typeface="Calibri" panose="020F0502020204030204" pitchFamily="34" charset="0"/>
              </a:rPr>
              <a:t>Maintain partograph, interpret correctly and intervene promptly. </a:t>
            </a:r>
            <a:endParaRPr dirty="0" sz="3200" lang="en-US">
              <a:latin typeface="Calibri" panose="020F0502020204030204" pitchFamily="34" charset="0"/>
            </a:endParaRPr>
          </a:p>
        </p:txBody>
      </p:sp>
      <p:sp>
        <p:nvSpPr>
          <p:cNvPr id="105009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3.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4" name=""/>
        <p:cNvGrpSpPr/>
        <p:nvPr/>
      </p:nvGrpSpPr>
      <p:grpSpPr>
        <a:xfrm>
          <a:off x="0" y="0"/>
          <a:ext cx="0" cy="0"/>
          <a:chOff x="0" y="0"/>
          <a:chExt cx="0" cy="0"/>
        </a:xfrm>
      </p:grpSpPr>
      <p:sp>
        <p:nvSpPr>
          <p:cNvPr id="1050100" name="Content Placeholder 2"/>
          <p:cNvSpPr>
            <a:spLocks noGrp="1"/>
          </p:cNvSpPr>
          <p:nvPr>
            <p:ph idx="1"/>
          </p:nvPr>
        </p:nvSpPr>
        <p:spPr>
          <a:xfrm>
            <a:off x="1333500" y="228600"/>
            <a:ext cx="9525000" cy="6324600"/>
          </a:xfrm>
        </p:spPr>
        <p:txBody>
          <a:bodyPr>
            <a:normAutofit/>
          </a:bodyPr>
          <a:p>
            <a:pPr algn="just">
              <a:buNone/>
            </a:pPr>
            <a:r>
              <a:rPr dirty="0" sz="3200" lang="en-US" smtClean="0"/>
              <a:t>			</a:t>
            </a:r>
            <a:r>
              <a:rPr dirty="0" sz="3200" i="1" lang="en-US" smtClean="0">
                <a:solidFill>
                  <a:srgbClr val="00FF00"/>
                </a:solidFill>
              </a:rPr>
              <a:t>Second  Stage</a:t>
            </a:r>
          </a:p>
          <a:p>
            <a:pPr algn="just"/>
            <a:r>
              <a:rPr dirty="0" sz="3200" lang="en-US" smtClean="0"/>
              <a:t>Occurs as usual, though  if the stage becomes prolonged, due to perhaps poor maternal effort, instruments are used to aid delivery.</a:t>
            </a:r>
          </a:p>
          <a:p>
            <a:pPr algn="just">
              <a:buFont typeface="Wingdings" pitchFamily="2" charset="2"/>
              <a:buChar char="v"/>
            </a:pPr>
            <a:r>
              <a:rPr dirty="0" sz="3200" lang="en-US" smtClean="0"/>
              <a:t> Be ready to resuscitate the baby.</a:t>
            </a:r>
          </a:p>
          <a:p>
            <a:pPr algn="just">
              <a:buNone/>
            </a:pPr>
            <a:r>
              <a:rPr dirty="0" sz="3200" lang="en-US" smtClean="0"/>
              <a:t>			</a:t>
            </a:r>
            <a:r>
              <a:rPr dirty="0" sz="3200" i="1" lang="en-US" smtClean="0">
                <a:solidFill>
                  <a:srgbClr val="00FF00"/>
                </a:solidFill>
              </a:rPr>
              <a:t>Third  Stage</a:t>
            </a:r>
          </a:p>
          <a:p>
            <a:pPr algn="just"/>
            <a:r>
              <a:rPr dirty="0" sz="3200" lang="en-US" smtClean="0"/>
              <a:t>Conducted normally, but closely monitor for PPH and intervene. Therefore continue with synitocinon drip for at least 1(one) hour.</a:t>
            </a:r>
            <a:endParaRPr dirty="0" sz="3200" lang="en-US"/>
          </a:p>
        </p:txBody>
      </p:sp>
      <p:sp>
        <p:nvSpPr>
          <p:cNvPr id="105010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4.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5" name=""/>
        <p:cNvGrpSpPr/>
        <p:nvPr/>
      </p:nvGrpSpPr>
      <p:grpSpPr>
        <a:xfrm>
          <a:off x="0" y="0"/>
          <a:ext cx="0" cy="0"/>
          <a:chOff x="0" y="0"/>
          <a:chExt cx="0" cy="0"/>
        </a:xfrm>
      </p:grpSpPr>
      <p:sp>
        <p:nvSpPr>
          <p:cNvPr id="1050102" name="Content Placeholder 2"/>
          <p:cNvSpPr>
            <a:spLocks noGrp="1"/>
          </p:cNvSpPr>
          <p:nvPr>
            <p:ph idx="1"/>
          </p:nvPr>
        </p:nvSpPr>
        <p:spPr>
          <a:xfrm>
            <a:off x="1333500" y="0"/>
            <a:ext cx="9810750" cy="6309360"/>
          </a:xfrm>
        </p:spPr>
        <p:txBody>
          <a:bodyPr>
            <a:normAutofit/>
          </a:bodyPr>
          <a:p>
            <a:pPr>
              <a:buNone/>
            </a:pPr>
            <a:r>
              <a:rPr dirty="0" lang="en-US" smtClean="0"/>
              <a:t>		</a:t>
            </a:r>
            <a:r>
              <a:rPr dirty="0" sz="2800" lang="en-US" smtClean="0"/>
              <a:t>	</a:t>
            </a:r>
            <a:r>
              <a:rPr dirty="0" sz="3200" i="1" lang="en-US" smtClean="0">
                <a:solidFill>
                  <a:srgbClr val="00FF00"/>
                </a:solidFill>
              </a:rPr>
              <a:t>Fourth  Stage</a:t>
            </a:r>
          </a:p>
          <a:p>
            <a:r>
              <a:rPr dirty="0" sz="3200" lang="en-US" smtClean="0"/>
              <a:t>Continues as usual, however, closely monitor state of the uterus due to possibility of relaxation hence PPH.</a:t>
            </a:r>
          </a:p>
          <a:p>
            <a:pPr>
              <a:buNone/>
            </a:pPr>
            <a:r>
              <a:rPr dirty="0" sz="3200" lang="en-US" smtClean="0"/>
              <a:t>	</a:t>
            </a:r>
            <a:r>
              <a:rPr dirty="0" sz="3200" i="1" lang="en-US" smtClean="0">
                <a:solidFill>
                  <a:srgbClr val="00FF00"/>
                </a:solidFill>
              </a:rPr>
              <a:t>Puerperal care</a:t>
            </a:r>
            <a:r>
              <a:rPr dirty="0" sz="3200" i="1" lang="en-US" smtClean="0"/>
              <a:t>:-</a:t>
            </a:r>
            <a:r>
              <a:rPr dirty="0" sz="3200" lang="en-US" smtClean="0"/>
              <a:t> As in spontaneous delivery.</a:t>
            </a:r>
          </a:p>
          <a:p>
            <a:pPr>
              <a:buNone/>
            </a:pPr>
            <a:r>
              <a:rPr dirty="0" sz="3200" lang="en-US" smtClean="0"/>
              <a:t>			</a:t>
            </a:r>
            <a:r>
              <a:rPr b="1" dirty="0" sz="3200" lang="en-US" smtClean="0">
                <a:solidFill>
                  <a:srgbClr val="FF00FF"/>
                </a:solidFill>
              </a:rPr>
              <a:t>Complications</a:t>
            </a:r>
          </a:p>
          <a:p>
            <a:r>
              <a:rPr dirty="0" sz="3200" lang="en-US" smtClean="0"/>
              <a:t>Uterine rupture, associated with use of </a:t>
            </a:r>
            <a:r>
              <a:rPr dirty="0" sz="3200" lang="en-US" err="1" smtClean="0"/>
              <a:t>cytotec</a:t>
            </a:r>
            <a:r>
              <a:rPr dirty="0" sz="3200" lang="en-US" smtClean="0"/>
              <a:t> when membranes are either ruptured or leaking, leading to high mortality rate to both.</a:t>
            </a:r>
            <a:endParaRPr dirty="0" sz="3200" lang="en-US"/>
          </a:p>
        </p:txBody>
      </p:sp>
      <p:sp>
        <p:nvSpPr>
          <p:cNvPr id="105010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5.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6" name=""/>
        <p:cNvGrpSpPr/>
        <p:nvPr/>
      </p:nvGrpSpPr>
      <p:grpSpPr>
        <a:xfrm>
          <a:off x="0" y="0"/>
          <a:ext cx="0" cy="0"/>
          <a:chOff x="0" y="0"/>
          <a:chExt cx="0" cy="0"/>
        </a:xfrm>
      </p:grpSpPr>
      <p:sp>
        <p:nvSpPr>
          <p:cNvPr id="1050104" name="Content Placeholder 2"/>
          <p:cNvSpPr>
            <a:spLocks noGrp="1"/>
          </p:cNvSpPr>
          <p:nvPr>
            <p:ph idx="1"/>
          </p:nvPr>
        </p:nvSpPr>
        <p:spPr>
          <a:xfrm>
            <a:off x="1428750" y="304800"/>
            <a:ext cx="9429750" cy="6248400"/>
          </a:xfrm>
        </p:spPr>
        <p:txBody>
          <a:bodyPr>
            <a:normAutofit/>
          </a:bodyPr>
          <a:p>
            <a:pPr algn="just" lvl="0"/>
            <a:r>
              <a:rPr dirty="0" sz="2900" lang="en-US" smtClean="0">
                <a:latin typeface="Calibri" panose="020F0502020204030204" pitchFamily="34" charset="0"/>
              </a:rPr>
              <a:t>Tetanic and tumultuous contractions, which can result in abruptio placenta.</a:t>
            </a:r>
          </a:p>
          <a:p>
            <a:pPr algn="just" lvl="0"/>
            <a:r>
              <a:rPr dirty="0" sz="2900" lang="en-US" smtClean="0">
                <a:latin typeface="Calibri" panose="020F0502020204030204" pitchFamily="34" charset="0"/>
              </a:rPr>
              <a:t>Severe birth injury due to rapid expulsion of the baby.</a:t>
            </a:r>
          </a:p>
          <a:p>
            <a:pPr algn="just" lvl="0"/>
            <a:r>
              <a:rPr dirty="0" sz="2900" lang="en-US" smtClean="0">
                <a:latin typeface="Calibri" panose="020F0502020204030204" pitchFamily="34" charset="0"/>
              </a:rPr>
              <a:t>Hyperstimulation of the uterus , mostly due to misuse of oxytocin, leading to fetal hypoxia.</a:t>
            </a:r>
          </a:p>
          <a:p>
            <a:pPr algn="just" lvl="0"/>
            <a:r>
              <a:rPr dirty="0" sz="2900" lang="en-US" smtClean="0">
                <a:latin typeface="Calibri" panose="020F0502020204030204" pitchFamily="34" charset="0"/>
              </a:rPr>
              <a:t>Water intoxication, in prolonged use of synitocinon because of its slight antidiuretic effect.</a:t>
            </a:r>
          </a:p>
          <a:p>
            <a:pPr algn="just" lvl="0"/>
            <a:r>
              <a:rPr dirty="0" sz="2900" lang="en-US" smtClean="0">
                <a:latin typeface="Calibri" panose="020F0502020204030204" pitchFamily="34" charset="0"/>
              </a:rPr>
              <a:t>Amniotic fluid embolism, due to atonia of the uterus , immediately after 2</a:t>
            </a:r>
            <a:r>
              <a:rPr baseline="30000" dirty="0" sz="2900" lang="en-US" smtClean="0">
                <a:latin typeface="Calibri" panose="020F0502020204030204" pitchFamily="34" charset="0"/>
              </a:rPr>
              <a:t>nd</a:t>
            </a:r>
            <a:r>
              <a:rPr dirty="0" sz="2900" lang="en-US" smtClean="0">
                <a:latin typeface="Calibri" panose="020F0502020204030204" pitchFamily="34" charset="0"/>
              </a:rPr>
              <a:t> stage , hence defective clotting mechanism.</a:t>
            </a:r>
          </a:p>
          <a:p>
            <a:pPr algn="just"/>
            <a:endParaRPr dirty="0" sz="2900" lang="en-US">
              <a:latin typeface="Calibri" panose="020F0502020204030204" pitchFamily="34" charset="0"/>
            </a:endParaRPr>
          </a:p>
        </p:txBody>
      </p:sp>
      <p:sp>
        <p:nvSpPr>
          <p:cNvPr id="105010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6.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7" name=""/>
        <p:cNvGrpSpPr/>
        <p:nvPr/>
      </p:nvGrpSpPr>
      <p:grpSpPr>
        <a:xfrm>
          <a:off x="0" y="0"/>
          <a:ext cx="0" cy="0"/>
          <a:chOff x="0" y="0"/>
          <a:chExt cx="0" cy="0"/>
        </a:xfrm>
      </p:grpSpPr>
      <p:sp>
        <p:nvSpPr>
          <p:cNvPr id="1050106" name="Content Placeholder 2"/>
          <p:cNvSpPr>
            <a:spLocks noGrp="1"/>
          </p:cNvSpPr>
          <p:nvPr>
            <p:ph idx="1"/>
          </p:nvPr>
        </p:nvSpPr>
        <p:spPr>
          <a:xfrm>
            <a:off x="1333500" y="304809"/>
            <a:ext cx="9525000" cy="5826127"/>
          </a:xfrm>
        </p:spPr>
        <p:txBody>
          <a:bodyPr>
            <a:noAutofit/>
          </a:bodyPr>
          <a:p>
            <a:pPr algn="just"/>
            <a:r>
              <a:rPr dirty="0" sz="3200" lang="en-US" smtClean="0">
                <a:latin typeface="Calibri" panose="020F0502020204030204" pitchFamily="34" charset="0"/>
              </a:rPr>
              <a:t>Postpartum haemorrhage, following prolonged use of synitocinon because of uterine </a:t>
            </a:r>
            <a:r>
              <a:rPr dirty="0" sz="3200" lang="en-US" err="1" smtClean="0">
                <a:latin typeface="Calibri" panose="020F0502020204030204" pitchFamily="34" charset="0"/>
              </a:rPr>
              <a:t>atony</a:t>
            </a:r>
            <a:r>
              <a:rPr dirty="0" sz="3200" lang="en-US" smtClean="0">
                <a:latin typeface="Calibri" panose="020F0502020204030204" pitchFamily="34" charset="0"/>
              </a:rPr>
              <a:t>.</a:t>
            </a:r>
          </a:p>
          <a:p>
            <a:pPr algn="just"/>
            <a:r>
              <a:rPr dirty="0" sz="3200" lang="en-US" smtClean="0">
                <a:latin typeface="Calibri" panose="020F0502020204030204" pitchFamily="34" charset="0"/>
              </a:rPr>
              <a:t>Transient vasodilatation and hypotension resulting from peripheral vasodilatation due to fast administration  of an intravenous bolus of synitocinon.</a:t>
            </a:r>
          </a:p>
          <a:p>
            <a:pPr algn="just"/>
            <a:r>
              <a:rPr dirty="0" sz="3200" lang="en-US" smtClean="0">
                <a:latin typeface="Calibri" panose="020F0502020204030204" pitchFamily="34" charset="0"/>
              </a:rPr>
              <a:t>Cord </a:t>
            </a:r>
            <a:r>
              <a:rPr dirty="0" sz="3200" lang="en-US" err="1" smtClean="0">
                <a:latin typeface="Calibri" panose="020F0502020204030204" pitchFamily="34" charset="0"/>
              </a:rPr>
              <a:t>prolapse</a:t>
            </a:r>
            <a:r>
              <a:rPr dirty="0" sz="3200" lang="en-US" smtClean="0">
                <a:latin typeface="Calibri" panose="020F0502020204030204" pitchFamily="34" charset="0"/>
              </a:rPr>
              <a:t> following </a:t>
            </a:r>
            <a:r>
              <a:rPr dirty="0" sz="3200" lang="en-US" err="1" smtClean="0">
                <a:latin typeface="Calibri" panose="020F0502020204030204" pitchFamily="34" charset="0"/>
              </a:rPr>
              <a:t>amniotomy</a:t>
            </a:r>
            <a:r>
              <a:rPr dirty="0" sz="3200" lang="en-US" smtClean="0">
                <a:latin typeface="Calibri" panose="020F0502020204030204" pitchFamily="34" charset="0"/>
              </a:rPr>
              <a:t> in a high head.</a:t>
            </a:r>
          </a:p>
        </p:txBody>
      </p:sp>
      <p:sp>
        <p:nvSpPr>
          <p:cNvPr id="105010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7.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8" name=""/>
        <p:cNvGrpSpPr/>
        <p:nvPr/>
      </p:nvGrpSpPr>
      <p:grpSpPr>
        <a:xfrm>
          <a:off x="0" y="0"/>
          <a:ext cx="0" cy="0"/>
          <a:chOff x="0" y="0"/>
          <a:chExt cx="0" cy="0"/>
        </a:xfrm>
      </p:grpSpPr>
      <p:sp>
        <p:nvSpPr>
          <p:cNvPr id="1050108" name="Content Placeholder 2"/>
          <p:cNvSpPr>
            <a:spLocks noGrp="1"/>
          </p:cNvSpPr>
          <p:nvPr>
            <p:ph idx="1"/>
          </p:nvPr>
        </p:nvSpPr>
        <p:spPr>
          <a:xfrm>
            <a:off x="1238250" y="381009"/>
            <a:ext cx="9620250" cy="5749925"/>
          </a:xfrm>
        </p:spPr>
        <p:txBody>
          <a:bodyPr>
            <a:noAutofit/>
          </a:bodyPr>
          <a:p>
            <a:pPr algn="just"/>
            <a:r>
              <a:rPr dirty="0" sz="3200" lang="en-US" smtClean="0">
                <a:latin typeface="Calibri" panose="020F0502020204030204" pitchFamily="34" charset="0"/>
              </a:rPr>
              <a:t>Puerperal sepsis, due to prolonged period of ruptured membranes in absence of prophylaxis or poor aseptic technique during invasive procedures.</a:t>
            </a:r>
          </a:p>
          <a:p>
            <a:pPr algn="just"/>
            <a:r>
              <a:rPr dirty="0" sz="3200" lang="en-US" smtClean="0">
                <a:latin typeface="Calibri" panose="020F0502020204030204" pitchFamily="34" charset="0"/>
              </a:rPr>
              <a:t>Psychological trauma, perhaps due to unsuccessful induction hence C/S, or due to sudden onset of unbearable uterine contractions.  So  develops poor  outlook to future  deliveries.</a:t>
            </a:r>
          </a:p>
        </p:txBody>
      </p:sp>
      <p:sp>
        <p:nvSpPr>
          <p:cNvPr id="105010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8.xml><?xml version="1.0" encoding="utf-8"?>
<p:sld xmlns:a="http://schemas.openxmlformats.org/drawingml/2006/main" xmlns:r="http://schemas.openxmlformats.org/officeDocument/2006/relationships" xmlns:p="http://schemas.openxmlformats.org/presentationml/2006/main">
  <p:cSld>
    <p:bg>
      <p:bgPr>
        <a:solidFill>
          <a:srgbClr val="FF00FF"/>
        </a:solidFill>
      </p:bgPr>
    </p:bg>
    <p:spTree>
      <p:nvGrpSpPr>
        <p:cNvPr id="1329" name=""/>
        <p:cNvGrpSpPr/>
        <p:nvPr/>
      </p:nvGrpSpPr>
      <p:grpSpPr>
        <a:xfrm>
          <a:off x="0" y="0"/>
          <a:ext cx="0" cy="0"/>
          <a:chOff x="0" y="0"/>
          <a:chExt cx="0" cy="0"/>
        </a:xfrm>
      </p:grpSpPr>
      <p:sp>
        <p:nvSpPr>
          <p:cNvPr id="1050110" name="Content Placeholder 2"/>
          <p:cNvSpPr>
            <a:spLocks noGrp="1"/>
          </p:cNvSpPr>
          <p:nvPr>
            <p:ph idx="1"/>
          </p:nvPr>
        </p:nvSpPr>
        <p:spPr>
          <a:xfrm>
            <a:off x="1238250" y="838201"/>
            <a:ext cx="10001250" cy="5445125"/>
          </a:xfrm>
        </p:spPr>
        <p:txBody>
          <a:bodyPr/>
          <a:p>
            <a:pPr>
              <a:buNone/>
            </a:pPr>
            <a:r>
              <a:rPr b="1" dirty="0" lang="en-US" smtClean="0">
                <a:solidFill>
                  <a:srgbClr val="00FF00"/>
                </a:solidFill>
              </a:rPr>
              <a:t>NB:  </a:t>
            </a:r>
            <a:r>
              <a:rPr dirty="0" lang="en-US" smtClean="0"/>
              <a:t>Augmentation of labour refers to use of artificial methods  to </a:t>
            </a:r>
            <a:r>
              <a:rPr b="1" dirty="0" lang="en-US" smtClean="0"/>
              <a:t>strengthen</a:t>
            </a:r>
            <a:r>
              <a:rPr dirty="0" lang="en-US" smtClean="0"/>
              <a:t> uterine contractions during  the active phase of the first stage of </a:t>
            </a:r>
            <a:r>
              <a:rPr dirty="0" lang="en-US" err="1" smtClean="0"/>
              <a:t>labour</a:t>
            </a:r>
            <a:r>
              <a:rPr dirty="0" lang="en-US" smtClean="0"/>
              <a:t>.  </a:t>
            </a:r>
          </a:p>
          <a:p>
            <a:pPr>
              <a:buNone/>
            </a:pPr>
            <a:r>
              <a:rPr dirty="0" lang="en-US" smtClean="0"/>
              <a:t>				</a:t>
            </a:r>
            <a:endParaRPr dirty="0" lang="en-US" smtClean="0">
              <a:effectLst>
                <a:outerShdw algn="tl" blurRad="38100" dir="2700000" dist="38100">
                  <a:srgbClr val="000000">
                    <a:alpha val="43137"/>
                  </a:srgbClr>
                </a:outerShdw>
              </a:effectLst>
            </a:endParaRPr>
          </a:p>
          <a:p>
            <a:pPr>
              <a:buNone/>
            </a:pPr>
            <a:endParaRPr dirty="0" lang="en-US" smtClean="0">
              <a:effectLst>
                <a:outerShdw algn="tl" blurRad="38100" dir="2700000" dist="38100">
                  <a:srgbClr val="000000">
                    <a:alpha val="43137"/>
                  </a:srgbClr>
                </a:outerShdw>
              </a:effectLst>
            </a:endParaRPr>
          </a:p>
          <a:p>
            <a:endParaRPr dirty="0" lang="en-US"/>
          </a:p>
        </p:txBody>
      </p:sp>
      <p:sp>
        <p:nvSpPr>
          <p:cNvPr id="1050111" name="5-Point Star 1"/>
          <p:cNvSpPr/>
          <p:nvPr/>
        </p:nvSpPr>
        <p:spPr>
          <a:xfrm>
            <a:off x="3143250" y="4724400"/>
            <a:ext cx="3524250" cy="1981200"/>
          </a:xfrm>
          <a:prstGeom prst="star5"/>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4000" lang="en-US" smtClean="0">
                <a:latin typeface="AR BERKLEY" panose="02000000000000000000" pitchFamily="2" charset="0"/>
              </a:rPr>
              <a:t>End</a:t>
            </a:r>
            <a:endParaRPr b="1" dirty="0" sz="4000" lang="en-US">
              <a:latin typeface="AR BERKLEY" panose="02000000000000000000" pitchFamily="2" charset="0"/>
            </a:endParaRPr>
          </a:p>
        </p:txBody>
      </p:sp>
      <p:sp>
        <p:nvSpPr>
          <p:cNvPr id="1050112"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spd="slow">
    <p:wheel spokes="1"/>
  </p:transition>
  <p:timing/>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343" name=""/>
        <p:cNvGrpSpPr/>
        <p:nvPr/>
      </p:nvGrpSpPr>
      <p:grpSpPr>
        <a:xfrm>
          <a:off x="0" y="0"/>
          <a:ext cx="0" cy="0"/>
          <a:chOff x="0" y="0"/>
          <a:chExt cx="0" cy="0"/>
        </a:xfrm>
      </p:grpSpPr>
      <p:graphicFrame>
        <p:nvGraphicFramePr>
          <p:cNvPr id="4194313" name="Diagram 5"/>
          <p:cNvGraphicFramePr>
            <a:graphicFrameLocks/>
          </p:cNvGraphicFramePr>
          <p:nvPr/>
        </p:nvGraphicFramePr>
        <p:xfrm>
          <a:off x="381000" y="381000"/>
          <a:ext cx="10668000" cy="175260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Tree>
  </p:cSld>
  <p:clrMapOvr>
    <a:masterClrMapping/>
  </p:clrMapOvr>
  <p:transition xmlns:p14="http://schemas.microsoft.com/office/powerpoint/2010/main">
    <p:fade thruBlk="1"/>
  </p:transition>
  <p:timing/>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345" name=""/>
        <p:cNvGrpSpPr/>
        <p:nvPr/>
      </p:nvGrpSpPr>
      <p:grpSpPr>
        <a:xfrm>
          <a:off x="0" y="0"/>
          <a:ext cx="0" cy="0"/>
          <a:chOff x="0" y="0"/>
          <a:chExt cx="0" cy="0"/>
        </a:xfrm>
      </p:grpSpPr>
      <p:sp>
        <p:nvSpPr>
          <p:cNvPr id="1050135" name="Title 1"/>
          <p:cNvSpPr>
            <a:spLocks noGrp="1"/>
          </p:cNvSpPr>
          <p:nvPr>
            <p:ph type="title"/>
          </p:nvPr>
        </p:nvSpPr>
        <p:spPr/>
        <p:txBody>
          <a:bodyPr/>
          <a:p>
            <a:r>
              <a:rPr b="1" dirty="0" sz="3600" lang="en-US" smtClean="0">
                <a:solidFill>
                  <a:srgbClr val="0070C0"/>
                </a:solidFill>
                <a:effectLst>
                  <a:outerShdw algn="tl" blurRad="38100" dir="2700000" dist="38100">
                    <a:srgbClr val="000000">
                      <a:alpha val="43137"/>
                    </a:srgbClr>
                  </a:outerShdw>
                </a:effectLst>
                <a:latin typeface="Times New Roman" pitchFamily="18" charset="0"/>
                <a:cs typeface="Times New Roman" pitchFamily="18" charset="0"/>
              </a:rPr>
              <a:t>DEFINITION</a:t>
            </a:r>
            <a:endParaRPr b="1" dirty="0" lang="en-US">
              <a:solidFill>
                <a:srgbClr val="0070C0"/>
              </a:solidFill>
            </a:endParaRPr>
          </a:p>
        </p:txBody>
      </p:sp>
      <p:sp>
        <p:nvSpPr>
          <p:cNvPr id="1050136" name="Content Placeholder 2"/>
          <p:cNvSpPr>
            <a:spLocks noGrp="1"/>
          </p:cNvSpPr>
          <p:nvPr>
            <p:ph sz="quarter" idx="1"/>
          </p:nvPr>
        </p:nvSpPr>
        <p:spPr>
          <a:xfrm>
            <a:off x="285750" y="1447800"/>
            <a:ext cx="10572750" cy="5410200"/>
          </a:xfrm>
        </p:spPr>
        <p:txBody>
          <a:bodyPr>
            <a:noAutofit/>
          </a:bodyPr>
          <a:p>
            <a:r>
              <a:rPr dirty="0" sz="3200" lang="en-US" smtClean="0">
                <a:latin typeface="Calibri" pitchFamily="34" charset="0"/>
                <a:cs typeface="Times New Roman" pitchFamily="18" charset="0"/>
              </a:rPr>
              <a:t>Refers to excessive bleeding from the genital tract after birth of the baby, up to 6(six) weeks or 42 days postpartum.</a:t>
            </a:r>
          </a:p>
          <a:p>
            <a:pPr>
              <a:buNone/>
            </a:pPr>
            <a:r>
              <a:rPr dirty="0" sz="3200" lang="en-US" smtClean="0">
                <a:effectLst>
                  <a:outerShdw algn="tl" blurRad="38100" dir="2700000" dist="38100">
                    <a:srgbClr val="000000">
                      <a:alpha val="43137"/>
                    </a:srgbClr>
                  </a:outerShdw>
                </a:effectLst>
                <a:latin typeface="Calibri" pitchFamily="34" charset="0"/>
                <a:cs typeface="Times New Roman" pitchFamily="18" charset="0"/>
              </a:rPr>
              <a:t>		</a:t>
            </a:r>
            <a:r>
              <a:rPr b="1" dirty="0" sz="3200" lang="en-US" smtClean="0">
                <a:solidFill>
                  <a:srgbClr val="0070C0"/>
                </a:solidFill>
                <a:effectLst>
                  <a:outerShdw algn="tl" blurRad="38100" dir="2700000" dist="38100">
                    <a:srgbClr val="000000">
                      <a:alpha val="43137"/>
                    </a:srgbClr>
                  </a:outerShdw>
                </a:effectLst>
                <a:latin typeface="Calibri" pitchFamily="34" charset="0"/>
                <a:cs typeface="Times New Roman" pitchFamily="18" charset="0"/>
              </a:rPr>
              <a:t>DESCRIPTION</a:t>
            </a:r>
          </a:p>
          <a:p>
            <a:r>
              <a:rPr dirty="0" sz="3200" lang="en-US" smtClean="0">
                <a:latin typeface="Calibri" pitchFamily="34" charset="0"/>
                <a:cs typeface="Times New Roman" pitchFamily="18" charset="0"/>
              </a:rPr>
              <a:t>Excessive bleeding from the birth canal after 2</a:t>
            </a:r>
            <a:r>
              <a:rPr baseline="30000" dirty="0" sz="3200" lang="en-US" smtClean="0">
                <a:latin typeface="Calibri" pitchFamily="34" charset="0"/>
                <a:cs typeface="Times New Roman" pitchFamily="18" charset="0"/>
              </a:rPr>
              <a:t>nd</a:t>
            </a:r>
            <a:r>
              <a:rPr dirty="0" sz="3200" lang="en-US" smtClean="0">
                <a:latin typeface="Calibri" pitchFamily="34" charset="0"/>
                <a:cs typeface="Times New Roman" pitchFamily="18" charset="0"/>
              </a:rPr>
              <a:t> stage of labour and within the </a:t>
            </a:r>
            <a:r>
              <a:rPr dirty="0" sz="3200" lang="en-US" err="1" smtClean="0">
                <a:latin typeface="Calibri" pitchFamily="34" charset="0"/>
                <a:cs typeface="Times New Roman" pitchFamily="18" charset="0"/>
              </a:rPr>
              <a:t>puerperium</a:t>
            </a:r>
            <a:r>
              <a:rPr dirty="0" sz="3200" lang="en-US" smtClean="0">
                <a:latin typeface="Calibri" pitchFamily="34" charset="0"/>
                <a:cs typeface="Times New Roman" pitchFamily="18" charset="0"/>
              </a:rPr>
              <a:t> period. Amounting to 500 ml or more, or any volume that causes deterioration of maternal condition, after the birth of the baby.</a:t>
            </a:r>
          </a:p>
          <a:p>
            <a:pPr>
              <a:buNone/>
            </a:pPr>
            <a:r>
              <a:rPr dirty="0" sz="3200" lang="en-US" smtClean="0">
                <a:latin typeface="Calibri" pitchFamily="34" charset="0"/>
                <a:cs typeface="Times New Roman" pitchFamily="18" charset="0"/>
              </a:rPr>
              <a:t>	NB: 500 ml or more- SVD, 1000 ml &amp; above- C/S.</a:t>
            </a:r>
          </a:p>
        </p:txBody>
      </p:sp>
      <p:sp>
        <p:nvSpPr>
          <p:cNvPr id="105013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346" name=""/>
        <p:cNvGrpSpPr/>
        <p:nvPr/>
      </p:nvGrpSpPr>
      <p:grpSpPr>
        <a:xfrm>
          <a:off x="0" y="0"/>
          <a:ext cx="0" cy="0"/>
          <a:chOff x="0" y="0"/>
          <a:chExt cx="0" cy="0"/>
        </a:xfrm>
      </p:grpSpPr>
      <p:sp>
        <p:nvSpPr>
          <p:cNvPr id="1050138" name="Title 1"/>
          <p:cNvSpPr>
            <a:spLocks noGrp="1"/>
          </p:cNvSpPr>
          <p:nvPr>
            <p:ph type="title"/>
          </p:nvPr>
        </p:nvSpPr>
        <p:spPr/>
        <p:txBody>
          <a:bodyPr/>
          <a:p>
            <a:r>
              <a:rPr b="1" dirty="0" lang="en-US" smtClean="0">
                <a:solidFill>
                  <a:srgbClr val="0070C0"/>
                </a:solidFill>
                <a:effectLst>
                  <a:outerShdw algn="tl" blurRad="38100" dir="2700000" dist="38100">
                    <a:srgbClr val="000000">
                      <a:alpha val="43137"/>
                    </a:srgbClr>
                  </a:outerShdw>
                </a:effectLst>
              </a:rPr>
              <a:t>CLASSIFICATION</a:t>
            </a:r>
            <a:endParaRPr b="1" dirty="0" lang="en-US">
              <a:solidFill>
                <a:srgbClr val="0070C0"/>
              </a:solidFill>
            </a:endParaRPr>
          </a:p>
        </p:txBody>
      </p:sp>
      <p:sp>
        <p:nvSpPr>
          <p:cNvPr id="1050139" name="Content Placeholder 2"/>
          <p:cNvSpPr>
            <a:spLocks noGrp="1"/>
          </p:cNvSpPr>
          <p:nvPr>
            <p:ph sz="quarter" idx="1"/>
          </p:nvPr>
        </p:nvSpPr>
        <p:spPr>
          <a:xfrm>
            <a:off x="381000" y="1447800"/>
            <a:ext cx="10477500" cy="4572000"/>
          </a:xfrm>
        </p:spPr>
        <p:txBody>
          <a:bodyPr>
            <a:normAutofit/>
          </a:bodyPr>
          <a:p>
            <a:pPr>
              <a:buNone/>
            </a:pPr>
            <a:r>
              <a:rPr dirty="0" sz="2800" lang="en-US" smtClean="0">
                <a:latin typeface="Calibri" pitchFamily="34" charset="0"/>
              </a:rPr>
              <a:t>	</a:t>
            </a:r>
            <a:r>
              <a:rPr b="1" dirty="0" sz="2800" lang="en-US" u="sng" smtClean="0">
                <a:solidFill>
                  <a:srgbClr val="660066"/>
                </a:solidFill>
                <a:effectLst>
                  <a:outerShdw algn="tl" blurRad="38100" dir="2700000" dist="38100">
                    <a:srgbClr val="000000">
                      <a:alpha val="43137"/>
                    </a:srgbClr>
                  </a:outerShdw>
                </a:effectLst>
                <a:latin typeface="Calibri" pitchFamily="34" charset="0"/>
              </a:rPr>
              <a:t>I. PRIMARY( IMMEDIATE) PPH</a:t>
            </a:r>
          </a:p>
          <a:p>
            <a:pPr>
              <a:buNone/>
            </a:pPr>
            <a:r>
              <a:rPr dirty="0" sz="2800" lang="en-US" smtClean="0">
                <a:effectLst>
                  <a:outerShdw algn="tl" blurRad="38100" dir="2700000" dist="38100">
                    <a:srgbClr val="000000">
                      <a:alpha val="43137"/>
                    </a:srgbClr>
                  </a:outerShdw>
                </a:effectLst>
                <a:latin typeface="Calibri" pitchFamily="34" charset="0"/>
              </a:rPr>
              <a:t>	</a:t>
            </a:r>
            <a:r>
              <a:rPr b="1" dirty="0" sz="2800" lang="en-US" smtClean="0">
                <a:effectLst>
                  <a:outerShdw algn="tl" blurRad="38100" dir="2700000" dist="38100">
                    <a:srgbClr val="000000">
                      <a:alpha val="43137"/>
                    </a:srgbClr>
                  </a:outerShdw>
                </a:effectLst>
                <a:latin typeface="Calibri" pitchFamily="34" charset="0"/>
              </a:rPr>
              <a:t>Definition</a:t>
            </a:r>
          </a:p>
          <a:p>
            <a:r>
              <a:rPr dirty="0" sz="2800" lang="en-US" smtClean="0">
                <a:latin typeface="Calibri" pitchFamily="34" charset="0"/>
              </a:rPr>
              <a:t>It’s excessive bleeding occurring during 3</a:t>
            </a:r>
            <a:r>
              <a:rPr baseline="30000" dirty="0" sz="2800" lang="en-US" smtClean="0">
                <a:latin typeface="Calibri" pitchFamily="34" charset="0"/>
              </a:rPr>
              <a:t>rd</a:t>
            </a:r>
            <a:r>
              <a:rPr dirty="0" sz="2800" lang="en-US" smtClean="0">
                <a:latin typeface="Calibri" pitchFamily="34" charset="0"/>
              </a:rPr>
              <a:t> stage or any time within the first 24 hours of delivery.</a:t>
            </a:r>
          </a:p>
          <a:p>
            <a:pPr>
              <a:buNone/>
            </a:pPr>
            <a:r>
              <a:rPr dirty="0" sz="2800" lang="en-US" smtClean="0">
                <a:latin typeface="Calibri" pitchFamily="34" charset="0"/>
              </a:rPr>
              <a:t>	</a:t>
            </a:r>
            <a:r>
              <a:rPr b="1" dirty="0" sz="2800" lang="en-US" smtClean="0">
                <a:latin typeface="Calibri" pitchFamily="34" charset="0"/>
              </a:rPr>
              <a:t>Major  causes </a:t>
            </a:r>
          </a:p>
          <a:p>
            <a:r>
              <a:rPr dirty="0" sz="2800" lang="en-US" smtClean="0">
                <a:latin typeface="Calibri" pitchFamily="34" charset="0"/>
              </a:rPr>
              <a:t>Uterine atony or  </a:t>
            </a:r>
            <a:r>
              <a:rPr dirty="0" sz="2800" lang="en-US" err="1" smtClean="0">
                <a:latin typeface="Calibri" pitchFamily="34" charset="0"/>
              </a:rPr>
              <a:t>atonic</a:t>
            </a:r>
            <a:r>
              <a:rPr dirty="0" sz="2800" lang="en-US" smtClean="0">
                <a:latin typeface="Calibri" pitchFamily="34" charset="0"/>
              </a:rPr>
              <a:t> uterus. (Tone /tissue = 70% )</a:t>
            </a:r>
          </a:p>
          <a:p>
            <a:r>
              <a:rPr dirty="0" sz="2800" lang="en-US" smtClean="0">
                <a:latin typeface="Calibri" pitchFamily="34" charset="0"/>
              </a:rPr>
              <a:t>Trauma along the genital tract. ( Trauma = 20% )</a:t>
            </a:r>
          </a:p>
          <a:p>
            <a:r>
              <a:rPr dirty="0" sz="2800" lang="en-US" smtClean="0">
                <a:latin typeface="Calibri" pitchFamily="34" charset="0"/>
              </a:rPr>
              <a:t>Blood coagulation disorder.    ( Thrombin = 1% ) *3Ts</a:t>
            </a:r>
            <a:endParaRPr dirty="0" sz="2800" lang="en-US">
              <a:latin typeface="Calibri" pitchFamily="34" charset="0"/>
            </a:endParaRPr>
          </a:p>
        </p:txBody>
      </p:sp>
      <p:sp>
        <p:nvSpPr>
          <p:cNvPr id="1050140"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347" name=""/>
        <p:cNvGrpSpPr/>
        <p:nvPr/>
      </p:nvGrpSpPr>
      <p:grpSpPr>
        <a:xfrm>
          <a:off x="0" y="0"/>
          <a:ext cx="0" cy="0"/>
          <a:chOff x="0" y="0"/>
          <a:chExt cx="0" cy="0"/>
        </a:xfrm>
      </p:grpSpPr>
      <p:sp>
        <p:nvSpPr>
          <p:cNvPr id="1050141" name="Title 1"/>
          <p:cNvSpPr>
            <a:spLocks noGrp="1"/>
          </p:cNvSpPr>
          <p:nvPr>
            <p:ph type="title"/>
          </p:nvPr>
        </p:nvSpPr>
        <p:spPr/>
        <p:txBody>
          <a:bodyPr/>
          <a:p>
            <a:r>
              <a:rPr b="1" dirty="0" lang="en-US" smtClean="0">
                <a:solidFill>
                  <a:srgbClr val="0070C0"/>
                </a:solidFill>
              </a:rPr>
              <a:t>l. UTERINE  ATONY</a:t>
            </a:r>
            <a:endParaRPr dirty="0" lang="en-US">
              <a:solidFill>
                <a:srgbClr val="0070C0"/>
              </a:solidFill>
            </a:endParaRPr>
          </a:p>
        </p:txBody>
      </p:sp>
      <p:sp>
        <p:nvSpPr>
          <p:cNvPr id="1050142" name="Content Placeholder 2"/>
          <p:cNvSpPr>
            <a:spLocks noGrp="1"/>
          </p:cNvSpPr>
          <p:nvPr>
            <p:ph sz="quarter" idx="1"/>
          </p:nvPr>
        </p:nvSpPr>
        <p:spPr>
          <a:xfrm>
            <a:off x="381000" y="1447800"/>
            <a:ext cx="10763250" cy="5029200"/>
          </a:xfrm>
        </p:spPr>
        <p:txBody>
          <a:bodyPr>
            <a:noAutofit/>
          </a:bodyPr>
          <a:p>
            <a:pPr>
              <a:buNone/>
            </a:pPr>
            <a:r>
              <a:rPr dirty="0" lang="en-US" smtClean="0">
                <a:latin typeface="Calibri" pitchFamily="34" charset="0"/>
              </a:rPr>
              <a:t>	</a:t>
            </a:r>
            <a:r>
              <a:rPr dirty="0" i="1" lang="en-US" smtClean="0">
                <a:latin typeface="Calibri" pitchFamily="34" charset="0"/>
              </a:rPr>
              <a:t>	</a:t>
            </a:r>
            <a:r>
              <a:rPr b="1" dirty="0" i="1" lang="en-US" smtClean="0">
                <a:latin typeface="Calibri" pitchFamily="34" charset="0"/>
              </a:rPr>
              <a:t>Description</a:t>
            </a:r>
          </a:p>
          <a:p>
            <a:r>
              <a:rPr dirty="0" lang="en-US" smtClean="0">
                <a:latin typeface="Calibri" pitchFamily="34" charset="0"/>
              </a:rPr>
              <a:t>Refers to  a situation  where,  the myometrium at the placental site fails to contract and retract, in order to compress the torn blood vessels , hence control blood loss.</a:t>
            </a:r>
          </a:p>
          <a:p>
            <a:pPr>
              <a:buNone/>
            </a:pPr>
            <a:r>
              <a:rPr dirty="0" lang="en-US" smtClean="0">
                <a:latin typeface="Calibri" pitchFamily="34" charset="0"/>
              </a:rPr>
              <a:t>	</a:t>
            </a:r>
            <a:r>
              <a:rPr b="1" dirty="0" i="1" lang="en-US" smtClean="0">
                <a:latin typeface="Calibri" pitchFamily="34" charset="0"/>
              </a:rPr>
              <a:t>Causes</a:t>
            </a:r>
          </a:p>
          <a:p>
            <a:r>
              <a:rPr dirty="0" lang="en-US" smtClean="0">
                <a:latin typeface="Calibri" pitchFamily="34" charset="0"/>
              </a:rPr>
              <a:t>Incomplete placental separation, hence inefficiency in the contraction and retraction factor.</a:t>
            </a:r>
          </a:p>
          <a:p>
            <a:r>
              <a:rPr dirty="0" lang="en-US" smtClean="0">
                <a:latin typeface="Calibri" pitchFamily="34" charset="0"/>
              </a:rPr>
              <a:t>Retained conceptus, in terms of placental/ membranes fragments or cotyledons.</a:t>
            </a:r>
            <a:endParaRPr dirty="0" lang="en-US">
              <a:latin typeface="Calibri" pitchFamily="34" charset="0"/>
            </a:endParaRPr>
          </a:p>
        </p:txBody>
      </p:sp>
      <p:sp>
        <p:nvSpPr>
          <p:cNvPr id="105014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348" name=""/>
        <p:cNvGrpSpPr/>
        <p:nvPr/>
      </p:nvGrpSpPr>
      <p:grpSpPr>
        <a:xfrm>
          <a:off x="0" y="0"/>
          <a:ext cx="0" cy="0"/>
          <a:chOff x="0" y="0"/>
          <a:chExt cx="0" cy="0"/>
        </a:xfrm>
      </p:grpSpPr>
      <p:sp>
        <p:nvSpPr>
          <p:cNvPr id="1050144" name="Content Placeholder 2"/>
          <p:cNvSpPr>
            <a:spLocks noGrp="1"/>
          </p:cNvSpPr>
          <p:nvPr>
            <p:ph sz="quarter" idx="1"/>
          </p:nvPr>
        </p:nvSpPr>
        <p:spPr>
          <a:xfrm>
            <a:off x="381000" y="304800"/>
            <a:ext cx="10477500" cy="5715000"/>
          </a:xfrm>
        </p:spPr>
        <p:txBody>
          <a:bodyPr>
            <a:noAutofit/>
          </a:bodyPr>
          <a:p>
            <a:r>
              <a:rPr dirty="0" sz="2900" lang="en-US" smtClean="0">
                <a:latin typeface="Calibri" pitchFamily="34" charset="0"/>
              </a:rPr>
              <a:t>Polyhydramnious or multiple pregnancy, because of the overstretching hence poor tone.</a:t>
            </a:r>
          </a:p>
          <a:p>
            <a:r>
              <a:rPr dirty="0" sz="2900" lang="en-US" smtClean="0">
                <a:latin typeface="Calibri" pitchFamily="34" charset="0"/>
              </a:rPr>
              <a:t>Prolonged labour, causes muscle exhaustion= poor tone.</a:t>
            </a:r>
          </a:p>
          <a:p>
            <a:r>
              <a:rPr dirty="0" sz="2900" lang="en-US" smtClean="0">
                <a:latin typeface="Calibri" pitchFamily="34" charset="0"/>
              </a:rPr>
              <a:t>Precipitate labour , the vigorous contractions denies the myometrium  adequate  opportunity to retract.</a:t>
            </a:r>
          </a:p>
          <a:p>
            <a:r>
              <a:rPr dirty="0" sz="2900" lang="en-US" smtClean="0">
                <a:latin typeface="Calibri" pitchFamily="34" charset="0"/>
              </a:rPr>
              <a:t>General </a:t>
            </a:r>
            <a:r>
              <a:rPr dirty="0" sz="2900" lang="en-US" err="1" smtClean="0">
                <a:latin typeface="Calibri" pitchFamily="34" charset="0"/>
              </a:rPr>
              <a:t>anaesthesia</a:t>
            </a:r>
            <a:r>
              <a:rPr dirty="0" sz="2900" lang="en-US" smtClean="0">
                <a:latin typeface="Calibri" pitchFamily="34" charset="0"/>
              </a:rPr>
              <a:t> , particularly the powerful muscle relaxants and volatile inhalational agents e.g halothane &amp; </a:t>
            </a:r>
            <a:r>
              <a:rPr dirty="0" sz="2900" lang="en-US" err="1" smtClean="0">
                <a:latin typeface="Calibri" pitchFamily="34" charset="0"/>
              </a:rPr>
              <a:t>cyclopane</a:t>
            </a:r>
            <a:r>
              <a:rPr dirty="0" sz="2900" lang="en-US" smtClean="0">
                <a:latin typeface="Calibri" pitchFamily="34" charset="0"/>
              </a:rPr>
              <a:t>.</a:t>
            </a:r>
          </a:p>
          <a:p>
            <a:r>
              <a:rPr dirty="0" sz="2900" lang="en-US" smtClean="0">
                <a:latin typeface="Calibri" pitchFamily="34" charset="0"/>
              </a:rPr>
              <a:t>A full bladder, because of it’s proximity to the uterus.</a:t>
            </a:r>
            <a:endParaRPr dirty="0" sz="2900" lang="en-US">
              <a:latin typeface="Calibri" pitchFamily="34" charset="0"/>
            </a:endParaRPr>
          </a:p>
        </p:txBody>
      </p:sp>
      <p:sp>
        <p:nvSpPr>
          <p:cNvPr id="105014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349" name=""/>
        <p:cNvGrpSpPr/>
        <p:nvPr/>
      </p:nvGrpSpPr>
      <p:grpSpPr>
        <a:xfrm>
          <a:off x="0" y="0"/>
          <a:ext cx="0" cy="0"/>
          <a:chOff x="0" y="0"/>
          <a:chExt cx="0" cy="0"/>
        </a:xfrm>
      </p:grpSpPr>
      <p:sp>
        <p:nvSpPr>
          <p:cNvPr id="1050146" name="Content Placeholder 2"/>
          <p:cNvSpPr>
            <a:spLocks noGrp="1"/>
          </p:cNvSpPr>
          <p:nvPr>
            <p:ph sz="quarter" idx="1"/>
          </p:nvPr>
        </p:nvSpPr>
        <p:spPr>
          <a:xfrm>
            <a:off x="381000" y="152400"/>
            <a:ext cx="10477500" cy="5867400"/>
          </a:xfrm>
        </p:spPr>
        <p:txBody>
          <a:bodyPr>
            <a:noAutofit/>
          </a:bodyPr>
          <a:p>
            <a:r>
              <a:rPr dirty="0" sz="3100" lang="en-US" smtClean="0">
                <a:latin typeface="Calibri" pitchFamily="34" charset="0"/>
              </a:rPr>
              <a:t>Placental praevia,  since lower uterine segment has few oblique fibres hence poor living ligature action.</a:t>
            </a:r>
          </a:p>
          <a:p>
            <a:r>
              <a:rPr dirty="0" sz="3100" lang="en-US" smtClean="0">
                <a:latin typeface="Calibri" pitchFamily="34" charset="0"/>
              </a:rPr>
              <a:t>Placental abruption, due to damage of the muscle fibres.</a:t>
            </a:r>
          </a:p>
          <a:p>
            <a:r>
              <a:rPr dirty="0" sz="3100" lang="en-US" smtClean="0">
                <a:latin typeface="Calibri" pitchFamily="34" charset="0"/>
              </a:rPr>
              <a:t>Mismanagement of 3</a:t>
            </a:r>
            <a:r>
              <a:rPr baseline="30000" dirty="0" sz="3100" lang="en-US" smtClean="0">
                <a:latin typeface="Calibri" pitchFamily="34" charset="0"/>
              </a:rPr>
              <a:t>rd</a:t>
            </a:r>
            <a:r>
              <a:rPr dirty="0" sz="3100" lang="en-US" smtClean="0">
                <a:latin typeface="Calibri" pitchFamily="34" charset="0"/>
              </a:rPr>
              <a:t> stage through “</a:t>
            </a:r>
            <a:r>
              <a:rPr dirty="0" sz="3100" lang="en-US" err="1" smtClean="0">
                <a:latin typeface="Calibri" pitchFamily="34" charset="0"/>
              </a:rPr>
              <a:t>fundus</a:t>
            </a:r>
            <a:r>
              <a:rPr dirty="0" sz="3100" lang="en-US" smtClean="0">
                <a:latin typeface="Calibri" pitchFamily="34" charset="0"/>
              </a:rPr>
              <a:t> fiddling” or manipulation of the uterus.  This may lead to arrhythmic contractions and loss of retraction hence partial separation of the placenta.</a:t>
            </a:r>
          </a:p>
          <a:p>
            <a:pPr>
              <a:buNone/>
            </a:pPr>
            <a:r>
              <a:rPr dirty="0" sz="3100" lang="en-US" smtClean="0">
                <a:latin typeface="Calibri" pitchFamily="34" charset="0"/>
              </a:rPr>
              <a:t>	</a:t>
            </a:r>
          </a:p>
        </p:txBody>
      </p:sp>
      <p:sp>
        <p:nvSpPr>
          <p:cNvPr id="105014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350" name=""/>
        <p:cNvGrpSpPr/>
        <p:nvPr/>
      </p:nvGrpSpPr>
      <p:grpSpPr>
        <a:xfrm>
          <a:off x="0" y="0"/>
          <a:ext cx="0" cy="0"/>
          <a:chOff x="0" y="0"/>
          <a:chExt cx="0" cy="0"/>
        </a:xfrm>
      </p:grpSpPr>
      <p:sp>
        <p:nvSpPr>
          <p:cNvPr id="1050148" name="Content Placeholder 2"/>
          <p:cNvSpPr>
            <a:spLocks noGrp="1"/>
          </p:cNvSpPr>
          <p:nvPr>
            <p:ph sz="quarter" idx="1"/>
          </p:nvPr>
        </p:nvSpPr>
        <p:spPr>
          <a:xfrm>
            <a:off x="190500" y="304800"/>
            <a:ext cx="10668000" cy="5715000"/>
          </a:xfrm>
        </p:spPr>
        <p:txBody>
          <a:bodyPr>
            <a:noAutofit/>
          </a:bodyPr>
          <a:p>
            <a:pPr>
              <a:buNone/>
            </a:pPr>
            <a:r>
              <a:rPr dirty="0" sz="2600" lang="en-US" smtClean="0">
                <a:latin typeface="Calibri" pitchFamily="34" charset="0"/>
              </a:rPr>
              <a:t>	</a:t>
            </a:r>
            <a:r>
              <a:rPr b="1" dirty="0" sz="2600" i="1" lang="en-US" smtClean="0">
                <a:latin typeface="Calibri" pitchFamily="34" charset="0"/>
              </a:rPr>
              <a:t>Predisposing factors</a:t>
            </a:r>
          </a:p>
          <a:p>
            <a:pPr>
              <a:buNone/>
            </a:pPr>
            <a:r>
              <a:rPr dirty="0" sz="2600" lang="en-US" smtClean="0">
                <a:latin typeface="Calibri" pitchFamily="34" charset="0"/>
              </a:rPr>
              <a:t>	These are events/ situations that increases risk of atony.</a:t>
            </a:r>
          </a:p>
          <a:p>
            <a:r>
              <a:rPr dirty="0" sz="2600" lang="en-US" smtClean="0">
                <a:latin typeface="Calibri" pitchFamily="34" charset="0"/>
              </a:rPr>
              <a:t>Previous history of  PPH.</a:t>
            </a:r>
          </a:p>
          <a:p>
            <a:r>
              <a:rPr dirty="0" sz="2600" lang="en-US" smtClean="0">
                <a:latin typeface="Calibri" pitchFamily="34" charset="0"/>
              </a:rPr>
              <a:t>Grandemultiparity, because the muscle fibres of the uterus are highly replaced by fibrous tissues, hence reduced contractility.</a:t>
            </a:r>
          </a:p>
          <a:p>
            <a:r>
              <a:rPr dirty="0" sz="2600" lang="en-US" smtClean="0">
                <a:latin typeface="Calibri" pitchFamily="34" charset="0"/>
              </a:rPr>
              <a:t>Presence of anaemia, ie HB below 10 gm/dl, so can be affected by even the normal loss since she already debilitated.</a:t>
            </a:r>
          </a:p>
          <a:p>
            <a:r>
              <a:rPr dirty="0" sz="2600" lang="en-US" smtClean="0">
                <a:latin typeface="Calibri" pitchFamily="34" charset="0"/>
              </a:rPr>
              <a:t>Presence of  </a:t>
            </a:r>
            <a:r>
              <a:rPr dirty="0" sz="2600" lang="en-US" err="1" smtClean="0">
                <a:latin typeface="Calibri" pitchFamily="34" charset="0"/>
              </a:rPr>
              <a:t>fibromyoma</a:t>
            </a:r>
            <a:r>
              <a:rPr dirty="0" sz="2600" lang="en-US" smtClean="0">
                <a:latin typeface="Calibri" pitchFamily="34" charset="0"/>
              </a:rPr>
              <a:t>(fibroids),due to inhibition of effective contractions.</a:t>
            </a:r>
            <a:endParaRPr dirty="0" sz="2600" lang="en-US">
              <a:latin typeface="Calibri" pitchFamily="34" charset="0"/>
            </a:endParaRPr>
          </a:p>
        </p:txBody>
      </p:sp>
      <p:sp>
        <p:nvSpPr>
          <p:cNvPr id="105014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351" name=""/>
        <p:cNvGrpSpPr/>
        <p:nvPr/>
      </p:nvGrpSpPr>
      <p:grpSpPr>
        <a:xfrm>
          <a:off x="0" y="0"/>
          <a:ext cx="0" cy="0"/>
          <a:chOff x="0" y="0"/>
          <a:chExt cx="0" cy="0"/>
        </a:xfrm>
      </p:grpSpPr>
      <p:sp>
        <p:nvSpPr>
          <p:cNvPr id="1050150" name="Content Placeholder 2"/>
          <p:cNvSpPr>
            <a:spLocks noGrp="1"/>
          </p:cNvSpPr>
          <p:nvPr>
            <p:ph sz="quarter" idx="1"/>
          </p:nvPr>
        </p:nvSpPr>
        <p:spPr>
          <a:xfrm>
            <a:off x="381000" y="228600"/>
            <a:ext cx="10477500" cy="5791200"/>
          </a:xfrm>
        </p:spPr>
        <p:txBody>
          <a:bodyPr>
            <a:noAutofit/>
          </a:bodyPr>
          <a:p>
            <a:r>
              <a:rPr dirty="0" lang="en-US" smtClean="0">
                <a:latin typeface="Calibri" pitchFamily="34" charset="0"/>
              </a:rPr>
              <a:t>HIV/ AIDS, due to general weakness both physically and physiologically.</a:t>
            </a:r>
          </a:p>
          <a:p>
            <a:r>
              <a:rPr dirty="0" lang="en-US" smtClean="0">
                <a:latin typeface="Calibri" pitchFamily="34" charset="0"/>
              </a:rPr>
              <a:t>Ketosis associated with prolonged labour, and oxytocin  augmentation . </a:t>
            </a:r>
          </a:p>
          <a:p>
            <a:pPr>
              <a:buNone/>
            </a:pPr>
            <a:r>
              <a:rPr dirty="0" lang="en-US" smtClean="0">
                <a:latin typeface="Calibri" pitchFamily="34" charset="0"/>
              </a:rPr>
              <a:t>	   </a:t>
            </a:r>
            <a:r>
              <a:rPr b="1" dirty="0" i="1" lang="en-US" smtClean="0">
                <a:latin typeface="Calibri" pitchFamily="34" charset="0"/>
              </a:rPr>
              <a:t>Clinical  features</a:t>
            </a:r>
          </a:p>
          <a:p>
            <a:r>
              <a:rPr dirty="0" lang="en-US" smtClean="0">
                <a:latin typeface="Calibri" pitchFamily="34" charset="0"/>
              </a:rPr>
              <a:t>Enlarged uterus, </a:t>
            </a:r>
            <a:r>
              <a:rPr dirty="0" lang="en-US" err="1" smtClean="0">
                <a:latin typeface="Calibri" pitchFamily="34" charset="0"/>
              </a:rPr>
              <a:t>fundus</a:t>
            </a:r>
            <a:r>
              <a:rPr dirty="0" lang="en-US" smtClean="0">
                <a:latin typeface="Calibri" pitchFamily="34" charset="0"/>
              </a:rPr>
              <a:t> located above the umbilicus.</a:t>
            </a:r>
          </a:p>
          <a:p>
            <a:r>
              <a:rPr dirty="0" lang="en-US" smtClean="0">
                <a:latin typeface="Calibri" pitchFamily="34" charset="0"/>
              </a:rPr>
              <a:t>Soft and toneless or friable / boggy uterus on palpation , due to loss of contraction and retraction factors.</a:t>
            </a:r>
          </a:p>
          <a:p>
            <a:r>
              <a:rPr dirty="0" lang="en-US" smtClean="0">
                <a:latin typeface="Calibri" pitchFamily="34" charset="0"/>
              </a:rPr>
              <a:t>Blood gushes out from the genital tract, signifying open blood vessels.</a:t>
            </a:r>
            <a:endParaRPr dirty="0" lang="en-US">
              <a:latin typeface="Calibri" pitchFamily="34" charset="0"/>
            </a:endParaRPr>
          </a:p>
        </p:txBody>
      </p:sp>
      <p:sp>
        <p:nvSpPr>
          <p:cNvPr id="105015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352" name=""/>
        <p:cNvGrpSpPr/>
        <p:nvPr/>
      </p:nvGrpSpPr>
      <p:grpSpPr>
        <a:xfrm>
          <a:off x="0" y="0"/>
          <a:ext cx="0" cy="0"/>
          <a:chOff x="0" y="0"/>
          <a:chExt cx="0" cy="0"/>
        </a:xfrm>
      </p:grpSpPr>
      <p:sp>
        <p:nvSpPr>
          <p:cNvPr id="1050152" name="Content Placeholder 2"/>
          <p:cNvSpPr>
            <a:spLocks noGrp="1"/>
          </p:cNvSpPr>
          <p:nvPr>
            <p:ph sz="quarter" idx="1"/>
          </p:nvPr>
        </p:nvSpPr>
        <p:spPr>
          <a:xfrm>
            <a:off x="381000" y="381000"/>
            <a:ext cx="10477500" cy="5638800"/>
          </a:xfrm>
        </p:spPr>
        <p:txBody>
          <a:bodyPr>
            <a:normAutofit/>
          </a:bodyPr>
          <a:p>
            <a:r>
              <a:rPr dirty="0" sz="3200" lang="en-US" smtClean="0">
                <a:latin typeface="Calibri" pitchFamily="34" charset="0"/>
              </a:rPr>
              <a:t>Abnormality in vital signs , ie presence of tachycardia and hypotension = shock.</a:t>
            </a:r>
          </a:p>
          <a:p>
            <a:r>
              <a:rPr dirty="0" sz="3200" lang="en-US" smtClean="0">
                <a:latin typeface="Calibri" pitchFamily="34" charset="0"/>
              </a:rPr>
              <a:t>Progressive pallor of skin and mucous membranes.</a:t>
            </a:r>
          </a:p>
          <a:p>
            <a:r>
              <a:rPr dirty="0" sz="3200" lang="en-US" smtClean="0">
                <a:latin typeface="Calibri" pitchFamily="34" charset="0"/>
              </a:rPr>
              <a:t>Altered levels of consciousness, initially restlessness and latter drowsiness.</a:t>
            </a:r>
          </a:p>
          <a:p>
            <a:r>
              <a:rPr dirty="0" sz="3200" lang="en-US" smtClean="0">
                <a:latin typeface="Calibri" pitchFamily="34" charset="0"/>
              </a:rPr>
              <a:t>Maternal collapse, as condition deteriorates, indicating severe state of shock.</a:t>
            </a:r>
          </a:p>
        </p:txBody>
      </p:sp>
      <p:sp>
        <p:nvSpPr>
          <p:cNvPr id="105015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353" name=""/>
        <p:cNvGrpSpPr/>
        <p:nvPr/>
      </p:nvGrpSpPr>
      <p:grpSpPr>
        <a:xfrm>
          <a:off x="0" y="0"/>
          <a:ext cx="0" cy="0"/>
          <a:chOff x="0" y="0"/>
          <a:chExt cx="0" cy="0"/>
        </a:xfrm>
      </p:grpSpPr>
      <p:sp>
        <p:nvSpPr>
          <p:cNvPr id="1050154" name="Title 1"/>
          <p:cNvSpPr>
            <a:spLocks noGrp="1"/>
          </p:cNvSpPr>
          <p:nvPr>
            <p:ph type="title"/>
          </p:nvPr>
        </p:nvSpPr>
        <p:spPr/>
        <p:txBody>
          <a:bodyPr/>
          <a:p>
            <a:r>
              <a:rPr b="1" dirty="0" lang="en-US" smtClean="0">
                <a:solidFill>
                  <a:srgbClr val="0070C0"/>
                </a:solidFill>
              </a:rPr>
              <a:t>Specific management</a:t>
            </a:r>
            <a:endParaRPr dirty="0" lang="en-US">
              <a:solidFill>
                <a:srgbClr val="0070C0"/>
              </a:solidFill>
            </a:endParaRPr>
          </a:p>
        </p:txBody>
      </p:sp>
      <p:sp>
        <p:nvSpPr>
          <p:cNvPr id="1050155" name="Content Placeholder 2"/>
          <p:cNvSpPr>
            <a:spLocks noGrp="1"/>
          </p:cNvSpPr>
          <p:nvPr>
            <p:ph sz="quarter" idx="1"/>
          </p:nvPr>
        </p:nvSpPr>
        <p:spPr>
          <a:xfrm>
            <a:off x="377191" y="1527048"/>
            <a:ext cx="10629900" cy="4721352"/>
          </a:xfrm>
        </p:spPr>
        <p:txBody>
          <a:bodyPr>
            <a:noAutofit/>
          </a:bodyPr>
          <a:p>
            <a:pPr>
              <a:buNone/>
            </a:pPr>
            <a:r>
              <a:rPr b="1" dirty="0" lang="en-US" smtClean="0">
                <a:latin typeface="Calibri" pitchFamily="34" charset="0"/>
              </a:rPr>
              <a:t>		</a:t>
            </a:r>
            <a:r>
              <a:rPr b="1" dirty="0" sz="2800" i="1" lang="en-US" smtClean="0">
                <a:latin typeface="Calibri" pitchFamily="34" charset="0"/>
              </a:rPr>
              <a:t>Objectives/aims</a:t>
            </a:r>
            <a:endParaRPr b="1" dirty="0" i="1" lang="en-US" smtClean="0">
              <a:latin typeface="Calibri" pitchFamily="34" charset="0"/>
            </a:endParaRPr>
          </a:p>
          <a:p>
            <a:r>
              <a:rPr dirty="0" lang="en-US" smtClean="0">
                <a:latin typeface="Calibri" pitchFamily="34" charset="0"/>
              </a:rPr>
              <a:t>Early diagnosis of the condition since it’s an obstetrical emergency.</a:t>
            </a:r>
          </a:p>
          <a:p>
            <a:r>
              <a:rPr dirty="0" lang="en-US" smtClean="0">
                <a:latin typeface="Calibri" pitchFamily="34" charset="0"/>
              </a:rPr>
              <a:t>To stop / control the excessive blood loss.</a:t>
            </a:r>
          </a:p>
          <a:p>
            <a:r>
              <a:rPr dirty="0" lang="en-US" smtClean="0">
                <a:latin typeface="Calibri" pitchFamily="34" charset="0"/>
              </a:rPr>
              <a:t>To  resuscitate hence control / prevent hypovoluemic shock.</a:t>
            </a:r>
          </a:p>
          <a:p>
            <a:pPr>
              <a:buFont typeface="Wingdings" pitchFamily="2" charset="2"/>
              <a:buChar char="v"/>
            </a:pPr>
            <a:r>
              <a:rPr dirty="0" lang="en-US" smtClean="0">
                <a:latin typeface="Calibri" pitchFamily="34" charset="0"/>
              </a:rPr>
              <a:t>Therefore the care involves  3(three) basic principles:-</a:t>
            </a:r>
          </a:p>
          <a:p>
            <a:pPr>
              <a:buNone/>
            </a:pPr>
            <a:r>
              <a:rPr dirty="0" lang="en-US" smtClean="0">
                <a:latin typeface="Calibri" pitchFamily="34" charset="0"/>
              </a:rPr>
              <a:t>	 </a:t>
            </a:r>
            <a:r>
              <a:rPr b="1" dirty="0" lang="en-US" u="sng" smtClean="0">
                <a:latin typeface="Calibri" pitchFamily="34" charset="0"/>
              </a:rPr>
              <a:t>Call for medical help.</a:t>
            </a:r>
          </a:p>
          <a:p>
            <a:r>
              <a:rPr dirty="0" lang="en-US" smtClean="0">
                <a:latin typeface="Calibri" pitchFamily="34" charset="0"/>
              </a:rPr>
              <a:t> This is important because the condition deteriorates very fast. </a:t>
            </a:r>
            <a:r>
              <a:rPr dirty="0" lang="en-US" u="sng" smtClean="0">
                <a:latin typeface="Calibri" pitchFamily="34" charset="0"/>
              </a:rPr>
              <a:t>  </a:t>
            </a:r>
            <a:endParaRPr dirty="0" lang="en-US" u="sng">
              <a:latin typeface="Calibri" pitchFamily="34" charset="0"/>
            </a:endParaRPr>
          </a:p>
        </p:txBody>
      </p:sp>
      <p:sp>
        <p:nvSpPr>
          <p:cNvPr id="105015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354" name=""/>
        <p:cNvGrpSpPr/>
        <p:nvPr/>
      </p:nvGrpSpPr>
      <p:grpSpPr>
        <a:xfrm>
          <a:off x="0" y="0"/>
          <a:ext cx="0" cy="0"/>
          <a:chOff x="0" y="0"/>
          <a:chExt cx="0" cy="0"/>
        </a:xfrm>
      </p:grpSpPr>
      <p:sp>
        <p:nvSpPr>
          <p:cNvPr id="1050157" name="Content Placeholder 2"/>
          <p:cNvSpPr>
            <a:spLocks noGrp="1"/>
          </p:cNvSpPr>
          <p:nvPr>
            <p:ph sz="quarter" idx="1"/>
          </p:nvPr>
        </p:nvSpPr>
        <p:spPr>
          <a:xfrm>
            <a:off x="377191" y="381000"/>
            <a:ext cx="10629900" cy="5867400"/>
          </a:xfrm>
        </p:spPr>
        <p:txBody>
          <a:bodyPr>
            <a:normAutofit/>
          </a:bodyPr>
          <a:p>
            <a:pPr>
              <a:buFont typeface="Wingdings" pitchFamily="2" charset="2"/>
              <a:buChar char="v"/>
            </a:pPr>
            <a:r>
              <a:rPr dirty="0" lang="en-US" smtClean="0">
                <a:latin typeface="Calibri" pitchFamily="34" charset="0"/>
              </a:rPr>
              <a:t> So in a hospital setting, doctor is informed promptly.</a:t>
            </a:r>
          </a:p>
          <a:p>
            <a:pPr>
              <a:buNone/>
            </a:pPr>
            <a:r>
              <a:rPr dirty="0" lang="en-US" smtClean="0">
                <a:latin typeface="Calibri" pitchFamily="34" charset="0"/>
              </a:rPr>
              <a:t>	</a:t>
            </a:r>
            <a:r>
              <a:rPr b="1" dirty="0" lang="en-US" u="sng" smtClean="0">
                <a:latin typeface="Calibri" pitchFamily="34" charset="0"/>
              </a:rPr>
              <a:t>Stop the bleeding. </a:t>
            </a:r>
          </a:p>
          <a:p>
            <a:pPr>
              <a:buFont typeface="Wingdings" pitchFamily="2" charset="2"/>
              <a:buChar char="q"/>
            </a:pPr>
            <a:r>
              <a:rPr dirty="0" lang="en-US" smtClean="0">
                <a:latin typeface="Calibri" pitchFamily="34" charset="0"/>
              </a:rPr>
              <a:t>By initiating uterine contractility through:-</a:t>
            </a:r>
          </a:p>
          <a:p>
            <a:r>
              <a:rPr dirty="0" lang="en-US" smtClean="0">
                <a:latin typeface="Calibri" pitchFamily="34" charset="0"/>
              </a:rPr>
              <a:t>Rubbing up  the uterus, by massaging the </a:t>
            </a:r>
            <a:r>
              <a:rPr dirty="0" lang="en-US" err="1" smtClean="0">
                <a:latin typeface="Calibri" pitchFamily="34" charset="0"/>
              </a:rPr>
              <a:t>fundus</a:t>
            </a:r>
            <a:r>
              <a:rPr dirty="0" lang="en-US" smtClean="0">
                <a:latin typeface="Calibri" pitchFamily="34" charset="0"/>
              </a:rPr>
              <a:t> gently in a smooth circular motion.</a:t>
            </a:r>
          </a:p>
          <a:p>
            <a:pPr>
              <a:buFont typeface="Wingdings" pitchFamily="2" charset="2"/>
              <a:buChar char="Ø"/>
            </a:pPr>
            <a:r>
              <a:rPr dirty="0" lang="en-US" smtClean="0">
                <a:latin typeface="Calibri" pitchFamily="34" charset="0"/>
              </a:rPr>
              <a:t>Once a contraction occurs, stop further massage, instead just hold the </a:t>
            </a:r>
            <a:r>
              <a:rPr dirty="0" lang="en-US" err="1" smtClean="0">
                <a:latin typeface="Calibri" pitchFamily="34" charset="0"/>
              </a:rPr>
              <a:t>fundus</a:t>
            </a:r>
            <a:r>
              <a:rPr dirty="0" lang="en-US" smtClean="0">
                <a:latin typeface="Calibri" pitchFamily="34" charset="0"/>
              </a:rPr>
              <a:t> gently.</a:t>
            </a:r>
          </a:p>
          <a:p>
            <a:r>
              <a:rPr dirty="0" lang="en-US" smtClean="0">
                <a:latin typeface="Calibri" pitchFamily="34" charset="0"/>
              </a:rPr>
              <a:t>Empty the bladder and may leave  the catheter in place if necessary.</a:t>
            </a:r>
          </a:p>
          <a:p>
            <a:r>
              <a:rPr dirty="0" lang="en-US" smtClean="0">
                <a:latin typeface="Calibri" pitchFamily="34" charset="0"/>
              </a:rPr>
              <a:t>Expel clots and administer a loading dose of synitocinon </a:t>
            </a:r>
            <a:r>
              <a:rPr dirty="0" sz="2800" lang="en-US" smtClean="0">
                <a:latin typeface="Calibri" pitchFamily="34" charset="0"/>
              </a:rPr>
              <a:t>10  </a:t>
            </a:r>
          </a:p>
          <a:p>
            <a:pPr>
              <a:buNone/>
            </a:pPr>
            <a:r>
              <a:rPr dirty="0" sz="2800" lang="en-US" smtClean="0">
                <a:latin typeface="Calibri" pitchFamily="34" charset="0"/>
              </a:rPr>
              <a:t>I. units   intravenously stat.</a:t>
            </a:r>
            <a:endParaRPr dirty="0" lang="en-US" smtClean="0">
              <a:latin typeface="Calibri" pitchFamily="34" charset="0"/>
            </a:endParaRPr>
          </a:p>
          <a:p>
            <a:endParaRPr dirty="0" lang="en-US" u="sng" smtClean="0">
              <a:latin typeface="Calibri" pitchFamily="34" charset="0"/>
            </a:endParaRPr>
          </a:p>
          <a:p>
            <a:endParaRPr dirty="0" lang="en-US">
              <a:latin typeface="Calibri" pitchFamily="34" charset="0"/>
            </a:endParaRPr>
          </a:p>
        </p:txBody>
      </p:sp>
      <p:sp>
        <p:nvSpPr>
          <p:cNvPr id="105015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357" name=""/>
        <p:cNvGrpSpPr/>
        <p:nvPr/>
      </p:nvGrpSpPr>
      <p:grpSpPr>
        <a:xfrm>
          <a:off x="0" y="0"/>
          <a:ext cx="0" cy="0"/>
          <a:chOff x="0" y="0"/>
          <a:chExt cx="0" cy="0"/>
        </a:xfrm>
      </p:grpSpPr>
      <p:sp>
        <p:nvSpPr>
          <p:cNvPr id="1050162" name="Content Placeholder 2"/>
          <p:cNvSpPr>
            <a:spLocks noGrp="1"/>
          </p:cNvSpPr>
          <p:nvPr>
            <p:ph sz="quarter" idx="1"/>
          </p:nvPr>
        </p:nvSpPr>
        <p:spPr>
          <a:xfrm>
            <a:off x="381000" y="0"/>
            <a:ext cx="10477500" cy="6019800"/>
          </a:xfrm>
        </p:spPr>
        <p:txBody>
          <a:bodyPr>
            <a:normAutofit/>
          </a:bodyPr>
          <a:p>
            <a:pPr>
              <a:buNone/>
            </a:pPr>
            <a:r>
              <a:rPr dirty="0" sz="3200" lang="en-US" smtClean="0">
                <a:latin typeface="Calibri" pitchFamily="34" charset="0"/>
              </a:rPr>
              <a:t>	</a:t>
            </a:r>
          </a:p>
          <a:p>
            <a:pPr>
              <a:buFont typeface="Wingdings" pitchFamily="2" charset="2"/>
              <a:buChar char="Ø"/>
            </a:pPr>
            <a:r>
              <a:rPr dirty="0" sz="3200" lang="en-US" smtClean="0">
                <a:latin typeface="Calibri" pitchFamily="34" charset="0"/>
              </a:rPr>
              <a:t> The commence a </a:t>
            </a:r>
            <a:r>
              <a:rPr dirty="0" sz="3200" lang="en-US" err="1" smtClean="0">
                <a:latin typeface="Calibri" pitchFamily="34" charset="0"/>
              </a:rPr>
              <a:t>syntocinon</a:t>
            </a:r>
            <a:r>
              <a:rPr dirty="0" sz="3200" lang="en-US" smtClean="0">
                <a:latin typeface="Calibri" pitchFamily="34" charset="0"/>
              </a:rPr>
              <a:t> drip of  20 </a:t>
            </a:r>
            <a:r>
              <a:rPr dirty="0" sz="3200" lang="en-US" err="1" smtClean="0">
                <a:latin typeface="Calibri" pitchFamily="34" charset="0"/>
              </a:rPr>
              <a:t>l.units</a:t>
            </a:r>
            <a:r>
              <a:rPr dirty="0" sz="3200" lang="en-US" smtClean="0">
                <a:latin typeface="Calibri" pitchFamily="34" charset="0"/>
              </a:rPr>
              <a:t> in half a </a:t>
            </a:r>
            <a:r>
              <a:rPr dirty="0" sz="3200" lang="en-US" err="1" smtClean="0">
                <a:latin typeface="Calibri" pitchFamily="34" charset="0"/>
              </a:rPr>
              <a:t>litre</a:t>
            </a:r>
            <a:r>
              <a:rPr dirty="0" sz="3200" lang="en-US" smtClean="0">
                <a:latin typeface="Calibri" pitchFamily="34" charset="0"/>
              </a:rPr>
              <a:t> of normal saline to run at 30-40 </a:t>
            </a:r>
            <a:r>
              <a:rPr dirty="0" sz="3200" lang="en-US" err="1" smtClean="0">
                <a:latin typeface="Calibri" pitchFamily="34" charset="0"/>
              </a:rPr>
              <a:t>dpm</a:t>
            </a:r>
            <a:r>
              <a:rPr dirty="0" sz="3200" lang="en-US" smtClean="0">
                <a:latin typeface="Calibri" pitchFamily="34" charset="0"/>
              </a:rPr>
              <a:t>.</a:t>
            </a:r>
          </a:p>
          <a:p>
            <a:r>
              <a:rPr dirty="0" sz="3200" lang="en-US" smtClean="0">
                <a:latin typeface="Calibri" pitchFamily="34" charset="0"/>
              </a:rPr>
              <a:t>Infant’s condition satisfactory, attach it to the breast to suckle, hence natural release of  oxytocin is enhanced. </a:t>
            </a:r>
          </a:p>
          <a:p>
            <a:pPr>
              <a:buFont typeface="Wingdings" pitchFamily="2" charset="2"/>
              <a:buChar char="v"/>
            </a:pPr>
            <a:r>
              <a:rPr dirty="0" sz="3200" lang="en-US" smtClean="0">
                <a:latin typeface="Calibri" pitchFamily="34" charset="0"/>
              </a:rPr>
              <a:t> Evaluate the effectiveness of each step, in order to make informed decision of the way forward.</a:t>
            </a:r>
          </a:p>
          <a:p>
            <a:pPr>
              <a:buNone/>
            </a:pPr>
            <a:r>
              <a:rPr dirty="0" sz="3200" lang="en-US" smtClean="0">
                <a:latin typeface="Calibri" pitchFamily="34" charset="0"/>
              </a:rPr>
              <a:t>	</a:t>
            </a:r>
            <a:r>
              <a:rPr b="1" dirty="0" sz="3200" lang="en-US" u="sng" smtClean="0">
                <a:latin typeface="Calibri" pitchFamily="34" charset="0"/>
              </a:rPr>
              <a:t>Resuscitate the mother.</a:t>
            </a:r>
            <a:endParaRPr b="1" dirty="0" sz="3200" lang="en-US" smtClean="0">
              <a:latin typeface="Calibri" pitchFamily="34" charset="0"/>
            </a:endParaRPr>
          </a:p>
          <a:p>
            <a:pPr>
              <a:buFont typeface="Wingdings" pitchFamily="2" charset="2"/>
              <a:buChar char="q"/>
            </a:pPr>
            <a:r>
              <a:rPr dirty="0" sz="3200" lang="en-US" smtClean="0">
                <a:latin typeface="Calibri" pitchFamily="34" charset="0"/>
              </a:rPr>
              <a:t>The goal is  to prevent shock and correct it respectively.</a:t>
            </a:r>
          </a:p>
          <a:p>
            <a:pPr>
              <a:buNone/>
            </a:pPr>
            <a:endParaRPr dirty="0" lang="en-US" smtClean="0">
              <a:latin typeface="Calibri" pitchFamily="34" charset="0"/>
            </a:endParaRPr>
          </a:p>
          <a:p>
            <a:pPr>
              <a:buNone/>
            </a:pPr>
            <a:endParaRPr dirty="0" lang="en-US" smtClean="0">
              <a:latin typeface="Calibri" pitchFamily="34" charset="0"/>
            </a:endParaRPr>
          </a:p>
          <a:p>
            <a:pPr>
              <a:buNone/>
            </a:pPr>
            <a:endParaRPr dirty="0" lang="en-US" smtClean="0">
              <a:latin typeface="Calibri" pitchFamily="34" charset="0"/>
            </a:endParaRPr>
          </a:p>
        </p:txBody>
      </p:sp>
      <p:sp>
        <p:nvSpPr>
          <p:cNvPr id="105016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358" name=""/>
        <p:cNvGrpSpPr/>
        <p:nvPr/>
      </p:nvGrpSpPr>
      <p:grpSpPr>
        <a:xfrm>
          <a:off x="0" y="0"/>
          <a:ext cx="0" cy="0"/>
          <a:chOff x="0" y="0"/>
          <a:chExt cx="0" cy="0"/>
        </a:xfrm>
      </p:grpSpPr>
      <p:sp>
        <p:nvSpPr>
          <p:cNvPr id="1050164" name="Content Placeholder 2"/>
          <p:cNvSpPr>
            <a:spLocks noGrp="1"/>
          </p:cNvSpPr>
          <p:nvPr>
            <p:ph sz="quarter" idx="1"/>
          </p:nvPr>
        </p:nvSpPr>
        <p:spPr>
          <a:xfrm>
            <a:off x="285750" y="381000"/>
            <a:ext cx="10572750" cy="5638800"/>
          </a:xfrm>
        </p:spPr>
        <p:txBody>
          <a:bodyPr/>
          <a:p>
            <a:r>
              <a:rPr dirty="0" lang="en-US" smtClean="0">
                <a:latin typeface="Calibri" pitchFamily="34" charset="0"/>
              </a:rPr>
              <a:t>Assess for shock though ; Vital signs every half hourly, state of skin and level of consciousness.</a:t>
            </a:r>
          </a:p>
          <a:p>
            <a:pPr>
              <a:buFont typeface="Wingdings" pitchFamily="2" charset="2"/>
              <a:buChar char="Ø"/>
            </a:pPr>
            <a:r>
              <a:rPr dirty="0" lang="en-US" smtClean="0">
                <a:latin typeface="Calibri" pitchFamily="34" charset="0"/>
              </a:rPr>
              <a:t>Maintain records, interpret correctly &amp; consult prn.</a:t>
            </a:r>
          </a:p>
          <a:p>
            <a:r>
              <a:rPr dirty="0" lang="en-US" smtClean="0">
                <a:latin typeface="Calibri" pitchFamily="34" charset="0"/>
              </a:rPr>
              <a:t>Shock present: elevate her legs to facilitate circulation to the vital organs.</a:t>
            </a:r>
          </a:p>
          <a:p>
            <a:pPr>
              <a:buFont typeface="Wingdings" pitchFamily="2" charset="2"/>
              <a:buChar char="Ø"/>
            </a:pPr>
            <a:r>
              <a:rPr dirty="0" lang="en-US" smtClean="0">
                <a:latin typeface="Calibri" pitchFamily="34" charset="0"/>
              </a:rPr>
              <a:t>Request for cross match of at least 2units  as well as </a:t>
            </a:r>
            <a:r>
              <a:rPr dirty="0" lang="en-US" err="1" smtClean="0">
                <a:latin typeface="Calibri" pitchFamily="34" charset="0"/>
              </a:rPr>
              <a:t>heamoglobin</a:t>
            </a:r>
            <a:r>
              <a:rPr dirty="0" lang="en-US" smtClean="0">
                <a:latin typeface="Calibri" pitchFamily="34" charset="0"/>
              </a:rPr>
              <a:t> level and clotting profile.</a:t>
            </a:r>
          </a:p>
          <a:p>
            <a:pPr>
              <a:buFont typeface="Wingdings" pitchFamily="2" charset="2"/>
              <a:buChar char="Ø"/>
            </a:pPr>
            <a:r>
              <a:rPr dirty="0" lang="en-US" smtClean="0">
                <a:latin typeface="Calibri" pitchFamily="34" charset="0"/>
              </a:rPr>
              <a:t>Commence plasma expanders e.g </a:t>
            </a:r>
            <a:r>
              <a:rPr dirty="0" lang="en-US" err="1" smtClean="0">
                <a:latin typeface="Calibri" pitchFamily="34" charset="0"/>
              </a:rPr>
              <a:t>dextran</a:t>
            </a:r>
            <a:r>
              <a:rPr dirty="0" lang="en-US" smtClean="0">
                <a:latin typeface="Calibri" pitchFamily="34" charset="0"/>
              </a:rPr>
              <a:t> 70% or haemacel. </a:t>
            </a:r>
            <a:r>
              <a:rPr dirty="0" lang="en-US" smtClean="0">
                <a:solidFill>
                  <a:srgbClr val="C00000"/>
                </a:solidFill>
                <a:latin typeface="Calibri" pitchFamily="34" charset="0"/>
              </a:rPr>
              <a:t>Not available</a:t>
            </a:r>
            <a:r>
              <a:rPr dirty="0" lang="en-US" smtClean="0">
                <a:latin typeface="Calibri" pitchFamily="34" charset="0"/>
              </a:rPr>
              <a:t>, then crystalloid infusion like normal saline  or ringer’s lactate ( </a:t>
            </a:r>
            <a:r>
              <a:rPr dirty="0" lang="en-US" err="1" smtClean="0">
                <a:latin typeface="Calibri" pitchFamily="34" charset="0"/>
              </a:rPr>
              <a:t>hartman’s</a:t>
            </a:r>
            <a:r>
              <a:rPr dirty="0" lang="en-US" smtClean="0">
                <a:latin typeface="Calibri" pitchFamily="34" charset="0"/>
              </a:rPr>
              <a:t>).</a:t>
            </a:r>
            <a:endParaRPr dirty="0" lang="en-US">
              <a:latin typeface="Calibri" pitchFamily="34" charset="0"/>
            </a:endParaRPr>
          </a:p>
        </p:txBody>
      </p:sp>
      <p:sp>
        <p:nvSpPr>
          <p:cNvPr id="105016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359" name=""/>
        <p:cNvGrpSpPr/>
        <p:nvPr/>
      </p:nvGrpSpPr>
      <p:grpSpPr>
        <a:xfrm>
          <a:off x="0" y="0"/>
          <a:ext cx="0" cy="0"/>
          <a:chOff x="0" y="0"/>
          <a:chExt cx="0" cy="0"/>
        </a:xfrm>
      </p:grpSpPr>
      <p:sp>
        <p:nvSpPr>
          <p:cNvPr id="1050166" name="Content Placeholder 2"/>
          <p:cNvSpPr>
            <a:spLocks noGrp="1"/>
          </p:cNvSpPr>
          <p:nvPr>
            <p:ph sz="quarter" idx="1"/>
          </p:nvPr>
        </p:nvSpPr>
        <p:spPr>
          <a:xfrm>
            <a:off x="377191" y="381000"/>
            <a:ext cx="10629900" cy="6019800"/>
          </a:xfrm>
        </p:spPr>
        <p:txBody>
          <a:bodyPr>
            <a:noAutofit/>
          </a:bodyPr>
          <a:p>
            <a:pPr>
              <a:buFont typeface="Wingdings" pitchFamily="2" charset="2"/>
              <a:buChar char="ü"/>
            </a:pPr>
            <a:r>
              <a:rPr dirty="0" sz="3000" lang="en-US" smtClean="0">
                <a:latin typeface="Calibri" pitchFamily="34" charset="0"/>
              </a:rPr>
              <a:t>The  first 2 litres to run in within 1(one) hour ie, at a rate of 1litre every 20-30 minutes. 3</a:t>
            </a:r>
            <a:r>
              <a:rPr baseline="30000" dirty="0" sz="3000" lang="en-US" smtClean="0">
                <a:latin typeface="Calibri" pitchFamily="34" charset="0"/>
              </a:rPr>
              <a:t>rd</a:t>
            </a:r>
            <a:r>
              <a:rPr dirty="0" sz="3000" lang="en-US" smtClean="0">
                <a:latin typeface="Calibri" pitchFamily="34" charset="0"/>
              </a:rPr>
              <a:t> </a:t>
            </a:r>
            <a:r>
              <a:rPr dirty="0" sz="3000" lang="en-US" err="1" smtClean="0">
                <a:latin typeface="Calibri" pitchFamily="34" charset="0"/>
              </a:rPr>
              <a:t>litre</a:t>
            </a:r>
            <a:r>
              <a:rPr dirty="0" sz="3000" lang="en-US" smtClean="0">
                <a:latin typeface="Calibri" pitchFamily="34" charset="0"/>
              </a:rPr>
              <a:t> is infused within 2-4 hours, though the actual rate depends on the patient’s state.</a:t>
            </a:r>
          </a:p>
          <a:p>
            <a:pPr>
              <a:buFont typeface="Wingdings" pitchFamily="2" charset="2"/>
              <a:buChar char="Ø"/>
            </a:pPr>
            <a:r>
              <a:rPr dirty="0" sz="3000" lang="en-US" smtClean="0">
                <a:latin typeface="Calibri" pitchFamily="34" charset="0"/>
              </a:rPr>
              <a:t>Maintain relatively warm, to prevent worsening the state of shock.</a:t>
            </a:r>
          </a:p>
          <a:p>
            <a:r>
              <a:rPr dirty="0" sz="3000" lang="en-US" smtClean="0">
                <a:latin typeface="Calibri" pitchFamily="34" charset="0"/>
              </a:rPr>
              <a:t>Deliver placenta through controlled cord traction, expel clots  and examine the placenta as usual.</a:t>
            </a:r>
          </a:p>
          <a:p>
            <a:pPr>
              <a:buFont typeface="Wingdings" pitchFamily="2" charset="2"/>
              <a:buChar char="v"/>
            </a:pPr>
            <a:r>
              <a:rPr dirty="0" sz="3000" lang="en-US" smtClean="0">
                <a:latin typeface="Calibri" pitchFamily="34" charset="0"/>
              </a:rPr>
              <a:t>For retained placenta due to either partial separation or morbid adherent.</a:t>
            </a:r>
          </a:p>
        </p:txBody>
      </p:sp>
      <p:sp>
        <p:nvSpPr>
          <p:cNvPr id="105016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360" name=""/>
        <p:cNvGrpSpPr/>
        <p:nvPr/>
      </p:nvGrpSpPr>
      <p:grpSpPr>
        <a:xfrm>
          <a:off x="0" y="0"/>
          <a:ext cx="0" cy="0"/>
          <a:chOff x="0" y="0"/>
          <a:chExt cx="0" cy="0"/>
        </a:xfrm>
      </p:grpSpPr>
      <p:sp>
        <p:nvSpPr>
          <p:cNvPr id="1050168" name="Content Placeholder 2"/>
          <p:cNvSpPr>
            <a:spLocks noGrp="1"/>
          </p:cNvSpPr>
          <p:nvPr>
            <p:ph sz="quarter" idx="1"/>
          </p:nvPr>
        </p:nvSpPr>
        <p:spPr>
          <a:xfrm>
            <a:off x="285750" y="381000"/>
            <a:ext cx="10763250" cy="5715000"/>
          </a:xfrm>
        </p:spPr>
        <p:txBody>
          <a:bodyPr>
            <a:noAutofit/>
          </a:bodyPr>
          <a:p>
            <a:r>
              <a:rPr dirty="0" sz="2600" lang="en-US" smtClean="0">
                <a:solidFill>
                  <a:schemeClr val="accent1">
                    <a:lumMod val="50000"/>
                  </a:schemeClr>
                </a:solidFill>
                <a:latin typeface="Calibri" pitchFamily="34" charset="0"/>
              </a:rPr>
              <a:t>For Partial separation: </a:t>
            </a:r>
            <a:r>
              <a:rPr dirty="0" sz="2600" lang="en-US" smtClean="0">
                <a:latin typeface="Calibri" pitchFamily="34" charset="0"/>
              </a:rPr>
              <a:t>manual removal is carried out, preferably by DR under sedation. </a:t>
            </a:r>
          </a:p>
          <a:p>
            <a:pPr>
              <a:buFont typeface="Wingdings" pitchFamily="2" charset="2"/>
              <a:buChar char="Ø"/>
            </a:pPr>
            <a:r>
              <a:rPr dirty="0" sz="2600" lang="en-US" smtClean="0">
                <a:latin typeface="Calibri" pitchFamily="34" charset="0"/>
              </a:rPr>
              <a:t>Thereafter, a single dose of  prophylactic antibiotic, e.g  either ampicillin 2 gm or </a:t>
            </a:r>
            <a:r>
              <a:rPr dirty="0" sz="2600" lang="en-US" err="1" smtClean="0">
                <a:latin typeface="Calibri" pitchFamily="34" charset="0"/>
              </a:rPr>
              <a:t>flagyl</a:t>
            </a:r>
            <a:r>
              <a:rPr dirty="0" sz="2600" lang="en-US" smtClean="0">
                <a:latin typeface="Calibri" pitchFamily="34" charset="0"/>
              </a:rPr>
              <a:t> 500 mg intravenously is </a:t>
            </a:r>
            <a:r>
              <a:rPr dirty="0" sz="2600" lang="en-US" err="1" smtClean="0">
                <a:latin typeface="Calibri" pitchFamily="34" charset="0"/>
              </a:rPr>
              <a:t>administered,to</a:t>
            </a:r>
            <a:r>
              <a:rPr dirty="0" sz="2600" lang="en-US" smtClean="0">
                <a:latin typeface="Calibri" pitchFamily="34" charset="0"/>
              </a:rPr>
              <a:t> prevent uterine infection.</a:t>
            </a:r>
          </a:p>
          <a:p>
            <a:pPr>
              <a:buFont typeface="Wingdings" pitchFamily="2" charset="2"/>
              <a:buChar char="v"/>
            </a:pPr>
            <a:r>
              <a:rPr dirty="0" sz="2600" lang="en-US" smtClean="0">
                <a:latin typeface="Calibri" pitchFamily="34" charset="0"/>
              </a:rPr>
              <a:t> Alternatively, a regular dose is prescribed for 5 days.</a:t>
            </a:r>
          </a:p>
          <a:p>
            <a:pPr>
              <a:buNone/>
            </a:pPr>
            <a:r>
              <a:rPr dirty="0" sz="2600" lang="en-US" smtClean="0">
                <a:latin typeface="Calibri" pitchFamily="34" charset="0"/>
              </a:rPr>
              <a:t>	</a:t>
            </a:r>
            <a:r>
              <a:rPr b="1" dirty="0" sz="2600" lang="en-US" smtClean="0">
                <a:latin typeface="Calibri" pitchFamily="34" charset="0"/>
              </a:rPr>
              <a:t>To  carry out manual removal correctly:</a:t>
            </a:r>
          </a:p>
          <a:p>
            <a:pPr>
              <a:buFont typeface="Wingdings" pitchFamily="2" charset="2"/>
              <a:buChar char="§"/>
            </a:pPr>
            <a:r>
              <a:rPr dirty="0" sz="2600" lang="en-US" smtClean="0">
                <a:latin typeface="Calibri" pitchFamily="34" charset="0"/>
              </a:rPr>
              <a:t> strictly observe aseptic technique and follow the cord to easily locate the placenta.</a:t>
            </a:r>
          </a:p>
          <a:p>
            <a:pPr>
              <a:buFont typeface="Wingdings" pitchFamily="2" charset="2"/>
              <a:buChar char="§"/>
            </a:pPr>
            <a:r>
              <a:rPr dirty="0" sz="2600" lang="en-US" smtClean="0">
                <a:latin typeface="Calibri" pitchFamily="34" charset="0"/>
              </a:rPr>
              <a:t> Abdominally, support the </a:t>
            </a:r>
            <a:r>
              <a:rPr dirty="0" sz="2600" lang="en-US" err="1" smtClean="0">
                <a:latin typeface="Calibri" pitchFamily="34" charset="0"/>
              </a:rPr>
              <a:t>fundus</a:t>
            </a:r>
            <a:r>
              <a:rPr dirty="0" sz="2600" lang="en-US" smtClean="0">
                <a:latin typeface="Calibri" pitchFamily="34" charset="0"/>
              </a:rPr>
              <a:t> with the left hand to prevent uterine inversion.</a:t>
            </a:r>
          </a:p>
          <a:p>
            <a:pPr>
              <a:buNone/>
            </a:pPr>
            <a:endParaRPr dirty="0" sz="2600" lang="en-US">
              <a:latin typeface="Calibri" pitchFamily="34" charset="0"/>
            </a:endParaRPr>
          </a:p>
        </p:txBody>
      </p:sp>
      <p:sp>
        <p:nvSpPr>
          <p:cNvPr id="105016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361" name=""/>
        <p:cNvGrpSpPr/>
        <p:nvPr/>
      </p:nvGrpSpPr>
      <p:grpSpPr>
        <a:xfrm>
          <a:off x="0" y="0"/>
          <a:ext cx="0" cy="0"/>
          <a:chOff x="0" y="0"/>
          <a:chExt cx="0" cy="0"/>
        </a:xfrm>
      </p:grpSpPr>
      <p:sp>
        <p:nvSpPr>
          <p:cNvPr id="1050170" name="Content Placeholder 2"/>
          <p:cNvSpPr>
            <a:spLocks noGrp="1"/>
          </p:cNvSpPr>
          <p:nvPr>
            <p:ph sz="quarter" idx="1"/>
          </p:nvPr>
        </p:nvSpPr>
        <p:spPr>
          <a:xfrm>
            <a:off x="381000" y="228600"/>
            <a:ext cx="10477500" cy="5791200"/>
          </a:xfrm>
        </p:spPr>
        <p:txBody>
          <a:bodyPr>
            <a:normAutofit/>
          </a:bodyPr>
          <a:p>
            <a:pPr>
              <a:buFont typeface="Wingdings" pitchFamily="2" charset="2"/>
              <a:buChar char="§"/>
            </a:pPr>
            <a:r>
              <a:rPr dirty="0" sz="3200" lang="en-US" smtClean="0">
                <a:latin typeface="Calibri" pitchFamily="34" charset="0"/>
              </a:rPr>
              <a:t> Locate the separated edge and gently detach. using the </a:t>
            </a:r>
            <a:r>
              <a:rPr dirty="0" sz="3200" lang="en-US" err="1" smtClean="0">
                <a:latin typeface="Calibri" pitchFamily="34" charset="0"/>
              </a:rPr>
              <a:t>ulnar</a:t>
            </a:r>
            <a:r>
              <a:rPr dirty="0" sz="3200" lang="en-US" smtClean="0">
                <a:latin typeface="Calibri" pitchFamily="34" charset="0"/>
              </a:rPr>
              <a:t> surface of the hand ,slice it  in a side-ways movement.</a:t>
            </a:r>
          </a:p>
          <a:p>
            <a:pPr>
              <a:buFont typeface="Wingdings" pitchFamily="2" charset="2"/>
              <a:buChar char="§"/>
            </a:pPr>
            <a:r>
              <a:rPr dirty="0" sz="3200" lang="en-US" smtClean="0">
                <a:latin typeface="Calibri" pitchFamily="34" charset="0"/>
              </a:rPr>
              <a:t>Immediately complete separation is achieved, gently rub up for a contraction by massaging the </a:t>
            </a:r>
            <a:r>
              <a:rPr dirty="0" sz="3200" lang="en-US" err="1" smtClean="0">
                <a:latin typeface="Calibri" pitchFamily="34" charset="0"/>
              </a:rPr>
              <a:t>fundus</a:t>
            </a:r>
            <a:r>
              <a:rPr dirty="0" sz="3200" lang="en-US" smtClean="0">
                <a:latin typeface="Calibri" pitchFamily="34" charset="0"/>
              </a:rPr>
              <a:t> abdominally.</a:t>
            </a:r>
          </a:p>
          <a:p>
            <a:pPr>
              <a:buFont typeface="Wingdings" pitchFamily="2" charset="2"/>
              <a:buChar char="§"/>
            </a:pPr>
            <a:r>
              <a:rPr dirty="0" sz="3200" lang="en-US" smtClean="0">
                <a:latin typeface="Calibri" pitchFamily="34" charset="0"/>
              </a:rPr>
              <a:t>The right hand comes out with the placenta.</a:t>
            </a:r>
          </a:p>
          <a:p>
            <a:pPr>
              <a:buFont typeface="Wingdings" pitchFamily="2" charset="2"/>
              <a:buChar char="§"/>
            </a:pPr>
            <a:r>
              <a:rPr dirty="0" sz="3200" lang="en-US" smtClean="0">
                <a:latin typeface="Calibri" pitchFamily="34" charset="0"/>
              </a:rPr>
              <a:t> Excessive bleeding persists, administer a 2</a:t>
            </a:r>
            <a:r>
              <a:rPr baseline="30000" dirty="0" sz="3200" lang="en-US" smtClean="0">
                <a:latin typeface="Calibri" pitchFamily="34" charset="0"/>
              </a:rPr>
              <a:t>nd</a:t>
            </a:r>
            <a:r>
              <a:rPr dirty="0" sz="3200" lang="en-US" smtClean="0">
                <a:latin typeface="Calibri" pitchFamily="34" charset="0"/>
              </a:rPr>
              <a:t> dose of synitocinon, as long as it’s after 20 minutes since the first dose. CT synitocinon infusion.</a:t>
            </a:r>
          </a:p>
          <a:p>
            <a:pPr>
              <a:buFont typeface="Wingdings" pitchFamily="2" charset="2"/>
              <a:buChar char="§"/>
            </a:pPr>
            <a:r>
              <a:rPr dirty="0" sz="3200" lang="en-US" smtClean="0">
                <a:latin typeface="Calibri" pitchFamily="34" charset="0"/>
              </a:rPr>
              <a:t> Severe bleeding persists, do either bimanual  or aortic compression for 10-15 minutes.</a:t>
            </a:r>
          </a:p>
        </p:txBody>
      </p:sp>
      <p:sp>
        <p:nvSpPr>
          <p:cNvPr id="105017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362" name=""/>
        <p:cNvGrpSpPr/>
        <p:nvPr/>
      </p:nvGrpSpPr>
      <p:grpSpPr>
        <a:xfrm>
          <a:off x="0" y="0"/>
          <a:ext cx="0" cy="0"/>
          <a:chOff x="0" y="0"/>
          <a:chExt cx="0" cy="0"/>
        </a:xfrm>
      </p:grpSpPr>
      <p:sp>
        <p:nvSpPr>
          <p:cNvPr id="1050172" name="Content Placeholder 2"/>
          <p:cNvSpPr>
            <a:spLocks noGrp="1"/>
          </p:cNvSpPr>
          <p:nvPr>
            <p:ph sz="quarter" idx="1"/>
          </p:nvPr>
        </p:nvSpPr>
        <p:spPr>
          <a:xfrm>
            <a:off x="377191" y="381000"/>
            <a:ext cx="10629900" cy="6096000"/>
          </a:xfrm>
        </p:spPr>
        <p:txBody>
          <a:bodyPr>
            <a:noAutofit/>
          </a:bodyPr>
          <a:p>
            <a:pPr>
              <a:buNone/>
            </a:pPr>
            <a:r>
              <a:rPr dirty="0" sz="3200" lang="en-US" smtClean="0">
                <a:latin typeface="Calibri" pitchFamily="34" charset="0"/>
              </a:rPr>
              <a:t>	</a:t>
            </a:r>
          </a:p>
          <a:p>
            <a:pPr>
              <a:buFont typeface="Wingdings" pitchFamily="2" charset="2"/>
              <a:buChar char="Ø"/>
            </a:pPr>
            <a:r>
              <a:rPr dirty="0" sz="3200" lang="en-US" smtClean="0">
                <a:latin typeface="Calibri" pitchFamily="34" charset="0"/>
              </a:rPr>
              <a:t> For the latter, abdominal aorta is compressed just above the umbilicus and slightly to the left using a fist.</a:t>
            </a:r>
          </a:p>
          <a:p>
            <a:pPr>
              <a:buFont typeface="Wingdings" pitchFamily="2" charset="2"/>
              <a:buChar char="v"/>
            </a:pPr>
            <a:r>
              <a:rPr dirty="0" sz="3200" lang="en-US" smtClean="0">
                <a:latin typeface="Calibri" pitchFamily="34" charset="0"/>
              </a:rPr>
              <a:t>Effectiveness of the procedure is determined by femoral pulse being </a:t>
            </a:r>
            <a:r>
              <a:rPr dirty="0" sz="3200" lang="en-US" err="1" smtClean="0">
                <a:latin typeface="Calibri" pitchFamily="34" charset="0"/>
              </a:rPr>
              <a:t>unpalpable</a:t>
            </a:r>
            <a:r>
              <a:rPr dirty="0" sz="3200" lang="en-US" smtClean="0">
                <a:latin typeface="Calibri" pitchFamily="34" charset="0"/>
              </a:rPr>
              <a:t> and control of bleeding.</a:t>
            </a:r>
          </a:p>
          <a:p>
            <a:r>
              <a:rPr dirty="0" sz="3200" lang="en-US" smtClean="0">
                <a:solidFill>
                  <a:schemeClr val="accent1">
                    <a:lumMod val="50000"/>
                  </a:schemeClr>
                </a:solidFill>
                <a:latin typeface="Calibri" pitchFamily="34" charset="0"/>
              </a:rPr>
              <a:t>Completely adherent:</a:t>
            </a:r>
          </a:p>
          <a:p>
            <a:pPr>
              <a:buFont typeface="Wingdings" pitchFamily="2" charset="2"/>
              <a:buChar char="Ø"/>
            </a:pPr>
            <a:r>
              <a:rPr dirty="0" sz="3200" lang="en-US" smtClean="0">
                <a:latin typeface="Calibri" pitchFamily="34" charset="0"/>
              </a:rPr>
              <a:t> No bleeding occurs but the main danger is partial separation hence profuse blood loss.</a:t>
            </a:r>
          </a:p>
          <a:p>
            <a:pPr>
              <a:buFont typeface="Wingdings" pitchFamily="2" charset="2"/>
              <a:buChar char="Ø"/>
            </a:pPr>
            <a:r>
              <a:rPr dirty="0" sz="3200" lang="en-US" smtClean="0">
                <a:latin typeface="Calibri" pitchFamily="34" charset="0"/>
              </a:rPr>
              <a:t>So inform the DR and removal is carried out in theatre, depending with the degree of anchoring </a:t>
            </a:r>
            <a:r>
              <a:rPr dirty="0" sz="3200" lang="en-US" err="1" smtClean="0">
                <a:latin typeface="Calibri" pitchFamily="34" charset="0"/>
              </a:rPr>
              <a:t>villi</a:t>
            </a:r>
            <a:r>
              <a:rPr dirty="0" sz="3200" lang="en-US" smtClean="0">
                <a:latin typeface="Calibri" pitchFamily="34" charset="0"/>
              </a:rPr>
              <a:t> penetration. </a:t>
            </a:r>
            <a:endParaRPr dirty="0" sz="3200" lang="en-US">
              <a:latin typeface="Calibri" pitchFamily="34" charset="0"/>
            </a:endParaRPr>
          </a:p>
        </p:txBody>
      </p:sp>
      <p:sp>
        <p:nvSpPr>
          <p:cNvPr id="105017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363" name=""/>
        <p:cNvGrpSpPr/>
        <p:nvPr/>
      </p:nvGrpSpPr>
      <p:grpSpPr>
        <a:xfrm>
          <a:off x="0" y="0"/>
          <a:ext cx="0" cy="0"/>
          <a:chOff x="0" y="0"/>
          <a:chExt cx="0" cy="0"/>
        </a:xfrm>
      </p:grpSpPr>
      <p:sp>
        <p:nvSpPr>
          <p:cNvPr id="1050174" name="Content Placeholder 2"/>
          <p:cNvSpPr>
            <a:spLocks noGrp="1"/>
          </p:cNvSpPr>
          <p:nvPr>
            <p:ph sz="quarter" idx="1"/>
          </p:nvPr>
        </p:nvSpPr>
        <p:spPr>
          <a:xfrm>
            <a:off x="381000" y="304800"/>
            <a:ext cx="10477500" cy="5715000"/>
          </a:xfrm>
        </p:spPr>
        <p:txBody>
          <a:bodyPr/>
          <a:p>
            <a:r>
              <a:rPr dirty="0" lang="en-US" smtClean="0">
                <a:latin typeface="Calibri" pitchFamily="34" charset="0"/>
              </a:rPr>
              <a:t> For </a:t>
            </a:r>
            <a:r>
              <a:rPr dirty="0" lang="en-US" err="1" smtClean="0">
                <a:latin typeface="Calibri" pitchFamily="34" charset="0"/>
              </a:rPr>
              <a:t>accreta</a:t>
            </a:r>
            <a:r>
              <a:rPr dirty="0" lang="en-US" smtClean="0">
                <a:latin typeface="Calibri" pitchFamily="34" charset="0"/>
              </a:rPr>
              <a:t> type, removal is by either blunt </a:t>
            </a:r>
            <a:r>
              <a:rPr dirty="0" lang="en-US" err="1" smtClean="0">
                <a:latin typeface="Calibri" pitchFamily="34" charset="0"/>
              </a:rPr>
              <a:t>currete</a:t>
            </a:r>
            <a:r>
              <a:rPr dirty="0" lang="en-US" smtClean="0">
                <a:latin typeface="Calibri" pitchFamily="34" charset="0"/>
              </a:rPr>
              <a:t> or ovum </a:t>
            </a:r>
            <a:r>
              <a:rPr dirty="0" lang="en-US" err="1" smtClean="0">
                <a:latin typeface="Calibri" pitchFamily="34" charset="0"/>
              </a:rPr>
              <a:t>forcep</a:t>
            </a:r>
            <a:r>
              <a:rPr dirty="0" lang="en-US" smtClean="0">
                <a:latin typeface="Calibri" pitchFamily="34" charset="0"/>
              </a:rPr>
              <a:t> .</a:t>
            </a:r>
          </a:p>
          <a:p>
            <a:r>
              <a:rPr dirty="0" lang="en-US" smtClean="0">
                <a:latin typeface="Calibri" pitchFamily="34" charset="0"/>
              </a:rPr>
              <a:t>For </a:t>
            </a:r>
            <a:r>
              <a:rPr dirty="0" lang="en-US" err="1" smtClean="0">
                <a:latin typeface="Calibri" pitchFamily="34" charset="0"/>
              </a:rPr>
              <a:t>increta</a:t>
            </a:r>
            <a:r>
              <a:rPr dirty="0" lang="en-US" smtClean="0">
                <a:latin typeface="Calibri" pitchFamily="34" charset="0"/>
              </a:rPr>
              <a:t> &amp; </a:t>
            </a:r>
            <a:r>
              <a:rPr dirty="0" lang="en-US" err="1" smtClean="0">
                <a:latin typeface="Calibri" pitchFamily="34" charset="0"/>
              </a:rPr>
              <a:t>percreta</a:t>
            </a:r>
            <a:r>
              <a:rPr dirty="0" lang="en-US" smtClean="0">
                <a:latin typeface="Calibri" pitchFamily="34" charset="0"/>
              </a:rPr>
              <a:t>, either subtotal hysterectomy is done, or placenta is left in place, to be absorbed under very high doses of strong antibiotics.</a:t>
            </a:r>
          </a:p>
          <a:p>
            <a:pPr>
              <a:buFont typeface="Wingdings" pitchFamily="2" charset="2"/>
              <a:buChar char="v"/>
            </a:pPr>
            <a:r>
              <a:rPr dirty="0" lang="en-US" smtClean="0">
                <a:latin typeface="Calibri" pitchFamily="34" charset="0"/>
              </a:rPr>
              <a:t>Generally, failure to achieve control of excessive bleeding leads to:</a:t>
            </a:r>
          </a:p>
          <a:p>
            <a:pPr>
              <a:buFont typeface="Wingdings" pitchFamily="2" charset="2"/>
              <a:buChar char="Ø"/>
            </a:pPr>
            <a:r>
              <a:rPr dirty="0" lang="en-US" err="1" smtClean="0">
                <a:latin typeface="Calibri" pitchFamily="34" charset="0"/>
              </a:rPr>
              <a:t>Laparatomy</a:t>
            </a:r>
            <a:r>
              <a:rPr dirty="0" lang="en-US" smtClean="0">
                <a:latin typeface="Calibri" pitchFamily="34" charset="0"/>
              </a:rPr>
              <a:t> ,followed by ligation of uterine, ovarian and internal iliac blood vessels.</a:t>
            </a:r>
          </a:p>
          <a:p>
            <a:pPr>
              <a:buFont typeface="Wingdings" pitchFamily="2" charset="2"/>
              <a:buChar char="Ø"/>
            </a:pPr>
            <a:r>
              <a:rPr dirty="0" lang="en-US" smtClean="0">
                <a:latin typeface="Calibri" pitchFamily="34" charset="0"/>
              </a:rPr>
              <a:t>Hysterectomy to safe life.</a:t>
            </a:r>
          </a:p>
          <a:p>
            <a:pPr>
              <a:buNone/>
            </a:pPr>
            <a:endParaRPr dirty="0" lang="en-US">
              <a:latin typeface="Calibri" pitchFamily="34" charset="0"/>
            </a:endParaRPr>
          </a:p>
        </p:txBody>
      </p:sp>
      <p:sp>
        <p:nvSpPr>
          <p:cNvPr id="105017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380" name=""/>
        <p:cNvGrpSpPr/>
        <p:nvPr/>
      </p:nvGrpSpPr>
      <p:grpSpPr>
        <a:xfrm>
          <a:off x="0" y="0"/>
          <a:ext cx="0" cy="0"/>
          <a:chOff x="0" y="0"/>
          <a:chExt cx="0" cy="0"/>
        </a:xfrm>
      </p:grpSpPr>
      <p:sp>
        <p:nvSpPr>
          <p:cNvPr id="1050204" name="Title 1"/>
          <p:cNvSpPr>
            <a:spLocks noGrp="1"/>
          </p:cNvSpPr>
          <p:nvPr>
            <p:ph type="title"/>
          </p:nvPr>
        </p:nvSpPr>
        <p:spPr/>
        <p:txBody>
          <a:bodyPr/>
          <a:p>
            <a:r>
              <a:rPr dirty="0" lang="en-US" smtClean="0">
                <a:solidFill>
                  <a:srgbClr val="07B549"/>
                </a:solidFill>
              </a:rPr>
              <a:t>Bimanual uterine compression</a:t>
            </a:r>
            <a:endParaRPr dirty="0" lang="en-US">
              <a:solidFill>
                <a:srgbClr val="07B549"/>
              </a:solidFill>
            </a:endParaRPr>
          </a:p>
        </p:txBody>
      </p:sp>
      <p:pic>
        <p:nvPicPr>
          <p:cNvPr id="2097168" name="Picture 2"/>
          <p:cNvPicPr>
            <a:picLocks noChangeAspect="1" noGrp="1" noChangeArrowheads="1"/>
          </p:cNvPicPr>
          <p:nvPr>
            <p:ph sz="quarter" idx="1"/>
          </p:nvPr>
        </p:nvPicPr>
        <p:blipFill>
          <a:blip xmlns:r="http://schemas.openxmlformats.org/officeDocument/2006/relationships" r:embed="rId1" cstate="print"/>
          <a:srcRect/>
          <a:stretch>
            <a:fillRect/>
          </a:stretch>
        </p:blipFill>
        <p:spPr bwMode="auto">
          <a:xfrm>
            <a:off x="285750" y="1524000"/>
            <a:ext cx="10763250" cy="4876800"/>
          </a:xfrm>
          <a:prstGeom prst="rect"/>
          <a:ln w="88900" cap="sq" cmpd="thickThin">
            <a:solidFill>
              <a:srgbClr val="07B549"/>
            </a:solidFill>
            <a:prstDash val="solid"/>
            <a:miter lim="800000"/>
          </a:ln>
          <a:effectLst>
            <a:innerShdw blurRad="76200">
              <a:srgbClr val="000000"/>
            </a:innerShdw>
          </a:effectLst>
          <a:scene3d>
            <a:camera prst="orthographicFront"/>
            <a:lightRig dir="t" rig="threePt"/>
          </a:scene3d>
          <a:sp3d>
            <a:bevelT prst="convex"/>
          </a:sp3d>
        </p:spPr>
      </p:pic>
      <p:sp>
        <p:nvSpPr>
          <p:cNvPr id="1050205"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381" name=""/>
        <p:cNvGrpSpPr/>
        <p:nvPr/>
      </p:nvGrpSpPr>
      <p:grpSpPr>
        <a:xfrm>
          <a:off x="0" y="0"/>
          <a:ext cx="0" cy="0"/>
          <a:chOff x="0" y="0"/>
          <a:chExt cx="0" cy="0"/>
        </a:xfrm>
      </p:grpSpPr>
      <p:sp>
        <p:nvSpPr>
          <p:cNvPr id="1050206" name="Title 1"/>
          <p:cNvSpPr>
            <a:spLocks noGrp="1"/>
          </p:cNvSpPr>
          <p:nvPr>
            <p:ph type="title"/>
          </p:nvPr>
        </p:nvSpPr>
        <p:spPr/>
        <p:txBody>
          <a:bodyPr/>
          <a:p>
            <a:r>
              <a:rPr dirty="0" sz="3600" i="1" lang="en-US" smtClean="0">
                <a:solidFill>
                  <a:srgbClr val="660066"/>
                </a:solidFill>
              </a:rPr>
              <a:t>Subsequent  care</a:t>
            </a:r>
            <a:endParaRPr dirty="0" lang="en-US">
              <a:solidFill>
                <a:srgbClr val="660066"/>
              </a:solidFill>
            </a:endParaRPr>
          </a:p>
        </p:txBody>
      </p:sp>
      <p:sp>
        <p:nvSpPr>
          <p:cNvPr id="1050207" name="Content Placeholder 2"/>
          <p:cNvSpPr>
            <a:spLocks noGrp="1"/>
          </p:cNvSpPr>
          <p:nvPr>
            <p:ph sz="quarter" idx="1"/>
          </p:nvPr>
        </p:nvSpPr>
        <p:spPr>
          <a:xfrm>
            <a:off x="476250" y="1371600"/>
            <a:ext cx="10953750" cy="5486400"/>
          </a:xfrm>
        </p:spPr>
        <p:txBody>
          <a:bodyPr>
            <a:noAutofit/>
          </a:bodyPr>
          <a:p>
            <a:r>
              <a:rPr dirty="0" sz="2800" lang="en-US" smtClean="0">
                <a:latin typeface="Calibri" pitchFamily="34" charset="0"/>
              </a:rPr>
              <a:t>Closely monitor the patient for sometimes in labour ward and ensure comfort.</a:t>
            </a:r>
          </a:p>
          <a:p>
            <a:pPr>
              <a:buFont typeface="Wingdings" pitchFamily="2" charset="2"/>
              <a:buChar char="Ø"/>
            </a:pPr>
            <a:r>
              <a:rPr dirty="0" sz="2800" lang="en-US" smtClean="0">
                <a:latin typeface="Calibri" pitchFamily="34" charset="0"/>
              </a:rPr>
              <a:t> The specific observations are:</a:t>
            </a:r>
          </a:p>
          <a:p>
            <a:pPr>
              <a:buFont typeface="Wingdings" pitchFamily="2" charset="2"/>
              <a:buChar char="ü"/>
            </a:pPr>
            <a:r>
              <a:rPr dirty="0" sz="2800" lang="en-US" smtClean="0">
                <a:latin typeface="Calibri" pitchFamily="34" charset="0"/>
              </a:rPr>
              <a:t>Vital signs every ½ hourly for 2 hours, thereafter frequency depends on the results.</a:t>
            </a:r>
          </a:p>
          <a:p>
            <a:pPr>
              <a:buFont typeface="Wingdings" pitchFamily="2" charset="2"/>
              <a:buChar char="ü"/>
            </a:pPr>
            <a:r>
              <a:rPr dirty="0" sz="2800" lang="en-US" smtClean="0">
                <a:latin typeface="Calibri" pitchFamily="34" charset="0"/>
              </a:rPr>
              <a:t>State of uterus and nature of lochia.</a:t>
            </a:r>
          </a:p>
          <a:p>
            <a:pPr>
              <a:buFont typeface="Wingdings" pitchFamily="2" charset="2"/>
              <a:buChar char="ü"/>
            </a:pPr>
            <a:r>
              <a:rPr dirty="0" sz="2800" lang="en-US" smtClean="0">
                <a:latin typeface="Calibri" pitchFamily="34" charset="0"/>
              </a:rPr>
              <a:t>Elimination, hourly voiding to maintain uterus well contracted.</a:t>
            </a:r>
          </a:p>
          <a:p>
            <a:pPr>
              <a:buFont typeface="Wingdings" pitchFamily="2" charset="2"/>
              <a:buChar char="ü"/>
            </a:pPr>
            <a:r>
              <a:rPr dirty="0" sz="2800" lang="en-US" smtClean="0">
                <a:latin typeface="Calibri" pitchFamily="34" charset="0"/>
              </a:rPr>
              <a:t>Signs of anaemia, through pallor &amp; h/o dizziness.</a:t>
            </a:r>
            <a:endParaRPr dirty="0" sz="2800" lang="en-US">
              <a:latin typeface="Calibri" pitchFamily="34" charset="0"/>
            </a:endParaRPr>
          </a:p>
        </p:txBody>
      </p:sp>
      <p:sp>
        <p:nvSpPr>
          <p:cNvPr id="1050208"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382" name=""/>
        <p:cNvGrpSpPr/>
        <p:nvPr/>
      </p:nvGrpSpPr>
      <p:grpSpPr>
        <a:xfrm>
          <a:off x="0" y="0"/>
          <a:ext cx="0" cy="0"/>
          <a:chOff x="0" y="0"/>
          <a:chExt cx="0" cy="0"/>
        </a:xfrm>
      </p:grpSpPr>
      <p:sp>
        <p:nvSpPr>
          <p:cNvPr id="1050209" name="Content Placeholder 2"/>
          <p:cNvSpPr>
            <a:spLocks noGrp="1"/>
          </p:cNvSpPr>
          <p:nvPr>
            <p:ph sz="quarter" idx="1"/>
          </p:nvPr>
        </p:nvSpPr>
        <p:spPr>
          <a:xfrm>
            <a:off x="285750" y="228600"/>
            <a:ext cx="10572750" cy="5791200"/>
          </a:xfrm>
        </p:spPr>
        <p:txBody>
          <a:bodyPr>
            <a:noAutofit/>
          </a:bodyPr>
          <a:p>
            <a:r>
              <a:rPr dirty="0" sz="2800" lang="en-US" smtClean="0">
                <a:latin typeface="Calibri" pitchFamily="34" charset="0"/>
              </a:rPr>
              <a:t>Maintain relative warm and encourage oral feeding.</a:t>
            </a:r>
          </a:p>
          <a:p>
            <a:r>
              <a:rPr dirty="0" sz="2800" lang="en-US" smtClean="0">
                <a:latin typeface="Calibri" pitchFamily="34" charset="0"/>
              </a:rPr>
              <a:t>Continue plasma expander for about 2 hours and transfuse as necessary.</a:t>
            </a:r>
          </a:p>
          <a:p>
            <a:r>
              <a:rPr dirty="0" sz="2800" lang="en-US" smtClean="0">
                <a:latin typeface="Calibri" pitchFamily="34" charset="0"/>
              </a:rPr>
              <a:t>Maintain high standards of hygiene.</a:t>
            </a:r>
          </a:p>
          <a:p>
            <a:r>
              <a:rPr dirty="0" sz="2800" lang="en-US" smtClean="0">
                <a:latin typeface="Calibri" pitchFamily="34" charset="0"/>
              </a:rPr>
              <a:t>Administer prophylactic broad spectrum antibiotic e.g ampicillin 500 mg orally every 6 hourly for 5 days. Also haematinics to prevent anaemia.</a:t>
            </a:r>
          </a:p>
          <a:p>
            <a:r>
              <a:rPr dirty="0" sz="2800" lang="en-US" smtClean="0">
                <a:latin typeface="Calibri" pitchFamily="34" charset="0"/>
              </a:rPr>
              <a:t>Offer psychological support to allay anxiety.</a:t>
            </a:r>
          </a:p>
          <a:p>
            <a:r>
              <a:rPr dirty="0" sz="2800" lang="en-US" smtClean="0">
                <a:latin typeface="Calibri" pitchFamily="34" charset="0"/>
              </a:rPr>
              <a:t>Promote breastfeeding hence uterine contractions are maintained. </a:t>
            </a:r>
            <a:endParaRPr dirty="0" sz="2800" lang="en-US">
              <a:latin typeface="Calibri" pitchFamily="34" charset="0"/>
            </a:endParaRPr>
          </a:p>
        </p:txBody>
      </p:sp>
      <p:sp>
        <p:nvSpPr>
          <p:cNvPr id="105021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383" name=""/>
        <p:cNvGrpSpPr/>
        <p:nvPr/>
      </p:nvGrpSpPr>
      <p:grpSpPr>
        <a:xfrm>
          <a:off x="0" y="0"/>
          <a:ext cx="0" cy="0"/>
          <a:chOff x="0" y="0"/>
          <a:chExt cx="0" cy="0"/>
        </a:xfrm>
      </p:grpSpPr>
      <p:sp>
        <p:nvSpPr>
          <p:cNvPr id="1050211" name="Content Placeholder 2"/>
          <p:cNvSpPr>
            <a:spLocks noGrp="1"/>
          </p:cNvSpPr>
          <p:nvPr>
            <p:ph sz="quarter" idx="1"/>
          </p:nvPr>
        </p:nvSpPr>
        <p:spPr>
          <a:xfrm>
            <a:off x="381000" y="0"/>
            <a:ext cx="10477500" cy="6019800"/>
          </a:xfrm>
        </p:spPr>
        <p:txBody>
          <a:bodyPr>
            <a:noAutofit/>
          </a:bodyPr>
          <a:p>
            <a:r>
              <a:rPr dirty="0" sz="3200" lang="en-US" smtClean="0">
                <a:latin typeface="Calibri" pitchFamily="34" charset="0"/>
              </a:rPr>
              <a:t>Regularly evaluate the condition and finally transfer to the postnatal ward for continuity of care.</a:t>
            </a:r>
          </a:p>
          <a:p>
            <a:r>
              <a:rPr dirty="0" sz="3200" lang="en-US" smtClean="0">
                <a:latin typeface="Calibri" pitchFamily="34" charset="0"/>
              </a:rPr>
              <a:t>Continue with daily examination, particularly to monitor for signs of anaemia, infection, state of lactation and progress of the involution process, then report accurately.</a:t>
            </a:r>
          </a:p>
          <a:p>
            <a:r>
              <a:rPr dirty="0" sz="3200" lang="en-US" smtClean="0">
                <a:latin typeface="Calibri" pitchFamily="34" charset="0"/>
              </a:rPr>
              <a:t>Educate on various danger signs e.g recurrence of excessive per vaginal bleeding, dizziness, signs of  sepsis among others .</a:t>
            </a:r>
          </a:p>
        </p:txBody>
      </p:sp>
      <p:sp>
        <p:nvSpPr>
          <p:cNvPr id="105021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384" name=""/>
        <p:cNvGrpSpPr/>
        <p:nvPr/>
      </p:nvGrpSpPr>
      <p:grpSpPr>
        <a:xfrm>
          <a:off x="0" y="0"/>
          <a:ext cx="0" cy="0"/>
          <a:chOff x="0" y="0"/>
          <a:chExt cx="0" cy="0"/>
        </a:xfrm>
      </p:grpSpPr>
      <p:sp>
        <p:nvSpPr>
          <p:cNvPr id="1050213" name="Content Placeholder 4"/>
          <p:cNvSpPr>
            <a:spLocks noGrp="1"/>
          </p:cNvSpPr>
          <p:nvPr>
            <p:ph sz="quarter" idx="1"/>
          </p:nvPr>
        </p:nvSpPr>
        <p:spPr>
          <a:xfrm>
            <a:off x="381000" y="228600"/>
            <a:ext cx="10477500" cy="5791200"/>
          </a:xfrm>
        </p:spPr>
        <p:txBody>
          <a:bodyPr>
            <a:normAutofit/>
          </a:bodyPr>
          <a:p>
            <a:pPr>
              <a:buFont typeface="Wingdings" pitchFamily="2" charset="2"/>
              <a:buChar char="Ø"/>
            </a:pPr>
            <a:r>
              <a:rPr dirty="0" sz="3200" lang="en-US" smtClean="0">
                <a:latin typeface="Calibri" pitchFamily="34" charset="0"/>
              </a:rPr>
              <a:t> Emphasis on prompt reporting.</a:t>
            </a:r>
          </a:p>
          <a:p>
            <a:r>
              <a:rPr dirty="0" sz="3200" lang="en-US" smtClean="0">
                <a:latin typeface="Calibri" pitchFamily="34" charset="0"/>
              </a:rPr>
              <a:t>Recheck HB on the 3</a:t>
            </a:r>
            <a:r>
              <a:rPr baseline="30000" dirty="0" sz="3200" lang="en-US" smtClean="0">
                <a:latin typeface="Calibri" pitchFamily="34" charset="0"/>
              </a:rPr>
              <a:t>rd</a:t>
            </a:r>
            <a:r>
              <a:rPr dirty="0" sz="3200" lang="en-US" smtClean="0">
                <a:latin typeface="Calibri" pitchFamily="34" charset="0"/>
              </a:rPr>
              <a:t> day to determine need for further action.</a:t>
            </a:r>
          </a:p>
          <a:p>
            <a:r>
              <a:rPr dirty="0" sz="3200" lang="en-US" smtClean="0">
                <a:latin typeface="Calibri" pitchFamily="34" charset="0"/>
              </a:rPr>
              <a:t>Eventually, prepare for discharge by sharing on:</a:t>
            </a:r>
          </a:p>
          <a:p>
            <a:pPr>
              <a:buFont typeface="Wingdings" pitchFamily="2" charset="2"/>
              <a:buChar char="Ø"/>
            </a:pPr>
            <a:r>
              <a:rPr dirty="0" sz="3200" lang="en-US" smtClean="0">
                <a:latin typeface="Calibri" pitchFamily="34" charset="0"/>
              </a:rPr>
              <a:t>Hygiene, diet, rest ambulation/exercise.</a:t>
            </a:r>
          </a:p>
          <a:p>
            <a:pPr>
              <a:buFont typeface="Wingdings" pitchFamily="2" charset="2"/>
              <a:buChar char="Ø"/>
            </a:pPr>
            <a:r>
              <a:rPr dirty="0" sz="3200" lang="en-US" smtClean="0">
                <a:latin typeface="Calibri" pitchFamily="34" charset="0"/>
              </a:rPr>
              <a:t>Compliance with prescribed drugs and review visits.</a:t>
            </a:r>
          </a:p>
          <a:p>
            <a:endParaRPr dirty="0" sz="3200" lang="en-US">
              <a:latin typeface="Calibri" pitchFamily="34" charset="0"/>
            </a:endParaRPr>
          </a:p>
        </p:txBody>
      </p:sp>
      <p:sp>
        <p:nvSpPr>
          <p:cNvPr id="105021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385" name=""/>
        <p:cNvGrpSpPr/>
        <p:nvPr/>
      </p:nvGrpSpPr>
      <p:grpSpPr>
        <a:xfrm>
          <a:off x="0" y="0"/>
          <a:ext cx="0" cy="0"/>
          <a:chOff x="0" y="0"/>
          <a:chExt cx="0" cy="0"/>
        </a:xfrm>
      </p:grpSpPr>
      <p:sp>
        <p:nvSpPr>
          <p:cNvPr id="1050215" name="Title 1"/>
          <p:cNvSpPr>
            <a:spLocks noGrp="1"/>
          </p:cNvSpPr>
          <p:nvPr>
            <p:ph type="title"/>
          </p:nvPr>
        </p:nvSpPr>
        <p:spPr/>
        <p:txBody>
          <a:bodyPr/>
          <a:p>
            <a:r>
              <a:rPr b="1" dirty="0" sz="3600" lang="en-US" smtClean="0">
                <a:solidFill>
                  <a:srgbClr val="660066"/>
                </a:solidFill>
              </a:rPr>
              <a:t>ll. TRAUMA OF THE GENITAL TRACT</a:t>
            </a:r>
            <a:endParaRPr dirty="0" lang="en-US">
              <a:solidFill>
                <a:srgbClr val="660066"/>
              </a:solidFill>
            </a:endParaRPr>
          </a:p>
        </p:txBody>
      </p:sp>
      <p:sp>
        <p:nvSpPr>
          <p:cNvPr id="1050216" name="Content Placeholder 2"/>
          <p:cNvSpPr>
            <a:spLocks noGrp="1"/>
          </p:cNvSpPr>
          <p:nvPr>
            <p:ph sz="quarter" idx="1"/>
          </p:nvPr>
        </p:nvSpPr>
        <p:spPr>
          <a:xfrm>
            <a:off x="377191" y="1527048"/>
            <a:ext cx="10862309" cy="4797552"/>
          </a:xfrm>
        </p:spPr>
        <p:txBody>
          <a:bodyPr>
            <a:noAutofit/>
          </a:bodyPr>
          <a:p>
            <a:pPr>
              <a:buNone/>
            </a:pPr>
            <a:r>
              <a:rPr dirty="0" sz="2900" lang="en-US" smtClean="0">
                <a:latin typeface="Calibri" pitchFamily="34" charset="0"/>
              </a:rPr>
              <a:t>Refers to a situation where major blood vessels are torn/ ruptured , hence excessive bleeding.</a:t>
            </a:r>
          </a:p>
          <a:p>
            <a:pPr>
              <a:buNone/>
            </a:pPr>
            <a:r>
              <a:rPr dirty="0" sz="2900" lang="en-US" smtClean="0">
                <a:latin typeface="Calibri" pitchFamily="34" charset="0"/>
              </a:rPr>
              <a:t>		</a:t>
            </a:r>
            <a:r>
              <a:rPr b="1" dirty="0" sz="2900" i="1" lang="en-US" smtClean="0">
                <a:latin typeface="Calibri" pitchFamily="34" charset="0"/>
              </a:rPr>
              <a:t>Causes</a:t>
            </a:r>
          </a:p>
          <a:p>
            <a:r>
              <a:rPr dirty="0" sz="2900" lang="en-US" smtClean="0">
                <a:latin typeface="Calibri" pitchFamily="34" charset="0"/>
              </a:rPr>
              <a:t>Tight /rigid perineum, hence either tear(s) occurs or episiotomy is wrongly performed.</a:t>
            </a:r>
          </a:p>
          <a:p>
            <a:r>
              <a:rPr dirty="0" sz="2900" lang="en-US" smtClean="0">
                <a:latin typeface="Calibri" pitchFamily="34" charset="0"/>
              </a:rPr>
              <a:t>Premature bearing down, leading to severe cervical tear.</a:t>
            </a:r>
          </a:p>
          <a:p>
            <a:r>
              <a:rPr dirty="0" sz="2900" lang="en-US" smtClean="0">
                <a:latin typeface="Calibri" pitchFamily="34" charset="0"/>
              </a:rPr>
              <a:t>Big fetus (</a:t>
            </a:r>
            <a:r>
              <a:rPr dirty="0" sz="2900" lang="en-US" err="1" smtClean="0">
                <a:latin typeface="Calibri" pitchFamily="34" charset="0"/>
              </a:rPr>
              <a:t>macrosomia</a:t>
            </a:r>
            <a:r>
              <a:rPr dirty="0" sz="2900" lang="en-US" smtClean="0">
                <a:latin typeface="Calibri" pitchFamily="34" charset="0"/>
              </a:rPr>
              <a:t>) hence disproportion.</a:t>
            </a:r>
          </a:p>
          <a:p>
            <a:r>
              <a:rPr dirty="0" sz="2900" lang="en-US" smtClean="0">
                <a:latin typeface="Calibri" pitchFamily="34" charset="0"/>
              </a:rPr>
              <a:t>Destructive procedures /decapitation, because of either incorrect use of instruments or  merely accidental.</a:t>
            </a:r>
          </a:p>
          <a:p>
            <a:endParaRPr dirty="0" sz="2900" lang="en-US">
              <a:latin typeface="Calibri" pitchFamily="34" charset="0"/>
            </a:endParaRPr>
          </a:p>
        </p:txBody>
      </p:sp>
      <p:sp>
        <p:nvSpPr>
          <p:cNvPr id="105021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386" name=""/>
        <p:cNvGrpSpPr/>
        <p:nvPr/>
      </p:nvGrpSpPr>
      <p:grpSpPr>
        <a:xfrm>
          <a:off x="0" y="0"/>
          <a:ext cx="0" cy="0"/>
          <a:chOff x="0" y="0"/>
          <a:chExt cx="0" cy="0"/>
        </a:xfrm>
      </p:grpSpPr>
      <p:sp>
        <p:nvSpPr>
          <p:cNvPr id="1050218" name="Content Placeholder 2"/>
          <p:cNvSpPr>
            <a:spLocks noGrp="1"/>
          </p:cNvSpPr>
          <p:nvPr>
            <p:ph sz="quarter" idx="1"/>
          </p:nvPr>
        </p:nvSpPr>
        <p:spPr>
          <a:xfrm>
            <a:off x="381000" y="381000"/>
            <a:ext cx="10477500" cy="5638800"/>
          </a:xfrm>
        </p:spPr>
        <p:txBody>
          <a:bodyPr>
            <a:noAutofit/>
          </a:bodyPr>
          <a:p>
            <a:pPr>
              <a:buNone/>
            </a:pPr>
            <a:r>
              <a:rPr dirty="0" sz="2800" lang="en-US" smtClean="0"/>
              <a:t>		</a:t>
            </a:r>
            <a:r>
              <a:rPr b="1" dirty="0" sz="3600" i="1" lang="en-US" smtClean="0"/>
              <a:t>Common  sites</a:t>
            </a:r>
          </a:p>
          <a:p>
            <a:r>
              <a:rPr dirty="0" sz="3600" lang="en-US" smtClean="0"/>
              <a:t>External genitalia, on the perineum, anterior aspect of labia majora or clitoris, due to inadequate flexion of the head.</a:t>
            </a:r>
          </a:p>
          <a:p>
            <a:r>
              <a:rPr dirty="0" sz="3600" lang="en-US" smtClean="0"/>
              <a:t>Vagina, posterior wall.</a:t>
            </a:r>
          </a:p>
          <a:p>
            <a:r>
              <a:rPr dirty="0" sz="3600" lang="en-US" smtClean="0"/>
              <a:t>Cervix, anterior and posterior aspects.</a:t>
            </a:r>
            <a:endParaRPr dirty="0" sz="3600" lang="en-US"/>
          </a:p>
        </p:txBody>
      </p:sp>
      <p:sp>
        <p:nvSpPr>
          <p:cNvPr id="105021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387" name=""/>
        <p:cNvGrpSpPr/>
        <p:nvPr/>
      </p:nvGrpSpPr>
      <p:grpSpPr>
        <a:xfrm>
          <a:off x="0" y="0"/>
          <a:ext cx="0" cy="0"/>
          <a:chOff x="0" y="0"/>
          <a:chExt cx="0" cy="0"/>
        </a:xfrm>
      </p:grpSpPr>
      <p:sp>
        <p:nvSpPr>
          <p:cNvPr id="1050220" name="Content Placeholder 2"/>
          <p:cNvSpPr>
            <a:spLocks noGrp="1"/>
          </p:cNvSpPr>
          <p:nvPr>
            <p:ph sz="quarter" idx="1"/>
          </p:nvPr>
        </p:nvSpPr>
        <p:spPr>
          <a:xfrm>
            <a:off x="381000" y="381000"/>
            <a:ext cx="10477500" cy="5638800"/>
          </a:xfrm>
        </p:spPr>
        <p:txBody>
          <a:bodyPr>
            <a:noAutofit/>
          </a:bodyPr>
          <a:p>
            <a:r>
              <a:rPr dirty="0" sz="3200" lang="en-US" smtClean="0">
                <a:latin typeface="Calibri" pitchFamily="34" charset="0"/>
              </a:rPr>
              <a:t>Uterus, rarely involved and tears occurs due:-</a:t>
            </a:r>
          </a:p>
          <a:p>
            <a:pPr>
              <a:buFont typeface="Wingdings" pitchFamily="2" charset="2"/>
              <a:buChar char="Ø"/>
            </a:pPr>
            <a:r>
              <a:rPr dirty="0" sz="3200" lang="en-US" smtClean="0">
                <a:latin typeface="Calibri" pitchFamily="34" charset="0"/>
              </a:rPr>
              <a:t>To neglected obstructed  labour.</a:t>
            </a:r>
          </a:p>
          <a:p>
            <a:pPr>
              <a:buFont typeface="Wingdings" pitchFamily="2" charset="2"/>
              <a:buChar char="Ø"/>
            </a:pPr>
            <a:r>
              <a:rPr dirty="0" sz="3200" lang="en-US" smtClean="0">
                <a:latin typeface="Calibri" pitchFamily="34" charset="0"/>
              </a:rPr>
              <a:t> Either misuse of instruments or accidentally during decapitation.</a:t>
            </a:r>
          </a:p>
          <a:p>
            <a:pPr>
              <a:buFont typeface="Wingdings" pitchFamily="2" charset="2"/>
              <a:buChar char="Ø"/>
            </a:pPr>
            <a:r>
              <a:rPr dirty="0" sz="3200" lang="en-US" smtClean="0">
                <a:latin typeface="Calibri" pitchFamily="34" charset="0"/>
              </a:rPr>
              <a:t> As an extension of a cervical tear.</a:t>
            </a:r>
          </a:p>
          <a:p>
            <a:pPr>
              <a:buNone/>
            </a:pPr>
            <a:r>
              <a:rPr dirty="0" sz="3200" lang="en-US" smtClean="0">
                <a:latin typeface="Calibri" pitchFamily="34" charset="0"/>
              </a:rPr>
              <a:t>		</a:t>
            </a:r>
            <a:r>
              <a:rPr b="1" dirty="0" sz="3200" i="1" lang="en-US" smtClean="0">
                <a:latin typeface="Calibri" pitchFamily="34" charset="0"/>
              </a:rPr>
              <a:t>Clinical features</a:t>
            </a:r>
          </a:p>
          <a:p>
            <a:r>
              <a:rPr dirty="0" sz="3200" lang="en-US" smtClean="0">
                <a:latin typeface="Calibri" pitchFamily="34" charset="0"/>
              </a:rPr>
              <a:t>Uterus is well contracted, unless torn.</a:t>
            </a:r>
          </a:p>
          <a:p>
            <a:r>
              <a:rPr dirty="0" sz="3200" lang="en-US" smtClean="0">
                <a:latin typeface="Calibri" pitchFamily="34" charset="0"/>
              </a:rPr>
              <a:t>Blood comes out in a steady flow. </a:t>
            </a:r>
            <a:endParaRPr dirty="0" sz="3200" lang="en-US">
              <a:latin typeface="Calibri" pitchFamily="34" charset="0"/>
            </a:endParaRPr>
          </a:p>
        </p:txBody>
      </p:sp>
      <p:sp>
        <p:nvSpPr>
          <p:cNvPr id="105022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388" name=""/>
        <p:cNvGrpSpPr/>
        <p:nvPr/>
      </p:nvGrpSpPr>
      <p:grpSpPr>
        <a:xfrm>
          <a:off x="0" y="0"/>
          <a:ext cx="0" cy="0"/>
          <a:chOff x="0" y="0"/>
          <a:chExt cx="0" cy="0"/>
        </a:xfrm>
      </p:grpSpPr>
      <p:sp>
        <p:nvSpPr>
          <p:cNvPr id="1050222" name="Title 1"/>
          <p:cNvSpPr>
            <a:spLocks noGrp="1"/>
          </p:cNvSpPr>
          <p:nvPr>
            <p:ph type="title"/>
          </p:nvPr>
        </p:nvSpPr>
        <p:spPr/>
        <p:txBody>
          <a:bodyPr/>
          <a:p>
            <a:r>
              <a:rPr b="1" dirty="0" lang="en-US" smtClean="0">
                <a:solidFill>
                  <a:srgbClr val="0070C0"/>
                </a:solidFill>
              </a:rPr>
              <a:t>Specific  management</a:t>
            </a:r>
            <a:endParaRPr b="1" dirty="0" lang="en-US">
              <a:solidFill>
                <a:srgbClr val="0070C0"/>
              </a:solidFill>
            </a:endParaRPr>
          </a:p>
        </p:txBody>
      </p:sp>
      <p:sp>
        <p:nvSpPr>
          <p:cNvPr id="1050223" name="Content Placeholder 2"/>
          <p:cNvSpPr>
            <a:spLocks noGrp="1"/>
          </p:cNvSpPr>
          <p:nvPr>
            <p:ph sz="quarter" idx="1"/>
          </p:nvPr>
        </p:nvSpPr>
        <p:spPr>
          <a:xfrm>
            <a:off x="285750" y="1447800"/>
            <a:ext cx="10572750" cy="4572000"/>
          </a:xfrm>
        </p:spPr>
        <p:txBody>
          <a:bodyPr>
            <a:noAutofit/>
          </a:bodyPr>
          <a:p>
            <a:r>
              <a:rPr dirty="0" sz="2800" lang="en-US" smtClean="0">
                <a:latin typeface="Calibri" pitchFamily="34" charset="0"/>
              </a:rPr>
              <a:t>Get medical help immediately.</a:t>
            </a:r>
          </a:p>
          <a:p>
            <a:r>
              <a:rPr dirty="0" sz="2800" lang="en-US" smtClean="0">
                <a:latin typeface="Calibri" pitchFamily="34" charset="0"/>
              </a:rPr>
              <a:t>Identify the source of haemorrhage, by position the mother in </a:t>
            </a:r>
            <a:r>
              <a:rPr dirty="0" sz="2800" lang="en-US" err="1" smtClean="0">
                <a:latin typeface="Calibri" pitchFamily="34" charset="0"/>
              </a:rPr>
              <a:t>lithotomy</a:t>
            </a:r>
            <a:r>
              <a:rPr dirty="0" sz="2800" lang="en-US" smtClean="0">
                <a:latin typeface="Calibri" pitchFamily="34" charset="0"/>
              </a:rPr>
              <a:t>.</a:t>
            </a:r>
          </a:p>
          <a:p>
            <a:r>
              <a:rPr dirty="0" sz="2800" lang="en-US" smtClean="0">
                <a:latin typeface="Calibri" pitchFamily="34" charset="0"/>
              </a:rPr>
              <a:t> Assess for shock, if present commence plasma expanders and prepare for transfusion as in </a:t>
            </a:r>
            <a:r>
              <a:rPr dirty="0" sz="2800" lang="en-US" err="1" smtClean="0">
                <a:latin typeface="Calibri" pitchFamily="34" charset="0"/>
              </a:rPr>
              <a:t>atonic</a:t>
            </a:r>
            <a:r>
              <a:rPr dirty="0" sz="2800" lang="en-US" smtClean="0">
                <a:latin typeface="Calibri" pitchFamily="34" charset="0"/>
              </a:rPr>
              <a:t> uterus.</a:t>
            </a:r>
          </a:p>
          <a:p>
            <a:r>
              <a:rPr dirty="0" sz="2800" lang="en-US" smtClean="0">
                <a:latin typeface="Calibri" pitchFamily="34" charset="0"/>
              </a:rPr>
              <a:t>For external genitalia injury, repair as usual.</a:t>
            </a:r>
          </a:p>
          <a:p>
            <a:r>
              <a:rPr dirty="0" sz="2800" lang="en-US" smtClean="0">
                <a:latin typeface="Calibri" pitchFamily="34" charset="0"/>
              </a:rPr>
              <a:t>That involving internal genitalia structures, Dr inserts a speculum for clear </a:t>
            </a:r>
            <a:r>
              <a:rPr dirty="0" sz="2800" lang="en-US" err="1" smtClean="0">
                <a:latin typeface="Calibri" pitchFamily="34" charset="0"/>
              </a:rPr>
              <a:t>visualisation</a:t>
            </a:r>
            <a:r>
              <a:rPr dirty="0" sz="2800" lang="en-US" smtClean="0">
                <a:latin typeface="Calibri" pitchFamily="34" charset="0"/>
              </a:rPr>
              <a:t> of vagina &amp; cervix.</a:t>
            </a:r>
          </a:p>
          <a:p>
            <a:pPr>
              <a:buFont typeface="Wingdings" pitchFamily="2" charset="2"/>
              <a:buChar char="Ø"/>
            </a:pPr>
            <a:r>
              <a:rPr dirty="0" sz="2800" lang="en-US" smtClean="0">
                <a:latin typeface="Calibri" pitchFamily="34" charset="0"/>
              </a:rPr>
              <a:t>Pressure is  applied and repair done in theatre.</a:t>
            </a:r>
          </a:p>
        </p:txBody>
      </p:sp>
      <p:sp>
        <p:nvSpPr>
          <p:cNvPr id="105022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389" name=""/>
        <p:cNvGrpSpPr/>
        <p:nvPr/>
      </p:nvGrpSpPr>
      <p:grpSpPr>
        <a:xfrm>
          <a:off x="0" y="0"/>
          <a:ext cx="0" cy="0"/>
          <a:chOff x="0" y="0"/>
          <a:chExt cx="0" cy="0"/>
        </a:xfrm>
      </p:grpSpPr>
      <p:sp>
        <p:nvSpPr>
          <p:cNvPr id="1050225" name="Content Placeholder 2"/>
          <p:cNvSpPr>
            <a:spLocks noGrp="1"/>
          </p:cNvSpPr>
          <p:nvPr>
            <p:ph sz="quarter" idx="1"/>
          </p:nvPr>
        </p:nvSpPr>
        <p:spPr>
          <a:xfrm>
            <a:off x="571500" y="228600"/>
            <a:ext cx="10287000" cy="5791200"/>
          </a:xfrm>
        </p:spPr>
        <p:txBody>
          <a:bodyPr>
            <a:noAutofit/>
          </a:bodyPr>
          <a:p>
            <a:r>
              <a:rPr dirty="0" lang="en-US" smtClean="0">
                <a:latin typeface="Calibri" pitchFamily="34" charset="0"/>
              </a:rPr>
              <a:t>For ruptured uterus, resuscitate for shock vigorously and prepare for emergency laparatomy.</a:t>
            </a:r>
          </a:p>
          <a:p>
            <a:pPr>
              <a:buFont typeface="Wingdings" pitchFamily="2" charset="2"/>
              <a:buChar char="Ø"/>
            </a:pPr>
            <a:r>
              <a:rPr dirty="0" lang="en-US" smtClean="0">
                <a:latin typeface="Calibri" pitchFamily="34" charset="0"/>
              </a:rPr>
              <a:t>Minor tears are repaired, while for  severe ones hysterectomy may be the best option.</a:t>
            </a:r>
          </a:p>
          <a:p>
            <a:r>
              <a:rPr dirty="0" lang="en-US" smtClean="0">
                <a:latin typeface="Calibri" pitchFamily="34" charset="0"/>
              </a:rPr>
              <a:t>Generally, administer prophylactic antibiotics as well as haematinics and analgesics respectively.</a:t>
            </a:r>
          </a:p>
          <a:p>
            <a:r>
              <a:rPr dirty="0" lang="en-US" smtClean="0">
                <a:latin typeface="Calibri" pitchFamily="34" charset="0"/>
              </a:rPr>
              <a:t>Depending on the blood loss, transfusion may be required.</a:t>
            </a:r>
          </a:p>
          <a:p>
            <a:r>
              <a:rPr dirty="0" lang="en-US" smtClean="0">
                <a:latin typeface="Calibri" pitchFamily="34" charset="0"/>
              </a:rPr>
              <a:t>Maintain record of vital signs, state of the skin and level of consciousness, interpret &amp; consult as necessary.</a:t>
            </a:r>
          </a:p>
          <a:p>
            <a:pPr>
              <a:buFont typeface="Wingdings" pitchFamily="2" charset="2"/>
              <a:buChar char="v"/>
            </a:pPr>
            <a:r>
              <a:rPr dirty="0" lang="en-US" smtClean="0">
                <a:latin typeface="Calibri" pitchFamily="34" charset="0"/>
              </a:rPr>
              <a:t>These helps to evaluate the progress.</a:t>
            </a:r>
          </a:p>
          <a:p>
            <a:pPr>
              <a:buNone/>
            </a:pPr>
            <a:r>
              <a:rPr dirty="0" lang="en-US" smtClean="0">
                <a:latin typeface="Calibri" pitchFamily="34" charset="0"/>
              </a:rPr>
              <a:t>  </a:t>
            </a:r>
            <a:endParaRPr dirty="0" lang="en-US">
              <a:latin typeface="Calibri" pitchFamily="34" charset="0"/>
            </a:endParaRPr>
          </a:p>
        </p:txBody>
      </p:sp>
      <p:sp>
        <p:nvSpPr>
          <p:cNvPr id="1050226"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390" name=""/>
        <p:cNvGrpSpPr/>
        <p:nvPr/>
      </p:nvGrpSpPr>
      <p:grpSpPr>
        <a:xfrm>
          <a:off x="0" y="0"/>
          <a:ext cx="0" cy="0"/>
          <a:chOff x="0" y="0"/>
          <a:chExt cx="0" cy="0"/>
        </a:xfrm>
      </p:grpSpPr>
      <p:sp>
        <p:nvSpPr>
          <p:cNvPr id="1050227" name="Content Placeholder 2"/>
          <p:cNvSpPr>
            <a:spLocks noGrp="1"/>
          </p:cNvSpPr>
          <p:nvPr>
            <p:ph sz="quarter" idx="1"/>
          </p:nvPr>
        </p:nvSpPr>
        <p:spPr>
          <a:xfrm>
            <a:off x="381000" y="304800"/>
            <a:ext cx="10477500" cy="5715000"/>
          </a:xfrm>
        </p:spPr>
        <p:txBody>
          <a:bodyPr>
            <a:normAutofit/>
          </a:bodyPr>
          <a:p>
            <a:r>
              <a:rPr dirty="0" lang="en-US" smtClean="0">
                <a:latin typeface="Calibri" pitchFamily="34" charset="0"/>
              </a:rPr>
              <a:t>Encourage high standards of hygiene to prevent infection.</a:t>
            </a:r>
          </a:p>
          <a:p>
            <a:r>
              <a:rPr dirty="0" lang="en-US" smtClean="0">
                <a:latin typeface="Calibri" pitchFamily="34" charset="0"/>
              </a:rPr>
              <a:t>Help with baby care Prn and promote b/feeding .</a:t>
            </a:r>
          </a:p>
          <a:p>
            <a:r>
              <a:rPr dirty="0" lang="en-US" smtClean="0">
                <a:latin typeface="Calibri" pitchFamily="34" charset="0"/>
              </a:rPr>
              <a:t>Emphasis on the need for early ambulation to promote fast healing.</a:t>
            </a:r>
          </a:p>
          <a:p>
            <a:r>
              <a:rPr dirty="0" lang="en-US" smtClean="0">
                <a:latin typeface="Calibri" pitchFamily="34" charset="0"/>
              </a:rPr>
              <a:t>3</a:t>
            </a:r>
            <a:r>
              <a:rPr baseline="30000" dirty="0" lang="en-US" smtClean="0">
                <a:latin typeface="Calibri" pitchFamily="34" charset="0"/>
              </a:rPr>
              <a:t>rd</a:t>
            </a:r>
            <a:r>
              <a:rPr dirty="0" lang="en-US" smtClean="0">
                <a:latin typeface="Calibri" pitchFamily="34" charset="0"/>
              </a:rPr>
              <a:t> day, recheck haemoglobin level to determine the need for  haematinics and whether transfusion is necessary.</a:t>
            </a:r>
          </a:p>
          <a:p>
            <a:r>
              <a:rPr dirty="0" lang="en-US" smtClean="0">
                <a:latin typeface="Calibri" pitchFamily="34" charset="0"/>
              </a:rPr>
              <a:t>For laparatomy, expose the </a:t>
            </a:r>
            <a:r>
              <a:rPr dirty="0" lang="en-US" err="1" smtClean="0">
                <a:latin typeface="Calibri" pitchFamily="34" charset="0"/>
              </a:rPr>
              <a:t>incisional</a:t>
            </a:r>
            <a:r>
              <a:rPr dirty="0" lang="en-US" smtClean="0">
                <a:latin typeface="Calibri" pitchFamily="34" charset="0"/>
              </a:rPr>
              <a:t> area on the 3</a:t>
            </a:r>
            <a:r>
              <a:rPr baseline="30000" dirty="0" lang="en-US" smtClean="0">
                <a:latin typeface="Calibri" pitchFamily="34" charset="0"/>
              </a:rPr>
              <a:t>rd</a:t>
            </a:r>
            <a:r>
              <a:rPr dirty="0" lang="en-US" smtClean="0">
                <a:latin typeface="Calibri" pitchFamily="34" charset="0"/>
              </a:rPr>
              <a:t> day or as per Dr’s advise, so monitor for sepsis.</a:t>
            </a:r>
          </a:p>
          <a:p>
            <a:r>
              <a:rPr dirty="0" lang="en-US" smtClean="0">
                <a:latin typeface="Calibri" pitchFamily="34" charset="0"/>
              </a:rPr>
              <a:t>Following remarkable improvement, prepare for discharge</a:t>
            </a:r>
          </a:p>
          <a:p>
            <a:pPr>
              <a:buNone/>
            </a:pPr>
            <a:r>
              <a:rPr dirty="0" lang="en-US" smtClean="0">
                <a:latin typeface="Calibri" pitchFamily="34" charset="0"/>
              </a:rPr>
              <a:t>	through  health messages on: </a:t>
            </a:r>
          </a:p>
        </p:txBody>
      </p:sp>
      <p:sp>
        <p:nvSpPr>
          <p:cNvPr id="105022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391" name=""/>
        <p:cNvGrpSpPr/>
        <p:nvPr/>
      </p:nvGrpSpPr>
      <p:grpSpPr>
        <a:xfrm>
          <a:off x="0" y="0"/>
          <a:ext cx="0" cy="0"/>
          <a:chOff x="0" y="0"/>
          <a:chExt cx="0" cy="0"/>
        </a:xfrm>
      </p:grpSpPr>
      <p:sp>
        <p:nvSpPr>
          <p:cNvPr id="1050229" name="Content Placeholder 2"/>
          <p:cNvSpPr>
            <a:spLocks noGrp="1"/>
          </p:cNvSpPr>
          <p:nvPr>
            <p:ph sz="quarter" idx="1"/>
          </p:nvPr>
        </p:nvSpPr>
        <p:spPr>
          <a:xfrm>
            <a:off x="381000" y="381000"/>
            <a:ext cx="10477500" cy="5638800"/>
          </a:xfrm>
        </p:spPr>
        <p:txBody>
          <a:bodyPr>
            <a:normAutofit/>
          </a:bodyPr>
          <a:p>
            <a:pPr>
              <a:buFont typeface="Wingdings" pitchFamily="2" charset="2"/>
              <a:buChar char="Ø"/>
            </a:pPr>
            <a:r>
              <a:rPr dirty="0" lang="en-US" smtClean="0">
                <a:latin typeface="Calibri" pitchFamily="34" charset="0"/>
              </a:rPr>
              <a:t>Nutritious diet, rest and hygiene.</a:t>
            </a:r>
          </a:p>
          <a:p>
            <a:pPr>
              <a:buFont typeface="Wingdings" pitchFamily="2" charset="2"/>
              <a:buChar char="Ø"/>
            </a:pPr>
            <a:r>
              <a:rPr dirty="0" lang="en-US" smtClean="0">
                <a:latin typeface="Calibri" pitchFamily="34" charset="0"/>
              </a:rPr>
              <a:t>Family planning services &amp; postnatal examination after 6     weeks.</a:t>
            </a:r>
          </a:p>
          <a:p>
            <a:pPr>
              <a:buFont typeface="Wingdings" pitchFamily="2" charset="2"/>
              <a:buChar char="Ø"/>
            </a:pPr>
            <a:r>
              <a:rPr dirty="0" lang="en-US" smtClean="0">
                <a:latin typeface="Calibri" pitchFamily="34" charset="0"/>
              </a:rPr>
              <a:t>Early antenatal booking in future and hospital delivery.</a:t>
            </a:r>
          </a:p>
          <a:p>
            <a:pPr>
              <a:buNone/>
            </a:pPr>
            <a:r>
              <a:rPr dirty="0" lang="en-US" smtClean="0">
                <a:latin typeface="Calibri" pitchFamily="34" charset="0"/>
              </a:rPr>
              <a:t>	</a:t>
            </a:r>
            <a:r>
              <a:rPr b="1" dirty="0" lang="en-US" smtClean="0">
                <a:latin typeface="Calibri" pitchFamily="34" charset="0"/>
              </a:rPr>
              <a:t>	</a:t>
            </a:r>
            <a:r>
              <a:rPr b="1" dirty="0" lang="en-US" smtClean="0">
                <a:solidFill>
                  <a:srgbClr val="660066"/>
                </a:solidFill>
                <a:latin typeface="Calibri" pitchFamily="34" charset="0"/>
              </a:rPr>
              <a:t>III. BLOOD COAGULATION DISORDER</a:t>
            </a:r>
          </a:p>
          <a:p>
            <a:pPr>
              <a:buFont typeface="Wingdings" pitchFamily="2" charset="2"/>
              <a:buChar char="v"/>
            </a:pPr>
            <a:r>
              <a:rPr dirty="0" lang="en-US" smtClean="0">
                <a:latin typeface="Calibri" pitchFamily="34" charset="0"/>
              </a:rPr>
              <a:t>It’s characterised by coagulation failure due to low fibrinogen levels, collectively referred to as </a:t>
            </a:r>
            <a:r>
              <a:rPr dirty="0" lang="en-US" smtClean="0">
                <a:solidFill>
                  <a:srgbClr val="C00000"/>
                </a:solidFill>
                <a:latin typeface="Calibri" pitchFamily="34" charset="0"/>
              </a:rPr>
              <a:t>hypofibrinogenaemia</a:t>
            </a:r>
          </a:p>
          <a:p>
            <a:pPr>
              <a:buNone/>
            </a:pPr>
            <a:r>
              <a:rPr dirty="0" lang="en-US" smtClean="0">
                <a:solidFill>
                  <a:srgbClr val="C00000"/>
                </a:solidFill>
                <a:latin typeface="Calibri" pitchFamily="34" charset="0"/>
              </a:rPr>
              <a:t>	   </a:t>
            </a:r>
            <a:r>
              <a:rPr b="1" dirty="0" i="1" lang="en-US" smtClean="0">
                <a:latin typeface="Calibri" pitchFamily="34" charset="0"/>
              </a:rPr>
              <a:t>Causes</a:t>
            </a:r>
          </a:p>
          <a:p>
            <a:r>
              <a:rPr dirty="0" lang="en-US" smtClean="0">
                <a:latin typeface="Calibri" pitchFamily="34" charset="0"/>
              </a:rPr>
              <a:t>Severe placental abruption, due to </a:t>
            </a:r>
            <a:r>
              <a:rPr dirty="0" lang="en-US" err="1" smtClean="0">
                <a:latin typeface="Calibri" pitchFamily="34" charset="0"/>
              </a:rPr>
              <a:t>retroplacental</a:t>
            </a:r>
            <a:r>
              <a:rPr dirty="0" lang="en-US" smtClean="0">
                <a:latin typeface="Calibri" pitchFamily="34" charset="0"/>
              </a:rPr>
              <a:t> clots.</a:t>
            </a:r>
            <a:endParaRPr dirty="0" lang="en-US">
              <a:latin typeface="Calibri" pitchFamily="34" charset="0"/>
            </a:endParaRPr>
          </a:p>
        </p:txBody>
      </p:sp>
      <p:sp>
        <p:nvSpPr>
          <p:cNvPr id="105023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392" name=""/>
        <p:cNvGrpSpPr/>
        <p:nvPr/>
      </p:nvGrpSpPr>
      <p:grpSpPr>
        <a:xfrm>
          <a:off x="0" y="0"/>
          <a:ext cx="0" cy="0"/>
          <a:chOff x="0" y="0"/>
          <a:chExt cx="0" cy="0"/>
        </a:xfrm>
      </p:grpSpPr>
      <p:sp>
        <p:nvSpPr>
          <p:cNvPr id="1050231" name="Content Placeholder 2"/>
          <p:cNvSpPr>
            <a:spLocks noGrp="1"/>
          </p:cNvSpPr>
          <p:nvPr>
            <p:ph sz="quarter" idx="1"/>
          </p:nvPr>
        </p:nvSpPr>
        <p:spPr>
          <a:xfrm>
            <a:off x="381000" y="304800"/>
            <a:ext cx="10477500" cy="5715000"/>
          </a:xfrm>
        </p:spPr>
        <p:txBody>
          <a:bodyPr/>
          <a:p>
            <a:r>
              <a:rPr dirty="0" lang="en-US" smtClean="0">
                <a:latin typeface="Calibri" pitchFamily="34" charset="0"/>
              </a:rPr>
              <a:t>Excessive soft tissue injury , because of high release of thromboplastin.</a:t>
            </a:r>
          </a:p>
          <a:p>
            <a:r>
              <a:rPr dirty="0" lang="en-US" smtClean="0">
                <a:latin typeface="Calibri" pitchFamily="34" charset="0"/>
              </a:rPr>
              <a:t>Intrauterine fetal death , which has been retained for more than 4 weeks.</a:t>
            </a:r>
          </a:p>
          <a:p>
            <a:r>
              <a:rPr dirty="0" lang="en-US" smtClean="0">
                <a:latin typeface="Calibri" pitchFamily="34" charset="0"/>
              </a:rPr>
              <a:t>Shock, due to tissue damage ,from production of excess levels of lactic acid.</a:t>
            </a:r>
          </a:p>
          <a:p>
            <a:r>
              <a:rPr dirty="0" lang="en-US" smtClean="0">
                <a:latin typeface="Calibri" pitchFamily="34" charset="0"/>
              </a:rPr>
              <a:t>Amniotic fluid embolism, since it has high affinity to fibrinogen.</a:t>
            </a:r>
          </a:p>
          <a:p>
            <a:r>
              <a:rPr dirty="0" lang="en-US" smtClean="0">
                <a:latin typeface="Calibri" pitchFamily="34" charset="0"/>
              </a:rPr>
              <a:t>Intrauterine infection, hence </a:t>
            </a:r>
            <a:r>
              <a:rPr dirty="0" lang="en-US" err="1" smtClean="0">
                <a:latin typeface="Calibri" pitchFamily="34" charset="0"/>
              </a:rPr>
              <a:t>endotoxin</a:t>
            </a:r>
            <a:r>
              <a:rPr dirty="0" lang="en-US" smtClean="0">
                <a:latin typeface="Calibri" pitchFamily="34" charset="0"/>
              </a:rPr>
              <a:t> damages the blood vessels.</a:t>
            </a:r>
            <a:endParaRPr dirty="0" lang="en-US">
              <a:latin typeface="Calibri" pitchFamily="34" charset="0"/>
            </a:endParaRPr>
          </a:p>
        </p:txBody>
      </p:sp>
      <p:sp>
        <p:nvSpPr>
          <p:cNvPr id="105023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393" name=""/>
        <p:cNvGrpSpPr/>
        <p:nvPr/>
      </p:nvGrpSpPr>
      <p:grpSpPr>
        <a:xfrm>
          <a:off x="0" y="0"/>
          <a:ext cx="0" cy="0"/>
          <a:chOff x="0" y="0"/>
          <a:chExt cx="0" cy="0"/>
        </a:xfrm>
      </p:grpSpPr>
      <p:sp>
        <p:nvSpPr>
          <p:cNvPr id="1050233" name="Content Placeholder 2"/>
          <p:cNvSpPr>
            <a:spLocks noGrp="1"/>
          </p:cNvSpPr>
          <p:nvPr>
            <p:ph sz="quarter" idx="1"/>
          </p:nvPr>
        </p:nvSpPr>
        <p:spPr>
          <a:xfrm>
            <a:off x="476250" y="381000"/>
            <a:ext cx="10382250" cy="5638800"/>
          </a:xfrm>
        </p:spPr>
        <p:txBody>
          <a:bodyPr>
            <a:noAutofit/>
          </a:bodyPr>
          <a:p>
            <a:r>
              <a:rPr dirty="0" sz="3200" lang="en-US" smtClean="0">
                <a:latin typeface="Calibri" pitchFamily="34" charset="0"/>
              </a:rPr>
              <a:t>Preeclampsia and eclampsia , due to excessive breakdown of fibrinogen (fibrinolysis), leading to formation of fibrin degradation products hence uncontrolled bleeding.</a:t>
            </a:r>
          </a:p>
          <a:p>
            <a:pPr>
              <a:buNone/>
            </a:pPr>
            <a:r>
              <a:rPr dirty="0" sz="3200" lang="en-US" smtClean="0">
                <a:latin typeface="Calibri" pitchFamily="34" charset="0"/>
              </a:rPr>
              <a:t>		</a:t>
            </a:r>
            <a:r>
              <a:rPr b="1" dirty="0" sz="3200" i="1" lang="en-US" smtClean="0">
                <a:latin typeface="Calibri" pitchFamily="34" charset="0"/>
              </a:rPr>
              <a:t>Clinical features</a:t>
            </a:r>
          </a:p>
          <a:p>
            <a:r>
              <a:rPr dirty="0" sz="3200" lang="en-US" smtClean="0">
                <a:latin typeface="Calibri" pitchFamily="34" charset="0"/>
              </a:rPr>
              <a:t>Shed blood does not clot, pours out freely and uterus is flabby/ soft.</a:t>
            </a:r>
          </a:p>
          <a:p>
            <a:r>
              <a:rPr dirty="0" sz="3200" lang="en-US" smtClean="0">
                <a:latin typeface="Calibri" pitchFamily="34" charset="0"/>
              </a:rPr>
              <a:t>Very fast occurrence of signs of shock, accompanied by anaemia.</a:t>
            </a:r>
            <a:endParaRPr dirty="0" sz="3200" lang="en-US">
              <a:latin typeface="Calibri" pitchFamily="34" charset="0"/>
            </a:endParaRPr>
          </a:p>
        </p:txBody>
      </p:sp>
      <p:sp>
        <p:nvSpPr>
          <p:cNvPr id="1050234"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394" name=""/>
        <p:cNvGrpSpPr/>
        <p:nvPr/>
      </p:nvGrpSpPr>
      <p:grpSpPr>
        <a:xfrm>
          <a:off x="0" y="0"/>
          <a:ext cx="0" cy="0"/>
          <a:chOff x="0" y="0"/>
          <a:chExt cx="0" cy="0"/>
        </a:xfrm>
      </p:grpSpPr>
      <p:sp>
        <p:nvSpPr>
          <p:cNvPr id="1050235" name="Title 1"/>
          <p:cNvSpPr>
            <a:spLocks noGrp="1"/>
          </p:cNvSpPr>
          <p:nvPr>
            <p:ph type="title"/>
          </p:nvPr>
        </p:nvSpPr>
        <p:spPr/>
        <p:txBody>
          <a:bodyPr/>
          <a:p>
            <a:r>
              <a:rPr b="1" dirty="0" sz="3600" lang="en-US" smtClean="0">
                <a:solidFill>
                  <a:srgbClr val="0070C0"/>
                </a:solidFill>
              </a:rPr>
              <a:t>Specific management</a:t>
            </a:r>
            <a:endParaRPr dirty="0" lang="en-US">
              <a:solidFill>
                <a:srgbClr val="0070C0"/>
              </a:solidFill>
            </a:endParaRPr>
          </a:p>
        </p:txBody>
      </p:sp>
      <p:sp>
        <p:nvSpPr>
          <p:cNvPr id="1050236" name="Content Placeholder 2"/>
          <p:cNvSpPr>
            <a:spLocks noGrp="1"/>
          </p:cNvSpPr>
          <p:nvPr>
            <p:ph sz="quarter" idx="1"/>
          </p:nvPr>
        </p:nvSpPr>
        <p:spPr>
          <a:xfrm>
            <a:off x="285750" y="1447800"/>
            <a:ext cx="10572750" cy="4572000"/>
          </a:xfrm>
        </p:spPr>
        <p:txBody>
          <a:bodyPr>
            <a:noAutofit/>
          </a:bodyPr>
          <a:p>
            <a:r>
              <a:rPr dirty="0" sz="3000" lang="en-US" smtClean="0">
                <a:latin typeface="Calibri" pitchFamily="34" charset="0"/>
              </a:rPr>
              <a:t>Be calm / composed to make accurate diagnosis.</a:t>
            </a:r>
          </a:p>
          <a:p>
            <a:r>
              <a:rPr dirty="0" sz="3000" lang="en-US" smtClean="0">
                <a:latin typeface="Calibri" pitchFamily="34" charset="0"/>
              </a:rPr>
              <a:t>Get medical help promptly ie inform the doctor .</a:t>
            </a:r>
          </a:p>
          <a:p>
            <a:r>
              <a:rPr dirty="0" sz="3000" lang="en-US" smtClean="0">
                <a:latin typeface="Calibri" pitchFamily="34" charset="0"/>
              </a:rPr>
              <a:t>Administer vitamin K to facilitate coagulation.</a:t>
            </a:r>
          </a:p>
          <a:p>
            <a:r>
              <a:rPr dirty="0" sz="3000" lang="en-US" smtClean="0">
                <a:latin typeface="Calibri" pitchFamily="34" charset="0"/>
              </a:rPr>
              <a:t>Investigate and prepare for transfusion. Investigations includes: Clotting profile,  full haemogram &amp; X-match of at least 5 units.</a:t>
            </a:r>
          </a:p>
          <a:p>
            <a:r>
              <a:rPr dirty="0" sz="3000" lang="en-US" smtClean="0">
                <a:latin typeface="Calibri" pitchFamily="34" charset="0"/>
              </a:rPr>
              <a:t>Commence plasma expanders eg </a:t>
            </a:r>
            <a:r>
              <a:rPr dirty="0" sz="3000" lang="en-US" err="1" smtClean="0">
                <a:latin typeface="Calibri" pitchFamily="34" charset="0"/>
              </a:rPr>
              <a:t>dextran</a:t>
            </a:r>
            <a:r>
              <a:rPr dirty="0" sz="3000" lang="en-US" smtClean="0">
                <a:latin typeface="Calibri" pitchFamily="34" charset="0"/>
              </a:rPr>
              <a:t> 70%,or haemacel or normal saline or </a:t>
            </a:r>
            <a:r>
              <a:rPr dirty="0" sz="3000" lang="en-US" err="1" smtClean="0">
                <a:latin typeface="Calibri" pitchFamily="34" charset="0"/>
              </a:rPr>
              <a:t>hartman’s</a:t>
            </a:r>
            <a:r>
              <a:rPr dirty="0" sz="3000" lang="en-US" smtClean="0">
                <a:latin typeface="Calibri" pitchFamily="34" charset="0"/>
              </a:rPr>
              <a:t> solution , awaiting blood transfusion.</a:t>
            </a:r>
            <a:endParaRPr dirty="0" sz="3000" lang="en-US">
              <a:latin typeface="Calibri" pitchFamily="34" charset="0"/>
            </a:endParaRPr>
          </a:p>
        </p:txBody>
      </p:sp>
      <p:sp>
        <p:nvSpPr>
          <p:cNvPr id="105023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395" name=""/>
        <p:cNvGrpSpPr/>
        <p:nvPr/>
      </p:nvGrpSpPr>
      <p:grpSpPr>
        <a:xfrm>
          <a:off x="0" y="0"/>
          <a:ext cx="0" cy="0"/>
          <a:chOff x="0" y="0"/>
          <a:chExt cx="0" cy="0"/>
        </a:xfrm>
      </p:grpSpPr>
      <p:sp>
        <p:nvSpPr>
          <p:cNvPr id="1050238" name="Content Placeholder 2"/>
          <p:cNvSpPr>
            <a:spLocks noGrp="1"/>
          </p:cNvSpPr>
          <p:nvPr>
            <p:ph sz="quarter" idx="1"/>
          </p:nvPr>
        </p:nvSpPr>
        <p:spPr>
          <a:xfrm>
            <a:off x="285750" y="304800"/>
            <a:ext cx="10572750" cy="5715000"/>
          </a:xfrm>
        </p:spPr>
        <p:txBody>
          <a:bodyPr>
            <a:normAutofit/>
          </a:bodyPr>
          <a:p>
            <a:r>
              <a:rPr dirty="0" lang="en-US" smtClean="0">
                <a:latin typeface="Calibri" pitchFamily="34" charset="0"/>
              </a:rPr>
              <a:t>Maintain relatively warm and keep an accurate record of  vital signs, state of the skin , level of consciousness and consult </a:t>
            </a:r>
            <a:r>
              <a:rPr dirty="0" sz="3200" lang="en-US" smtClean="0">
                <a:latin typeface="Calibri" pitchFamily="34" charset="0"/>
              </a:rPr>
              <a:t>prn</a:t>
            </a:r>
            <a:r>
              <a:rPr dirty="0" lang="en-US" smtClean="0">
                <a:latin typeface="Calibri" pitchFamily="34" charset="0"/>
              </a:rPr>
              <a:t>.</a:t>
            </a:r>
          </a:p>
          <a:p>
            <a:r>
              <a:rPr dirty="0" lang="en-US" smtClean="0">
                <a:latin typeface="Calibri" pitchFamily="34" charset="0"/>
              </a:rPr>
              <a:t>Keep relative informed of the situation and ask particularly the spouse to </a:t>
            </a:r>
            <a:r>
              <a:rPr dirty="0" lang="en-US" err="1" smtClean="0">
                <a:latin typeface="Calibri" pitchFamily="34" charset="0"/>
              </a:rPr>
              <a:t>organise</a:t>
            </a:r>
            <a:r>
              <a:rPr dirty="0" lang="en-US" smtClean="0">
                <a:latin typeface="Calibri" pitchFamily="34" charset="0"/>
              </a:rPr>
              <a:t> for blood donation.</a:t>
            </a:r>
          </a:p>
          <a:p>
            <a:r>
              <a:rPr dirty="0" lang="en-US" smtClean="0">
                <a:latin typeface="Calibri" pitchFamily="34" charset="0"/>
              </a:rPr>
              <a:t>Immediately fresh blood is </a:t>
            </a:r>
            <a:r>
              <a:rPr dirty="0" lang="en-US" err="1" smtClean="0">
                <a:latin typeface="Calibri" pitchFamily="34" charset="0"/>
              </a:rPr>
              <a:t>available,transfuse</a:t>
            </a:r>
            <a:r>
              <a:rPr dirty="0" lang="en-US" smtClean="0">
                <a:latin typeface="Calibri" pitchFamily="34" charset="0"/>
              </a:rPr>
              <a:t> various components separately starting with the plasma because of its high concentration of clotting factors V(5) &amp; VIII(8) hence control is achieved.</a:t>
            </a:r>
          </a:p>
          <a:p>
            <a:pPr>
              <a:buFont typeface="Wingdings" pitchFamily="2" charset="2"/>
              <a:buChar char="Ø"/>
            </a:pPr>
            <a:r>
              <a:rPr dirty="0" lang="en-US" smtClean="0">
                <a:latin typeface="Calibri" pitchFamily="34" charset="0"/>
              </a:rPr>
              <a:t> Cells follows in order to boost the oxygen and immunity respectively.</a:t>
            </a:r>
            <a:endParaRPr dirty="0" lang="en-US">
              <a:latin typeface="Calibri" pitchFamily="34" charset="0"/>
            </a:endParaRPr>
          </a:p>
        </p:txBody>
      </p:sp>
      <p:sp>
        <p:nvSpPr>
          <p:cNvPr id="105023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396" name=""/>
        <p:cNvGrpSpPr/>
        <p:nvPr/>
      </p:nvGrpSpPr>
      <p:grpSpPr>
        <a:xfrm>
          <a:off x="0" y="0"/>
          <a:ext cx="0" cy="0"/>
          <a:chOff x="0" y="0"/>
          <a:chExt cx="0" cy="0"/>
        </a:xfrm>
      </p:grpSpPr>
      <p:sp>
        <p:nvSpPr>
          <p:cNvPr id="1050240" name="Content Placeholder 2"/>
          <p:cNvSpPr>
            <a:spLocks noGrp="1"/>
          </p:cNvSpPr>
          <p:nvPr>
            <p:ph sz="quarter" idx="1"/>
          </p:nvPr>
        </p:nvSpPr>
        <p:spPr>
          <a:xfrm>
            <a:off x="285750" y="304800"/>
            <a:ext cx="10572750" cy="5715000"/>
          </a:xfrm>
        </p:spPr>
        <p:txBody>
          <a:bodyPr>
            <a:normAutofit/>
          </a:bodyPr>
          <a:p>
            <a:pPr>
              <a:buNone/>
            </a:pPr>
            <a:r>
              <a:rPr b="1" dirty="0" sz="2800" lang="en-US" smtClean="0">
                <a:solidFill>
                  <a:srgbClr val="FF0000"/>
                </a:solidFill>
                <a:latin typeface="Calibri" pitchFamily="34" charset="0"/>
              </a:rPr>
              <a:t>NB:- </a:t>
            </a:r>
            <a:r>
              <a:rPr dirty="0" sz="2800" lang="en-US" smtClean="0">
                <a:latin typeface="Calibri" pitchFamily="34" charset="0"/>
              </a:rPr>
              <a:t>Transfusion of separate components is aimed at avoiding cardiac failure.</a:t>
            </a:r>
          </a:p>
          <a:p>
            <a:r>
              <a:rPr dirty="0" sz="2800" lang="en-US" smtClean="0">
                <a:latin typeface="Calibri" pitchFamily="34" charset="0"/>
              </a:rPr>
              <a:t>Alternatively, fresh whole blood is transfused under close  monitoring for signs of heart failure.</a:t>
            </a:r>
          </a:p>
          <a:p>
            <a:pPr>
              <a:buFont typeface="Wingdings" pitchFamily="2" charset="2"/>
              <a:buChar char="Ø"/>
            </a:pPr>
            <a:r>
              <a:rPr dirty="0" sz="2800" lang="en-US" smtClean="0">
                <a:latin typeface="Calibri" pitchFamily="34" charset="0"/>
              </a:rPr>
              <a:t> So administer  i.v </a:t>
            </a:r>
            <a:r>
              <a:rPr dirty="0" sz="2800" lang="en-US" err="1" smtClean="0">
                <a:latin typeface="Calibri" pitchFamily="34" charset="0"/>
              </a:rPr>
              <a:t>lasix</a:t>
            </a:r>
            <a:r>
              <a:rPr dirty="0" sz="2800" lang="en-US" smtClean="0">
                <a:latin typeface="Calibri" pitchFamily="34" charset="0"/>
              </a:rPr>
              <a:t> immediately after commencing transfusion and 6 hours later, to facilitate increased </a:t>
            </a:r>
            <a:r>
              <a:rPr dirty="0" sz="2800" lang="en-US" err="1" smtClean="0">
                <a:latin typeface="Calibri" pitchFamily="34" charset="0"/>
              </a:rPr>
              <a:t>fliud</a:t>
            </a:r>
            <a:r>
              <a:rPr dirty="0" sz="2800" lang="en-US" smtClean="0">
                <a:latin typeface="Calibri" pitchFamily="34" charset="0"/>
              </a:rPr>
              <a:t> loss.</a:t>
            </a:r>
          </a:p>
          <a:p>
            <a:r>
              <a:rPr dirty="0" sz="2800" lang="en-US" smtClean="0">
                <a:latin typeface="Calibri" pitchFamily="34" charset="0"/>
              </a:rPr>
              <a:t>Closely monitor for adverse reactions as well as signs of renal failure. So an indwelling catheter may be left in place  for accurate record of the output, hence maintain fluid balance chart appropriately.</a:t>
            </a:r>
            <a:endParaRPr dirty="0" sz="2800" lang="en-US">
              <a:latin typeface="Calibri" pitchFamily="34" charset="0"/>
            </a:endParaRPr>
          </a:p>
        </p:txBody>
      </p:sp>
      <p:sp>
        <p:nvSpPr>
          <p:cNvPr id="105024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397" name=""/>
        <p:cNvGrpSpPr/>
        <p:nvPr/>
      </p:nvGrpSpPr>
      <p:grpSpPr>
        <a:xfrm>
          <a:off x="0" y="0"/>
          <a:ext cx="0" cy="0"/>
          <a:chOff x="0" y="0"/>
          <a:chExt cx="0" cy="0"/>
        </a:xfrm>
      </p:grpSpPr>
      <p:sp>
        <p:nvSpPr>
          <p:cNvPr id="1050242" name="Content Placeholder 2"/>
          <p:cNvSpPr>
            <a:spLocks noGrp="1"/>
          </p:cNvSpPr>
          <p:nvPr>
            <p:ph sz="quarter" idx="1"/>
          </p:nvPr>
        </p:nvSpPr>
        <p:spPr>
          <a:xfrm>
            <a:off x="381000" y="304800"/>
            <a:ext cx="10477500" cy="5715000"/>
          </a:xfrm>
        </p:spPr>
        <p:txBody>
          <a:bodyPr>
            <a:noAutofit/>
          </a:bodyPr>
          <a:p>
            <a:r>
              <a:rPr dirty="0" sz="2800" lang="en-US" smtClean="0">
                <a:latin typeface="Calibri" pitchFamily="34" charset="0"/>
              </a:rPr>
              <a:t>Administer prophylactic broad spectrum antibiotic therapy and  haematinics.</a:t>
            </a:r>
          </a:p>
          <a:p>
            <a:r>
              <a:rPr dirty="0" sz="2800" lang="en-US" smtClean="0">
                <a:latin typeface="Calibri" pitchFamily="34" charset="0"/>
              </a:rPr>
              <a:t>Evaluate the progress regularly, through recheck of clotting profile, physical examination &amp; history results.</a:t>
            </a:r>
          </a:p>
          <a:p>
            <a:r>
              <a:rPr dirty="0" sz="2800" lang="en-US" smtClean="0">
                <a:latin typeface="Calibri" pitchFamily="34" charset="0"/>
              </a:rPr>
              <a:t>As condition improves/ </a:t>
            </a:r>
            <a:r>
              <a:rPr dirty="0" sz="2800" lang="en-US" err="1" smtClean="0">
                <a:latin typeface="Calibri" pitchFamily="34" charset="0"/>
              </a:rPr>
              <a:t>stabilises</a:t>
            </a:r>
            <a:r>
              <a:rPr dirty="0" sz="2800" lang="en-US" smtClean="0">
                <a:latin typeface="Calibri" pitchFamily="34" charset="0"/>
              </a:rPr>
              <a:t>, encourage a balanced diet, baby care ambulation and hygiene.</a:t>
            </a:r>
          </a:p>
          <a:p>
            <a:r>
              <a:rPr dirty="0" sz="2800" lang="en-US" smtClean="0">
                <a:latin typeface="Calibri" pitchFamily="34" charset="0"/>
              </a:rPr>
              <a:t>Allay anxiety by offering psychological support.</a:t>
            </a:r>
          </a:p>
          <a:p>
            <a:r>
              <a:rPr dirty="0" sz="2800" lang="en-US" smtClean="0">
                <a:latin typeface="Calibri" pitchFamily="34" charset="0"/>
              </a:rPr>
              <a:t>On discharge share in regard to: Follow up care- MOPC &amp; OGOPC. Drugs compliance.</a:t>
            </a:r>
          </a:p>
          <a:p>
            <a:r>
              <a:rPr dirty="0" sz="2800" lang="en-US" smtClean="0">
                <a:latin typeface="Calibri" pitchFamily="34" charset="0"/>
              </a:rPr>
              <a:t>Rest as in other cases of primary PPH.</a:t>
            </a:r>
            <a:endParaRPr dirty="0" sz="2800" lang="en-US">
              <a:latin typeface="Calibri" pitchFamily="34" charset="0"/>
            </a:endParaRPr>
          </a:p>
        </p:txBody>
      </p:sp>
      <p:sp>
        <p:nvSpPr>
          <p:cNvPr id="1050243"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398" name=""/>
        <p:cNvGrpSpPr/>
        <p:nvPr/>
      </p:nvGrpSpPr>
      <p:grpSpPr>
        <a:xfrm>
          <a:off x="0" y="0"/>
          <a:ext cx="0" cy="0"/>
          <a:chOff x="0" y="0"/>
          <a:chExt cx="0" cy="0"/>
        </a:xfrm>
      </p:grpSpPr>
      <p:sp>
        <p:nvSpPr>
          <p:cNvPr id="1050244" name="Title 1"/>
          <p:cNvSpPr>
            <a:spLocks noGrp="1"/>
          </p:cNvSpPr>
          <p:nvPr>
            <p:ph type="title"/>
          </p:nvPr>
        </p:nvSpPr>
        <p:spPr/>
        <p:txBody>
          <a:bodyPr/>
          <a:p>
            <a:r>
              <a:rPr b="1" dirty="0" lang="en-US" u="sng" smtClean="0">
                <a:solidFill>
                  <a:srgbClr val="660066"/>
                </a:solidFill>
              </a:rPr>
              <a:t>2.SECONDARY  PPH</a:t>
            </a:r>
            <a:endParaRPr dirty="0" lang="en-US" u="sng">
              <a:solidFill>
                <a:srgbClr val="660066"/>
              </a:solidFill>
            </a:endParaRPr>
          </a:p>
        </p:txBody>
      </p:sp>
      <p:sp>
        <p:nvSpPr>
          <p:cNvPr id="1050245" name="Content Placeholder 2"/>
          <p:cNvSpPr>
            <a:spLocks noGrp="1"/>
          </p:cNvSpPr>
          <p:nvPr>
            <p:ph sz="quarter" idx="1"/>
          </p:nvPr>
        </p:nvSpPr>
        <p:spPr>
          <a:xfrm>
            <a:off x="381000" y="1447800"/>
            <a:ext cx="10477500" cy="4572000"/>
          </a:xfrm>
        </p:spPr>
        <p:txBody>
          <a:bodyPr>
            <a:noAutofit/>
          </a:bodyPr>
          <a:p>
            <a:pPr>
              <a:buNone/>
            </a:pPr>
            <a:r>
              <a:rPr dirty="0" sz="3100" lang="en-US" smtClean="0">
                <a:latin typeface="Calibri" pitchFamily="34" charset="0"/>
              </a:rPr>
              <a:t>	</a:t>
            </a:r>
            <a:r>
              <a:rPr b="1" dirty="0" sz="3100" lang="en-US" smtClean="0">
                <a:latin typeface="Calibri" pitchFamily="34" charset="0"/>
              </a:rPr>
              <a:t>  </a:t>
            </a:r>
            <a:r>
              <a:rPr b="1" dirty="0" sz="3100" i="1" lang="en-US" smtClean="0">
                <a:latin typeface="Calibri" pitchFamily="34" charset="0"/>
              </a:rPr>
              <a:t>Definition</a:t>
            </a:r>
          </a:p>
          <a:p>
            <a:r>
              <a:rPr dirty="0" sz="3100" lang="en-US" smtClean="0">
                <a:latin typeface="Calibri" pitchFamily="34" charset="0"/>
              </a:rPr>
              <a:t>It’s excessive bleeding from the genital tract after 24 hrs following completion of 3</a:t>
            </a:r>
            <a:r>
              <a:rPr baseline="30000" dirty="0" sz="3100" lang="en-US" smtClean="0">
                <a:latin typeface="Calibri" pitchFamily="34" charset="0"/>
              </a:rPr>
              <a:t>rd</a:t>
            </a:r>
            <a:r>
              <a:rPr dirty="0" sz="3100" lang="en-US" smtClean="0">
                <a:latin typeface="Calibri" pitchFamily="34" charset="0"/>
              </a:rPr>
              <a:t> stage of labour,  and up to 6(six) weeks or 42 days after delivery.</a:t>
            </a:r>
          </a:p>
          <a:p>
            <a:pPr>
              <a:buNone/>
            </a:pPr>
            <a:r>
              <a:rPr b="1" dirty="0" sz="3100" lang="en-US" smtClean="0">
                <a:solidFill>
                  <a:srgbClr val="FF0000"/>
                </a:solidFill>
                <a:latin typeface="Calibri" pitchFamily="34" charset="0"/>
              </a:rPr>
              <a:t>NB: </a:t>
            </a:r>
            <a:r>
              <a:rPr dirty="0" sz="3100" lang="en-US" smtClean="0">
                <a:latin typeface="Calibri" pitchFamily="34" charset="0"/>
              </a:rPr>
              <a:t>Commonest occurrence is between 8</a:t>
            </a:r>
            <a:r>
              <a:rPr baseline="30000" dirty="0" sz="3100" lang="en-US" smtClean="0">
                <a:latin typeface="Calibri" pitchFamily="34" charset="0"/>
              </a:rPr>
              <a:t>th</a:t>
            </a:r>
            <a:r>
              <a:rPr dirty="0" sz="3100" lang="en-US" smtClean="0">
                <a:latin typeface="Calibri" pitchFamily="34" charset="0"/>
              </a:rPr>
              <a:t> – 14</a:t>
            </a:r>
            <a:r>
              <a:rPr baseline="30000" dirty="0" sz="3100" lang="en-US" smtClean="0">
                <a:latin typeface="Calibri" pitchFamily="34" charset="0"/>
              </a:rPr>
              <a:t>th</a:t>
            </a:r>
            <a:r>
              <a:rPr dirty="0" sz="3100" lang="en-US" smtClean="0">
                <a:latin typeface="Calibri" pitchFamily="34" charset="0"/>
              </a:rPr>
              <a:t> day after birth.</a:t>
            </a:r>
          </a:p>
          <a:p>
            <a:pPr>
              <a:buNone/>
            </a:pPr>
            <a:r>
              <a:rPr dirty="0" sz="3100" lang="en-US" smtClean="0">
                <a:latin typeface="Calibri" pitchFamily="34" charset="0"/>
              </a:rPr>
              <a:t>	  </a:t>
            </a:r>
            <a:r>
              <a:rPr b="1" dirty="0" sz="3100" i="1" lang="en-US" smtClean="0">
                <a:latin typeface="Calibri" pitchFamily="34" charset="0"/>
              </a:rPr>
              <a:t>Causes</a:t>
            </a:r>
          </a:p>
          <a:p>
            <a:r>
              <a:rPr dirty="0" sz="3100" lang="en-US" smtClean="0">
                <a:latin typeface="Calibri" pitchFamily="34" charset="0"/>
              </a:rPr>
              <a:t>Retained placental fragments , pieces of membranes or a large  blood clot(s). </a:t>
            </a:r>
          </a:p>
        </p:txBody>
      </p:sp>
      <p:sp>
        <p:nvSpPr>
          <p:cNvPr id="1050246"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399" name=""/>
        <p:cNvGrpSpPr/>
        <p:nvPr/>
      </p:nvGrpSpPr>
      <p:grpSpPr>
        <a:xfrm>
          <a:off x="0" y="0"/>
          <a:ext cx="0" cy="0"/>
          <a:chOff x="0" y="0"/>
          <a:chExt cx="0" cy="0"/>
        </a:xfrm>
      </p:grpSpPr>
      <p:sp>
        <p:nvSpPr>
          <p:cNvPr id="1050247" name="Content Placeholder 2"/>
          <p:cNvSpPr>
            <a:spLocks noGrp="1"/>
          </p:cNvSpPr>
          <p:nvPr>
            <p:ph sz="quarter" idx="1"/>
          </p:nvPr>
        </p:nvSpPr>
        <p:spPr>
          <a:xfrm>
            <a:off x="381000" y="228600"/>
            <a:ext cx="10477500" cy="5791200"/>
          </a:xfrm>
        </p:spPr>
        <p:txBody>
          <a:bodyPr>
            <a:normAutofit/>
          </a:bodyPr>
          <a:p>
            <a:r>
              <a:rPr dirty="0" sz="3000" lang="en-US" smtClean="0">
                <a:latin typeface="Calibri" pitchFamily="34" charset="0"/>
              </a:rPr>
              <a:t>Infection of the placental site.</a:t>
            </a:r>
          </a:p>
          <a:p>
            <a:r>
              <a:rPr dirty="0" sz="3000" lang="en-US" smtClean="0">
                <a:latin typeface="Calibri" pitchFamily="34" charset="0"/>
              </a:rPr>
              <a:t>Systemic diseases such as </a:t>
            </a:r>
            <a:r>
              <a:rPr dirty="0" sz="3000" lang="en-US" err="1" smtClean="0">
                <a:latin typeface="Calibri" pitchFamily="34" charset="0"/>
              </a:rPr>
              <a:t>leukaemia</a:t>
            </a:r>
            <a:r>
              <a:rPr dirty="0" sz="3000" lang="en-US" smtClean="0">
                <a:latin typeface="Calibri" pitchFamily="34" charset="0"/>
              </a:rPr>
              <a:t> , sickle cell dse and </a:t>
            </a:r>
            <a:r>
              <a:rPr dirty="0" sz="3000" lang="en-US" err="1" smtClean="0">
                <a:latin typeface="Calibri" pitchFamily="34" charset="0"/>
              </a:rPr>
              <a:t>Thalassemia</a:t>
            </a:r>
            <a:r>
              <a:rPr dirty="0" sz="3000" lang="en-US" smtClean="0">
                <a:latin typeface="Calibri" pitchFamily="34" charset="0"/>
              </a:rPr>
              <a:t>( last 2 are haemoglobinopathies).</a:t>
            </a:r>
          </a:p>
          <a:p>
            <a:r>
              <a:rPr dirty="0" sz="3000" lang="en-US" err="1" smtClean="0">
                <a:latin typeface="Calibri" pitchFamily="34" charset="0"/>
              </a:rPr>
              <a:t>Endometritis</a:t>
            </a:r>
            <a:r>
              <a:rPr dirty="0" sz="3000" lang="en-US" smtClean="0">
                <a:latin typeface="Calibri" pitchFamily="34" charset="0"/>
              </a:rPr>
              <a:t>, leading to </a:t>
            </a:r>
            <a:r>
              <a:rPr dirty="0" sz="3000" lang="en-US" err="1" smtClean="0">
                <a:latin typeface="Calibri" pitchFamily="34" charset="0"/>
              </a:rPr>
              <a:t>subinvolution</a:t>
            </a:r>
            <a:r>
              <a:rPr dirty="0" sz="3000" lang="en-US" smtClean="0">
                <a:latin typeface="Calibri" pitchFamily="34" charset="0"/>
              </a:rPr>
              <a:t>.</a:t>
            </a:r>
          </a:p>
          <a:p>
            <a:r>
              <a:rPr dirty="0" sz="3000" lang="en-US" smtClean="0">
                <a:latin typeface="Calibri" pitchFamily="34" charset="0"/>
              </a:rPr>
              <a:t>Secondary haemorrhage from  caesarean section wound, usually between 10</a:t>
            </a:r>
            <a:r>
              <a:rPr baseline="30000" dirty="0" sz="3000" lang="en-US" smtClean="0">
                <a:latin typeface="Calibri" pitchFamily="34" charset="0"/>
              </a:rPr>
              <a:t>th</a:t>
            </a:r>
            <a:r>
              <a:rPr dirty="0" sz="3000" lang="en-US" smtClean="0">
                <a:latin typeface="Calibri" pitchFamily="34" charset="0"/>
              </a:rPr>
              <a:t> -14</a:t>
            </a:r>
            <a:r>
              <a:rPr baseline="30000" dirty="0" sz="3000" lang="en-US" smtClean="0">
                <a:latin typeface="Calibri" pitchFamily="34" charset="0"/>
              </a:rPr>
              <a:t>th</a:t>
            </a:r>
            <a:r>
              <a:rPr dirty="0" sz="3000" lang="en-US" smtClean="0">
                <a:latin typeface="Calibri" pitchFamily="34" charset="0"/>
              </a:rPr>
              <a:t> .</a:t>
            </a:r>
          </a:p>
          <a:p>
            <a:pPr>
              <a:buFont typeface="Wingdings" pitchFamily="2" charset="2"/>
              <a:buChar char="Ø"/>
            </a:pPr>
            <a:r>
              <a:rPr dirty="0" sz="3000" lang="en-US" smtClean="0">
                <a:latin typeface="Calibri" pitchFamily="34" charset="0"/>
              </a:rPr>
              <a:t> Results from either separation of the slough, hence exposing a bleeding vessel or from granulating tissues.</a:t>
            </a:r>
          </a:p>
        </p:txBody>
      </p:sp>
      <p:sp>
        <p:nvSpPr>
          <p:cNvPr id="1050248"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400" name=""/>
        <p:cNvGrpSpPr/>
        <p:nvPr/>
      </p:nvGrpSpPr>
      <p:grpSpPr>
        <a:xfrm>
          <a:off x="0" y="0"/>
          <a:ext cx="0" cy="0"/>
          <a:chOff x="0" y="0"/>
          <a:chExt cx="0" cy="0"/>
        </a:xfrm>
      </p:grpSpPr>
      <p:sp>
        <p:nvSpPr>
          <p:cNvPr id="1050249" name="Content Placeholder 2"/>
          <p:cNvSpPr>
            <a:spLocks noGrp="1"/>
          </p:cNvSpPr>
          <p:nvPr>
            <p:ph sz="quarter" idx="1"/>
          </p:nvPr>
        </p:nvSpPr>
        <p:spPr>
          <a:xfrm>
            <a:off x="381000" y="152400"/>
            <a:ext cx="10477500" cy="5867400"/>
          </a:xfrm>
        </p:spPr>
        <p:txBody>
          <a:bodyPr>
            <a:normAutofit/>
          </a:bodyPr>
          <a:p>
            <a:pPr>
              <a:buNone/>
            </a:pPr>
            <a:r>
              <a:rPr dirty="0" sz="3200" lang="en-US" smtClean="0">
                <a:latin typeface="Calibri" pitchFamily="34" charset="0"/>
              </a:rPr>
              <a:t>		</a:t>
            </a:r>
            <a:r>
              <a:rPr b="1" dirty="0" sz="3200" i="1" lang="en-US" smtClean="0">
                <a:latin typeface="Calibri" pitchFamily="34" charset="0"/>
              </a:rPr>
              <a:t>Clinical  features</a:t>
            </a:r>
          </a:p>
          <a:p>
            <a:r>
              <a:rPr dirty="0" sz="3200" lang="en-US" smtClean="0">
                <a:latin typeface="Calibri" pitchFamily="34" charset="0"/>
              </a:rPr>
              <a:t>Heavier lochia loss, accompanied by either persistent bright red colouration or it reoccurs.</a:t>
            </a:r>
          </a:p>
          <a:p>
            <a:r>
              <a:rPr dirty="0" sz="3200" lang="en-US" smtClean="0">
                <a:latin typeface="Calibri" pitchFamily="34" charset="0"/>
              </a:rPr>
              <a:t>Offensive smelling lochia signifying infection.</a:t>
            </a:r>
          </a:p>
          <a:p>
            <a:r>
              <a:rPr dirty="0" sz="3200" lang="en-US" smtClean="0">
                <a:latin typeface="Calibri" pitchFamily="34" charset="0"/>
              </a:rPr>
              <a:t>Subinvolution, due to inefficiency of the ischaemic process.</a:t>
            </a:r>
          </a:p>
          <a:p>
            <a:r>
              <a:rPr dirty="0" sz="3200" lang="en-US" smtClean="0">
                <a:latin typeface="Calibri" pitchFamily="34" charset="0"/>
              </a:rPr>
              <a:t>Tachycardia due to high blood loss.</a:t>
            </a:r>
          </a:p>
          <a:p>
            <a:r>
              <a:rPr dirty="0" sz="3200" lang="en-US" smtClean="0">
                <a:latin typeface="Calibri" pitchFamily="34" charset="0"/>
              </a:rPr>
              <a:t>Pyrexia, indicates infection. </a:t>
            </a:r>
            <a:endParaRPr dirty="0" sz="3200" lang="en-US">
              <a:latin typeface="Calibri" pitchFamily="34" charset="0"/>
            </a:endParaRPr>
          </a:p>
        </p:txBody>
      </p:sp>
      <p:sp>
        <p:nvSpPr>
          <p:cNvPr id="1050250"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401" name=""/>
        <p:cNvGrpSpPr/>
        <p:nvPr/>
      </p:nvGrpSpPr>
      <p:grpSpPr>
        <a:xfrm>
          <a:off x="0" y="0"/>
          <a:ext cx="0" cy="0"/>
          <a:chOff x="0" y="0"/>
          <a:chExt cx="0" cy="0"/>
        </a:xfrm>
      </p:grpSpPr>
      <p:sp>
        <p:nvSpPr>
          <p:cNvPr id="1050251" name="Title 1"/>
          <p:cNvSpPr>
            <a:spLocks noGrp="1"/>
          </p:cNvSpPr>
          <p:nvPr>
            <p:ph type="title"/>
          </p:nvPr>
        </p:nvSpPr>
        <p:spPr/>
        <p:txBody>
          <a:bodyPr/>
          <a:p>
            <a:r>
              <a:rPr b="1" dirty="0" lang="en-US" smtClean="0">
                <a:solidFill>
                  <a:srgbClr val="0070C0"/>
                </a:solidFill>
              </a:rPr>
              <a:t>Specific  management</a:t>
            </a:r>
            <a:endParaRPr dirty="0" lang="en-US">
              <a:solidFill>
                <a:srgbClr val="0070C0"/>
              </a:solidFill>
            </a:endParaRPr>
          </a:p>
        </p:txBody>
      </p:sp>
      <p:sp>
        <p:nvSpPr>
          <p:cNvPr id="1050252" name="Content Placeholder 2"/>
          <p:cNvSpPr>
            <a:spLocks noGrp="1"/>
          </p:cNvSpPr>
          <p:nvPr>
            <p:ph sz="quarter" idx="1"/>
          </p:nvPr>
        </p:nvSpPr>
        <p:spPr>
          <a:xfrm>
            <a:off x="381000" y="1447800"/>
            <a:ext cx="10477500" cy="4572000"/>
          </a:xfrm>
        </p:spPr>
        <p:txBody>
          <a:bodyPr>
            <a:noAutofit/>
          </a:bodyPr>
          <a:p>
            <a:pPr>
              <a:buFont typeface="Wingdings" pitchFamily="2" charset="2"/>
              <a:buChar char="v"/>
            </a:pPr>
            <a:r>
              <a:rPr dirty="0" sz="3100" lang="en-US" smtClean="0">
                <a:latin typeface="Calibri" pitchFamily="34" charset="0"/>
              </a:rPr>
              <a:t> </a:t>
            </a:r>
            <a:r>
              <a:rPr dirty="0" sz="3100" lang="en-US" smtClean="0">
                <a:solidFill>
                  <a:schemeClr val="accent6">
                    <a:lumMod val="50000"/>
                  </a:schemeClr>
                </a:solidFill>
                <a:latin typeface="Calibri" pitchFamily="34" charset="0"/>
              </a:rPr>
              <a:t>For in patient</a:t>
            </a:r>
            <a:r>
              <a:rPr dirty="0" sz="3100" lang="en-US" smtClean="0">
                <a:latin typeface="Calibri" pitchFamily="34" charset="0"/>
              </a:rPr>
              <a:t>, inform the Dr soonest possible .</a:t>
            </a:r>
          </a:p>
          <a:p>
            <a:pPr>
              <a:buFont typeface="Wingdings" pitchFamily="2" charset="2"/>
              <a:buChar char="Ø"/>
            </a:pPr>
            <a:r>
              <a:rPr dirty="0" sz="3100" lang="en-US" smtClean="0">
                <a:latin typeface="Calibri" pitchFamily="34" charset="0"/>
              </a:rPr>
              <a:t> Reassure the mother to allay anxiety.</a:t>
            </a:r>
          </a:p>
          <a:p>
            <a:r>
              <a:rPr dirty="0" sz="3100" lang="en-US" smtClean="0">
                <a:latin typeface="Calibri" pitchFamily="34" charset="0"/>
              </a:rPr>
              <a:t>Control bleeding through:-  Encouraging bladder emptying,  expelling clots , massaging the uterus to bring up a contraction ie if still palpable.</a:t>
            </a:r>
          </a:p>
          <a:p>
            <a:pPr>
              <a:buFont typeface="Wingdings" pitchFamily="2" charset="2"/>
              <a:buChar char="Ø"/>
            </a:pPr>
            <a:r>
              <a:rPr dirty="0" sz="3100" lang="en-US" smtClean="0">
                <a:latin typeface="Calibri" pitchFamily="34" charset="0"/>
              </a:rPr>
              <a:t> Administer uterotonic agents eg synitocinon 10 </a:t>
            </a:r>
            <a:r>
              <a:rPr dirty="0" sz="3100" lang="en-US" err="1" smtClean="0">
                <a:latin typeface="Calibri" pitchFamily="34" charset="0"/>
              </a:rPr>
              <a:t>l.u</a:t>
            </a:r>
            <a:r>
              <a:rPr dirty="0" sz="3100" lang="en-US" smtClean="0">
                <a:latin typeface="Calibri" pitchFamily="34" charset="0"/>
              </a:rPr>
              <a:t> intramuscularly. Then a synitocinon drip at a dose of 20-40 </a:t>
            </a:r>
            <a:r>
              <a:rPr dirty="0" sz="3100" lang="en-US" err="1" smtClean="0">
                <a:latin typeface="Calibri" pitchFamily="34" charset="0"/>
              </a:rPr>
              <a:t>i.u</a:t>
            </a:r>
            <a:r>
              <a:rPr dirty="0" sz="3100" lang="en-US" smtClean="0">
                <a:latin typeface="Calibri" pitchFamily="34" charset="0"/>
              </a:rPr>
              <a:t> in 1 </a:t>
            </a:r>
            <a:r>
              <a:rPr dirty="0" sz="3100" lang="en-US" err="1" smtClean="0">
                <a:latin typeface="Calibri" pitchFamily="34" charset="0"/>
              </a:rPr>
              <a:t>litre</a:t>
            </a:r>
            <a:r>
              <a:rPr dirty="0" sz="3100" lang="en-US" smtClean="0">
                <a:latin typeface="Calibri" pitchFamily="34" charset="0"/>
              </a:rPr>
              <a:t> of normal saline.</a:t>
            </a:r>
          </a:p>
          <a:p>
            <a:r>
              <a:rPr dirty="0" sz="3100" lang="en-US" smtClean="0">
                <a:latin typeface="Calibri" pitchFamily="34" charset="0"/>
              </a:rPr>
              <a:t>Closely monitor the condition through:-</a:t>
            </a:r>
          </a:p>
          <a:p>
            <a:pPr>
              <a:buFont typeface="Wingdings" pitchFamily="2" charset="2"/>
              <a:buChar char="Ø"/>
            </a:pPr>
            <a:r>
              <a:rPr dirty="0" sz="3100" lang="en-US" smtClean="0">
                <a:latin typeface="Calibri" pitchFamily="34" charset="0"/>
              </a:rPr>
              <a:t>Vital signs every ½ -1 hourly bases initially.</a:t>
            </a:r>
          </a:p>
          <a:p>
            <a:endParaRPr dirty="0" sz="3100" lang="en-US" smtClean="0">
              <a:latin typeface="Calibri" pitchFamily="34" charset="0"/>
            </a:endParaRPr>
          </a:p>
          <a:p>
            <a:endParaRPr dirty="0" sz="3100" lang="en-US">
              <a:latin typeface="Calibri" pitchFamily="34" charset="0"/>
            </a:endParaRPr>
          </a:p>
        </p:txBody>
      </p:sp>
      <p:sp>
        <p:nvSpPr>
          <p:cNvPr id="1050253"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402" name=""/>
        <p:cNvGrpSpPr/>
        <p:nvPr/>
      </p:nvGrpSpPr>
      <p:grpSpPr>
        <a:xfrm>
          <a:off x="0" y="0"/>
          <a:ext cx="0" cy="0"/>
          <a:chOff x="0" y="0"/>
          <a:chExt cx="0" cy="0"/>
        </a:xfrm>
      </p:grpSpPr>
      <p:sp>
        <p:nvSpPr>
          <p:cNvPr id="1050254" name="Content Placeholder 2"/>
          <p:cNvSpPr>
            <a:spLocks noGrp="1"/>
          </p:cNvSpPr>
          <p:nvPr>
            <p:ph sz="quarter" idx="1"/>
          </p:nvPr>
        </p:nvSpPr>
        <p:spPr>
          <a:xfrm>
            <a:off x="285751" y="304800"/>
            <a:ext cx="11144250" cy="6169152"/>
          </a:xfrm>
        </p:spPr>
        <p:txBody>
          <a:bodyPr>
            <a:noAutofit/>
          </a:bodyPr>
          <a:p>
            <a:pPr>
              <a:buFont typeface="Wingdings" pitchFamily="2" charset="2"/>
              <a:buChar char="Ø"/>
            </a:pPr>
            <a:r>
              <a:rPr dirty="0" sz="2800" lang="en-US" smtClean="0">
                <a:latin typeface="Calibri" pitchFamily="34" charset="0"/>
              </a:rPr>
              <a:t>Presence of pallor  in severe blood loss.</a:t>
            </a:r>
          </a:p>
          <a:p>
            <a:pPr>
              <a:buFont typeface="Wingdings" pitchFamily="2" charset="2"/>
              <a:buChar char="Ø"/>
            </a:pPr>
            <a:r>
              <a:rPr dirty="0" sz="2800" lang="en-US" smtClean="0">
                <a:latin typeface="Calibri" pitchFamily="34" charset="0"/>
              </a:rPr>
              <a:t>Note the amount of  blood  loss.</a:t>
            </a:r>
          </a:p>
          <a:p>
            <a:pPr>
              <a:buFont typeface="Wingdings" pitchFamily="2" charset="2"/>
              <a:buChar char="Ø"/>
            </a:pPr>
            <a:r>
              <a:rPr dirty="0" sz="2800" lang="en-US" smtClean="0">
                <a:latin typeface="Calibri" pitchFamily="34" charset="0"/>
              </a:rPr>
              <a:t>Enquire for h/o dizziness in relationship to pallor &amp;blood loss.</a:t>
            </a:r>
          </a:p>
          <a:p>
            <a:r>
              <a:rPr dirty="0" sz="2800" lang="en-US" smtClean="0">
                <a:latin typeface="Calibri" pitchFamily="34" charset="0"/>
              </a:rPr>
              <a:t>Investigate the cause and treat.</a:t>
            </a:r>
          </a:p>
          <a:p>
            <a:r>
              <a:rPr dirty="0" sz="2800" lang="en-US" smtClean="0">
                <a:latin typeface="Calibri" pitchFamily="34" charset="0"/>
              </a:rPr>
              <a:t>If bleeding persists, prepare for evacuation of the retained products.</a:t>
            </a:r>
          </a:p>
          <a:p>
            <a:pPr>
              <a:buNone/>
            </a:pPr>
            <a:r>
              <a:rPr dirty="0" sz="2800" lang="en-US" smtClean="0">
                <a:latin typeface="Calibri" pitchFamily="34" charset="0"/>
              </a:rPr>
              <a:t>		</a:t>
            </a:r>
            <a:r>
              <a:rPr dirty="0" sz="2800" lang="en-US" smtClean="0">
                <a:solidFill>
                  <a:schemeClr val="accent6">
                    <a:lumMod val="50000"/>
                  </a:schemeClr>
                </a:solidFill>
                <a:latin typeface="Calibri" pitchFamily="34" charset="0"/>
              </a:rPr>
              <a:t>For out patient</a:t>
            </a:r>
          </a:p>
          <a:p>
            <a:pPr>
              <a:buFont typeface="Wingdings" pitchFamily="2" charset="2"/>
              <a:buChar char="v"/>
            </a:pPr>
            <a:r>
              <a:rPr dirty="0" sz="2800" lang="en-US" smtClean="0">
                <a:latin typeface="Calibri" pitchFamily="34" charset="0"/>
              </a:rPr>
              <a:t>Medical attention is sought in the primary health care facility. </a:t>
            </a:r>
            <a:endParaRPr dirty="0" sz="2800" lang="en-US">
              <a:latin typeface="Calibri" pitchFamily="34" charset="0"/>
            </a:endParaRPr>
          </a:p>
        </p:txBody>
      </p:sp>
      <p:sp>
        <p:nvSpPr>
          <p:cNvPr id="1050255"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403" name=""/>
        <p:cNvGrpSpPr/>
        <p:nvPr/>
      </p:nvGrpSpPr>
      <p:grpSpPr>
        <a:xfrm>
          <a:off x="0" y="0"/>
          <a:ext cx="0" cy="0"/>
          <a:chOff x="0" y="0"/>
          <a:chExt cx="0" cy="0"/>
        </a:xfrm>
      </p:grpSpPr>
      <p:sp>
        <p:nvSpPr>
          <p:cNvPr id="1050256" name="Content Placeholder 2"/>
          <p:cNvSpPr>
            <a:spLocks noGrp="1"/>
          </p:cNvSpPr>
          <p:nvPr>
            <p:ph sz="quarter" idx="1"/>
          </p:nvPr>
        </p:nvSpPr>
        <p:spPr>
          <a:xfrm>
            <a:off x="476250" y="228600"/>
            <a:ext cx="10382250" cy="5791200"/>
          </a:xfrm>
        </p:spPr>
        <p:txBody>
          <a:bodyPr>
            <a:noAutofit/>
          </a:bodyPr>
          <a:p>
            <a:r>
              <a:rPr dirty="0" sz="2800" lang="en-US" smtClean="0">
                <a:latin typeface="Calibri" pitchFamily="34" charset="0"/>
              </a:rPr>
              <a:t>So, assessment is based on:- History especially of antenatal profile and labour.</a:t>
            </a:r>
          </a:p>
          <a:p>
            <a:pPr>
              <a:buFont typeface="Wingdings" pitchFamily="2" charset="2"/>
              <a:buChar char="Ø"/>
            </a:pPr>
            <a:r>
              <a:rPr dirty="0" sz="2800" lang="en-US" smtClean="0">
                <a:latin typeface="Calibri" pitchFamily="34" charset="0"/>
              </a:rPr>
              <a:t> Physical exam findings, in regard to signs of anaemia, state of the uterus, nature of blood loss and vital signs.</a:t>
            </a:r>
          </a:p>
          <a:p>
            <a:r>
              <a:rPr dirty="0" sz="2800" lang="en-US" smtClean="0">
                <a:latin typeface="Calibri" pitchFamily="34" charset="0"/>
              </a:rPr>
              <a:t>For signs of shock, instruct the client to lie down and elevate legs to supply the vital organs greatly.</a:t>
            </a:r>
          </a:p>
          <a:p>
            <a:r>
              <a:rPr dirty="0" sz="2800" lang="en-US" smtClean="0">
                <a:latin typeface="Calibri" pitchFamily="34" charset="0"/>
              </a:rPr>
              <a:t>Simultaneously,support circulatory volume by commencing intravenous fluids.</a:t>
            </a:r>
          </a:p>
          <a:p>
            <a:r>
              <a:rPr dirty="0" sz="2800" lang="en-US" smtClean="0">
                <a:latin typeface="Calibri" pitchFamily="34" charset="0"/>
              </a:rPr>
              <a:t>Prepare for transfusion &amp; administer oxytocin 10i.u stat.</a:t>
            </a:r>
          </a:p>
          <a:p>
            <a:r>
              <a:rPr dirty="0" sz="2800" lang="en-US" smtClean="0">
                <a:latin typeface="Calibri" pitchFamily="34" charset="0"/>
              </a:rPr>
              <a:t>Evaluate the progress and refer for further management. </a:t>
            </a:r>
            <a:endParaRPr dirty="0" sz="2800" lang="en-US">
              <a:latin typeface="Calibri" pitchFamily="34" charset="0"/>
            </a:endParaRPr>
          </a:p>
        </p:txBody>
      </p:sp>
      <p:sp>
        <p:nvSpPr>
          <p:cNvPr id="1050257"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404" name=""/>
        <p:cNvGrpSpPr/>
        <p:nvPr/>
      </p:nvGrpSpPr>
      <p:grpSpPr>
        <a:xfrm>
          <a:off x="0" y="0"/>
          <a:ext cx="0" cy="0"/>
          <a:chOff x="0" y="0"/>
          <a:chExt cx="0" cy="0"/>
        </a:xfrm>
      </p:grpSpPr>
      <p:sp>
        <p:nvSpPr>
          <p:cNvPr id="1050258" name="Content Placeholder 2"/>
          <p:cNvSpPr>
            <a:spLocks noGrp="1"/>
          </p:cNvSpPr>
          <p:nvPr>
            <p:ph sz="quarter" idx="1"/>
          </p:nvPr>
        </p:nvSpPr>
        <p:spPr>
          <a:xfrm>
            <a:off x="381000" y="152400"/>
            <a:ext cx="10477500" cy="5867400"/>
          </a:xfrm>
        </p:spPr>
        <p:txBody>
          <a:bodyPr>
            <a:normAutofit/>
          </a:bodyPr>
          <a:p>
            <a:pPr>
              <a:buNone/>
            </a:pPr>
            <a:r>
              <a:rPr dirty="0" lang="en-US" smtClean="0">
                <a:latin typeface="Calibri" pitchFamily="34" charset="0"/>
              </a:rPr>
              <a:t>		</a:t>
            </a:r>
            <a:r>
              <a:rPr b="1" dirty="0" lang="en-US" u="sng" smtClean="0">
                <a:latin typeface="Calibri" pitchFamily="34" charset="0"/>
              </a:rPr>
              <a:t>In  Hospital</a:t>
            </a:r>
          </a:p>
          <a:p>
            <a:r>
              <a:rPr dirty="0" lang="en-US" smtClean="0">
                <a:latin typeface="Calibri" pitchFamily="34" charset="0"/>
              </a:rPr>
              <a:t>Organise for baby care, as per the mother’s condition.</a:t>
            </a:r>
          </a:p>
          <a:p>
            <a:r>
              <a:rPr dirty="0" lang="en-US" smtClean="0">
                <a:latin typeface="Calibri" pitchFamily="34" charset="0"/>
              </a:rPr>
              <a:t>Inform the doctor to review the patient.</a:t>
            </a:r>
          </a:p>
          <a:p>
            <a:r>
              <a:rPr dirty="0" lang="en-US" smtClean="0">
                <a:latin typeface="Calibri" pitchFamily="34" charset="0"/>
              </a:rPr>
              <a:t>Reassess through vital signs, taking note on the blood loss and signs of anaemia.</a:t>
            </a:r>
          </a:p>
          <a:p>
            <a:pPr>
              <a:buFont typeface="Wingdings" pitchFamily="2" charset="2"/>
              <a:buChar char="Ø"/>
            </a:pPr>
            <a:r>
              <a:rPr dirty="0" lang="en-US" smtClean="0">
                <a:latin typeface="Calibri" pitchFamily="34" charset="0"/>
              </a:rPr>
              <a:t> Also through lab tests eg high vaginal swab, haemogram and x-match prn</a:t>
            </a:r>
          </a:p>
          <a:p>
            <a:r>
              <a:rPr dirty="0" lang="en-US" smtClean="0">
                <a:latin typeface="Calibri" pitchFamily="34" charset="0"/>
              </a:rPr>
              <a:t>On implementation:  Commence plasma expanders, broad spectrum antibiotics parentally initially eg inj ampicillin 500mg 6 hrly i.v for 2 days + gentamycin 80mg 8 hrly for</a:t>
            </a:r>
          </a:p>
          <a:p>
            <a:pPr>
              <a:buNone/>
            </a:pPr>
            <a:r>
              <a:rPr dirty="0" lang="en-US" smtClean="0">
                <a:latin typeface="Calibri" pitchFamily="34" charset="0"/>
              </a:rPr>
              <a:t>	1 week and metronidazole 500mg i.v 8hrly for 2 days. </a:t>
            </a:r>
            <a:endParaRPr dirty="0" lang="en-US">
              <a:latin typeface="Calibri" pitchFamily="34" charset="0"/>
            </a:endParaRPr>
          </a:p>
        </p:txBody>
      </p:sp>
      <p:sp>
        <p:nvSpPr>
          <p:cNvPr id="105025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405" name=""/>
        <p:cNvGrpSpPr/>
        <p:nvPr/>
      </p:nvGrpSpPr>
      <p:grpSpPr>
        <a:xfrm>
          <a:off x="0" y="0"/>
          <a:ext cx="0" cy="0"/>
          <a:chOff x="0" y="0"/>
          <a:chExt cx="0" cy="0"/>
        </a:xfrm>
      </p:grpSpPr>
      <p:sp>
        <p:nvSpPr>
          <p:cNvPr id="1050260" name="Content Placeholder 2"/>
          <p:cNvSpPr>
            <a:spLocks noGrp="1"/>
          </p:cNvSpPr>
          <p:nvPr>
            <p:ph sz="quarter" idx="1"/>
          </p:nvPr>
        </p:nvSpPr>
        <p:spPr>
          <a:xfrm>
            <a:off x="476250" y="228600"/>
            <a:ext cx="10382250" cy="5791200"/>
          </a:xfrm>
        </p:spPr>
        <p:txBody>
          <a:bodyPr>
            <a:noAutofit/>
          </a:bodyPr>
          <a:p>
            <a:pPr>
              <a:buFont typeface="Wingdings" pitchFamily="2" charset="2"/>
              <a:buChar char="Ø"/>
            </a:pPr>
            <a:r>
              <a:rPr dirty="0" lang="en-US" smtClean="0">
                <a:latin typeface="Calibri" pitchFamily="34" charset="0"/>
              </a:rPr>
              <a:t>Thereafter administer orally to make up to 1 week.</a:t>
            </a:r>
          </a:p>
          <a:p>
            <a:r>
              <a:rPr dirty="0" lang="en-US" smtClean="0">
                <a:latin typeface="Calibri" pitchFamily="34" charset="0"/>
              </a:rPr>
              <a:t>If conceptus are present, prepare for evacuation after 12 or more hours of antibiotic therapy to prevent septiceamia.</a:t>
            </a:r>
          </a:p>
          <a:p>
            <a:pPr>
              <a:buFont typeface="Wingdings" pitchFamily="2" charset="2"/>
              <a:buChar char="v"/>
            </a:pPr>
            <a:r>
              <a:rPr dirty="0" lang="en-US" smtClean="0">
                <a:latin typeface="Calibri" pitchFamily="34" charset="0"/>
              </a:rPr>
              <a:t>Best method is manual vacuum aspirator (MVA) instead of blunt or sharp curretage to prevent risk of perforation.</a:t>
            </a:r>
          </a:p>
          <a:p>
            <a:r>
              <a:rPr dirty="0" lang="en-US" smtClean="0">
                <a:latin typeface="Calibri" pitchFamily="34" charset="0"/>
              </a:rPr>
              <a:t>Post evacuation,close monitoring continues to evaluate the condition accurately.</a:t>
            </a:r>
          </a:p>
          <a:p>
            <a:r>
              <a:rPr dirty="0" lang="en-US" smtClean="0">
                <a:latin typeface="Calibri" pitchFamily="34" charset="0"/>
              </a:rPr>
              <a:t>Administer haematinics for at least 3-4 weeks.</a:t>
            </a:r>
          </a:p>
          <a:p>
            <a:r>
              <a:rPr dirty="0" lang="en-US" smtClean="0">
                <a:latin typeface="Calibri" pitchFamily="34" charset="0"/>
              </a:rPr>
              <a:t>Finally prepare for discharge as other PPH cases. </a:t>
            </a:r>
            <a:endParaRPr dirty="0" lang="en-US">
              <a:latin typeface="Calibri" pitchFamily="34" charset="0"/>
            </a:endParaRPr>
          </a:p>
        </p:txBody>
      </p:sp>
      <p:sp>
        <p:nvSpPr>
          <p:cNvPr id="1050261"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406" name=""/>
        <p:cNvGrpSpPr/>
        <p:nvPr/>
      </p:nvGrpSpPr>
      <p:grpSpPr>
        <a:xfrm>
          <a:off x="0" y="0"/>
          <a:ext cx="0" cy="0"/>
          <a:chOff x="0" y="0"/>
          <a:chExt cx="0" cy="0"/>
        </a:xfrm>
      </p:grpSpPr>
      <p:sp>
        <p:nvSpPr>
          <p:cNvPr id="1050262" name="Title 1"/>
          <p:cNvSpPr>
            <a:spLocks noGrp="1"/>
          </p:cNvSpPr>
          <p:nvPr>
            <p:ph type="title"/>
          </p:nvPr>
        </p:nvSpPr>
        <p:spPr>
          <a:xfrm>
            <a:off x="381000" y="228600"/>
            <a:ext cx="10668000" cy="758952"/>
          </a:xfrm>
        </p:spPr>
        <p:txBody>
          <a:bodyPr>
            <a:normAutofit/>
          </a:bodyPr>
          <a:p>
            <a:r>
              <a:rPr dirty="0" sz="2800" lang="en-US" smtClean="0">
                <a:solidFill>
                  <a:srgbClr val="660066"/>
                </a:solidFill>
              </a:rPr>
              <a:t>GENERAL OBSERVATIONS FOLLOWING PPH</a:t>
            </a:r>
            <a:endParaRPr dirty="0" sz="2800" lang="en-US">
              <a:solidFill>
                <a:srgbClr val="660066"/>
              </a:solidFill>
            </a:endParaRPr>
          </a:p>
        </p:txBody>
      </p:sp>
      <p:sp>
        <p:nvSpPr>
          <p:cNvPr id="1050263" name="Content Placeholder 2"/>
          <p:cNvSpPr>
            <a:spLocks noGrp="1"/>
          </p:cNvSpPr>
          <p:nvPr>
            <p:ph sz="quarter" idx="1"/>
          </p:nvPr>
        </p:nvSpPr>
        <p:spPr>
          <a:xfrm>
            <a:off x="381000" y="1447800"/>
            <a:ext cx="10477500" cy="4572000"/>
          </a:xfrm>
        </p:spPr>
        <p:txBody>
          <a:bodyPr>
            <a:noAutofit/>
          </a:bodyPr>
          <a:p>
            <a:r>
              <a:rPr dirty="0" sz="2600" lang="en-US" smtClean="0">
                <a:latin typeface="Calibri" pitchFamily="34" charset="0"/>
              </a:rPr>
              <a:t>Vital signs : aim is to early diagnose shock.</a:t>
            </a:r>
          </a:p>
          <a:p>
            <a:r>
              <a:rPr dirty="0" sz="2600" lang="en-US" smtClean="0">
                <a:latin typeface="Calibri" pitchFamily="34" charset="0"/>
              </a:rPr>
              <a:t>State of the uterus: to diagnose atony.  Normally should remain well contracted.</a:t>
            </a:r>
          </a:p>
          <a:p>
            <a:r>
              <a:rPr dirty="0" sz="2600" lang="en-US" smtClean="0">
                <a:latin typeface="Calibri" pitchFamily="34" charset="0"/>
              </a:rPr>
              <a:t>State of lochia: Aim is to diagnose retained conceptus or sepsis. So note the amount, consistency, colour &amp; smell.</a:t>
            </a:r>
          </a:p>
          <a:p>
            <a:r>
              <a:rPr dirty="0" sz="2600" lang="en-US" smtClean="0">
                <a:latin typeface="Calibri" pitchFamily="34" charset="0"/>
              </a:rPr>
              <a:t>Fluid intake &amp; output: Aim is to assess for renal impairment and circulatory overload.</a:t>
            </a:r>
          </a:p>
          <a:p>
            <a:r>
              <a:rPr dirty="0" sz="2600" lang="en-US" smtClean="0">
                <a:latin typeface="Calibri" pitchFamily="34" charset="0"/>
              </a:rPr>
              <a:t>Establishment of lactation; through assessment for hypopituitarism / Sheehan’s syndrome resulting from severe and prolonged blood loss.</a:t>
            </a:r>
            <a:endParaRPr dirty="0" sz="2600" lang="en-US">
              <a:latin typeface="Calibri" pitchFamily="34" charset="0"/>
            </a:endParaRPr>
          </a:p>
        </p:txBody>
      </p:sp>
      <p:sp>
        <p:nvSpPr>
          <p:cNvPr id="1050264"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407" name=""/>
        <p:cNvGrpSpPr/>
        <p:nvPr/>
      </p:nvGrpSpPr>
      <p:grpSpPr>
        <a:xfrm>
          <a:off x="0" y="0"/>
          <a:ext cx="0" cy="0"/>
          <a:chOff x="0" y="0"/>
          <a:chExt cx="0" cy="0"/>
        </a:xfrm>
      </p:grpSpPr>
      <p:sp>
        <p:nvSpPr>
          <p:cNvPr id="1050265" name="Title 1"/>
          <p:cNvSpPr>
            <a:spLocks noGrp="1"/>
          </p:cNvSpPr>
          <p:nvPr>
            <p:ph type="title"/>
          </p:nvPr>
        </p:nvSpPr>
        <p:spPr/>
        <p:txBody>
          <a:bodyPr/>
          <a:p>
            <a:r>
              <a:rPr b="1" dirty="0" lang="en-US" smtClean="0">
                <a:solidFill>
                  <a:srgbClr val="660066"/>
                </a:solidFill>
              </a:rPr>
              <a:t>COMPLICATIONS</a:t>
            </a:r>
            <a:endParaRPr dirty="0" lang="en-US"/>
          </a:p>
        </p:txBody>
      </p:sp>
      <p:sp>
        <p:nvSpPr>
          <p:cNvPr id="1050266" name="Content Placeholder 2"/>
          <p:cNvSpPr>
            <a:spLocks noGrp="1"/>
          </p:cNvSpPr>
          <p:nvPr>
            <p:ph sz="quarter" idx="1"/>
          </p:nvPr>
        </p:nvSpPr>
        <p:spPr>
          <a:xfrm>
            <a:off x="190500" y="1447800"/>
            <a:ext cx="10668000" cy="4572000"/>
          </a:xfrm>
        </p:spPr>
        <p:txBody>
          <a:bodyPr>
            <a:normAutofit/>
          </a:bodyPr>
          <a:p>
            <a:r>
              <a:rPr dirty="0" lang="en-US" smtClean="0">
                <a:latin typeface="Calibri" pitchFamily="34" charset="0"/>
              </a:rPr>
              <a:t>Anaemia, severity depends on the amount of blood loss and duration of bleeding.</a:t>
            </a:r>
          </a:p>
          <a:p>
            <a:r>
              <a:rPr dirty="0" lang="en-US" smtClean="0">
                <a:latin typeface="Calibri" pitchFamily="34" charset="0"/>
              </a:rPr>
              <a:t>Acute renal failure, hypovoluemia leads to tubules necrosis hence disruption of (N) functions.</a:t>
            </a:r>
          </a:p>
          <a:p>
            <a:r>
              <a:rPr dirty="0" lang="en-US" smtClean="0">
                <a:latin typeface="Calibri" pitchFamily="34" charset="0"/>
              </a:rPr>
              <a:t>Disseminated intravascular coagulation, leads to high consumption of clotting factors hence massive bleeding.</a:t>
            </a:r>
          </a:p>
          <a:p>
            <a:r>
              <a:rPr dirty="0" lang="en-US" smtClean="0">
                <a:latin typeface="Calibri" pitchFamily="34" charset="0"/>
              </a:rPr>
              <a:t>Sheehan’s syndrome / hypopituitarism, characterised by atrophy initially and later necrosis of the anterior pituitary gland tissues. In mild form leads to failed lactation, severe form to premature menopause.</a:t>
            </a:r>
          </a:p>
          <a:p>
            <a:endParaRPr dirty="0" lang="en-US">
              <a:latin typeface="Calibri" pitchFamily="34" charset="0"/>
            </a:endParaRPr>
          </a:p>
        </p:txBody>
      </p:sp>
      <p:sp>
        <p:nvSpPr>
          <p:cNvPr id="1050267" name="Footer Placeholder 3"/>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408" name=""/>
        <p:cNvGrpSpPr/>
        <p:nvPr/>
      </p:nvGrpSpPr>
      <p:grpSpPr>
        <a:xfrm>
          <a:off x="0" y="0"/>
          <a:ext cx="0" cy="0"/>
          <a:chOff x="0" y="0"/>
          <a:chExt cx="0" cy="0"/>
        </a:xfrm>
      </p:grpSpPr>
      <p:sp>
        <p:nvSpPr>
          <p:cNvPr id="1050268" name="Content Placeholder 2"/>
          <p:cNvSpPr>
            <a:spLocks noGrp="1"/>
          </p:cNvSpPr>
          <p:nvPr>
            <p:ph sz="quarter" idx="1"/>
          </p:nvPr>
        </p:nvSpPr>
        <p:spPr>
          <a:xfrm>
            <a:off x="381000" y="381000"/>
            <a:ext cx="10477500" cy="5638800"/>
          </a:xfrm>
        </p:spPr>
        <p:txBody>
          <a:bodyPr>
            <a:noAutofit/>
          </a:bodyPr>
          <a:p>
            <a:r>
              <a:rPr dirty="0" lang="en-US" smtClean="0">
                <a:latin typeface="Calibri" pitchFamily="34" charset="0"/>
              </a:rPr>
              <a:t>Asherman’s syndrome, caused by rough curetting leading to development of adhesions , hence secondary infertility.</a:t>
            </a:r>
          </a:p>
          <a:p>
            <a:r>
              <a:rPr dirty="0" lang="en-US" smtClean="0">
                <a:latin typeface="Calibri" pitchFamily="34" charset="0"/>
              </a:rPr>
              <a:t>Psychological trauma, so develops poor outlook to future deliveries because the whole experience is frightening.</a:t>
            </a:r>
          </a:p>
          <a:p>
            <a:pPr>
              <a:buNone/>
            </a:pPr>
            <a:r>
              <a:rPr dirty="0" lang="en-US" smtClean="0">
                <a:latin typeface="Calibri" pitchFamily="34" charset="0"/>
              </a:rPr>
              <a:t>		</a:t>
            </a:r>
            <a:r>
              <a:rPr b="1" dirty="0" lang="en-US" u="sng" smtClean="0">
                <a:solidFill>
                  <a:srgbClr val="660066"/>
                </a:solidFill>
                <a:latin typeface="Calibri" pitchFamily="34" charset="0"/>
              </a:rPr>
              <a:t>PREVENTIVE  MEASURES</a:t>
            </a:r>
          </a:p>
          <a:p>
            <a:r>
              <a:rPr dirty="0" lang="en-US" smtClean="0">
                <a:latin typeface="Calibri" pitchFamily="34" charset="0"/>
              </a:rPr>
              <a:t>Community mobilisation, on importance of antenatal care as well as good referral system.</a:t>
            </a:r>
          </a:p>
          <a:p>
            <a:r>
              <a:rPr dirty="0" lang="en-US" smtClean="0">
                <a:latin typeface="Calibri" pitchFamily="34" charset="0"/>
              </a:rPr>
              <a:t>Routine screening for risk factors e.g uncontrolled chronic condition, pregnancy induced condition hence appropriate</a:t>
            </a:r>
          </a:p>
          <a:p>
            <a:pPr>
              <a:buNone/>
            </a:pPr>
            <a:r>
              <a:rPr dirty="0" lang="en-US" smtClean="0">
                <a:latin typeface="Calibri" pitchFamily="34" charset="0"/>
              </a:rPr>
              <a:t>	interventions before onset of labour.</a:t>
            </a:r>
          </a:p>
          <a:p>
            <a:endParaRPr dirty="0" lang="en-US">
              <a:latin typeface="Calibri" pitchFamily="34" charset="0"/>
            </a:endParaRPr>
          </a:p>
        </p:txBody>
      </p:sp>
      <p:sp>
        <p:nvSpPr>
          <p:cNvPr id="1050269"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409" name=""/>
        <p:cNvGrpSpPr/>
        <p:nvPr/>
      </p:nvGrpSpPr>
      <p:grpSpPr>
        <a:xfrm>
          <a:off x="0" y="0"/>
          <a:ext cx="0" cy="0"/>
          <a:chOff x="0" y="0"/>
          <a:chExt cx="0" cy="0"/>
        </a:xfrm>
      </p:grpSpPr>
      <p:sp>
        <p:nvSpPr>
          <p:cNvPr id="1050270" name="Content Placeholder 2"/>
          <p:cNvSpPr>
            <a:spLocks noGrp="1"/>
          </p:cNvSpPr>
          <p:nvPr>
            <p:ph sz="quarter" idx="1"/>
          </p:nvPr>
        </p:nvSpPr>
        <p:spPr>
          <a:xfrm>
            <a:off x="377191" y="304800"/>
            <a:ext cx="10629900" cy="6172200"/>
          </a:xfrm>
        </p:spPr>
        <p:txBody>
          <a:bodyPr>
            <a:noAutofit/>
          </a:bodyPr>
          <a:p>
            <a:r>
              <a:rPr dirty="0" sz="2800" lang="en-US" smtClean="0">
                <a:latin typeface="Calibri" pitchFamily="34" charset="0"/>
              </a:rPr>
              <a:t>Regular administration of preventive therapy e.g. haematinics.</a:t>
            </a:r>
          </a:p>
          <a:p>
            <a:r>
              <a:rPr dirty="0" sz="2800" lang="en-US" smtClean="0">
                <a:latin typeface="Calibri" pitchFamily="34" charset="0"/>
              </a:rPr>
              <a:t>Health promotion talks on prime issues, e.g. diet ,hygiene.</a:t>
            </a:r>
          </a:p>
          <a:p>
            <a:r>
              <a:rPr dirty="0" sz="2800" lang="en-US" smtClean="0">
                <a:latin typeface="Calibri" pitchFamily="34" charset="0"/>
              </a:rPr>
              <a:t>Regular monitoring of haemoglobin level and appropriate  interventions.</a:t>
            </a:r>
          </a:p>
          <a:p>
            <a:r>
              <a:rPr dirty="0" sz="2800" lang="en-US" smtClean="0">
                <a:latin typeface="Calibri" pitchFamily="34" charset="0"/>
              </a:rPr>
              <a:t>Proper management of labour, particularly 3</a:t>
            </a:r>
            <a:r>
              <a:rPr baseline="30000" dirty="0" sz="2800" lang="en-US" smtClean="0">
                <a:latin typeface="Calibri" pitchFamily="34" charset="0"/>
              </a:rPr>
              <a:t>rd</a:t>
            </a:r>
            <a:r>
              <a:rPr dirty="0" sz="2800" lang="en-US" smtClean="0">
                <a:latin typeface="Calibri" pitchFamily="34" charset="0"/>
              </a:rPr>
              <a:t> stage.</a:t>
            </a:r>
          </a:p>
          <a:p>
            <a:r>
              <a:rPr dirty="0" sz="2800" lang="en-US" smtClean="0">
                <a:latin typeface="Calibri" pitchFamily="34" charset="0"/>
              </a:rPr>
              <a:t>Routine postnatal examination,to ensure that involution is progressive and also caution on the relevant health measures.				</a:t>
            </a:r>
          </a:p>
          <a:p>
            <a:pPr lvl="7">
              <a:buNone/>
            </a:pPr>
            <a:r>
              <a:rPr dirty="0" sz="1700" lang="en-US" smtClean="0">
                <a:latin typeface="Calibri" pitchFamily="34" charset="0"/>
              </a:rPr>
              <a:t>		</a:t>
            </a:r>
            <a:endParaRPr b="1" dirty="0" sz="3600" lang="en-US" smtClean="0">
              <a:solidFill>
                <a:schemeClr val="accent1"/>
              </a:solidFill>
              <a:latin typeface="Calibri" pitchFamily="34" charset="0"/>
            </a:endParaRPr>
          </a:p>
          <a:p>
            <a:endParaRPr dirty="0" sz="2800" lang="en-US">
              <a:latin typeface="Calibri" pitchFamily="34" charset="0"/>
            </a:endParaRPr>
          </a:p>
        </p:txBody>
      </p:sp>
      <p:sp>
        <p:nvSpPr>
          <p:cNvPr id="1050271" name="Flowchart: Stored Data 6"/>
          <p:cNvSpPr/>
          <p:nvPr/>
        </p:nvSpPr>
        <p:spPr>
          <a:xfrm>
            <a:off x="3524251" y="4876800"/>
            <a:ext cx="6381750" cy="1676400"/>
          </a:xfrm>
          <a:prstGeom prst="flowChartOnlineStorage"/>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3600" lang="en-US" smtClean="0">
                <a:solidFill>
                  <a:schemeClr val="bg1"/>
                </a:solidFill>
                <a:effectLst>
                  <a:outerShdw algn="tl" blurRad="38100" dir="2700000" dist="38100">
                    <a:srgbClr val="000000">
                      <a:alpha val="43137"/>
                    </a:srgbClr>
                  </a:outerShdw>
                </a:effectLst>
                <a:latin typeface="AR ESSENCE" pitchFamily="2" charset="0"/>
              </a:rPr>
              <a:t> END </a:t>
            </a:r>
          </a:p>
          <a:p>
            <a:pPr algn="ctr"/>
            <a:r>
              <a:rPr b="1" dirty="0" sz="3600" lang="en-US" smtClean="0">
                <a:solidFill>
                  <a:schemeClr val="bg1"/>
                </a:solidFill>
                <a:effectLst>
                  <a:outerShdw algn="tl" blurRad="38100" dir="2700000" dist="38100">
                    <a:srgbClr val="000000">
                      <a:alpha val="43137"/>
                    </a:srgbClr>
                  </a:outerShdw>
                </a:effectLst>
                <a:latin typeface="AR ESSENCE" pitchFamily="2" charset="0"/>
              </a:rPr>
              <a:t>THANKYOU</a:t>
            </a:r>
            <a:endParaRPr dirty="0" sz="3600" lang="en-US">
              <a:solidFill>
                <a:schemeClr val="bg1"/>
              </a:solidFill>
              <a:effectLst>
                <a:outerShdw algn="tl" blurRad="38100" dir="2700000" dist="38100">
                  <a:srgbClr val="000000">
                    <a:alpha val="43137"/>
                  </a:srgbClr>
                </a:outerShdw>
              </a:effectLst>
              <a:latin typeface="AR ESSENCE" pitchFamily="2" charset="0"/>
            </a:endParaRPr>
          </a:p>
        </p:txBody>
      </p:sp>
      <p:sp>
        <p:nvSpPr>
          <p:cNvPr id="1050272" name="Footer Placeholder 1"/>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411" name=""/>
        <p:cNvGrpSpPr/>
        <p:nvPr/>
      </p:nvGrpSpPr>
      <p:grpSpPr>
        <a:xfrm>
          <a:off x="0" y="0"/>
          <a:ext cx="0" cy="0"/>
          <a:chOff x="0" y="0"/>
          <a:chExt cx="0" cy="0"/>
        </a:xfrm>
      </p:grpSpPr>
      <p:sp>
        <p:nvSpPr>
          <p:cNvPr id="1050279" name="Title 1"/>
          <p:cNvSpPr>
            <a:spLocks noGrp="1"/>
          </p:cNvSpPr>
          <p:nvPr>
            <p:ph type="title"/>
          </p:nvPr>
        </p:nvSpPr>
        <p:spPr>
          <a:xfrm>
            <a:off x="381000" y="152400"/>
            <a:ext cx="10763250" cy="1143000"/>
          </a:xfrm>
          <a:solidFill>
            <a:srgbClr val="FF00FF"/>
          </a:solidFill>
          <a:ln>
            <a:noFill/>
          </a:ln>
          <a:effectLst>
            <a:outerShdw algn="ctr" blurRad="190500" dir="2700000" dist="228600">
              <a:srgbClr val="000000">
                <a:alpha val="30000"/>
              </a:srgbClr>
            </a:outerShdw>
          </a:effectLst>
          <a:scene3d>
            <a:camera prst="orthographicFront">
              <a:rot lat="0" lon="0" rev="0"/>
            </a:camera>
            <a:lightRig dir="t" rig="glow">
              <a:rot lat="0" lon="0" rev="4800000"/>
            </a:lightRig>
          </a:scene3d>
          <a:sp3d prstMaterial="matte">
            <a:bevelT w="127000" h="63500"/>
          </a:sp3d>
        </p:spPr>
        <p:txBody>
          <a:bodyPr/>
          <a:p>
            <a:pPr algn="ctr"/>
            <a:r>
              <a:rPr b="1" dirty="0" lang="en-US" smtClean="0">
                <a:solidFill>
                  <a:srgbClr val="FFFF00"/>
                </a:solidFill>
                <a:effectLst>
                  <a:outerShdw algn="tl" blurRad="38100" dir="2700000" dist="38100">
                    <a:srgbClr val="000000">
                      <a:alpha val="43137"/>
                    </a:srgbClr>
                  </a:outerShdw>
                </a:effectLst>
                <a:latin typeface="Algerian" pitchFamily="82" charset="0"/>
              </a:rPr>
              <a:t>SUMMARY</a:t>
            </a:r>
            <a:endParaRPr b="1" dirty="0" lang="en-US">
              <a:solidFill>
                <a:srgbClr val="FFFF00"/>
              </a:solidFill>
              <a:effectLst>
                <a:outerShdw algn="tl" blurRad="38100" dir="2700000" dist="38100">
                  <a:srgbClr val="000000">
                    <a:alpha val="43137"/>
                  </a:srgbClr>
                </a:outerShdw>
              </a:effectLst>
              <a:latin typeface="Algerian" pitchFamily="82" charset="0"/>
            </a:endParaRPr>
          </a:p>
        </p:txBody>
      </p:sp>
      <p:sp>
        <p:nvSpPr>
          <p:cNvPr id="1050280" name="Content Placeholder 2"/>
          <p:cNvSpPr>
            <a:spLocks noGrp="1"/>
          </p:cNvSpPr>
          <p:nvPr>
            <p:ph sz="quarter" idx="1"/>
          </p:nvPr>
        </p:nvSpPr>
        <p:spPr>
          <a:xfrm>
            <a:off x="190501" y="1295400"/>
            <a:ext cx="7143750" cy="5562600"/>
          </a:xfrm>
        </p:spPr>
        <p:txBody>
          <a:bodyPr>
            <a:noAutofit/>
          </a:bodyPr>
          <a:p>
            <a:pPr indent="-514350" marL="514350">
              <a:buFont typeface="+mj-lt"/>
              <a:buAutoNum type="arabicPeriod"/>
            </a:pPr>
            <a:r>
              <a:rPr b="1" dirty="0" sz="2400" lang="en-US" smtClean="0">
                <a:latin typeface="Calibri" pitchFamily="34" charset="0"/>
              </a:rPr>
              <a:t>PREGNANCY INDUCED CONDITIONS:</a:t>
            </a:r>
          </a:p>
          <a:p>
            <a:pPr indent="-514350" lvl="1" marL="788670"/>
            <a:r>
              <a:rPr dirty="0" lang="en-US" smtClean="0">
                <a:latin typeface="Calibri" pitchFamily="34" charset="0"/>
              </a:rPr>
              <a:t>Hyperemesis gravidarum</a:t>
            </a:r>
          </a:p>
          <a:p>
            <a:pPr indent="-514350" lvl="1" marL="788670"/>
            <a:r>
              <a:rPr dirty="0" lang="en-US" smtClean="0">
                <a:latin typeface="Calibri" pitchFamily="34" charset="0"/>
              </a:rPr>
              <a:t>APH</a:t>
            </a:r>
          </a:p>
          <a:p>
            <a:pPr indent="-514350" lvl="1" marL="788670"/>
            <a:r>
              <a:rPr dirty="0" lang="en-US" smtClean="0">
                <a:latin typeface="Calibri" pitchFamily="34" charset="0"/>
              </a:rPr>
              <a:t>Pre-</a:t>
            </a:r>
            <a:r>
              <a:rPr dirty="0" lang="en-US" err="1" smtClean="0">
                <a:latin typeface="Calibri" pitchFamily="34" charset="0"/>
              </a:rPr>
              <a:t>eclampsia</a:t>
            </a:r>
            <a:endParaRPr dirty="0" lang="en-US" smtClean="0">
              <a:latin typeface="Calibri" pitchFamily="34" charset="0"/>
            </a:endParaRPr>
          </a:p>
          <a:p>
            <a:pPr indent="-514350" lvl="1" marL="788670"/>
            <a:r>
              <a:rPr dirty="0" lang="en-US" smtClean="0">
                <a:latin typeface="Calibri" pitchFamily="34" charset="0"/>
              </a:rPr>
              <a:t>Polyhydramnious</a:t>
            </a:r>
          </a:p>
          <a:p>
            <a:pPr indent="-514350" lvl="1" marL="788670"/>
            <a:r>
              <a:rPr dirty="0" lang="en-US" smtClean="0">
                <a:latin typeface="Calibri" pitchFamily="34" charset="0"/>
              </a:rPr>
              <a:t>Multiple pregnancy</a:t>
            </a:r>
          </a:p>
          <a:p>
            <a:pPr indent="-514350" marL="514350">
              <a:buFont typeface="+mj-lt"/>
              <a:buAutoNum type="arabicPeriod" startAt="2"/>
            </a:pPr>
            <a:r>
              <a:rPr b="1" dirty="0" sz="2400" lang="en-US" smtClean="0">
                <a:latin typeface="Calibri" pitchFamily="34" charset="0"/>
              </a:rPr>
              <a:t>ASSOCIATED MEDICAL CONDITIONS:</a:t>
            </a:r>
          </a:p>
          <a:p>
            <a:pPr indent="-514350" lvl="1" marL="788670"/>
            <a:r>
              <a:rPr dirty="0" lang="en-US" smtClean="0">
                <a:latin typeface="Calibri" pitchFamily="34" charset="0"/>
              </a:rPr>
              <a:t>TB in pregnancy</a:t>
            </a:r>
          </a:p>
          <a:p>
            <a:pPr indent="-514350" lvl="1" marL="788670"/>
            <a:r>
              <a:rPr dirty="0" lang="en-US" smtClean="0">
                <a:latin typeface="Calibri" pitchFamily="34" charset="0"/>
              </a:rPr>
              <a:t>Diabetes mellitus</a:t>
            </a:r>
          </a:p>
          <a:p>
            <a:pPr indent="-514350" lvl="1" marL="788670"/>
            <a:r>
              <a:rPr dirty="0" lang="en-US" smtClean="0">
                <a:latin typeface="Calibri" pitchFamily="34" charset="0"/>
              </a:rPr>
              <a:t>Anaemia</a:t>
            </a:r>
          </a:p>
          <a:p>
            <a:pPr indent="-514350" lvl="1" marL="788670"/>
            <a:r>
              <a:rPr dirty="0" lang="en-US" smtClean="0">
                <a:latin typeface="Calibri" pitchFamily="34" charset="0"/>
              </a:rPr>
              <a:t>Cardiac disease</a:t>
            </a:r>
          </a:p>
          <a:p>
            <a:pPr indent="-514350" lvl="1" marL="788670"/>
            <a:r>
              <a:rPr dirty="0" lang="en-US" smtClean="0">
                <a:latin typeface="Calibri" pitchFamily="34" charset="0"/>
              </a:rPr>
              <a:t>Pyelonephritis</a:t>
            </a:r>
          </a:p>
          <a:p>
            <a:pPr indent="-514350" lvl="1" marL="788670"/>
            <a:r>
              <a:rPr dirty="0" lang="en-US" smtClean="0">
                <a:latin typeface="Calibri" pitchFamily="34" charset="0"/>
              </a:rPr>
              <a:t>Malaria in pregnancy</a:t>
            </a:r>
          </a:p>
          <a:p>
            <a:pPr>
              <a:buNone/>
            </a:pPr>
            <a:r>
              <a:rPr b="1" cap="all" dirty="0" sz="2400" lang="en-US" smtClean="0">
                <a:ln w="9000" cmpd="sng">
                  <a:solidFill>
                    <a:schemeClr val="accent4">
                      <a:shade val="50000"/>
                      <a:satMod val="120000"/>
                    </a:schemeClr>
                  </a:solidFill>
                  <a:prstDash val="solid"/>
                </a:ln>
                <a:solidFill>
                  <a:srgbClr val="7030A0"/>
                </a:solidFill>
                <a:effectLst>
                  <a:reflection algn="bl" blurRad="12700" dir="5400000" dist="1000" endPos="45000" rotWithShape="0" stA="28000" sy="-100000"/>
                </a:effectLst>
                <a:latin typeface="Calibri" pitchFamily="34" charset="0"/>
                <a:cs typeface="Times New Roman" pitchFamily="18" charset="0"/>
              </a:rPr>
              <a:t>	</a:t>
            </a:r>
            <a:r>
              <a:rPr dirty="0" sz="2400" lang="en-US" smtClean="0"/>
              <a:t/>
            </a:r>
            <a:br>
              <a:rPr dirty="0" sz="2400" lang="en-US" smtClean="0"/>
            </a:br>
            <a:endParaRPr dirty="0" sz="2400" lang="en-US"/>
          </a:p>
        </p:txBody>
      </p:sp>
      <p:sp>
        <p:nvSpPr>
          <p:cNvPr id="1050281" name="Content Placeholder 3"/>
          <p:cNvSpPr>
            <a:spLocks noGrp="1"/>
          </p:cNvSpPr>
          <p:nvPr>
            <p:ph sz="quarter" idx="2"/>
          </p:nvPr>
        </p:nvSpPr>
        <p:spPr>
          <a:xfrm>
            <a:off x="7048501" y="1447800"/>
            <a:ext cx="4381500" cy="5410200"/>
          </a:xfrm>
        </p:spPr>
        <p:txBody>
          <a:bodyPr>
            <a:normAutofit/>
          </a:bodyPr>
          <a:p>
            <a:pPr indent="-514350" marL="514350">
              <a:buFont typeface="+mj-lt"/>
              <a:buAutoNum type="arabicPeriod" startAt="3"/>
            </a:pPr>
            <a:r>
              <a:rPr b="1" dirty="0" sz="2400" lang="en-US" smtClean="0"/>
              <a:t>LABOUR RELATED:</a:t>
            </a:r>
          </a:p>
          <a:p>
            <a:pPr indent="-514350" lvl="1" marL="788670"/>
            <a:r>
              <a:rPr dirty="0" lang="en-US" smtClean="0">
                <a:latin typeface="Calibri" pitchFamily="34" charset="0"/>
              </a:rPr>
              <a:t>Pain relief during labour</a:t>
            </a:r>
          </a:p>
          <a:p>
            <a:pPr indent="-514350" lvl="1" marL="788670"/>
            <a:r>
              <a:rPr dirty="0" lang="en-US" smtClean="0">
                <a:latin typeface="Calibri" pitchFamily="34" charset="0"/>
              </a:rPr>
              <a:t>Abnormal uterine action</a:t>
            </a:r>
          </a:p>
          <a:p>
            <a:pPr indent="-514350" lvl="1" marL="788670"/>
            <a:r>
              <a:rPr dirty="0" lang="en-US" smtClean="0">
                <a:latin typeface="Calibri" pitchFamily="34" charset="0"/>
              </a:rPr>
              <a:t>Induction of labour</a:t>
            </a:r>
          </a:p>
          <a:p>
            <a:pPr indent="-514350" lvl="1" marL="788670"/>
            <a:r>
              <a:rPr dirty="0" lang="en-US" smtClean="0">
                <a:latin typeface="Calibri" pitchFamily="34" charset="0"/>
              </a:rPr>
              <a:t>PPH</a:t>
            </a:r>
          </a:p>
          <a:p>
            <a:endParaRPr dirty="0" sz="2400" lang="en-US"/>
          </a:p>
        </p:txBody>
      </p:sp>
      <p:sp>
        <p:nvSpPr>
          <p:cNvPr id="1050282" name="Footer Placeholder 4"/>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412" name=""/>
        <p:cNvGrpSpPr/>
        <p:nvPr/>
      </p:nvGrpSpPr>
      <p:grpSpPr>
        <a:xfrm>
          <a:off x="0" y="0"/>
          <a:ext cx="0" cy="0"/>
          <a:chOff x="0" y="0"/>
          <a:chExt cx="0" cy="0"/>
        </a:xfrm>
      </p:grpSpPr>
      <p:sp>
        <p:nvSpPr>
          <p:cNvPr id="1050283" name="Rounded Rectangular Callout 7"/>
          <p:cNvSpPr/>
          <p:nvPr/>
        </p:nvSpPr>
        <p:spPr>
          <a:xfrm>
            <a:off x="952501" y="228600"/>
            <a:ext cx="4762500" cy="1676400"/>
          </a:xfrm>
          <a:prstGeom prst="wedgeRoundRectCallout"/>
          <a:blipFill>
            <a:blip xmlns:r="http://schemas.openxmlformats.org/officeDocument/2006/relationships" r:embed="rId1" cstate="print"/>
            <a:tile algn="tl" flip="none" sx="100000" sy="100000" tx="0" ty="0"/>
          </a:blip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5400" lang="en-US" smtClean="0">
                <a:solidFill>
                  <a:srgbClr val="0000FF"/>
                </a:solidFill>
                <a:latin typeface="AR CARTER" pitchFamily="2" charset="0"/>
              </a:rPr>
              <a:t>THANKYOU</a:t>
            </a:r>
            <a:endParaRPr b="1" dirty="0" sz="5400" lang="en-US">
              <a:solidFill>
                <a:srgbClr val="0000FF"/>
              </a:solidFill>
              <a:latin typeface="AR CARTER" pitchFamily="2" charset="0"/>
            </a:endParaRPr>
          </a:p>
        </p:txBody>
      </p:sp>
      <p:pic>
        <p:nvPicPr>
          <p:cNvPr id="2097169" name="Picture 2" descr="C:\Users\martha njeri kairu\Downloads\istock_photo_of_sleeping_newborn.jpg"/>
          <p:cNvPicPr>
            <a:picLocks noChangeAspect="1" noGrp="1" noChangeArrowheads="1"/>
          </p:cNvPicPr>
          <p:nvPr>
            <p:ph sz="quarter" idx="1"/>
          </p:nvPr>
        </p:nvPicPr>
        <p:blipFill>
          <a:blip xmlns:r="http://schemas.openxmlformats.org/officeDocument/2006/relationships" r:embed="rId2" cstate="print"/>
          <a:srcRect/>
          <a:stretch>
            <a:fillRect/>
          </a:stretch>
        </p:blipFill>
        <p:spPr bwMode="auto">
          <a:xfrm>
            <a:off x="285760" y="2138369"/>
            <a:ext cx="10953749" cy="4567239"/>
          </a:xfrm>
          <a:prstGeom prst="rect"/>
          <a:noFill/>
        </p:spPr>
      </p:pic>
      <p:sp>
        <p:nvSpPr>
          <p:cNvPr id="1050284" name="Footer Placeholder 2"/>
          <p:cNvSpPr>
            <a:spLocks noGrp="1"/>
          </p:cNvSpPr>
          <p:nvPr>
            <p:ph type="ftr" sz="quarter" idx="11"/>
          </p:nvPr>
        </p:nvSpPr>
        <p:spPr/>
        <p:txBody>
          <a:bodyPr/>
          <a:p>
            <a:r>
              <a:rPr lang="en-US" smtClean="0"/>
              <a:t>@MUSOVYA2017</a:t>
            </a:r>
            <a:endParaRPr lang="en-US"/>
          </a:p>
        </p:txBody>
      </p:sp>
    </p:spTree>
  </p:cSld>
  <p:clrMapOvr>
    <a:masterClrMapping/>
  </p:clrMapOvr>
  <p:transition xmlns:p14="http://schemas.microsoft.com/office/powerpoint/2010/main">
    <p:fade thruBlk="1"/>
  </p:transition>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3.jpeg"/></Relationships>
</file>

<file path=ppt/theme/_rels/theme4.xml.rels><?xml version="1.0" encoding="UTF-8" standalone="yes"?>
<Relationships xmlns="http://schemas.openxmlformats.org/package/2006/relationships"><Relationship Id="rId1" Type="http://schemas.openxmlformats.org/officeDocument/2006/relationships/image" Target="../media/image5.jpeg"/></Relationships>
</file>

<file path=ppt/theme/_rels/theme5.xml.rels><?xml version="1.0" encoding="UTF-8" standalone="yes"?>
<Relationships xmlns="http://schemas.openxmlformats.org/package/2006/relationships"><Relationship Id="rId1" Type="http://schemas.openxmlformats.org/officeDocument/2006/relationships/image" Target="../media/image6.jpeg"/></Relationships>
</file>

<file path=ppt/theme/_rels/theme7.xml.rels><?xml version="1.0" encoding="UTF-8" standalone="yes"?>
<Relationships xmlns="http://schemas.openxmlformats.org/package/2006/relationships"><Relationship Id="rId1" Type="http://schemas.openxmlformats.org/officeDocument/2006/relationships/image" Target="../media/image2.jpeg"/></Relationships>
</file>

<file path=ppt/theme/_rels/theme8.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4.jpeg"/></Relationships>
</file>

<file path=ppt/theme/_rels/theme9.xml.rels><?xml version="1.0" encoding="UTF-8" standalone="yes"?>
<Relationships xmlns="http://schemas.openxmlformats.org/package/2006/relationships"><Relationship Id="rId1" Type="http://schemas.openxmlformats.org/officeDocument/2006/relationships/image" Target="../media/image2.jpeg"/></Relationships>
</file>

<file path=ppt/theme/_rels/theme1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9">
  <a:themeElements>
    <a:clrScheme name="Equity">
      <a:dk1>
        <a:sysClr lastClr="000000" val="windowText"/>
      </a:dk1>
      <a:lt1>
        <a:sysClr lastClr="FFFFFF" val="window"/>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algn="ctr" flip="none" sx="70000" sy="70000" tx="0" ty="0"/>
        </a:blipFill>
        <a:blipFill>
          <a:blip xmlns:r="http://schemas.openxmlformats.org/officeDocument/2006/relationships" r:embed="rId1">
            <a:duotone>
              <a:schemeClr val="phClr">
                <a:shade val="22000"/>
                <a:satMod val="160000"/>
              </a:schemeClr>
              <a:schemeClr val="phClr">
                <a:shade val="45000"/>
                <a:satMod val="100000"/>
              </a:schemeClr>
            </a:duotone>
          </a:blip>
          <a:tile algn="ctr" flip="none" sx="65000" sy="65000" tx="0" ty="0"/>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algn="t" blurRad="38100" dir="5400000" dist="25400" rotWithShape="0">
              <a:srgbClr val="000000">
                <a:alpha val="50000"/>
              </a:srgbClr>
            </a:outerShdw>
          </a:effectLst>
        </a:effectStyle>
        <a:effectStyle>
          <a:effectLst>
            <a:outerShdw algn="t" blurRad="38100" dir="5400000" dist="25400" rotWithShape="0">
              <a:srgbClr val="000000">
                <a:alpha val="50000"/>
              </a:srgbClr>
            </a:outerShdw>
          </a:effectLst>
        </a:effectStyle>
        <a:effectStyle>
          <a:effectLst>
            <a:outerShdw algn="t" blurRad="50800" dir="5400000" dist="50800" rotWithShape="0">
              <a:srgbClr val="000000">
                <a:alpha val="60000"/>
              </a:srgbClr>
            </a:outerShdw>
          </a:effectLst>
          <a:scene3d>
            <a:camera prst="isometricBottomUp" fov="0">
              <a:rot lat="0" lon="0" rev="0"/>
            </a:camera>
            <a:lightRig dir="b" rig="soft">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algn="tl" flip="none" sx="55000" sy="55000" tx="0" ty="0"/>
        </a:blipFill>
      </a:bgFillStyleLst>
    </a:fmtScheme>
  </a:themeElements>
</a:theme>
</file>

<file path=ppt/theme/theme2.xml><?xml version="1.0" encoding="utf-8"?>
<a:theme xmlns:a="http://schemas.openxmlformats.org/drawingml/2006/main" name="Theme39">
  <a:themeElements>
    <a:clrScheme name="Solstice">
      <a:dk1>
        <a:sysClr lastClr="000000" val="windowText"/>
      </a:dk1>
      <a:lt1>
        <a:sysClr lastClr="FFFFFF" val="window"/>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r="5400000" dist="25400" rotWithShape="0">
              <a:srgbClr val="000000">
                <a:alpha val="43137"/>
              </a:srgbClr>
            </a:outerShdw>
          </a:effectLst>
        </a:effectStyle>
        <a:effectStyle>
          <a:effectLst>
            <a:outerShdw blurRad="63500" dir="5400000" dist="25400" rotWithShape="0">
              <a:srgbClr val="000000">
                <a:alpha val="43137"/>
              </a:srgbClr>
            </a:outerShdw>
          </a:effectLst>
          <a:scene3d>
            <a:camera prst="orthographicFront" fov="0">
              <a:rot lat="0" lon="0" rev="0"/>
            </a:camera>
            <a:lightRig dir="tl" rig="brightRoom">
              <a:rot lat="0" lon="0" rev="8700000"/>
            </a:lightRig>
          </a:scene3d>
          <a:sp3d contourW="12700">
            <a:bevelT w="0" h="0"/>
            <a:contourClr>
              <a:schemeClr val="phClr">
                <a:shade val="80000"/>
              </a:schemeClr>
            </a:contourClr>
          </a:sp3d>
        </a:effectStyle>
        <a:effectStyle>
          <a:effectLst>
            <a:outerShdw blurRad="63500" dir="5400000" dist="25400" rotWithShape="0">
              <a:srgbClr val="000000">
                <a:alpha val="43137"/>
              </a:srgbClr>
            </a:outerShdw>
          </a:effectLst>
          <a:scene3d>
            <a:camera prst="orthographicFront" fov="0">
              <a:rot lat="0" lon="0" rev="0"/>
            </a:camera>
            <a:lightRig dir="tl" rig="brightRoom">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algn="tl" flip="xy" sx="90000" sy="90000" tx="0" ty="0"/>
        </a:blipFill>
      </a:bgFillStyleLst>
    </a:fmtScheme>
  </a:themeElements>
</a:theme>
</file>

<file path=ppt/theme/theme3.xml><?xml version="1.0" encoding="utf-8"?>
<a:theme xmlns:a="http://schemas.openxmlformats.org/drawingml/2006/main" name="Theme26">
  <a:themeElements>
    <a:clrScheme name="Oriel">
      <a:dk1>
        <a:sysClr lastClr="000000" val="windowText"/>
      </a:dk1>
      <a:lt1>
        <a:sysClr lastClr="FFFFFF" val="window"/>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r="5400000" dist="25000" rotWithShape="0">
              <a:srgbClr val="000000">
                <a:alpha val="40000"/>
              </a:srgbClr>
            </a:outerShdw>
          </a:effectLst>
        </a:effectStyle>
        <a:effectStyle>
          <a:effectLst>
            <a:outerShdw blurRad="50800" dir="5400000" dist="20000" rotWithShape="0">
              <a:srgbClr val="000000">
                <a:alpha val="42000"/>
              </a:srgbClr>
            </a:outerShdw>
          </a:effectLst>
        </a:effectStyle>
        <a:effectStyle>
          <a:effectLst>
            <a:outerShdw blurRad="50800" dir="5400000" dist="20000" rotWithShape="0">
              <a:srgbClr val="000000">
                <a:alpha val="42000"/>
              </a:srgbClr>
            </a:outerShdw>
          </a:effectLst>
          <a:scene3d>
            <a:camera prst="orthographicFront">
              <a:rot lat="0" lon="0" rev="0"/>
            </a:camera>
            <a:lightRig dir="t" rig="balanced">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algn="tl" flip="y" sx="40000" sy="50000" tx="0" ty="0"/>
        </a:blipFill>
      </a:bgFillStyleLst>
    </a:fmtScheme>
  </a:themeElements>
</a:theme>
</file>

<file path=ppt/theme/theme4.xml><?xml version="1.0" encoding="utf-8"?>
<a:theme xmlns:a="http://schemas.openxmlformats.org/drawingml/2006/main" name="Theme36">
  <a:themeElements>
    <a:clrScheme name="Flow">
      <a:dk1>
        <a:sysClr lastClr="000000" val="windowText"/>
      </a:dk1>
      <a:lt1>
        <a:sysClr lastClr="FFFFFF" val="window"/>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algn="ctr" blurRad="57150" dir="5400000" dist="38100" rotWithShape="0">
              <a:schemeClr val="phClr">
                <a:shade val="9000"/>
                <a:satMod val="105000"/>
                <a:alpha val="48000"/>
              </a:schemeClr>
            </a:outerShdw>
          </a:effectLst>
        </a:effectStyle>
        <a:effectStyle>
          <a:effectLst>
            <a:outerShdw algn="ctr" blurRad="57150" dir="5400000" dist="38100" rotWithShape="0">
              <a:schemeClr val="phClr">
                <a:shade val="9000"/>
                <a:satMod val="105000"/>
                <a:alpha val="48000"/>
              </a:schemeClr>
            </a:outerShdw>
          </a:effectLst>
        </a:effectStyle>
        <a:effectStyle>
          <a:effectLst>
            <a:outerShdw algn="ctr" blurRad="57150" dir="5400000" dist="38100" rotWithShape="0">
              <a:schemeClr val="phClr">
                <a:shade val="9000"/>
                <a:satMod val="105000"/>
                <a:alpha val="48000"/>
              </a:schemeClr>
            </a:outerShdw>
          </a:effectLst>
          <a:scene3d>
            <a:camera prst="orthographicFront" fov="0">
              <a:rot lat="0" lon="0" rev="0"/>
            </a:camera>
            <a:lightRig dir="tl" rig="glow">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algn="tl" flip="none" sx="65000" sy="65000" tx="0" ty="0"/>
        </a:blipFill>
      </a:bgFillStyleLst>
    </a:fmtScheme>
  </a:themeElements>
</a:theme>
</file>

<file path=ppt/theme/theme5.xml><?xml version="1.0" encoding="utf-8"?>
<a:theme xmlns:a="http://schemas.openxmlformats.org/drawingml/2006/main" name="Theme23">
  <a:themeElements>
    <a:clrScheme name="Concourse">
      <a:dk1>
        <a:sysClr lastClr="000000" val="windowText"/>
      </a:dk1>
      <a:lt1>
        <a:sysClr lastClr="FFFFFF" val="window"/>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r="5400000" dist="38100" rotWithShape="0">
              <a:srgbClr val="000000">
                <a:alpha val="35000"/>
              </a:srgbClr>
            </a:outerShdw>
          </a:effectLst>
        </a:effectStyle>
        <a:effectStyle>
          <a:effectLst>
            <a:outerShdw blurRad="50800" dir="5400000" dist="38100" rotWithShape="0">
              <a:srgbClr val="000000">
                <a:alpha val="35000"/>
              </a:srgbClr>
            </a:outerShdw>
          </a:effectLst>
        </a:effectStyle>
        <a:effectStyle>
          <a:effectLst>
            <a:outerShdw blurRad="63500" dir="5400000" dist="38100" rotWithShape="0">
              <a:srgbClr val="000000">
                <a:alpha val="45000"/>
              </a:srgbClr>
            </a:outerShdw>
          </a:effectLst>
          <a:scene3d>
            <a:camera prst="orthographicFront" fov="0">
              <a:rot lat="0" lon="0" rev="0"/>
            </a:camera>
            <a:lightRig dir="t" rig="glow">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algn="tl" flip="none" sx="50000" sy="50000" tx="0" ty="0"/>
        </a:blipFill>
      </a:bgFillStyleLst>
    </a:fmtScheme>
  </a:themeElements>
</a:theme>
</file>

<file path=ppt/theme/theme6.xml><?xml version="1.0" encoding="utf-8"?>
<a:theme xmlns:a="http://schemas.openxmlformats.org/drawingml/2006/main" name="Theme11">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Solstice">
  <a:themeElements>
    <a:clrScheme name="Solstice">
      <a:dk1>
        <a:sysClr lastClr="000000" val="windowText"/>
      </a:dk1>
      <a:lt1>
        <a:sysClr lastClr="FFFFFF" val="window"/>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r="5400000" dist="25400" rotWithShape="0">
              <a:srgbClr val="000000">
                <a:alpha val="43137"/>
              </a:srgbClr>
            </a:outerShdw>
          </a:effectLst>
        </a:effectStyle>
        <a:effectStyle>
          <a:effectLst>
            <a:outerShdw blurRad="63500" dir="5400000" dist="25400" rotWithShape="0">
              <a:srgbClr val="000000">
                <a:alpha val="43137"/>
              </a:srgbClr>
            </a:outerShdw>
          </a:effectLst>
          <a:scene3d>
            <a:camera prst="orthographicFront" fov="0">
              <a:rot lat="0" lon="0" rev="0"/>
            </a:camera>
            <a:lightRig dir="tl" rig="brightRoom">
              <a:rot lat="0" lon="0" rev="8700000"/>
            </a:lightRig>
          </a:scene3d>
          <a:sp3d contourW="12700">
            <a:bevelT w="0" h="0"/>
            <a:contourClr>
              <a:schemeClr val="phClr">
                <a:shade val="80000"/>
              </a:schemeClr>
            </a:contourClr>
          </a:sp3d>
        </a:effectStyle>
        <a:effectStyle>
          <a:effectLst>
            <a:outerShdw blurRad="63500" dir="5400000" dist="25400" rotWithShape="0">
              <a:srgbClr val="000000">
                <a:alpha val="43137"/>
              </a:srgbClr>
            </a:outerShdw>
          </a:effectLst>
          <a:scene3d>
            <a:camera prst="orthographicFront" fov="0">
              <a:rot lat="0" lon="0" rev="0"/>
            </a:camera>
            <a:lightRig dir="tl" rig="brightRoom">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algn="tl" flip="xy" sx="90000" sy="90000" tx="0" ty="0"/>
        </a:blipFill>
      </a:bgFillStyleLst>
    </a:fmtScheme>
  </a:themeElements>
</a:theme>
</file>

<file path=ppt/theme/theme8.xml><?xml version="1.0" encoding="utf-8"?>
<a:theme xmlns:a="http://schemas.openxmlformats.org/drawingml/2006/main" name="Theme33">
  <a:themeElements>
    <a:clrScheme name="Median">
      <a:dk1>
        <a:sysClr lastClr="000000" val="windowText"/>
      </a:dk1>
      <a:lt1>
        <a:sysClr lastClr="FFFFFF" val="window"/>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r="5400000" dist="30000" rotWithShape="0">
              <a:srgbClr val="000000">
                <a:alpha val="45000"/>
              </a:srgbClr>
            </a:outerShdw>
          </a:effectLst>
        </a:effectStyle>
        <a:effectStyle>
          <a:effectLst>
            <a:outerShdw blurRad="38100" dir="5400000" dist="30000" rotWithShape="0">
              <a:srgbClr val="000000">
                <a:alpha val="45000"/>
              </a:srgbClr>
            </a:outerShdw>
          </a:effectLst>
        </a:effectStyle>
        <a:effectStyle>
          <a:effectLst>
            <a:outerShdw blurRad="38100" dir="5400000" dist="25400" rotWithShape="0">
              <a:srgbClr val="000000">
                <a:alpha val="35000"/>
              </a:srgbClr>
            </a:outerShdw>
          </a:effectLst>
          <a:scene3d>
            <a:camera prst="isometricTopDown" fov="0">
              <a:rot lat="0" lon="0" rev="0"/>
            </a:camera>
            <a:lightRig dir="t" rig="balanced">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algn="tl" flip="none" sx="100000" sy="100000" tx="0" ty="0"/>
        </a:blipFill>
        <a:blipFill>
          <a:blip xmlns:r="http://schemas.openxmlformats.org/officeDocument/2006/relationships" r:embed="rId2">
            <a:duotone>
              <a:schemeClr val="phClr">
                <a:shade val="90000"/>
                <a:satMod val="140000"/>
              </a:schemeClr>
              <a:schemeClr val="phClr">
                <a:satMod val="120000"/>
              </a:schemeClr>
            </a:duotone>
          </a:blip>
          <a:tile algn="tl" flip="none" sx="100000" sy="100000" tx="0" ty="0"/>
        </a:blipFill>
      </a:bgFillStyleLst>
    </a:fmtScheme>
  </a:themeElements>
</a:theme>
</file>

<file path=ppt/theme/theme9.xml><?xml version="1.0" encoding="utf-8"?>
<a:theme xmlns:a="http://schemas.openxmlformats.org/drawingml/2006/main" name="Theme40">
  <a:themeElements>
    <a:clrScheme name="Solstice">
      <a:dk1>
        <a:sysClr lastClr="000000" val="windowText"/>
      </a:dk1>
      <a:lt1>
        <a:sysClr lastClr="FFFFFF" val="window"/>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r="5400000" dist="25400" rotWithShape="0">
              <a:srgbClr val="000000">
                <a:alpha val="43137"/>
              </a:srgbClr>
            </a:outerShdw>
          </a:effectLst>
        </a:effectStyle>
        <a:effectStyle>
          <a:effectLst>
            <a:outerShdw blurRad="63500" dir="5400000" dist="25400" rotWithShape="0">
              <a:srgbClr val="000000">
                <a:alpha val="43137"/>
              </a:srgbClr>
            </a:outerShdw>
          </a:effectLst>
          <a:scene3d>
            <a:camera prst="orthographicFront" fov="0">
              <a:rot lat="0" lon="0" rev="0"/>
            </a:camera>
            <a:lightRig dir="tl" rig="brightRoom">
              <a:rot lat="0" lon="0" rev="8700000"/>
            </a:lightRig>
          </a:scene3d>
          <a:sp3d contourW="12700">
            <a:bevelT w="0" h="0"/>
            <a:contourClr>
              <a:schemeClr val="phClr">
                <a:shade val="80000"/>
              </a:schemeClr>
            </a:contourClr>
          </a:sp3d>
        </a:effectStyle>
        <a:effectStyle>
          <a:effectLst>
            <a:outerShdw blurRad="63500" dir="5400000" dist="25400" rotWithShape="0">
              <a:srgbClr val="000000">
                <a:alpha val="43137"/>
              </a:srgbClr>
            </a:outerShdw>
          </a:effectLst>
          <a:scene3d>
            <a:camera prst="orthographicFront" fov="0">
              <a:rot lat="0" lon="0" rev="0"/>
            </a:camera>
            <a:lightRig dir="tl" rig="brightRoom">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algn="tl" flip="xy" sx="90000" sy="90000" tx="0" ty="0"/>
        </a:blipFill>
      </a:bgFillStyleLst>
    </a:fmtScheme>
  </a:themeElements>
</a:theme>
</file>

<file path=ppt/theme/theme10.xml><?xml version="1.0" encoding="utf-8"?>
<a:theme xmlns:a="http://schemas.openxmlformats.org/drawingml/2006/main" name="Theme9">
  <a:themeElements>
    <a:clrScheme name="Maple 1">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CC"/>
      </a:hlink>
      <a:folHlink>
        <a:srgbClr val="CCCC00"/>
      </a:folHlink>
    </a:clrScheme>
    <a:fontScheme name="Mapl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ahLst/>
          <a:rect l="0" t="0" r="0" b="0"/>
          <a:pathLst/>
        </a:custGeom>
        <a:solidFill>
          <a:schemeClr val="accent1"/>
        </a:solidFill>
        <a:ln w="9525" cap="flat" cmpd="sng" algn="ctr">
          <a:solidFill>
            <a:schemeClr val="tx1"/>
          </a:solidFill>
          <a:prstDash val="solid"/>
          <a:round/>
          <a:headEnd type="none" w="med" len="med"/>
          <a:tailEnd type="none" w="med" len="med"/>
        </a:ln>
        <a:effectLst/>
      </a:spPr>
      <a:bodyPr anchor="t" anchorCtr="0" bIns="45720" compatLnSpc="1" lIns="91440" numCol="1" rIns="91440" tIns="45720" vert="horz" wrap="square">
        <a:prstTxWarp prst="textNoShape"/>
      </a:bodyPr>
      <a:lstStyle>
        <a:defPPr algn="l" defTabSz="914400" eaLnBrk="0" fontAlgn="base" hangingPunct="0" indent="0" latinLnBrk="0" marL="0" marR="0" rtl="0">
          <a:lnSpc>
            <a:spcPct val="100000"/>
          </a:lnSpc>
          <a:spcBef>
            <a:spcPct val="0"/>
          </a:spcBef>
          <a:spcAft>
            <a:spcPct val="0"/>
          </a:spcAft>
          <a:buClrTx/>
          <a:buSzTx/>
          <a:buFontTx/>
          <a:buNone/>
          <a:defRPr baseline="0" b="0" cap="none" sz="1800" i="0" kumimoji="0" lang="en-US" normalizeH="0" strike="noStrike" u="none" smtClean="0">
            <a:ln>
              <a:noFill/>
            </a:ln>
            <a:solidFill>
              <a:schemeClr val="tx1"/>
            </a:solidFill>
            <a:effectLst/>
            <a:latin typeface="Times New Roman" pitchFamily="18" charset="0"/>
          </a:defRPr>
        </a:defPPr>
      </a:lstStyle>
    </a:spDef>
    <a:lnDef>
      <a:spPr bwMode="auto">
        <a:xfrm>
          <a:off x="0" y="0"/>
          <a:ext cx="1" cy="1"/>
        </a:xfrm>
        <a:custGeom>
          <a:avLst/>
          <a:ahLst/>
          <a:rect l="0" t="0" r="0" b="0"/>
          <a:pathLst/>
        </a:custGeom>
        <a:solidFill>
          <a:schemeClr val="accent1"/>
        </a:solidFill>
        <a:ln w="9525" cap="flat" cmpd="sng" algn="ctr">
          <a:solidFill>
            <a:schemeClr val="tx1"/>
          </a:solidFill>
          <a:prstDash val="solid"/>
          <a:round/>
          <a:headEnd type="none" w="med" len="med"/>
          <a:tailEnd type="none" w="med" len="med"/>
        </a:ln>
        <a:effectLst/>
      </a:spPr>
      <a:bodyPr anchor="t" anchorCtr="0" bIns="45720" compatLnSpc="1" lIns="91440" numCol="1" rIns="91440" tIns="45720" vert="horz" wrap="square">
        <a:prstTxWarp prst="textNoShape"/>
      </a:bodyPr>
      <a:lstStyle>
        <a:defPPr algn="l" defTabSz="914400" eaLnBrk="0" fontAlgn="base" hangingPunct="0" indent="0" latinLnBrk="0" marL="0" marR="0" rtl="0">
          <a:lnSpc>
            <a:spcPct val="100000"/>
          </a:lnSpc>
          <a:spcBef>
            <a:spcPct val="0"/>
          </a:spcBef>
          <a:spcAft>
            <a:spcPct val="0"/>
          </a:spcAft>
          <a:buClrTx/>
          <a:buSzTx/>
          <a:buFontTx/>
          <a:buNone/>
          <a:defRPr baseline="0" b="0" cap="none" sz="1800" i="0" kumimoji="0" lang="en-US" normalizeH="0" strike="noStrike" u="none" smtClean="0">
            <a:ln>
              <a:noFill/>
            </a:ln>
            <a:solidFill>
              <a:schemeClr val="tx1"/>
            </a:solidFill>
            <a:effectLst/>
            <a:latin typeface="Times New Roman" pitchFamily="18" charset="0"/>
          </a:defRPr>
        </a:defPPr>
      </a:lstStyle>
    </a:lnDef>
  </a:objectDefaults>
  <a:extraClrSchemeLst>
    <a:extraClrScheme>
      <a:clrScheme name="Maple 1">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Maple 2">
        <a:dk1>
          <a:srgbClr val="EA9306"/>
        </a:dk1>
        <a:lt1>
          <a:srgbClr val="FFFFFF"/>
        </a:lt1>
        <a:dk2>
          <a:srgbClr val="FAC120"/>
        </a:dk2>
        <a:lt2>
          <a:srgbClr val="FFFDD1"/>
        </a:lt2>
        <a:accent1>
          <a:srgbClr val="CC6600"/>
        </a:accent1>
        <a:accent2>
          <a:srgbClr val="FF9933"/>
        </a:accent2>
        <a:accent3>
          <a:srgbClr val="FCDDAB"/>
        </a:accent3>
        <a:accent4>
          <a:srgbClr val="DADADA"/>
        </a:accent4>
        <a:accent5>
          <a:srgbClr val="E2B8AA"/>
        </a:accent5>
        <a:accent6>
          <a:srgbClr val="E78A2D"/>
        </a:accent6>
        <a:hlink>
          <a:srgbClr val="A50021"/>
        </a:hlink>
        <a:folHlink>
          <a:srgbClr val="666633"/>
        </a:folHlink>
      </a:clrScheme>
      <a:clrMap bg1="dk2" tx1="lt1" bg2="dk1" tx2="lt2" accent1="accent1" accent2="accent2" accent3="accent3" accent4="accent4" accent5="accent5" accent6="accent6" hlink="hlink" folHlink="folHlink"/>
    </a:extraClrScheme>
    <a:extraClrScheme>
      <a:clrScheme name="Maple 3">
        <a:dk1>
          <a:srgbClr val="000000"/>
        </a:dk1>
        <a:lt1>
          <a:srgbClr val="FFFFCC"/>
        </a:lt1>
        <a:dk2>
          <a:srgbClr val="A26D18"/>
        </a:dk2>
        <a:lt2>
          <a:srgbClr val="F9D793"/>
        </a:lt2>
        <a:accent1>
          <a:srgbClr val="FFD05B"/>
        </a:accent1>
        <a:accent2>
          <a:srgbClr val="FEE1A8"/>
        </a:accent2>
        <a:accent3>
          <a:srgbClr val="FFFFE2"/>
        </a:accent3>
        <a:accent4>
          <a:srgbClr val="000000"/>
        </a:accent4>
        <a:accent5>
          <a:srgbClr val="FFE4B5"/>
        </a:accent5>
        <a:accent6>
          <a:srgbClr val="E6CC98"/>
        </a:accent6>
        <a:hlink>
          <a:srgbClr val="FF0000"/>
        </a:hlink>
        <a:folHlink>
          <a:srgbClr val="CC6600"/>
        </a:folHlink>
      </a:clrScheme>
      <a:clrMap bg1="lt1" tx1="dk1" bg2="lt2" tx2="dk2" accent1="accent1" accent2="accent2" accent3="accent3" accent4="accent4" accent5="accent5" accent6="accent6" hlink="hlink" folHlink="folHlink"/>
    </a:extraClrScheme>
    <a:extraClrScheme>
      <a:clrScheme name="Maple 4">
        <a:dk1>
          <a:srgbClr val="008000"/>
        </a:dk1>
        <a:lt1>
          <a:srgbClr val="FFFFFF"/>
        </a:lt1>
        <a:dk2>
          <a:srgbClr val="005800"/>
        </a:dk2>
        <a:lt2>
          <a:srgbClr val="FFFFCC"/>
        </a:lt2>
        <a:accent1>
          <a:srgbClr val="00CC99"/>
        </a:accent1>
        <a:accent2>
          <a:srgbClr val="007825"/>
        </a:accent2>
        <a:accent3>
          <a:srgbClr val="AAB4AA"/>
        </a:accent3>
        <a:accent4>
          <a:srgbClr val="DADADA"/>
        </a:accent4>
        <a:accent5>
          <a:srgbClr val="AAE2CA"/>
        </a:accent5>
        <a:accent6>
          <a:srgbClr val="006C20"/>
        </a:accent6>
        <a:hlink>
          <a:srgbClr val="9966FF"/>
        </a:hlink>
        <a:folHlink>
          <a:srgbClr val="99CCFF"/>
        </a:folHlink>
      </a:clrScheme>
      <a:clrMap bg1="dk2" tx1="lt1" bg2="dk1" tx2="lt2" accent1="accent1" accent2="accent2" accent3="accent3" accent4="accent4" accent5="accent5" accent6="accent6" hlink="hlink" folHlink="folHlink"/>
    </a:extraClrScheme>
    <a:extraClrScheme>
      <a:clrScheme name="Maple 5">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CCFF99"/>
        </a:folHlink>
      </a:clrScheme>
      <a:clrMap bg1="dk2" tx1="lt1" bg2="dk1" tx2="lt2" accent1="accent1" accent2="accent2" accent3="accent3" accent4="accent4" accent5="accent5" accent6="accent6" hlink="hlink" folHlink="folHlink"/>
    </a:extraClrScheme>
    <a:extraClrScheme>
      <a:clrScheme name="Maple 6">
        <a:dk1>
          <a:srgbClr val="006699"/>
        </a:dk1>
        <a:lt1>
          <a:srgbClr val="FFFFFF"/>
        </a:lt1>
        <a:dk2>
          <a:srgbClr val="006666"/>
        </a:dk2>
        <a:lt2>
          <a:srgbClr val="CCECFF"/>
        </a:lt2>
        <a:accent1>
          <a:srgbClr val="00CCFF"/>
        </a:accent1>
        <a:accent2>
          <a:srgbClr val="017A83"/>
        </a:accent2>
        <a:accent3>
          <a:srgbClr val="AAB8B8"/>
        </a:accent3>
        <a:accent4>
          <a:srgbClr val="DADADA"/>
        </a:accent4>
        <a:accent5>
          <a:srgbClr val="AAE2FF"/>
        </a:accent5>
        <a:accent6>
          <a:srgbClr val="016E76"/>
        </a:accent6>
        <a:hlink>
          <a:srgbClr val="FFFFCC"/>
        </a:hlink>
        <a:folHlink>
          <a:srgbClr val="99FF99"/>
        </a:folHlink>
      </a:clrScheme>
      <a:clrMap bg1="dk2" tx1="lt1" bg2="dk1" tx2="lt2" accent1="accent1" accent2="accent2" accent3="accent3" accent4="accent4" accent5="accent5" accent6="accent6" hlink="hlink" folHlink="folHlink"/>
    </a:extraClrScheme>
    <a:extraClrScheme>
      <a:clrScheme name="Maple 7">
        <a:dk1>
          <a:srgbClr val="80ACC4"/>
        </a:dk1>
        <a:lt1>
          <a:srgbClr val="FFFFFF"/>
        </a:lt1>
        <a:dk2>
          <a:srgbClr val="B3D1DF"/>
        </a:dk2>
        <a:lt2>
          <a:srgbClr val="FFFFFF"/>
        </a:lt2>
        <a:accent1>
          <a:srgbClr val="5089A8"/>
        </a:accent1>
        <a:accent2>
          <a:srgbClr val="BBC6DB"/>
        </a:accent2>
        <a:accent3>
          <a:srgbClr val="D6E5EC"/>
        </a:accent3>
        <a:accent4>
          <a:srgbClr val="DADADA"/>
        </a:accent4>
        <a:accent5>
          <a:srgbClr val="B3C4D1"/>
        </a:accent5>
        <a:accent6>
          <a:srgbClr val="A9B3C6"/>
        </a:accent6>
        <a:hlink>
          <a:srgbClr val="0000FF"/>
        </a:hlink>
        <a:folHlink>
          <a:srgbClr val="006699"/>
        </a:folHlink>
      </a:clrScheme>
      <a:clrMap bg1="dk2" tx1="lt1" bg2="dk1" tx2="lt2" accent1="accent1" accent2="accent2" accent3="accent3" accent4="accent4" accent5="accent5" accent6="accent6" hlink="hlink" folHlink="folHlink"/>
    </a:extraClrScheme>
    <a:extraClrScheme>
      <a:clrScheme name="Maple 8">
        <a:dk1>
          <a:srgbClr val="5700AE"/>
        </a:dk1>
        <a:lt1>
          <a:srgbClr val="FFFFFF"/>
        </a:lt1>
        <a:dk2>
          <a:srgbClr val="7301CB"/>
        </a:dk2>
        <a:lt2>
          <a:srgbClr val="C5C5FF"/>
        </a:lt2>
        <a:accent1>
          <a:srgbClr val="9999FF"/>
        </a:accent1>
        <a:accent2>
          <a:srgbClr val="7000E0"/>
        </a:accent2>
        <a:accent3>
          <a:srgbClr val="BCAAE2"/>
        </a:accent3>
        <a:accent4>
          <a:srgbClr val="DADADA"/>
        </a:accent4>
        <a:accent5>
          <a:srgbClr val="CACAFF"/>
        </a:accent5>
        <a:accent6>
          <a:srgbClr val="6500CB"/>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Maple 9">
        <a:dk1>
          <a:srgbClr val="003366"/>
        </a:dk1>
        <a:lt1>
          <a:srgbClr val="FFFFFF"/>
        </a:lt1>
        <a:dk2>
          <a:srgbClr val="003366"/>
        </a:dk2>
        <a:lt2>
          <a:srgbClr val="CBD5DF"/>
        </a:lt2>
        <a:accent1>
          <a:srgbClr val="A9BEE9"/>
        </a:accent1>
        <a:accent2>
          <a:srgbClr val="D6E4F2"/>
        </a:accent2>
        <a:accent3>
          <a:srgbClr val="FFFFFF"/>
        </a:accent3>
        <a:accent4>
          <a:srgbClr val="002A56"/>
        </a:accent4>
        <a:accent5>
          <a:srgbClr val="D1DBF2"/>
        </a:accent5>
        <a:accent6>
          <a:srgbClr val="C2CFDB"/>
        </a:accent6>
        <a:hlink>
          <a:srgbClr val="0000CC"/>
        </a:hlink>
        <a:folHlink>
          <a:srgbClr val="8668E8"/>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_Theme19">
  <a:themeElements>
    <a:clrScheme name="Equity">
      <a:dk1>
        <a:sysClr lastClr="000000" val="windowText"/>
      </a:dk1>
      <a:lt1>
        <a:sysClr lastClr="FFFFFF" val="window"/>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algn="ctr" flip="none" sx="70000" sy="70000" tx="0" ty="0"/>
        </a:blipFill>
        <a:blipFill>
          <a:blip xmlns:r="http://schemas.openxmlformats.org/officeDocument/2006/relationships" r:embed="rId1">
            <a:duotone>
              <a:schemeClr val="phClr">
                <a:shade val="22000"/>
                <a:satMod val="160000"/>
              </a:schemeClr>
              <a:schemeClr val="phClr">
                <a:shade val="45000"/>
                <a:satMod val="100000"/>
              </a:schemeClr>
            </a:duotone>
          </a:blip>
          <a:tile algn="ctr" flip="none" sx="65000" sy="65000" tx="0" ty="0"/>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algn="t" blurRad="38100" dir="5400000" dist="25400" rotWithShape="0">
              <a:srgbClr val="000000">
                <a:alpha val="50000"/>
              </a:srgbClr>
            </a:outerShdw>
          </a:effectLst>
        </a:effectStyle>
        <a:effectStyle>
          <a:effectLst>
            <a:outerShdw algn="t" blurRad="38100" dir="5400000" dist="25400" rotWithShape="0">
              <a:srgbClr val="000000">
                <a:alpha val="50000"/>
              </a:srgbClr>
            </a:outerShdw>
          </a:effectLst>
        </a:effectStyle>
        <a:effectStyle>
          <a:effectLst>
            <a:outerShdw algn="t" blurRad="50800" dir="5400000" dist="50800" rotWithShape="0">
              <a:srgbClr val="000000">
                <a:alpha val="60000"/>
              </a:srgbClr>
            </a:outerShdw>
          </a:effectLst>
          <a:scene3d>
            <a:camera prst="isometricBottomUp" fov="0">
              <a:rot lat="0" lon="0" rev="0"/>
            </a:camera>
            <a:lightRig dir="b" rig="soft">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algn="tl" flip="none" sx="55000" sy="55000" tx="0" ty="0"/>
        </a:blipFill>
      </a:bgFillStyleLst>
    </a:fmtScheme>
  </a:themeElements>
</a:theme>
</file>

<file path=ppt/theme/theme1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Company>Hewlett-Packard</Company>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BLOCK I MIDWIFERY</dc:title>
  <dc:creator>martha njeri kairu</dc:creator>
  <cp:lastModifiedBy>JAYMO</cp:lastModifiedBy>
  <dcterms:created xsi:type="dcterms:W3CDTF">2014-10-07T00:26:06Z</dcterms:created>
  <dcterms:modified xsi:type="dcterms:W3CDTF">2017-12-27T08:47:45Z</dcterms:modified>
</cp:coreProperties>
</file>