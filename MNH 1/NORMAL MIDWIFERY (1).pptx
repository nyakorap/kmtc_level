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17"/>
  </p:notesMasterIdLst>
  <p:handoutMasterIdLst>
    <p:handoutMasterId r:id="rId31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78"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7" r:id="rId56"/>
    <p:sldId id="310" r:id="rId57"/>
    <p:sldId id="311" r:id="rId58"/>
    <p:sldId id="312" r:id="rId59"/>
    <p:sldId id="313" r:id="rId60"/>
    <p:sldId id="314" r:id="rId61"/>
    <p:sldId id="315" r:id="rId62"/>
    <p:sldId id="316" r:id="rId63"/>
    <p:sldId id="318" r:id="rId64"/>
    <p:sldId id="319" r:id="rId65"/>
    <p:sldId id="320" r:id="rId66"/>
    <p:sldId id="321" r:id="rId67"/>
    <p:sldId id="322" r:id="rId68"/>
    <p:sldId id="323" r:id="rId69"/>
    <p:sldId id="325" r:id="rId70"/>
    <p:sldId id="326" r:id="rId71"/>
    <p:sldId id="327" r:id="rId72"/>
    <p:sldId id="328" r:id="rId73"/>
    <p:sldId id="329" r:id="rId74"/>
    <p:sldId id="324"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5" r:id="rId100"/>
    <p:sldId id="354"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5" r:id="rId130"/>
    <p:sldId id="384"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84" r:id="rId154"/>
    <p:sldId id="485" r:id="rId155"/>
    <p:sldId id="486" r:id="rId156"/>
    <p:sldId id="487" r:id="rId157"/>
    <p:sldId id="488" r:id="rId158"/>
    <p:sldId id="489" r:id="rId159"/>
    <p:sldId id="490" r:id="rId160"/>
    <p:sldId id="491" r:id="rId161"/>
    <p:sldId id="492" r:id="rId162"/>
    <p:sldId id="493" r:id="rId163"/>
    <p:sldId id="494" r:id="rId164"/>
    <p:sldId id="495" r:id="rId165"/>
    <p:sldId id="496" r:id="rId166"/>
    <p:sldId id="497" r:id="rId167"/>
    <p:sldId id="498" r:id="rId168"/>
    <p:sldId id="499" r:id="rId169"/>
    <p:sldId id="500" r:id="rId170"/>
    <p:sldId id="501" r:id="rId171"/>
    <p:sldId id="502" r:id="rId172"/>
    <p:sldId id="503" r:id="rId173"/>
    <p:sldId id="504" r:id="rId174"/>
    <p:sldId id="506" r:id="rId175"/>
    <p:sldId id="505" r:id="rId176"/>
    <p:sldId id="507" r:id="rId177"/>
    <p:sldId id="508" r:id="rId178"/>
    <p:sldId id="509" r:id="rId179"/>
    <p:sldId id="510" r:id="rId180"/>
    <p:sldId id="511" r:id="rId181"/>
    <p:sldId id="512" r:id="rId182"/>
    <p:sldId id="513" r:id="rId183"/>
    <p:sldId id="514" r:id="rId184"/>
    <p:sldId id="515" r:id="rId185"/>
    <p:sldId id="516" r:id="rId186"/>
    <p:sldId id="517" r:id="rId187"/>
    <p:sldId id="518" r:id="rId188"/>
    <p:sldId id="519" r:id="rId189"/>
    <p:sldId id="409" r:id="rId190"/>
    <p:sldId id="410" r:id="rId191"/>
    <p:sldId id="411" r:id="rId192"/>
    <p:sldId id="412" r:id="rId193"/>
    <p:sldId id="413" r:id="rId194"/>
    <p:sldId id="520" r:id="rId195"/>
    <p:sldId id="521" r:id="rId196"/>
    <p:sldId id="522" r:id="rId197"/>
    <p:sldId id="523" r:id="rId198"/>
    <p:sldId id="524" r:id="rId199"/>
    <p:sldId id="525" r:id="rId200"/>
    <p:sldId id="526" r:id="rId201"/>
    <p:sldId id="527" r:id="rId202"/>
    <p:sldId id="528" r:id="rId203"/>
    <p:sldId id="529" r:id="rId204"/>
    <p:sldId id="530" r:id="rId205"/>
    <p:sldId id="531" r:id="rId206"/>
    <p:sldId id="532" r:id="rId207"/>
    <p:sldId id="533" r:id="rId208"/>
    <p:sldId id="534" r:id="rId209"/>
    <p:sldId id="414" r:id="rId210"/>
    <p:sldId id="415" r:id="rId211"/>
    <p:sldId id="416" r:id="rId212"/>
    <p:sldId id="417" r:id="rId213"/>
    <p:sldId id="535" r:id="rId214"/>
    <p:sldId id="418" r:id="rId215"/>
    <p:sldId id="419" r:id="rId216"/>
    <p:sldId id="420" r:id="rId217"/>
    <p:sldId id="421" r:id="rId218"/>
    <p:sldId id="422" r:id="rId219"/>
    <p:sldId id="423" r:id="rId220"/>
    <p:sldId id="424" r:id="rId221"/>
    <p:sldId id="425" r:id="rId222"/>
    <p:sldId id="426" r:id="rId223"/>
    <p:sldId id="427" r:id="rId224"/>
    <p:sldId id="428" r:id="rId225"/>
    <p:sldId id="429" r:id="rId226"/>
    <p:sldId id="430" r:id="rId227"/>
    <p:sldId id="431" r:id="rId228"/>
    <p:sldId id="536" r:id="rId229"/>
    <p:sldId id="537" r:id="rId230"/>
    <p:sldId id="538" r:id="rId231"/>
    <p:sldId id="539" r:id="rId232"/>
    <p:sldId id="540" r:id="rId233"/>
    <p:sldId id="541" r:id="rId234"/>
    <p:sldId id="542" r:id="rId235"/>
    <p:sldId id="543" r:id="rId236"/>
    <p:sldId id="544" r:id="rId237"/>
    <p:sldId id="545" r:id="rId238"/>
    <p:sldId id="546" r:id="rId239"/>
    <p:sldId id="547" r:id="rId240"/>
    <p:sldId id="548" r:id="rId241"/>
    <p:sldId id="549" r:id="rId242"/>
    <p:sldId id="550" r:id="rId243"/>
    <p:sldId id="551" r:id="rId244"/>
    <p:sldId id="432" r:id="rId245"/>
    <p:sldId id="433" r:id="rId246"/>
    <p:sldId id="434" r:id="rId247"/>
    <p:sldId id="435" r:id="rId248"/>
    <p:sldId id="436" r:id="rId249"/>
    <p:sldId id="437" r:id="rId250"/>
    <p:sldId id="438" r:id="rId251"/>
    <p:sldId id="439" r:id="rId252"/>
    <p:sldId id="440" r:id="rId253"/>
    <p:sldId id="441" r:id="rId254"/>
    <p:sldId id="442" r:id="rId255"/>
    <p:sldId id="443" r:id="rId256"/>
    <p:sldId id="444" r:id="rId257"/>
    <p:sldId id="445" r:id="rId258"/>
    <p:sldId id="446" r:id="rId259"/>
    <p:sldId id="447" r:id="rId260"/>
    <p:sldId id="449" r:id="rId261"/>
    <p:sldId id="450" r:id="rId262"/>
    <p:sldId id="451" r:id="rId263"/>
    <p:sldId id="448" r:id="rId264"/>
    <p:sldId id="452" r:id="rId265"/>
    <p:sldId id="453" r:id="rId266"/>
    <p:sldId id="454" r:id="rId267"/>
    <p:sldId id="455" r:id="rId268"/>
    <p:sldId id="456" r:id="rId269"/>
    <p:sldId id="457" r:id="rId270"/>
    <p:sldId id="458" r:id="rId271"/>
    <p:sldId id="459" r:id="rId272"/>
    <p:sldId id="460" r:id="rId273"/>
    <p:sldId id="462" r:id="rId274"/>
    <p:sldId id="463" r:id="rId275"/>
    <p:sldId id="461" r:id="rId276"/>
    <p:sldId id="465" r:id="rId277"/>
    <p:sldId id="466" r:id="rId278"/>
    <p:sldId id="467" r:id="rId279"/>
    <p:sldId id="464" r:id="rId280"/>
    <p:sldId id="468" r:id="rId281"/>
    <p:sldId id="469" r:id="rId282"/>
    <p:sldId id="470" r:id="rId283"/>
    <p:sldId id="471" r:id="rId284"/>
    <p:sldId id="472" r:id="rId285"/>
    <p:sldId id="473" r:id="rId286"/>
    <p:sldId id="474" r:id="rId287"/>
    <p:sldId id="475" r:id="rId288"/>
    <p:sldId id="476" r:id="rId289"/>
    <p:sldId id="477" r:id="rId290"/>
    <p:sldId id="478" r:id="rId291"/>
    <p:sldId id="479" r:id="rId292"/>
    <p:sldId id="480" r:id="rId293"/>
    <p:sldId id="553" r:id="rId294"/>
    <p:sldId id="481" r:id="rId295"/>
    <p:sldId id="482" r:id="rId296"/>
    <p:sldId id="483" r:id="rId297"/>
    <p:sldId id="555" r:id="rId298"/>
    <p:sldId id="556" r:id="rId299"/>
    <p:sldId id="557" r:id="rId300"/>
    <p:sldId id="558" r:id="rId301"/>
    <p:sldId id="559" r:id="rId302"/>
    <p:sldId id="560" r:id="rId303"/>
    <p:sldId id="561" r:id="rId304"/>
    <p:sldId id="562" r:id="rId305"/>
    <p:sldId id="563" r:id="rId306"/>
    <p:sldId id="564" r:id="rId307"/>
    <p:sldId id="565" r:id="rId308"/>
    <p:sldId id="566" r:id="rId309"/>
    <p:sldId id="567" r:id="rId310"/>
    <p:sldId id="568" r:id="rId311"/>
    <p:sldId id="569" r:id="rId312"/>
    <p:sldId id="570" r:id="rId313"/>
    <p:sldId id="571" r:id="rId314"/>
    <p:sldId id="572" r:id="rId315"/>
    <p:sldId id="573" r:id="rId3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notesMaster" Target="notesMasters/notesMaster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handoutMaster" Target="handoutMasters/handoutMaster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presProps" Target="presProp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viewProps" Target="viewProps.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theme" Target="theme/theme1.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608457-EC3C-436E-B844-89FE3D468658}" type="datetimeFigureOut">
              <a:rPr lang="en-US" smtClean="0"/>
              <a:pPr/>
              <a:t>1/15/2024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77D1493-8EA2-46DF-98E1-CAFE6EAEB2A2}" type="slidenum">
              <a:rPr lang="en-US" smtClean="0"/>
              <a:pPr/>
              <a:t>‹#›</a:t>
            </a:fld>
            <a:endParaRPr lang="en-US"/>
          </a:p>
        </p:txBody>
      </p:sp>
    </p:spTree>
    <p:extLst>
      <p:ext uri="{BB962C8B-B14F-4D97-AF65-F5344CB8AC3E}">
        <p14:creationId xmlns:p14="http://schemas.microsoft.com/office/powerpoint/2010/main" val="23820888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E1C674-697B-4F16-9B4B-A12D673DE525}" type="datetimeFigureOut">
              <a:rPr lang="en-US" smtClean="0"/>
              <a:pPr/>
              <a:t>1/15/2024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475866-59BC-45BF-BAB3-AB069771CC8B}" type="slidenum">
              <a:rPr lang="en-US" smtClean="0"/>
              <a:pPr/>
              <a:t>‹#›</a:t>
            </a:fld>
            <a:endParaRPr lang="en-US"/>
          </a:p>
        </p:txBody>
      </p:sp>
    </p:spTree>
    <p:extLst>
      <p:ext uri="{BB962C8B-B14F-4D97-AF65-F5344CB8AC3E}">
        <p14:creationId xmlns:p14="http://schemas.microsoft.com/office/powerpoint/2010/main" val="3891178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7475866-59BC-45BF-BAB3-AB069771CC8B}" type="slidenum">
              <a:rPr lang="en-US" smtClean="0"/>
              <a:pPr/>
              <a:t>77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Isosceles Triangle 6"/>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540544" y="776288"/>
            <a:ext cx="8062912" cy="1470025"/>
          </a:xfrm>
        </p:spPr>
        <p:txBody>
          <a:bodyPr anchor="b">
            <a:normAutofit/>
          </a:bodyPr>
          <a:lstStyle>
            <a:lvl1pPr algn="r">
              <a:defRPr sz="4400"/>
            </a:lvl1pPr>
          </a:lstStyle>
          <a:p>
            <a:r>
              <a:rPr kumimoji="0" lang="en-US" smtClean="0"/>
              <a:t>Click to edit Master title style</a:t>
            </a:r>
            <a:endParaRPr kumimoji="0" lang="en-US"/>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1371600" y="6012656"/>
            <a:ext cx="5791200" cy="365125"/>
          </a:xfrm>
        </p:spPr>
        <p:txBody>
          <a:bodyPr tIns="0" bIns="0" anchor="t"/>
          <a:lstStyle>
            <a:lvl1pPr algn="r">
              <a:defRPr sz="1000"/>
            </a:lvl1pPr>
          </a:lstStyle>
          <a:p>
            <a:fld id="{4B5FB755-FED6-4888-87E4-F2145BBBFAB1}" type="datetimeFigureOut">
              <a:rPr lang="en-US" smtClean="0"/>
              <a:pPr/>
              <a:t>1/15/2024</a:t>
            </a:fld>
            <a:endParaRPr lang="en-US"/>
          </a:p>
        </p:txBody>
      </p:sp>
      <p:sp>
        <p:nvSpPr>
          <p:cNvPr id="17" name="Footer Placeholder 16"/>
          <p:cNvSpPr>
            <a:spLocks noGrp="1"/>
          </p:cNvSpPr>
          <p:nvPr>
            <p:ph type="ftr" sz="quarter" idx="11"/>
          </p:nvPr>
        </p:nvSpPr>
        <p:spPr>
          <a:xfrm>
            <a:off x="1371600" y="5650704"/>
            <a:ext cx="5791200" cy="365125"/>
          </a:xfrm>
        </p:spPr>
        <p:txBody>
          <a:bodyPr tIns="0" bIns="0" anchor="b"/>
          <a:lstStyle>
            <a:lvl1pPr algn="r">
              <a:defRPr sz="1100"/>
            </a:lvl1pPr>
          </a:lstStyle>
          <a:p>
            <a:endParaRPr lang="en-US"/>
          </a:p>
        </p:txBody>
      </p:sp>
      <p:sp>
        <p:nvSpPr>
          <p:cNvPr id="29" name="Slide Number Placeholder 28"/>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59D7B9E4-701A-4FEC-9821-14DE9171FE5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1399032"/>
          </a:xfrm>
        </p:spPr>
        <p:txBody>
          <a:bodyPr/>
          <a:lstStyle/>
          <a:p>
            <a:r>
              <a:rPr kumimoji="0" lang="en-US" smtClean="0"/>
              <a:t>Click to edit Master title style</a:t>
            </a:r>
            <a:endParaRPr kumimoji="0" lang="en-US"/>
          </a:p>
        </p:txBody>
      </p:sp>
      <p:sp>
        <p:nvSpPr>
          <p:cNvPr id="3" name="Content Placeholder 2"/>
          <p:cNvSpPr>
            <a:spLocks noGrp="1"/>
          </p:cNvSpPr>
          <p:nvPr>
            <p:ph idx="1"/>
          </p:nvPr>
        </p:nvSpPr>
        <p:spPr>
          <a:xfrm>
            <a:off x="457200" y="1882808"/>
            <a:ext cx="8229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791456" y="6480048"/>
            <a:ext cx="2133600" cy="301752"/>
          </a:xfrm>
        </p:spPr>
        <p:txBody>
          <a:bodyPr/>
          <a:lstStyle/>
          <a:p>
            <a:fld id="{4B5FB755-FED6-4888-87E4-F2145BBBFAB1}" type="datetimeFigureOut">
              <a:rPr lang="en-US" smtClean="0"/>
              <a:pPr/>
              <a:t>1/15/2024</a:t>
            </a:fld>
            <a:endParaRPr lang="en-US"/>
          </a:p>
        </p:txBody>
      </p:sp>
      <p:sp>
        <p:nvSpPr>
          <p:cNvPr id="5" name="Footer Placeholder 4"/>
          <p:cNvSpPr>
            <a:spLocks noGrp="1"/>
          </p:cNvSpPr>
          <p:nvPr>
            <p:ph type="ftr" sz="quarter" idx="11"/>
          </p:nvPr>
        </p:nvSpPr>
        <p:spPr>
          <a:xfrm>
            <a:off x="457200" y="6480969"/>
            <a:ext cx="4260056" cy="300831"/>
          </a:xfrm>
        </p:spPr>
        <p:txBody>
          <a:bodyPr/>
          <a:lstStyle/>
          <a:p>
            <a:endParaRPr lang="en-US"/>
          </a:p>
        </p:txBody>
      </p:sp>
      <p:sp>
        <p:nvSpPr>
          <p:cNvPr id="6" name="Slide Number Placeholder 5"/>
          <p:cNvSpPr>
            <a:spLocks noGrp="1"/>
          </p:cNvSpPr>
          <p:nvPr>
            <p:ph type="sldNum" sz="quarter" idx="12"/>
          </p:nvPr>
        </p:nvSpPr>
        <p:spPr/>
        <p:txBody>
          <a:bodyPr/>
          <a:lstStyle/>
          <a:p>
            <a:fld id="{59D7B9E4-701A-4FEC-9821-14DE9171FE5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1"/>
      </p:bgRef>
    </p:bg>
    <p:spTree>
      <p:nvGrpSpPr>
        <p:cNvPr id="1" name=""/>
        <p:cNvGrpSpPr/>
        <p:nvPr/>
      </p:nvGrpSpPr>
      <p:grpSpPr>
        <a:xfrm>
          <a:off x="0" y="0"/>
          <a:ext cx="0" cy="0"/>
          <a:chOff x="0" y="0"/>
          <a:chExt cx="0" cy="0"/>
        </a:xfrm>
      </p:grpSpPr>
      <p:sp>
        <p:nvSpPr>
          <p:cNvPr id="9" name="Right Triangle 8"/>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a:solidFill>
                <a:schemeClr val="lt1"/>
              </a:solidFill>
              <a:latin typeface="+mn-lt"/>
              <a:ea typeface="+mn-ea"/>
              <a:cs typeface="+mn-cs"/>
            </a:endParaRPr>
          </a:p>
        </p:txBody>
      </p:sp>
      <p:sp>
        <p:nvSpPr>
          <p:cNvPr id="8" name="Isosceles Triangle 7"/>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Date Placeholder 3"/>
          <p:cNvSpPr>
            <a:spLocks noGrp="1"/>
          </p:cNvSpPr>
          <p:nvPr>
            <p:ph type="dt" sz="half" idx="10"/>
          </p:nvPr>
        </p:nvSpPr>
        <p:spPr>
          <a:xfrm>
            <a:off x="6955632" y="6477000"/>
            <a:ext cx="2133600" cy="304800"/>
          </a:xfrm>
        </p:spPr>
        <p:txBody>
          <a:bodyPr/>
          <a:lstStyle/>
          <a:p>
            <a:fld id="{4B5FB755-FED6-4888-87E4-F2145BBBFAB1}" type="datetimeFigureOut">
              <a:rPr lang="en-US" smtClean="0"/>
              <a:pPr/>
              <a:t>1/15/2024</a:t>
            </a:fld>
            <a:endParaRPr lang="en-US"/>
          </a:p>
        </p:txBody>
      </p:sp>
      <p:sp>
        <p:nvSpPr>
          <p:cNvPr id="5" name="Footer Placeholder 4"/>
          <p:cNvSpPr>
            <a:spLocks noGrp="1"/>
          </p:cNvSpPr>
          <p:nvPr>
            <p:ph type="ftr" sz="quarter" idx="11"/>
          </p:nvPr>
        </p:nvSpPr>
        <p:spPr>
          <a:xfrm>
            <a:off x="2619376" y="6480969"/>
            <a:ext cx="4260056" cy="300831"/>
          </a:xfrm>
        </p:spPr>
        <p:txBody>
          <a:bodyPr/>
          <a:lstStyle/>
          <a:p>
            <a:endParaRPr lang="en-US"/>
          </a:p>
        </p:txBody>
      </p:sp>
      <p:sp>
        <p:nvSpPr>
          <p:cNvPr id="6" name="Slide Number Placeholder 5"/>
          <p:cNvSpPr>
            <a:spLocks noGrp="1"/>
          </p:cNvSpPr>
          <p:nvPr>
            <p:ph type="sldNum" sz="quarter" idx="12"/>
          </p:nvPr>
        </p:nvSpPr>
        <p:spPr>
          <a:xfrm>
            <a:off x="8451056" y="809624"/>
            <a:ext cx="502920" cy="300831"/>
          </a:xfrm>
        </p:spPr>
        <p:txBody>
          <a:bodyPr/>
          <a:lstStyle/>
          <a:p>
            <a:fld id="{59D7B9E4-701A-4FEC-9821-14DE9171FE5F}" type="slidenum">
              <a:rPr lang="en-US" smtClean="0"/>
              <a:pPr/>
              <a:t>‹#›</a:t>
            </a:fld>
            <a:endParaRPr lang="en-US"/>
          </a:p>
        </p:txBody>
      </p:sp>
      <p:cxnSp>
        <p:nvCxnSpPr>
          <p:cNvPr id="11" name="Straight Connector 10"/>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lgn="l">
              <a:defRPr/>
            </a:lvl1p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4791456" y="6480969"/>
            <a:ext cx="2133600" cy="301752"/>
          </a:xfrm>
        </p:spPr>
        <p:txBody>
          <a:bodyPr/>
          <a:lstStyle/>
          <a:p>
            <a:fld id="{4B5FB755-FED6-4888-87E4-F2145BBBFAB1}" type="datetimeFigureOut">
              <a:rPr lang="en-US" smtClean="0"/>
              <a:pPr/>
              <a:t>1/15/2024</a:t>
            </a:fld>
            <a:endParaRPr lang="en-US"/>
          </a:p>
        </p:txBody>
      </p:sp>
      <p:sp>
        <p:nvSpPr>
          <p:cNvPr id="6" name="Footer Placeholder 5"/>
          <p:cNvSpPr>
            <a:spLocks noGrp="1"/>
          </p:cNvSpPr>
          <p:nvPr>
            <p:ph type="ftr" sz="quarter" idx="11"/>
          </p:nvPr>
        </p:nvSpPr>
        <p:spPr>
          <a:xfrm>
            <a:off x="457200" y="6480969"/>
            <a:ext cx="4260056" cy="301752"/>
          </a:xfrm>
        </p:spPr>
        <p:txBody>
          <a:bodyPr/>
          <a:lstStyle/>
          <a:p>
            <a:endParaRPr lang="en-US"/>
          </a:p>
        </p:txBody>
      </p:sp>
      <p:sp>
        <p:nvSpPr>
          <p:cNvPr id="7" name="Slide Number Placeholder 6"/>
          <p:cNvSpPr>
            <a:spLocks noGrp="1"/>
          </p:cNvSpPr>
          <p:nvPr>
            <p:ph type="sldNum" sz="quarter" idx="12"/>
          </p:nvPr>
        </p:nvSpPr>
        <p:spPr>
          <a:xfrm>
            <a:off x="7589520" y="6480969"/>
            <a:ext cx="502920" cy="301752"/>
          </a:xfrm>
        </p:spPr>
        <p:txBody>
          <a:bodyPr/>
          <a:lstStyle/>
          <a:p>
            <a:fld id="{59D7B9E4-701A-4FEC-9821-14DE9171FE5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a:xfrm>
            <a:off x="4791456" y="6480969"/>
            <a:ext cx="2130552" cy="301752"/>
          </a:xfrm>
        </p:spPr>
        <p:txBody>
          <a:bodyPr/>
          <a:lstStyle/>
          <a:p>
            <a:fld id="{4B5FB755-FED6-4888-87E4-F2145BBBFAB1}" type="datetimeFigureOut">
              <a:rPr lang="en-US" smtClean="0"/>
              <a:pPr/>
              <a:t>1/15/2024</a:t>
            </a:fld>
            <a:endParaRPr lang="en-US"/>
          </a:p>
        </p:txBody>
      </p:sp>
      <p:sp>
        <p:nvSpPr>
          <p:cNvPr id="8" name="Footer Placeholder 7"/>
          <p:cNvSpPr>
            <a:spLocks noGrp="1"/>
          </p:cNvSpPr>
          <p:nvPr>
            <p:ph type="ftr" sz="quarter" idx="11"/>
          </p:nvPr>
        </p:nvSpPr>
        <p:spPr>
          <a:xfrm>
            <a:off x="457200" y="6480969"/>
            <a:ext cx="4261104" cy="301752"/>
          </a:xfrm>
        </p:spPr>
        <p:txBody>
          <a:bodyPr/>
          <a:lstStyle/>
          <a:p>
            <a:endParaRPr lang="en-US"/>
          </a:p>
        </p:txBody>
      </p:sp>
      <p:sp>
        <p:nvSpPr>
          <p:cNvPr id="9" name="Slide Number Placeholder 8"/>
          <p:cNvSpPr>
            <a:spLocks noGrp="1"/>
          </p:cNvSpPr>
          <p:nvPr>
            <p:ph type="sldNum" sz="quarter" idx="12"/>
          </p:nvPr>
        </p:nvSpPr>
        <p:spPr>
          <a:xfrm>
            <a:off x="7589520" y="6483096"/>
            <a:ext cx="502920" cy="301752"/>
          </a:xfrm>
        </p:spPr>
        <p:txBody>
          <a:bodyPr/>
          <a:lstStyle>
            <a:lvl1pPr algn="ctr">
              <a:defRPr/>
            </a:lvl1pPr>
          </a:lstStyle>
          <a:p>
            <a:fld id="{59D7B9E4-701A-4FEC-9821-14DE9171FE5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4B5FB755-FED6-4888-87E4-F2145BBBFAB1}" type="datetimeFigureOut">
              <a:rPr lang="en-US" smtClean="0"/>
              <a:pPr/>
              <a:t>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D7B9E4-701A-4FEC-9821-14DE9171FE5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91456" y="6480969"/>
            <a:ext cx="2133600" cy="301752"/>
          </a:xfrm>
        </p:spPr>
        <p:txBody>
          <a:bodyPr/>
          <a:lstStyle/>
          <a:p>
            <a:fld id="{4B5FB755-FED6-4888-87E4-F2145BBBFAB1}" type="datetimeFigureOut">
              <a:rPr lang="en-US" smtClean="0"/>
              <a:pPr/>
              <a:t>1/15/2024</a:t>
            </a:fld>
            <a:endParaRPr lang="en-US"/>
          </a:p>
        </p:txBody>
      </p:sp>
      <p:sp>
        <p:nvSpPr>
          <p:cNvPr id="3" name="Footer Placeholder 2"/>
          <p:cNvSpPr>
            <a:spLocks noGrp="1"/>
          </p:cNvSpPr>
          <p:nvPr>
            <p:ph type="ftr" sz="quarter" idx="11"/>
          </p:nvPr>
        </p:nvSpPr>
        <p:spPr>
          <a:xfrm>
            <a:off x="457200" y="6481890"/>
            <a:ext cx="4260056" cy="300831"/>
          </a:xfrm>
        </p:spPr>
        <p:txBody>
          <a:bodyPr/>
          <a:lstStyle/>
          <a:p>
            <a:endParaRPr lang="en-US"/>
          </a:p>
        </p:txBody>
      </p:sp>
      <p:sp>
        <p:nvSpPr>
          <p:cNvPr id="4" name="Slide Number Placeholder 3"/>
          <p:cNvSpPr>
            <a:spLocks noGrp="1"/>
          </p:cNvSpPr>
          <p:nvPr>
            <p:ph type="sldNum" sz="quarter" idx="12"/>
          </p:nvPr>
        </p:nvSpPr>
        <p:spPr>
          <a:xfrm>
            <a:off x="7589520" y="6480969"/>
            <a:ext cx="502920" cy="301752"/>
          </a:xfrm>
        </p:spPr>
        <p:txBody>
          <a:bodyPr/>
          <a:lstStyle/>
          <a:p>
            <a:fld id="{59D7B9E4-701A-4FEC-9821-14DE9171FE5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278976" y="6556248"/>
            <a:ext cx="2133600" cy="301752"/>
          </a:xfrm>
        </p:spPr>
        <p:txBody>
          <a:bodyPr/>
          <a:lstStyle>
            <a:lvl1pPr>
              <a:defRPr sz="900"/>
            </a:lvl1pPr>
          </a:lstStyle>
          <a:p>
            <a:fld id="{4B5FB755-FED6-4888-87E4-F2145BBBFAB1}" type="datetimeFigureOut">
              <a:rPr lang="en-US" smtClean="0"/>
              <a:pPr/>
              <a:t>1/15/2024</a:t>
            </a:fld>
            <a:endParaRPr lang="en-US"/>
          </a:p>
        </p:txBody>
      </p:sp>
      <p:sp>
        <p:nvSpPr>
          <p:cNvPr id="6" name="Footer Placeholder 5"/>
          <p:cNvSpPr>
            <a:spLocks noGrp="1"/>
          </p:cNvSpPr>
          <p:nvPr>
            <p:ph type="ftr" sz="quarter" idx="11"/>
          </p:nvPr>
        </p:nvSpPr>
        <p:spPr>
          <a:xfrm>
            <a:off x="1135856" y="6556248"/>
            <a:ext cx="5143120" cy="301752"/>
          </a:xfrm>
        </p:spPr>
        <p:txBody>
          <a:bodyPr/>
          <a:lstStyle>
            <a:lvl1pPr>
              <a:defRPr sz="900"/>
            </a:lvl1pPr>
          </a:lstStyle>
          <a:p>
            <a:endParaRPr lang="en-US"/>
          </a:p>
        </p:txBody>
      </p:sp>
      <p:sp>
        <p:nvSpPr>
          <p:cNvPr id="7" name="Slide Number Placeholder 6"/>
          <p:cNvSpPr>
            <a:spLocks noGrp="1"/>
          </p:cNvSpPr>
          <p:nvPr>
            <p:ph type="sldNum" sz="quarter" idx="12"/>
          </p:nvPr>
        </p:nvSpPr>
        <p:spPr>
          <a:xfrm>
            <a:off x="8410576" y="6556248"/>
            <a:ext cx="502920" cy="301752"/>
          </a:xfrm>
        </p:spPr>
        <p:txBody>
          <a:bodyPr/>
          <a:lstStyle>
            <a:lvl1pPr>
              <a:defRPr sz="900"/>
            </a:lvl1pPr>
          </a:lstStyle>
          <a:p>
            <a:fld id="{59D7B9E4-701A-4FEC-9821-14DE9171FE5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6108192" y="6556248"/>
            <a:ext cx="2103120" cy="301752"/>
          </a:xfrm>
        </p:spPr>
        <p:txBody>
          <a:bodyPr/>
          <a:lstStyle>
            <a:lvl1pPr>
              <a:defRPr sz="900"/>
            </a:lvl1pPr>
          </a:lstStyle>
          <a:p>
            <a:fld id="{4B5FB755-FED6-4888-87E4-F2145BBBFAB1}" type="datetimeFigureOut">
              <a:rPr lang="en-US" smtClean="0"/>
              <a:pPr/>
              <a:t>1/15/2024</a:t>
            </a:fld>
            <a:endParaRPr lang="en-US"/>
          </a:p>
        </p:txBody>
      </p:sp>
      <p:sp>
        <p:nvSpPr>
          <p:cNvPr id="6" name="Footer Placeholder 5"/>
          <p:cNvSpPr>
            <a:spLocks noGrp="1"/>
          </p:cNvSpPr>
          <p:nvPr>
            <p:ph type="ftr" sz="quarter" idx="11"/>
          </p:nvPr>
        </p:nvSpPr>
        <p:spPr>
          <a:xfrm>
            <a:off x="1170432" y="6557169"/>
            <a:ext cx="4948072" cy="301752"/>
          </a:xfrm>
        </p:spPr>
        <p:txBody>
          <a:bodyPr/>
          <a:lstStyle>
            <a:lvl1pPr>
              <a:defRPr sz="900"/>
            </a:lvl1pPr>
          </a:lstStyle>
          <a:p>
            <a:endParaRPr lang="en-US"/>
          </a:p>
        </p:txBody>
      </p:sp>
      <p:sp>
        <p:nvSpPr>
          <p:cNvPr id="7" name="Slide Number Placeholder 6"/>
          <p:cNvSpPr>
            <a:spLocks noGrp="1"/>
          </p:cNvSpPr>
          <p:nvPr>
            <p:ph type="sldNum" sz="quarter" idx="12"/>
          </p:nvPr>
        </p:nvSpPr>
        <p:spPr>
          <a:xfrm>
            <a:off x="8217192" y="6556248"/>
            <a:ext cx="365760" cy="301752"/>
          </a:xfrm>
        </p:spPr>
        <p:txBody>
          <a:bodyPr/>
          <a:lstStyle>
            <a:lvl1pPr algn="ctr">
              <a:defRPr sz="900"/>
            </a:lvl1pPr>
          </a:lstStyle>
          <a:p>
            <a:fld id="{59D7B9E4-701A-4FEC-9821-14DE9171FE5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B5FB755-FED6-4888-87E4-F2145BBBFAB1}" type="datetimeFigureOut">
              <a:rPr lang="en-US" smtClean="0"/>
              <a:pPr/>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D7B9E4-701A-4FEC-9821-14DE9171FE5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B5FB755-FED6-4888-87E4-F2145BBBFAB1}" type="datetimeFigureOut">
              <a:rPr lang="en-US" smtClean="0"/>
              <a:pPr/>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D7B9E4-701A-4FEC-9821-14DE9171FE5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8" name="Straight Connector 7"/>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7494"/>
            <a:ext cx="8229600" cy="1399032"/>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fld id="{4B5FB755-FED6-4888-87E4-F2145BBBFAB1}" type="datetimeFigureOut">
              <a:rPr lang="en-US" smtClean="0"/>
              <a:pPr/>
              <a:t>1/15/2024</a:t>
            </a:fld>
            <a:endParaRPr lang="en-US"/>
          </a:p>
        </p:txBody>
      </p:sp>
      <p:sp>
        <p:nvSpPr>
          <p:cNvPr id="3" name="Footer Placeholder 2"/>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en-US"/>
          </a:p>
        </p:txBody>
      </p:sp>
      <p:sp>
        <p:nvSpPr>
          <p:cNvPr id="23" name="Slide Number Placeholder 22"/>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59D7B9E4-701A-4FEC-9821-14DE9171FE5F}"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download.videohelp.com/vitualis/med/female_ext_genitalia.ht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download.videohelp.com/vitualis/med/female_ext_genitalia.ht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download.videohelp.com/vitualis/med/female_ext_genitalia.htm"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download.videohelp.com/vitualis/med/female_ext_genitalia.ht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download.videohelp.com/vitualis/med/female_ext_genitalia.ht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download.videohelp.com/vitualis/med/urinary_bladder_and_urethrae.htm" TargetMode="External"/><Relationship Id="rId2" Type="http://schemas.openxmlformats.org/officeDocument/2006/relationships/hyperlink" Target="http://download.videohelp.com/vitualis/med/female_ext_genitalia.htm" TargetMode="External"/><Relationship Id="rId1" Type="http://schemas.openxmlformats.org/officeDocument/2006/relationships/slideLayout" Target="../slideLayouts/slideLayout2.xml"/><Relationship Id="rId4" Type="http://schemas.openxmlformats.org/officeDocument/2006/relationships/hyperlink" Target="http://download.videohelp.com/vitualis/med/female_int_genitalia.htm"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download.videohelp.com/vitualis/med/female_ext_genitalia.ht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download.videohelp.com/vitualis/med/female_ext_genitalia.htm"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download.videohelp.com/vitualis/med/female_ext_genitalia.ht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download.videohelp.com/vitualis/med/female_ext_genitalia.htm"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www.gynaeonline.com/menstruation_basics.htm" TargetMode="External"/><Relationship Id="rId2" Type="http://schemas.openxmlformats.org/officeDocument/2006/relationships/hyperlink" Target="http://www.gynaeonline.com/uterine_cycle.htm"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www.gynaeonline.com/mense.htm" TargetMode="External"/><Relationship Id="rId2" Type="http://schemas.openxmlformats.org/officeDocument/2006/relationships/hyperlink" Target="http://www.gynaeonline.com/internal_anatomy.htm"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www.gynaeonline.com/uterine_cycle.htm"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http://www.gynaeonline.com/uterine_cycle.htm"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latin typeface="Arial Black" pitchFamily="34" charset="0"/>
              </a:rPr>
              <a:t>NORMAL MIDWIFERY</a:t>
            </a:r>
            <a:endParaRPr lang="en-US" b="1" dirty="0">
              <a:latin typeface="Arial Black" pitchFamily="34" charset="0"/>
            </a:endParaRPr>
          </a:p>
        </p:txBody>
      </p:sp>
      <p:sp>
        <p:nvSpPr>
          <p:cNvPr id="3" name="Subtitle 2"/>
          <p:cNvSpPr>
            <a:spLocks noGrp="1"/>
          </p:cNvSpPr>
          <p:nvPr>
            <p:ph type="subTitle" idx="1"/>
          </p:nvPr>
        </p:nvSpPr>
        <p:spPr/>
        <p:txBody>
          <a:bodyPr/>
          <a:lstStyle/>
          <a:p>
            <a:endParaRPr lang="en-US" dirty="0"/>
          </a:p>
        </p:txBody>
      </p:sp>
    </p:spTree>
  </p:cSld>
  <p:clrMapOvr>
    <a:masterClrMapping/>
  </p:clrMapOvr>
  <p:transition>
    <p:wheel spokes="8"/>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Aims of a midwife</a:t>
            </a:r>
            <a:endParaRPr lang="en-US" b="1" i="1" dirty="0"/>
          </a:p>
        </p:txBody>
      </p:sp>
      <p:sp>
        <p:nvSpPr>
          <p:cNvPr id="3" name="Content Placeholder 2"/>
          <p:cNvSpPr>
            <a:spLocks noGrp="1"/>
          </p:cNvSpPr>
          <p:nvPr>
            <p:ph idx="1"/>
          </p:nvPr>
        </p:nvSpPr>
        <p:spPr/>
        <p:txBody>
          <a:bodyPr>
            <a:normAutofit fontScale="92500"/>
          </a:bodyPr>
          <a:lstStyle/>
          <a:p>
            <a:pPr marL="514350" indent="-514350">
              <a:buFont typeface="+mj-lt"/>
              <a:buAutoNum type="arabicPeriod"/>
            </a:pPr>
            <a:r>
              <a:rPr lang="en-US" b="1" dirty="0" smtClean="0"/>
              <a:t>To promote and maintain the physical and psychological health of the pregnant woman in order to ensure birth of a normal healthy baby without any complications to either the mother or the baby</a:t>
            </a:r>
          </a:p>
          <a:p>
            <a:pPr marL="514350" indent="-514350">
              <a:buFont typeface="+mj-lt"/>
              <a:buAutoNum type="arabicPeriod"/>
            </a:pPr>
            <a:r>
              <a:rPr lang="en-US" b="1" dirty="0" smtClean="0"/>
              <a:t>To ensure a live healthy baby through fetal supervision</a:t>
            </a:r>
          </a:p>
          <a:p>
            <a:pPr marL="514350" indent="-514350">
              <a:buFont typeface="+mj-lt"/>
              <a:buAutoNum type="arabicPeriod"/>
            </a:pPr>
            <a:r>
              <a:rPr lang="en-US" b="1" dirty="0" smtClean="0"/>
              <a:t>To prepare the mother through health messages for, lactation and subsequent care of the baby.</a:t>
            </a:r>
            <a:endParaRPr lang="en-US"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514350" indent="-514350">
              <a:buNone/>
            </a:pPr>
            <a:r>
              <a:rPr lang="en-US" dirty="0" smtClean="0"/>
              <a:t>4. </a:t>
            </a:r>
            <a:r>
              <a:rPr lang="en-US" b="1" dirty="0" smtClean="0"/>
              <a:t>to detect early and correct or treat appropriately and promptly any risk conditions(medical or obstetrical) that might interfere or endanger the health of the mother or fetus.</a:t>
            </a:r>
          </a:p>
          <a:p>
            <a:pPr marL="514350" indent="-514350">
              <a:buNone/>
            </a:pPr>
            <a:r>
              <a:rPr lang="en-US" b="1" dirty="0" smtClean="0"/>
              <a:t>5. To involve the husband and other members of the family in the care of the pregnant woman and that of the baby after birth.</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t>Code of ethics</a:t>
            </a:r>
            <a:endParaRPr lang="en-US" b="1" i="1" dirty="0"/>
          </a:p>
        </p:txBody>
      </p:sp>
      <p:sp>
        <p:nvSpPr>
          <p:cNvPr id="3" name="Content Placeholder 2"/>
          <p:cNvSpPr>
            <a:spLocks noGrp="1"/>
          </p:cNvSpPr>
          <p:nvPr>
            <p:ph idx="1"/>
          </p:nvPr>
        </p:nvSpPr>
        <p:spPr/>
        <p:txBody>
          <a:bodyPr>
            <a:normAutofit/>
          </a:bodyPr>
          <a:lstStyle/>
          <a:p>
            <a:r>
              <a:rPr lang="en-US" b="1" dirty="0" smtClean="0"/>
              <a:t>This should govern the midwife behavior with women and partners or relatives</a:t>
            </a:r>
          </a:p>
          <a:p>
            <a:pPr lvl="3"/>
            <a:r>
              <a:rPr lang="en-US" sz="3200" b="1" dirty="0" smtClean="0"/>
              <a:t>Respect for life</a:t>
            </a:r>
          </a:p>
          <a:p>
            <a:pPr lvl="3"/>
            <a:r>
              <a:rPr lang="en-US" sz="3200" b="1" dirty="0" smtClean="0"/>
              <a:t>Be respectful to others and polite</a:t>
            </a:r>
          </a:p>
          <a:p>
            <a:pPr lvl="3"/>
            <a:r>
              <a:rPr lang="en-US" sz="3200" b="1" dirty="0" smtClean="0"/>
              <a:t>Confidentiality- keep information given in trust by the patient secret</a:t>
            </a:r>
          </a:p>
          <a:p>
            <a:pPr lvl="3"/>
            <a:r>
              <a:rPr lang="en-US" sz="3200" b="1" dirty="0" smtClean="0"/>
              <a:t>To be calm, obedient and control their tempers</a:t>
            </a:r>
            <a:endParaRPr lang="en-US" sz="320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lvl="1"/>
            <a:r>
              <a:rPr lang="en-US" sz="3200" b="1" dirty="0" smtClean="0"/>
              <a:t>Trustful- the midwife should behave and act in a way that the client can believe in him/her all through the provision of care.</a:t>
            </a:r>
          </a:p>
          <a:p>
            <a:pPr lvl="1"/>
            <a:r>
              <a:rPr lang="en-US" sz="3200" b="1" dirty="0" smtClean="0"/>
              <a:t>Good communication to colleagues, team members, client and relatives.</a:t>
            </a:r>
          </a:p>
          <a:p>
            <a:pPr lvl="1"/>
            <a:r>
              <a:rPr lang="en-US" sz="3200" b="1" dirty="0" smtClean="0"/>
              <a:t>Punctuality- both on duty and taking actions because delays can cause irreversible damages.</a:t>
            </a:r>
            <a:endParaRPr lang="en-US" sz="3200" b="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1"/>
            <a:r>
              <a:rPr lang="en-US" sz="3200" b="1" dirty="0" smtClean="0"/>
              <a:t>Maintain own and others dignity through good moral behavior and respect for life.</a:t>
            </a:r>
          </a:p>
          <a:p>
            <a:pPr lvl="1"/>
            <a:r>
              <a:rPr lang="en-US" sz="3200" b="1" dirty="0" smtClean="0"/>
              <a:t>Exercise equity to all irrespective of their social background and status, religion, race or beliefs.</a:t>
            </a:r>
            <a:endParaRPr lang="en-US" sz="3200" b="1"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Students objectives</a:t>
            </a:r>
            <a:endParaRPr lang="en-US" b="1" i="1" dirty="0"/>
          </a:p>
        </p:txBody>
      </p:sp>
      <p:sp>
        <p:nvSpPr>
          <p:cNvPr id="3" name="Content Placeholder 2"/>
          <p:cNvSpPr>
            <a:spLocks noGrp="1"/>
          </p:cNvSpPr>
          <p:nvPr>
            <p:ph idx="1"/>
          </p:nvPr>
        </p:nvSpPr>
        <p:spPr/>
        <p:txBody>
          <a:bodyPr/>
          <a:lstStyle/>
          <a:p>
            <a:r>
              <a:rPr lang="en-US" dirty="0" smtClean="0"/>
              <a:t> </a:t>
            </a:r>
            <a:r>
              <a:rPr lang="en-US" b="1" dirty="0" smtClean="0"/>
              <a:t>to describe the anatomy and physiology of female reproductive system</a:t>
            </a:r>
          </a:p>
          <a:p>
            <a:r>
              <a:rPr lang="en-US" b="1" dirty="0" smtClean="0"/>
              <a:t>Develop knowledge, skills</a:t>
            </a:r>
            <a:r>
              <a:rPr lang="en-US" b="1" dirty="0"/>
              <a:t> </a:t>
            </a:r>
            <a:r>
              <a:rPr lang="en-US" b="1" dirty="0" smtClean="0"/>
              <a:t>and attitude towards caring of a pregnant woman and mothers in labor.</a:t>
            </a:r>
          </a:p>
          <a:p>
            <a:r>
              <a:rPr lang="en-US" b="1" dirty="0" smtClean="0"/>
              <a:t>Acquire knowledge, skills and positive attitude towards caring of a woman after birth.</a:t>
            </a:r>
          </a:p>
          <a:p>
            <a:endParaRPr lang="en-US" b="1" dirty="0" smtClean="0"/>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Acquire knowledge, skills and positive attitude towards caring of babies at risk</a:t>
            </a:r>
          </a:p>
          <a:p>
            <a:r>
              <a:rPr lang="en-US" b="1" dirty="0" smtClean="0"/>
              <a:t>Acquire knowledge, skills and positive attitude in management of obstetrical complications.</a:t>
            </a:r>
            <a:endParaRPr lang="en-US" b="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ANATOMY AND PHYSIOLOGY OF FEMALE REPRODUCTIVE SYSTEM</a:t>
            </a:r>
            <a:endParaRPr lang="en-US" dirty="0"/>
          </a:p>
        </p:txBody>
      </p:sp>
      <p:sp>
        <p:nvSpPr>
          <p:cNvPr id="3" name="Text Placeholder 2"/>
          <p:cNvSpPr>
            <a:spLocks noGrp="1"/>
          </p:cNvSpPr>
          <p:nvPr>
            <p:ph type="body" idx="1"/>
          </p:nvPr>
        </p:nvSpPr>
        <p:spPr/>
        <p:txBody>
          <a:bodyPr/>
          <a:lstStyle/>
          <a:p>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b="1" dirty="0" smtClean="0"/>
              <a:t>The female reproductive system is divided into :-</a:t>
            </a:r>
          </a:p>
          <a:p>
            <a:pPr lvl="1"/>
            <a:r>
              <a:rPr lang="en-US" sz="3600" b="1" dirty="0" smtClean="0"/>
              <a:t>External organs or genitalia(vulva)</a:t>
            </a:r>
          </a:p>
          <a:p>
            <a:pPr lvl="1"/>
            <a:r>
              <a:rPr lang="en-US" sz="3600" b="1" dirty="0" smtClean="0"/>
              <a:t>Internal organs or genitalia</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Female external genital organs</a:t>
            </a:r>
            <a:endParaRPr lang="en-US" b="1" dirty="0"/>
          </a:p>
        </p:txBody>
      </p:sp>
      <p:sp>
        <p:nvSpPr>
          <p:cNvPr id="3" name="Content Placeholder 2"/>
          <p:cNvSpPr>
            <a:spLocks noGrp="1"/>
          </p:cNvSpPr>
          <p:nvPr>
            <p:ph idx="1"/>
          </p:nvPr>
        </p:nvSpPr>
        <p:spPr/>
        <p:txBody>
          <a:bodyPr>
            <a:normAutofit/>
          </a:bodyPr>
          <a:lstStyle/>
          <a:p>
            <a:r>
              <a:rPr lang="en-US" b="1" i="1" dirty="0" smtClean="0"/>
              <a:t>The Mons Pubis</a:t>
            </a:r>
            <a:r>
              <a:rPr lang="en-US" dirty="0" smtClean="0"/>
              <a:t> </a:t>
            </a:r>
          </a:p>
          <a:p>
            <a:r>
              <a:rPr lang="en-US" dirty="0" smtClean="0"/>
              <a:t>The </a:t>
            </a:r>
            <a:r>
              <a:rPr lang="en-US" dirty="0" err="1" smtClean="0"/>
              <a:t>mons</a:t>
            </a:r>
            <a:r>
              <a:rPr lang="en-US" dirty="0" smtClean="0"/>
              <a:t> pubis is a </a:t>
            </a:r>
            <a:r>
              <a:rPr lang="en-US" b="1" dirty="0" smtClean="0"/>
              <a:t>rounded fatty elevation </a:t>
            </a:r>
            <a:r>
              <a:rPr lang="en-US" dirty="0" smtClean="0"/>
              <a:t>located </a:t>
            </a:r>
            <a:r>
              <a:rPr lang="en-US" b="1" dirty="0" smtClean="0"/>
              <a:t>anterior</a:t>
            </a:r>
            <a:r>
              <a:rPr lang="en-US" dirty="0" smtClean="0"/>
              <a:t> to the </a:t>
            </a:r>
            <a:r>
              <a:rPr lang="en-US" b="1" dirty="0" smtClean="0"/>
              <a:t>pubic symphysis</a:t>
            </a:r>
            <a:r>
              <a:rPr lang="en-US" dirty="0" smtClean="0"/>
              <a:t> and </a:t>
            </a:r>
            <a:r>
              <a:rPr lang="en-US" b="1" dirty="0" smtClean="0"/>
              <a:t>lower pubic region</a:t>
            </a:r>
            <a:r>
              <a:rPr lang="en-US" dirty="0" smtClean="0"/>
              <a:t>.</a:t>
            </a:r>
          </a:p>
          <a:p>
            <a:r>
              <a:rPr lang="en-US" dirty="0" smtClean="0"/>
              <a:t>It consists mainly of a </a:t>
            </a:r>
            <a:r>
              <a:rPr lang="en-US" b="1" dirty="0" smtClean="0"/>
              <a:t>pad</a:t>
            </a:r>
            <a:r>
              <a:rPr lang="en-US" dirty="0" smtClean="0"/>
              <a:t> of </a:t>
            </a:r>
            <a:r>
              <a:rPr lang="en-US" b="1" dirty="0" smtClean="0"/>
              <a:t>fatty connective tissue deep to the skin</a:t>
            </a:r>
            <a:r>
              <a:rPr lang="en-US" dirty="0" smtClean="0"/>
              <a:t>.</a:t>
            </a:r>
          </a:p>
          <a:p>
            <a:r>
              <a:rPr lang="en-US" dirty="0" smtClean="0"/>
              <a:t>The amount of fat </a:t>
            </a:r>
            <a:r>
              <a:rPr lang="en-US" b="1" dirty="0" smtClean="0"/>
              <a:t>increases during puberty</a:t>
            </a:r>
            <a:r>
              <a:rPr lang="en-US" dirty="0" smtClean="0"/>
              <a:t> and </a:t>
            </a:r>
            <a:r>
              <a:rPr lang="en-US" b="1" dirty="0" smtClean="0"/>
              <a:t>decreases after menopause</a:t>
            </a:r>
            <a:r>
              <a:rPr lang="en-US" dirty="0" smtClean="0"/>
              <a:t>.</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a:t>
            </a:r>
            <a:r>
              <a:rPr lang="en-US" b="1" dirty="0" err="1" smtClean="0"/>
              <a:t>mons</a:t>
            </a:r>
            <a:r>
              <a:rPr lang="en-US" b="1" dirty="0" smtClean="0"/>
              <a:t> pubis</a:t>
            </a:r>
            <a:r>
              <a:rPr lang="en-US" dirty="0" smtClean="0"/>
              <a:t> becomes covered with </a:t>
            </a:r>
            <a:r>
              <a:rPr lang="en-US" b="1" dirty="0" smtClean="0"/>
              <a:t>coarse pubic hairs</a:t>
            </a:r>
            <a:r>
              <a:rPr lang="en-US" dirty="0" smtClean="0"/>
              <a:t> during </a:t>
            </a:r>
            <a:r>
              <a:rPr lang="en-US" b="1" dirty="0" smtClean="0"/>
              <a:t>puberty</a:t>
            </a:r>
            <a:r>
              <a:rPr lang="en-US" dirty="0" smtClean="0"/>
              <a:t>, which </a:t>
            </a:r>
            <a:r>
              <a:rPr lang="en-US" b="1" dirty="0" smtClean="0"/>
              <a:t>also decrease after menopause</a:t>
            </a:r>
            <a:r>
              <a:rPr lang="en-US" dirty="0" smtClean="0"/>
              <a:t>.</a:t>
            </a:r>
          </a:p>
          <a:p>
            <a:r>
              <a:rPr lang="en-US" dirty="0" smtClean="0"/>
              <a:t>The </a:t>
            </a:r>
            <a:r>
              <a:rPr lang="en-US" b="1" dirty="0" smtClean="0"/>
              <a:t>typical female distribution</a:t>
            </a:r>
            <a:r>
              <a:rPr lang="en-US" dirty="0" smtClean="0"/>
              <a:t> of </a:t>
            </a:r>
            <a:r>
              <a:rPr lang="en-US" b="1" dirty="0" smtClean="0"/>
              <a:t>pubic hair</a:t>
            </a:r>
            <a:r>
              <a:rPr lang="en-US" dirty="0" smtClean="0"/>
              <a:t> has a </a:t>
            </a:r>
            <a:r>
              <a:rPr lang="en-US" b="1" dirty="0" smtClean="0"/>
              <a:t>horizontal superior limit across the pubic region</a:t>
            </a:r>
            <a:r>
              <a:rPr lang="en-US" dirty="0" smtClean="0"/>
              <a:t>.</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b="1" i="1" dirty="0" smtClean="0"/>
              <a:t>The Labia Majora</a:t>
            </a:r>
            <a:r>
              <a:rPr lang="en-US" dirty="0" smtClean="0"/>
              <a:t> </a:t>
            </a:r>
          </a:p>
          <a:p>
            <a:r>
              <a:rPr lang="en-US" dirty="0" smtClean="0"/>
              <a:t>The labia (L. large lips) are </a:t>
            </a:r>
            <a:r>
              <a:rPr lang="en-US" b="1" dirty="0" smtClean="0"/>
              <a:t>two symmetrical folds of skin,</a:t>
            </a:r>
            <a:r>
              <a:rPr lang="en-US" dirty="0" smtClean="0"/>
              <a:t> which </a:t>
            </a:r>
            <a:r>
              <a:rPr lang="en-US" b="1" dirty="0" smtClean="0"/>
              <a:t>provide protection</a:t>
            </a:r>
            <a:r>
              <a:rPr lang="en-US" dirty="0" smtClean="0"/>
              <a:t> for the </a:t>
            </a:r>
            <a:r>
              <a:rPr lang="en-US" dirty="0" smtClean="0">
                <a:hlinkClick r:id="rId2"/>
              </a:rPr>
              <a:t>urethral</a:t>
            </a:r>
            <a:r>
              <a:rPr lang="en-US" dirty="0" smtClean="0"/>
              <a:t> and </a:t>
            </a:r>
            <a:r>
              <a:rPr lang="en-US" dirty="0" smtClean="0">
                <a:hlinkClick r:id="rId2"/>
              </a:rPr>
              <a:t>vaginal orifices</a:t>
            </a:r>
            <a:r>
              <a:rPr lang="en-US" dirty="0" smtClean="0"/>
              <a:t>.</a:t>
            </a:r>
          </a:p>
          <a:p>
            <a:r>
              <a:rPr lang="en-US" dirty="0" smtClean="0"/>
              <a:t>These open into the </a:t>
            </a:r>
            <a:r>
              <a:rPr lang="en-US" dirty="0" smtClean="0">
                <a:hlinkClick r:id="rId2"/>
              </a:rPr>
              <a:t>vestibule of the vagina</a:t>
            </a:r>
            <a:r>
              <a:rPr lang="en-US" dirty="0" smtClean="0"/>
              <a:t>.</a:t>
            </a:r>
          </a:p>
          <a:p>
            <a:r>
              <a:rPr lang="en-US" dirty="0" smtClean="0"/>
              <a:t>Each labium </a:t>
            </a:r>
            <a:r>
              <a:rPr lang="en-US" dirty="0" err="1" smtClean="0"/>
              <a:t>majus</a:t>
            </a:r>
            <a:r>
              <a:rPr lang="en-US" dirty="0" smtClean="0"/>
              <a:t>, largely filled with </a:t>
            </a:r>
            <a:r>
              <a:rPr lang="en-US" b="1" dirty="0" smtClean="0"/>
              <a:t>subcutaneous fat</a:t>
            </a:r>
            <a:r>
              <a:rPr lang="en-US" dirty="0" smtClean="0"/>
              <a:t>, passes </a:t>
            </a:r>
            <a:r>
              <a:rPr lang="en-US" b="1" dirty="0" smtClean="0"/>
              <a:t>posteriorly from the </a:t>
            </a:r>
            <a:r>
              <a:rPr lang="en-US" dirty="0" err="1" smtClean="0">
                <a:hlinkClick r:id="rId2"/>
              </a:rPr>
              <a:t>mons</a:t>
            </a:r>
            <a:r>
              <a:rPr lang="en-US" dirty="0" smtClean="0">
                <a:hlinkClick r:id="rId2"/>
              </a:rPr>
              <a:t> pubis</a:t>
            </a:r>
            <a:r>
              <a:rPr lang="en-US" dirty="0" smtClean="0"/>
              <a:t> to </a:t>
            </a:r>
            <a:r>
              <a:rPr lang="en-US" b="1" dirty="0" smtClean="0"/>
              <a:t>about 2.5 cm from the anus</a:t>
            </a:r>
            <a:r>
              <a:rPr lang="en-US" dirty="0" smtClean="0"/>
              <a:t>.</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They are situated on </a:t>
            </a:r>
            <a:r>
              <a:rPr lang="en-US" b="1" dirty="0" smtClean="0"/>
              <a:t>each side of the pudendal cleft</a:t>
            </a:r>
            <a:r>
              <a:rPr lang="en-US" dirty="0" smtClean="0"/>
              <a:t>, which is the slit between the labia majora into which the </a:t>
            </a:r>
            <a:r>
              <a:rPr lang="en-US" dirty="0" smtClean="0">
                <a:hlinkClick r:id="rId2"/>
              </a:rPr>
              <a:t>vestibule of the vagina</a:t>
            </a:r>
            <a:r>
              <a:rPr lang="en-US" dirty="0" smtClean="0"/>
              <a:t> opens.</a:t>
            </a:r>
          </a:p>
          <a:p>
            <a:r>
              <a:rPr lang="en-US" dirty="0" smtClean="0"/>
              <a:t>The labia majora </a:t>
            </a:r>
            <a:r>
              <a:rPr lang="en-US" b="1" dirty="0" smtClean="0"/>
              <a:t>meet </a:t>
            </a:r>
            <a:r>
              <a:rPr lang="en-US" b="1" dirty="0" err="1" smtClean="0"/>
              <a:t>anteriorly</a:t>
            </a:r>
            <a:r>
              <a:rPr lang="en-US" dirty="0" smtClean="0"/>
              <a:t> at the </a:t>
            </a:r>
            <a:r>
              <a:rPr lang="en-US" b="1" dirty="0" smtClean="0"/>
              <a:t>anterior labial </a:t>
            </a:r>
            <a:r>
              <a:rPr lang="en-US" b="1" dirty="0" err="1" smtClean="0"/>
              <a:t>commissure</a:t>
            </a:r>
            <a:r>
              <a:rPr lang="en-US" dirty="0" smtClean="0"/>
              <a:t>.</a:t>
            </a:r>
          </a:p>
          <a:p>
            <a:r>
              <a:rPr lang="en-US" dirty="0" smtClean="0"/>
              <a:t>They </a:t>
            </a:r>
            <a:r>
              <a:rPr lang="en-US" b="1" dirty="0" smtClean="0"/>
              <a:t>do not join posteriorly</a:t>
            </a:r>
            <a:r>
              <a:rPr lang="en-US" dirty="0" smtClean="0"/>
              <a:t> but a </a:t>
            </a:r>
            <a:r>
              <a:rPr lang="en-US" b="1" dirty="0" smtClean="0"/>
              <a:t>transverse bridge of skin</a:t>
            </a:r>
            <a:r>
              <a:rPr lang="en-US" dirty="0" smtClean="0"/>
              <a:t> called the </a:t>
            </a:r>
            <a:r>
              <a:rPr lang="en-US" b="1" dirty="0" smtClean="0"/>
              <a:t>posterior labial </a:t>
            </a:r>
            <a:r>
              <a:rPr lang="en-US" b="1" dirty="0" err="1" smtClean="0"/>
              <a:t>commissure</a:t>
            </a:r>
            <a:r>
              <a:rPr lang="en-US" dirty="0" smtClean="0"/>
              <a:t> passes between them.</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i="1" dirty="0" smtClean="0"/>
              <a:t>The Labia Minora</a:t>
            </a:r>
            <a:r>
              <a:rPr lang="en-US" dirty="0" smtClean="0"/>
              <a:t> </a:t>
            </a:r>
          </a:p>
          <a:p>
            <a:r>
              <a:rPr lang="en-US" b="1" dirty="0" smtClean="0"/>
              <a:t>The labia minora (L. small lips) are thin, delicate folds of fat-free hairless skin.</a:t>
            </a:r>
          </a:p>
          <a:p>
            <a:r>
              <a:rPr lang="en-US" b="1" dirty="0" smtClean="0"/>
              <a:t>They are located between the </a:t>
            </a:r>
            <a:r>
              <a:rPr lang="en-US" b="1" dirty="0" smtClean="0">
                <a:hlinkClick r:id="rId2"/>
              </a:rPr>
              <a:t>labia majora</a:t>
            </a:r>
            <a:r>
              <a:rPr lang="en-US" b="1" dirty="0" smtClean="0"/>
              <a:t>.</a:t>
            </a:r>
          </a:p>
          <a:p>
            <a:r>
              <a:rPr lang="en-US" b="1" dirty="0" smtClean="0"/>
              <a:t>The labia minora contain a core of spongy tissue with many small blood vessels but no fat.</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b="1" dirty="0" smtClean="0"/>
              <a:t>The internal surface of each labium minus consists of thin skin and has the typical pink </a:t>
            </a:r>
            <a:r>
              <a:rPr lang="en-US" b="1" dirty="0" err="1" smtClean="0"/>
              <a:t>colour</a:t>
            </a:r>
            <a:r>
              <a:rPr lang="en-US" b="1" dirty="0" smtClean="0"/>
              <a:t> of a mucous membrane.</a:t>
            </a:r>
          </a:p>
          <a:p>
            <a:r>
              <a:rPr lang="en-US" b="1" dirty="0" smtClean="0"/>
              <a:t>It contains many sensory nerve endings.</a:t>
            </a:r>
          </a:p>
          <a:p>
            <a:r>
              <a:rPr lang="en-US" b="1" dirty="0" smtClean="0"/>
              <a:t>Sebaceous and sweat glands open on both of their surfaces.</a:t>
            </a:r>
          </a:p>
          <a:p>
            <a:r>
              <a:rPr lang="en-US" b="1" dirty="0" smtClean="0"/>
              <a:t>The labia minora enclose the </a:t>
            </a:r>
            <a:r>
              <a:rPr lang="en-US" b="1" dirty="0" smtClean="0">
                <a:hlinkClick r:id="rId2"/>
              </a:rPr>
              <a:t>vestibule of the vagina</a:t>
            </a:r>
            <a:r>
              <a:rPr lang="en-US" b="1" dirty="0" smtClean="0"/>
              <a:t> and lie on each side of the </a:t>
            </a:r>
            <a:r>
              <a:rPr lang="en-US" b="1" dirty="0" smtClean="0">
                <a:hlinkClick r:id="rId2"/>
              </a:rPr>
              <a:t>orifices of the urethra</a:t>
            </a:r>
            <a:r>
              <a:rPr lang="en-US" b="1" dirty="0" smtClean="0"/>
              <a:t> and </a:t>
            </a:r>
            <a:r>
              <a:rPr lang="en-US" b="1" dirty="0" smtClean="0">
                <a:hlinkClick r:id="rId2"/>
              </a:rPr>
              <a:t>vagina</a:t>
            </a:r>
            <a:r>
              <a:rPr lang="en-US" b="1" dirty="0" smtClean="0"/>
              <a:t>.</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b="1" dirty="0" smtClean="0"/>
              <a:t>They meet just superior to the </a:t>
            </a:r>
            <a:r>
              <a:rPr lang="en-US" b="1" dirty="0" smtClean="0">
                <a:hlinkClick r:id="rId2"/>
              </a:rPr>
              <a:t>clitoris</a:t>
            </a:r>
            <a:r>
              <a:rPr lang="en-US" b="1" dirty="0" smtClean="0"/>
              <a:t> to form a fold of skin called the prepuce (clitoral hood).</a:t>
            </a:r>
          </a:p>
          <a:p>
            <a:r>
              <a:rPr lang="en-US" b="1" dirty="0" smtClean="0"/>
              <a:t>In young females the labia minora are usually united posteriorly by a small fold of the skin, the frenulum of the labia minora.</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buNone/>
            </a:pPr>
            <a:r>
              <a:rPr lang="en-US" b="1" u="sng" dirty="0" smtClean="0"/>
              <a:t>The Vestibule of the Vagina </a:t>
            </a:r>
          </a:p>
          <a:p>
            <a:r>
              <a:rPr lang="en-US" b="1" dirty="0" smtClean="0"/>
              <a:t>The vestibule (L. </a:t>
            </a:r>
            <a:r>
              <a:rPr lang="en-US" b="1" i="1" dirty="0" err="1" smtClean="0"/>
              <a:t>vestibulum</a:t>
            </a:r>
            <a:r>
              <a:rPr lang="en-US" b="1" dirty="0" smtClean="0"/>
              <a:t>, antechamber) is the space between the </a:t>
            </a:r>
            <a:r>
              <a:rPr lang="en-US" b="1" dirty="0" smtClean="0">
                <a:hlinkClick r:id="rId2"/>
              </a:rPr>
              <a:t>labia minora</a:t>
            </a:r>
            <a:r>
              <a:rPr lang="en-US" b="1" dirty="0" smtClean="0"/>
              <a:t>.</a:t>
            </a:r>
          </a:p>
          <a:p>
            <a:r>
              <a:rPr lang="en-US" b="1" dirty="0" smtClean="0"/>
              <a:t>The </a:t>
            </a:r>
            <a:r>
              <a:rPr lang="en-US" b="1" dirty="0" smtClean="0">
                <a:hlinkClick r:id="rId3"/>
              </a:rPr>
              <a:t>urethra</a:t>
            </a:r>
            <a:r>
              <a:rPr lang="en-US" b="1" dirty="0" smtClean="0"/>
              <a:t>, </a:t>
            </a:r>
            <a:r>
              <a:rPr lang="en-US" b="1" dirty="0" smtClean="0">
                <a:hlinkClick r:id="rId4"/>
              </a:rPr>
              <a:t>vagina</a:t>
            </a:r>
            <a:r>
              <a:rPr lang="en-US" b="1" dirty="0" smtClean="0"/>
              <a:t>, and ducts of the </a:t>
            </a:r>
            <a:r>
              <a:rPr lang="en-US" b="1" dirty="0" smtClean="0">
                <a:hlinkClick r:id="rId2"/>
              </a:rPr>
              <a:t>greater vestibular glands</a:t>
            </a:r>
            <a:r>
              <a:rPr lang="en-US" b="1" dirty="0" smtClean="0"/>
              <a:t> open into the vestibule.</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609600" y="1241324"/>
            <a:ext cx="6705600" cy="540774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b="1" u="sng" dirty="0" smtClean="0"/>
              <a:t>The External Urethral Orifice </a:t>
            </a:r>
          </a:p>
          <a:p>
            <a:r>
              <a:rPr lang="en-US" b="1" dirty="0" smtClean="0"/>
              <a:t>This median aperture is located 2 to 3 cm posterior to the </a:t>
            </a:r>
            <a:r>
              <a:rPr lang="en-US" b="1" dirty="0" smtClean="0">
                <a:hlinkClick r:id="rId2"/>
              </a:rPr>
              <a:t>clitoris</a:t>
            </a:r>
            <a:r>
              <a:rPr lang="en-US" b="1" dirty="0" smtClean="0"/>
              <a:t> and immediately anterior to the </a:t>
            </a:r>
            <a:r>
              <a:rPr lang="en-US" b="1" dirty="0" smtClean="0">
                <a:hlinkClick r:id="rId2"/>
              </a:rPr>
              <a:t>vaginal orifice</a:t>
            </a:r>
            <a:r>
              <a:rPr lang="en-US" b="1" dirty="0" smtClean="0"/>
              <a:t>.</a:t>
            </a:r>
          </a:p>
          <a:p>
            <a:r>
              <a:rPr lang="en-US" b="1" dirty="0" smtClean="0"/>
              <a:t>On each side of this orifice are the openings of the ducts of the </a:t>
            </a:r>
            <a:r>
              <a:rPr lang="en-US" b="1" dirty="0" err="1" smtClean="0"/>
              <a:t>paraurethral</a:t>
            </a:r>
            <a:r>
              <a:rPr lang="en-US" b="1" dirty="0" smtClean="0"/>
              <a:t> glands (</a:t>
            </a:r>
            <a:r>
              <a:rPr lang="en-US" b="1" dirty="0" err="1" smtClean="0"/>
              <a:t>Skene's</a:t>
            </a:r>
            <a:r>
              <a:rPr lang="en-US" b="1" dirty="0" smtClean="0"/>
              <a:t> glands).</a:t>
            </a:r>
          </a:p>
          <a:p>
            <a:r>
              <a:rPr lang="en-US" b="1" dirty="0" smtClean="0"/>
              <a:t>These glands are homologous to the prostate in the male.</a:t>
            </a: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ctr">
              <a:buNone/>
            </a:pPr>
            <a:r>
              <a:rPr lang="en-US" b="1" i="1" u="sng" dirty="0" smtClean="0"/>
              <a:t>The Vaginal Orifice</a:t>
            </a:r>
            <a:r>
              <a:rPr lang="en-US" i="1" u="sng" dirty="0" smtClean="0"/>
              <a:t> </a:t>
            </a:r>
          </a:p>
          <a:p>
            <a:r>
              <a:rPr lang="en-US" b="1" dirty="0" smtClean="0"/>
              <a:t>This large opening is located inferior and posterior to the much smaller </a:t>
            </a:r>
            <a:r>
              <a:rPr lang="en-US" b="1" dirty="0" smtClean="0">
                <a:hlinkClick r:id="rId2"/>
              </a:rPr>
              <a:t>external urethral orifice</a:t>
            </a:r>
            <a:r>
              <a:rPr lang="en-US" b="1" dirty="0" smtClean="0"/>
              <a:t>.</a:t>
            </a:r>
          </a:p>
          <a:p>
            <a:r>
              <a:rPr lang="en-US" b="1" dirty="0" smtClean="0"/>
              <a:t>The size and appearance of the vaginal orifice varies with the condition of the hymen (G. membrane), a thin fold of mucous membrane that surrounds the vaginal orifice.</a:t>
            </a:r>
          </a:p>
          <a:p>
            <a:r>
              <a:rPr lang="en-US" b="1" dirty="0" smtClean="0"/>
              <a:t> </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ctr">
              <a:buNone/>
            </a:pPr>
            <a:r>
              <a:rPr lang="en-US" b="1" i="1" u="sng" dirty="0" smtClean="0"/>
              <a:t>The Greater Vestibular Glands</a:t>
            </a:r>
            <a:r>
              <a:rPr lang="en-US" u="sng" dirty="0" smtClean="0"/>
              <a:t> </a:t>
            </a:r>
          </a:p>
          <a:p>
            <a:r>
              <a:rPr lang="en-US" b="1" dirty="0" smtClean="0"/>
              <a:t>These glands are about 0.5 cm in diameter.</a:t>
            </a:r>
          </a:p>
          <a:p>
            <a:r>
              <a:rPr lang="en-US" b="1" dirty="0" smtClean="0"/>
              <a:t>They are located on each side of the </a:t>
            </a:r>
            <a:r>
              <a:rPr lang="en-US" b="1" dirty="0" smtClean="0">
                <a:hlinkClick r:id="rId2"/>
              </a:rPr>
              <a:t>vestibule of the vagina</a:t>
            </a:r>
            <a:r>
              <a:rPr lang="en-US" b="1" dirty="0" smtClean="0"/>
              <a:t>, posterolateral to the </a:t>
            </a:r>
            <a:r>
              <a:rPr lang="en-US" b="1" dirty="0" smtClean="0">
                <a:hlinkClick r:id="rId2"/>
              </a:rPr>
              <a:t>vaginal orifice</a:t>
            </a:r>
            <a:r>
              <a:rPr lang="en-US" b="1" dirty="0" smtClean="0"/>
              <a:t>.</a:t>
            </a:r>
            <a:r>
              <a:rPr lang="en-US" dirty="0" smtClean="0"/>
              <a:t> </a:t>
            </a:r>
          </a:p>
          <a:p>
            <a:r>
              <a:rPr lang="en-US" b="1" dirty="0" smtClean="0"/>
              <a:t>they secrete a small amount of lubricating mucus into the vestibule of the vagina during sexual arousal.</a:t>
            </a:r>
          </a:p>
          <a:p>
            <a:r>
              <a:rPr lang="en-US" b="1" dirty="0" err="1" smtClean="0"/>
              <a:t>Bartholin's</a:t>
            </a:r>
            <a:r>
              <a:rPr lang="en-US" b="1" dirty="0" smtClean="0"/>
              <a:t> glands are homologous with the </a:t>
            </a:r>
            <a:r>
              <a:rPr lang="en-US" b="1" dirty="0" err="1" smtClean="0"/>
              <a:t>bulbourethral</a:t>
            </a:r>
            <a:r>
              <a:rPr lang="en-US" b="1" dirty="0" smtClean="0"/>
              <a:t> glands in the male</a:t>
            </a:r>
          </a:p>
          <a:p>
            <a:endParaRPr lang="en-US" b="1" dirty="0" smtClean="0"/>
          </a:p>
          <a:p>
            <a:endParaRPr lang="en-US" b="1" dirty="0" smtClean="0"/>
          </a:p>
          <a:p>
            <a:endParaRPr lang="en-US" b="1"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buNone/>
            </a:pPr>
            <a:r>
              <a:rPr lang="en-US" b="1" i="1" u="sng" dirty="0" smtClean="0"/>
              <a:t>The Lesser Vestibular Glands</a:t>
            </a:r>
            <a:r>
              <a:rPr lang="en-US" u="sng" dirty="0" smtClean="0"/>
              <a:t> </a:t>
            </a:r>
          </a:p>
          <a:p>
            <a:r>
              <a:rPr lang="en-US" b="1" dirty="0" smtClean="0"/>
              <a:t>These are small glands on each side of the vestibule of the vagina.</a:t>
            </a:r>
          </a:p>
          <a:p>
            <a:r>
              <a:rPr lang="en-US" b="1" dirty="0" smtClean="0"/>
              <a:t>They open into it between the </a:t>
            </a:r>
            <a:r>
              <a:rPr lang="en-US" b="1" dirty="0" smtClean="0">
                <a:hlinkClick r:id="rId2"/>
              </a:rPr>
              <a:t>urethral</a:t>
            </a:r>
            <a:r>
              <a:rPr lang="en-US" b="1" dirty="0" smtClean="0"/>
              <a:t> and </a:t>
            </a:r>
            <a:r>
              <a:rPr lang="en-US" b="1" dirty="0" smtClean="0">
                <a:hlinkClick r:id="rId2"/>
              </a:rPr>
              <a:t>vaginal orifices</a:t>
            </a:r>
            <a:r>
              <a:rPr lang="en-US" b="1" dirty="0" smtClean="0"/>
              <a:t>.</a:t>
            </a:r>
          </a:p>
          <a:p>
            <a:r>
              <a:rPr lang="en-US" b="1" dirty="0" smtClean="0"/>
              <a:t>These glands also secrete mucus into the </a:t>
            </a:r>
            <a:r>
              <a:rPr lang="en-US" b="1" dirty="0" smtClean="0">
                <a:hlinkClick r:id="rId2"/>
              </a:rPr>
              <a:t>vestibule</a:t>
            </a:r>
            <a:r>
              <a:rPr lang="en-US" b="1" dirty="0" smtClean="0"/>
              <a:t>, which moistens the labia and the vestibule.</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lgn="ctr">
              <a:buNone/>
            </a:pPr>
            <a:r>
              <a:rPr lang="en-US" b="1" i="1" u="sng" dirty="0" smtClean="0"/>
              <a:t>The Clitoris</a:t>
            </a:r>
            <a:r>
              <a:rPr lang="en-US" u="sng" dirty="0" smtClean="0"/>
              <a:t> </a:t>
            </a:r>
          </a:p>
          <a:p>
            <a:r>
              <a:rPr lang="en-US" b="1" dirty="0" smtClean="0"/>
              <a:t>The clitoris is 2 to 3 cm in length.</a:t>
            </a:r>
          </a:p>
          <a:p>
            <a:r>
              <a:rPr lang="en-US" b="1" dirty="0" smtClean="0"/>
              <a:t>It is homologous with the glans of penis and is an erectile organ.</a:t>
            </a:r>
          </a:p>
          <a:p>
            <a:r>
              <a:rPr lang="en-US" b="1" dirty="0" smtClean="0"/>
              <a:t>Unlike the penis, the clitoris is not traversed by the urethra; therefore it has no corpus spongiosum.</a:t>
            </a:r>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smtClean="0"/>
              <a:t>The clitoris is located posterior to the anterior labial </a:t>
            </a:r>
            <a:r>
              <a:rPr lang="en-US" b="1" dirty="0" err="1" smtClean="0"/>
              <a:t>commissure</a:t>
            </a:r>
            <a:r>
              <a:rPr lang="en-US" b="1" dirty="0" smtClean="0"/>
              <a:t>, where the labia majora meet.</a:t>
            </a:r>
          </a:p>
          <a:p>
            <a:r>
              <a:rPr lang="en-US" b="1" dirty="0" smtClean="0"/>
              <a:t>It is usually hidden by the labia when it is flaccid.</a:t>
            </a:r>
          </a:p>
          <a:p>
            <a:r>
              <a:rPr lang="en-US" b="1" dirty="0" smtClean="0"/>
              <a:t>The clitoris, like the penis, it will enlarge upon tactile stimulation, but it does not lengthen significantly.</a:t>
            </a:r>
          </a:p>
          <a:p>
            <a:r>
              <a:rPr lang="en-US" b="1" dirty="0" smtClean="0"/>
              <a:t>It is highly sensitive and very important in the sexual arousal of a female.</a:t>
            </a: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US" b="1" i="1" u="sng" dirty="0" smtClean="0"/>
              <a:t>Arterial Supply of the Female External Genitalia</a:t>
            </a:r>
            <a:r>
              <a:rPr lang="en-US" u="sng" dirty="0" smtClean="0"/>
              <a:t> </a:t>
            </a:r>
          </a:p>
          <a:p>
            <a:r>
              <a:rPr lang="en-US" b="1" dirty="0" smtClean="0"/>
              <a:t>The rich arterial supply to the vulva is from two external pudendal arteries and one internal pudendal artery on each side.</a:t>
            </a:r>
          </a:p>
          <a:p>
            <a:r>
              <a:rPr lang="en-US" b="1" dirty="0" smtClean="0"/>
              <a:t>The internal pudendal artery supplies the skin, sex organs, and the perineal muscles.</a:t>
            </a:r>
          </a:p>
          <a:p>
            <a:r>
              <a:rPr lang="en-US" b="1" dirty="0" smtClean="0"/>
              <a:t>The labial arteries are branches of the internal pudendal artery, as are the dorsal and deep arteries of the clitoris.</a:t>
            </a:r>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buNone/>
            </a:pPr>
            <a:r>
              <a:rPr lang="en-US" b="1" i="1" u="sng" dirty="0" smtClean="0"/>
              <a:t>Venous Drainage of the Female External Genitalia</a:t>
            </a:r>
            <a:r>
              <a:rPr lang="en-US" u="sng" dirty="0" smtClean="0"/>
              <a:t> </a:t>
            </a:r>
          </a:p>
          <a:p>
            <a:r>
              <a:rPr lang="en-US" dirty="0" smtClean="0"/>
              <a:t>The </a:t>
            </a:r>
            <a:r>
              <a:rPr lang="en-US" b="1" dirty="0" smtClean="0"/>
              <a:t>labial veins</a:t>
            </a:r>
            <a:r>
              <a:rPr lang="en-US" dirty="0" smtClean="0"/>
              <a:t> are tributaries of the </a:t>
            </a:r>
            <a:r>
              <a:rPr lang="en-US" b="1" dirty="0" smtClean="0"/>
              <a:t>internal pudendal veins</a:t>
            </a:r>
            <a:r>
              <a:rPr lang="en-US" dirty="0" smtClean="0"/>
              <a:t> and </a:t>
            </a:r>
            <a:r>
              <a:rPr lang="en-US" b="1" dirty="0" smtClean="0"/>
              <a:t>venae comitantes</a:t>
            </a:r>
            <a:r>
              <a:rPr lang="en-US" dirty="0" smtClean="0"/>
              <a:t> of the </a:t>
            </a:r>
            <a:r>
              <a:rPr lang="en-US" b="1" dirty="0" smtClean="0"/>
              <a:t>internal pudendal artery</a:t>
            </a:r>
            <a:r>
              <a:rPr lang="en-US" dirty="0" smtClean="0"/>
              <a:t>.</a:t>
            </a:r>
          </a:p>
          <a:p>
            <a:endParaRPr lang="en-US" dirty="0" smtClean="0"/>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buNone/>
            </a:pPr>
            <a:r>
              <a:rPr lang="en-US" b="1" i="1" u="sng" dirty="0" smtClean="0"/>
              <a:t>Lymph Drainage of the Female External Genitalia</a:t>
            </a:r>
            <a:r>
              <a:rPr lang="en-US" u="sng" dirty="0" smtClean="0"/>
              <a:t> </a:t>
            </a:r>
          </a:p>
          <a:p>
            <a:r>
              <a:rPr lang="en-US" b="1" dirty="0" smtClean="0"/>
              <a:t>The vulva contains a very rich network of lymphatic channels.</a:t>
            </a:r>
          </a:p>
          <a:p>
            <a:r>
              <a:rPr lang="en-US" b="1" dirty="0" smtClean="0"/>
              <a:t>Most lymph vessels pass to the superficial inguinal lymph nodes and deep inguinal nodes.</a:t>
            </a:r>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ctr">
              <a:buNone/>
            </a:pPr>
            <a:r>
              <a:rPr lang="en-US" b="1" i="1" u="sng" dirty="0" err="1" smtClean="0"/>
              <a:t>innervation</a:t>
            </a:r>
            <a:r>
              <a:rPr lang="en-US" b="1" i="1" u="sng" dirty="0" smtClean="0"/>
              <a:t> of the Female External Genitalia</a:t>
            </a:r>
            <a:r>
              <a:rPr lang="en-US" u="sng" dirty="0" smtClean="0"/>
              <a:t> </a:t>
            </a:r>
          </a:p>
          <a:p>
            <a:r>
              <a:rPr lang="en-US" b="1" dirty="0" smtClean="0"/>
              <a:t>The nerves to the vulva are branches of:</a:t>
            </a:r>
          </a:p>
          <a:p>
            <a:pPr lvl="1"/>
            <a:r>
              <a:rPr lang="en-US" sz="3200" b="1" dirty="0" smtClean="0"/>
              <a:t>The ilioinguinal nerve;</a:t>
            </a:r>
          </a:p>
          <a:p>
            <a:pPr lvl="1"/>
            <a:r>
              <a:rPr lang="en-US" sz="3200" b="1" dirty="0" smtClean="0"/>
              <a:t>The genital branch of the genitofemoral nerve;</a:t>
            </a:r>
          </a:p>
          <a:p>
            <a:pPr lvl="1"/>
            <a:r>
              <a:rPr lang="en-US" sz="3200" b="1" dirty="0" smtClean="0"/>
              <a:t>The perineal branch of the femoral cutaneous nerve;</a:t>
            </a:r>
          </a:p>
          <a:p>
            <a:pPr lvl="1"/>
            <a:r>
              <a:rPr lang="en-US" sz="3200" b="1" dirty="0" smtClean="0"/>
              <a:t>And the perineal nerve.</a:t>
            </a:r>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THE INTERNAL GENITALIA</a:t>
            </a:r>
            <a:endParaRPr lang="en-US" b="1" i="1" dirty="0"/>
          </a:p>
        </p:txBody>
      </p:sp>
      <p:sp>
        <p:nvSpPr>
          <p:cNvPr id="3" name="Content Placeholder 2"/>
          <p:cNvSpPr>
            <a:spLocks noGrp="1"/>
          </p:cNvSpPr>
          <p:nvPr>
            <p:ph idx="1"/>
          </p:nvPr>
        </p:nvSpPr>
        <p:spPr/>
        <p:txBody>
          <a:bodyPr>
            <a:normAutofit/>
          </a:bodyPr>
          <a:lstStyle/>
          <a:p>
            <a:pPr algn="ctr"/>
            <a:r>
              <a:rPr lang="en-US" b="1" i="1" u="sng" dirty="0" smtClean="0"/>
              <a:t>Vagina</a:t>
            </a:r>
          </a:p>
          <a:p>
            <a:r>
              <a:rPr lang="en-US" b="1" dirty="0" smtClean="0"/>
              <a:t>This is a fibromascular tube covered with stratified squamous epithelium that connects the uterus and the vestibule.</a:t>
            </a:r>
          </a:p>
          <a:p>
            <a:r>
              <a:rPr lang="en-US" b="1" dirty="0" smtClean="0"/>
              <a:t>It is made of three layers:-</a:t>
            </a:r>
          </a:p>
          <a:p>
            <a:pPr lvl="1"/>
            <a:r>
              <a:rPr lang="en-US" b="1" dirty="0" smtClean="0"/>
              <a:t>Outer covering of ariolar tissue</a:t>
            </a:r>
          </a:p>
          <a:p>
            <a:pPr lvl="1"/>
            <a:r>
              <a:rPr lang="en-US" b="1" dirty="0" smtClean="0"/>
              <a:t>Middle layer made of smooth muscles</a:t>
            </a:r>
          </a:p>
          <a:p>
            <a:pPr lvl="1"/>
            <a:r>
              <a:rPr lang="en-US" b="1" dirty="0" smtClean="0"/>
              <a:t>Inner covering made of stratified squamous epithelium</a:t>
            </a:r>
            <a:endParaRPr lang="en-US" b="1"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The inner membrane is thrown into convolutions called rugae that allows stretching</a:t>
            </a:r>
          </a:p>
          <a:p>
            <a:r>
              <a:rPr lang="en-US" b="1" dirty="0" smtClean="0"/>
              <a:t>The anterior wall is about 7-5 cm long and posterior wall 9cm long. This is because the cervix projects into the vagina at an angle.</a:t>
            </a:r>
          </a:p>
          <a:p>
            <a:r>
              <a:rPr lang="en-US" b="1" dirty="0" smtClean="0"/>
              <a:t>It has no secretory glands but it is kept moist my cervical secretions</a:t>
            </a:r>
            <a:endParaRPr lang="en-US" b="1"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Although the cervical mucous is alkaline, the breakdown of glycogen by </a:t>
            </a:r>
            <a:r>
              <a:rPr lang="en-US" b="1" dirty="0" err="1" smtClean="0"/>
              <a:t>Doderlin</a:t>
            </a:r>
            <a:r>
              <a:rPr lang="en-US" b="1" dirty="0" smtClean="0"/>
              <a:t> bacilli (Lactobacillus acidophilus) into lactic acid maintain the vagina PH at 4.9-3.5</a:t>
            </a:r>
          </a:p>
          <a:p>
            <a:endParaRPr lang="en-US" b="1"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relations</a:t>
            </a:r>
            <a:endParaRPr lang="en-US" b="1" i="1" dirty="0"/>
          </a:p>
        </p:txBody>
      </p:sp>
      <p:sp>
        <p:nvSpPr>
          <p:cNvPr id="3" name="Content Placeholder 2"/>
          <p:cNvSpPr>
            <a:spLocks noGrp="1"/>
          </p:cNvSpPr>
          <p:nvPr>
            <p:ph idx="1"/>
          </p:nvPr>
        </p:nvSpPr>
        <p:spPr/>
        <p:txBody>
          <a:bodyPr/>
          <a:lstStyle/>
          <a:p>
            <a:r>
              <a:rPr lang="en-US" b="1" dirty="0" smtClean="0"/>
              <a:t>Inferiorly- the vaginal orifice and the vestibule</a:t>
            </a:r>
          </a:p>
          <a:p>
            <a:r>
              <a:rPr lang="en-US" b="1" dirty="0" smtClean="0"/>
              <a:t>Anteriorly- the urethra and urinary bladder and urethra</a:t>
            </a:r>
          </a:p>
          <a:p>
            <a:r>
              <a:rPr lang="en-US" b="1" dirty="0" smtClean="0"/>
              <a:t>Laterally- upper 2/3 pelvic fascia and ureters, the lower 1/3 muscles of the pelvic floor</a:t>
            </a:r>
          </a:p>
          <a:p>
            <a:r>
              <a:rPr lang="en-US" b="1" dirty="0" smtClean="0"/>
              <a:t>Superiorly- uterus</a:t>
            </a:r>
          </a:p>
          <a:p>
            <a:r>
              <a:rPr lang="en-US" b="1" dirty="0" smtClean="0"/>
              <a:t>Inferiorly-the external genitalia</a:t>
            </a:r>
          </a:p>
          <a:p>
            <a:endParaRPr lang="en-US" b="1" dirty="0" smtClean="0"/>
          </a:p>
          <a:p>
            <a:endParaRPr lang="en-US" b="1"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Functions of vagina</a:t>
            </a:r>
            <a:endParaRPr lang="en-US" b="1" i="1" dirty="0"/>
          </a:p>
        </p:txBody>
      </p:sp>
      <p:sp>
        <p:nvSpPr>
          <p:cNvPr id="3" name="Content Placeholder 2"/>
          <p:cNvSpPr>
            <a:spLocks noGrp="1"/>
          </p:cNvSpPr>
          <p:nvPr>
            <p:ph idx="1"/>
          </p:nvPr>
        </p:nvSpPr>
        <p:spPr/>
        <p:txBody>
          <a:bodyPr/>
          <a:lstStyle/>
          <a:p>
            <a:pPr marL="514350" indent="-514350">
              <a:buFont typeface="+mj-lt"/>
              <a:buAutoNum type="arabicPeriod"/>
            </a:pPr>
            <a:r>
              <a:rPr lang="en-US" b="1" dirty="0" smtClean="0"/>
              <a:t>Allows the escape of menstrual flow</a:t>
            </a:r>
          </a:p>
          <a:p>
            <a:pPr marL="514350" indent="-514350">
              <a:buFont typeface="+mj-lt"/>
              <a:buAutoNum type="arabicPeriod"/>
            </a:pPr>
            <a:r>
              <a:rPr lang="en-US" b="1" dirty="0" smtClean="0"/>
              <a:t>Receives the penis and sperms during copulation</a:t>
            </a:r>
          </a:p>
          <a:p>
            <a:pPr marL="514350" indent="-514350">
              <a:buFont typeface="+mj-lt"/>
              <a:buAutoNum type="arabicPeriod"/>
            </a:pPr>
            <a:r>
              <a:rPr lang="en-US" b="1" dirty="0" smtClean="0"/>
              <a:t>Provides a passage way for the fetus during delivery</a:t>
            </a:r>
            <a:endParaRPr lang="en-US" b="1"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b="1" dirty="0" smtClean="0"/>
              <a:t>Arterial blood supply to the vagina is from the vaginal artery and a descending branch of uterine artery. Venous drainage is via corresponding veins.</a:t>
            </a:r>
          </a:p>
          <a:p>
            <a:r>
              <a:rPr lang="en-US" b="1" dirty="0" smtClean="0"/>
              <a:t>Lymphatic drainage is via the inguinal, internal iliac and sacral lymph nodes</a:t>
            </a:r>
          </a:p>
          <a:p>
            <a:r>
              <a:rPr lang="en-US" b="1" dirty="0" smtClean="0"/>
              <a:t>Inervation is from pelvic plexus via vaginal nerves</a:t>
            </a:r>
          </a:p>
          <a:p>
            <a:endParaRPr lang="en-US" b="1" dirty="0" smtClean="0"/>
          </a:p>
          <a:p>
            <a:endParaRPr lang="en-US" b="1"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Female external genitalia</a:t>
            </a:r>
            <a:endParaRPr lang="en-US" b="1"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228600" y="1447800"/>
            <a:ext cx="6019800" cy="5638800"/>
          </a:xfrm>
          <a:prstGeom prst="rect">
            <a:avLst/>
          </a:prstGeom>
          <a:noFill/>
          <a:ln w="9525">
            <a:noFill/>
            <a:miter lim="800000"/>
            <a:headEnd/>
            <a:tailEnd/>
          </a:ln>
          <a:effectLst/>
        </p:spPr>
      </p:pic>
      <p:sp>
        <p:nvSpPr>
          <p:cNvPr id="6" name="Rectangle 5"/>
          <p:cNvSpPr/>
          <p:nvPr/>
        </p:nvSpPr>
        <p:spPr>
          <a:xfrm>
            <a:off x="6400800" y="1600200"/>
            <a:ext cx="2514600" cy="3416320"/>
          </a:xfrm>
          <a:prstGeom prst="rect">
            <a:avLst/>
          </a:prstGeom>
        </p:spPr>
        <p:txBody>
          <a:bodyPr wrap="square">
            <a:spAutoFit/>
          </a:bodyPr>
          <a:lstStyle/>
          <a:p>
            <a:r>
              <a:rPr lang="en-US" b="1" dirty="0" smtClean="0"/>
              <a:t>  Prepuce (Hood) of Clitoris </a:t>
            </a:r>
            <a:r>
              <a:rPr lang="en-US" dirty="0" smtClean="0"/>
              <a:t> </a:t>
            </a:r>
          </a:p>
          <a:p>
            <a:r>
              <a:rPr lang="en-US" b="1" dirty="0" smtClean="0"/>
              <a:t>B:  Clitoris  </a:t>
            </a:r>
            <a:endParaRPr lang="en-US" dirty="0" smtClean="0"/>
          </a:p>
          <a:p>
            <a:r>
              <a:rPr lang="en-US" b="1" dirty="0" smtClean="0"/>
              <a:t>C:  Opening of Urethra (urinary tract)  </a:t>
            </a:r>
            <a:endParaRPr lang="en-US" dirty="0" smtClean="0"/>
          </a:p>
          <a:p>
            <a:r>
              <a:rPr lang="en-US" b="1" dirty="0" smtClean="0"/>
              <a:t>D:  Labia minora  </a:t>
            </a:r>
            <a:endParaRPr lang="en-US" dirty="0" smtClean="0"/>
          </a:p>
          <a:p>
            <a:r>
              <a:rPr lang="en-US" b="1" dirty="0" smtClean="0"/>
              <a:t>E:  Labia majora  </a:t>
            </a:r>
            <a:endParaRPr lang="en-US" dirty="0" smtClean="0"/>
          </a:p>
          <a:p>
            <a:r>
              <a:rPr lang="en-US" b="1" dirty="0" smtClean="0"/>
              <a:t>F:  Opening of Vagina  </a:t>
            </a:r>
            <a:endParaRPr lang="en-US" dirty="0" smtClean="0"/>
          </a:p>
          <a:p>
            <a:r>
              <a:rPr lang="en-US" b="1" dirty="0" smtClean="0"/>
              <a:t>G:  Vestibule  </a:t>
            </a:r>
            <a:endParaRPr lang="en-US" dirty="0" smtClean="0"/>
          </a:p>
          <a:p>
            <a:r>
              <a:rPr lang="en-US" b="1" dirty="0" smtClean="0"/>
              <a:t>H:  Hyman tissue (residual)  </a:t>
            </a:r>
            <a:endParaRPr lang="en-US" dirty="0" smtClean="0"/>
          </a:p>
          <a:p>
            <a:r>
              <a:rPr lang="en-US" b="1" dirty="0" smtClean="0"/>
              <a:t>I:  Opening of Anus </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Internal female reproductive organs</a:t>
            </a:r>
            <a:endParaRPr lang="en-US" b="1" dirty="0"/>
          </a:p>
        </p:txBody>
      </p:sp>
      <p:pic>
        <p:nvPicPr>
          <p:cNvPr id="2050" name="Picture 2"/>
          <p:cNvPicPr>
            <a:picLocks noGrp="1" noChangeAspect="1" noChangeArrowheads="1"/>
          </p:cNvPicPr>
          <p:nvPr>
            <p:ph idx="1"/>
          </p:nvPr>
        </p:nvPicPr>
        <p:blipFill>
          <a:blip r:embed="rId2" cstate="print"/>
          <a:stretch>
            <a:fillRect/>
          </a:stretch>
        </p:blipFill>
        <p:spPr bwMode="auto">
          <a:xfrm>
            <a:off x="3419475" y="3187700"/>
            <a:ext cx="2305050" cy="19621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Longitudinal section of female reproductive system</a:t>
            </a:r>
            <a:endParaRPr lang="en-US" dirty="0"/>
          </a:p>
        </p:txBody>
      </p:sp>
      <p:pic>
        <p:nvPicPr>
          <p:cNvPr id="3074" name="Picture 2"/>
          <p:cNvPicPr>
            <a:picLocks noGrp="1" noChangeAspect="1" noChangeArrowheads="1"/>
          </p:cNvPicPr>
          <p:nvPr>
            <p:ph idx="1"/>
          </p:nvPr>
        </p:nvPicPr>
        <p:blipFill>
          <a:blip r:embed="rId2" cstate="print"/>
          <a:stretch>
            <a:fillRect/>
          </a:stretch>
        </p:blipFill>
        <p:spPr bwMode="auto">
          <a:xfrm>
            <a:off x="2990850" y="2773362"/>
            <a:ext cx="3162300" cy="27908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UTERUS</a:t>
            </a:r>
            <a:endParaRPr lang="en-US" b="1" dirty="0"/>
          </a:p>
        </p:txBody>
      </p:sp>
      <p:sp>
        <p:nvSpPr>
          <p:cNvPr id="3" name="Content Placeholder 2"/>
          <p:cNvSpPr>
            <a:spLocks noGrp="1"/>
          </p:cNvSpPr>
          <p:nvPr>
            <p:ph idx="1"/>
          </p:nvPr>
        </p:nvSpPr>
        <p:spPr/>
        <p:txBody>
          <a:bodyPr/>
          <a:lstStyle/>
          <a:p>
            <a:r>
              <a:rPr lang="en-US" b="1" dirty="0" smtClean="0"/>
              <a:t>The uterus in non-pregnant state is a hollow, muscular pear-shaped organ situated in the cavity of true pelvis</a:t>
            </a:r>
          </a:p>
          <a:p>
            <a:r>
              <a:rPr lang="en-US" b="1" dirty="0" smtClean="0"/>
              <a:t>It is about 7.5cm long and 5cm wide.</a:t>
            </a:r>
          </a:p>
          <a:p>
            <a:r>
              <a:rPr lang="en-US" b="1" dirty="0" smtClean="0"/>
              <a:t>It lies behind the urinary bladder and in front of the rectum.</a:t>
            </a:r>
          </a:p>
          <a:p>
            <a:r>
              <a:rPr lang="en-US" b="1" dirty="0" smtClean="0"/>
              <a:t>The uterus leans forward(</a:t>
            </a:r>
            <a:r>
              <a:rPr lang="en-US" b="1" dirty="0" err="1" smtClean="0"/>
              <a:t>anteversion</a:t>
            </a:r>
            <a:r>
              <a:rPr lang="en-US" b="1" dirty="0" smtClean="0"/>
              <a:t>) and bends on itself(</a:t>
            </a:r>
            <a:r>
              <a:rPr lang="en-US" b="1" dirty="0" err="1" smtClean="0"/>
              <a:t>anteflexion</a:t>
            </a:r>
            <a:r>
              <a:rPr lang="en-US" b="1" dirty="0" smtClean="0"/>
              <a:t>)</a:t>
            </a:r>
            <a:endParaRPr lang="en-US" b="1"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Structure of the uterus</a:t>
            </a:r>
            <a:endParaRPr lang="en-US" i="1" dirty="0"/>
          </a:p>
        </p:txBody>
      </p:sp>
      <p:pic>
        <p:nvPicPr>
          <p:cNvPr id="4098" name="Picture 2"/>
          <p:cNvPicPr>
            <a:picLocks noGrp="1" noChangeAspect="1" noChangeArrowheads="1"/>
          </p:cNvPicPr>
          <p:nvPr>
            <p:ph idx="1"/>
          </p:nvPr>
        </p:nvPicPr>
        <p:blipFill>
          <a:blip r:embed="rId2" cstate="print"/>
          <a:stretch>
            <a:fillRect/>
          </a:stretch>
        </p:blipFill>
        <p:spPr bwMode="auto">
          <a:xfrm>
            <a:off x="3143250" y="2397125"/>
            <a:ext cx="2857500" cy="35433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8600" y="1219200"/>
            <a:ext cx="8229600" cy="4525963"/>
          </a:xfrm>
        </p:spPr>
        <p:txBody>
          <a:bodyPr>
            <a:normAutofit/>
          </a:bodyPr>
          <a:lstStyle/>
          <a:p>
            <a:r>
              <a:rPr lang="en-US" b="1" dirty="0" smtClean="0"/>
              <a:t>Consists of the following parts</a:t>
            </a:r>
          </a:p>
          <a:p>
            <a:pPr lvl="1"/>
            <a:r>
              <a:rPr lang="en-US" b="1" i="1" dirty="0" smtClean="0"/>
              <a:t>The cornua- </a:t>
            </a:r>
            <a:r>
              <a:rPr lang="en-US" b="1" dirty="0" smtClean="0"/>
              <a:t>the upper outer angles where the fallopian tubes meet the uterus</a:t>
            </a:r>
          </a:p>
          <a:p>
            <a:pPr lvl="1"/>
            <a:r>
              <a:rPr lang="en-US" b="1" i="1" dirty="0" smtClean="0"/>
              <a:t>The fundus- </a:t>
            </a:r>
            <a:r>
              <a:rPr lang="en-US" b="1" dirty="0" smtClean="0"/>
              <a:t>the domed upper part between the cornua</a:t>
            </a:r>
          </a:p>
          <a:p>
            <a:pPr lvl="1"/>
            <a:r>
              <a:rPr lang="en-US" b="1" i="1" dirty="0" smtClean="0"/>
              <a:t>The cavity- </a:t>
            </a:r>
            <a:r>
              <a:rPr lang="en-US" b="1" dirty="0" smtClean="0"/>
              <a:t>the potential triangular space between the anterior and posterior wall</a:t>
            </a:r>
          </a:p>
          <a:p>
            <a:pPr lvl="1"/>
            <a:r>
              <a:rPr lang="en-US" b="1" i="1" dirty="0" smtClean="0"/>
              <a:t>The isthmus- </a:t>
            </a:r>
            <a:r>
              <a:rPr lang="en-US" b="1" dirty="0" smtClean="0"/>
              <a:t>between the cavity and the cervix, approximately 7mm long.</a:t>
            </a:r>
          </a:p>
          <a:p>
            <a:endParaRPr lang="en-US" b="1"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b="1" dirty="0" smtClean="0"/>
              <a:t>The cervix or neck- the lower part of the uterus that protrudes into the vagina. The narrow opening </a:t>
            </a:r>
            <a:r>
              <a:rPr lang="en-US" b="1" dirty="0" err="1" smtClean="0"/>
              <a:t>btn</a:t>
            </a:r>
            <a:r>
              <a:rPr lang="en-US" b="1" dirty="0" smtClean="0"/>
              <a:t> the cervix and isthmus is the internal os while the narrow opening at the lower end is the external os.</a:t>
            </a:r>
          </a:p>
          <a:p>
            <a:r>
              <a:rPr lang="en-US" b="1" dirty="0" smtClean="0"/>
              <a:t>The uterus consist of three layers:-</a:t>
            </a:r>
          </a:p>
          <a:p>
            <a:pPr lvl="1"/>
            <a:r>
              <a:rPr lang="en-US" sz="3200" b="1" dirty="0" smtClean="0"/>
              <a:t>The endometrium</a:t>
            </a:r>
          </a:p>
          <a:p>
            <a:pPr lvl="1"/>
            <a:r>
              <a:rPr lang="en-US" sz="3200" b="1" dirty="0" smtClean="0"/>
              <a:t>The myometrium</a:t>
            </a:r>
          </a:p>
          <a:p>
            <a:pPr lvl="1"/>
            <a:r>
              <a:rPr lang="en-US" sz="3200" b="1" dirty="0" smtClean="0"/>
              <a:t>The perimetrium</a:t>
            </a:r>
            <a:endParaRPr lang="en-US" sz="3200" b="1"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ctr"/>
            <a:r>
              <a:rPr lang="en-US" b="1" i="1" u="sng" dirty="0" smtClean="0"/>
              <a:t>Endometrium</a:t>
            </a:r>
          </a:p>
          <a:p>
            <a:r>
              <a:rPr lang="en-US" b="1" dirty="0" smtClean="0"/>
              <a:t>It is the inner layer of mucus membrane formed by ciliated epithelium on a base of connective tissue.</a:t>
            </a:r>
          </a:p>
          <a:p>
            <a:r>
              <a:rPr lang="en-US" b="1" dirty="0" smtClean="0"/>
              <a:t>The epithelial cells are cubical in shape and dip down to form glands that secrete alkaline mucus</a:t>
            </a:r>
          </a:p>
          <a:p>
            <a:r>
              <a:rPr lang="en-US" b="1" dirty="0" smtClean="0"/>
              <a:t>The cervical endometrium is thinner that of the body of uterus and is folded into a pattern known as </a:t>
            </a:r>
            <a:r>
              <a:rPr lang="en-US" b="1" dirty="0" smtClean="0">
                <a:solidFill>
                  <a:srgbClr val="FF0000"/>
                </a:solidFill>
              </a:rPr>
              <a:t>arbor vitae</a:t>
            </a:r>
            <a:r>
              <a:rPr lang="en-US" b="1" dirty="0" smtClean="0"/>
              <a:t>(free of life) that is thought to aid the passage of sperms</a:t>
            </a:r>
          </a:p>
          <a:p>
            <a:endParaRPr lang="en-US" b="1"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u="sng" dirty="0" smtClean="0"/>
              <a:t>myometrium</a:t>
            </a:r>
            <a:endParaRPr lang="en-US" b="1" i="1" u="sng" dirty="0"/>
          </a:p>
        </p:txBody>
      </p:sp>
      <p:sp>
        <p:nvSpPr>
          <p:cNvPr id="3" name="Content Placeholder 2"/>
          <p:cNvSpPr>
            <a:spLocks noGrp="1"/>
          </p:cNvSpPr>
          <p:nvPr>
            <p:ph idx="1"/>
          </p:nvPr>
        </p:nvSpPr>
        <p:spPr/>
        <p:txBody>
          <a:bodyPr/>
          <a:lstStyle/>
          <a:p>
            <a:r>
              <a:rPr lang="en-US" b="1" dirty="0" smtClean="0"/>
              <a:t>The middle muscular layer of uterus</a:t>
            </a:r>
          </a:p>
          <a:p>
            <a:r>
              <a:rPr lang="en-US" b="1" dirty="0" smtClean="0"/>
              <a:t>Thicker towards the fundus</a:t>
            </a:r>
          </a:p>
          <a:p>
            <a:r>
              <a:rPr lang="en-US" b="1" dirty="0" smtClean="0"/>
              <a:t>It fibers are arrange in all conceivable directions</a:t>
            </a:r>
          </a:p>
          <a:p>
            <a:r>
              <a:rPr lang="en-US" b="1" dirty="0" smtClean="0"/>
              <a:t>After delivery, these fibers act as ligatures of vessels to stop bleeding</a:t>
            </a:r>
          </a:p>
          <a:p>
            <a:endParaRPr lang="en-US" b="1"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u="sng" dirty="0" smtClean="0"/>
              <a:t>perimetrium</a:t>
            </a:r>
            <a:endParaRPr lang="en-US" b="1" i="1" u="sng" dirty="0"/>
          </a:p>
        </p:txBody>
      </p:sp>
      <p:sp>
        <p:nvSpPr>
          <p:cNvPr id="3" name="Content Placeholder 2"/>
          <p:cNvSpPr>
            <a:spLocks noGrp="1"/>
          </p:cNvSpPr>
          <p:nvPr>
            <p:ph idx="1"/>
          </p:nvPr>
        </p:nvSpPr>
        <p:spPr/>
        <p:txBody>
          <a:bodyPr>
            <a:normAutofit fontScale="92500"/>
          </a:bodyPr>
          <a:lstStyle/>
          <a:p>
            <a:r>
              <a:rPr lang="en-US" b="1" dirty="0" smtClean="0"/>
              <a:t>The outermost layer consisting of double serous membrane.</a:t>
            </a:r>
          </a:p>
          <a:p>
            <a:r>
              <a:rPr lang="en-US" b="1" dirty="0" smtClean="0"/>
              <a:t>Anteriorly, it covers the fundus and the body and then it is reflected over the urinary bladder to form </a:t>
            </a:r>
            <a:r>
              <a:rPr lang="en-US" b="1" dirty="0" err="1" smtClean="0"/>
              <a:t>vesico</a:t>
            </a:r>
            <a:r>
              <a:rPr lang="en-US" b="1" dirty="0" smtClean="0"/>
              <a:t>-uterine pouch</a:t>
            </a:r>
          </a:p>
          <a:p>
            <a:r>
              <a:rPr lang="en-US" b="1" dirty="0" smtClean="0"/>
              <a:t>Posteriorly, the peritoneum extends over fundus, body and cervix and then reflected to the rectum forming recto-uterine pouch</a:t>
            </a:r>
          </a:p>
          <a:p>
            <a:r>
              <a:rPr lang="en-US" b="1" dirty="0" smtClean="0"/>
              <a:t>Laterally, it only covers the fundus</a:t>
            </a:r>
            <a:endParaRPr lang="en-US" b="1"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Blood supply and drainage</a:t>
            </a:r>
            <a:endParaRPr lang="en-US" b="1" i="1" dirty="0"/>
          </a:p>
        </p:txBody>
      </p:sp>
      <p:sp>
        <p:nvSpPr>
          <p:cNvPr id="3" name="Content Placeholder 2"/>
          <p:cNvSpPr>
            <a:spLocks noGrp="1"/>
          </p:cNvSpPr>
          <p:nvPr>
            <p:ph idx="1"/>
          </p:nvPr>
        </p:nvSpPr>
        <p:spPr/>
        <p:txBody>
          <a:bodyPr/>
          <a:lstStyle/>
          <a:p>
            <a:r>
              <a:rPr lang="en-US" b="1" dirty="0" smtClean="0"/>
              <a:t>arterial supply- uterine arteries which are branches of internal iliac arteries</a:t>
            </a:r>
          </a:p>
          <a:p>
            <a:r>
              <a:rPr lang="en-US" b="1" dirty="0" smtClean="0"/>
              <a:t>Venous drainage is through the uterine veins that joins the internal iliac veins</a:t>
            </a:r>
          </a:p>
          <a:p>
            <a:r>
              <a:rPr lang="en-US" b="1" dirty="0" smtClean="0"/>
              <a:t> the lymph drains into the internal iliac and aortic lymph glands</a:t>
            </a:r>
            <a:endParaRPr lang="en-US" b="1"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u="sng" dirty="0" smtClean="0"/>
              <a:t>Support of the uterus</a:t>
            </a:r>
            <a:endParaRPr lang="en-US" b="1" i="1" u="sng" dirty="0"/>
          </a:p>
        </p:txBody>
      </p:sp>
      <p:sp>
        <p:nvSpPr>
          <p:cNvPr id="3" name="Content Placeholder 2"/>
          <p:cNvSpPr>
            <a:spLocks noGrp="1"/>
          </p:cNvSpPr>
          <p:nvPr>
            <p:ph idx="1"/>
          </p:nvPr>
        </p:nvSpPr>
        <p:spPr/>
        <p:txBody>
          <a:bodyPr>
            <a:normAutofit lnSpcReduction="10000"/>
          </a:bodyPr>
          <a:lstStyle/>
          <a:p>
            <a:r>
              <a:rPr lang="en-US" b="1" dirty="0" smtClean="0"/>
              <a:t>The uterus is well supported by the surrounding organs, muscles of the pelvic floor and ligaments that suspend it from the walls of the pelvis</a:t>
            </a:r>
          </a:p>
          <a:p>
            <a:r>
              <a:rPr lang="en-US" b="1" i="1" u="sng" dirty="0" smtClean="0"/>
              <a:t>Ligaments supporting the uterus</a:t>
            </a:r>
          </a:p>
          <a:p>
            <a:pPr>
              <a:buFont typeface="Wingdings" pitchFamily="2" charset="2"/>
              <a:buChar char="ü"/>
            </a:pPr>
            <a:r>
              <a:rPr lang="en-US" b="1" i="1" dirty="0" smtClean="0"/>
              <a:t>Two broad ligaments-</a:t>
            </a:r>
            <a:r>
              <a:rPr lang="en-US" b="1" dirty="0" smtClean="0"/>
              <a:t> they are formed by double fold of peritoneum on either side of the uterus. They hang from the fallopian tubes like curtains to attach the uterus to the side walls of the pelvis</a:t>
            </a:r>
            <a:endParaRPr lang="en-US" b="1" i="1"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Font typeface="Wingdings" pitchFamily="2" charset="2"/>
              <a:buChar char="ü"/>
            </a:pPr>
            <a:r>
              <a:rPr lang="en-US" b="1" i="1" dirty="0" smtClean="0"/>
              <a:t>Round ligament- </a:t>
            </a:r>
            <a:r>
              <a:rPr lang="en-US" b="1" dirty="0" smtClean="0"/>
              <a:t>these are bands of fibrous tissue between the layers of broad ligament, one on each side of uterus. They pass to the sides of the pelvis then through the inguinal canal and then fuse with the labia majora.</a:t>
            </a:r>
          </a:p>
          <a:p>
            <a:pPr>
              <a:buFont typeface="Wingdings" pitchFamily="2" charset="2"/>
              <a:buChar char="ü"/>
            </a:pPr>
            <a:r>
              <a:rPr lang="en-US" b="1" i="1" dirty="0" smtClean="0"/>
              <a:t>Uterosacral ligaments- </a:t>
            </a:r>
            <a:r>
              <a:rPr lang="en-US" b="1" dirty="0" smtClean="0"/>
              <a:t>they</a:t>
            </a:r>
            <a:r>
              <a:rPr lang="en-US" b="1" i="1" dirty="0" smtClean="0"/>
              <a:t> </a:t>
            </a:r>
            <a:r>
              <a:rPr lang="en-US" b="1" dirty="0" smtClean="0"/>
              <a:t>originate from the posterior wall of cervix and vagina and move backwards, one on each side of the rectum, to </a:t>
            </a:r>
            <a:r>
              <a:rPr lang="en-US" b="1" smtClean="0"/>
              <a:t>the sacrum</a:t>
            </a:r>
            <a:endParaRPr lang="en-US" b="1" i="1"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itchFamily="2" charset="2"/>
              <a:buChar char="ü"/>
            </a:pPr>
            <a:r>
              <a:rPr lang="en-US" b="1" i="1" dirty="0" smtClean="0"/>
              <a:t>The </a:t>
            </a:r>
            <a:r>
              <a:rPr lang="en-US" b="1" i="1" dirty="0" err="1" smtClean="0"/>
              <a:t>pubocervical</a:t>
            </a:r>
            <a:r>
              <a:rPr lang="en-US" b="1" i="1" dirty="0" smtClean="0"/>
              <a:t> fascia –</a:t>
            </a:r>
            <a:r>
              <a:rPr lang="en-US" b="1" dirty="0" smtClean="0"/>
              <a:t> they pass forward from the transverse cervical ligament on the side of the bladder and attaches to the posterior surface the pubic bones</a:t>
            </a:r>
          </a:p>
          <a:p>
            <a:pPr>
              <a:buFont typeface="Wingdings" pitchFamily="2" charset="2"/>
              <a:buChar char="ü"/>
            </a:pPr>
            <a:r>
              <a:rPr lang="en-US" b="1" i="1" dirty="0" smtClean="0"/>
              <a:t>Transverse cervical ligaments(cardinal ligaments- </a:t>
            </a:r>
            <a:r>
              <a:rPr lang="en-US" b="1" dirty="0" smtClean="0"/>
              <a:t>extends from the sides of the cervix and vagina to the side walls of the pelvis</a:t>
            </a:r>
            <a:endParaRPr lang="en-US" b="1" i="1" dirty="0" smtClean="0"/>
          </a:p>
          <a:p>
            <a:pPr>
              <a:buFont typeface="Wingdings" pitchFamily="2" charset="2"/>
              <a:buChar char="ü"/>
            </a:pPr>
            <a:endParaRPr lang="en-US" b="1" i="1"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u="sng" dirty="0" smtClean="0"/>
              <a:t>Functions of uterus</a:t>
            </a:r>
            <a:endParaRPr lang="en-US" b="1" i="1" u="sng" dirty="0"/>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US" b="1" dirty="0" smtClean="0"/>
              <a:t>It receives a fertilized ovum from the fallopian tubes</a:t>
            </a:r>
          </a:p>
          <a:p>
            <a:pPr marL="514350" indent="-514350">
              <a:buFont typeface="+mj-lt"/>
              <a:buAutoNum type="arabicPeriod"/>
            </a:pPr>
            <a:r>
              <a:rPr lang="en-US" b="1" dirty="0" smtClean="0"/>
              <a:t>It provides favorable environment for implantation and sheltering of embryo till delivery</a:t>
            </a:r>
          </a:p>
          <a:p>
            <a:pPr marL="514350" indent="-514350">
              <a:buFont typeface="+mj-lt"/>
              <a:buAutoNum type="arabicPeriod"/>
            </a:pPr>
            <a:r>
              <a:rPr lang="en-US" b="1" dirty="0" smtClean="0"/>
              <a:t>It helps in expulsion of fetus, placenta and membranes during delivery</a:t>
            </a:r>
          </a:p>
          <a:p>
            <a:pPr marL="514350" indent="-514350">
              <a:buFont typeface="+mj-lt"/>
              <a:buAutoNum type="arabicPeriod"/>
            </a:pPr>
            <a:r>
              <a:rPr lang="en-US" b="1" dirty="0" smtClean="0"/>
              <a:t>The cervix produces mucus which is essential and favorable for sperms survival and mobility</a:t>
            </a:r>
          </a:p>
          <a:p>
            <a:pPr marL="514350" indent="-514350">
              <a:buFont typeface="+mj-lt"/>
              <a:buAutoNum type="arabicPeriod"/>
            </a:pPr>
            <a:endParaRPr lang="en-US" b="1"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OVARIES</a:t>
            </a:r>
            <a:endParaRPr lang="en-US" b="1" i="1" dirty="0"/>
          </a:p>
        </p:txBody>
      </p:sp>
      <p:sp>
        <p:nvSpPr>
          <p:cNvPr id="3" name="Content Placeholder 2"/>
          <p:cNvSpPr>
            <a:spLocks noGrp="1"/>
          </p:cNvSpPr>
          <p:nvPr>
            <p:ph idx="1"/>
          </p:nvPr>
        </p:nvSpPr>
        <p:spPr/>
        <p:txBody>
          <a:bodyPr/>
          <a:lstStyle/>
          <a:p>
            <a:r>
              <a:rPr lang="en-US" b="1" dirty="0" smtClean="0"/>
              <a:t>Are the female gonads, equivalent to testis in males</a:t>
            </a:r>
          </a:p>
          <a:p>
            <a:r>
              <a:rPr lang="en-US" b="1" dirty="0" smtClean="0"/>
              <a:t>They produce the ova and female hormones</a:t>
            </a:r>
          </a:p>
          <a:p>
            <a:r>
              <a:rPr lang="en-US" b="1" dirty="0" smtClean="0"/>
              <a:t>They are about 2.5- 3.5cm long, 2cm wide and 1-1.5cm thick</a:t>
            </a:r>
            <a:endParaRPr lang="en-US" b="1"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Structure of the ovaries</a:t>
            </a:r>
            <a:endParaRPr lang="en-US" b="1" i="1" dirty="0"/>
          </a:p>
        </p:txBody>
      </p:sp>
      <p:sp>
        <p:nvSpPr>
          <p:cNvPr id="3" name="Content Placeholder 2"/>
          <p:cNvSpPr>
            <a:spLocks noGrp="1"/>
          </p:cNvSpPr>
          <p:nvPr>
            <p:ph idx="1"/>
          </p:nvPr>
        </p:nvSpPr>
        <p:spPr/>
        <p:txBody>
          <a:bodyPr/>
          <a:lstStyle/>
          <a:p>
            <a:r>
              <a:rPr lang="en-US" b="1" dirty="0" smtClean="0"/>
              <a:t>They are made of the medulla and the cortex</a:t>
            </a:r>
          </a:p>
          <a:p>
            <a:r>
              <a:rPr lang="en-US" b="1" dirty="0" smtClean="0"/>
              <a:t>Medulla is the central part consisting of fibrous tissue, blood vessels and nerves</a:t>
            </a:r>
          </a:p>
          <a:p>
            <a:r>
              <a:rPr lang="en-US" b="1" i="1" u="sng" dirty="0" smtClean="0"/>
              <a:t>Cortex</a:t>
            </a:r>
            <a:r>
              <a:rPr lang="en-US" b="1" dirty="0" smtClean="0"/>
              <a:t> surrounds the medulla</a:t>
            </a:r>
          </a:p>
          <a:p>
            <a:r>
              <a:rPr lang="en-US" b="1" dirty="0" smtClean="0"/>
              <a:t>It is made of a framework of connective tissue(</a:t>
            </a:r>
            <a:r>
              <a:rPr lang="en-US" b="1" dirty="0" err="1" smtClean="0"/>
              <a:t>stroma</a:t>
            </a:r>
            <a:r>
              <a:rPr lang="en-US" b="1" dirty="0" smtClean="0"/>
              <a:t>) covered by germinal epithelium which contains follicles in their various stages of development.</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b="1" i="1" dirty="0"/>
          </a:p>
        </p:txBody>
      </p:sp>
      <p:sp>
        <p:nvSpPr>
          <p:cNvPr id="3" name="Content Placeholder 2"/>
          <p:cNvSpPr>
            <a:spLocks noGrp="1"/>
          </p:cNvSpPr>
          <p:nvPr>
            <p:ph idx="1"/>
          </p:nvPr>
        </p:nvSpPr>
        <p:spPr/>
        <p:txBody>
          <a:bodyPr/>
          <a:lstStyle/>
          <a:p>
            <a:r>
              <a:rPr lang="en-US" b="1" dirty="0" smtClean="0"/>
              <a:t>Ovaries receive blood supply via ovarian arteries and drains into corresponding veins</a:t>
            </a:r>
          </a:p>
          <a:p>
            <a:r>
              <a:rPr lang="en-US" b="1" dirty="0" smtClean="0"/>
              <a:t>Lymphatic drainage is into the lumbar glands</a:t>
            </a:r>
          </a:p>
          <a:p>
            <a:r>
              <a:rPr lang="en-US" b="1" dirty="0" smtClean="0"/>
              <a:t>Nerve supply- parasympathetic supply comes from the sacral outflow and sympathetic nerves from lumbar outflow</a:t>
            </a:r>
          </a:p>
          <a:p>
            <a:endParaRPr lang="en-US" b="1"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a:r>
            <a:br>
              <a:rPr lang="en-US" dirty="0" smtClean="0"/>
            </a:br>
            <a:r>
              <a:rPr lang="en-US" b="1" i="1" dirty="0" smtClean="0"/>
              <a:t>FEMALE BREASTS</a:t>
            </a:r>
            <a:endParaRPr lang="en-US" dirty="0"/>
          </a:p>
        </p:txBody>
      </p:sp>
      <p:sp>
        <p:nvSpPr>
          <p:cNvPr id="3" name="Content Placeholder 2"/>
          <p:cNvSpPr>
            <a:spLocks noGrp="1"/>
          </p:cNvSpPr>
          <p:nvPr>
            <p:ph idx="1"/>
          </p:nvPr>
        </p:nvSpPr>
        <p:spPr/>
        <p:txBody>
          <a:bodyPr>
            <a:normAutofit lnSpcReduction="10000"/>
          </a:bodyPr>
          <a:lstStyle/>
          <a:p>
            <a:r>
              <a:rPr lang="en-US" b="1" dirty="0" smtClean="0"/>
              <a:t>Also known as the mammary glands</a:t>
            </a:r>
          </a:p>
          <a:p>
            <a:r>
              <a:rPr lang="en-US" b="1" dirty="0" smtClean="0"/>
              <a:t>They are considered accessory glands of the female reproductive system</a:t>
            </a:r>
          </a:p>
          <a:p>
            <a:r>
              <a:rPr lang="en-US" b="1" dirty="0" smtClean="0"/>
              <a:t>They are modified sweat glands.</a:t>
            </a:r>
          </a:p>
          <a:p>
            <a:r>
              <a:rPr lang="en-US" b="1" dirty="0" smtClean="0"/>
              <a:t>They influenced greatly by hormonal changes during the menstrual cycle and pregnancy.</a:t>
            </a:r>
          </a:p>
          <a:p>
            <a:r>
              <a:rPr lang="en-US" b="1" dirty="0" smtClean="0"/>
              <a:t>Before puberty, they are immature and then grows under the influence of estrogen and progesterone</a:t>
            </a:r>
            <a:endParaRPr lang="en-US" b="1"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mmercialScript BT" pitchFamily="66" charset="0"/>
              </a:rPr>
              <a:t>Female breast</a:t>
            </a:r>
            <a:endParaRPr lang="en-US" dirty="0">
              <a:latin typeface="CommercialScript BT" pitchFamily="66" charset="0"/>
            </a:endParaRPr>
          </a:p>
        </p:txBody>
      </p:sp>
      <p:pic>
        <p:nvPicPr>
          <p:cNvPr id="1026" name="Picture 2"/>
          <p:cNvPicPr>
            <a:picLocks noGrp="1" noChangeAspect="1" noChangeArrowheads="1"/>
          </p:cNvPicPr>
          <p:nvPr>
            <p:ph idx="1"/>
          </p:nvPr>
        </p:nvPicPr>
        <p:blipFill>
          <a:blip r:embed="rId2" cstate="print"/>
          <a:stretch>
            <a:fillRect/>
          </a:stretch>
        </p:blipFill>
        <p:spPr bwMode="auto">
          <a:xfrm>
            <a:off x="3048000" y="3025775"/>
            <a:ext cx="3048000" cy="2286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structure</a:t>
            </a:r>
            <a:endParaRPr lang="en-US" b="1" i="1" dirty="0"/>
          </a:p>
        </p:txBody>
      </p:sp>
      <p:sp>
        <p:nvSpPr>
          <p:cNvPr id="3" name="Content Placeholder 2"/>
          <p:cNvSpPr>
            <a:spLocks noGrp="1"/>
          </p:cNvSpPr>
          <p:nvPr>
            <p:ph idx="1"/>
          </p:nvPr>
        </p:nvSpPr>
        <p:spPr/>
        <p:txBody>
          <a:bodyPr/>
          <a:lstStyle/>
          <a:p>
            <a:r>
              <a:rPr lang="en-US" b="1" dirty="0" smtClean="0"/>
              <a:t>Made of connective tissue, glandular tissue and fatty tissue.</a:t>
            </a:r>
          </a:p>
          <a:p>
            <a:r>
              <a:rPr lang="en-US" b="1" dirty="0" smtClean="0"/>
              <a:t>It has a conical central eminence called the nipple surrounded by a hyperpigmented  area, the areola.</a:t>
            </a:r>
          </a:p>
          <a:p>
            <a:r>
              <a:rPr lang="en-US" b="1" dirty="0" smtClean="0"/>
              <a:t>On areola are numerous sebaceous glands called </a:t>
            </a:r>
            <a:r>
              <a:rPr lang="en-US" b="1" dirty="0" err="1" smtClean="0"/>
              <a:t>montgomery’s</a:t>
            </a:r>
            <a:r>
              <a:rPr lang="en-US" b="1" dirty="0" smtClean="0"/>
              <a:t> tubercles.</a:t>
            </a:r>
          </a:p>
          <a:p>
            <a:endParaRPr lang="en-US" b="1"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b="1" dirty="0" smtClean="0"/>
              <a:t>Each breast is made up of about 20 lobes</a:t>
            </a:r>
          </a:p>
          <a:p>
            <a:r>
              <a:rPr lang="en-US" b="1" dirty="0" smtClean="0"/>
              <a:t>Each lobe is made of several lobules that radiate around the nipple</a:t>
            </a:r>
          </a:p>
          <a:p>
            <a:r>
              <a:rPr lang="en-US" b="1" dirty="0" smtClean="0"/>
              <a:t>Lobules consist of cluster of alveoli </a:t>
            </a:r>
          </a:p>
          <a:p>
            <a:r>
              <a:rPr lang="en-US" b="1" dirty="0" smtClean="0"/>
              <a:t>Alveoli open into small ducts which then unites to form lactiferous ducts.</a:t>
            </a:r>
          </a:p>
          <a:p>
            <a:r>
              <a:rPr lang="en-US" b="1" dirty="0" smtClean="0"/>
              <a:t>Lactiferous ducts unite to form lactiferous sinuses, the dilatations that serve as reservoir of milk </a:t>
            </a:r>
            <a:endParaRPr lang="en-US" b="1"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Narrow ducts that open on the surface of the nipple </a:t>
            </a:r>
          </a:p>
          <a:p>
            <a:r>
              <a:rPr lang="en-US" b="1" dirty="0" smtClean="0"/>
              <a:t>Alveoli are lined with a secretory membrane that secretes the milk</a:t>
            </a:r>
          </a:p>
          <a:p>
            <a:pPr algn="ctr">
              <a:buNone/>
            </a:pPr>
            <a:r>
              <a:rPr lang="en-US" b="1" i="1" u="sng" dirty="0" smtClean="0"/>
              <a:t>Functions</a:t>
            </a:r>
          </a:p>
          <a:p>
            <a:r>
              <a:rPr lang="en-US" b="1" dirty="0" smtClean="0"/>
              <a:t>Production of milk for nourishing the baby</a:t>
            </a:r>
          </a:p>
          <a:p>
            <a:r>
              <a:rPr lang="en-US" b="1" dirty="0" smtClean="0"/>
              <a:t>Adds on female sexual stimulation</a:t>
            </a:r>
            <a:endParaRPr lang="en-US" b="1"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Arterial supply- axillary arteries, internal mammary and intercostal arteries</a:t>
            </a:r>
          </a:p>
          <a:p>
            <a:r>
              <a:rPr lang="en-US" b="1" dirty="0" smtClean="0"/>
              <a:t>Venous drainage- axillary and mammary veins</a:t>
            </a:r>
          </a:p>
          <a:p>
            <a:r>
              <a:rPr lang="en-US" b="1" dirty="0" smtClean="0"/>
              <a:t>Lymphatic drainage- superficial axillary lymph nodes and parasternal lymph nodes</a:t>
            </a:r>
          </a:p>
          <a:p>
            <a:endParaRPr lang="en-US" b="1"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smtClean="0"/>
              <a:t>THE OVARIAN CYCLE</a:t>
            </a:r>
            <a:endParaRPr lang="en-US" b="1" i="1" dirty="0"/>
          </a:p>
        </p:txBody>
      </p:sp>
      <p:sp>
        <p:nvSpPr>
          <p:cNvPr id="3" name="Content Placeholder 2"/>
          <p:cNvSpPr>
            <a:spLocks noGrp="1"/>
          </p:cNvSpPr>
          <p:nvPr>
            <p:ph idx="1"/>
          </p:nvPr>
        </p:nvSpPr>
        <p:spPr/>
        <p:txBody>
          <a:bodyPr>
            <a:normAutofit lnSpcReduction="10000"/>
          </a:bodyPr>
          <a:lstStyle/>
          <a:p>
            <a:r>
              <a:rPr lang="en-US" b="1" dirty="0" smtClean="0"/>
              <a:t>The ovarian cycle starts on the first day of the </a:t>
            </a:r>
            <a:r>
              <a:rPr lang="en-US" b="1" dirty="0" smtClean="0">
                <a:hlinkClick r:id="rId2"/>
              </a:rPr>
              <a:t>menstrual cycle</a:t>
            </a:r>
            <a:r>
              <a:rPr lang="en-US" b="1" dirty="0" smtClean="0"/>
              <a:t>. </a:t>
            </a:r>
          </a:p>
          <a:p>
            <a:r>
              <a:rPr lang="en-US" b="1" dirty="0" smtClean="0"/>
              <a:t>The </a:t>
            </a:r>
            <a:r>
              <a:rPr lang="en-US" b="1" dirty="0" smtClean="0">
                <a:hlinkClick r:id="rId3"/>
              </a:rPr>
              <a:t>menstrual cycle</a:t>
            </a:r>
            <a:r>
              <a:rPr lang="en-US" b="1" dirty="0" smtClean="0"/>
              <a:t> begins on the first day of the periods - which is the first day of bleeding.</a:t>
            </a:r>
          </a:p>
          <a:p>
            <a:r>
              <a:rPr lang="en-US" b="1" dirty="0" smtClean="0"/>
              <a:t>At this time, the levels of all the hormones - estrogen, progesterone , FSH and LH - which are primarily responsible for maintaining menstruation, are at the baseline levels. </a:t>
            </a:r>
            <a:endParaRPr lang="en-US" b="1"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b="1" i="1" dirty="0"/>
          </a:p>
        </p:txBody>
      </p:sp>
      <p:sp>
        <p:nvSpPr>
          <p:cNvPr id="3" name="Content Placeholder 2"/>
          <p:cNvSpPr>
            <a:spLocks noGrp="1"/>
          </p:cNvSpPr>
          <p:nvPr>
            <p:ph idx="1"/>
          </p:nvPr>
        </p:nvSpPr>
        <p:spPr/>
        <p:txBody>
          <a:bodyPr>
            <a:normAutofit lnSpcReduction="10000"/>
          </a:bodyPr>
          <a:lstStyle/>
          <a:p>
            <a:r>
              <a:rPr lang="en-US" b="1" dirty="0" smtClean="0"/>
              <a:t>The low level of estrogen in the blood at this time, stimulates the pituitary gland in the brain to start producing Follicle Stimulating Hormone (FSH). </a:t>
            </a:r>
          </a:p>
          <a:p>
            <a:r>
              <a:rPr lang="en-US" b="1" dirty="0" smtClean="0"/>
              <a:t>The level of FSH rises and stimulates the </a:t>
            </a:r>
            <a:r>
              <a:rPr lang="en-US" b="1" dirty="0" err="1" smtClean="0"/>
              <a:t>Graafian</a:t>
            </a:r>
            <a:r>
              <a:rPr lang="en-US" b="1" dirty="0" smtClean="0"/>
              <a:t> follicles in the </a:t>
            </a:r>
            <a:r>
              <a:rPr lang="en-US" b="1" dirty="0" smtClean="0">
                <a:hlinkClick r:id="rId2"/>
              </a:rPr>
              <a:t>ovaries</a:t>
            </a:r>
            <a:r>
              <a:rPr lang="en-US" b="1" dirty="0" smtClean="0"/>
              <a:t> to develop. This indicates the start of the ovarian cycle in </a:t>
            </a:r>
            <a:r>
              <a:rPr lang="en-US" b="1" dirty="0" smtClean="0">
                <a:hlinkClick r:id="rId3"/>
              </a:rPr>
              <a:t>menstruation</a:t>
            </a:r>
            <a:endParaRPr lang="en-US" b="1" dirty="0" smtClean="0"/>
          </a:p>
          <a:p>
            <a:r>
              <a:rPr lang="en-US" b="1" dirty="0" smtClean="0"/>
              <a:t>The ovarian cycle is divided into two phases</a:t>
            </a:r>
          </a:p>
          <a:p>
            <a:pPr>
              <a:buNone/>
            </a:pPr>
            <a:endParaRPr lang="en-US" b="1" dirty="0" smtClean="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The follicular phase</a:t>
            </a:r>
            <a:endParaRPr lang="en-US" b="1" i="1" dirty="0"/>
          </a:p>
        </p:txBody>
      </p:sp>
      <p:sp>
        <p:nvSpPr>
          <p:cNvPr id="3" name="Content Placeholder 2"/>
          <p:cNvSpPr>
            <a:spLocks noGrp="1"/>
          </p:cNvSpPr>
          <p:nvPr>
            <p:ph idx="1"/>
          </p:nvPr>
        </p:nvSpPr>
        <p:spPr/>
        <p:txBody>
          <a:bodyPr/>
          <a:lstStyle/>
          <a:p>
            <a:r>
              <a:rPr lang="en-US" b="1" dirty="0" smtClean="0"/>
              <a:t>The hypothalamus release Gonadotropin Releasing Hormone.</a:t>
            </a:r>
          </a:p>
          <a:p>
            <a:r>
              <a:rPr lang="en-US" b="1" dirty="0" err="1" smtClean="0"/>
              <a:t>GnTRH</a:t>
            </a:r>
            <a:r>
              <a:rPr lang="en-US" b="1" dirty="0" smtClean="0"/>
              <a:t> acts on the anterior pituitary gland to release Follicle Stimulating Hormone(FSH)</a:t>
            </a:r>
          </a:p>
          <a:p>
            <a:r>
              <a:rPr lang="en-US" b="1" dirty="0" smtClean="0"/>
              <a:t>FSH stimulates growth of about 20 </a:t>
            </a:r>
            <a:r>
              <a:rPr lang="en-US" b="1" dirty="0" err="1" smtClean="0"/>
              <a:t>Graafian</a:t>
            </a:r>
            <a:r>
              <a:rPr lang="en-US" b="1" dirty="0" smtClean="0"/>
              <a:t> follicles. They enlarges rapidly and produces hormone estrogen in the blood stream</a:t>
            </a:r>
            <a:endParaRPr lang="en-US" b="1"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smtClean="0"/>
              <a:t>At around the 10th day of the follicular phase, one of the follicles becomes distinctly larger than the others.</a:t>
            </a:r>
          </a:p>
          <a:p>
            <a:r>
              <a:rPr lang="en-US" b="1" dirty="0" smtClean="0"/>
              <a:t> It continues to grow, becoming larger and larger (‘dominant follicle’) to become mature, while the growth of the others are arrested. These eventually die out.</a:t>
            </a:r>
          </a:p>
          <a:p>
            <a:r>
              <a:rPr lang="en-US" b="1" dirty="0" smtClean="0"/>
              <a:t>The estrogen released by the follicles, acts on the endometrium of the uterus and stimulates it to proliferate, indicating the start of the </a:t>
            </a:r>
            <a:r>
              <a:rPr lang="en-US" b="1" dirty="0" smtClean="0">
                <a:hlinkClick r:id="rId2"/>
              </a:rPr>
              <a:t>uterine cycle</a:t>
            </a:r>
            <a:r>
              <a:rPr lang="en-US" b="1" dirty="0" smtClean="0"/>
              <a:t>.</a:t>
            </a:r>
            <a:endParaRPr lang="en-US" b="1"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The dominant follicle usually ruptures when it is about 18 – 20 mm in size and releases an ovum at about the 14-16th day of the menstrual cycle. </a:t>
            </a:r>
          </a:p>
          <a:p>
            <a:r>
              <a:rPr lang="en-US" b="1" dirty="0" smtClean="0"/>
              <a:t>This process is called ‘ovulation’. The follicular phase ends at this stage and the Luteal Phase begins.</a:t>
            </a:r>
            <a:endParaRPr lang="en-US" b="1"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Luteal phase</a:t>
            </a:r>
            <a:endParaRPr lang="en-US" b="1" i="1" dirty="0"/>
          </a:p>
        </p:txBody>
      </p:sp>
      <p:sp>
        <p:nvSpPr>
          <p:cNvPr id="3" name="Content Placeholder 2"/>
          <p:cNvSpPr>
            <a:spLocks noGrp="1"/>
          </p:cNvSpPr>
          <p:nvPr>
            <p:ph idx="1"/>
          </p:nvPr>
        </p:nvSpPr>
        <p:spPr/>
        <p:txBody>
          <a:bodyPr>
            <a:normAutofit fontScale="92500"/>
          </a:bodyPr>
          <a:lstStyle/>
          <a:p>
            <a:r>
              <a:rPr lang="en-US" b="1" dirty="0" smtClean="0"/>
              <a:t>As the levels of estrogen rises, they inhibit the production of FSH by anterior pituitary gland and instead LH is produced.</a:t>
            </a:r>
          </a:p>
          <a:p>
            <a:r>
              <a:rPr lang="en-US" b="1" dirty="0" smtClean="0"/>
              <a:t>As soon as the </a:t>
            </a:r>
            <a:r>
              <a:rPr lang="en-US" b="1" dirty="0" err="1" smtClean="0"/>
              <a:t>Graafian</a:t>
            </a:r>
            <a:r>
              <a:rPr lang="en-US" b="1" dirty="0" smtClean="0"/>
              <a:t> follicle ruptures and releases the ovum (‘ovulation’) the cells of the follicle itself undergoes certain changes. </a:t>
            </a:r>
          </a:p>
          <a:p>
            <a:r>
              <a:rPr lang="en-US" b="1" dirty="0" smtClean="0"/>
              <a:t>Fat globules get deposited in them, they grow larger, and they assume a yellowish color. These cells are called </a:t>
            </a:r>
            <a:r>
              <a:rPr lang="en-US" b="1" dirty="0" smtClean="0">
                <a:solidFill>
                  <a:srgbClr val="FF0000"/>
                </a:solidFill>
              </a:rPr>
              <a:t>luteal </a:t>
            </a:r>
            <a:r>
              <a:rPr lang="en-US" b="1" dirty="0" smtClean="0"/>
              <a:t>cells and the follicle now forms the 'corpus luteum'</a:t>
            </a:r>
            <a:endParaRPr lang="en-US" b="1"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smtClean="0"/>
              <a:t>The cells of the corpus luteum are capable of producing the hormone ‘progesterone’ which, like estrogen, acts on the uterine </a:t>
            </a:r>
            <a:r>
              <a:rPr lang="en-US" b="1" dirty="0" smtClean="0">
                <a:hlinkClick r:id="rId2"/>
              </a:rPr>
              <a:t>endometrium</a:t>
            </a:r>
            <a:r>
              <a:rPr lang="en-US" b="1" dirty="0" smtClean="0"/>
              <a:t>.</a:t>
            </a:r>
          </a:p>
          <a:p>
            <a:r>
              <a:rPr lang="en-US" b="1" dirty="0" smtClean="0"/>
              <a:t>Hence this phase is also called the </a:t>
            </a:r>
            <a:r>
              <a:rPr lang="en-US" b="1" dirty="0" err="1" smtClean="0"/>
              <a:t>progestogenic</a:t>
            </a:r>
            <a:r>
              <a:rPr lang="en-US" b="1" dirty="0" smtClean="0"/>
              <a:t> phase. The level of progesterone reaches a peak at 22 – 26th day of the cycle. </a:t>
            </a:r>
          </a:p>
          <a:p>
            <a:r>
              <a:rPr lang="en-US" b="1" dirty="0" smtClean="0"/>
              <a:t>The changes in the uterine endometrium is dependent on the hormones secreted by the ovaries. </a:t>
            </a:r>
          </a:p>
          <a:p>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If pregnancy does not take place, the corpus luteum start to decrease in size and eventually atrophies</a:t>
            </a:r>
          </a:p>
          <a:p>
            <a:r>
              <a:rPr lang="en-US" b="1" dirty="0" smtClean="0"/>
              <a:t>The level progesterone falls in tandem with the activity of corpus luteum and when a critical level is reached, the endometrium is shed off.</a:t>
            </a:r>
          </a:p>
          <a:p>
            <a:r>
              <a:rPr lang="en-US" b="1" dirty="0" smtClean="0"/>
              <a:t>This signifies a </a:t>
            </a:r>
            <a:r>
              <a:rPr lang="en-US" b="1" dirty="0" err="1" smtClean="0"/>
              <a:t>begining</a:t>
            </a:r>
            <a:r>
              <a:rPr lang="en-US" b="1" dirty="0" smtClean="0"/>
              <a:t> of a new cycle</a:t>
            </a:r>
            <a:endParaRPr lang="en-US" b="1"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THE MENSTRUAL CYCLE</a:t>
            </a:r>
            <a:endParaRPr lang="en-US" b="1" i="1" dirty="0"/>
          </a:p>
        </p:txBody>
      </p:sp>
      <p:sp>
        <p:nvSpPr>
          <p:cNvPr id="3" name="Content Placeholder 2"/>
          <p:cNvSpPr>
            <a:spLocks noGrp="1"/>
          </p:cNvSpPr>
          <p:nvPr>
            <p:ph idx="1"/>
          </p:nvPr>
        </p:nvSpPr>
        <p:spPr/>
        <p:txBody>
          <a:bodyPr/>
          <a:lstStyle/>
          <a:p>
            <a:r>
              <a:rPr lang="en-US" b="1" dirty="0" smtClean="0"/>
              <a:t>Describes the changes that takes place in the female uterus every month</a:t>
            </a:r>
          </a:p>
          <a:p>
            <a:r>
              <a:rPr lang="en-US" b="1" dirty="0" smtClean="0"/>
              <a:t>It is under the influence of ovarian hormones </a:t>
            </a:r>
          </a:p>
          <a:p>
            <a:r>
              <a:rPr lang="en-US" b="1" dirty="0" smtClean="0"/>
              <a:t>Consist of three phases</a:t>
            </a:r>
          </a:p>
          <a:p>
            <a:pPr lvl="2"/>
            <a:r>
              <a:rPr lang="en-US" sz="3200" b="1" dirty="0" smtClean="0"/>
              <a:t>Menstrual phase</a:t>
            </a:r>
          </a:p>
          <a:p>
            <a:pPr lvl="2"/>
            <a:r>
              <a:rPr lang="en-US" sz="3200" b="1" dirty="0" smtClean="0"/>
              <a:t>Proliferative phase</a:t>
            </a:r>
          </a:p>
          <a:p>
            <a:pPr lvl="2"/>
            <a:r>
              <a:rPr lang="en-US" sz="3200" b="1" dirty="0" smtClean="0"/>
              <a:t>Secretory phase</a:t>
            </a:r>
            <a:endParaRPr lang="en-US" sz="3200" b="1"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Menstrual phase</a:t>
            </a:r>
            <a:endParaRPr lang="en-US" b="1" i="1" dirty="0"/>
          </a:p>
        </p:txBody>
      </p:sp>
      <p:sp>
        <p:nvSpPr>
          <p:cNvPr id="3" name="Content Placeholder 2"/>
          <p:cNvSpPr>
            <a:spLocks noGrp="1"/>
          </p:cNvSpPr>
          <p:nvPr>
            <p:ph idx="1"/>
          </p:nvPr>
        </p:nvSpPr>
        <p:spPr/>
        <p:txBody>
          <a:bodyPr/>
          <a:lstStyle/>
          <a:p>
            <a:r>
              <a:rPr lang="en-US" b="1" dirty="0" smtClean="0"/>
              <a:t>Involves the shedding of the endometrium.</a:t>
            </a:r>
          </a:p>
          <a:p>
            <a:r>
              <a:rPr lang="en-US" b="1" dirty="0" smtClean="0"/>
              <a:t>Menses consist of blood, endometrial cells, endometrial secretions and the unfertilized ovum</a:t>
            </a:r>
          </a:p>
          <a:p>
            <a:r>
              <a:rPr lang="en-US" b="1" dirty="0" smtClean="0"/>
              <a:t>It occurs when the levels of progesterone are low because it trophic effect on the endometrium is withdrawn</a:t>
            </a:r>
          </a:p>
          <a:p>
            <a:endParaRPr lang="en-US" b="1" dirty="0" smtClean="0"/>
          </a:p>
          <a:p>
            <a:endParaRPr lang="en-US" b="1"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Proliferative phase</a:t>
            </a:r>
            <a:endParaRPr lang="en-US" b="1" i="1" dirty="0"/>
          </a:p>
        </p:txBody>
      </p:sp>
      <p:sp>
        <p:nvSpPr>
          <p:cNvPr id="3" name="Content Placeholder 2"/>
          <p:cNvSpPr>
            <a:spLocks noGrp="1"/>
          </p:cNvSpPr>
          <p:nvPr>
            <p:ph idx="1"/>
          </p:nvPr>
        </p:nvSpPr>
        <p:spPr/>
        <p:txBody>
          <a:bodyPr>
            <a:normAutofit lnSpcReduction="10000"/>
          </a:bodyPr>
          <a:lstStyle/>
          <a:p>
            <a:r>
              <a:rPr lang="en-US" b="1" dirty="0" smtClean="0"/>
              <a:t>it follows the mensturation and lasts until ovulation.</a:t>
            </a:r>
          </a:p>
          <a:p>
            <a:r>
              <a:rPr lang="en-US" b="1" dirty="0" smtClean="0"/>
              <a:t>It is under the influence of estrogen which stimulates proliferation of the endometrium</a:t>
            </a:r>
          </a:p>
          <a:p>
            <a:r>
              <a:rPr lang="en-US" b="1" dirty="0" smtClean="0"/>
              <a:t>The endometrium thickens, and become highly vascularized as the number of capillaries increase</a:t>
            </a:r>
          </a:p>
          <a:p>
            <a:r>
              <a:rPr lang="en-US" b="1" dirty="0" smtClean="0"/>
              <a:t>All this takes place to prepare the uterus for a possible implantation</a:t>
            </a:r>
            <a:endParaRPr lang="en-US" b="1"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b="1" dirty="0" smtClean="0"/>
              <a:t>When levels of estrogen reaches the peak, ovulation occurs and this stage comes to an end.</a:t>
            </a:r>
          </a:p>
          <a:p>
            <a:r>
              <a:rPr lang="en-US" b="1" dirty="0" smtClean="0"/>
              <a:t>Increased levels of estrogen stimulates the cervix to produce lubricative mucus that becomes watery towards ovulation</a:t>
            </a:r>
            <a:endParaRPr lang="en-US" b="1"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Secretory phase</a:t>
            </a:r>
            <a:endParaRPr lang="en-US" b="1" i="1" dirty="0"/>
          </a:p>
        </p:txBody>
      </p:sp>
      <p:sp>
        <p:nvSpPr>
          <p:cNvPr id="3" name="Content Placeholder 2"/>
          <p:cNvSpPr>
            <a:spLocks noGrp="1"/>
          </p:cNvSpPr>
          <p:nvPr>
            <p:ph idx="1"/>
          </p:nvPr>
        </p:nvSpPr>
        <p:spPr/>
        <p:txBody>
          <a:bodyPr>
            <a:normAutofit/>
          </a:bodyPr>
          <a:lstStyle/>
          <a:p>
            <a:r>
              <a:rPr lang="en-US" b="1" dirty="0" smtClean="0"/>
              <a:t>It follows ovulation and is under influence of progesterone hormone and to some extent estrogen </a:t>
            </a:r>
          </a:p>
          <a:p>
            <a:r>
              <a:rPr lang="en-US" b="1" dirty="0" smtClean="0"/>
              <a:t>Progesterone causes further thickening of the endometrium, the endometrial glands become more tortuous and endometrium becomes more vascular.</a:t>
            </a:r>
          </a:p>
          <a:p>
            <a:endParaRPr lang="en-US" b="1" dirty="0" smtClean="0"/>
          </a:p>
          <a:p>
            <a:endParaRPr lang="en-US" b="1"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If fertilization does not occur, the corpus luteum degenerates and the levels of progesterone goes down</a:t>
            </a:r>
          </a:p>
          <a:p>
            <a:r>
              <a:rPr lang="en-US" b="1" dirty="0" smtClean="0"/>
              <a:t>With the withdrawal of the maintenance effects of progesterone, the endometrium eventually breaks down leading to menses</a:t>
            </a:r>
          </a:p>
          <a:p>
            <a:pPr>
              <a:buNone/>
            </a:pPr>
            <a:endParaRPr lang="en-US" b="1" dirty="0" smtClean="0"/>
          </a:p>
          <a:p>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cstate="print"/>
          <a:stretch>
            <a:fillRect/>
          </a:stretch>
        </p:blipFill>
        <p:spPr bwMode="auto">
          <a:xfrm>
            <a:off x="2895600" y="2368550"/>
            <a:ext cx="3352800" cy="36004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Functions of estrogen</a:t>
            </a:r>
            <a:endParaRPr lang="en-US" b="1" i="1" dirty="0"/>
          </a:p>
        </p:txBody>
      </p:sp>
      <p:sp>
        <p:nvSpPr>
          <p:cNvPr id="3" name="Content Placeholder 2"/>
          <p:cNvSpPr>
            <a:spLocks noGrp="1"/>
          </p:cNvSpPr>
          <p:nvPr>
            <p:ph idx="1"/>
          </p:nvPr>
        </p:nvSpPr>
        <p:spPr/>
        <p:txBody>
          <a:bodyPr/>
          <a:lstStyle/>
          <a:p>
            <a:r>
              <a:rPr lang="en-US" b="1" dirty="0" smtClean="0">
                <a:solidFill>
                  <a:srgbClr val="0070C0"/>
                </a:solidFill>
              </a:rPr>
              <a:t>Structural</a:t>
            </a:r>
            <a:r>
              <a:rPr lang="en-US" dirty="0" smtClean="0"/>
              <a:t> </a:t>
            </a:r>
          </a:p>
          <a:p>
            <a:pPr marL="514350" indent="-514350">
              <a:buFont typeface="+mj-lt"/>
              <a:buAutoNum type="arabicPeriod"/>
            </a:pPr>
            <a:r>
              <a:rPr lang="en-US" b="1" dirty="0" smtClean="0"/>
              <a:t>promote formation of female secondary sex characteristics</a:t>
            </a:r>
          </a:p>
          <a:p>
            <a:pPr marL="514350" indent="-514350">
              <a:buFont typeface="+mj-lt"/>
              <a:buAutoNum type="arabicPeriod"/>
            </a:pPr>
            <a:r>
              <a:rPr lang="en-US" b="1" dirty="0" smtClean="0"/>
              <a:t>stimulate endometrial growth</a:t>
            </a:r>
          </a:p>
          <a:p>
            <a:pPr marL="514350" indent="-514350">
              <a:buFont typeface="+mj-lt"/>
              <a:buAutoNum type="arabicPeriod"/>
            </a:pPr>
            <a:r>
              <a:rPr lang="en-US" b="1" dirty="0" smtClean="0"/>
              <a:t>increase uterine growth</a:t>
            </a:r>
          </a:p>
          <a:p>
            <a:pPr marL="514350" indent="-514350">
              <a:buFont typeface="+mj-lt"/>
              <a:buAutoNum type="arabicPeriod"/>
            </a:pPr>
            <a:r>
              <a:rPr lang="en-US" b="1" dirty="0" smtClean="0"/>
              <a:t>maintenance of vessels and skin</a:t>
            </a:r>
          </a:p>
          <a:p>
            <a:pPr marL="514350" indent="-514350">
              <a:buFont typeface="+mj-lt"/>
              <a:buAutoNum type="arabicPeriod"/>
            </a:pPr>
            <a:r>
              <a:rPr lang="en-US" b="1" dirty="0" smtClean="0"/>
              <a:t>reduce bone </a:t>
            </a:r>
            <a:r>
              <a:rPr lang="en-US" b="1" dirty="0" err="1" smtClean="0"/>
              <a:t>resorption</a:t>
            </a:r>
            <a:r>
              <a:rPr lang="en-US" b="1" dirty="0" smtClean="0"/>
              <a:t>, increase bone formation</a:t>
            </a:r>
          </a:p>
          <a:p>
            <a:pPr marL="514350" indent="-514350">
              <a:buNone/>
            </a:pPr>
            <a:endParaRPr lang="en-US" b="1" dirty="0" smtClean="0"/>
          </a:p>
          <a:p>
            <a:pPr marL="514350" indent="-514350">
              <a:buFont typeface="+mj-lt"/>
              <a:buAutoNum type="arabicPeriod"/>
            </a:pPr>
            <a:endParaRPr lang="en-US" b="1"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smtClean="0"/>
              <a:t>increase hepatic production of binding proteins</a:t>
            </a:r>
          </a:p>
          <a:p>
            <a:r>
              <a:rPr lang="en-US" b="1" dirty="0" smtClean="0"/>
              <a:t>Coagulation- increase circulating level of factors 2,7,9,10, </a:t>
            </a:r>
            <a:r>
              <a:rPr lang="en-US" b="1" dirty="0" err="1" smtClean="0"/>
              <a:t>antithrombin</a:t>
            </a:r>
            <a:r>
              <a:rPr lang="en-US" b="1" dirty="0" smtClean="0"/>
              <a:t> III, </a:t>
            </a:r>
            <a:r>
              <a:rPr lang="en-US" b="1" dirty="0" err="1" smtClean="0"/>
              <a:t>plasminogen</a:t>
            </a:r>
            <a:endParaRPr lang="en-US" b="1" dirty="0" smtClean="0"/>
          </a:p>
          <a:p>
            <a:r>
              <a:rPr lang="en-US" b="1" dirty="0" smtClean="0"/>
              <a:t>increase platelet adhesiveness</a:t>
            </a:r>
          </a:p>
          <a:p>
            <a:r>
              <a:rPr lang="en-US" b="1" dirty="0" smtClean="0"/>
              <a:t>Lipid -increase HDL, triglyceride, fat </a:t>
            </a:r>
            <a:r>
              <a:rPr lang="en-US" b="1" dirty="0" err="1" smtClean="0"/>
              <a:t>depositition</a:t>
            </a:r>
            <a:endParaRPr lang="en-US" b="1" dirty="0" smtClean="0"/>
          </a:p>
          <a:p>
            <a:r>
              <a:rPr lang="en-US" b="1" dirty="0" smtClean="0"/>
              <a:t>decrease LDL</a:t>
            </a:r>
          </a:p>
          <a:p>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Functions of progesterone</a:t>
            </a:r>
            <a:endParaRPr lang="en-US" b="1" i="1" dirty="0"/>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 </a:t>
            </a:r>
            <a:r>
              <a:rPr lang="en-US" b="1" dirty="0" smtClean="0"/>
              <a:t>converts the endometrium to its secretory stage to prepare the uterus for implantation</a:t>
            </a:r>
          </a:p>
          <a:p>
            <a:pPr marL="514350" indent="-514350">
              <a:buFont typeface="+mj-lt"/>
              <a:buAutoNum type="arabicPeriod"/>
            </a:pPr>
            <a:r>
              <a:rPr lang="en-US" b="1" dirty="0" smtClean="0"/>
              <a:t>During implantation and gestation, progesterone appears to decrease the maternal immune response to allow for the acceptance of the pregnancy.</a:t>
            </a:r>
          </a:p>
          <a:p>
            <a:pPr marL="514350" indent="-514350">
              <a:buFont typeface="+mj-lt"/>
              <a:buAutoNum type="arabicPeriod"/>
            </a:pPr>
            <a:r>
              <a:rPr lang="en-US" b="1" dirty="0" smtClean="0"/>
              <a:t>Progesterone decreases contractility of the uterine smooth muscle</a:t>
            </a:r>
            <a:endParaRPr lang="en-US" b="1"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4. In addition progesterone inhibits lactation during pregnancy. </a:t>
            </a:r>
          </a:p>
          <a:p>
            <a:pPr>
              <a:buNone/>
            </a:pPr>
            <a:r>
              <a:rPr lang="en-US" b="1" dirty="0" smtClean="0"/>
              <a:t>5. The fetus metabolizes placental progesterone in the production of adrenal  steroids.</a:t>
            </a:r>
          </a:p>
          <a:p>
            <a:pPr>
              <a:buNone/>
            </a:pPr>
            <a:r>
              <a:rPr lang="en-US" b="1" dirty="0" smtClean="0"/>
              <a:t> 6. Females - </a:t>
            </a:r>
            <a:r>
              <a:rPr lang="en-US" b="1" dirty="0" smtClean="0">
                <a:solidFill>
                  <a:srgbClr val="CC3300"/>
                </a:solidFill>
              </a:rPr>
              <a:t>Breasts</a:t>
            </a:r>
            <a:endParaRPr lang="en-US" b="1" dirty="0" smtClean="0"/>
          </a:p>
          <a:p>
            <a:pPr lvl="3">
              <a:buFontTx/>
              <a:buChar char="–"/>
            </a:pPr>
            <a:r>
              <a:rPr lang="en-US" sz="3200" b="1" dirty="0" smtClean="0"/>
              <a:t>Stimulates development of alveoli for milk production</a:t>
            </a:r>
            <a:endParaRPr lang="en-US" sz="3200" b="1" u="sng" dirty="0" smtClean="0"/>
          </a:p>
          <a:p>
            <a:pPr>
              <a:buNone/>
            </a:pPr>
            <a:endParaRPr lang="en-US" b="1"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MALE REPRODUCTIVE SYSTEM</a:t>
            </a:r>
            <a:endParaRPr lang="en-US" b="1" i="1" dirty="0"/>
          </a:p>
        </p:txBody>
      </p:sp>
      <p:sp>
        <p:nvSpPr>
          <p:cNvPr id="3" name="Content Placeholder 2"/>
          <p:cNvSpPr>
            <a:spLocks noGrp="1"/>
          </p:cNvSpPr>
          <p:nvPr>
            <p:ph idx="1"/>
          </p:nvPr>
        </p:nvSpPr>
        <p:spPr/>
        <p:txBody>
          <a:bodyPr>
            <a:normAutofit lnSpcReduction="10000"/>
          </a:bodyPr>
          <a:lstStyle/>
          <a:p>
            <a:r>
              <a:rPr lang="en-US" b="1" dirty="0" smtClean="0"/>
              <a:t>Consists of:-</a:t>
            </a:r>
          </a:p>
          <a:p>
            <a:pPr lvl="1"/>
            <a:r>
              <a:rPr lang="en-US" sz="3200" b="1" dirty="0" smtClean="0"/>
              <a:t>2 testes</a:t>
            </a:r>
          </a:p>
          <a:p>
            <a:pPr lvl="1"/>
            <a:r>
              <a:rPr lang="en-US" sz="3200" b="1" dirty="0" smtClean="0"/>
              <a:t>2 epididymis</a:t>
            </a:r>
          </a:p>
          <a:p>
            <a:pPr lvl="1"/>
            <a:r>
              <a:rPr lang="en-US" sz="3200" b="1" dirty="0" smtClean="0"/>
              <a:t>2 vas deferens</a:t>
            </a:r>
          </a:p>
          <a:p>
            <a:pPr lvl="1"/>
            <a:r>
              <a:rPr lang="en-US" sz="3200" b="1" dirty="0" smtClean="0"/>
              <a:t>2 seminal vesicles</a:t>
            </a:r>
          </a:p>
          <a:p>
            <a:pPr lvl="1"/>
            <a:r>
              <a:rPr lang="en-US" sz="3200" b="1" dirty="0" smtClean="0"/>
              <a:t>1 prostate gland</a:t>
            </a:r>
          </a:p>
          <a:p>
            <a:pPr lvl="1"/>
            <a:r>
              <a:rPr lang="en-US" sz="3200" b="1" dirty="0" smtClean="0"/>
              <a:t>1 </a:t>
            </a:r>
            <a:r>
              <a:rPr lang="en-US" sz="3200" b="1" dirty="0" err="1" smtClean="0"/>
              <a:t>cowper’s</a:t>
            </a:r>
            <a:r>
              <a:rPr lang="en-US" sz="3200" b="1" dirty="0" smtClean="0"/>
              <a:t> gland</a:t>
            </a:r>
          </a:p>
          <a:p>
            <a:pPr lvl="1"/>
            <a:r>
              <a:rPr lang="en-US" sz="3200" b="1" dirty="0" smtClean="0"/>
              <a:t>1 penis</a:t>
            </a:r>
            <a:endParaRPr lang="en-US" sz="3200" b="1"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a) scrotum</a:t>
            </a:r>
            <a:endParaRPr lang="en-US" b="1" i="1" dirty="0"/>
          </a:p>
        </p:txBody>
      </p:sp>
      <p:sp>
        <p:nvSpPr>
          <p:cNvPr id="3" name="Content Placeholder 2"/>
          <p:cNvSpPr>
            <a:spLocks noGrp="1"/>
          </p:cNvSpPr>
          <p:nvPr>
            <p:ph idx="1"/>
          </p:nvPr>
        </p:nvSpPr>
        <p:spPr/>
        <p:txBody>
          <a:bodyPr>
            <a:normAutofit fontScale="92500" lnSpcReduction="10000"/>
          </a:bodyPr>
          <a:lstStyle/>
          <a:p>
            <a:r>
              <a:rPr lang="en-US" b="1" dirty="0" smtClean="0"/>
              <a:t>A deeply pigmented pouch made of skin that lies below the symphysis pubis and behind the penis.</a:t>
            </a:r>
          </a:p>
          <a:p>
            <a:r>
              <a:rPr lang="en-US" b="1" dirty="0" smtClean="0"/>
              <a:t>It is made of connective tissue, fibrous tissue and smooth muscles</a:t>
            </a:r>
          </a:p>
          <a:p>
            <a:r>
              <a:rPr lang="en-US" b="1" dirty="0" smtClean="0"/>
              <a:t>It is divided into two compartments, each containing a testis, epididymis and testicular end of a spermatic cord.</a:t>
            </a:r>
          </a:p>
          <a:p>
            <a:r>
              <a:rPr lang="en-US" b="1" dirty="0" smtClean="0"/>
              <a:t>It main function is to maintain testicular temperatures below the core body temperatures</a:t>
            </a:r>
            <a:endParaRPr lang="en-US" b="1"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b) testes</a:t>
            </a:r>
            <a:endParaRPr lang="en-US" b="1" i="1" dirty="0"/>
          </a:p>
        </p:txBody>
      </p:sp>
      <p:sp>
        <p:nvSpPr>
          <p:cNvPr id="3" name="Content Placeholder 2"/>
          <p:cNvSpPr>
            <a:spLocks noGrp="1"/>
          </p:cNvSpPr>
          <p:nvPr>
            <p:ph idx="1"/>
          </p:nvPr>
        </p:nvSpPr>
        <p:spPr/>
        <p:txBody>
          <a:bodyPr/>
          <a:lstStyle/>
          <a:p>
            <a:r>
              <a:rPr lang="en-US" b="1" dirty="0" smtClean="0"/>
              <a:t>They are the male reproductive glands, equivalent to ovaries in females</a:t>
            </a:r>
          </a:p>
          <a:p>
            <a:r>
              <a:rPr lang="en-US" b="1" dirty="0" smtClean="0"/>
              <a:t>Each is about 4 cm long, 2.5cm wide and 3 cm thick.</a:t>
            </a:r>
          </a:p>
          <a:p>
            <a:r>
              <a:rPr lang="en-US" b="1" dirty="0" smtClean="0"/>
              <a:t>They are suspended in the scrotum by the spermatic cords.</a:t>
            </a:r>
          </a:p>
          <a:p>
            <a:r>
              <a:rPr lang="en-US" b="1" dirty="0" smtClean="0"/>
              <a:t>They are surrounded by three layers of tissues:-</a:t>
            </a:r>
          </a:p>
          <a:p>
            <a:endParaRPr lang="en-US" b="1"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1"/>
            <a:r>
              <a:rPr lang="en-US" sz="3200" b="1" dirty="0" smtClean="0"/>
              <a:t>Tunica vaginalis(outer)- which originates from abdominal and pelvic peritoneum</a:t>
            </a:r>
          </a:p>
          <a:p>
            <a:pPr lvl="1"/>
            <a:r>
              <a:rPr lang="en-US" sz="3200" b="1" dirty="0" smtClean="0"/>
              <a:t>Tunica albuginea(middle)- fibrous covering and the outer layer derived from the septum that divides the scrotum</a:t>
            </a:r>
          </a:p>
          <a:p>
            <a:pPr lvl="1"/>
            <a:r>
              <a:rPr lang="en-US" sz="3200" b="1" dirty="0" smtClean="0"/>
              <a:t>Tunica vasculosa(inner)- consist of connective tissues and capillary network.</a:t>
            </a:r>
            <a:endParaRPr lang="en-US" sz="3200" b="1"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Structure of the testis</a:t>
            </a:r>
            <a:endParaRPr lang="en-US" b="1" i="1" dirty="0"/>
          </a:p>
        </p:txBody>
      </p:sp>
      <p:sp>
        <p:nvSpPr>
          <p:cNvPr id="3" name="Content Placeholder 2"/>
          <p:cNvSpPr>
            <a:spLocks noGrp="1"/>
          </p:cNvSpPr>
          <p:nvPr>
            <p:ph idx="1"/>
          </p:nvPr>
        </p:nvSpPr>
        <p:spPr/>
        <p:txBody>
          <a:bodyPr/>
          <a:lstStyle/>
          <a:p>
            <a:r>
              <a:rPr lang="en-US" b="1" dirty="0" smtClean="0"/>
              <a:t>Each testis is made up of about 200-300 lobules</a:t>
            </a:r>
          </a:p>
          <a:p>
            <a:r>
              <a:rPr lang="en-US" b="1" dirty="0" smtClean="0"/>
              <a:t>Each lobule has </a:t>
            </a:r>
            <a:r>
              <a:rPr lang="en-US" b="1" dirty="0" err="1" smtClean="0"/>
              <a:t>btwn</a:t>
            </a:r>
            <a:r>
              <a:rPr lang="en-US" b="1" dirty="0" smtClean="0"/>
              <a:t> 1-4 convoluted loops composed of germinal epithelium, called seminiferous tubules</a:t>
            </a:r>
          </a:p>
          <a:p>
            <a:r>
              <a:rPr lang="en-US" b="1" dirty="0" smtClean="0"/>
              <a:t>Between the tubules are cells interstitial cells of </a:t>
            </a:r>
            <a:r>
              <a:rPr lang="en-US" b="1" dirty="0" err="1" smtClean="0"/>
              <a:t>Leydig</a:t>
            </a:r>
            <a:r>
              <a:rPr lang="en-US" b="1" dirty="0" smtClean="0"/>
              <a:t> which produces hormone testosterone.</a:t>
            </a:r>
          </a:p>
          <a:p>
            <a:endParaRPr lang="en-US" b="1"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The tubules combine at the upper pole to form a single tubule, the epididymis which leaves the scrotum as the </a:t>
            </a:r>
            <a:r>
              <a:rPr lang="en-US" b="1" dirty="0" err="1" smtClean="0"/>
              <a:t>diferent</a:t>
            </a:r>
            <a:r>
              <a:rPr lang="en-US" b="1" dirty="0" smtClean="0"/>
              <a:t> duct in the spermatic cord</a:t>
            </a:r>
          </a:p>
          <a:p>
            <a:r>
              <a:rPr lang="en-US" b="1" dirty="0" smtClean="0"/>
              <a:t>Blood and lymphatic vessels pass to the testes through the spermatic cord.</a:t>
            </a:r>
          </a:p>
          <a:p>
            <a:endParaRPr lang="en-US" b="1"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Spermatic cords</a:t>
            </a:r>
            <a:endParaRPr lang="en-US" b="1" i="1" dirty="0"/>
          </a:p>
        </p:txBody>
      </p:sp>
      <p:sp>
        <p:nvSpPr>
          <p:cNvPr id="3" name="Content Placeholder 2"/>
          <p:cNvSpPr>
            <a:spLocks noGrp="1"/>
          </p:cNvSpPr>
          <p:nvPr>
            <p:ph idx="1"/>
          </p:nvPr>
        </p:nvSpPr>
        <p:spPr/>
        <p:txBody>
          <a:bodyPr>
            <a:normAutofit lnSpcReduction="10000"/>
          </a:bodyPr>
          <a:lstStyle/>
          <a:p>
            <a:r>
              <a:rPr lang="en-US" b="1" dirty="0" smtClean="0"/>
              <a:t>they are two, one on each side.</a:t>
            </a:r>
          </a:p>
          <a:p>
            <a:r>
              <a:rPr lang="en-US" b="1" dirty="0" smtClean="0"/>
              <a:t>They consist of  one testicular artery, one testicular vein, 1 deferent duct, nerves and lymph vessels  within a sheath of fibrous connective tissue and smooth muscles.</a:t>
            </a:r>
          </a:p>
          <a:p>
            <a:r>
              <a:rPr lang="en-US" b="1" dirty="0" smtClean="0"/>
              <a:t>It serves to suspended the testes</a:t>
            </a:r>
          </a:p>
          <a:p>
            <a:r>
              <a:rPr lang="en-US" b="1" dirty="0" smtClean="0"/>
              <a:t>The vas deferens passes through the inguinal canal and ascends medially towards the posterior wall of bladder.</a:t>
            </a:r>
            <a:endParaRPr lang="en-US" b="1"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They join with ducts from seminal vesicles which together form the ejaculatory duct.</a:t>
            </a:r>
            <a:endParaRPr lang="en-US" b="1"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Seminal vesicles</a:t>
            </a:r>
            <a:endParaRPr lang="en-US" b="1" i="1" dirty="0"/>
          </a:p>
        </p:txBody>
      </p:sp>
      <p:sp>
        <p:nvSpPr>
          <p:cNvPr id="3" name="Content Placeholder 2"/>
          <p:cNvSpPr>
            <a:spLocks noGrp="1"/>
          </p:cNvSpPr>
          <p:nvPr>
            <p:ph idx="1"/>
          </p:nvPr>
        </p:nvSpPr>
        <p:spPr/>
        <p:txBody>
          <a:bodyPr/>
          <a:lstStyle/>
          <a:p>
            <a:r>
              <a:rPr lang="en-US" b="1" dirty="0" smtClean="0"/>
              <a:t>are two fibromascular pouches lined with columnar epithelium in the posterior aspect of bladder.</a:t>
            </a:r>
          </a:p>
          <a:p>
            <a:r>
              <a:rPr lang="en-US" b="1" dirty="0" smtClean="0"/>
              <a:t>Produce 60% of  alkaline semen including fructose to provide energy for sperm.</a:t>
            </a:r>
            <a:endParaRPr lang="en-US" b="1"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Ejaculatory ducts</a:t>
            </a:r>
            <a:endParaRPr lang="en-US" b="1" i="1" dirty="0"/>
          </a:p>
        </p:txBody>
      </p:sp>
      <p:sp>
        <p:nvSpPr>
          <p:cNvPr id="3" name="Content Placeholder 2"/>
          <p:cNvSpPr>
            <a:spLocks noGrp="1"/>
          </p:cNvSpPr>
          <p:nvPr>
            <p:ph idx="1"/>
          </p:nvPr>
        </p:nvSpPr>
        <p:spPr/>
        <p:txBody>
          <a:bodyPr/>
          <a:lstStyle/>
          <a:p>
            <a:r>
              <a:rPr lang="en-US" b="1" dirty="0" smtClean="0"/>
              <a:t>Are two tubes about 2cm long formed from the union of deferent duct and seminal vesicles</a:t>
            </a:r>
          </a:p>
          <a:p>
            <a:r>
              <a:rPr lang="en-US" b="1" dirty="0" smtClean="0"/>
              <a:t>They pass through the prostate gland and join the prostatic urethra.</a:t>
            </a:r>
          </a:p>
          <a:p>
            <a:r>
              <a:rPr lang="en-US" b="1" dirty="0" smtClean="0"/>
              <a:t>It carries the spermatic fluid and spermatozoa to the urethra</a:t>
            </a:r>
            <a:endParaRPr lang="en-US" b="1"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Prostate gland</a:t>
            </a:r>
            <a:endParaRPr lang="en-US" b="1" i="1" dirty="0"/>
          </a:p>
        </p:txBody>
      </p:sp>
      <p:sp>
        <p:nvSpPr>
          <p:cNvPr id="3" name="Content Placeholder 2"/>
          <p:cNvSpPr>
            <a:spLocks noGrp="1"/>
          </p:cNvSpPr>
          <p:nvPr>
            <p:ph idx="1"/>
          </p:nvPr>
        </p:nvSpPr>
        <p:spPr/>
        <p:txBody>
          <a:bodyPr/>
          <a:lstStyle/>
          <a:p>
            <a:r>
              <a:rPr lang="en-US" b="1" dirty="0" smtClean="0"/>
              <a:t>Lies in the pelvic cavity in front of rectum and behind the symphysis pubis, surrounding the first part of urethra</a:t>
            </a:r>
          </a:p>
          <a:p>
            <a:r>
              <a:rPr lang="en-US" b="1" dirty="0" smtClean="0"/>
              <a:t>It consist of an outer fibrous covering, a layer of smooth muscle and glandular tissue</a:t>
            </a:r>
          </a:p>
          <a:p>
            <a:r>
              <a:rPr lang="en-US" b="1" dirty="0" smtClean="0"/>
              <a:t>Produces up to 1/3 of the semen &amp; includes nutrients &amp; enzymes to activate sperm.</a:t>
            </a:r>
            <a:endParaRPr lang="en-US" b="1"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Cowper’s gland</a:t>
            </a:r>
            <a:endParaRPr lang="en-US" b="1" i="1" dirty="0"/>
          </a:p>
        </p:txBody>
      </p:sp>
      <p:sp>
        <p:nvSpPr>
          <p:cNvPr id="3" name="Content Placeholder 2"/>
          <p:cNvSpPr>
            <a:spLocks noGrp="1"/>
          </p:cNvSpPr>
          <p:nvPr>
            <p:ph idx="1"/>
          </p:nvPr>
        </p:nvSpPr>
        <p:spPr/>
        <p:txBody>
          <a:bodyPr/>
          <a:lstStyle/>
          <a:p>
            <a:r>
              <a:rPr lang="en-US" b="1" dirty="0" smtClean="0"/>
              <a:t>A small gland just below the prostate gland.</a:t>
            </a:r>
          </a:p>
          <a:p>
            <a:r>
              <a:rPr lang="en-US" b="1" dirty="0" smtClean="0"/>
              <a:t>Secretes mucous &amp; alkaline buffers to neutralize acidic conditions of urethra.</a:t>
            </a:r>
            <a:endParaRPr lang="en-US" b="1"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urethra</a:t>
            </a:r>
            <a:endParaRPr lang="en-US" b="1" i="1" dirty="0"/>
          </a:p>
        </p:txBody>
      </p:sp>
      <p:sp>
        <p:nvSpPr>
          <p:cNvPr id="3" name="Content Placeholder 2"/>
          <p:cNvSpPr>
            <a:spLocks noGrp="1"/>
          </p:cNvSpPr>
          <p:nvPr>
            <p:ph idx="1"/>
          </p:nvPr>
        </p:nvSpPr>
        <p:spPr/>
        <p:txBody>
          <a:bodyPr>
            <a:normAutofit fontScale="92500" lnSpcReduction="20000"/>
          </a:bodyPr>
          <a:lstStyle/>
          <a:p>
            <a:r>
              <a:rPr lang="en-US" b="1" dirty="0" smtClean="0"/>
              <a:t>It is a tubular passage about 19-20 cm long </a:t>
            </a:r>
          </a:p>
          <a:p>
            <a:r>
              <a:rPr lang="en-US" b="1" dirty="0" smtClean="0"/>
              <a:t>It consist of three parts:-</a:t>
            </a:r>
          </a:p>
          <a:p>
            <a:pPr lvl="1"/>
            <a:r>
              <a:rPr lang="en-US" sz="3200" b="1" i="1" dirty="0" smtClean="0">
                <a:solidFill>
                  <a:srgbClr val="00B0F0"/>
                </a:solidFill>
              </a:rPr>
              <a:t>Prostatic urethra- </a:t>
            </a:r>
            <a:r>
              <a:rPr lang="en-US" sz="3200" b="1" dirty="0" smtClean="0"/>
              <a:t>from the urethral orifice of bladder through the prostate gland.</a:t>
            </a:r>
          </a:p>
          <a:p>
            <a:pPr lvl="1"/>
            <a:r>
              <a:rPr lang="en-US" sz="3200" b="1" i="1" dirty="0" smtClean="0">
                <a:solidFill>
                  <a:srgbClr val="00B0F0"/>
                </a:solidFill>
              </a:rPr>
              <a:t>Membranous urethra- </a:t>
            </a:r>
            <a:r>
              <a:rPr lang="en-US" sz="3200" b="1" dirty="0" smtClean="0"/>
              <a:t>shortest and narrowest part extending from the prostate gland to the bulb of the penis</a:t>
            </a:r>
          </a:p>
          <a:p>
            <a:pPr lvl="1"/>
            <a:r>
              <a:rPr lang="en-US" sz="3200" b="1" i="1" dirty="0" err="1" smtClean="0">
                <a:solidFill>
                  <a:srgbClr val="00B0F0"/>
                </a:solidFill>
              </a:rPr>
              <a:t>Spongiose</a:t>
            </a:r>
            <a:r>
              <a:rPr lang="en-US" sz="3200" b="1" i="1" dirty="0" smtClean="0">
                <a:solidFill>
                  <a:srgbClr val="00B0F0"/>
                </a:solidFill>
              </a:rPr>
              <a:t> urethra- </a:t>
            </a:r>
            <a:r>
              <a:rPr lang="en-US" sz="3200" b="1" dirty="0" smtClean="0"/>
              <a:t>lies within the penis and terminates at external urethra orifice.</a:t>
            </a:r>
            <a:endParaRPr lang="en-US" sz="3200" b="1"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penis</a:t>
            </a:r>
            <a:endParaRPr lang="en-US" b="1" i="1" dirty="0"/>
          </a:p>
        </p:txBody>
      </p:sp>
      <p:sp>
        <p:nvSpPr>
          <p:cNvPr id="3" name="Content Placeholder 2"/>
          <p:cNvSpPr>
            <a:spLocks noGrp="1"/>
          </p:cNvSpPr>
          <p:nvPr>
            <p:ph idx="1"/>
          </p:nvPr>
        </p:nvSpPr>
        <p:spPr/>
        <p:txBody>
          <a:bodyPr>
            <a:normAutofit fontScale="92500" lnSpcReduction="10000"/>
          </a:bodyPr>
          <a:lstStyle/>
          <a:p>
            <a:r>
              <a:rPr lang="en-US" b="1" dirty="0" smtClean="0"/>
              <a:t>Formed by erectile tissue and involuntary muscles.</a:t>
            </a:r>
          </a:p>
          <a:p>
            <a:r>
              <a:rPr lang="en-US" b="1" dirty="0" smtClean="0"/>
              <a:t>The erectile tissue is supported by fibrous tissue and covered by skin. It is highly vascular</a:t>
            </a:r>
          </a:p>
          <a:p>
            <a:r>
              <a:rPr lang="en-US" b="1" dirty="0" smtClean="0"/>
              <a:t>The penis has two lateral columns of tissues made of corpora carvenosa and a medial column, the corpus spongiosum that contains the urethra</a:t>
            </a:r>
          </a:p>
          <a:p>
            <a:r>
              <a:rPr lang="en-US" b="1" dirty="0" smtClean="0"/>
              <a:t>At the tip, it is expanded into a triangular structure known as glans penis.</a:t>
            </a:r>
            <a:endParaRPr lang="en-US" b="1"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Glans penis is well supplied by autonomic and somatic nerves.</a:t>
            </a:r>
          </a:p>
          <a:p>
            <a:r>
              <a:rPr lang="en-US" b="1" dirty="0" smtClean="0"/>
              <a:t>Parasympathetic stimulation leads to engorgement with blood and erection of penis </a:t>
            </a:r>
            <a:endParaRPr lang="en-US" b="1"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Male hormones</a:t>
            </a:r>
            <a:endParaRPr lang="en-US" b="1" i="1" dirty="0"/>
          </a:p>
        </p:txBody>
      </p:sp>
      <p:sp>
        <p:nvSpPr>
          <p:cNvPr id="3" name="Content Placeholder 2"/>
          <p:cNvSpPr>
            <a:spLocks noGrp="1"/>
          </p:cNvSpPr>
          <p:nvPr>
            <p:ph idx="1"/>
          </p:nvPr>
        </p:nvSpPr>
        <p:spPr/>
        <p:txBody>
          <a:bodyPr/>
          <a:lstStyle/>
          <a:p>
            <a:r>
              <a:rPr lang="en-US" b="1" dirty="0" smtClean="0"/>
              <a:t>Unlike in females, male reproductive hormones are not produced in cyclical fashion.</a:t>
            </a:r>
          </a:p>
          <a:p>
            <a:r>
              <a:rPr lang="en-US" b="1" i="1" dirty="0" smtClean="0">
                <a:solidFill>
                  <a:srgbClr val="00B0F0"/>
                </a:solidFill>
              </a:rPr>
              <a:t>Follicle stimulating hormone </a:t>
            </a:r>
            <a:r>
              <a:rPr lang="en-US" b="1" dirty="0" smtClean="0"/>
              <a:t>is produced by the anterior pituitary gland under the influence of gonadotropin releasing hormone</a:t>
            </a:r>
          </a:p>
          <a:p>
            <a:r>
              <a:rPr lang="en-US" b="1" dirty="0" smtClean="0"/>
              <a:t>It causes spermatogenesis in seminiferous tubules.</a:t>
            </a:r>
            <a:endParaRPr lang="en-US" b="1"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b="1" i="1" dirty="0" smtClean="0"/>
              <a:t>Luteinizing hormone</a:t>
            </a:r>
            <a:r>
              <a:rPr lang="en-US" b="1" dirty="0" smtClean="0"/>
              <a:t> is also produced by anterior pituitary gland and is carried through blood stream to the testis.</a:t>
            </a:r>
          </a:p>
          <a:p>
            <a:r>
              <a:rPr lang="en-US" b="1" i="1" dirty="0" smtClean="0"/>
              <a:t>It stimulates </a:t>
            </a:r>
            <a:r>
              <a:rPr lang="en-US" b="1" dirty="0" smtClean="0"/>
              <a:t>the interstitial cells(</a:t>
            </a:r>
            <a:r>
              <a:rPr lang="en-US" b="1" dirty="0" err="1" smtClean="0"/>
              <a:t>leydig</a:t>
            </a:r>
            <a:r>
              <a:rPr lang="en-US" b="1" dirty="0" smtClean="0"/>
              <a:t>) to produce the hormone testosterone, the chief male sexual hormone</a:t>
            </a:r>
            <a:endParaRPr lang="en-US" b="1" i="1"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testosterone</a:t>
            </a:r>
            <a:endParaRPr lang="en-US" b="1" i="1" dirty="0"/>
          </a:p>
        </p:txBody>
      </p:sp>
      <p:sp>
        <p:nvSpPr>
          <p:cNvPr id="3" name="Content Placeholder 2"/>
          <p:cNvSpPr>
            <a:spLocks noGrp="1"/>
          </p:cNvSpPr>
          <p:nvPr>
            <p:ph idx="1"/>
          </p:nvPr>
        </p:nvSpPr>
        <p:spPr/>
        <p:txBody>
          <a:bodyPr/>
          <a:lstStyle/>
          <a:p>
            <a:r>
              <a:rPr lang="en-US" b="1" dirty="0" smtClean="0"/>
              <a:t>Produced by the interstitial cells</a:t>
            </a:r>
          </a:p>
          <a:p>
            <a:r>
              <a:rPr lang="en-US" b="1" dirty="0" smtClean="0"/>
              <a:t>It Is responsible for development of male secondary characteristics.</a:t>
            </a:r>
          </a:p>
          <a:p>
            <a:pPr lvl="1"/>
            <a:r>
              <a:rPr lang="en-US" sz="3200" b="1" dirty="0" smtClean="0"/>
              <a:t>Deepening of voice</a:t>
            </a:r>
          </a:p>
          <a:p>
            <a:pPr lvl="1"/>
            <a:r>
              <a:rPr lang="en-US" sz="3200" b="1" dirty="0" smtClean="0"/>
              <a:t>Maturation of genitalia</a:t>
            </a:r>
          </a:p>
          <a:p>
            <a:pPr lvl="1"/>
            <a:r>
              <a:rPr lang="en-US" sz="3200" b="1" dirty="0" smtClean="0"/>
              <a:t>Growth of hair on the pubis, </a:t>
            </a:r>
            <a:r>
              <a:rPr lang="en-US" sz="3200" b="1" dirty="0" err="1" smtClean="0"/>
              <a:t>axilla</a:t>
            </a:r>
            <a:r>
              <a:rPr lang="en-US" sz="3200" b="1" dirty="0" smtClean="0"/>
              <a:t>, face and chest</a:t>
            </a:r>
          </a:p>
          <a:p>
            <a:endParaRPr lang="en-US" b="1"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smtClean="0"/>
              <a:t>Spermatogenesis begins at puberty and continues throughout adult life.</a:t>
            </a:r>
          </a:p>
          <a:p>
            <a:r>
              <a:rPr lang="en-US" b="1" dirty="0" smtClean="0"/>
              <a:t>It is stimulated by changes in pituitary gland secretion when it starts releasing follicle stimulating hormone.</a:t>
            </a:r>
          </a:p>
          <a:p>
            <a:r>
              <a:rPr lang="en-US" b="1" dirty="0" smtClean="0"/>
              <a:t>The mature sperms are stored in the epididymis and released during ejaculation.</a:t>
            </a:r>
          </a:p>
          <a:p>
            <a:r>
              <a:rPr lang="en-US" b="1" dirty="0" smtClean="0"/>
              <a:t>At each ejaculation, </a:t>
            </a:r>
            <a:r>
              <a:rPr lang="en-US" b="1" dirty="0" err="1" smtClean="0"/>
              <a:t>btwn</a:t>
            </a:r>
            <a:r>
              <a:rPr lang="en-US" b="1" dirty="0" smtClean="0"/>
              <a:t> 2-4mls of semen is released, each ml containing about 100million sperms </a:t>
            </a:r>
            <a:endParaRPr lang="en-US" b="1"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Structure of the sperm</a:t>
            </a:r>
            <a:endParaRPr lang="en-US" b="1" i="1" dirty="0"/>
          </a:p>
        </p:txBody>
      </p:sp>
      <p:pic>
        <p:nvPicPr>
          <p:cNvPr id="1026" name="Picture 2"/>
          <p:cNvPicPr>
            <a:picLocks noGrp="1" noChangeAspect="1" noChangeArrowheads="1"/>
          </p:cNvPicPr>
          <p:nvPr>
            <p:ph idx="1"/>
          </p:nvPr>
        </p:nvPicPr>
        <p:blipFill>
          <a:blip r:embed="rId2" cstate="print"/>
          <a:stretch>
            <a:fillRect/>
          </a:stretch>
        </p:blipFill>
        <p:spPr bwMode="auto">
          <a:xfrm>
            <a:off x="2190750" y="2335212"/>
            <a:ext cx="4762500" cy="3667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Structure of the ovum</a:t>
            </a:r>
            <a:endParaRPr lang="en-US" b="1" i="1" dirty="0"/>
          </a:p>
        </p:txBody>
      </p:sp>
      <p:pic>
        <p:nvPicPr>
          <p:cNvPr id="3074" name="Picture 2"/>
          <p:cNvPicPr>
            <a:picLocks noGrp="1" noChangeAspect="1" noChangeArrowheads="1"/>
          </p:cNvPicPr>
          <p:nvPr>
            <p:ph idx="1"/>
          </p:nvPr>
        </p:nvPicPr>
        <p:blipFill>
          <a:blip r:embed="rId2" cstate="print"/>
          <a:stretch>
            <a:fillRect/>
          </a:stretch>
        </p:blipFill>
        <p:spPr bwMode="auto">
          <a:xfrm>
            <a:off x="2457450" y="2997200"/>
            <a:ext cx="4229100" cy="23431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pelvis</a:t>
            </a:r>
            <a:endParaRPr lang="en-US" dirty="0"/>
          </a:p>
        </p:txBody>
      </p:sp>
      <p:pic>
        <p:nvPicPr>
          <p:cNvPr id="2052" name="Picture 4"/>
          <p:cNvPicPr>
            <a:picLocks noGrp="1" noChangeAspect="1" noChangeArrowheads="1"/>
          </p:cNvPicPr>
          <p:nvPr>
            <p:ph idx="1"/>
          </p:nvPr>
        </p:nvPicPr>
        <p:blipFill>
          <a:blip r:embed="rId2" cstate="print"/>
          <a:srcRect/>
          <a:stretch>
            <a:fillRect/>
          </a:stretch>
        </p:blipFill>
        <p:spPr bwMode="auto">
          <a:xfrm>
            <a:off x="914401" y="1600200"/>
            <a:ext cx="5998868" cy="5029199"/>
          </a:xfrm>
          <a:prstGeom prst="rect">
            <a:avLst/>
          </a:prstGeom>
          <a:noFill/>
          <a:ln w="9525">
            <a:noFill/>
            <a:miter lim="800000"/>
            <a:headEnd/>
            <a:tailEnd/>
          </a:ln>
          <a:effectLst/>
        </p:spPr>
      </p:pic>
      <p:sp>
        <p:nvSpPr>
          <p:cNvPr id="5" name="TextBox 4"/>
          <p:cNvSpPr txBox="1"/>
          <p:nvPr/>
        </p:nvSpPr>
        <p:spPr>
          <a:xfrm>
            <a:off x="2057400" y="1981200"/>
            <a:ext cx="1040670" cy="584775"/>
          </a:xfrm>
          <a:prstGeom prst="rect">
            <a:avLst/>
          </a:prstGeom>
          <a:noFill/>
        </p:spPr>
        <p:txBody>
          <a:bodyPr wrap="none" rtlCol="0">
            <a:spAutoFit/>
          </a:bodyPr>
          <a:lstStyle/>
          <a:p>
            <a:r>
              <a:rPr lang="en-US" sz="3200" b="1" dirty="0" smtClean="0"/>
              <a:t>ilium</a:t>
            </a:r>
            <a:endParaRPr lang="en-US" sz="3200" b="1" dirty="0"/>
          </a:p>
        </p:txBody>
      </p:sp>
      <p:sp>
        <p:nvSpPr>
          <p:cNvPr id="7" name="TextBox 6"/>
          <p:cNvSpPr txBox="1"/>
          <p:nvPr/>
        </p:nvSpPr>
        <p:spPr>
          <a:xfrm>
            <a:off x="4876800" y="2057400"/>
            <a:ext cx="1420582" cy="584775"/>
          </a:xfrm>
          <a:prstGeom prst="rect">
            <a:avLst/>
          </a:prstGeom>
          <a:noFill/>
        </p:spPr>
        <p:txBody>
          <a:bodyPr wrap="none" rtlCol="0">
            <a:spAutoFit/>
          </a:bodyPr>
          <a:lstStyle/>
          <a:p>
            <a:r>
              <a:rPr lang="en-US" sz="3200" b="1" dirty="0" smtClean="0"/>
              <a:t>sacrum</a:t>
            </a:r>
            <a:endParaRPr lang="en-US" sz="3200" b="1" dirty="0"/>
          </a:p>
        </p:txBody>
      </p:sp>
      <p:sp>
        <p:nvSpPr>
          <p:cNvPr id="9" name="TextBox 8"/>
          <p:cNvSpPr txBox="1"/>
          <p:nvPr/>
        </p:nvSpPr>
        <p:spPr>
          <a:xfrm>
            <a:off x="5943600" y="5029200"/>
            <a:ext cx="295274" cy="369332"/>
          </a:xfrm>
          <a:prstGeom prst="rect">
            <a:avLst/>
          </a:prstGeom>
          <a:noFill/>
        </p:spPr>
        <p:txBody>
          <a:bodyPr wrap="none" rtlCol="0">
            <a:spAutoFit/>
          </a:bodyPr>
          <a:lstStyle/>
          <a:p>
            <a:r>
              <a:rPr lang="en-US" dirty="0" smtClean="0"/>
              <a:t>a</a:t>
            </a:r>
            <a:endParaRPr lang="en-US" dirty="0"/>
          </a:p>
        </p:txBody>
      </p:sp>
      <p:sp>
        <p:nvSpPr>
          <p:cNvPr id="11" name="TextBox 10"/>
          <p:cNvSpPr txBox="1"/>
          <p:nvPr/>
        </p:nvSpPr>
        <p:spPr>
          <a:xfrm>
            <a:off x="6096000" y="5105400"/>
            <a:ext cx="2158796" cy="584775"/>
          </a:xfrm>
          <a:prstGeom prst="rect">
            <a:avLst/>
          </a:prstGeom>
          <a:noFill/>
        </p:spPr>
        <p:txBody>
          <a:bodyPr wrap="none" rtlCol="0">
            <a:spAutoFit/>
          </a:bodyPr>
          <a:lstStyle/>
          <a:p>
            <a:r>
              <a:rPr lang="en-US" sz="3200" dirty="0" smtClean="0"/>
              <a:t>acetabulum</a:t>
            </a:r>
            <a:endParaRPr lang="en-US" sz="3200"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pelvis</a:t>
            </a:r>
            <a:endParaRPr lang="en-US" b="1" dirty="0"/>
          </a:p>
        </p:txBody>
      </p:sp>
      <p:sp>
        <p:nvSpPr>
          <p:cNvPr id="3" name="Content Placeholder 2"/>
          <p:cNvSpPr>
            <a:spLocks noGrp="1"/>
          </p:cNvSpPr>
          <p:nvPr>
            <p:ph idx="1"/>
          </p:nvPr>
        </p:nvSpPr>
        <p:spPr/>
        <p:txBody>
          <a:bodyPr/>
          <a:lstStyle/>
          <a:p>
            <a:r>
              <a:rPr lang="en-US" b="1" dirty="0" smtClean="0"/>
              <a:t>Gynecoid Pelvis (50%) Pelvic brim is a transverse ellipse (nearly a circle)</a:t>
            </a:r>
          </a:p>
          <a:p>
            <a:r>
              <a:rPr lang="en-US" b="1" dirty="0" smtClean="0"/>
              <a:t>Most favorable for delivery</a:t>
            </a:r>
          </a:p>
          <a:p>
            <a:endParaRPr lang="en-US"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Android Pelvis (Male type) </a:t>
            </a:r>
            <a:br>
              <a:rPr lang="en-US" b="1" dirty="0" smtClean="0"/>
            </a:br>
            <a:endParaRPr lang="en-US" b="1" dirty="0"/>
          </a:p>
        </p:txBody>
      </p:sp>
      <p:sp>
        <p:nvSpPr>
          <p:cNvPr id="3" name="Content Placeholder 2"/>
          <p:cNvSpPr>
            <a:spLocks noGrp="1"/>
          </p:cNvSpPr>
          <p:nvPr>
            <p:ph idx="1"/>
          </p:nvPr>
        </p:nvSpPr>
        <p:spPr/>
        <p:txBody>
          <a:bodyPr/>
          <a:lstStyle/>
          <a:p>
            <a:r>
              <a:rPr lang="en-US" b="1" dirty="0" smtClean="0"/>
              <a:t>Pelvic brim is triangular</a:t>
            </a:r>
          </a:p>
          <a:p>
            <a:r>
              <a:rPr lang="en-US" b="1" dirty="0" smtClean="0"/>
              <a:t>Convergent Side Walls (widest posteriorly)</a:t>
            </a:r>
          </a:p>
          <a:p>
            <a:r>
              <a:rPr lang="en-US" b="1" dirty="0" smtClean="0"/>
              <a:t>Prominent ischial spines</a:t>
            </a:r>
          </a:p>
          <a:p>
            <a:r>
              <a:rPr lang="en-US" b="1" dirty="0" smtClean="0"/>
              <a:t>Narrow subpubic arch</a:t>
            </a:r>
          </a:p>
          <a:p>
            <a:r>
              <a:rPr lang="en-US" b="1" dirty="0" smtClean="0"/>
              <a:t>More common in white women</a:t>
            </a:r>
          </a:p>
          <a:p>
            <a:endParaRPr lang="en-US"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Anthropoid Pelvis</a:t>
            </a:r>
            <a:endParaRPr lang="en-US" b="1" dirty="0"/>
          </a:p>
        </p:txBody>
      </p:sp>
      <p:sp>
        <p:nvSpPr>
          <p:cNvPr id="3" name="Content Placeholder 2"/>
          <p:cNvSpPr>
            <a:spLocks noGrp="1"/>
          </p:cNvSpPr>
          <p:nvPr>
            <p:ph idx="1"/>
          </p:nvPr>
        </p:nvSpPr>
        <p:spPr/>
        <p:txBody>
          <a:bodyPr/>
          <a:lstStyle/>
          <a:p>
            <a:r>
              <a:rPr lang="en-US" b="1" dirty="0" smtClean="0"/>
              <a:t>Pelvic brim is an anteroposterior ellipse </a:t>
            </a:r>
          </a:p>
          <a:p>
            <a:pPr lvl="1"/>
            <a:r>
              <a:rPr lang="en-US" b="1" dirty="0" smtClean="0"/>
              <a:t>Gynecoid pelvis turned 90 degrees</a:t>
            </a:r>
          </a:p>
          <a:p>
            <a:r>
              <a:rPr lang="en-US" b="1" dirty="0" smtClean="0"/>
              <a:t>Narrow ischial spines</a:t>
            </a:r>
          </a:p>
          <a:p>
            <a:r>
              <a:rPr lang="en-US" b="1" dirty="0" smtClean="0"/>
              <a:t>Much more common in black women</a:t>
            </a:r>
            <a:endParaRPr lang="en-US" b="1"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Platypelloid</a:t>
            </a:r>
            <a:r>
              <a:rPr lang="en-US" b="1" dirty="0" smtClean="0"/>
              <a:t> Pelvis (3%)</a:t>
            </a:r>
            <a:endParaRPr lang="en-US" dirty="0"/>
          </a:p>
        </p:txBody>
      </p:sp>
      <p:sp>
        <p:nvSpPr>
          <p:cNvPr id="3" name="Content Placeholder 2"/>
          <p:cNvSpPr>
            <a:spLocks noGrp="1"/>
          </p:cNvSpPr>
          <p:nvPr>
            <p:ph idx="1"/>
          </p:nvPr>
        </p:nvSpPr>
        <p:spPr/>
        <p:txBody>
          <a:bodyPr/>
          <a:lstStyle/>
          <a:p>
            <a:r>
              <a:rPr lang="en-US" b="1" dirty="0" smtClean="0"/>
              <a:t>Pelvic brim is transverse kidney shape</a:t>
            </a:r>
          </a:p>
          <a:p>
            <a:r>
              <a:rPr lang="en-US" b="1" dirty="0" smtClean="0"/>
              <a:t>Flattened </a:t>
            </a:r>
            <a:r>
              <a:rPr lang="en-US" b="1" dirty="0" err="1" smtClean="0"/>
              <a:t>gynecoid</a:t>
            </a:r>
            <a:r>
              <a:rPr lang="en-US" b="1" dirty="0" smtClean="0"/>
              <a:t> shape</a:t>
            </a:r>
          </a:p>
          <a:p>
            <a:endParaRPr 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THE FEMALE PELVIS</a:t>
            </a:r>
            <a:endParaRPr lang="en-US" b="1" i="1" dirty="0"/>
          </a:p>
        </p:txBody>
      </p:sp>
      <p:sp>
        <p:nvSpPr>
          <p:cNvPr id="3" name="Content Placeholder 2"/>
          <p:cNvSpPr>
            <a:spLocks noGrp="1"/>
          </p:cNvSpPr>
          <p:nvPr>
            <p:ph idx="1"/>
          </p:nvPr>
        </p:nvSpPr>
        <p:spPr/>
        <p:txBody>
          <a:bodyPr/>
          <a:lstStyle/>
          <a:p>
            <a:r>
              <a:rPr lang="en-US" b="1" dirty="0" smtClean="0"/>
              <a:t>The bony pelvis is a basin-like structure which connects the vertebral column with the lower limbs.</a:t>
            </a:r>
          </a:p>
          <a:p>
            <a:endParaRPr lang="en-US" b="1" dirty="0" smtClean="0"/>
          </a:p>
          <a:p>
            <a:endParaRPr lang="en-US" b="1" dirty="0" smtClean="0"/>
          </a:p>
          <a:p>
            <a:endParaRPr lang="en-US" b="1" dirty="0" smtClean="0"/>
          </a:p>
          <a:p>
            <a:endParaRPr lang="en-US" b="1" dirty="0" smtClean="0"/>
          </a:p>
          <a:p>
            <a:endParaRPr lang="en-US" b="1"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functions</a:t>
            </a:r>
            <a:endParaRPr lang="en-US" b="1" i="1" dirty="0"/>
          </a:p>
        </p:txBody>
      </p:sp>
      <p:sp>
        <p:nvSpPr>
          <p:cNvPr id="3" name="Content Placeholder 2"/>
          <p:cNvSpPr>
            <a:spLocks noGrp="1"/>
          </p:cNvSpPr>
          <p:nvPr>
            <p:ph idx="1"/>
          </p:nvPr>
        </p:nvSpPr>
        <p:spPr/>
        <p:txBody>
          <a:bodyPr/>
          <a:lstStyle/>
          <a:p>
            <a:pPr marL="514350" indent="-514350">
              <a:buFont typeface="+mj-lt"/>
              <a:buAutoNum type="arabicPeriod"/>
            </a:pPr>
            <a:r>
              <a:rPr lang="en-US" b="1" dirty="0" smtClean="0"/>
              <a:t>Transmits the weight of the body from the spinal column to the lower limbs</a:t>
            </a:r>
          </a:p>
          <a:p>
            <a:pPr marL="514350" indent="-514350">
              <a:buFont typeface="+mj-lt"/>
              <a:buAutoNum type="arabicPeriod"/>
            </a:pPr>
            <a:r>
              <a:rPr lang="en-US" b="1" dirty="0" smtClean="0"/>
              <a:t>It contains and protects the pelvic organs</a:t>
            </a:r>
          </a:p>
          <a:p>
            <a:pPr marL="514350" indent="-514350">
              <a:buFont typeface="+mj-lt"/>
              <a:buAutoNum type="arabicPeriod"/>
            </a:pPr>
            <a:r>
              <a:rPr lang="en-US" b="1" dirty="0" smtClean="0"/>
              <a:t>Provides attachment for the abdominal muscles and pelvic floor muscles</a:t>
            </a:r>
          </a:p>
          <a:p>
            <a:pPr marL="514350" indent="-514350">
              <a:buFont typeface="+mj-lt"/>
              <a:buAutoNum type="arabicPeriod"/>
            </a:pPr>
            <a:r>
              <a:rPr lang="en-US" b="1" dirty="0" smtClean="0"/>
              <a:t>It allows the passage of fetus during labor</a:t>
            </a:r>
          </a:p>
          <a:p>
            <a:pPr marL="514350" indent="-514350">
              <a:buFont typeface="+mj-lt"/>
              <a:buAutoNum type="arabicPeriod"/>
            </a:pPr>
            <a:r>
              <a:rPr lang="en-US" b="1" dirty="0" smtClean="0"/>
              <a:t>It allows the person to sit and kneel</a:t>
            </a:r>
            <a:endParaRPr lang="en-US" b="1" dirty="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Structure of the pelvis</a:t>
            </a:r>
            <a:endParaRPr lang="en-US" b="1" i="1" dirty="0"/>
          </a:p>
        </p:txBody>
      </p:sp>
      <p:sp>
        <p:nvSpPr>
          <p:cNvPr id="3" name="Content Placeholder 2"/>
          <p:cNvSpPr>
            <a:spLocks noGrp="1"/>
          </p:cNvSpPr>
          <p:nvPr>
            <p:ph idx="1"/>
          </p:nvPr>
        </p:nvSpPr>
        <p:spPr/>
        <p:txBody>
          <a:bodyPr/>
          <a:lstStyle/>
          <a:p>
            <a:r>
              <a:rPr lang="en-US" b="1" dirty="0" smtClean="0"/>
              <a:t>It Is formed by four bones</a:t>
            </a:r>
          </a:p>
          <a:p>
            <a:pPr lvl="1"/>
            <a:r>
              <a:rPr lang="en-US" sz="3200" b="1" dirty="0" smtClean="0"/>
              <a:t>Two innominate bones</a:t>
            </a:r>
          </a:p>
          <a:p>
            <a:pPr lvl="1"/>
            <a:r>
              <a:rPr lang="en-US" sz="3200" b="1" dirty="0" smtClean="0"/>
              <a:t>One sacrum</a:t>
            </a:r>
          </a:p>
          <a:p>
            <a:pPr lvl="1"/>
            <a:r>
              <a:rPr lang="en-US" sz="3200" b="1" dirty="0" smtClean="0"/>
              <a:t>One coccyx</a:t>
            </a:r>
            <a:endParaRPr lang="en-US" sz="3200" b="1"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Innominate bones</a:t>
            </a:r>
            <a:endParaRPr lang="en-US" b="1" i="1" dirty="0"/>
          </a:p>
        </p:txBody>
      </p:sp>
      <p:sp>
        <p:nvSpPr>
          <p:cNvPr id="3" name="Content Placeholder 2"/>
          <p:cNvSpPr>
            <a:spLocks noGrp="1"/>
          </p:cNvSpPr>
          <p:nvPr>
            <p:ph idx="1"/>
          </p:nvPr>
        </p:nvSpPr>
        <p:spPr/>
        <p:txBody>
          <a:bodyPr/>
          <a:lstStyle/>
          <a:p>
            <a:r>
              <a:rPr lang="en-US" b="1" dirty="0" smtClean="0"/>
              <a:t>Also referred to as hip bones</a:t>
            </a:r>
          </a:p>
          <a:p>
            <a:r>
              <a:rPr lang="en-US" b="1" dirty="0" smtClean="0"/>
              <a:t>They are two in number, each made of three fused bones.</a:t>
            </a:r>
          </a:p>
          <a:p>
            <a:pPr lvl="1"/>
            <a:r>
              <a:rPr lang="en-US" sz="3200" b="1" dirty="0" smtClean="0"/>
              <a:t>The ilium</a:t>
            </a:r>
          </a:p>
          <a:p>
            <a:pPr lvl="1"/>
            <a:r>
              <a:rPr lang="en-US" sz="3200" b="1" dirty="0" smtClean="0"/>
              <a:t>Ischium</a:t>
            </a:r>
          </a:p>
          <a:p>
            <a:pPr lvl="1"/>
            <a:r>
              <a:rPr lang="en-US" sz="3200" b="1" dirty="0" smtClean="0"/>
              <a:t>Pubic bones </a:t>
            </a:r>
          </a:p>
          <a:p>
            <a:r>
              <a:rPr lang="en-US" b="1" dirty="0" smtClean="0"/>
              <a:t>The three bones articulate with each other at the acetabulum. </a:t>
            </a:r>
            <a:endParaRPr lang="en-US" b="1"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ileum</a:t>
            </a:r>
            <a:endParaRPr lang="en-US" b="1" i="1" dirty="0"/>
          </a:p>
        </p:txBody>
      </p:sp>
      <p:sp>
        <p:nvSpPr>
          <p:cNvPr id="3" name="Content Placeholder 2"/>
          <p:cNvSpPr>
            <a:spLocks noGrp="1"/>
          </p:cNvSpPr>
          <p:nvPr>
            <p:ph idx="1"/>
          </p:nvPr>
        </p:nvSpPr>
        <p:spPr/>
        <p:txBody>
          <a:bodyPr>
            <a:normAutofit/>
          </a:bodyPr>
          <a:lstStyle/>
          <a:p>
            <a:r>
              <a:rPr lang="en-US" b="1" dirty="0" smtClean="0"/>
              <a:t>It forms the flared out superior part of the pelvis</a:t>
            </a:r>
          </a:p>
          <a:p>
            <a:r>
              <a:rPr lang="en-US" b="1" dirty="0" smtClean="0"/>
              <a:t>The anterior surface is concave and called the iliac </a:t>
            </a:r>
            <a:r>
              <a:rPr lang="en-US" b="1" dirty="0" err="1" smtClean="0"/>
              <a:t>fossa</a:t>
            </a:r>
            <a:endParaRPr lang="en-US" b="1" dirty="0" smtClean="0"/>
          </a:p>
          <a:p>
            <a:r>
              <a:rPr lang="en-US" b="1" dirty="0" smtClean="0"/>
              <a:t>The upper border is called the iliac crest</a:t>
            </a:r>
          </a:p>
          <a:p>
            <a:r>
              <a:rPr lang="en-US" b="1" dirty="0" smtClean="0"/>
              <a:t>In front of the iliac crest is a bony prominence called anterior superior iliac spine and below this, anterior inferior iliac spine.</a:t>
            </a:r>
            <a:endParaRPr lang="en-US" b="1"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On the posterior aspect are two corresponding spines, the posterior superior and posterior inferior iliac spines</a:t>
            </a:r>
          </a:p>
          <a:p>
            <a:r>
              <a:rPr lang="en-US" b="1" dirty="0" smtClean="0"/>
              <a:t>The iliac bones on each side articulate with the sacrum at a joint called sacro-iliac joint</a:t>
            </a:r>
          </a:p>
          <a:p>
            <a:endParaRPr lang="en-US" b="1" dirty="0" smtClean="0"/>
          </a:p>
          <a:p>
            <a:endParaRPr lang="en-US" b="1"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ischium</a:t>
            </a:r>
            <a:endParaRPr lang="en-US" b="1" i="1" dirty="0"/>
          </a:p>
        </p:txBody>
      </p:sp>
      <p:sp>
        <p:nvSpPr>
          <p:cNvPr id="3" name="Content Placeholder 2"/>
          <p:cNvSpPr>
            <a:spLocks noGrp="1"/>
          </p:cNvSpPr>
          <p:nvPr>
            <p:ph idx="1"/>
          </p:nvPr>
        </p:nvSpPr>
        <p:spPr/>
        <p:txBody>
          <a:bodyPr/>
          <a:lstStyle/>
          <a:p>
            <a:r>
              <a:rPr lang="en-US" b="1" dirty="0" smtClean="0"/>
              <a:t>It is the thick, lower bone posteriorly</a:t>
            </a:r>
          </a:p>
          <a:p>
            <a:r>
              <a:rPr lang="en-US" b="1" dirty="0" smtClean="0"/>
              <a:t>It has a large prominence, the ischial tuberosity which we sit on</a:t>
            </a:r>
          </a:p>
          <a:p>
            <a:endParaRPr lang="en-US" b="1"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The pubic bone</a:t>
            </a:r>
            <a:endParaRPr lang="en-US" b="1" i="1" dirty="0"/>
          </a:p>
        </p:txBody>
      </p:sp>
      <p:sp>
        <p:nvSpPr>
          <p:cNvPr id="3" name="Content Placeholder 2"/>
          <p:cNvSpPr>
            <a:spLocks noGrp="1"/>
          </p:cNvSpPr>
          <p:nvPr>
            <p:ph idx="1"/>
          </p:nvPr>
        </p:nvSpPr>
        <p:spPr/>
        <p:txBody>
          <a:bodyPr>
            <a:normAutofit lnSpcReduction="10000"/>
          </a:bodyPr>
          <a:lstStyle/>
          <a:p>
            <a:r>
              <a:rPr lang="en-US" b="1" dirty="0" smtClean="0"/>
              <a:t>Forms the anterior part of the pelvis</a:t>
            </a:r>
          </a:p>
          <a:p>
            <a:r>
              <a:rPr lang="en-US" b="1" dirty="0" smtClean="0"/>
              <a:t>It has a body, and two projections, the superior and inferior ramus.</a:t>
            </a:r>
          </a:p>
          <a:p>
            <a:r>
              <a:rPr lang="en-US" b="1" dirty="0" smtClean="0"/>
              <a:t>The inferior rami form the pubic arch</a:t>
            </a:r>
          </a:p>
          <a:p>
            <a:r>
              <a:rPr lang="en-US" b="1" dirty="0" smtClean="0"/>
              <a:t>The space between the rami and ischium is known as the obturator foramen</a:t>
            </a:r>
          </a:p>
          <a:p>
            <a:r>
              <a:rPr lang="en-US" b="1" dirty="0" smtClean="0"/>
              <a:t>On the lower border of the innominate bone are found two curves, the greater and lesser sciatic notches</a:t>
            </a:r>
            <a:endParaRPr lang="en-US" b="1"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The sacrum</a:t>
            </a:r>
            <a:endParaRPr lang="en-US" b="1" i="1" dirty="0"/>
          </a:p>
        </p:txBody>
      </p:sp>
      <p:sp>
        <p:nvSpPr>
          <p:cNvPr id="3" name="Content Placeholder 2"/>
          <p:cNvSpPr>
            <a:spLocks noGrp="1"/>
          </p:cNvSpPr>
          <p:nvPr>
            <p:ph idx="1"/>
          </p:nvPr>
        </p:nvSpPr>
        <p:spPr/>
        <p:txBody>
          <a:bodyPr/>
          <a:lstStyle/>
          <a:p>
            <a:r>
              <a:rPr lang="en-US" b="1" dirty="0" smtClean="0"/>
              <a:t>It is a wedge shaped bone</a:t>
            </a:r>
          </a:p>
          <a:p>
            <a:r>
              <a:rPr lang="en-US" b="1" dirty="0" smtClean="0"/>
              <a:t>It is made of five fused vertebral bones</a:t>
            </a:r>
          </a:p>
          <a:p>
            <a:r>
              <a:rPr lang="en-US" b="1" dirty="0" smtClean="0"/>
              <a:t>The upper boarder of the first sacral vertebra is  pushed forwards and is known as the sacral promontory</a:t>
            </a:r>
          </a:p>
          <a:p>
            <a:r>
              <a:rPr lang="en-US" b="1" dirty="0" smtClean="0"/>
              <a:t>The concave anterior surface is called the hollow of the sacrum</a:t>
            </a:r>
          </a:p>
          <a:p>
            <a:endParaRPr lang="en-US"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On the sides, the sacrum extends into a wing or ala.</a:t>
            </a:r>
          </a:p>
          <a:p>
            <a:r>
              <a:rPr lang="en-US" b="1" dirty="0" smtClean="0"/>
              <a:t>Four pairs of foramina pierce the sacrum, allowing the nerves to pass through them to supply the pelvic organs</a:t>
            </a:r>
            <a:endParaRPr lang="en-US" b="1"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coccyx</a:t>
            </a:r>
            <a:endParaRPr lang="en-US" b="1" i="1" dirty="0"/>
          </a:p>
        </p:txBody>
      </p:sp>
      <p:sp>
        <p:nvSpPr>
          <p:cNvPr id="3" name="Content Placeholder 2"/>
          <p:cNvSpPr>
            <a:spLocks noGrp="1"/>
          </p:cNvSpPr>
          <p:nvPr>
            <p:ph idx="1"/>
          </p:nvPr>
        </p:nvSpPr>
        <p:spPr/>
        <p:txBody>
          <a:bodyPr/>
          <a:lstStyle/>
          <a:p>
            <a:r>
              <a:rPr lang="en-US" b="1" dirty="0" smtClean="0"/>
              <a:t>It is a triangular bone formed by four fused coccygeal bones.</a:t>
            </a:r>
            <a:endParaRPr lang="en-US" b="1" dirty="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Pelvic joints</a:t>
            </a:r>
            <a:endParaRPr lang="en-US" b="1" i="1" dirty="0"/>
          </a:p>
        </p:txBody>
      </p:sp>
      <p:sp>
        <p:nvSpPr>
          <p:cNvPr id="3" name="Content Placeholder 2"/>
          <p:cNvSpPr>
            <a:spLocks noGrp="1"/>
          </p:cNvSpPr>
          <p:nvPr>
            <p:ph idx="1"/>
          </p:nvPr>
        </p:nvSpPr>
        <p:spPr/>
        <p:txBody>
          <a:bodyPr>
            <a:normAutofit lnSpcReduction="10000"/>
          </a:bodyPr>
          <a:lstStyle/>
          <a:p>
            <a:pPr>
              <a:buFont typeface="Wingdings" pitchFamily="2" charset="2"/>
              <a:buChar char="ü"/>
            </a:pPr>
            <a:r>
              <a:rPr lang="en-US" b="1" i="1" dirty="0" smtClean="0">
                <a:solidFill>
                  <a:srgbClr val="00B0F0"/>
                </a:solidFill>
              </a:rPr>
              <a:t>Two sacro-iliac joints- </a:t>
            </a:r>
            <a:r>
              <a:rPr lang="en-US" b="1" dirty="0" smtClean="0"/>
              <a:t>the strongest joints in the body, where the sacrum articulate with the ilium. Strain due to pregnancy on the ligaments of these joints lead to back pains</a:t>
            </a:r>
          </a:p>
          <a:p>
            <a:pPr>
              <a:buFont typeface="Wingdings" pitchFamily="2" charset="2"/>
              <a:buChar char="ü"/>
            </a:pPr>
            <a:r>
              <a:rPr lang="en-US" b="1" i="1" dirty="0" smtClean="0">
                <a:solidFill>
                  <a:srgbClr val="00B0F0"/>
                </a:solidFill>
              </a:rPr>
              <a:t>Symphysis pubis joint- </a:t>
            </a:r>
            <a:r>
              <a:rPr lang="en-US" b="1" dirty="0" smtClean="0"/>
              <a:t>this is the joint </a:t>
            </a:r>
            <a:r>
              <a:rPr lang="en-US" b="1" dirty="0" err="1" smtClean="0"/>
              <a:t>btwn</a:t>
            </a:r>
            <a:r>
              <a:rPr lang="en-US" b="1" dirty="0" smtClean="0"/>
              <a:t> the pubic bones. It widens in late pregnancy causing pain while walking. In severe case, it can cause pelvic dysfunction</a:t>
            </a:r>
            <a:endParaRPr lang="en-US" b="1"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itchFamily="2" charset="2"/>
              <a:buChar char="ü"/>
            </a:pPr>
            <a:r>
              <a:rPr lang="en-US" b="1" i="1" dirty="0" smtClean="0">
                <a:solidFill>
                  <a:srgbClr val="00B0F0"/>
                </a:solidFill>
              </a:rPr>
              <a:t>Sacro-coccygeal joint- </a:t>
            </a:r>
            <a:r>
              <a:rPr lang="en-US" b="1" dirty="0" smtClean="0"/>
              <a:t>found where the sacrum articulates with the coccyx. It allows for the coccyx to be displaced posteriorly during labor.</a:t>
            </a:r>
          </a:p>
          <a:p>
            <a:r>
              <a:rPr lang="en-US" b="1" dirty="0" smtClean="0"/>
              <a:t>Each pelvic joint is held together by ligaments that strengthen it.</a:t>
            </a:r>
            <a:endParaRPr lang="en-US" b="1" dirty="0"/>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Pelvic ligaments</a:t>
            </a:r>
            <a:endParaRPr lang="en-US" b="1" i="1" dirty="0"/>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US" b="1" dirty="0" smtClean="0"/>
              <a:t>Inter pubic ligaments found at the symphysis pubis</a:t>
            </a:r>
          </a:p>
          <a:p>
            <a:pPr marL="514350" indent="-514350">
              <a:buFont typeface="+mj-lt"/>
              <a:buAutoNum type="arabicPeriod"/>
            </a:pPr>
            <a:r>
              <a:rPr lang="en-US" b="1" dirty="0" smtClean="0"/>
              <a:t>Sacro-iliac ligaments attach the sacrum and the ilium</a:t>
            </a:r>
          </a:p>
          <a:p>
            <a:pPr marL="514350" indent="-514350">
              <a:buFont typeface="+mj-lt"/>
              <a:buAutoNum type="arabicPeriod"/>
            </a:pPr>
            <a:r>
              <a:rPr lang="en-US" b="1" dirty="0" smtClean="0"/>
              <a:t>Sacrococcygeal ligaments are found at the sacro-coccygeal joint</a:t>
            </a:r>
          </a:p>
          <a:p>
            <a:pPr marL="514350" indent="-514350">
              <a:buFont typeface="+mj-lt"/>
              <a:buAutoNum type="arabicPeriod"/>
            </a:pPr>
            <a:r>
              <a:rPr lang="en-US" b="1" dirty="0" smtClean="0"/>
              <a:t>Sacro tuberous ligaments attach the sacrum and ischial tuberosities</a:t>
            </a:r>
          </a:p>
          <a:p>
            <a:pPr marL="514350" indent="-514350">
              <a:buFont typeface="+mj-lt"/>
              <a:buAutoNum type="arabicPeriod"/>
            </a:pPr>
            <a:r>
              <a:rPr lang="en-US" b="1" dirty="0" smtClean="0"/>
              <a:t>Sacrospinous ligaments connect the sacrum and the posterior ischial spines</a:t>
            </a:r>
            <a:endParaRPr lang="en-US" b="1" dirty="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i="1" dirty="0" err="1" smtClean="0">
                <a:solidFill>
                  <a:srgbClr val="00B0F0"/>
                </a:solidFill>
              </a:rPr>
              <a:t>Nb</a:t>
            </a:r>
            <a:r>
              <a:rPr lang="en-US" b="1" i="1" dirty="0" smtClean="0">
                <a:solidFill>
                  <a:srgbClr val="00B0F0"/>
                </a:solidFill>
              </a:rPr>
              <a:t>: the sacrotuberous and Sacrospinous ligaments form the posterior wall of pelvic outlet</a:t>
            </a:r>
            <a:endParaRPr lang="en-US" b="1" i="1" dirty="0">
              <a:solidFill>
                <a:srgbClr val="00B0F0"/>
              </a:solidFill>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PARTS OF THE PELVIS</a:t>
            </a:r>
            <a:endParaRPr lang="en-US" b="1" i="1" dirty="0"/>
          </a:p>
        </p:txBody>
      </p:sp>
      <p:sp>
        <p:nvSpPr>
          <p:cNvPr id="3" name="Content Placeholder 2"/>
          <p:cNvSpPr>
            <a:spLocks noGrp="1"/>
          </p:cNvSpPr>
          <p:nvPr>
            <p:ph idx="1"/>
          </p:nvPr>
        </p:nvSpPr>
        <p:spPr/>
        <p:txBody>
          <a:bodyPr>
            <a:normAutofit lnSpcReduction="10000"/>
          </a:bodyPr>
          <a:lstStyle/>
          <a:p>
            <a:r>
              <a:rPr lang="en-US" b="1" dirty="0" smtClean="0"/>
              <a:t>The bony pelvis is divided into two parts:</a:t>
            </a:r>
          </a:p>
          <a:p>
            <a:pPr lvl="1"/>
            <a:r>
              <a:rPr lang="en-US" sz="3200" b="1" dirty="0" smtClean="0"/>
              <a:t>False pelvis</a:t>
            </a:r>
          </a:p>
          <a:p>
            <a:pPr lvl="1"/>
            <a:r>
              <a:rPr lang="en-US" sz="3200" b="1" dirty="0" smtClean="0"/>
              <a:t>True pelvis</a:t>
            </a:r>
          </a:p>
          <a:p>
            <a:pPr>
              <a:buNone/>
            </a:pPr>
            <a:r>
              <a:rPr lang="en-US" b="1" i="1" u="sng" dirty="0" smtClean="0">
                <a:solidFill>
                  <a:srgbClr val="00B0F0"/>
                </a:solidFill>
              </a:rPr>
              <a:t>False pelvis</a:t>
            </a:r>
          </a:p>
          <a:p>
            <a:r>
              <a:rPr lang="en-US" b="1" dirty="0" smtClean="0"/>
              <a:t>It is the part above the brim formed by the flared out part of iliac bones. it is bordered by the iliac crest and the 5</a:t>
            </a:r>
            <a:r>
              <a:rPr lang="en-US" b="1" baseline="30000" dirty="0" smtClean="0"/>
              <a:t>th</a:t>
            </a:r>
            <a:r>
              <a:rPr lang="en-US" b="1" dirty="0" smtClean="0"/>
              <a:t> lumbar vertebra. It is of little obstetrical significance</a:t>
            </a:r>
            <a:endParaRPr lang="en-US" b="1" dirty="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u="sng" dirty="0" smtClean="0">
                <a:solidFill>
                  <a:srgbClr val="00B0F0"/>
                </a:solidFill>
              </a:rPr>
              <a:t>True pelvis</a:t>
            </a:r>
            <a:endParaRPr lang="en-US" b="1" i="1" u="sng" dirty="0">
              <a:solidFill>
                <a:srgbClr val="00B0F0"/>
              </a:solidFill>
            </a:endParaRPr>
          </a:p>
        </p:txBody>
      </p:sp>
      <p:sp>
        <p:nvSpPr>
          <p:cNvPr id="3" name="Content Placeholder 2"/>
          <p:cNvSpPr>
            <a:spLocks noGrp="1"/>
          </p:cNvSpPr>
          <p:nvPr>
            <p:ph idx="1"/>
          </p:nvPr>
        </p:nvSpPr>
        <p:spPr/>
        <p:txBody>
          <a:bodyPr/>
          <a:lstStyle/>
          <a:p>
            <a:r>
              <a:rPr lang="en-US" b="1" dirty="0" smtClean="0"/>
              <a:t>It is the curved bony canal that the fetus pass through during labor</a:t>
            </a:r>
          </a:p>
          <a:p>
            <a:r>
              <a:rPr lang="en-US" b="1" dirty="0" smtClean="0"/>
              <a:t>It is divided into:-</a:t>
            </a:r>
          </a:p>
          <a:p>
            <a:pPr lvl="4"/>
            <a:r>
              <a:rPr lang="en-US" sz="3200" b="1" dirty="0" smtClean="0"/>
              <a:t>The brim</a:t>
            </a:r>
          </a:p>
          <a:p>
            <a:pPr lvl="4"/>
            <a:r>
              <a:rPr lang="en-US" sz="3200" b="1" dirty="0" smtClean="0"/>
              <a:t>The cavity</a:t>
            </a:r>
          </a:p>
          <a:p>
            <a:pPr lvl="4"/>
            <a:r>
              <a:rPr lang="en-US" sz="3200" b="1" dirty="0" smtClean="0"/>
              <a:t>The outlet</a:t>
            </a:r>
          </a:p>
          <a:p>
            <a:r>
              <a:rPr lang="en-US" b="1" dirty="0" smtClean="0"/>
              <a:t>True pelvis is of obstetrical importance</a:t>
            </a:r>
            <a:endParaRPr lang="en-US" b="1" dirty="0"/>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The brim</a:t>
            </a:r>
            <a:endParaRPr lang="en-US" b="1" i="1" dirty="0"/>
          </a:p>
        </p:txBody>
      </p:sp>
      <p:sp>
        <p:nvSpPr>
          <p:cNvPr id="3" name="Content Placeholder 2"/>
          <p:cNvSpPr>
            <a:spLocks noGrp="1"/>
          </p:cNvSpPr>
          <p:nvPr>
            <p:ph idx="1"/>
          </p:nvPr>
        </p:nvSpPr>
        <p:spPr/>
        <p:txBody>
          <a:bodyPr/>
          <a:lstStyle/>
          <a:p>
            <a:r>
              <a:rPr lang="en-US" b="1" dirty="0" smtClean="0"/>
              <a:t>In females, it is rounded except where the sacral promontory projects in it</a:t>
            </a:r>
          </a:p>
          <a:p>
            <a:r>
              <a:rPr lang="en-US" b="1" dirty="0" smtClean="0"/>
              <a:t>It borders are:-</a:t>
            </a:r>
          </a:p>
          <a:p>
            <a:r>
              <a:rPr lang="en-US" b="1" dirty="0" smtClean="0"/>
              <a:t>Posteriorly, sacral promontory and the wings of sacrum</a:t>
            </a:r>
          </a:p>
          <a:p>
            <a:r>
              <a:rPr lang="en-US" b="1" dirty="0" smtClean="0"/>
              <a:t>Laterally- iliac bones</a:t>
            </a:r>
          </a:p>
          <a:p>
            <a:r>
              <a:rPr lang="en-US" b="1" dirty="0" smtClean="0"/>
              <a:t>Anteriorly- pubic bones</a:t>
            </a:r>
          </a:p>
          <a:p>
            <a:r>
              <a:rPr lang="en-US" b="1" dirty="0" smtClean="0"/>
              <a:t> </a:t>
            </a:r>
            <a:endParaRPr lang="en-US" b="1" dirty="0"/>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dirty="0" smtClean="0"/>
              <a:t>The brim has important fixed points known as the landmarks of the brim</a:t>
            </a:r>
          </a:p>
          <a:p>
            <a:pPr lvl="1"/>
            <a:r>
              <a:rPr lang="en-US" sz="3200" b="1" dirty="0" smtClean="0"/>
              <a:t>Sacral promontory</a:t>
            </a:r>
          </a:p>
          <a:p>
            <a:pPr lvl="1"/>
            <a:r>
              <a:rPr lang="en-US" sz="3200" b="1" dirty="0" smtClean="0"/>
              <a:t>Sacral ala or wings</a:t>
            </a:r>
          </a:p>
          <a:p>
            <a:pPr lvl="1"/>
            <a:r>
              <a:rPr lang="en-US" sz="3200" b="1" dirty="0" smtClean="0"/>
              <a:t>Sacro-iliac joint</a:t>
            </a:r>
          </a:p>
          <a:p>
            <a:pPr lvl="1"/>
            <a:r>
              <a:rPr lang="en-US" sz="3200" b="1" dirty="0" smtClean="0"/>
              <a:t>Iliopectineal line</a:t>
            </a:r>
          </a:p>
          <a:p>
            <a:pPr lvl="1"/>
            <a:r>
              <a:rPr lang="en-US" sz="3200" b="1" dirty="0" smtClean="0"/>
              <a:t>Iliopectineal eminence</a:t>
            </a:r>
          </a:p>
          <a:p>
            <a:pPr lvl="1"/>
            <a:r>
              <a:rPr lang="en-US" sz="3200" b="1" dirty="0" smtClean="0"/>
              <a:t>Superior ramus of the pubic bone</a:t>
            </a:r>
          </a:p>
          <a:p>
            <a:pPr lvl="1"/>
            <a:r>
              <a:rPr lang="en-US" sz="3200" b="1" dirty="0" smtClean="0"/>
              <a:t>Upper inner boarder of the body of pubic bone</a:t>
            </a:r>
          </a:p>
          <a:p>
            <a:pPr lvl="1"/>
            <a:r>
              <a:rPr lang="en-US" sz="3200" b="1" dirty="0" smtClean="0"/>
              <a:t>Upper inner boarder of the symphysis</a:t>
            </a:r>
          </a:p>
          <a:p>
            <a:endParaRPr lang="en-US" b="1" dirty="0"/>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The pelvic cavity</a:t>
            </a:r>
            <a:endParaRPr lang="en-US" b="1" i="1" dirty="0"/>
          </a:p>
        </p:txBody>
      </p:sp>
      <p:sp>
        <p:nvSpPr>
          <p:cNvPr id="3" name="Content Placeholder 2"/>
          <p:cNvSpPr>
            <a:spLocks noGrp="1"/>
          </p:cNvSpPr>
          <p:nvPr>
            <p:ph idx="1"/>
          </p:nvPr>
        </p:nvSpPr>
        <p:spPr/>
        <p:txBody>
          <a:bodyPr>
            <a:normAutofit/>
          </a:bodyPr>
          <a:lstStyle/>
          <a:p>
            <a:r>
              <a:rPr lang="en-US" b="1" dirty="0" smtClean="0"/>
              <a:t>Extends from the pelvic brim above to the outlet below</a:t>
            </a:r>
          </a:p>
          <a:p>
            <a:r>
              <a:rPr lang="en-US" b="1" dirty="0" smtClean="0"/>
              <a:t>Its anterior wall is formed by symphysis pubis and is about 4cm long.</a:t>
            </a:r>
          </a:p>
          <a:p>
            <a:r>
              <a:rPr lang="en-US" b="1" dirty="0" smtClean="0"/>
              <a:t>The posterior wall is formed by the curve of sacrum and is about 12cm long.</a:t>
            </a:r>
          </a:p>
          <a:p>
            <a:r>
              <a:rPr lang="en-US" b="1" dirty="0" smtClean="0"/>
              <a:t>The lateral border is formed by the wall of the pelvis which is covered by obturator internus muscle.</a:t>
            </a:r>
            <a:endParaRPr lang="en-US" b="1" dirty="0"/>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The outlet</a:t>
            </a:r>
            <a:endParaRPr lang="en-US" b="1" i="1" dirty="0"/>
          </a:p>
        </p:txBody>
      </p:sp>
      <p:sp>
        <p:nvSpPr>
          <p:cNvPr id="3" name="Content Placeholder 2"/>
          <p:cNvSpPr>
            <a:spLocks noGrp="1"/>
          </p:cNvSpPr>
          <p:nvPr>
            <p:ph idx="1"/>
          </p:nvPr>
        </p:nvSpPr>
        <p:spPr/>
        <p:txBody>
          <a:bodyPr/>
          <a:lstStyle/>
          <a:p>
            <a:r>
              <a:rPr lang="en-US" b="1" dirty="0" smtClean="0"/>
              <a:t>It is diamond shaped.</a:t>
            </a:r>
          </a:p>
          <a:p>
            <a:r>
              <a:rPr lang="en-US" b="1" dirty="0" smtClean="0"/>
              <a:t>Borders</a:t>
            </a:r>
          </a:p>
          <a:p>
            <a:r>
              <a:rPr lang="en-US" b="1" dirty="0" smtClean="0"/>
              <a:t>Anteriorly- pubic arch</a:t>
            </a:r>
          </a:p>
          <a:p>
            <a:r>
              <a:rPr lang="en-US" b="1" dirty="0" smtClean="0"/>
              <a:t>Laterally- ischial tuberosities</a:t>
            </a:r>
          </a:p>
          <a:p>
            <a:r>
              <a:rPr lang="en-US" b="1" dirty="0" smtClean="0"/>
              <a:t>Posteriorly- coccyx and sacral tuberous ligaments</a:t>
            </a:r>
            <a:endParaRPr lang="en-US" b="1" dirty="0"/>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DIAMETERS OF THE TRUE PELVIS</a:t>
            </a:r>
            <a:br>
              <a:rPr lang="en-US" b="1" i="1" dirty="0" smtClean="0"/>
            </a:br>
            <a:r>
              <a:rPr lang="en-US" b="1" i="1" dirty="0" smtClean="0"/>
              <a:t>a) the inlet</a:t>
            </a:r>
            <a:endParaRPr lang="en-US" b="1" i="1" dirty="0"/>
          </a:p>
        </p:txBody>
      </p:sp>
      <p:sp>
        <p:nvSpPr>
          <p:cNvPr id="3" name="Content Placeholder 2"/>
          <p:cNvSpPr>
            <a:spLocks noGrp="1"/>
          </p:cNvSpPr>
          <p:nvPr>
            <p:ph idx="1"/>
          </p:nvPr>
        </p:nvSpPr>
        <p:spPr/>
        <p:txBody>
          <a:bodyPr>
            <a:normAutofit fontScale="92500" lnSpcReduction="10000"/>
          </a:bodyPr>
          <a:lstStyle/>
          <a:p>
            <a:pPr algn="ctr">
              <a:buNone/>
            </a:pPr>
            <a:r>
              <a:rPr lang="en-US" b="1" u="sng" dirty="0" smtClean="0">
                <a:solidFill>
                  <a:srgbClr val="00B0F0"/>
                </a:solidFill>
              </a:rPr>
              <a:t>Antero -posterior diameters: </a:t>
            </a:r>
          </a:p>
          <a:p>
            <a:r>
              <a:rPr lang="en-US" b="1" dirty="0" smtClean="0"/>
              <a:t>Anatomical </a:t>
            </a:r>
            <a:r>
              <a:rPr lang="en-US" b="1" dirty="0" err="1" smtClean="0"/>
              <a:t>antero</a:t>
            </a:r>
            <a:r>
              <a:rPr lang="en-US" b="1" dirty="0" smtClean="0"/>
              <a:t>-posterior diameter (true conjugate) = 12cm </a:t>
            </a:r>
          </a:p>
          <a:p>
            <a:pPr lvl="1"/>
            <a:r>
              <a:rPr lang="en-US" b="1" dirty="0" smtClean="0"/>
              <a:t>from the tip of the sacral promontory to the upper border of the symphysis pubis.</a:t>
            </a:r>
          </a:p>
          <a:p>
            <a:r>
              <a:rPr lang="en-US" b="1" dirty="0" smtClean="0"/>
              <a:t>Obstetric conjugate = 11 cm</a:t>
            </a:r>
          </a:p>
          <a:p>
            <a:pPr lvl="1"/>
            <a:r>
              <a:rPr lang="en-US" sz="3000" b="1" dirty="0" smtClean="0"/>
              <a:t>from the tip of the sacral promontory to the most bulging point on the back of symphysis pubis which is about 1 cm below its upper border. It is the shortest </a:t>
            </a:r>
            <a:r>
              <a:rPr lang="en-US" sz="3000" b="1" dirty="0" err="1" smtClean="0"/>
              <a:t>antero</a:t>
            </a:r>
            <a:r>
              <a:rPr lang="en-US" sz="3000" b="1" dirty="0" smtClean="0"/>
              <a:t>-posterior diameter.</a:t>
            </a:r>
          </a:p>
          <a:p>
            <a:endParaRPr lang="en-US" dirty="0"/>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Diagonal conjugate = 12.5 cm </a:t>
            </a:r>
          </a:p>
          <a:p>
            <a:pPr lvl="1"/>
            <a:r>
              <a:rPr lang="en-US" sz="3200" b="1" dirty="0" smtClean="0"/>
              <a:t>i.e. 1.5 cm longer than the true conjugate. From the tip of sacral promontory to the lower border of symphysis pubis.</a:t>
            </a:r>
          </a:p>
          <a:p>
            <a:endParaRPr lang="en-US" dirty="0"/>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b="1" dirty="0" smtClean="0"/>
              <a:t>Transverse diameters: </a:t>
            </a:r>
          </a:p>
          <a:p>
            <a:r>
              <a:rPr lang="en-US" b="1" dirty="0" smtClean="0"/>
              <a:t>Anatomical transverse diameter =13cm</a:t>
            </a:r>
          </a:p>
          <a:p>
            <a:pPr lvl="1"/>
            <a:r>
              <a:rPr lang="en-US" b="1" dirty="0" smtClean="0"/>
              <a:t> </a:t>
            </a:r>
            <a:r>
              <a:rPr lang="en-US" sz="3200" b="1" dirty="0" smtClean="0"/>
              <a:t>between the farthest two points on the iliopectineal lines.</a:t>
            </a:r>
          </a:p>
          <a:p>
            <a:pPr lvl="1"/>
            <a:r>
              <a:rPr lang="en-US" sz="3200" b="1" dirty="0" smtClean="0"/>
              <a:t> It lies 4 cm anterior to the promontory and 7 cm behind the symphysis.</a:t>
            </a:r>
          </a:p>
          <a:p>
            <a:pPr lvl="1"/>
            <a:r>
              <a:rPr lang="en-US" sz="3200" b="1" dirty="0" smtClean="0"/>
              <a:t> It is the largest diameter in the pelvis.</a:t>
            </a:r>
          </a:p>
          <a:p>
            <a:endParaRPr lang="en-US" dirty="0"/>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Oblique diameters:</a:t>
            </a:r>
            <a:endParaRPr lang="en-US" dirty="0"/>
          </a:p>
        </p:txBody>
      </p:sp>
      <p:sp>
        <p:nvSpPr>
          <p:cNvPr id="3" name="Content Placeholder 2"/>
          <p:cNvSpPr>
            <a:spLocks noGrp="1"/>
          </p:cNvSpPr>
          <p:nvPr>
            <p:ph idx="1"/>
          </p:nvPr>
        </p:nvSpPr>
        <p:spPr/>
        <p:txBody>
          <a:bodyPr>
            <a:normAutofit/>
          </a:bodyPr>
          <a:lstStyle/>
          <a:p>
            <a:r>
              <a:rPr lang="en-US" b="1" dirty="0" smtClean="0"/>
              <a:t>Right oblique diameter =12 cm</a:t>
            </a:r>
          </a:p>
          <a:p>
            <a:pPr lvl="1"/>
            <a:r>
              <a:rPr lang="en-US" sz="3200" b="1" dirty="0" smtClean="0"/>
              <a:t>from the right sacroiliac joint to the left iliopectineal eminence.</a:t>
            </a:r>
          </a:p>
          <a:p>
            <a:r>
              <a:rPr lang="en-US" b="1" dirty="0" smtClean="0"/>
              <a:t> Left oblique diameter = 12 cm </a:t>
            </a:r>
          </a:p>
          <a:p>
            <a:pPr lvl="1"/>
            <a:r>
              <a:rPr lang="en-US" sz="3200" b="1" dirty="0" smtClean="0"/>
              <a:t>from the left sacroiliac joint to the right iliopectineal eminence.</a:t>
            </a:r>
          </a:p>
          <a:p>
            <a:endParaRPr lang="en-US" dirty="0"/>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Obstetric transverse diameter:</a:t>
            </a:r>
          </a:p>
          <a:p>
            <a:pPr lvl="1"/>
            <a:r>
              <a:rPr lang="en-US" sz="3200" b="1" dirty="0" smtClean="0"/>
              <a:t>It bisects the true conjugate and is slightly shorter than the anatomical transverse diameter</a:t>
            </a:r>
          </a:p>
          <a:p>
            <a:endParaRPr lang="en-US"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Diameters of the cavity</a:t>
            </a:r>
            <a:endParaRPr lang="en-US" b="1" i="1" dirty="0"/>
          </a:p>
        </p:txBody>
      </p:sp>
      <p:sp>
        <p:nvSpPr>
          <p:cNvPr id="3" name="Content Placeholder 2"/>
          <p:cNvSpPr>
            <a:spLocks noGrp="1"/>
          </p:cNvSpPr>
          <p:nvPr>
            <p:ph idx="1"/>
          </p:nvPr>
        </p:nvSpPr>
        <p:spPr/>
        <p:txBody>
          <a:bodyPr/>
          <a:lstStyle/>
          <a:p>
            <a:r>
              <a:rPr lang="en-US" b="1" dirty="0" smtClean="0"/>
              <a:t>It is circular and all diameters are estimated to be 12cm</a:t>
            </a:r>
          </a:p>
          <a:p>
            <a:r>
              <a:rPr lang="en-US" b="1" dirty="0" smtClean="0"/>
              <a:t>They cannot be measured exactly</a:t>
            </a:r>
            <a:endParaRPr lang="en-US" b="1" dirty="0"/>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Diameters of the outlet</a:t>
            </a:r>
            <a:endParaRPr lang="en-US" b="1" i="1" dirty="0"/>
          </a:p>
        </p:txBody>
      </p:sp>
      <p:sp>
        <p:nvSpPr>
          <p:cNvPr id="3" name="Content Placeholder 2"/>
          <p:cNvSpPr>
            <a:spLocks noGrp="1"/>
          </p:cNvSpPr>
          <p:nvPr>
            <p:ph idx="1"/>
          </p:nvPr>
        </p:nvSpPr>
        <p:spPr/>
        <p:txBody>
          <a:bodyPr>
            <a:normAutofit lnSpcReduction="10000"/>
          </a:bodyPr>
          <a:lstStyle/>
          <a:p>
            <a:r>
              <a:rPr lang="en-US" b="1" dirty="0" smtClean="0"/>
              <a:t>Anteroposterior diameter- measured from the lower boarder of the symphysis pubis to sacrococcygeal joint. It is approximately 13 cm.</a:t>
            </a:r>
          </a:p>
          <a:p>
            <a:r>
              <a:rPr lang="en-US" b="1" dirty="0" smtClean="0"/>
              <a:t>Oblique diameter- estimated </a:t>
            </a:r>
            <a:r>
              <a:rPr lang="en-US" b="1" dirty="0" err="1" smtClean="0"/>
              <a:t>btwn</a:t>
            </a:r>
            <a:r>
              <a:rPr lang="en-US" b="1" dirty="0" smtClean="0"/>
              <a:t> obturator foramen and sacrospinous ligaments. Estimated to be 12  cm</a:t>
            </a:r>
          </a:p>
          <a:p>
            <a:r>
              <a:rPr lang="en-US" b="1" dirty="0" smtClean="0"/>
              <a:t>Transverse diameter- measured </a:t>
            </a:r>
            <a:r>
              <a:rPr lang="en-US" b="1" dirty="0" err="1" smtClean="0"/>
              <a:t>btwn</a:t>
            </a:r>
            <a:r>
              <a:rPr lang="en-US" b="1" dirty="0" smtClean="0"/>
              <a:t> the ischial spines and is about 12 cm(10-11cm) </a:t>
            </a:r>
            <a:endParaRPr lang="en-US" b="1" dirty="0"/>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457200" y="1828800"/>
          <a:ext cx="8305800" cy="2838450"/>
        </p:xfrm>
        <a:graphic>
          <a:graphicData uri="http://schemas.openxmlformats.org/drawingml/2006/table">
            <a:tbl>
              <a:tblPr firstRow="1" bandRow="1">
                <a:tableStyleId>{5C22544A-7EE6-4342-B048-85BDC9FD1C3A}</a:tableStyleId>
              </a:tblPr>
              <a:tblGrid>
                <a:gridCol w="2076450">
                  <a:extLst>
                    <a:ext uri="{9D8B030D-6E8A-4147-A177-3AD203B41FA5}">
                      <a16:colId xmlns:a16="http://schemas.microsoft.com/office/drawing/2014/main" val="20000"/>
                    </a:ext>
                  </a:extLst>
                </a:gridCol>
                <a:gridCol w="2076450">
                  <a:extLst>
                    <a:ext uri="{9D8B030D-6E8A-4147-A177-3AD203B41FA5}">
                      <a16:colId xmlns:a16="http://schemas.microsoft.com/office/drawing/2014/main" val="20001"/>
                    </a:ext>
                  </a:extLst>
                </a:gridCol>
                <a:gridCol w="2076450">
                  <a:extLst>
                    <a:ext uri="{9D8B030D-6E8A-4147-A177-3AD203B41FA5}">
                      <a16:colId xmlns:a16="http://schemas.microsoft.com/office/drawing/2014/main" val="20002"/>
                    </a:ext>
                  </a:extLst>
                </a:gridCol>
                <a:gridCol w="2076450">
                  <a:extLst>
                    <a:ext uri="{9D8B030D-6E8A-4147-A177-3AD203B41FA5}">
                      <a16:colId xmlns:a16="http://schemas.microsoft.com/office/drawing/2014/main" val="20003"/>
                    </a:ext>
                  </a:extLst>
                </a:gridCol>
              </a:tblGrid>
              <a:tr h="838200">
                <a:tc>
                  <a:txBody>
                    <a:bodyPr/>
                    <a:lstStyle/>
                    <a:p>
                      <a:r>
                        <a:rPr lang="en-US" sz="2400" b="1" dirty="0" smtClean="0"/>
                        <a:t>Diameters</a:t>
                      </a:r>
                      <a:endParaRPr lang="en-US" sz="2400" b="1" dirty="0"/>
                    </a:p>
                  </a:txBody>
                  <a:tcPr/>
                </a:tc>
                <a:tc>
                  <a:txBody>
                    <a:bodyPr/>
                    <a:lstStyle/>
                    <a:p>
                      <a:r>
                        <a:rPr lang="en-US" sz="2400" b="0" dirty="0" smtClean="0"/>
                        <a:t>anteroposterior</a:t>
                      </a:r>
                      <a:endParaRPr lang="en-US" sz="2400" b="0" dirty="0"/>
                    </a:p>
                  </a:txBody>
                  <a:tcPr/>
                </a:tc>
                <a:tc>
                  <a:txBody>
                    <a:bodyPr/>
                    <a:lstStyle/>
                    <a:p>
                      <a:r>
                        <a:rPr lang="en-US" sz="2400" b="1" dirty="0" smtClean="0"/>
                        <a:t>oblique</a:t>
                      </a:r>
                      <a:endParaRPr lang="en-US" sz="2400" b="1" dirty="0"/>
                    </a:p>
                  </a:txBody>
                  <a:tcPr/>
                </a:tc>
                <a:tc>
                  <a:txBody>
                    <a:bodyPr/>
                    <a:lstStyle/>
                    <a:p>
                      <a:r>
                        <a:rPr lang="en-US" sz="2400" b="1" dirty="0" smtClean="0"/>
                        <a:t>transverse</a:t>
                      </a:r>
                      <a:endParaRPr lang="en-US" sz="2400" b="1" dirty="0"/>
                    </a:p>
                  </a:txBody>
                  <a:tcPr/>
                </a:tc>
                <a:extLst>
                  <a:ext uri="{0D108BD9-81ED-4DB2-BD59-A6C34878D82A}">
                    <a16:rowId xmlns:a16="http://schemas.microsoft.com/office/drawing/2014/main" val="10000"/>
                  </a:ext>
                </a:extLst>
              </a:tr>
              <a:tr h="666750">
                <a:tc>
                  <a:txBody>
                    <a:bodyPr/>
                    <a:lstStyle/>
                    <a:p>
                      <a:r>
                        <a:rPr lang="en-US" sz="2400" b="1" dirty="0" smtClean="0"/>
                        <a:t>Brim</a:t>
                      </a:r>
                      <a:endParaRPr lang="en-US" sz="2400" b="1" dirty="0"/>
                    </a:p>
                  </a:txBody>
                  <a:tcPr/>
                </a:tc>
                <a:tc>
                  <a:txBody>
                    <a:bodyPr/>
                    <a:lstStyle/>
                    <a:p>
                      <a:r>
                        <a:rPr lang="en-US" sz="2400" b="1" dirty="0" smtClean="0"/>
                        <a:t>11cm</a:t>
                      </a:r>
                      <a:endParaRPr lang="en-US" sz="2400" b="1" dirty="0"/>
                    </a:p>
                  </a:txBody>
                  <a:tcPr/>
                </a:tc>
                <a:tc>
                  <a:txBody>
                    <a:bodyPr/>
                    <a:lstStyle/>
                    <a:p>
                      <a:r>
                        <a:rPr lang="en-US" sz="2400" b="1" dirty="0" smtClean="0"/>
                        <a:t>12cm</a:t>
                      </a:r>
                      <a:endParaRPr lang="en-US" sz="2400" b="1" dirty="0"/>
                    </a:p>
                  </a:txBody>
                  <a:tcPr/>
                </a:tc>
                <a:tc>
                  <a:txBody>
                    <a:bodyPr/>
                    <a:lstStyle/>
                    <a:p>
                      <a:r>
                        <a:rPr lang="en-US" sz="2400" b="1" dirty="0" smtClean="0"/>
                        <a:t>13cm</a:t>
                      </a:r>
                      <a:endParaRPr lang="en-US" sz="2400" b="1" dirty="0"/>
                    </a:p>
                  </a:txBody>
                  <a:tcPr/>
                </a:tc>
                <a:extLst>
                  <a:ext uri="{0D108BD9-81ED-4DB2-BD59-A6C34878D82A}">
                    <a16:rowId xmlns:a16="http://schemas.microsoft.com/office/drawing/2014/main" val="10001"/>
                  </a:ext>
                </a:extLst>
              </a:tr>
              <a:tr h="666750">
                <a:tc>
                  <a:txBody>
                    <a:bodyPr/>
                    <a:lstStyle/>
                    <a:p>
                      <a:r>
                        <a:rPr lang="en-US" sz="2400" b="1" dirty="0" smtClean="0"/>
                        <a:t>Cavity</a:t>
                      </a:r>
                      <a:endParaRPr lang="en-US" sz="2400" b="1" dirty="0"/>
                    </a:p>
                  </a:txBody>
                  <a:tcPr/>
                </a:tc>
                <a:tc>
                  <a:txBody>
                    <a:bodyPr/>
                    <a:lstStyle/>
                    <a:p>
                      <a:r>
                        <a:rPr lang="en-US" sz="2400" b="1" dirty="0" smtClean="0"/>
                        <a:t>12cm</a:t>
                      </a:r>
                      <a:endParaRPr lang="en-US" sz="2400" b="1" dirty="0"/>
                    </a:p>
                  </a:txBody>
                  <a:tcPr/>
                </a:tc>
                <a:tc>
                  <a:txBody>
                    <a:bodyPr/>
                    <a:lstStyle/>
                    <a:p>
                      <a:r>
                        <a:rPr lang="en-US" sz="2400" b="1" dirty="0" smtClean="0"/>
                        <a:t>12cm</a:t>
                      </a:r>
                      <a:endParaRPr lang="en-US" sz="2400" b="1" dirty="0"/>
                    </a:p>
                  </a:txBody>
                  <a:tcPr/>
                </a:tc>
                <a:tc>
                  <a:txBody>
                    <a:bodyPr/>
                    <a:lstStyle/>
                    <a:p>
                      <a:r>
                        <a:rPr lang="en-US" sz="2400" b="1" dirty="0" smtClean="0"/>
                        <a:t>12cm</a:t>
                      </a:r>
                      <a:endParaRPr lang="en-US" sz="2400" b="1" dirty="0"/>
                    </a:p>
                  </a:txBody>
                  <a:tcPr/>
                </a:tc>
                <a:extLst>
                  <a:ext uri="{0D108BD9-81ED-4DB2-BD59-A6C34878D82A}">
                    <a16:rowId xmlns:a16="http://schemas.microsoft.com/office/drawing/2014/main" val="10002"/>
                  </a:ext>
                </a:extLst>
              </a:tr>
              <a:tr h="666750">
                <a:tc>
                  <a:txBody>
                    <a:bodyPr/>
                    <a:lstStyle/>
                    <a:p>
                      <a:r>
                        <a:rPr lang="en-US" sz="2400" b="1" dirty="0" smtClean="0"/>
                        <a:t>outlet</a:t>
                      </a:r>
                      <a:endParaRPr lang="en-US" sz="2400" b="1" dirty="0"/>
                    </a:p>
                  </a:txBody>
                  <a:tcPr/>
                </a:tc>
                <a:tc>
                  <a:txBody>
                    <a:bodyPr/>
                    <a:lstStyle/>
                    <a:p>
                      <a:r>
                        <a:rPr lang="en-US" sz="2400" b="1" dirty="0" smtClean="0"/>
                        <a:t>13cm</a:t>
                      </a:r>
                      <a:endParaRPr lang="en-US" sz="2400" b="1" dirty="0"/>
                    </a:p>
                  </a:txBody>
                  <a:tcPr/>
                </a:tc>
                <a:tc>
                  <a:txBody>
                    <a:bodyPr/>
                    <a:lstStyle/>
                    <a:p>
                      <a:r>
                        <a:rPr lang="en-US" sz="2400" b="1" dirty="0" smtClean="0"/>
                        <a:t>12cm</a:t>
                      </a:r>
                      <a:endParaRPr lang="en-US" sz="2400" b="1" dirty="0"/>
                    </a:p>
                  </a:txBody>
                  <a:tcPr/>
                </a:tc>
                <a:tc>
                  <a:txBody>
                    <a:bodyPr/>
                    <a:lstStyle/>
                    <a:p>
                      <a:r>
                        <a:rPr lang="en-US" sz="2400" b="1" dirty="0" smtClean="0"/>
                        <a:t>11cm</a:t>
                      </a:r>
                      <a:endParaRPr lang="en-US" sz="2400" b="1" dirty="0"/>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Pelvic floor</a:t>
            </a:r>
            <a:endParaRPr lang="en-US" dirty="0"/>
          </a:p>
        </p:txBody>
      </p:sp>
      <p:sp>
        <p:nvSpPr>
          <p:cNvPr id="3" name="Content Placeholder 2"/>
          <p:cNvSpPr>
            <a:spLocks noGrp="1"/>
          </p:cNvSpPr>
          <p:nvPr>
            <p:ph idx="1"/>
          </p:nvPr>
        </p:nvSpPr>
        <p:spPr/>
        <p:txBody>
          <a:bodyPr>
            <a:normAutofit/>
          </a:bodyPr>
          <a:lstStyle/>
          <a:p>
            <a:r>
              <a:rPr lang="en-US" sz="3200" b="1" dirty="0" smtClean="0"/>
              <a:t>It is formed by soft tissues which fill the outlet of the pelvis</a:t>
            </a:r>
          </a:p>
          <a:p>
            <a:r>
              <a:rPr lang="en-US" sz="3200" b="1" dirty="0" smtClean="0"/>
              <a:t>It is made up of:-</a:t>
            </a:r>
          </a:p>
          <a:p>
            <a:pPr lvl="1"/>
            <a:r>
              <a:rPr lang="en-US" sz="3200" b="1" dirty="0" smtClean="0"/>
              <a:t>Skin and subcutaneous fat</a:t>
            </a:r>
          </a:p>
          <a:p>
            <a:pPr lvl="1"/>
            <a:r>
              <a:rPr lang="en-US" sz="3200" b="1" dirty="0" smtClean="0"/>
              <a:t>Superficial muscles</a:t>
            </a:r>
          </a:p>
          <a:p>
            <a:pPr lvl="1"/>
            <a:r>
              <a:rPr lang="en-US" sz="3200" b="1" dirty="0" smtClean="0"/>
              <a:t>Deep pelvic muscles</a:t>
            </a:r>
          </a:p>
          <a:p>
            <a:pPr lvl="1"/>
            <a:r>
              <a:rPr lang="en-US" sz="3200" b="1" dirty="0" smtClean="0"/>
              <a:t>Pelvic ligaments and peritoneum</a:t>
            </a: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Muscle layer of the pelvic floor</a:t>
            </a:r>
            <a:endParaRPr lang="en-US" dirty="0"/>
          </a:p>
        </p:txBody>
      </p:sp>
      <p:sp>
        <p:nvSpPr>
          <p:cNvPr id="3" name="Content Placeholder 2"/>
          <p:cNvSpPr>
            <a:spLocks noGrp="1"/>
          </p:cNvSpPr>
          <p:nvPr>
            <p:ph idx="1"/>
          </p:nvPr>
        </p:nvSpPr>
        <p:spPr/>
        <p:txBody>
          <a:bodyPr>
            <a:normAutofit fontScale="92500" lnSpcReduction="10000"/>
          </a:bodyPr>
          <a:lstStyle/>
          <a:p>
            <a:pPr algn="ctr">
              <a:buNone/>
            </a:pPr>
            <a:r>
              <a:rPr lang="en-US" sz="3200" b="1" i="1" dirty="0" smtClean="0">
                <a:solidFill>
                  <a:srgbClr val="FF0000"/>
                </a:solidFill>
              </a:rPr>
              <a:t>Superficial layer</a:t>
            </a:r>
          </a:p>
          <a:p>
            <a:r>
              <a:rPr lang="en-US" sz="3200" b="1" dirty="0" smtClean="0"/>
              <a:t>The external anal sphincter- surrounds the anus and is attached to the coccyx</a:t>
            </a:r>
          </a:p>
          <a:p>
            <a:r>
              <a:rPr lang="en-US" sz="3200" b="1" dirty="0" smtClean="0"/>
              <a:t>The transverse perineal muscles passes from the ischial tuberosities to the centre of the perineum.</a:t>
            </a:r>
          </a:p>
          <a:p>
            <a:r>
              <a:rPr lang="en-US" sz="3200" b="1" dirty="0" smtClean="0"/>
              <a:t>The bulbo-carvenosus muscle passes from the perineum, surrounds the vagina and is inserted to the corpora carvenosa of the clitoris</a:t>
            </a:r>
            <a:endParaRPr lang="en-US" sz="3200" b="1" dirty="0"/>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b="1" dirty="0" smtClean="0"/>
              <a:t> the ischial-</a:t>
            </a:r>
            <a:r>
              <a:rPr lang="en-US" sz="3200" b="1" dirty="0" err="1" smtClean="0"/>
              <a:t>carvenosus</a:t>
            </a:r>
            <a:r>
              <a:rPr lang="en-US" sz="3200" b="1" dirty="0" smtClean="0"/>
              <a:t> muscles pass from the ischial tuberosities to the corpora carvenosa</a:t>
            </a:r>
          </a:p>
          <a:p>
            <a:r>
              <a:rPr lang="en-US" sz="3200" b="1" dirty="0" smtClean="0"/>
              <a:t>Membranous sphincter of the urethra- muscle fibers pass above and below the urethra to attach to the pubic bones</a:t>
            </a:r>
            <a:endParaRPr lang="en-US" sz="3200" b="1" dirty="0"/>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609600" y="1600200"/>
            <a:ext cx="6324600" cy="5105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ctr">
              <a:buNone/>
            </a:pPr>
            <a:r>
              <a:rPr lang="en-US" b="1" dirty="0" smtClean="0">
                <a:solidFill>
                  <a:srgbClr val="00B0F0"/>
                </a:solidFill>
              </a:rPr>
              <a:t>The deep layers</a:t>
            </a:r>
          </a:p>
          <a:p>
            <a:r>
              <a:rPr lang="en-US" b="1" dirty="0" smtClean="0"/>
              <a:t>Composed of three layers of muscles which are collectively known as levator ani muscles.</a:t>
            </a:r>
          </a:p>
          <a:p>
            <a:r>
              <a:rPr lang="en-US" b="1" dirty="0" smtClean="0"/>
              <a:t>Pubococcygeus muscle passes from the pubis to the coccyx</a:t>
            </a:r>
          </a:p>
          <a:p>
            <a:r>
              <a:rPr lang="en-US" b="1" dirty="0" smtClean="0"/>
              <a:t>Iliococcygeus muscle passes from the fascia covering the obturator internus muscle to the coccyx.</a:t>
            </a:r>
          </a:p>
          <a:p>
            <a:r>
              <a:rPr lang="en-US" b="1" dirty="0" smtClean="0"/>
              <a:t>Ischio-coccygeus muscle passes from the ischial spines to the coccyx.</a:t>
            </a:r>
            <a:endParaRPr lang="en-US" b="1" dirty="0"/>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buNone/>
            </a:pPr>
            <a:r>
              <a:rPr lang="en-US" sz="3200" b="1" dirty="0" smtClean="0">
                <a:solidFill>
                  <a:srgbClr val="00B0F0"/>
                </a:solidFill>
              </a:rPr>
              <a:t>The perineal body</a:t>
            </a:r>
          </a:p>
          <a:p>
            <a:r>
              <a:rPr lang="en-US" sz="2800" b="1" dirty="0" smtClean="0"/>
              <a:t>This is a pyramidal fibromascular structure which lies </a:t>
            </a:r>
            <a:r>
              <a:rPr lang="en-US" sz="2800" b="1" dirty="0" err="1" smtClean="0"/>
              <a:t>btwn</a:t>
            </a:r>
            <a:r>
              <a:rPr lang="en-US" sz="2800" b="1" dirty="0" smtClean="0"/>
              <a:t> the vagina and the anal canal.</a:t>
            </a:r>
          </a:p>
          <a:p>
            <a:r>
              <a:rPr lang="en-US" sz="2800" b="1" dirty="0" smtClean="0"/>
              <a:t>It gives attachment to perineal muscles.</a:t>
            </a:r>
          </a:p>
          <a:p>
            <a:r>
              <a:rPr lang="en-US" sz="2800" b="1" dirty="0" smtClean="0"/>
              <a:t>During the second stage of labor, the perineal body is flattened by the descending head and perineum elongates becoming more liable to tear.</a:t>
            </a:r>
            <a:endParaRPr lang="en-US" sz="2800" b="1" dirty="0"/>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fertilization</a:t>
            </a:r>
            <a:endParaRPr lang="en-US" dirty="0"/>
          </a:p>
        </p:txBody>
      </p:sp>
      <p:sp>
        <p:nvSpPr>
          <p:cNvPr id="3" name="Content Placeholder 2"/>
          <p:cNvSpPr>
            <a:spLocks noGrp="1"/>
          </p:cNvSpPr>
          <p:nvPr>
            <p:ph idx="1"/>
          </p:nvPr>
        </p:nvSpPr>
        <p:spPr/>
        <p:txBody>
          <a:bodyPr>
            <a:normAutofit lnSpcReduction="10000"/>
          </a:bodyPr>
          <a:lstStyle/>
          <a:p>
            <a:r>
              <a:rPr lang="en-US" sz="3200" b="1" dirty="0" smtClean="0"/>
              <a:t>The process by which the sperm fuses with an ovum to form a new diploid cell called a zygote</a:t>
            </a:r>
          </a:p>
          <a:p>
            <a:r>
              <a:rPr lang="en-US" sz="3200" b="1" dirty="0" smtClean="0"/>
              <a:t>The oocyte reaches the peritoneal cavity after it is released.</a:t>
            </a:r>
          </a:p>
          <a:p>
            <a:r>
              <a:rPr lang="en-US" sz="3200" b="1" dirty="0" smtClean="0"/>
              <a:t>Fimbria ovarica together with infundibulo-pelvic ligament of the ovary draws the tube over the ovary by their contraction.</a:t>
            </a: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b="1" dirty="0" smtClean="0"/>
              <a:t>The oocyte is then directed into the tube and transported by the cilliary movement and peristaltic contractions.</a:t>
            </a:r>
          </a:p>
          <a:p>
            <a:r>
              <a:rPr lang="en-US" sz="3200" b="1" dirty="0" smtClean="0"/>
              <a:t>The oocyte reaches the upper third of ovarian tube where fertilization usually takes place within 24 hours </a:t>
            </a:r>
          </a:p>
          <a:p>
            <a:endParaRPr lang="en-US" dirty="0"/>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b="1" dirty="0" smtClean="0"/>
              <a:t>After fertile coitus, the sperms reaches the uterine tubes after approximately one hour.</a:t>
            </a:r>
          </a:p>
          <a:p>
            <a:r>
              <a:rPr lang="en-US" sz="3200" b="1" dirty="0" smtClean="0"/>
              <a:t>The viability of ovum after ovulation is about 12-14 hrs, while the sperms is about 3-4 days. This is the period which fertilization can take place.</a:t>
            </a:r>
            <a:endParaRPr lang="en-US" sz="3200" b="1" dirty="0"/>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sz="3200" b="1" dirty="0" smtClean="0"/>
              <a:t>On reaching the ovum, the sperms releases </a:t>
            </a:r>
            <a:r>
              <a:rPr lang="en-US" sz="3200" b="1" dirty="0" err="1" smtClean="0"/>
              <a:t>hyaluronic</a:t>
            </a:r>
            <a:r>
              <a:rPr lang="en-US" sz="3200" b="1" dirty="0" smtClean="0"/>
              <a:t> acid which digests the corona </a:t>
            </a:r>
            <a:r>
              <a:rPr lang="en-US" sz="3200" b="1" dirty="0" err="1" smtClean="0"/>
              <a:t>radiata</a:t>
            </a:r>
            <a:r>
              <a:rPr lang="en-US" sz="3200" b="1" dirty="0" smtClean="0"/>
              <a:t> enabling the sperm to penetrate the ovum</a:t>
            </a:r>
          </a:p>
          <a:p>
            <a:r>
              <a:rPr lang="en-US" sz="3200" b="1" dirty="0" smtClean="0"/>
              <a:t>Only one sperm can penetrate the ovum</a:t>
            </a:r>
          </a:p>
          <a:p>
            <a:r>
              <a:rPr lang="en-US" sz="3200" b="1" dirty="0" smtClean="0"/>
              <a:t>After penetration, the head of the sperm becomes the male nucleus and the tail degenerates</a:t>
            </a:r>
            <a:endParaRPr lang="en-US" sz="3200" b="1" dirty="0"/>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b="1" dirty="0" smtClean="0"/>
              <a:t>The oocyte then completes the second meiotic division</a:t>
            </a:r>
          </a:p>
          <a:p>
            <a:r>
              <a:rPr lang="en-US" sz="3200" b="1" dirty="0" smtClean="0"/>
              <a:t>The two nucleus approach and fuse resulting to formation of a diploid cell, the zygote(23+23)</a:t>
            </a: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buNone/>
            </a:pPr>
            <a:r>
              <a:rPr lang="en-US" sz="3200" b="1" u="sng" dirty="0" smtClean="0">
                <a:solidFill>
                  <a:srgbClr val="00B0F0"/>
                </a:solidFill>
              </a:rPr>
              <a:t>Effects of fertilization</a:t>
            </a:r>
          </a:p>
          <a:p>
            <a:pPr marL="514350" indent="-514350">
              <a:buFont typeface="+mj-lt"/>
              <a:buAutoNum type="arabicPeriod"/>
            </a:pPr>
            <a:r>
              <a:rPr lang="en-US" sz="3200" b="1" dirty="0" smtClean="0"/>
              <a:t>Restoration of the full number of diploid chromosomes</a:t>
            </a:r>
          </a:p>
          <a:p>
            <a:pPr marL="514350" indent="-514350">
              <a:buFont typeface="+mj-lt"/>
              <a:buAutoNum type="arabicPeriod"/>
            </a:pPr>
            <a:r>
              <a:rPr lang="en-US" sz="3200" b="1" dirty="0" smtClean="0"/>
              <a:t>Determination of the sex of the new individual</a:t>
            </a:r>
          </a:p>
          <a:p>
            <a:pPr marL="514350" indent="-514350">
              <a:buFont typeface="+mj-lt"/>
              <a:buAutoNum type="arabicPeriod"/>
            </a:pPr>
            <a:r>
              <a:rPr lang="en-US" sz="3200" b="1" dirty="0" smtClean="0"/>
              <a:t>Initiation of cleavage phase or segmentation</a:t>
            </a:r>
            <a:endParaRPr lang="en-US" sz="3200" b="1" dirty="0"/>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of the zygote</a:t>
            </a:r>
            <a:endParaRPr lang="en-US" dirty="0"/>
          </a:p>
        </p:txBody>
      </p:sp>
      <p:sp>
        <p:nvSpPr>
          <p:cNvPr id="3" name="Content Placeholder 2"/>
          <p:cNvSpPr>
            <a:spLocks noGrp="1"/>
          </p:cNvSpPr>
          <p:nvPr>
            <p:ph idx="1"/>
          </p:nvPr>
        </p:nvSpPr>
        <p:spPr/>
        <p:txBody>
          <a:bodyPr/>
          <a:lstStyle/>
          <a:p>
            <a:r>
              <a:rPr lang="en-US" sz="3200" b="1" dirty="0" smtClean="0"/>
              <a:t>After fertilization, the zygote moves towards the uterus and reaches there within 3-4 days</a:t>
            </a:r>
          </a:p>
          <a:p>
            <a:r>
              <a:rPr lang="en-US" sz="3200" b="1" dirty="0" smtClean="0"/>
              <a:t>During this time, the zygote enters a period of rapid mitotic division, dividing into 2, 4, 8 and son on until a cluster of cells called morula forms </a:t>
            </a:r>
          </a:p>
          <a:p>
            <a:endParaRPr lang="en-US" dirty="0"/>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b="1" dirty="0" smtClean="0"/>
              <a:t>As the morula enters the uterus, it becomes more infiltrated with fluid and a cavity called </a:t>
            </a:r>
            <a:r>
              <a:rPr lang="en-US" sz="3200" b="1" dirty="0" smtClean="0">
                <a:solidFill>
                  <a:srgbClr val="00B0F0"/>
                </a:solidFill>
              </a:rPr>
              <a:t>blastocele </a:t>
            </a:r>
            <a:r>
              <a:rPr lang="en-US" sz="3200" b="1" dirty="0" smtClean="0"/>
              <a:t>forms.</a:t>
            </a:r>
          </a:p>
          <a:p>
            <a:r>
              <a:rPr lang="en-US" sz="3200" b="1" dirty="0" smtClean="0"/>
              <a:t>The zona pellucida disappears and the cells surrounding the cavity rapidly differentiate into an outer layer, the</a:t>
            </a:r>
            <a:r>
              <a:rPr lang="en-US" sz="3200" b="1" dirty="0" smtClean="0">
                <a:solidFill>
                  <a:srgbClr val="00B0F0"/>
                </a:solidFill>
              </a:rPr>
              <a:t> trophoblast</a:t>
            </a:r>
            <a:r>
              <a:rPr lang="en-US" sz="3200" b="1" dirty="0" smtClean="0"/>
              <a:t>, and an </a:t>
            </a:r>
            <a:r>
              <a:rPr lang="en-US" sz="3200" b="1" dirty="0" smtClean="0">
                <a:solidFill>
                  <a:srgbClr val="00B0F0"/>
                </a:solidFill>
              </a:rPr>
              <a:t>inner cell mass </a:t>
            </a:r>
            <a:r>
              <a:rPr lang="en-US" sz="3200" b="1" dirty="0" smtClean="0"/>
              <a:t>or </a:t>
            </a:r>
            <a:r>
              <a:rPr lang="en-US" sz="3200" b="1" dirty="0" smtClean="0">
                <a:solidFill>
                  <a:srgbClr val="00B0F0"/>
                </a:solidFill>
              </a:rPr>
              <a:t>embryoblast</a:t>
            </a:r>
            <a:endParaRPr lang="en-US" sz="3200" b="1" dirty="0">
              <a:solidFill>
                <a:srgbClr val="00B0F0"/>
              </a:solidFill>
            </a:endParaRPr>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b="1" dirty="0" smtClean="0"/>
              <a:t>The inner cell mass located at the embryonic pole, forms the body of the embryo and contributes to the formation of the amnion and the yolk sac.</a:t>
            </a:r>
          </a:p>
          <a:p>
            <a:r>
              <a:rPr lang="en-US" sz="3200" b="1" dirty="0" smtClean="0"/>
              <a:t>The trophoblast later develops into placenta and chorion</a:t>
            </a:r>
          </a:p>
          <a:p>
            <a:endParaRPr lang="en-US" sz="3200" b="1" dirty="0"/>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Implantation or </a:t>
            </a:r>
            <a:r>
              <a:rPr lang="en-US" dirty="0" err="1" smtClean="0"/>
              <a:t>nidation</a:t>
            </a:r>
            <a:endParaRPr lang="en-US" dirty="0"/>
          </a:p>
        </p:txBody>
      </p:sp>
      <p:sp>
        <p:nvSpPr>
          <p:cNvPr id="3" name="Content Placeholder 2"/>
          <p:cNvSpPr>
            <a:spLocks noGrp="1"/>
          </p:cNvSpPr>
          <p:nvPr>
            <p:ph idx="1"/>
          </p:nvPr>
        </p:nvSpPr>
        <p:spPr/>
        <p:txBody>
          <a:bodyPr>
            <a:noAutofit/>
          </a:bodyPr>
          <a:lstStyle/>
          <a:p>
            <a:r>
              <a:rPr lang="en-US" sz="2800" b="1" dirty="0" smtClean="0"/>
              <a:t>The blastocyst attach to the endometrium for nourishment</a:t>
            </a:r>
          </a:p>
          <a:p>
            <a:r>
              <a:rPr lang="en-US" sz="2800" b="1" dirty="0" smtClean="0"/>
              <a:t>The trophoblastic cells divides rapidly and differentiate into two layers.</a:t>
            </a:r>
          </a:p>
          <a:p>
            <a:r>
              <a:rPr lang="en-US" sz="2800" b="1" dirty="0" smtClean="0"/>
              <a:t>The inner layer is termed cytotrophoblast and the outer syncytiotrophoblast</a:t>
            </a:r>
          </a:p>
          <a:p>
            <a:r>
              <a:rPr lang="en-US" sz="2800" b="1" dirty="0" smtClean="0"/>
              <a:t>The syncytiotroblasts are highly invasive and expands within the endometrium </a:t>
            </a:r>
            <a:endParaRPr lang="en-US" sz="2800" b="1" dirty="0"/>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b="1" dirty="0" smtClean="0"/>
              <a:t>At this stage, the uterine mucosa is called the </a:t>
            </a:r>
            <a:r>
              <a:rPr lang="en-US" sz="3200" b="1" dirty="0" smtClean="0">
                <a:solidFill>
                  <a:srgbClr val="00B0F0"/>
                </a:solidFill>
              </a:rPr>
              <a:t>decidua.</a:t>
            </a:r>
          </a:p>
          <a:p>
            <a:r>
              <a:rPr lang="en-US" sz="3200" b="1" dirty="0" smtClean="0"/>
              <a:t>The layer of the decidua that covers the blastocyst is called </a:t>
            </a:r>
            <a:r>
              <a:rPr lang="en-US" sz="3200" b="1" dirty="0" smtClean="0">
                <a:solidFill>
                  <a:srgbClr val="00B0F0"/>
                </a:solidFill>
              </a:rPr>
              <a:t>decidua capsularis</a:t>
            </a:r>
            <a:r>
              <a:rPr lang="en-US" sz="3200" b="1" dirty="0" smtClean="0"/>
              <a:t>, where the blastocyst rests </a:t>
            </a:r>
            <a:r>
              <a:rPr lang="en-US" sz="3200" b="1" dirty="0" smtClean="0">
                <a:solidFill>
                  <a:srgbClr val="00B0F0"/>
                </a:solidFill>
              </a:rPr>
              <a:t>decidua basalis </a:t>
            </a:r>
            <a:r>
              <a:rPr lang="en-US" sz="3200" b="1" dirty="0" smtClean="0"/>
              <a:t>and the rest is </a:t>
            </a:r>
            <a:r>
              <a:rPr lang="en-US" sz="3200" b="1" dirty="0" smtClean="0">
                <a:solidFill>
                  <a:srgbClr val="00B0F0"/>
                </a:solidFill>
              </a:rPr>
              <a:t>decidua parietalis</a:t>
            </a:r>
            <a:endParaRPr lang="en-US" sz="3200" b="1" dirty="0">
              <a:solidFill>
                <a:srgbClr val="00B0F0"/>
              </a:solidFill>
            </a:endParaRPr>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Embryo development</a:t>
            </a:r>
            <a:endParaRPr lang="en-US" dirty="0"/>
          </a:p>
        </p:txBody>
      </p:sp>
      <p:sp>
        <p:nvSpPr>
          <p:cNvPr id="3" name="Content Placeholder 2"/>
          <p:cNvSpPr>
            <a:spLocks noGrp="1"/>
          </p:cNvSpPr>
          <p:nvPr>
            <p:ph idx="1"/>
          </p:nvPr>
        </p:nvSpPr>
        <p:spPr/>
        <p:txBody>
          <a:bodyPr/>
          <a:lstStyle/>
          <a:p>
            <a:r>
              <a:rPr lang="en-US" sz="3200" b="1" dirty="0" smtClean="0"/>
              <a:t>10-14 days post conception, the inner cell mass continues to proliferate and segregates into three primitive germ layers. All the organs and body tissues develop from these layers</a:t>
            </a:r>
          </a:p>
          <a:p>
            <a:pPr lvl="1"/>
            <a:r>
              <a:rPr lang="en-US" sz="2800" b="1" dirty="0" smtClean="0">
                <a:solidFill>
                  <a:srgbClr val="00B0F0"/>
                </a:solidFill>
              </a:rPr>
              <a:t>ectoderm</a:t>
            </a:r>
            <a:r>
              <a:rPr lang="en-US" sz="2800" b="1" dirty="0" smtClean="0"/>
              <a:t>- forms the epidermis, nails, lens of the eye, central and peripheral nervous system, sensory epithelium, mammary glands etc</a:t>
            </a:r>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b="1" dirty="0" smtClean="0"/>
              <a:t>Mesoderm- forms the dermis, digestive tract walls, kidneys, reproductive glands, skeleton, connective tissues and muscles</a:t>
            </a:r>
          </a:p>
          <a:p>
            <a:r>
              <a:rPr lang="en-US" sz="3200" b="1" dirty="0" smtClean="0"/>
              <a:t>Endoderm- forms the respiratory tract, urinary tract system, digestive tract lining etc.</a:t>
            </a:r>
            <a:endParaRPr lang="en-US" sz="3200" b="1" dirty="0"/>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of the placenta</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trophoblast develops into the placenta from about three weeks after fertilization</a:t>
            </a:r>
          </a:p>
          <a:p>
            <a:r>
              <a:rPr lang="en-US" dirty="0" smtClean="0"/>
              <a:t>The chorionic villi forms and proliferate mostly at the area where blood supply is high, </a:t>
            </a:r>
            <a:r>
              <a:rPr lang="en-US" dirty="0" err="1" smtClean="0"/>
              <a:t>ie</a:t>
            </a:r>
            <a:r>
              <a:rPr lang="en-US" dirty="0" smtClean="0"/>
              <a:t>, basal decidua</a:t>
            </a:r>
          </a:p>
          <a:p>
            <a:r>
              <a:rPr lang="en-US" dirty="0" smtClean="0"/>
              <a:t>They form the chorionic </a:t>
            </a:r>
            <a:r>
              <a:rPr lang="en-US" dirty="0" err="1" smtClean="0"/>
              <a:t>frodosum</a:t>
            </a:r>
            <a:r>
              <a:rPr lang="en-US" dirty="0" smtClean="0"/>
              <a:t> that later forms the placenta</a:t>
            </a:r>
          </a:p>
          <a:p>
            <a:r>
              <a:rPr lang="en-US" dirty="0" smtClean="0"/>
              <a:t>The villi erode the walls of maternal  vessels  as they penetrate the decidua forming the pool of blood inn which they float</a:t>
            </a:r>
            <a:endParaRPr 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Chorionic </a:t>
            </a:r>
            <a:r>
              <a:rPr lang="en-US" dirty="0" err="1" smtClean="0"/>
              <a:t>villus</a:t>
            </a:r>
            <a:endParaRPr lang="en-US" dirty="0"/>
          </a:p>
        </p:txBody>
      </p:sp>
      <p:sp>
        <p:nvSpPr>
          <p:cNvPr id="3" name="Content Placeholder 2"/>
          <p:cNvSpPr>
            <a:spLocks noGrp="1"/>
          </p:cNvSpPr>
          <p:nvPr>
            <p:ph idx="1"/>
          </p:nvPr>
        </p:nvSpPr>
        <p:spPr/>
        <p:txBody>
          <a:bodyPr>
            <a:normAutofit lnSpcReduction="10000"/>
          </a:bodyPr>
          <a:lstStyle/>
          <a:p>
            <a:r>
              <a:rPr lang="en-US" dirty="0" smtClean="0"/>
              <a:t>Is a branching structure arising from one stem with a centre consisting  of mesoderm and blood vessels that are branches of umbilical arteries and vein.</a:t>
            </a:r>
          </a:p>
          <a:p>
            <a:r>
              <a:rPr lang="en-US" dirty="0" smtClean="0"/>
              <a:t>The </a:t>
            </a:r>
            <a:r>
              <a:rPr lang="en-US" dirty="0" err="1" smtClean="0"/>
              <a:t>villus</a:t>
            </a:r>
            <a:r>
              <a:rPr lang="en-US" dirty="0" smtClean="0"/>
              <a:t> divides and subdivides until it ends as fine filaments that are embedded in the decidua basalis.</a:t>
            </a:r>
          </a:p>
          <a:p>
            <a:r>
              <a:rPr lang="en-US" dirty="0" smtClean="0"/>
              <a:t>By their selective action, they absorb substances by the developing embryo from the maternal blood </a:t>
            </a:r>
            <a:endParaRPr 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Embryonic membranes/ fetal sac</a:t>
            </a:r>
            <a:endParaRPr lang="en-US" dirty="0"/>
          </a:p>
        </p:txBody>
      </p:sp>
      <p:sp>
        <p:nvSpPr>
          <p:cNvPr id="3" name="Content Placeholder 2"/>
          <p:cNvSpPr>
            <a:spLocks noGrp="1"/>
          </p:cNvSpPr>
          <p:nvPr>
            <p:ph idx="1"/>
          </p:nvPr>
        </p:nvSpPr>
        <p:spPr/>
        <p:txBody>
          <a:bodyPr/>
          <a:lstStyle/>
          <a:p>
            <a:r>
              <a:rPr lang="en-US" dirty="0" smtClean="0"/>
              <a:t>Consist of two membranes:</a:t>
            </a:r>
          </a:p>
          <a:p>
            <a:pPr lvl="1"/>
            <a:r>
              <a:rPr lang="en-US" dirty="0" smtClean="0"/>
              <a:t>Chorion</a:t>
            </a:r>
          </a:p>
          <a:p>
            <a:pPr lvl="1"/>
            <a:r>
              <a:rPr lang="en-US" dirty="0" smtClean="0"/>
              <a:t>Amnion</a:t>
            </a:r>
          </a:p>
          <a:p>
            <a:r>
              <a:rPr lang="en-US" dirty="0" smtClean="0"/>
              <a:t>They begin to form at the time of implantation</a:t>
            </a:r>
          </a:p>
          <a:p>
            <a:pPr>
              <a:buNone/>
            </a:pPr>
            <a:endParaRPr 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chorion</a:t>
            </a:r>
            <a:endParaRPr lang="en-US" dirty="0"/>
          </a:p>
        </p:txBody>
      </p:sp>
      <p:sp>
        <p:nvSpPr>
          <p:cNvPr id="3" name="Content Placeholder 2"/>
          <p:cNvSpPr>
            <a:spLocks noGrp="1"/>
          </p:cNvSpPr>
          <p:nvPr>
            <p:ph idx="1"/>
          </p:nvPr>
        </p:nvSpPr>
        <p:spPr/>
        <p:txBody>
          <a:bodyPr>
            <a:normAutofit/>
          </a:bodyPr>
          <a:lstStyle/>
          <a:p>
            <a:r>
              <a:rPr lang="en-US" dirty="0" smtClean="0"/>
              <a:t>It is the outer membrane and encloses the amnion, embryo and the yoke sac</a:t>
            </a:r>
          </a:p>
          <a:p>
            <a:r>
              <a:rPr lang="en-US" dirty="0" smtClean="0"/>
              <a:t>Has the following features</a:t>
            </a:r>
          </a:p>
          <a:p>
            <a:pPr lvl="1"/>
            <a:r>
              <a:rPr lang="en-US" dirty="0" smtClean="0"/>
              <a:t>It is opaque</a:t>
            </a:r>
          </a:p>
          <a:p>
            <a:pPr lvl="1"/>
            <a:r>
              <a:rPr lang="en-US" dirty="0" smtClean="0"/>
              <a:t>It is thick</a:t>
            </a:r>
          </a:p>
          <a:p>
            <a:pPr lvl="1"/>
            <a:r>
              <a:rPr lang="en-US" dirty="0" smtClean="0"/>
              <a:t>It is friable (easy to tear)</a:t>
            </a:r>
          </a:p>
          <a:p>
            <a:pPr lvl="1"/>
            <a:r>
              <a:rPr lang="en-US" dirty="0" smtClean="0"/>
              <a:t>Found on the maternal side of the placenta</a:t>
            </a:r>
          </a:p>
          <a:p>
            <a:pPr lvl="1"/>
            <a:r>
              <a:rPr lang="en-US" dirty="0" smtClean="0"/>
              <a:t>Can be peeled to the margin of placenta</a:t>
            </a:r>
          </a:p>
          <a:p>
            <a:endParaRPr 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amnion</a:t>
            </a:r>
            <a:endParaRPr lang="en-US" dirty="0"/>
          </a:p>
        </p:txBody>
      </p:sp>
      <p:sp>
        <p:nvSpPr>
          <p:cNvPr id="3" name="Content Placeholder 2"/>
          <p:cNvSpPr>
            <a:spLocks noGrp="1"/>
          </p:cNvSpPr>
          <p:nvPr>
            <p:ph idx="1"/>
          </p:nvPr>
        </p:nvSpPr>
        <p:spPr/>
        <p:txBody>
          <a:bodyPr/>
          <a:lstStyle/>
          <a:p>
            <a:r>
              <a:rPr lang="en-US" dirty="0" smtClean="0"/>
              <a:t>It originates from the </a:t>
            </a:r>
            <a:r>
              <a:rPr lang="en-US" dirty="0" err="1" smtClean="0"/>
              <a:t>ecto</a:t>
            </a:r>
            <a:r>
              <a:rPr lang="en-US" dirty="0" smtClean="0"/>
              <a:t> </a:t>
            </a:r>
            <a:r>
              <a:rPr lang="en-US" dirty="0" err="1" smtClean="0"/>
              <a:t>derm</a:t>
            </a:r>
            <a:r>
              <a:rPr lang="en-US" dirty="0" smtClean="0"/>
              <a:t> and it contains the amniotic fluid.</a:t>
            </a:r>
          </a:p>
          <a:p>
            <a:r>
              <a:rPr lang="en-US" dirty="0" smtClean="0"/>
              <a:t>Has the following characteristics</a:t>
            </a:r>
          </a:p>
          <a:p>
            <a:pPr lvl="1"/>
            <a:r>
              <a:rPr lang="en-US" dirty="0" smtClean="0"/>
              <a:t>It is smooth an d tough to tear</a:t>
            </a:r>
          </a:p>
          <a:p>
            <a:pPr lvl="1"/>
            <a:r>
              <a:rPr lang="en-US" dirty="0" smtClean="0"/>
              <a:t>It is translucent</a:t>
            </a:r>
          </a:p>
          <a:p>
            <a:pPr lvl="1"/>
            <a:r>
              <a:rPr lang="en-US" dirty="0" smtClean="0"/>
              <a:t>Peels up to the insertion of the cord</a:t>
            </a:r>
          </a:p>
          <a:p>
            <a:pPr lvl="1"/>
            <a:r>
              <a:rPr lang="en-US" dirty="0" smtClean="0"/>
              <a:t>And found on the fetal side of the placenta</a:t>
            </a:r>
            <a:endParaRPr 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Amniotic fluid</a:t>
            </a:r>
            <a:endParaRPr lang="en-US" dirty="0"/>
          </a:p>
        </p:txBody>
      </p:sp>
      <p:sp>
        <p:nvSpPr>
          <p:cNvPr id="3" name="Content Placeholder 2"/>
          <p:cNvSpPr>
            <a:spLocks noGrp="1"/>
          </p:cNvSpPr>
          <p:nvPr>
            <p:ph idx="1"/>
          </p:nvPr>
        </p:nvSpPr>
        <p:spPr/>
        <p:txBody>
          <a:bodyPr>
            <a:normAutofit/>
          </a:bodyPr>
          <a:lstStyle/>
          <a:p>
            <a:r>
              <a:rPr lang="en-US" dirty="0" smtClean="0"/>
              <a:t>Also known as bag of waters</a:t>
            </a:r>
          </a:p>
          <a:p>
            <a:r>
              <a:rPr lang="en-US" dirty="0" smtClean="0"/>
              <a:t>It is the fluid found in the fetal sac that protects the floating embryo</a:t>
            </a:r>
          </a:p>
          <a:p>
            <a:r>
              <a:rPr lang="en-US" dirty="0" smtClean="0"/>
              <a:t>It is clear, pale, straw colored fluid secreted by the amnion</a:t>
            </a:r>
          </a:p>
          <a:p>
            <a:r>
              <a:rPr lang="en-US" dirty="0" smtClean="0"/>
              <a:t>Some fluid also exudes from the fetal and maternal blood, and after 10 weeks, fetal urine contributes to the volume</a:t>
            </a:r>
          </a:p>
          <a:p>
            <a:r>
              <a:rPr lang="en-US" dirty="0" smtClean="0"/>
              <a:t>Normal amount ranges from 500-1500mls</a:t>
            </a:r>
            <a:endParaRPr lang="en-US"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Constituents of the amniotic fluid</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It is slightly alkaline and contains:</a:t>
            </a:r>
          </a:p>
          <a:p>
            <a:pPr lvl="1"/>
            <a:r>
              <a:rPr lang="en-US" dirty="0" smtClean="0"/>
              <a:t>99% water</a:t>
            </a:r>
          </a:p>
          <a:p>
            <a:pPr lvl="1"/>
            <a:r>
              <a:rPr lang="en-US" dirty="0" smtClean="0"/>
              <a:t>1% is composed of</a:t>
            </a:r>
          </a:p>
          <a:p>
            <a:pPr lvl="2"/>
            <a:r>
              <a:rPr lang="en-US" dirty="0" smtClean="0"/>
              <a:t>Albumin</a:t>
            </a:r>
          </a:p>
          <a:p>
            <a:pPr lvl="2"/>
            <a:r>
              <a:rPr lang="en-US" dirty="0" smtClean="0"/>
              <a:t>Uric acid</a:t>
            </a:r>
          </a:p>
          <a:p>
            <a:pPr lvl="2"/>
            <a:r>
              <a:rPr lang="en-US" dirty="0" smtClean="0"/>
              <a:t>Creatinin</a:t>
            </a:r>
          </a:p>
          <a:p>
            <a:pPr lvl="2"/>
            <a:r>
              <a:rPr lang="en-US" dirty="0" smtClean="0"/>
              <a:t>Lecithin</a:t>
            </a:r>
          </a:p>
          <a:p>
            <a:pPr lvl="2"/>
            <a:r>
              <a:rPr lang="en-US" dirty="0" smtClean="0"/>
              <a:t>Sphingomyelin</a:t>
            </a:r>
          </a:p>
          <a:p>
            <a:pPr lvl="2"/>
            <a:r>
              <a:rPr lang="en-US" dirty="0" smtClean="0"/>
              <a:t>Vernix</a:t>
            </a:r>
          </a:p>
          <a:p>
            <a:pPr lvl="2"/>
            <a:r>
              <a:rPr lang="en-US" dirty="0" smtClean="0"/>
              <a:t>Lanugo</a:t>
            </a:r>
          </a:p>
          <a:p>
            <a:pPr lvl="2"/>
            <a:r>
              <a:rPr lang="en-US" dirty="0" smtClean="0"/>
              <a:t>Epithelial cells</a:t>
            </a:r>
          </a:p>
          <a:p>
            <a:pPr lvl="2"/>
            <a:r>
              <a:rPr lang="en-US" dirty="0" smtClean="0"/>
              <a:t>enzymes</a:t>
            </a:r>
          </a:p>
          <a:p>
            <a:endParaRPr lang="en-US" dirty="0" smtClean="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of the amniotic fluid</a:t>
            </a:r>
            <a:endParaRPr lang="en-US" dirty="0"/>
          </a:p>
        </p:txBody>
      </p:sp>
      <p:sp>
        <p:nvSpPr>
          <p:cNvPr id="3" name="Content Placeholder 2"/>
          <p:cNvSpPr>
            <a:spLocks noGrp="1"/>
          </p:cNvSpPr>
          <p:nvPr>
            <p:ph idx="1"/>
          </p:nvPr>
        </p:nvSpPr>
        <p:spPr/>
        <p:txBody>
          <a:bodyPr/>
          <a:lstStyle/>
          <a:p>
            <a:pPr marL="578358" indent="-514350">
              <a:buFont typeface="+mj-lt"/>
              <a:buAutoNum type="arabicPeriod"/>
            </a:pPr>
            <a:r>
              <a:rPr lang="en-US" dirty="0" smtClean="0"/>
              <a:t>Acts as a cushion to protect against mechanical injury</a:t>
            </a:r>
          </a:p>
          <a:p>
            <a:pPr marL="578358" indent="-514350">
              <a:buFont typeface="+mj-lt"/>
              <a:buAutoNum type="arabicPeriod"/>
            </a:pPr>
            <a:r>
              <a:rPr lang="en-US" dirty="0" smtClean="0"/>
              <a:t>It distends the amniotic sac allowing for growth and movement of fetus</a:t>
            </a:r>
          </a:p>
          <a:p>
            <a:pPr marL="578358" indent="-514350">
              <a:buFont typeface="+mj-lt"/>
              <a:buAutoNum type="arabicPeriod"/>
            </a:pPr>
            <a:r>
              <a:rPr lang="en-US" smtClean="0"/>
              <a:t>It controls the uterine embryo temperatures to about 37.2</a:t>
            </a:r>
            <a:endParaRPr lang="en-US"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r>
              <a:rPr lang="en-US" dirty="0" smtClean="0"/>
              <a:t>4. Prevents adherence of amnion and allows freedom of movement to the fetus</a:t>
            </a:r>
          </a:p>
          <a:p>
            <a:pPr>
              <a:buNone/>
            </a:pPr>
            <a:r>
              <a:rPr lang="en-US" dirty="0" smtClean="0"/>
              <a:t>5. It equalizes uterine pressure during labor</a:t>
            </a:r>
          </a:p>
          <a:p>
            <a:pPr>
              <a:buNone/>
            </a:pPr>
            <a:r>
              <a:rPr lang="en-US" dirty="0" smtClean="0"/>
              <a:t>6. Assists in cervical dilatation especially when the presenting part is poorly applied</a:t>
            </a:r>
          </a:p>
          <a:p>
            <a:pPr>
              <a:buNone/>
            </a:pPr>
            <a:r>
              <a:rPr lang="en-US" dirty="0" smtClean="0"/>
              <a:t>7. Provides some amounts of nutrients.</a:t>
            </a:r>
            <a:endParaRPr lang="en-US"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mature placenta</a:t>
            </a:r>
            <a:endParaRPr lang="en-US" dirty="0"/>
          </a:p>
        </p:txBody>
      </p:sp>
      <p:sp>
        <p:nvSpPr>
          <p:cNvPr id="3" name="Content Placeholder 2"/>
          <p:cNvSpPr>
            <a:spLocks noGrp="1"/>
          </p:cNvSpPr>
          <p:nvPr>
            <p:ph idx="1"/>
          </p:nvPr>
        </p:nvSpPr>
        <p:spPr/>
        <p:txBody>
          <a:bodyPr/>
          <a:lstStyle/>
          <a:p>
            <a:r>
              <a:rPr lang="en-US" dirty="0" smtClean="0"/>
              <a:t>The placenta at term is a flat mass about 20 cm in diameter and 2.5cm thick.</a:t>
            </a:r>
          </a:p>
          <a:p>
            <a:r>
              <a:rPr lang="en-US" dirty="0" smtClean="0"/>
              <a:t>It weighs approximately 1/6 of the baby’s weight.</a:t>
            </a:r>
          </a:p>
          <a:p>
            <a:r>
              <a:rPr lang="en-US" dirty="0" smtClean="0"/>
              <a:t>The placenta has two surfaces </a:t>
            </a:r>
            <a:r>
              <a:rPr lang="en-US" dirty="0" err="1" smtClean="0"/>
              <a:t>ie</a:t>
            </a:r>
            <a:r>
              <a:rPr lang="en-US" dirty="0" smtClean="0"/>
              <a:t>;</a:t>
            </a:r>
          </a:p>
          <a:p>
            <a:pPr lvl="1"/>
            <a:r>
              <a:rPr lang="en-US" dirty="0" smtClean="0"/>
              <a:t>Maternal surface</a:t>
            </a:r>
          </a:p>
          <a:p>
            <a:pPr lvl="1"/>
            <a:r>
              <a:rPr lang="en-US" dirty="0" smtClean="0"/>
              <a:t>Fetal surface</a:t>
            </a:r>
            <a:endParaRPr lang="en-US"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Maternal surface</a:t>
            </a:r>
            <a:endParaRPr lang="en-US" dirty="0"/>
          </a:p>
        </p:txBody>
      </p:sp>
      <p:sp>
        <p:nvSpPr>
          <p:cNvPr id="3" name="Content Placeholder 2"/>
          <p:cNvSpPr>
            <a:spLocks noGrp="1"/>
          </p:cNvSpPr>
          <p:nvPr>
            <p:ph idx="1"/>
          </p:nvPr>
        </p:nvSpPr>
        <p:spPr/>
        <p:txBody>
          <a:bodyPr/>
          <a:lstStyle/>
          <a:p>
            <a:r>
              <a:rPr lang="en-US" dirty="0" smtClean="0"/>
              <a:t>It is usually dark red in color</a:t>
            </a:r>
          </a:p>
          <a:p>
            <a:r>
              <a:rPr lang="en-US" dirty="0" smtClean="0"/>
              <a:t>It is made up of chorionic villi arranged in cotyledons(lobes) which are about 20 in number</a:t>
            </a:r>
          </a:p>
          <a:p>
            <a:r>
              <a:rPr lang="en-US" dirty="0" smtClean="0"/>
              <a:t>Between the lobes are furrows called sulci.</a:t>
            </a:r>
          </a:p>
          <a:p>
            <a:r>
              <a:rPr lang="en-US" dirty="0" smtClean="0"/>
              <a:t>The lobes are further divided into lobules</a:t>
            </a:r>
          </a:p>
          <a:p>
            <a:endParaRPr lang="en-US"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fetal surface</a:t>
            </a:r>
            <a:endParaRPr lang="en-US" dirty="0"/>
          </a:p>
        </p:txBody>
      </p:sp>
      <p:sp>
        <p:nvSpPr>
          <p:cNvPr id="3" name="Content Placeholder 2"/>
          <p:cNvSpPr>
            <a:spLocks noGrp="1"/>
          </p:cNvSpPr>
          <p:nvPr>
            <p:ph idx="1"/>
          </p:nvPr>
        </p:nvSpPr>
        <p:spPr/>
        <p:txBody>
          <a:bodyPr/>
          <a:lstStyle/>
          <a:p>
            <a:r>
              <a:rPr lang="en-US" dirty="0" smtClean="0"/>
              <a:t>It appears whitish, shinny and smooth</a:t>
            </a:r>
          </a:p>
          <a:p>
            <a:r>
              <a:rPr lang="en-US" dirty="0" smtClean="0"/>
              <a:t>It has branches of the blood vessels spreading outwards from the insertion of the cord</a:t>
            </a:r>
          </a:p>
          <a:p>
            <a:r>
              <a:rPr lang="en-US" dirty="0" smtClean="0"/>
              <a:t>The cord is inserted on this side</a:t>
            </a:r>
            <a:endParaRPr lang="en-US"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of placenta</a:t>
            </a:r>
            <a:endParaRPr lang="en-US" dirty="0"/>
          </a:p>
        </p:txBody>
      </p:sp>
      <p:sp>
        <p:nvSpPr>
          <p:cNvPr id="3" name="Content Placeholder 2"/>
          <p:cNvSpPr>
            <a:spLocks noGrp="1"/>
          </p:cNvSpPr>
          <p:nvPr>
            <p:ph idx="1"/>
          </p:nvPr>
        </p:nvSpPr>
        <p:spPr/>
        <p:txBody>
          <a:bodyPr/>
          <a:lstStyle/>
          <a:p>
            <a:pPr marL="578358" indent="-514350">
              <a:buFont typeface="+mj-lt"/>
              <a:buAutoNum type="arabicParenR"/>
            </a:pPr>
            <a:r>
              <a:rPr lang="en-US" dirty="0" smtClean="0"/>
              <a:t>Nutrition-:all the food substances required by the fetus pass through the placenta maternal blood.</a:t>
            </a:r>
          </a:p>
          <a:p>
            <a:pPr marL="578358" indent="-514350">
              <a:buFont typeface="+mj-lt"/>
              <a:buAutoNum type="arabicParenR"/>
            </a:pPr>
            <a:r>
              <a:rPr lang="en-US" dirty="0" smtClean="0"/>
              <a:t>Respiration-:gaseous exchange of the fetus takes place through placenta by simple diffusion</a:t>
            </a:r>
          </a:p>
          <a:p>
            <a:pPr marL="578358" indent="-514350">
              <a:buFont typeface="+mj-lt"/>
              <a:buAutoNum type="arabicParenR"/>
            </a:pPr>
            <a:r>
              <a:rPr lang="en-US" dirty="0" smtClean="0"/>
              <a:t>Storage-:the plac0enta stores glucose inform of glycogen and reconverts it as need arises.</a:t>
            </a:r>
            <a:endParaRPr lang="en-US"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marL="578358" indent="-514350">
              <a:buAutoNum type="arabicPeriod" startAt="4"/>
            </a:pPr>
            <a:r>
              <a:rPr lang="en-US" dirty="0" smtClean="0"/>
              <a:t>excretion-:it excretes carbon dioxide, bilirubin, urea and uric acid. These substances diffuse into the maternal blood from the placenta</a:t>
            </a:r>
          </a:p>
          <a:p>
            <a:pPr marL="578358" indent="-514350">
              <a:buAutoNum type="arabicPeriod" startAt="4"/>
            </a:pPr>
            <a:r>
              <a:rPr lang="en-US" dirty="0" smtClean="0"/>
              <a:t>Protection-:it provides a limited barrier by preventing the microorganism from the maternal side from reaching the fetus. A few microorganisms such as those causing TB, syphilis and all virus cross this barrier</a:t>
            </a:r>
          </a:p>
          <a:p>
            <a:pPr marL="578358" indent="-514350">
              <a:buNone/>
            </a:pPr>
            <a:r>
              <a:rPr lang="en-US" dirty="0" smtClean="0"/>
              <a:t>  </a:t>
            </a:r>
            <a:endParaRPr lang="en-US"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578358" indent="-514350">
              <a:buAutoNum type="arabicPeriod" startAt="6"/>
            </a:pPr>
            <a:r>
              <a:rPr lang="en-US" dirty="0" smtClean="0"/>
              <a:t>Endocrine function-: the placenta synthesizes and secrets several hormones:</a:t>
            </a:r>
          </a:p>
          <a:p>
            <a:pPr marL="953262" lvl="1" indent="-514350"/>
            <a:r>
              <a:rPr lang="en-US" dirty="0" smtClean="0"/>
              <a:t>Human chorionic gonadotropin</a:t>
            </a:r>
          </a:p>
          <a:p>
            <a:pPr marL="953262" lvl="1" indent="-514350"/>
            <a:r>
              <a:rPr lang="en-US" dirty="0" smtClean="0"/>
              <a:t>Estrogen</a:t>
            </a:r>
          </a:p>
          <a:p>
            <a:pPr marL="953262" lvl="1" indent="-514350"/>
            <a:r>
              <a:rPr lang="en-US" dirty="0" smtClean="0"/>
              <a:t>Progesterone</a:t>
            </a:r>
          </a:p>
          <a:p>
            <a:pPr marL="953262" lvl="1" indent="-514350"/>
            <a:r>
              <a:rPr lang="en-US" dirty="0" smtClean="0"/>
              <a:t>Human chorionic lactogen</a:t>
            </a:r>
            <a:endParaRPr lang="en-US"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Anatomical variations of placenta</a:t>
            </a:r>
            <a:endParaRPr lang="en-US" dirty="0"/>
          </a:p>
        </p:txBody>
      </p:sp>
      <p:sp>
        <p:nvSpPr>
          <p:cNvPr id="3" name="Content Placeholder 2"/>
          <p:cNvSpPr>
            <a:spLocks noGrp="1"/>
          </p:cNvSpPr>
          <p:nvPr>
            <p:ph idx="1"/>
          </p:nvPr>
        </p:nvSpPr>
        <p:spPr/>
        <p:txBody>
          <a:bodyPr>
            <a:normAutofit lnSpcReduction="10000"/>
          </a:bodyPr>
          <a:lstStyle/>
          <a:p>
            <a:pPr marL="578358" indent="-514350">
              <a:buFont typeface="+mj-lt"/>
              <a:buAutoNum type="arabicParenR"/>
            </a:pPr>
            <a:r>
              <a:rPr lang="en-US" dirty="0" smtClean="0"/>
              <a:t>Succenturiate lobe-: this is an extra lobe situated in the membranes. The blood vessels run through membranes to supply it.</a:t>
            </a:r>
          </a:p>
          <a:p>
            <a:pPr marL="578358" indent="-514350">
              <a:buFont typeface="+mj-lt"/>
              <a:buAutoNum type="arabicParenR"/>
            </a:pPr>
            <a:r>
              <a:rPr lang="en-US" dirty="0" smtClean="0"/>
              <a:t>Bipartate/ tripartite placenta-: this is a placenta with two or three lobes</a:t>
            </a:r>
          </a:p>
          <a:p>
            <a:pPr marL="578358" indent="-514350">
              <a:buFont typeface="+mj-lt"/>
              <a:buAutoNum type="arabicParenR"/>
            </a:pPr>
            <a:r>
              <a:rPr lang="en-US" dirty="0" smtClean="0"/>
              <a:t>Circumvalate placenta-: this is a placenta with an opaque ring on the fetal side. This is formed by doubling of the chorion and the amnion </a:t>
            </a:r>
            <a:endParaRPr lang="en-US"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578358" indent="-514350">
              <a:buAutoNum type="arabicParenR" startAt="4"/>
            </a:pPr>
            <a:r>
              <a:rPr lang="en-US" dirty="0" smtClean="0"/>
              <a:t>Velamentous cord insertion-: the cord is inserted in the fetal membranes and the vessels run through the membranes to reach the placenta</a:t>
            </a:r>
          </a:p>
          <a:p>
            <a:pPr marL="578358" indent="-514350">
              <a:buAutoNum type="arabicParenR" startAt="4"/>
            </a:pPr>
            <a:r>
              <a:rPr lang="en-US" dirty="0" smtClean="0"/>
              <a:t>Battledore cord insertion of the cord-: the cord is inserted at the very edge of the placenta </a:t>
            </a:r>
            <a:endParaRPr lang="en-US"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Summary of fetal development</a:t>
            </a:r>
            <a:br>
              <a:rPr lang="en-US" dirty="0" smtClean="0"/>
            </a:br>
            <a:r>
              <a:rPr lang="en-US" dirty="0" smtClean="0"/>
              <a:t>                 0-4 wks</a:t>
            </a:r>
            <a:endParaRPr lang="en-US" dirty="0"/>
          </a:p>
        </p:txBody>
      </p:sp>
      <p:sp>
        <p:nvSpPr>
          <p:cNvPr id="3" name="Content Placeholder 2"/>
          <p:cNvSpPr>
            <a:spLocks noGrp="1"/>
          </p:cNvSpPr>
          <p:nvPr>
            <p:ph idx="1"/>
          </p:nvPr>
        </p:nvSpPr>
        <p:spPr/>
        <p:txBody>
          <a:bodyPr/>
          <a:lstStyle/>
          <a:p>
            <a:r>
              <a:rPr lang="en-US" dirty="0" smtClean="0"/>
              <a:t>The embryo is curved like a bean and is the size of the pigeon's egg. There is rapid growth as the embryonic plate forms</a:t>
            </a:r>
          </a:p>
          <a:p>
            <a:r>
              <a:rPr lang="en-US" dirty="0" smtClean="0"/>
              <a:t>The primitive </a:t>
            </a:r>
            <a:r>
              <a:rPr lang="en-US" dirty="0" err="1" smtClean="0"/>
              <a:t>cns</a:t>
            </a:r>
            <a:r>
              <a:rPr lang="en-US" dirty="0" smtClean="0"/>
              <a:t> forms, the heart </a:t>
            </a:r>
            <a:r>
              <a:rPr lang="en-US" dirty="0" err="1" smtClean="0"/>
              <a:t>dvps</a:t>
            </a:r>
            <a:r>
              <a:rPr lang="en-US" dirty="0" smtClean="0"/>
              <a:t> and begins to beat, the limb bud forms and the embryo is about 1 cm long</a:t>
            </a:r>
            <a:endParaRPr lang="en-US"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4-8 weeks</a:t>
            </a:r>
            <a:endParaRPr lang="en-US" dirty="0"/>
          </a:p>
        </p:txBody>
      </p:sp>
      <p:sp>
        <p:nvSpPr>
          <p:cNvPr id="3" name="Content Placeholder 2"/>
          <p:cNvSpPr>
            <a:spLocks noGrp="1"/>
          </p:cNvSpPr>
          <p:nvPr>
            <p:ph idx="1"/>
          </p:nvPr>
        </p:nvSpPr>
        <p:spPr/>
        <p:txBody>
          <a:bodyPr>
            <a:normAutofit lnSpcReduction="10000"/>
          </a:bodyPr>
          <a:lstStyle/>
          <a:p>
            <a:r>
              <a:rPr lang="en-US" dirty="0" smtClean="0"/>
              <a:t>The embryo is the size of the chicken’s egg. There is very rapid growth and head and facial features develop. All the major organs are laid down in their primitive forms. The external genitalia are present but undistinguishable. Early </a:t>
            </a:r>
            <a:r>
              <a:rPr lang="en-US" dirty="0" err="1" smtClean="0"/>
              <a:t>mvts</a:t>
            </a:r>
            <a:r>
              <a:rPr lang="en-US" dirty="0" smtClean="0"/>
              <a:t> are present and fetus is visible on ultrasound. The embryo is about 3cm long, weighs 4gms and amniotic fluid is </a:t>
            </a:r>
            <a:r>
              <a:rPr lang="en-US" dirty="0" err="1" smtClean="0"/>
              <a:t>btwn</a:t>
            </a:r>
            <a:r>
              <a:rPr lang="en-US" dirty="0" smtClean="0"/>
              <a:t> 5-10mls</a:t>
            </a:r>
            <a:endParaRPr lang="en-US"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8-12 weeks</a:t>
            </a:r>
            <a:endParaRPr lang="en-US" dirty="0"/>
          </a:p>
        </p:txBody>
      </p:sp>
      <p:sp>
        <p:nvSpPr>
          <p:cNvPr id="3" name="Content Placeholder 2"/>
          <p:cNvSpPr>
            <a:spLocks noGrp="1"/>
          </p:cNvSpPr>
          <p:nvPr>
            <p:ph idx="1"/>
          </p:nvPr>
        </p:nvSpPr>
        <p:spPr/>
        <p:txBody>
          <a:bodyPr>
            <a:normAutofit lnSpcReduction="10000"/>
          </a:bodyPr>
          <a:lstStyle/>
          <a:p>
            <a:r>
              <a:rPr lang="en-US" dirty="0" smtClean="0"/>
              <a:t>The fetal sac is about the size of the goose egg. The eyelids fuse and kidneys begin to function and the fetus begin to pass urine at 10 wks. Fetal circulation is functional, sucking and swallowing begins and sex is apparent. Some primitive reflexes are present.</a:t>
            </a:r>
          </a:p>
          <a:p>
            <a:r>
              <a:rPr lang="en-US" dirty="0" smtClean="0"/>
              <a:t>The baby is about 10 cm long, weighs just under 60gms and moves freely although not felt by the mother</a:t>
            </a:r>
            <a:endParaRPr lang="en-US"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12-16 weeks</a:t>
            </a:r>
            <a:endParaRPr lang="en-US" dirty="0"/>
          </a:p>
        </p:txBody>
      </p:sp>
      <p:sp>
        <p:nvSpPr>
          <p:cNvPr id="3" name="Content Placeholder 2"/>
          <p:cNvSpPr>
            <a:spLocks noGrp="1"/>
          </p:cNvSpPr>
          <p:nvPr>
            <p:ph idx="1"/>
          </p:nvPr>
        </p:nvSpPr>
        <p:spPr/>
        <p:txBody>
          <a:bodyPr/>
          <a:lstStyle/>
          <a:p>
            <a:r>
              <a:rPr lang="en-US" dirty="0" smtClean="0"/>
              <a:t>There is rapid skeletal </a:t>
            </a:r>
            <a:r>
              <a:rPr lang="en-US" dirty="0" err="1" smtClean="0"/>
              <a:t>dvt</a:t>
            </a:r>
            <a:r>
              <a:rPr lang="en-US" dirty="0" smtClean="0"/>
              <a:t> and the fetus is now visible on x-ray. </a:t>
            </a:r>
            <a:r>
              <a:rPr lang="en-US" dirty="0" err="1" smtClean="0"/>
              <a:t>Meconium</a:t>
            </a:r>
            <a:r>
              <a:rPr lang="en-US" dirty="0" smtClean="0"/>
              <a:t> is present in gut, </a:t>
            </a:r>
            <a:r>
              <a:rPr lang="en-US" dirty="0" err="1" smtClean="0"/>
              <a:t>lanugo</a:t>
            </a:r>
            <a:r>
              <a:rPr lang="en-US" dirty="0" smtClean="0"/>
              <a:t> appears and the nasal septum and palate fuse. </a:t>
            </a:r>
          </a:p>
          <a:p>
            <a:r>
              <a:rPr lang="en-US" dirty="0" smtClean="0"/>
              <a:t>The fetus is 15cm long and weighs about 170gms</a:t>
            </a:r>
            <a:endParaRPr lang="en-US"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16-20 weeks</a:t>
            </a:r>
            <a:endParaRPr lang="en-US" dirty="0"/>
          </a:p>
        </p:txBody>
      </p:sp>
      <p:sp>
        <p:nvSpPr>
          <p:cNvPr id="3" name="Content Placeholder 2"/>
          <p:cNvSpPr>
            <a:spLocks noGrp="1"/>
          </p:cNvSpPr>
          <p:nvPr>
            <p:ph idx="1"/>
          </p:nvPr>
        </p:nvSpPr>
        <p:spPr/>
        <p:txBody>
          <a:bodyPr/>
          <a:lstStyle/>
          <a:p>
            <a:r>
              <a:rPr lang="en-US" dirty="0" smtClean="0"/>
              <a:t>Quickening is present and fetal heart rate is heard on auscultation. Vernix caseosa appears, fingernails appear and skin cells begin to be renewed</a:t>
            </a:r>
          </a:p>
          <a:p>
            <a:r>
              <a:rPr lang="en-US" dirty="0" smtClean="0"/>
              <a:t>The fetus is about 20cm long and weighs about 400gms</a:t>
            </a:r>
            <a:endParaRPr lang="en-US"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20-24 weeks</a:t>
            </a:r>
            <a:endParaRPr lang="en-US" dirty="0"/>
          </a:p>
        </p:txBody>
      </p:sp>
      <p:sp>
        <p:nvSpPr>
          <p:cNvPr id="3" name="Content Placeholder 2"/>
          <p:cNvSpPr>
            <a:spLocks noGrp="1"/>
          </p:cNvSpPr>
          <p:nvPr>
            <p:ph idx="1"/>
          </p:nvPr>
        </p:nvSpPr>
        <p:spPr/>
        <p:txBody>
          <a:bodyPr/>
          <a:lstStyle/>
          <a:p>
            <a:r>
              <a:rPr lang="en-US" dirty="0" smtClean="0"/>
              <a:t>Most organs are capable of functioning and the fetus adapts periods of sleep and activity. The skin is red and wrinkled and the fetus can respond to sound.</a:t>
            </a:r>
          </a:p>
          <a:p>
            <a:r>
              <a:rPr lang="en-US" dirty="0" smtClean="0"/>
              <a:t>The fetus is 20 cm long, and weighs about 700gms</a:t>
            </a:r>
            <a:endParaRPr lang="en-US"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25-28 weeks</a:t>
            </a:r>
            <a:endParaRPr lang="en-US" dirty="0"/>
          </a:p>
        </p:txBody>
      </p:sp>
      <p:sp>
        <p:nvSpPr>
          <p:cNvPr id="3" name="Content Placeholder 2"/>
          <p:cNvSpPr>
            <a:spLocks noGrp="1"/>
          </p:cNvSpPr>
          <p:nvPr>
            <p:ph idx="1"/>
          </p:nvPr>
        </p:nvSpPr>
        <p:spPr/>
        <p:txBody>
          <a:bodyPr/>
          <a:lstStyle/>
          <a:p>
            <a:r>
              <a:rPr lang="en-US" dirty="0" smtClean="0"/>
              <a:t>Eyelids reopen and slight respiratory </a:t>
            </a:r>
            <a:r>
              <a:rPr lang="en-US" dirty="0" err="1" smtClean="0"/>
              <a:t>mvts</a:t>
            </a:r>
            <a:r>
              <a:rPr lang="en-US" dirty="0" smtClean="0"/>
              <a:t> are present</a:t>
            </a:r>
          </a:p>
          <a:p>
            <a:r>
              <a:rPr lang="en-US" dirty="0" smtClean="0"/>
              <a:t>Survival may be possible if born</a:t>
            </a:r>
          </a:p>
          <a:p>
            <a:r>
              <a:rPr lang="en-US" dirty="0" smtClean="0"/>
              <a:t>The fetus is about 36cm long and weighs about 1kg</a:t>
            </a:r>
            <a:endParaRPr lang="en-US"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28-32 weeks</a:t>
            </a:r>
            <a:endParaRPr lang="en-US" dirty="0"/>
          </a:p>
        </p:txBody>
      </p:sp>
      <p:sp>
        <p:nvSpPr>
          <p:cNvPr id="3" name="Content Placeholder 2"/>
          <p:cNvSpPr>
            <a:spLocks noGrp="1"/>
          </p:cNvSpPr>
          <p:nvPr>
            <p:ph idx="1"/>
          </p:nvPr>
        </p:nvSpPr>
        <p:spPr/>
        <p:txBody>
          <a:bodyPr/>
          <a:lstStyle/>
          <a:p>
            <a:r>
              <a:rPr lang="en-US" dirty="0" smtClean="0"/>
              <a:t>The fetus begin to store fat and testis descend into the scrotum.</a:t>
            </a:r>
          </a:p>
          <a:p>
            <a:r>
              <a:rPr lang="en-US" dirty="0" smtClean="0"/>
              <a:t>Lanugo disappear from the face and the skin becomes paler and less wrinkled</a:t>
            </a:r>
          </a:p>
          <a:p>
            <a:r>
              <a:rPr lang="en-US" dirty="0" smtClean="0"/>
              <a:t>The fetus is about 40cm long and weighs about 1.5kgs</a:t>
            </a:r>
            <a:endParaRPr lang="en-US"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32-36 weeks</a:t>
            </a:r>
            <a:endParaRPr lang="en-US" dirty="0"/>
          </a:p>
        </p:txBody>
      </p:sp>
      <p:sp>
        <p:nvSpPr>
          <p:cNvPr id="3" name="Content Placeholder 2"/>
          <p:cNvSpPr>
            <a:spLocks noGrp="1"/>
          </p:cNvSpPr>
          <p:nvPr>
            <p:ph idx="1"/>
          </p:nvPr>
        </p:nvSpPr>
        <p:spPr/>
        <p:txBody>
          <a:bodyPr/>
          <a:lstStyle/>
          <a:p>
            <a:r>
              <a:rPr lang="en-US" dirty="0" smtClean="0"/>
              <a:t>There is increased fat deposition that makes the body appear more round. Lanugo disappear from the body and the hair lengthens. The ear cartilage is soft and the nails reach the tip of the fingers. Planter creases are visible</a:t>
            </a:r>
          </a:p>
          <a:p>
            <a:r>
              <a:rPr lang="en-US" dirty="0" smtClean="0"/>
              <a:t>The fetus is approximately 46cm long and weighs about 2.5kgs </a:t>
            </a:r>
            <a:endParaRPr lang="en-US"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36-40 weeks</a:t>
            </a:r>
            <a:endParaRPr lang="en-US" dirty="0"/>
          </a:p>
        </p:txBody>
      </p:sp>
      <p:sp>
        <p:nvSpPr>
          <p:cNvPr id="3" name="Content Placeholder 2"/>
          <p:cNvSpPr>
            <a:spLocks noGrp="1"/>
          </p:cNvSpPr>
          <p:nvPr>
            <p:ph idx="1"/>
          </p:nvPr>
        </p:nvSpPr>
        <p:spPr/>
        <p:txBody>
          <a:bodyPr/>
          <a:lstStyle/>
          <a:p>
            <a:r>
              <a:rPr lang="en-US" dirty="0" smtClean="0"/>
              <a:t>Term is reached and birth is due. The skull is firm, contours rounded and the body well covered with subcutaneous fat</a:t>
            </a:r>
          </a:p>
          <a:p>
            <a:r>
              <a:rPr lang="en-US" dirty="0" smtClean="0"/>
              <a:t>The fetus </a:t>
            </a:r>
            <a:r>
              <a:rPr lang="en-US" smtClean="0"/>
              <a:t>is approximately </a:t>
            </a:r>
            <a:r>
              <a:rPr lang="en-US" dirty="0" smtClean="0"/>
              <a:t>50cm long and weighs </a:t>
            </a:r>
            <a:r>
              <a:rPr lang="en-US" dirty="0" err="1" smtClean="0"/>
              <a:t>btwn</a:t>
            </a:r>
            <a:r>
              <a:rPr lang="en-US" dirty="0" smtClean="0"/>
              <a:t> 3-3.5kgs</a:t>
            </a:r>
            <a:endParaRPr lang="en-US"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FETAL CIRCULATION</a:t>
            </a:r>
            <a:endParaRPr lang="en-US" dirty="0"/>
          </a:p>
        </p:txBody>
      </p:sp>
      <p:sp>
        <p:nvSpPr>
          <p:cNvPr id="3" name="Content Placeholder 2"/>
          <p:cNvSpPr>
            <a:spLocks noGrp="1"/>
          </p:cNvSpPr>
          <p:nvPr>
            <p:ph idx="1"/>
          </p:nvPr>
        </p:nvSpPr>
        <p:spPr/>
        <p:txBody>
          <a:bodyPr/>
          <a:lstStyle/>
          <a:p>
            <a:r>
              <a:rPr lang="en-US" dirty="0" smtClean="0"/>
              <a:t>In utero, the fetus derives it nutrients and oxygen from the maternal blood via the placenta. Waste products are also eliminated through the placenta.</a:t>
            </a:r>
          </a:p>
          <a:p>
            <a:r>
              <a:rPr lang="en-US" dirty="0" smtClean="0"/>
              <a:t>There are various temporary structures that enable fetal-placenta circulation to take place. These structures must cease functioning immediately at birth</a:t>
            </a:r>
          </a:p>
          <a:p>
            <a:r>
              <a:rPr lang="en-US" dirty="0" smtClean="0"/>
              <a:t>These are:</a:t>
            </a:r>
            <a:endParaRPr lang="en-US"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578358" indent="-514350">
              <a:buFont typeface="+mj-lt"/>
              <a:buAutoNum type="arabicPeriod"/>
            </a:pPr>
            <a:r>
              <a:rPr lang="en-US" dirty="0" smtClean="0"/>
              <a:t>The umbilical vein-:it leads from the umbilical cord to the underside of the liver. It carries oxygenated blood rich in nutrients from the placenta. </a:t>
            </a:r>
          </a:p>
          <a:p>
            <a:pPr marL="578358" indent="-514350">
              <a:buFont typeface="+mj-lt"/>
              <a:buAutoNum type="arabicPeriod"/>
            </a:pPr>
            <a:r>
              <a:rPr lang="en-US" dirty="0" smtClean="0"/>
              <a:t>Ductus venosus-:it connects the umbilical vein to the inferior vena-cava. Here, there is mixing of deoxygenated blood from the lower part of the body with oxygenated blood from the placenta. </a:t>
            </a:r>
            <a:endParaRPr lang="en-US"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578358" indent="-514350">
              <a:buAutoNum type="arabicPeriod" startAt="3"/>
            </a:pPr>
            <a:r>
              <a:rPr lang="en-US" dirty="0" smtClean="0"/>
              <a:t>Foramen </a:t>
            </a:r>
            <a:r>
              <a:rPr lang="en-US" dirty="0" err="1" smtClean="0"/>
              <a:t>ovale</a:t>
            </a:r>
            <a:r>
              <a:rPr lang="en-US" dirty="0" smtClean="0"/>
              <a:t>-: this is a opening between the atria which shunts most blood entering the right atrium to the left atrium.</a:t>
            </a:r>
          </a:p>
          <a:p>
            <a:pPr marL="578358" indent="-514350">
              <a:buAutoNum type="arabicPeriod" startAt="3"/>
            </a:pPr>
            <a:r>
              <a:rPr lang="en-US" dirty="0" smtClean="0"/>
              <a:t>Ductus arteriosus-:this leads from pulmonary artery to the aorta</a:t>
            </a:r>
          </a:p>
          <a:p>
            <a:pPr marL="578358" indent="-514350">
              <a:buAutoNum type="arabicPeriod" startAt="3"/>
            </a:pPr>
            <a:r>
              <a:rPr lang="en-US" dirty="0" smtClean="0"/>
              <a:t>Hypogastric arteries-:these are branches of hypogastric arteries. They become umbilical arteries when they enter the umbilical cord.</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Blood flow in fetal circulation</a:t>
            </a:r>
            <a:endParaRPr lang="en-US" dirty="0"/>
          </a:p>
        </p:txBody>
      </p:sp>
      <p:sp>
        <p:nvSpPr>
          <p:cNvPr id="3" name="Content Placeholder 2"/>
          <p:cNvSpPr>
            <a:spLocks noGrp="1"/>
          </p:cNvSpPr>
          <p:nvPr>
            <p:ph idx="1"/>
          </p:nvPr>
        </p:nvSpPr>
        <p:spPr/>
        <p:txBody>
          <a:bodyPr>
            <a:normAutofit lnSpcReduction="10000"/>
          </a:bodyPr>
          <a:lstStyle/>
          <a:p>
            <a:r>
              <a:rPr lang="en-US" dirty="0" smtClean="0"/>
              <a:t>The umbilical vein carries highly oxygenated blood from the placenta to the underside of the liver.</a:t>
            </a:r>
          </a:p>
          <a:p>
            <a:r>
              <a:rPr lang="en-US" dirty="0" smtClean="0"/>
              <a:t>The blood is carried through the ductus venosus to the inferior vena-cava where it mixes with deoxygenated blood from the lower  parts of the body.</a:t>
            </a:r>
          </a:p>
          <a:p>
            <a:r>
              <a:rPr lang="en-US" dirty="0" smtClean="0"/>
              <a:t>The blood enters the right atrium and then most of it is directed to the left atrium through foramen </a:t>
            </a:r>
            <a:r>
              <a:rPr lang="en-US" dirty="0" err="1" smtClean="0"/>
              <a:t>ovale</a:t>
            </a:r>
            <a:r>
              <a:rPr lang="en-US" dirty="0" smtClean="0"/>
              <a:t>.</a:t>
            </a:r>
          </a:p>
          <a:p>
            <a:endParaRPr lang="en-US"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blood then follows it normal route. It is enters the left ventricle and then pumped through aorta. The heart, the brain and upper limbs receives well oxygenated blood since the arteries that supply them are early branches of aorta.</a:t>
            </a:r>
          </a:p>
          <a:p>
            <a:r>
              <a:rPr lang="en-US" dirty="0" smtClean="0"/>
              <a:t>The blood from the upper part of the body returns to the right atrium through the superior vena cava.</a:t>
            </a:r>
            <a:endParaRPr lang="en-US"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This blood crosses the stream from the inferior vena cava and enters the right ventricle. There is mixing of about 25% of the blood. </a:t>
            </a:r>
          </a:p>
          <a:p>
            <a:r>
              <a:rPr lang="en-US" dirty="0" smtClean="0"/>
              <a:t>The blood is then pumped to the pulmonary artery. Ductus arteriosus shunts most of this blood to the aorta for distribution to the rest of the body. This is because lungs require only little of this blood for their development</a:t>
            </a:r>
          </a:p>
          <a:p>
            <a:endParaRPr lang="en-US"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blood continues circulation through the abdominal aorta and into the internal iliac arteries. This leads into the hypogastric arteries which return the blood to the placenta as umbilical arteries </a:t>
            </a:r>
            <a:endParaRPr lang="en-US"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Points on fetal circulation</a:t>
            </a:r>
            <a:endParaRPr lang="en-US" dirty="0"/>
          </a:p>
        </p:txBody>
      </p:sp>
      <p:sp>
        <p:nvSpPr>
          <p:cNvPr id="3" name="Content Placeholder 2"/>
          <p:cNvSpPr>
            <a:spLocks noGrp="1"/>
          </p:cNvSpPr>
          <p:nvPr>
            <p:ph idx="1"/>
          </p:nvPr>
        </p:nvSpPr>
        <p:spPr/>
        <p:txBody>
          <a:bodyPr>
            <a:normAutofit/>
          </a:bodyPr>
          <a:lstStyle/>
          <a:p>
            <a:pPr lvl="1"/>
            <a:r>
              <a:rPr lang="en-US" dirty="0" smtClean="0"/>
              <a:t>Umbilical arteries carry deoxygenated blood from the fetus to the placenta</a:t>
            </a:r>
          </a:p>
          <a:p>
            <a:pPr lvl="1"/>
            <a:r>
              <a:rPr lang="en-US" dirty="0" smtClean="0"/>
              <a:t>Umbilical vein carries oxygenated blood from the placenta to the fetus.</a:t>
            </a:r>
          </a:p>
          <a:p>
            <a:pPr lvl="1"/>
            <a:r>
              <a:rPr lang="en-US" dirty="0" smtClean="0"/>
              <a:t>Umbilical vein is the only vessel in the fetus that carry purely oxygenated blood.</a:t>
            </a:r>
          </a:p>
          <a:p>
            <a:pPr lvl="1"/>
            <a:r>
              <a:rPr lang="en-US" dirty="0" smtClean="0"/>
              <a:t>At birth, the upper limbs are more developed than the lower limbs because they receive more oxygenated blood than the lower limbs.</a:t>
            </a:r>
            <a:endParaRPr lang="en-US"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PHYSIOLOGICAL CHANGES IN PREGNANCY</a:t>
            </a:r>
            <a:endParaRPr lang="en-US" dirty="0"/>
          </a:p>
        </p:txBody>
      </p:sp>
      <p:sp>
        <p:nvSpPr>
          <p:cNvPr id="3" name="Content Placeholder 2"/>
          <p:cNvSpPr>
            <a:spLocks noGrp="1"/>
          </p:cNvSpPr>
          <p:nvPr>
            <p:ph idx="1"/>
          </p:nvPr>
        </p:nvSpPr>
        <p:spPr/>
        <p:txBody>
          <a:bodyPr>
            <a:normAutofit fontScale="92500" lnSpcReduction="20000"/>
          </a:bodyPr>
          <a:lstStyle/>
          <a:p>
            <a:pPr algn="ctr"/>
            <a:r>
              <a:rPr lang="en-US" sz="4300" b="1" u="sng" dirty="0" smtClean="0"/>
              <a:t>Skin</a:t>
            </a:r>
          </a:p>
          <a:p>
            <a:r>
              <a:rPr lang="en-US" b="1" dirty="0" smtClean="0"/>
              <a:t>deep pigmentation of the skin occurs.</a:t>
            </a:r>
          </a:p>
          <a:p>
            <a:r>
              <a:rPr lang="en-US" b="1" dirty="0" smtClean="0"/>
              <a:t>Patchy pigmentation of the face gives it mask-like appearance known as chloasma</a:t>
            </a:r>
          </a:p>
          <a:p>
            <a:r>
              <a:rPr lang="en-US" b="1" dirty="0" smtClean="0"/>
              <a:t>A pigmented line that usually runs from the symphysis pubis to the umbilicus extends further towards the sternum</a:t>
            </a:r>
          </a:p>
          <a:p>
            <a:r>
              <a:rPr lang="en-US" b="1" dirty="0" smtClean="0"/>
              <a:t>Striae gravidarum appears on the abdomen</a:t>
            </a:r>
          </a:p>
          <a:p>
            <a:r>
              <a:rPr lang="en-US" b="1" dirty="0" smtClean="0"/>
              <a:t>There is increased sweating and feeling hot because basal body temperature rises by about 0.5 degrees </a:t>
            </a:r>
            <a:r>
              <a:rPr lang="en-US" b="1" dirty="0" err="1" smtClean="0"/>
              <a:t>celcius</a:t>
            </a:r>
            <a:endParaRPr lang="en-US" b="1" dirty="0" smtClean="0"/>
          </a:p>
          <a:p>
            <a:endParaRPr lang="en-US" dirty="0" smtClean="0"/>
          </a:p>
          <a:p>
            <a:endParaRPr lang="en-US"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Changes in the </a:t>
            </a:r>
            <a:r>
              <a:rPr lang="en-US" dirty="0" err="1" smtClean="0"/>
              <a:t>gi</a:t>
            </a:r>
            <a:r>
              <a:rPr lang="en-US" dirty="0" smtClean="0"/>
              <a:t> system</a:t>
            </a:r>
            <a:endParaRPr lang="en-US" dirty="0"/>
          </a:p>
        </p:txBody>
      </p:sp>
      <p:sp>
        <p:nvSpPr>
          <p:cNvPr id="3" name="Content Placeholder 2"/>
          <p:cNvSpPr>
            <a:spLocks noGrp="1"/>
          </p:cNvSpPr>
          <p:nvPr>
            <p:ph idx="1"/>
          </p:nvPr>
        </p:nvSpPr>
        <p:spPr/>
        <p:txBody>
          <a:bodyPr/>
          <a:lstStyle/>
          <a:p>
            <a:r>
              <a:rPr lang="en-US" b="1" dirty="0" smtClean="0"/>
              <a:t>Gums becomes edematous, spongy and soft. This can lead to bleeding</a:t>
            </a:r>
          </a:p>
          <a:p>
            <a:r>
              <a:rPr lang="en-US" b="1" dirty="0" smtClean="0"/>
              <a:t>Ptyalism, pica, nausea and vomiting occurs</a:t>
            </a:r>
          </a:p>
          <a:p>
            <a:r>
              <a:rPr lang="en-US" b="1" dirty="0" smtClean="0"/>
              <a:t>Later in pregnancy, the stomach and intestines are displaced upwards leading to heartburn.</a:t>
            </a:r>
          </a:p>
          <a:p>
            <a:r>
              <a:rPr lang="en-US" b="1" dirty="0" smtClean="0"/>
              <a:t>Intestinal motility is reduced and this predisposes mothers to constipation.</a:t>
            </a:r>
          </a:p>
          <a:p>
            <a:pPr>
              <a:buNone/>
            </a:pPr>
            <a:endParaRPr lang="en-US" dirty="0"/>
          </a:p>
        </p:txBody>
      </p:sp>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Urinary system</a:t>
            </a:r>
            <a:endParaRPr lang="en-US" dirty="0"/>
          </a:p>
        </p:txBody>
      </p:sp>
      <p:sp>
        <p:nvSpPr>
          <p:cNvPr id="3" name="Content Placeholder 2"/>
          <p:cNvSpPr>
            <a:spLocks noGrp="1"/>
          </p:cNvSpPr>
          <p:nvPr>
            <p:ph idx="1"/>
          </p:nvPr>
        </p:nvSpPr>
        <p:spPr/>
        <p:txBody>
          <a:bodyPr>
            <a:normAutofit/>
          </a:bodyPr>
          <a:lstStyle/>
          <a:p>
            <a:r>
              <a:rPr lang="en-US" b="1" dirty="0" smtClean="0"/>
              <a:t>Frequency of micturation increases during the first and last trimesters</a:t>
            </a:r>
          </a:p>
          <a:p>
            <a:r>
              <a:rPr lang="en-US" b="1" dirty="0" smtClean="0"/>
              <a:t>There is a net increase in glomerular filtration rate and lowered renal glucose threshold leading to glucosuria</a:t>
            </a:r>
          </a:p>
          <a:p>
            <a:r>
              <a:rPr lang="en-US" b="1" dirty="0" smtClean="0"/>
              <a:t>The ureters becomes kinked causing urine stasis. This predisposes mothers to phylonephritis.</a:t>
            </a:r>
          </a:p>
          <a:p>
            <a:r>
              <a:rPr lang="en-US" b="1" dirty="0" smtClean="0"/>
              <a:t>There is relaxation of urinary sphincters</a:t>
            </a:r>
            <a:endParaRPr lang="en-US" b="1" dirty="0"/>
          </a:p>
        </p:txBody>
      </p:sp>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Changes in the breast</a:t>
            </a:r>
            <a:endParaRPr lang="en-US" dirty="0"/>
          </a:p>
        </p:txBody>
      </p:sp>
      <p:sp>
        <p:nvSpPr>
          <p:cNvPr id="3" name="Content Placeholder 2"/>
          <p:cNvSpPr>
            <a:spLocks noGrp="1"/>
          </p:cNvSpPr>
          <p:nvPr>
            <p:ph idx="1"/>
          </p:nvPr>
        </p:nvSpPr>
        <p:spPr/>
        <p:txBody>
          <a:bodyPr/>
          <a:lstStyle/>
          <a:p>
            <a:r>
              <a:rPr lang="en-US" b="1" dirty="0" smtClean="0"/>
              <a:t>Montgomery tubercles becomes more prominent on areola</a:t>
            </a:r>
          </a:p>
          <a:p>
            <a:r>
              <a:rPr lang="en-US" b="1" dirty="0" smtClean="0"/>
              <a:t>There is darkening of areola</a:t>
            </a:r>
          </a:p>
          <a:p>
            <a:r>
              <a:rPr lang="en-US" b="1" dirty="0" smtClean="0"/>
              <a:t>There is tingling and prickling sensation due to increased blood supply</a:t>
            </a:r>
          </a:p>
          <a:p>
            <a:r>
              <a:rPr lang="en-US" b="1" dirty="0" smtClean="0"/>
              <a:t>Breast enlarges, become tense and painful</a:t>
            </a:r>
          </a:p>
          <a:p>
            <a:r>
              <a:rPr lang="en-US" b="1" dirty="0" smtClean="0"/>
              <a:t>Colostrum can be expressed after 16 weeks</a:t>
            </a:r>
          </a:p>
          <a:p>
            <a:endParaRPr lang="en-US" b="1" dirty="0"/>
          </a:p>
        </p:txBody>
      </p:sp>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Changes in weight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During pregnancy, the weight changes as follows in a primigravida:-</a:t>
            </a:r>
          </a:p>
          <a:p>
            <a:pPr lvl="1"/>
            <a:r>
              <a:rPr lang="en-US" b="1" dirty="0" smtClean="0"/>
              <a:t>2-4 kg in the first 20 wks</a:t>
            </a:r>
          </a:p>
          <a:p>
            <a:pPr lvl="1"/>
            <a:r>
              <a:rPr lang="en-US" b="1" dirty="0" smtClean="0"/>
              <a:t>0.4-0.5kgs per week until term</a:t>
            </a:r>
          </a:p>
          <a:p>
            <a:pPr lvl="1"/>
            <a:r>
              <a:rPr lang="en-US" b="1" dirty="0" smtClean="0"/>
              <a:t>Weight increases by </a:t>
            </a:r>
            <a:r>
              <a:rPr lang="en-US" b="1" dirty="0" err="1" smtClean="0"/>
              <a:t>appproximately</a:t>
            </a:r>
            <a:r>
              <a:rPr lang="en-US" b="1" dirty="0" smtClean="0"/>
              <a:t> 12- 12.5 </a:t>
            </a:r>
            <a:r>
              <a:rPr lang="en-US" b="1" dirty="0" err="1" smtClean="0"/>
              <a:t>kgs</a:t>
            </a:r>
            <a:r>
              <a:rPr lang="en-US" b="1" dirty="0" smtClean="0"/>
              <a:t> in pregnancy</a:t>
            </a:r>
          </a:p>
          <a:p>
            <a:pPr lvl="1"/>
            <a:endParaRPr lang="en-US" b="1" dirty="0" smtClean="0"/>
          </a:p>
          <a:p>
            <a:pPr lvl="1">
              <a:buNone/>
            </a:pPr>
            <a:r>
              <a:rPr lang="en-US" b="1" dirty="0" smtClean="0"/>
              <a:t>Weight is distributed as follows</a:t>
            </a:r>
          </a:p>
          <a:p>
            <a:pPr lvl="1">
              <a:buNone/>
            </a:pPr>
            <a:r>
              <a:rPr lang="en-US" b="1" dirty="0" smtClean="0"/>
              <a:t>Breast 0.4-0.5kgs</a:t>
            </a:r>
          </a:p>
          <a:p>
            <a:pPr lvl="1">
              <a:buNone/>
            </a:pPr>
            <a:r>
              <a:rPr lang="en-US" b="1" dirty="0" smtClean="0"/>
              <a:t>Fat           3.5kgs</a:t>
            </a:r>
          </a:p>
          <a:p>
            <a:pPr lvl="1">
              <a:buNone/>
            </a:pPr>
            <a:r>
              <a:rPr lang="en-US" b="1" dirty="0" smtClean="0"/>
              <a:t>Placenta    0.6 </a:t>
            </a:r>
            <a:r>
              <a:rPr lang="en-US" b="1" dirty="0" err="1" smtClean="0"/>
              <a:t>kgs</a:t>
            </a:r>
            <a:endParaRPr lang="en-US" b="1" dirty="0" smtClean="0"/>
          </a:p>
        </p:txBody>
      </p:sp>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2"/>
            <a:r>
              <a:rPr lang="en-US" sz="3200" dirty="0" smtClean="0"/>
              <a:t>Fetus                       3.4- 3.5kgs</a:t>
            </a:r>
          </a:p>
          <a:p>
            <a:pPr lvl="2"/>
            <a:r>
              <a:rPr lang="en-US" sz="3200" dirty="0" smtClean="0"/>
              <a:t>Amniotic fluid          0.6 </a:t>
            </a:r>
            <a:r>
              <a:rPr lang="en-US" sz="3200" dirty="0" err="1" smtClean="0"/>
              <a:t>kgs</a:t>
            </a:r>
            <a:endParaRPr lang="en-US" sz="3200" dirty="0" smtClean="0"/>
          </a:p>
          <a:p>
            <a:pPr lvl="2"/>
            <a:r>
              <a:rPr lang="en-US" sz="3200" dirty="0" smtClean="0"/>
              <a:t>Uterus increase        0.9- 1kg</a:t>
            </a:r>
          </a:p>
          <a:p>
            <a:pPr lvl="2"/>
            <a:r>
              <a:rPr lang="en-US" sz="3200" dirty="0" smtClean="0"/>
              <a:t>Blood increase         1.5 </a:t>
            </a:r>
            <a:r>
              <a:rPr lang="en-US" sz="3200" dirty="0" err="1" smtClean="0"/>
              <a:t>kgs</a:t>
            </a:r>
            <a:endParaRPr lang="en-US" sz="3200" dirty="0" smtClean="0"/>
          </a:p>
          <a:p>
            <a:pPr lvl="2"/>
            <a:r>
              <a:rPr lang="en-US" sz="3200" dirty="0" smtClean="0"/>
              <a:t>Extracellular fluid    1.5 </a:t>
            </a:r>
            <a:r>
              <a:rPr lang="en-US" sz="3200" dirty="0" err="1" smtClean="0"/>
              <a:t>kgs</a:t>
            </a:r>
            <a:endParaRPr lang="en-US" sz="3200" dirty="0"/>
          </a:p>
        </p:txBody>
      </p:sp>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Changes in cardiovascular system</a:t>
            </a:r>
            <a:endParaRPr lang="en-US" dirty="0"/>
          </a:p>
        </p:txBody>
      </p:sp>
      <p:sp>
        <p:nvSpPr>
          <p:cNvPr id="3" name="Content Placeholder 2"/>
          <p:cNvSpPr>
            <a:spLocks noGrp="1"/>
          </p:cNvSpPr>
          <p:nvPr>
            <p:ph idx="1"/>
          </p:nvPr>
        </p:nvSpPr>
        <p:spPr/>
        <p:txBody>
          <a:bodyPr/>
          <a:lstStyle/>
          <a:p>
            <a:r>
              <a:rPr lang="en-US" dirty="0" smtClean="0"/>
              <a:t>Total blood volume is increased by 20-100%.</a:t>
            </a:r>
          </a:p>
          <a:p>
            <a:r>
              <a:rPr lang="en-US" dirty="0" smtClean="0"/>
              <a:t>Red blood cells increases as a result of accelerated production in response to increased oxygen demand.</a:t>
            </a:r>
          </a:p>
          <a:p>
            <a:r>
              <a:rPr lang="en-US" dirty="0" smtClean="0"/>
              <a:t>The plasma volume increases as water is retained in the body leading to hemodilution and physiological anemia despite high levels of red blood cells</a:t>
            </a:r>
            <a:endParaRPr lang="en-US"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white blood cells only increases slightly.</a:t>
            </a:r>
          </a:p>
          <a:p>
            <a:r>
              <a:rPr lang="en-US" dirty="0" smtClean="0"/>
              <a:t>Platelets and clotting factors increases resulting in increased rate of thrombosis and embolism.</a:t>
            </a:r>
          </a:p>
          <a:p>
            <a:r>
              <a:rPr lang="en-US" dirty="0" smtClean="0"/>
              <a:t>Increased blood volume increases cardiac workload. This causes slight hypertrophy of the heart.</a:t>
            </a:r>
            <a:endParaRPr lang="en-US"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Cardiac output increases by about 40-50% from the sixteenth week and remain elevated through out the pregnancy.</a:t>
            </a:r>
          </a:p>
          <a:p>
            <a:r>
              <a:rPr lang="en-US" dirty="0" smtClean="0"/>
              <a:t>The heart rate goes up by about 10-15 beats per minute.</a:t>
            </a:r>
          </a:p>
          <a:p>
            <a:r>
              <a:rPr lang="en-US" dirty="0" smtClean="0"/>
              <a:t>Blood pressure remains the same or falls slightly.</a:t>
            </a:r>
          </a:p>
          <a:p>
            <a:r>
              <a:rPr lang="en-US" dirty="0" smtClean="0"/>
              <a:t>Blood vessels relax due to effects of progesterone on the smooth muscles on their walls. </a:t>
            </a:r>
            <a:r>
              <a:rPr lang="en-US" dirty="0" err="1" smtClean="0"/>
              <a:t>thispredisposes</a:t>
            </a:r>
            <a:endParaRPr lang="en-US"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  pregnant women to varicose veins.</a:t>
            </a:r>
          </a:p>
          <a:p>
            <a:r>
              <a:rPr lang="en-US" dirty="0" smtClean="0"/>
              <a:t>Blood flow increases towards the uterus, breasts, kidneys and skin but there is no increase in blood flow to the brain and the liver.</a:t>
            </a:r>
          </a:p>
          <a:p>
            <a:endParaRPr lang="en-US"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Changes in the respiratory system</a:t>
            </a:r>
            <a:endParaRPr lang="en-US" dirty="0"/>
          </a:p>
        </p:txBody>
      </p:sp>
      <p:sp>
        <p:nvSpPr>
          <p:cNvPr id="3" name="Content Placeholder 2"/>
          <p:cNvSpPr>
            <a:spLocks noGrp="1"/>
          </p:cNvSpPr>
          <p:nvPr>
            <p:ph idx="1"/>
          </p:nvPr>
        </p:nvSpPr>
        <p:spPr/>
        <p:txBody>
          <a:bodyPr>
            <a:normAutofit lnSpcReduction="10000"/>
          </a:bodyPr>
          <a:lstStyle/>
          <a:p>
            <a:r>
              <a:rPr lang="en-US" dirty="0" smtClean="0"/>
              <a:t>This system is not much stressed.</a:t>
            </a:r>
          </a:p>
          <a:p>
            <a:r>
              <a:rPr lang="en-US" dirty="0" smtClean="0"/>
              <a:t>The mucosa of the system becomes hyperemic and edematous with </a:t>
            </a:r>
            <a:r>
              <a:rPr lang="en-US" dirty="0" err="1" smtClean="0"/>
              <a:t>hypersecretion</a:t>
            </a:r>
            <a:r>
              <a:rPr lang="en-US" dirty="0" smtClean="0"/>
              <a:t> of mucus which can lead to stuffiness and </a:t>
            </a:r>
            <a:r>
              <a:rPr lang="en-US" dirty="0" err="1" smtClean="0"/>
              <a:t>epistaxis</a:t>
            </a:r>
            <a:r>
              <a:rPr lang="en-US" dirty="0" smtClean="0"/>
              <a:t>. It can also cause progressive running nose with blocked nostrils that disappears after delivery.</a:t>
            </a:r>
          </a:p>
          <a:p>
            <a:r>
              <a:rPr lang="en-US" dirty="0" smtClean="0"/>
              <a:t>The shape of the chest changes and circumference increases</a:t>
            </a:r>
            <a:endParaRPr lang="en-US"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diaphragm is elevated and rib cage displaced upwards.</a:t>
            </a:r>
          </a:p>
          <a:p>
            <a:r>
              <a:rPr lang="en-US" dirty="0" smtClean="0"/>
              <a:t>Respiratory rate remains the same but breathing becomes more diaphragmatic and deeper.</a:t>
            </a:r>
          </a:p>
          <a:p>
            <a:r>
              <a:rPr lang="en-US" dirty="0" smtClean="0"/>
              <a:t>Tidal volume increases by 40%</a:t>
            </a:r>
            <a:endParaRPr lang="en-US"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Changes in the skeletal system</a:t>
            </a:r>
            <a:endParaRPr lang="en-US" dirty="0"/>
          </a:p>
        </p:txBody>
      </p:sp>
      <p:sp>
        <p:nvSpPr>
          <p:cNvPr id="3" name="Content Placeholder 2"/>
          <p:cNvSpPr>
            <a:spLocks noGrp="1"/>
          </p:cNvSpPr>
          <p:nvPr>
            <p:ph idx="1"/>
          </p:nvPr>
        </p:nvSpPr>
        <p:spPr/>
        <p:txBody>
          <a:bodyPr/>
          <a:lstStyle/>
          <a:p>
            <a:r>
              <a:rPr lang="en-US" dirty="0" smtClean="0"/>
              <a:t> there is relaxation of joint ligaments by progesterone resulting to</a:t>
            </a:r>
          </a:p>
          <a:p>
            <a:pPr lvl="1"/>
            <a:r>
              <a:rPr lang="en-US" dirty="0" smtClean="0"/>
              <a:t>Back pain</a:t>
            </a:r>
          </a:p>
          <a:p>
            <a:pPr lvl="1"/>
            <a:r>
              <a:rPr lang="en-US" dirty="0" smtClean="0"/>
              <a:t>Symphysis pubis dysfunction</a:t>
            </a:r>
          </a:p>
          <a:p>
            <a:pPr lvl="1"/>
            <a:r>
              <a:rPr lang="en-US" dirty="0" smtClean="0"/>
              <a:t>Backward curvature.</a:t>
            </a:r>
            <a:endParaRPr lang="en-US"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Changes in the endocrine system</a:t>
            </a:r>
            <a:endParaRPr lang="en-US" dirty="0"/>
          </a:p>
        </p:txBody>
      </p:sp>
      <p:sp>
        <p:nvSpPr>
          <p:cNvPr id="3" name="Content Placeholder 2"/>
          <p:cNvSpPr>
            <a:spLocks noGrp="1"/>
          </p:cNvSpPr>
          <p:nvPr>
            <p:ph idx="1"/>
          </p:nvPr>
        </p:nvSpPr>
        <p:spPr/>
        <p:txBody>
          <a:bodyPr/>
          <a:lstStyle/>
          <a:p>
            <a:r>
              <a:rPr lang="en-US" dirty="0" smtClean="0"/>
              <a:t>High levels of estrogen and progesterone produced by the placenta inhibits production of LH and FSH.</a:t>
            </a:r>
          </a:p>
          <a:p>
            <a:r>
              <a:rPr lang="en-US" dirty="0" smtClean="0"/>
              <a:t>There is increased production of prolactin secretion but the effects of the hormone are inhibited by estrogen.</a:t>
            </a:r>
          </a:p>
          <a:p>
            <a:r>
              <a:rPr lang="en-US" dirty="0" smtClean="0"/>
              <a:t>There is increased secretion of oxytocin but it’s effects are not felt until the onset of labor</a:t>
            </a:r>
          </a:p>
          <a:p>
            <a:endParaRPr lang="en-US"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There is increased production of adrenal corticosteroids</a:t>
            </a:r>
          </a:p>
          <a:p>
            <a:r>
              <a:rPr lang="en-US" dirty="0" smtClean="0"/>
              <a:t>Basal metabolic rate increases due to increased oxygen consumption and production of thyroid hormones.</a:t>
            </a:r>
          </a:p>
          <a:p>
            <a:r>
              <a:rPr lang="en-US" dirty="0" smtClean="0"/>
              <a:t>Human placental lactogen causes maternal tissue resistance to hormone insulin leading to elevated levels of glucose. This can cause pregnancy induced DM.</a:t>
            </a:r>
            <a:endParaRPr lang="en-US"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CHANGES IN THE REPRODUCTIVE SYSTEM</a:t>
            </a:r>
            <a:endParaRPr lang="en-US" dirty="0"/>
          </a:p>
        </p:txBody>
      </p:sp>
      <p:sp>
        <p:nvSpPr>
          <p:cNvPr id="3" name="Content Placeholder 2"/>
          <p:cNvSpPr>
            <a:spLocks noGrp="1"/>
          </p:cNvSpPr>
          <p:nvPr>
            <p:ph idx="1"/>
          </p:nvPr>
        </p:nvSpPr>
        <p:spPr/>
        <p:txBody>
          <a:bodyPr/>
          <a:lstStyle/>
          <a:p>
            <a:r>
              <a:rPr lang="en-US" dirty="0" smtClean="0"/>
              <a:t>The endometrium becomes more thicker and vascular in the upper segment which is mostly often the site of implantation.</a:t>
            </a:r>
          </a:p>
          <a:p>
            <a:r>
              <a:rPr lang="en-US" dirty="0" smtClean="0"/>
              <a:t>In preparation for labor, the myometrium develops to a remarkable degree. Each muscle fiber increases 10 times in length and 5 times in thickness. New muscle fibers are also formed.</a:t>
            </a:r>
          </a:p>
          <a:p>
            <a:endParaRPr lang="en-US"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The uterus increase in size from 7.5×5cm×2.5cm to 30cm×23cm×20cm. Its weight increases from 60gms to 900gms.</a:t>
            </a:r>
          </a:p>
          <a:p>
            <a:r>
              <a:rPr lang="en-US" dirty="0" smtClean="0"/>
              <a:t>The uterus changes in position from being a pelvic organ to an abdominal organ.</a:t>
            </a:r>
          </a:p>
          <a:p>
            <a:r>
              <a:rPr lang="en-US" dirty="0" smtClean="0"/>
              <a:t>It also changes from the state of </a:t>
            </a:r>
            <a:r>
              <a:rPr lang="en-US" dirty="0" err="1" smtClean="0"/>
              <a:t>anteversion</a:t>
            </a:r>
            <a:r>
              <a:rPr lang="en-US" dirty="0" smtClean="0"/>
              <a:t> and </a:t>
            </a:r>
            <a:r>
              <a:rPr lang="en-US" dirty="0" err="1" smtClean="0"/>
              <a:t>anteflexion</a:t>
            </a:r>
            <a:r>
              <a:rPr lang="en-US" dirty="0" smtClean="0"/>
              <a:t> to straightening up and leaning to the right</a:t>
            </a:r>
          </a:p>
          <a:p>
            <a:endParaRPr lang="en-US" dirty="0" smtClean="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From about the 8</a:t>
            </a:r>
            <a:r>
              <a:rPr lang="en-US" baseline="30000" dirty="0" smtClean="0"/>
              <a:t>th</a:t>
            </a:r>
            <a:r>
              <a:rPr lang="en-US" dirty="0" smtClean="0"/>
              <a:t> week, despite the fact that the uterus is relaxed by effects of progesterone, small waves of painless contractions called Braxton-Hicks contractions begin to be generated. These lasts throughout the pregnancy.</a:t>
            </a:r>
          </a:p>
          <a:p>
            <a:r>
              <a:rPr lang="en-US" dirty="0" smtClean="0"/>
              <a:t>There is regular growth in uterine size leading to changes in fundal height. This allows for its estimation of period of gestation (refer to text books for discussion)</a:t>
            </a:r>
            <a:endParaRPr lang="en-US"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The cervix becomes softer and its </a:t>
            </a:r>
            <a:r>
              <a:rPr lang="en-US" dirty="0" err="1" smtClean="0"/>
              <a:t>racemose</a:t>
            </a:r>
            <a:r>
              <a:rPr lang="en-US" dirty="0" smtClean="0"/>
              <a:t> glands produces tenacious mucus that forms a pug known as the operculum which occludes the cervical canal and prevent ascending infections</a:t>
            </a:r>
          </a:p>
          <a:p>
            <a:r>
              <a:rPr lang="en-US" dirty="0" smtClean="0"/>
              <a:t>Towards the end of pregnancy, effacement takes place and the cervix becomes part of the lower uterine segment. The cervix is said to be ripe when it is soft, shortened and admits a tip of a finger</a:t>
            </a:r>
            <a:endParaRPr lang="en-US"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The muscle coat of the vagina hypertrophies in readiness for distention during the second stage of labor.</a:t>
            </a:r>
          </a:p>
          <a:p>
            <a:r>
              <a:rPr lang="en-US" dirty="0" smtClean="0"/>
              <a:t>The vagina also becomes bluish-purple in color with pulsation in the fornices due to increased blood supply.</a:t>
            </a:r>
          </a:p>
          <a:p>
            <a:r>
              <a:rPr lang="en-US" dirty="0" smtClean="0"/>
              <a:t>A whitish vaginal discharge known as leucorrhea  is common. It results from the effects of estrogen  on squamous epithelium tissues</a:t>
            </a:r>
            <a:endParaRPr lang="en-US"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vagina also becomes more acidic due to action of </a:t>
            </a:r>
            <a:r>
              <a:rPr lang="en-US" dirty="0" err="1" smtClean="0"/>
              <a:t>Doderlin’s</a:t>
            </a:r>
            <a:r>
              <a:rPr lang="en-US" dirty="0" smtClean="0"/>
              <a:t> bacillus on increased glycogen in the epithelial cells.</a:t>
            </a:r>
            <a:endParaRPr lang="en-US"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Signs and symptoms of pregnancy</a:t>
            </a:r>
            <a:endParaRPr lang="en-US" dirty="0"/>
          </a:p>
        </p:txBody>
      </p:sp>
      <p:sp>
        <p:nvSpPr>
          <p:cNvPr id="3" name="Content Placeholder 2"/>
          <p:cNvSpPr>
            <a:spLocks noGrp="1"/>
          </p:cNvSpPr>
          <p:nvPr>
            <p:ph idx="1"/>
          </p:nvPr>
        </p:nvSpPr>
        <p:spPr/>
        <p:txBody>
          <a:bodyPr>
            <a:normAutofit/>
          </a:bodyPr>
          <a:lstStyle/>
          <a:p>
            <a:pPr marL="514350" indent="-514350" algn="ctr">
              <a:buAutoNum type="arabicPeriod"/>
            </a:pPr>
            <a:r>
              <a:rPr lang="en-US" b="1" u="sng" dirty="0" smtClean="0">
                <a:solidFill>
                  <a:srgbClr val="FF0000"/>
                </a:solidFill>
              </a:rPr>
              <a:t>Presumptive signs/subjective</a:t>
            </a:r>
          </a:p>
          <a:p>
            <a:pPr marL="514350" indent="-514350">
              <a:buNone/>
            </a:pPr>
            <a:r>
              <a:rPr lang="en-US" b="1" dirty="0" smtClean="0"/>
              <a:t>These are the symptoms that the woman experiences and reports. They can not be considered as proof of pregnancy</a:t>
            </a:r>
          </a:p>
          <a:p>
            <a:pPr marL="514350" indent="-514350">
              <a:buNone/>
            </a:pPr>
            <a:r>
              <a:rPr lang="en-US" b="1" dirty="0" err="1" smtClean="0"/>
              <a:t>Ammenorhea</a:t>
            </a:r>
            <a:r>
              <a:rPr lang="en-US" b="1" dirty="0" smtClean="0"/>
              <a:t>- absence or missing of more than one menstrual period especially in a woman whose cycle is regular.</a:t>
            </a:r>
          </a:p>
          <a:p>
            <a:pPr marL="514350" indent="-514350">
              <a:buNone/>
            </a:pPr>
            <a:endParaRPr lang="en-US" b="1" dirty="0"/>
          </a:p>
        </p:txBody>
      </p:sp>
    </p:spTree>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Presumptive signs cont’</a:t>
            </a:r>
            <a:endParaRPr lang="en-US" dirty="0"/>
          </a:p>
        </p:txBody>
      </p:sp>
      <p:sp>
        <p:nvSpPr>
          <p:cNvPr id="3" name="Content Placeholder 2"/>
          <p:cNvSpPr>
            <a:spLocks noGrp="1"/>
          </p:cNvSpPr>
          <p:nvPr>
            <p:ph idx="1"/>
          </p:nvPr>
        </p:nvSpPr>
        <p:spPr/>
        <p:txBody>
          <a:bodyPr>
            <a:normAutofit lnSpcReduction="10000"/>
          </a:bodyPr>
          <a:lstStyle/>
          <a:p>
            <a:r>
              <a:rPr lang="en-US" b="1" dirty="0" smtClean="0"/>
              <a:t>Nausea and Vomiting (Morning Sickness)</a:t>
            </a:r>
            <a:r>
              <a:rPr lang="en-US" dirty="0" smtClean="0"/>
              <a:t>.</a:t>
            </a:r>
          </a:p>
          <a:p>
            <a:pPr lvl="1">
              <a:buNone/>
            </a:pPr>
            <a:r>
              <a:rPr lang="en-US" dirty="0" smtClean="0"/>
              <a:t> </a:t>
            </a:r>
            <a:r>
              <a:rPr lang="en-US" sz="2400" dirty="0" smtClean="0"/>
              <a:t>(1) Usually occurs in early morning during the first weeks of pregnancy.</a:t>
            </a:r>
          </a:p>
          <a:p>
            <a:pPr lvl="1">
              <a:buNone/>
            </a:pPr>
            <a:r>
              <a:rPr lang="en-US" sz="2400" dirty="0" smtClean="0"/>
              <a:t> (2) Usually spontaneous and subsides in 6 to 8 weeks or by the twelfth to sixteenth week of pregnancy.</a:t>
            </a:r>
          </a:p>
          <a:p>
            <a:pPr lvl="1">
              <a:buNone/>
            </a:pPr>
            <a:r>
              <a:rPr lang="en-US" sz="2400" dirty="0" smtClean="0"/>
              <a:t> (3) </a:t>
            </a:r>
            <a:r>
              <a:rPr lang="en-US" sz="2400" dirty="0" err="1" smtClean="0"/>
              <a:t>Hyperemesis</a:t>
            </a:r>
            <a:r>
              <a:rPr lang="en-US" sz="2400" dirty="0" smtClean="0"/>
              <a:t> gravidarum. This is referred to as nausea and vomiting that is severe and lasts beyond the fourth month of pregnancy. It causes weight loss and upsets fluid and electrolyte balance of the patient.</a:t>
            </a:r>
          </a:p>
          <a:p>
            <a:pPr lvl="1"/>
            <a:endParaRPr lang="en-US" sz="2400" dirty="0"/>
          </a:p>
        </p:txBody>
      </p:sp>
    </p:spTree>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smtClean="0">
                <a:solidFill>
                  <a:srgbClr val="00B0F0"/>
                </a:solidFill>
              </a:rPr>
              <a:t>Frequent Urination.</a:t>
            </a:r>
            <a:endParaRPr lang="en-US" dirty="0" smtClean="0">
              <a:solidFill>
                <a:srgbClr val="00B0F0"/>
              </a:solidFill>
            </a:endParaRPr>
          </a:p>
          <a:p>
            <a:pPr>
              <a:buNone/>
            </a:pPr>
            <a:r>
              <a:rPr lang="en-US" dirty="0" smtClean="0"/>
              <a:t>(1</a:t>
            </a:r>
            <a:r>
              <a:rPr lang="en-US" b="1" dirty="0" smtClean="0"/>
              <a:t>) Frequent urination is caused by pressure of the expanding uterus on the bladder.</a:t>
            </a:r>
          </a:p>
          <a:p>
            <a:pPr>
              <a:buNone/>
            </a:pPr>
            <a:r>
              <a:rPr lang="en-US" b="1" dirty="0" smtClean="0"/>
              <a:t>(2) It subsides as pregnancy progresses and the uterus rises out of the pelvic cavity.</a:t>
            </a:r>
          </a:p>
          <a:p>
            <a:pPr>
              <a:buNone/>
            </a:pPr>
            <a:r>
              <a:rPr lang="en-US" b="1" dirty="0" smtClean="0"/>
              <a:t>(3) The uterus returns during the last weeks of pregnancy as the head of the fetus presses against the bladder.</a:t>
            </a:r>
          </a:p>
          <a:p>
            <a:pPr>
              <a:buNone/>
            </a:pPr>
            <a:r>
              <a:rPr lang="en-US" b="1" dirty="0" smtClean="0"/>
              <a:t>(4) Frequent urination is not a definite sign since other factors can be apparent (such as tension, diabetes, urinary tract infection, or tumors).</a:t>
            </a:r>
          </a:p>
          <a:p>
            <a:endParaRPr lang="en-US" dirty="0"/>
          </a:p>
        </p:txBody>
      </p:sp>
    </p:spTree>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solidFill>
                  <a:srgbClr val="00B0F0"/>
                </a:solidFill>
              </a:rPr>
              <a:t>Breast Changes</a:t>
            </a:r>
            <a:r>
              <a:rPr lang="en-US" dirty="0" smtClean="0">
                <a:solidFill>
                  <a:srgbClr val="00B0F0"/>
                </a:solidFill>
              </a:rPr>
              <a:t>.</a:t>
            </a:r>
          </a:p>
          <a:p>
            <a:r>
              <a:rPr lang="en-US" dirty="0" smtClean="0"/>
              <a:t>(</a:t>
            </a:r>
            <a:r>
              <a:rPr lang="en-US" b="1" dirty="0" smtClean="0"/>
              <a:t>1) In early pregnancy, changes start with a slight, temporary enlargement of the breasts, causing a sensation of weight, fullness, and mild tingling.</a:t>
            </a:r>
          </a:p>
          <a:p>
            <a:r>
              <a:rPr lang="en-US" b="1" dirty="0" smtClean="0"/>
              <a:t>Development of </a:t>
            </a:r>
            <a:r>
              <a:rPr lang="en-US" b="1" dirty="0" err="1" smtClean="0"/>
              <a:t>montgomery’s</a:t>
            </a:r>
            <a:r>
              <a:rPr lang="en-US" b="1" dirty="0" smtClean="0"/>
              <a:t> tubercle</a:t>
            </a:r>
          </a:p>
          <a:p>
            <a:r>
              <a:rPr lang="en-US" b="1" dirty="0" smtClean="0"/>
              <a:t>Darkening of </a:t>
            </a:r>
            <a:r>
              <a:rPr lang="en-US" b="1" dirty="0" err="1" smtClean="0"/>
              <a:t>ariola</a:t>
            </a:r>
            <a:endParaRPr lang="en-US" b="1"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solidFill>
                  <a:srgbClr val="00B0F0"/>
                </a:solidFill>
              </a:rPr>
              <a:t>Quickening (Feeling of Life)</a:t>
            </a:r>
            <a:r>
              <a:rPr lang="en-US" dirty="0" smtClean="0">
                <a:solidFill>
                  <a:srgbClr val="00B0F0"/>
                </a:solidFill>
              </a:rPr>
              <a:t>.</a:t>
            </a:r>
          </a:p>
          <a:p>
            <a:pPr>
              <a:buNone/>
            </a:pPr>
            <a:r>
              <a:rPr lang="en-US" b="1" dirty="0" smtClean="0"/>
              <a:t>(1) This is the first perception of fetal movement within the uterus. It usually occurs toward the end of the fifth month because of spasmodic flutter.</a:t>
            </a:r>
          </a:p>
          <a:p>
            <a:pPr>
              <a:buNone/>
            </a:pPr>
            <a:r>
              <a:rPr lang="en-US" b="1" dirty="0" smtClean="0"/>
              <a:t>(a) A multigravida can feel quickening as early as 16 weeks.</a:t>
            </a:r>
          </a:p>
          <a:p>
            <a:pPr>
              <a:buNone/>
            </a:pPr>
            <a:r>
              <a:rPr lang="en-US" b="1" dirty="0" smtClean="0"/>
              <a:t>(b) A primigravida usually cannot feel quickening until after 18 weeks.</a:t>
            </a:r>
          </a:p>
          <a:p>
            <a:endParaRPr lang="en-US"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Objective/probable signs of pregnancy</a:t>
            </a:r>
            <a:endParaRPr lang="en-US" dirty="0"/>
          </a:p>
        </p:txBody>
      </p:sp>
      <p:sp>
        <p:nvSpPr>
          <p:cNvPr id="3" name="Content Placeholder 2"/>
          <p:cNvSpPr>
            <a:spLocks noGrp="1"/>
          </p:cNvSpPr>
          <p:nvPr>
            <p:ph idx="1"/>
          </p:nvPr>
        </p:nvSpPr>
        <p:spPr/>
        <p:txBody>
          <a:bodyPr>
            <a:normAutofit fontScale="85000" lnSpcReduction="10000"/>
          </a:bodyPr>
          <a:lstStyle/>
          <a:p>
            <a:pPr>
              <a:buNone/>
            </a:pPr>
            <a:endParaRPr lang="en-US" dirty="0" smtClean="0">
              <a:solidFill>
                <a:srgbClr val="00B0F0"/>
              </a:solidFill>
            </a:endParaRPr>
          </a:p>
          <a:p>
            <a:pPr>
              <a:buNone/>
            </a:pPr>
            <a:r>
              <a:rPr lang="en-US" dirty="0" smtClean="0"/>
              <a:t>(1) </a:t>
            </a:r>
            <a:r>
              <a:rPr lang="en-US" b="1" dirty="0" smtClean="0"/>
              <a:t>Chadwick's sign. The vaginal walls have taken on a deeper color caused by the increased vascularity because of increased hormones. It is noted at the sixth week when associated with pregnancy. </a:t>
            </a:r>
          </a:p>
          <a:p>
            <a:pPr>
              <a:buNone/>
            </a:pPr>
            <a:r>
              <a:rPr lang="en-US" b="1" dirty="0" smtClean="0"/>
              <a:t>(2) Leukorrhea. increase in the white or slightly gray mucoid discharge that has a faint musty odor. It is due to hyperplasia of vaginal epithelial cells of the cervix because of increased hormone level from the pregnancy. Leukorrhea is also present in vaginal infections.</a:t>
            </a:r>
          </a:p>
          <a:p>
            <a:endParaRPr lang="en-US" dirty="0"/>
          </a:p>
        </p:txBody>
      </p:sp>
    </p:spTree>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578358" indent="-514350">
              <a:buAutoNum type="arabicPeriod" startAt="3"/>
            </a:pPr>
            <a:r>
              <a:rPr lang="en-US" dirty="0" smtClean="0"/>
              <a:t>hegar’s sign- softening of the cervix.</a:t>
            </a:r>
          </a:p>
          <a:p>
            <a:pPr marL="578358" indent="-514350">
              <a:buAutoNum type="arabicPeriod" startAt="3"/>
            </a:pPr>
            <a:r>
              <a:rPr lang="en-US" dirty="0" smtClean="0"/>
              <a:t>McDonald’s sign-increased ease of flexing the body of the uterus </a:t>
            </a:r>
            <a:r>
              <a:rPr lang="en-US" dirty="0" err="1" smtClean="0"/>
              <a:t>againist</a:t>
            </a:r>
            <a:r>
              <a:rPr lang="en-US" dirty="0" smtClean="0"/>
              <a:t> the cervix.</a:t>
            </a:r>
          </a:p>
          <a:p>
            <a:pPr marL="578358" indent="-514350">
              <a:buAutoNum type="arabicPeriod" startAt="3"/>
            </a:pPr>
            <a:r>
              <a:rPr lang="en-US" dirty="0" smtClean="0"/>
              <a:t>Progressive increase in fundal height</a:t>
            </a:r>
          </a:p>
          <a:p>
            <a:pPr marL="578358" indent="-514350">
              <a:buAutoNum type="arabicPeriod" startAt="3"/>
            </a:pPr>
            <a:r>
              <a:rPr lang="en-US" dirty="0" smtClean="0"/>
              <a:t>Braxton-Hicks contractions can be palpated.</a:t>
            </a:r>
          </a:p>
          <a:p>
            <a:pPr marL="578358" indent="-514350">
              <a:buAutoNum type="arabicPeriod" startAt="3"/>
            </a:pPr>
            <a:r>
              <a:rPr lang="en-US" dirty="0" smtClean="0"/>
              <a:t>Positive immunological pregnancy test in early morning specimen from the 14</a:t>
            </a:r>
            <a:r>
              <a:rPr lang="en-US" baseline="30000" dirty="0" smtClean="0"/>
              <a:t>th</a:t>
            </a:r>
            <a:r>
              <a:rPr lang="en-US" dirty="0" smtClean="0"/>
              <a:t> day after fertilization.</a:t>
            </a:r>
          </a:p>
          <a:p>
            <a:pPr marL="578358" indent="-514350">
              <a:buAutoNum type="arabicPeriod" startAt="3"/>
            </a:pPr>
            <a:endParaRPr lang="en-US" dirty="0" smtClean="0"/>
          </a:p>
          <a:p>
            <a:pPr marL="578358" indent="-514350">
              <a:buAutoNum type="arabicPeriod" startAt="3"/>
            </a:pPr>
            <a:endParaRPr lang="en-US" dirty="0"/>
          </a:p>
        </p:txBody>
      </p:sp>
    </p:spTree>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Positive(diagnostic) changes</a:t>
            </a:r>
            <a:endParaRPr lang="en-US" dirty="0"/>
          </a:p>
        </p:txBody>
      </p:sp>
      <p:sp>
        <p:nvSpPr>
          <p:cNvPr id="3" name="Content Placeholder 2"/>
          <p:cNvSpPr>
            <a:spLocks noGrp="1"/>
          </p:cNvSpPr>
          <p:nvPr>
            <p:ph idx="1"/>
          </p:nvPr>
        </p:nvSpPr>
        <p:spPr/>
        <p:txBody>
          <a:bodyPr/>
          <a:lstStyle/>
          <a:p>
            <a:r>
              <a:rPr lang="en-US" dirty="0" smtClean="0"/>
              <a:t>Fetal heart is heard and is regular on auscultation</a:t>
            </a:r>
          </a:p>
          <a:p>
            <a:r>
              <a:rPr lang="en-US" dirty="0" smtClean="0"/>
              <a:t>Fetal movements are reported by the mother or seen through the abdomen.</a:t>
            </a:r>
          </a:p>
          <a:p>
            <a:r>
              <a:rPr lang="en-US" dirty="0" smtClean="0"/>
              <a:t>Ultrasound and x-ray-the baby is seen as early as 6 weeks.</a:t>
            </a:r>
          </a:p>
          <a:p>
            <a:endParaRPr lang="en-US" dirty="0"/>
          </a:p>
        </p:txBody>
      </p:sp>
    </p:spTree>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Minor disorders of pregnancy</a:t>
            </a:r>
            <a:endParaRPr lang="en-US" dirty="0"/>
          </a:p>
        </p:txBody>
      </p:sp>
      <p:sp>
        <p:nvSpPr>
          <p:cNvPr id="3" name="Content Placeholder 2"/>
          <p:cNvSpPr>
            <a:spLocks noGrp="1"/>
          </p:cNvSpPr>
          <p:nvPr>
            <p:ph idx="1"/>
          </p:nvPr>
        </p:nvSpPr>
        <p:spPr/>
        <p:txBody>
          <a:bodyPr>
            <a:normAutofit fontScale="92500" lnSpcReduction="20000"/>
          </a:bodyPr>
          <a:lstStyle/>
          <a:p>
            <a:pPr algn="ctr">
              <a:buNone/>
            </a:pPr>
            <a:r>
              <a:rPr lang="en-US" dirty="0" smtClean="0"/>
              <a:t> </a:t>
            </a:r>
            <a:r>
              <a:rPr lang="en-US" b="1" i="1" u="sng" dirty="0" smtClean="0">
                <a:solidFill>
                  <a:srgbClr val="00B0F0"/>
                </a:solidFill>
              </a:rPr>
              <a:t>pica</a:t>
            </a:r>
          </a:p>
          <a:p>
            <a:r>
              <a:rPr lang="en-US" b="1" dirty="0" smtClean="0"/>
              <a:t>It is a desire to eat certain foods or non-food substances such as soil, charcoal, clay, chalk, glue, etc</a:t>
            </a:r>
          </a:p>
          <a:p>
            <a:r>
              <a:rPr lang="en-US" b="1" dirty="0" smtClean="0"/>
              <a:t>It may be due to hormonal changes or lack of enough minerals such as iron and calcium.</a:t>
            </a:r>
          </a:p>
          <a:p>
            <a:pPr>
              <a:buNone/>
            </a:pPr>
            <a:r>
              <a:rPr lang="en-US" b="1" dirty="0" smtClean="0">
                <a:solidFill>
                  <a:srgbClr val="FF0000"/>
                </a:solidFill>
              </a:rPr>
              <a:t>Advice</a:t>
            </a:r>
          </a:p>
          <a:p>
            <a:r>
              <a:rPr lang="en-US" b="1" dirty="0" smtClean="0"/>
              <a:t>The mother should ensure the substances craved for are not harmful. She should try take food rich in calcium and iron</a:t>
            </a:r>
            <a:endParaRPr lang="en-US" b="1" dirty="0"/>
          </a:p>
        </p:txBody>
      </p:sp>
    </p:spTree>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constipation</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This is delayed passage of food through the bowel.</a:t>
            </a:r>
          </a:p>
          <a:p>
            <a:r>
              <a:rPr lang="en-US" b="1" dirty="0" smtClean="0"/>
              <a:t>It is characterized by infrequent bowel action and passage of hard stool.</a:t>
            </a:r>
          </a:p>
          <a:p>
            <a:r>
              <a:rPr lang="en-US" b="1" dirty="0" smtClean="0"/>
              <a:t>It occurs due to relaxing effects of progesterone on smooth muscles of intestinal wall, or due to pressure on the intestines from the growing uterus.</a:t>
            </a:r>
          </a:p>
          <a:p>
            <a:pPr>
              <a:buNone/>
            </a:pPr>
            <a:r>
              <a:rPr lang="en-US" b="1" dirty="0" smtClean="0">
                <a:solidFill>
                  <a:srgbClr val="FF0000"/>
                </a:solidFill>
              </a:rPr>
              <a:t>Advice</a:t>
            </a:r>
          </a:p>
          <a:p>
            <a:pPr>
              <a:buNone/>
            </a:pPr>
            <a:r>
              <a:rPr lang="en-US" b="1" dirty="0" smtClean="0"/>
              <a:t>Take more fluids, increase intake of fruits and vegetables, carryout antenatal exercises and if persistent, prescribe some laxatives</a:t>
            </a:r>
            <a:endParaRPr lang="en-US" b="1" dirty="0"/>
          </a:p>
        </p:txBody>
      </p:sp>
    </p:spTree>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 pain</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This is more common in multiparous women</a:t>
            </a:r>
          </a:p>
          <a:p>
            <a:r>
              <a:rPr lang="en-US" b="1" dirty="0" smtClean="0"/>
              <a:t>It is mostly due to relaxation of pelvic joints and an attempt by the woman to adopt a more comfortable posture to balance the weight.</a:t>
            </a:r>
          </a:p>
          <a:p>
            <a:pPr>
              <a:buNone/>
            </a:pPr>
            <a:r>
              <a:rPr lang="en-US" b="1" dirty="0" smtClean="0">
                <a:solidFill>
                  <a:srgbClr val="FF0000"/>
                </a:solidFill>
              </a:rPr>
              <a:t>Advice</a:t>
            </a:r>
          </a:p>
          <a:p>
            <a:pPr>
              <a:buNone/>
            </a:pPr>
            <a:r>
              <a:rPr lang="en-US" b="1" dirty="0" smtClean="0"/>
              <a:t>Try and walk upright, have adequate rest, wear flat shoes, sleep on a firm bed. Also exclude other causes of back pain such as labor.</a:t>
            </a:r>
          </a:p>
          <a:p>
            <a:endParaRPr lang="en-US" dirty="0"/>
          </a:p>
        </p:txBody>
      </p:sp>
    </p:spTree>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cramps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These are painful spasmodic muscular contractions in the legs that are more common during pregnancy. They may be due to ischemia or deficiency of vitamins B,C and calcium.</a:t>
            </a:r>
          </a:p>
          <a:p>
            <a:pPr>
              <a:buNone/>
            </a:pPr>
            <a:r>
              <a:rPr lang="en-US" b="1" dirty="0" smtClean="0">
                <a:solidFill>
                  <a:srgbClr val="FF0000"/>
                </a:solidFill>
              </a:rPr>
              <a:t>Advice</a:t>
            </a:r>
          </a:p>
          <a:p>
            <a:r>
              <a:rPr lang="en-US" b="1" dirty="0" smtClean="0"/>
              <a:t>The mother to do more exercises and elevate the foot of the bed at night.</a:t>
            </a:r>
          </a:p>
          <a:p>
            <a:r>
              <a:rPr lang="en-US" b="1" dirty="0" smtClean="0"/>
              <a:t>Provide more vitamins and calcium, advise on foods rich in these substances. </a:t>
            </a:r>
            <a:endParaRPr lang="en-US" b="1" dirty="0"/>
          </a:p>
        </p:txBody>
      </p:sp>
    </p:spTree>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Increased frequency of micturation</a:t>
            </a:r>
            <a:endParaRPr lang="en-US" dirty="0"/>
          </a:p>
        </p:txBody>
      </p:sp>
      <p:sp>
        <p:nvSpPr>
          <p:cNvPr id="3" name="Content Placeholder 2"/>
          <p:cNvSpPr>
            <a:spLocks noGrp="1"/>
          </p:cNvSpPr>
          <p:nvPr>
            <p:ph idx="1"/>
          </p:nvPr>
        </p:nvSpPr>
        <p:spPr/>
        <p:txBody>
          <a:bodyPr/>
          <a:lstStyle/>
          <a:p>
            <a:r>
              <a:rPr lang="en-US" b="1" dirty="0" smtClean="0"/>
              <a:t>Increased frequency of urination occurring in the first and last trimester due to uterine pressure on the urinary bladder.</a:t>
            </a:r>
          </a:p>
          <a:p>
            <a:r>
              <a:rPr lang="en-US" b="1" dirty="0" smtClean="0"/>
              <a:t>It should not be associated with pain or dysuria</a:t>
            </a:r>
          </a:p>
          <a:p>
            <a:pPr>
              <a:buNone/>
            </a:pPr>
            <a:r>
              <a:rPr lang="en-US" b="1" dirty="0" smtClean="0">
                <a:solidFill>
                  <a:srgbClr val="FF0000"/>
                </a:solidFill>
              </a:rPr>
              <a:t>Advice</a:t>
            </a:r>
          </a:p>
          <a:p>
            <a:r>
              <a:rPr lang="en-US" b="1" dirty="0" smtClean="0"/>
              <a:t>Reassure the mother that this is normal and will pass with time.</a:t>
            </a:r>
            <a:endParaRPr lang="en-US" b="1" dirty="0"/>
          </a:p>
        </p:txBody>
      </p:sp>
    </p:spTree>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fainting</a:t>
            </a:r>
            <a:endParaRPr lang="en-US" dirty="0"/>
          </a:p>
        </p:txBody>
      </p:sp>
      <p:sp>
        <p:nvSpPr>
          <p:cNvPr id="3" name="Content Placeholder 2"/>
          <p:cNvSpPr>
            <a:spLocks noGrp="1"/>
          </p:cNvSpPr>
          <p:nvPr>
            <p:ph idx="1"/>
          </p:nvPr>
        </p:nvSpPr>
        <p:spPr/>
        <p:txBody>
          <a:bodyPr>
            <a:normAutofit/>
          </a:bodyPr>
          <a:lstStyle/>
          <a:p>
            <a:r>
              <a:rPr lang="en-US" sz="2800" b="1" dirty="0" smtClean="0"/>
              <a:t>Can occur due to several reasons</a:t>
            </a:r>
          </a:p>
          <a:p>
            <a:pPr lvl="1"/>
            <a:r>
              <a:rPr lang="en-US" sz="2800" b="1" dirty="0" smtClean="0"/>
              <a:t>Anemia</a:t>
            </a:r>
          </a:p>
          <a:p>
            <a:pPr lvl="1"/>
            <a:r>
              <a:rPr lang="en-US" sz="2800" b="1" dirty="0" smtClean="0"/>
              <a:t>Cardiac conditions</a:t>
            </a:r>
          </a:p>
          <a:p>
            <a:pPr lvl="1"/>
            <a:r>
              <a:rPr lang="en-US" sz="2800" b="1" dirty="0" smtClean="0"/>
              <a:t>Change in position</a:t>
            </a:r>
          </a:p>
          <a:p>
            <a:pPr lvl="1"/>
            <a:r>
              <a:rPr lang="en-US" sz="2800" b="1" dirty="0" smtClean="0"/>
              <a:t>Ruptured ectopic pregnancy</a:t>
            </a:r>
          </a:p>
          <a:p>
            <a:pPr lvl="1"/>
            <a:r>
              <a:rPr lang="en-US" sz="2800" b="1" dirty="0" smtClean="0"/>
              <a:t>Supine hypotension</a:t>
            </a:r>
          </a:p>
          <a:p>
            <a:pPr lvl="1"/>
            <a:r>
              <a:rPr lang="en-US" sz="2800" b="1" dirty="0" smtClean="0"/>
              <a:t>Fasting</a:t>
            </a:r>
          </a:p>
          <a:p>
            <a:pPr lvl="1"/>
            <a:r>
              <a:rPr lang="en-US" sz="2800" b="1" dirty="0" smtClean="0"/>
              <a:t>Standing for long especially in overcrowded places</a:t>
            </a:r>
            <a:endParaRPr lang="en-US" sz="2800" b="1" dirty="0"/>
          </a:p>
        </p:txBody>
      </p:sp>
    </p:spTree>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US" b="1" dirty="0" smtClean="0">
                <a:solidFill>
                  <a:srgbClr val="FF0000"/>
                </a:solidFill>
              </a:rPr>
              <a:t>Advice</a:t>
            </a:r>
          </a:p>
          <a:p>
            <a:r>
              <a:rPr lang="en-US" b="1" dirty="0" smtClean="0"/>
              <a:t>Avoid standing for long periods</a:t>
            </a:r>
          </a:p>
          <a:p>
            <a:r>
              <a:rPr lang="en-US" b="1" dirty="0" smtClean="0"/>
              <a:t>Avoid stuffy rooms.</a:t>
            </a:r>
          </a:p>
          <a:p>
            <a:r>
              <a:rPr lang="en-US" b="1" dirty="0" smtClean="0"/>
              <a:t>Have regular meals</a:t>
            </a:r>
          </a:p>
          <a:p>
            <a:r>
              <a:rPr lang="en-US" b="1" dirty="0" smtClean="0"/>
              <a:t>Avoid sudden change of posture</a:t>
            </a:r>
          </a:p>
          <a:p>
            <a:r>
              <a:rPr lang="en-US" b="1" dirty="0" smtClean="0"/>
              <a:t>In late pregnancy, avoid lying flat on the back.</a:t>
            </a:r>
          </a:p>
          <a:p>
            <a:r>
              <a:rPr lang="en-US" b="1" dirty="0" smtClean="0"/>
              <a:t>Use pillows and feeling like fainting, to lie on lateral position.</a:t>
            </a:r>
            <a:endParaRPr lang="en-US" b="1" dirty="0"/>
          </a:p>
        </p:txBody>
      </p:sp>
    </p:spTree>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Varicose veins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These are engorged superficial veins of the legs, vulva and anus.</a:t>
            </a:r>
          </a:p>
          <a:p>
            <a:r>
              <a:rPr lang="en-US" b="1" dirty="0" smtClean="0"/>
              <a:t>They are due to effects of progesterone on the wall of the vessels.</a:t>
            </a:r>
          </a:p>
          <a:p>
            <a:r>
              <a:rPr lang="en-US" b="1" dirty="0" smtClean="0"/>
              <a:t>The valves become inefficient and allows backflow of blood. This results to distended painful veins.</a:t>
            </a:r>
          </a:p>
          <a:p>
            <a:pPr>
              <a:buNone/>
            </a:pPr>
            <a:r>
              <a:rPr lang="en-US" b="1" dirty="0" smtClean="0">
                <a:solidFill>
                  <a:srgbClr val="FF0000"/>
                </a:solidFill>
              </a:rPr>
              <a:t>Advice</a:t>
            </a:r>
          </a:p>
          <a:p>
            <a:r>
              <a:rPr lang="en-US" b="1" dirty="0" smtClean="0"/>
              <a:t>Avoid standing for long periods.</a:t>
            </a:r>
          </a:p>
          <a:p>
            <a:r>
              <a:rPr lang="en-US" b="1" dirty="0" smtClean="0"/>
              <a:t>Rest the legs raised on a chair to relieve pain.</a:t>
            </a:r>
          </a:p>
          <a:p>
            <a:endParaRPr lang="en-US" dirty="0" smtClean="0"/>
          </a:p>
          <a:p>
            <a:endParaRPr lang="en-US" dirty="0"/>
          </a:p>
        </p:txBody>
      </p:sp>
    </p:spTree>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smtClean="0"/>
              <a:t>Wear elastic stockings during the day to provide support.</a:t>
            </a:r>
          </a:p>
          <a:p>
            <a:r>
              <a:rPr lang="en-US" b="1" dirty="0" smtClean="0"/>
              <a:t>Placing a pillow under the legs at night relieves the pain and symptoms.</a:t>
            </a:r>
          </a:p>
          <a:p>
            <a:r>
              <a:rPr lang="en-US" b="1" dirty="0" smtClean="0"/>
              <a:t>Explain the condition increases the risk of thrombosis, and any dull ache on the legs should be reported immediately.</a:t>
            </a:r>
          </a:p>
          <a:p>
            <a:r>
              <a:rPr lang="en-US" b="1" dirty="0" smtClean="0"/>
              <a:t>Use pad to support varicose veins of the vulva.</a:t>
            </a:r>
          </a:p>
          <a:p>
            <a:r>
              <a:rPr lang="en-US" b="1" dirty="0" smtClean="0"/>
              <a:t>The mother should deliver in hospital because the affected vessels may rupture during delivery</a:t>
            </a:r>
            <a:endParaRPr lang="en-US" b="1" dirty="0"/>
          </a:p>
        </p:txBody>
      </p:sp>
    </p:spTree>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Pruritis vulvae</a:t>
            </a:r>
            <a:endParaRPr lang="en-US" dirty="0"/>
          </a:p>
        </p:txBody>
      </p:sp>
      <p:sp>
        <p:nvSpPr>
          <p:cNvPr id="3" name="Content Placeholder 2"/>
          <p:cNvSpPr>
            <a:spLocks noGrp="1"/>
          </p:cNvSpPr>
          <p:nvPr>
            <p:ph idx="1"/>
          </p:nvPr>
        </p:nvSpPr>
        <p:spPr/>
        <p:txBody>
          <a:bodyPr/>
          <a:lstStyle/>
          <a:p>
            <a:r>
              <a:rPr lang="en-US" b="1" dirty="0" smtClean="0"/>
              <a:t>It is the itching of the vulva</a:t>
            </a:r>
          </a:p>
          <a:p>
            <a:r>
              <a:rPr lang="en-US" b="1" dirty="0" smtClean="0"/>
              <a:t>It may be due to poor hygiene or infections such as candidiasis or trichomoniasis.</a:t>
            </a:r>
          </a:p>
          <a:p>
            <a:r>
              <a:rPr lang="en-US" b="1" dirty="0" smtClean="0"/>
              <a:t>Advise the mother based on the cause.</a:t>
            </a:r>
          </a:p>
          <a:p>
            <a:endParaRPr lang="en-US" dirty="0" smtClean="0"/>
          </a:p>
          <a:p>
            <a:endParaRPr lang="en-US" dirty="0"/>
          </a:p>
        </p:txBody>
      </p:sp>
    </p:spTree>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insomnia</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It is the in ability to sleep.</a:t>
            </a:r>
          </a:p>
          <a:p>
            <a:r>
              <a:rPr lang="en-US" b="1" dirty="0" smtClean="0"/>
              <a:t>It is common early and late in pregnancy .</a:t>
            </a:r>
          </a:p>
          <a:p>
            <a:r>
              <a:rPr lang="en-US" b="1" dirty="0" smtClean="0"/>
              <a:t>It may be due to anxiety, nightmares, and increased frequency of micturation or discomfort from fetal movement.</a:t>
            </a:r>
          </a:p>
          <a:p>
            <a:pPr>
              <a:buNone/>
            </a:pPr>
            <a:r>
              <a:rPr lang="en-US" b="1" dirty="0" smtClean="0">
                <a:solidFill>
                  <a:srgbClr val="FF0000"/>
                </a:solidFill>
              </a:rPr>
              <a:t>Advice</a:t>
            </a:r>
          </a:p>
          <a:p>
            <a:r>
              <a:rPr lang="en-US" b="1" dirty="0" smtClean="0"/>
              <a:t>Allay anxiety and reassure the woman.</a:t>
            </a:r>
          </a:p>
          <a:p>
            <a:r>
              <a:rPr lang="en-US" b="1" dirty="0" smtClean="0"/>
              <a:t>NB: the woman should be advised to report the following to the hospital immediately:</a:t>
            </a:r>
          </a:p>
          <a:p>
            <a:pPr>
              <a:buNone/>
            </a:pPr>
            <a:r>
              <a:rPr lang="en-US" b="1" i="1" dirty="0" smtClean="0"/>
              <a:t>Vaginal bleeding, frontal or severe headache, PRM, reduced fetal movements, edema or sudden swelling, premature labor.</a:t>
            </a:r>
            <a:endParaRPr lang="en-US" b="1" i="1" dirty="0"/>
          </a:p>
        </p:txBody>
      </p:sp>
    </p:spTree>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THE FETAL SKULL.</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The fetal head consist of:</a:t>
            </a:r>
          </a:p>
          <a:p>
            <a:pPr lvl="1"/>
            <a:r>
              <a:rPr lang="en-US" dirty="0" smtClean="0"/>
              <a:t>The scalp-: which is the soft outer part made of skin and muscles.</a:t>
            </a:r>
          </a:p>
          <a:p>
            <a:pPr lvl="1"/>
            <a:r>
              <a:rPr lang="en-US" dirty="0" smtClean="0"/>
              <a:t>The periosteum-: which covers the bone</a:t>
            </a:r>
          </a:p>
          <a:p>
            <a:pPr lvl="1"/>
            <a:r>
              <a:rPr lang="en-US" dirty="0" smtClean="0"/>
              <a:t>The skull-:the bony structure that contains the brain.</a:t>
            </a:r>
          </a:p>
          <a:p>
            <a:r>
              <a:rPr lang="en-US" dirty="0" smtClean="0"/>
              <a:t>The skull is larger in comparison with the space of the pelvis. Therefore, some modifications must occur </a:t>
            </a:r>
            <a:r>
              <a:rPr lang="en-US" dirty="0" err="1" smtClean="0"/>
              <a:t>btwn</a:t>
            </a:r>
            <a:r>
              <a:rPr lang="en-US" dirty="0" smtClean="0"/>
              <a:t> the two delivery to take place. </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of fetal skull</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fetal skull has both membranous and cartilaginous origin.</a:t>
            </a:r>
          </a:p>
          <a:p>
            <a:r>
              <a:rPr lang="en-US" dirty="0" smtClean="0"/>
              <a:t>The bones of the face develops from a cartilage while those of the vault are laid down in a membranous frame work.</a:t>
            </a:r>
          </a:p>
          <a:p>
            <a:r>
              <a:rPr lang="en-US" dirty="0" smtClean="0"/>
              <a:t>The original </a:t>
            </a:r>
            <a:r>
              <a:rPr lang="en-US" dirty="0" err="1" smtClean="0"/>
              <a:t>centres</a:t>
            </a:r>
            <a:r>
              <a:rPr lang="en-US" dirty="0" smtClean="0"/>
              <a:t> of ossification of the skull bones are known as eminences of the skull. The one behind is the occipital protuberance.  Laterally the parietal eminences and frontal eminences on frontal bones  </a:t>
            </a:r>
            <a:endParaRPr lang="en-US"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Bones of the vault</a:t>
            </a:r>
            <a:endParaRPr lang="en-US" dirty="0"/>
          </a:p>
        </p:txBody>
      </p:sp>
      <p:sp>
        <p:nvSpPr>
          <p:cNvPr id="3" name="Content Placeholder 2"/>
          <p:cNvSpPr>
            <a:spLocks noGrp="1"/>
          </p:cNvSpPr>
          <p:nvPr>
            <p:ph idx="1"/>
          </p:nvPr>
        </p:nvSpPr>
        <p:spPr/>
        <p:txBody>
          <a:bodyPr/>
          <a:lstStyle/>
          <a:p>
            <a:r>
              <a:rPr lang="en-US" dirty="0" smtClean="0"/>
              <a:t>Formed by 5 bones:</a:t>
            </a:r>
          </a:p>
          <a:p>
            <a:pPr lvl="1"/>
            <a:r>
              <a:rPr lang="en-US" dirty="0" smtClean="0"/>
              <a:t>The occipital bone</a:t>
            </a:r>
          </a:p>
          <a:p>
            <a:pPr lvl="1"/>
            <a:r>
              <a:rPr lang="en-US" dirty="0" smtClean="0"/>
              <a:t>Two parietal bones</a:t>
            </a:r>
          </a:p>
          <a:p>
            <a:pPr lvl="1"/>
            <a:r>
              <a:rPr lang="en-US" dirty="0" smtClean="0"/>
              <a:t>Two frontal bones</a:t>
            </a:r>
          </a:p>
          <a:p>
            <a:r>
              <a:rPr lang="en-US" dirty="0" smtClean="0"/>
              <a:t>The occipital bone-: it lies at the back of the head and forms the region of the occiput. At its centre is the occipital protuberance.</a:t>
            </a:r>
            <a:endParaRPr lang="en-US"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Parietal bones lie on either side of the skull. The ossification centre of each is called parietal eminence.</a:t>
            </a:r>
          </a:p>
          <a:p>
            <a:r>
              <a:rPr lang="en-US" dirty="0" smtClean="0"/>
              <a:t>The frontal bones forms the forehead or the </a:t>
            </a:r>
            <a:r>
              <a:rPr lang="en-US" dirty="0" err="1" smtClean="0"/>
              <a:t>sinciput</a:t>
            </a:r>
            <a:r>
              <a:rPr lang="en-US" dirty="0" smtClean="0"/>
              <a:t>. At the centre of ossification is the frontal eminence or frontal boss. These bones fuse into a single bone by the 8</a:t>
            </a:r>
            <a:r>
              <a:rPr lang="en-US" baseline="30000" dirty="0" smtClean="0"/>
              <a:t>th</a:t>
            </a:r>
            <a:r>
              <a:rPr lang="en-US" dirty="0" smtClean="0"/>
              <a:t> year.</a:t>
            </a:r>
          </a:p>
          <a:p>
            <a:r>
              <a:rPr lang="en-US" dirty="0" smtClean="0"/>
              <a:t>The upper part or temporal bone contributes to the vault.</a:t>
            </a:r>
            <a:endParaRPr lang="en-US"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sutures</a:t>
            </a:r>
            <a:endParaRPr lang="en-US" dirty="0"/>
          </a:p>
        </p:txBody>
      </p:sp>
      <p:sp>
        <p:nvSpPr>
          <p:cNvPr id="3" name="Content Placeholder 2"/>
          <p:cNvSpPr>
            <a:spLocks noGrp="1"/>
          </p:cNvSpPr>
          <p:nvPr>
            <p:ph idx="1"/>
          </p:nvPr>
        </p:nvSpPr>
        <p:spPr/>
        <p:txBody>
          <a:bodyPr/>
          <a:lstStyle/>
          <a:p>
            <a:r>
              <a:rPr lang="en-US" dirty="0" smtClean="0"/>
              <a:t>Sutures are cranial joints.</a:t>
            </a:r>
          </a:p>
          <a:p>
            <a:r>
              <a:rPr lang="en-US" dirty="0" smtClean="0"/>
              <a:t>They are formed where two bones meet.</a:t>
            </a:r>
          </a:p>
          <a:p>
            <a:r>
              <a:rPr lang="en-US" dirty="0" smtClean="0"/>
              <a:t>Sutures are important landmarks used to determine positions and presentations on vaginal examination.</a:t>
            </a:r>
          </a:p>
          <a:p>
            <a:r>
              <a:rPr lang="en-US" dirty="0" smtClean="0"/>
              <a:t>They also allow moulding to take place during labor.</a:t>
            </a:r>
          </a:p>
          <a:p>
            <a:r>
              <a:rPr lang="en-US" dirty="0" smtClean="0"/>
              <a:t>There are four sutures of obstetrical importance. </a:t>
            </a:r>
            <a:endParaRPr lang="en-US"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578358" indent="-514350">
              <a:buFont typeface="+mj-lt"/>
              <a:buAutoNum type="arabicPeriod"/>
            </a:pPr>
            <a:r>
              <a:rPr lang="en-US" dirty="0" smtClean="0"/>
              <a:t>Saggital suture:- is between the two parietal bones, and joins the anterior and posterior fontanels.</a:t>
            </a:r>
          </a:p>
          <a:p>
            <a:pPr marL="578358" indent="-514350">
              <a:buFont typeface="+mj-lt"/>
              <a:buAutoNum type="arabicPeriod"/>
            </a:pPr>
            <a:r>
              <a:rPr lang="en-US" dirty="0" smtClean="0"/>
              <a:t>Coronal suture:- it runs transversely </a:t>
            </a:r>
            <a:r>
              <a:rPr lang="en-US" dirty="0" err="1" smtClean="0"/>
              <a:t>btwn</a:t>
            </a:r>
            <a:r>
              <a:rPr lang="en-US" dirty="0" smtClean="0"/>
              <a:t> the parietal and frontal bones. Passing from one temple to another.</a:t>
            </a:r>
          </a:p>
          <a:p>
            <a:pPr marL="578358" indent="-514350">
              <a:buFont typeface="+mj-lt"/>
              <a:buAutoNum type="arabicPeriod"/>
            </a:pPr>
            <a:r>
              <a:rPr lang="en-US" dirty="0" smtClean="0"/>
              <a:t>Frontal suture:- separates the two frontal bones and extends from the roof of the nose to the anterior fontanel.</a:t>
            </a:r>
          </a:p>
          <a:p>
            <a:pPr marL="578358" indent="-514350">
              <a:buFont typeface="+mj-lt"/>
              <a:buAutoNum type="arabicPeriod"/>
            </a:pPr>
            <a:r>
              <a:rPr lang="en-US" dirty="0" smtClean="0"/>
              <a:t>Lambdoidal suture:- separates the occipital and frontal bones and is shaped like the Greek letter lambda (</a:t>
            </a:r>
            <a:r>
              <a:rPr lang="el-GR" dirty="0" smtClean="0"/>
              <a:t>λ</a:t>
            </a:r>
            <a:r>
              <a:rPr lang="en-US" dirty="0" smtClean="0"/>
              <a:t>). </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FONTANELS</a:t>
            </a:r>
            <a:endParaRPr lang="en-US" dirty="0"/>
          </a:p>
        </p:txBody>
      </p:sp>
      <p:sp>
        <p:nvSpPr>
          <p:cNvPr id="3" name="Content Placeholder 2"/>
          <p:cNvSpPr>
            <a:spLocks noGrp="1"/>
          </p:cNvSpPr>
          <p:nvPr>
            <p:ph idx="1"/>
          </p:nvPr>
        </p:nvSpPr>
        <p:spPr/>
        <p:txBody>
          <a:bodyPr/>
          <a:lstStyle/>
          <a:p>
            <a:r>
              <a:rPr lang="en-US" dirty="0" smtClean="0"/>
              <a:t>These are membranous spaces where two or more sutures meet.</a:t>
            </a:r>
          </a:p>
          <a:p>
            <a:r>
              <a:rPr lang="en-US" dirty="0" smtClean="0"/>
              <a:t>There are two fontanels of obstetrical importance:-</a:t>
            </a:r>
          </a:p>
          <a:p>
            <a:pPr marL="953262" lvl="1" indent="-514350">
              <a:buFont typeface="+mj-lt"/>
              <a:buAutoNum type="alphaLcParenR"/>
            </a:pPr>
            <a:r>
              <a:rPr lang="en-US" dirty="0" smtClean="0"/>
              <a:t>The anterior fontanel (bregma)</a:t>
            </a:r>
          </a:p>
          <a:p>
            <a:pPr marL="953262" lvl="1" indent="-514350">
              <a:buFont typeface="+mj-lt"/>
              <a:buAutoNum type="alphaLcParenR"/>
            </a:pPr>
            <a:r>
              <a:rPr lang="en-US" dirty="0" smtClean="0"/>
              <a:t>Posterior fontanel (lambda)</a:t>
            </a:r>
          </a:p>
          <a:p>
            <a:endParaRPr lang="en-US"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1227582" indent="-742950">
              <a:buFont typeface="+mj-lt"/>
              <a:buAutoNum type="alphaLcParenR"/>
            </a:pPr>
            <a:r>
              <a:rPr lang="en-US" dirty="0" smtClean="0"/>
              <a:t>bregma</a:t>
            </a:r>
            <a:endParaRPr lang="en-US" dirty="0"/>
          </a:p>
        </p:txBody>
      </p:sp>
      <p:sp>
        <p:nvSpPr>
          <p:cNvPr id="3" name="Content Placeholder 2"/>
          <p:cNvSpPr>
            <a:spLocks noGrp="1"/>
          </p:cNvSpPr>
          <p:nvPr>
            <p:ph idx="1"/>
          </p:nvPr>
        </p:nvSpPr>
        <p:spPr/>
        <p:txBody>
          <a:bodyPr>
            <a:normAutofit lnSpcReduction="10000"/>
          </a:bodyPr>
          <a:lstStyle/>
          <a:p>
            <a:r>
              <a:rPr lang="en-US" dirty="0" smtClean="0"/>
              <a:t>Found at the junction of saggital, coronal and frontal sutures.</a:t>
            </a:r>
          </a:p>
          <a:p>
            <a:r>
              <a:rPr lang="en-US" dirty="0" smtClean="0"/>
              <a:t>It is diamond shaped and measures 3-4 cm long and 1.5-2 cm wide.</a:t>
            </a:r>
          </a:p>
          <a:p>
            <a:r>
              <a:rPr lang="en-US" dirty="0" smtClean="0"/>
              <a:t>It is recognizable per vagina because a suture leaves from each of the four corners.</a:t>
            </a:r>
          </a:p>
          <a:p>
            <a:r>
              <a:rPr lang="en-US" dirty="0" smtClean="0"/>
              <a:t>Pulsation of cerebral vessels can be felt and seen through it. It closes by the time the child reaches 18 months age.</a:t>
            </a:r>
            <a:endParaRPr lang="en-US"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b)lambda</a:t>
            </a:r>
            <a:endParaRPr lang="en-US" dirty="0"/>
          </a:p>
        </p:txBody>
      </p:sp>
      <p:sp>
        <p:nvSpPr>
          <p:cNvPr id="3" name="Content Placeholder 2"/>
          <p:cNvSpPr>
            <a:spLocks noGrp="1"/>
          </p:cNvSpPr>
          <p:nvPr>
            <p:ph idx="1"/>
          </p:nvPr>
        </p:nvSpPr>
        <p:spPr/>
        <p:txBody>
          <a:bodyPr/>
          <a:lstStyle/>
          <a:p>
            <a:r>
              <a:rPr lang="en-US" dirty="0" smtClean="0"/>
              <a:t>Found at the junction of lambdoidal and saggital sutures.</a:t>
            </a:r>
          </a:p>
          <a:p>
            <a:r>
              <a:rPr lang="en-US" dirty="0" smtClean="0"/>
              <a:t>It is small and triangular in shape.</a:t>
            </a:r>
          </a:p>
          <a:p>
            <a:r>
              <a:rPr lang="en-US" dirty="0" smtClean="0"/>
              <a:t>It is recognizable per vaginal as a suture leaves from each of the three angles.</a:t>
            </a:r>
          </a:p>
          <a:p>
            <a:r>
              <a:rPr lang="en-US" dirty="0" smtClean="0"/>
              <a:t>It normally closes at the age of 6 weeks. </a:t>
            </a:r>
            <a:endParaRPr lang="en-US"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Regions of the fetal skull</a:t>
            </a:r>
            <a:endParaRPr lang="en-US" dirty="0"/>
          </a:p>
        </p:txBody>
      </p:sp>
      <p:sp>
        <p:nvSpPr>
          <p:cNvPr id="3" name="Content Placeholder 2"/>
          <p:cNvSpPr>
            <a:spLocks noGrp="1"/>
          </p:cNvSpPr>
          <p:nvPr>
            <p:ph idx="1"/>
          </p:nvPr>
        </p:nvSpPr>
        <p:spPr/>
        <p:txBody>
          <a:bodyPr/>
          <a:lstStyle/>
          <a:p>
            <a:r>
              <a:rPr lang="en-US" dirty="0" smtClean="0"/>
              <a:t>The skull is the bony part of the head and consists of the following regions.</a:t>
            </a:r>
          </a:p>
          <a:p>
            <a:pPr lvl="1"/>
            <a:r>
              <a:rPr lang="en-US" dirty="0" smtClean="0"/>
              <a:t>Vault</a:t>
            </a:r>
          </a:p>
          <a:p>
            <a:pPr lvl="1"/>
            <a:r>
              <a:rPr lang="en-US" dirty="0" smtClean="0"/>
              <a:t>Base</a:t>
            </a:r>
          </a:p>
          <a:p>
            <a:pPr lvl="1"/>
            <a:r>
              <a:rPr lang="en-US" dirty="0" smtClean="0"/>
              <a:t>Face</a:t>
            </a:r>
          </a:p>
          <a:p>
            <a:r>
              <a:rPr lang="en-US" dirty="0" smtClean="0"/>
              <a:t>The base consists of sphenoid, ethmoid and temporal bones fused together to protect the medulla.</a:t>
            </a:r>
          </a:p>
          <a:p>
            <a:endParaRPr lang="en-US"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The face consist of 14 small firmly united bones. It extends from the orbital ridges and the root of the nose to the junction of the chin and neck. The point </a:t>
            </a:r>
            <a:r>
              <a:rPr lang="en-US" dirty="0" err="1" smtClean="0"/>
              <a:t>btwn</a:t>
            </a:r>
            <a:r>
              <a:rPr lang="en-US" dirty="0" smtClean="0"/>
              <a:t> the eyes is called </a:t>
            </a:r>
            <a:r>
              <a:rPr lang="en-US" dirty="0" err="1" smtClean="0"/>
              <a:t>glabella</a:t>
            </a:r>
            <a:r>
              <a:rPr lang="en-US" dirty="0" smtClean="0"/>
              <a:t>. The chin is called the mentum and is an important landmark.</a:t>
            </a:r>
          </a:p>
          <a:p>
            <a:r>
              <a:rPr lang="en-US" dirty="0" smtClean="0"/>
              <a:t>The vault is the large, dome shaped part at the top of the skull. its bones are relatively thin and pliable at birth.</a:t>
            </a:r>
            <a:endParaRPr lang="en-US"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This allows slight alteration in shape of the skull at birth. It is made by the occiput, two parietal and two frontal bones.  It extends from the bridge of the nose to the nape of the neck. It has three significant landmarks which are:-</a:t>
            </a:r>
          </a:p>
          <a:p>
            <a:pPr lvl="1"/>
            <a:r>
              <a:rPr lang="en-US" dirty="0" smtClean="0"/>
              <a:t>Occiput</a:t>
            </a:r>
          </a:p>
          <a:p>
            <a:pPr lvl="1"/>
            <a:r>
              <a:rPr lang="en-US" dirty="0" smtClean="0"/>
              <a:t>Sinciput</a:t>
            </a:r>
          </a:p>
          <a:p>
            <a:pPr lvl="1"/>
            <a:r>
              <a:rPr lang="en-US" dirty="0" smtClean="0"/>
              <a:t>vertex</a:t>
            </a: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The occiput:- lies </a:t>
            </a:r>
            <a:r>
              <a:rPr lang="en-US" dirty="0" err="1" smtClean="0"/>
              <a:t>btwn</a:t>
            </a:r>
            <a:r>
              <a:rPr lang="en-US" dirty="0" smtClean="0"/>
              <a:t> the foramen magnum and the posterior fontanel. The part below the occipital protuberance is called the suboccipital region.</a:t>
            </a:r>
          </a:p>
          <a:p>
            <a:r>
              <a:rPr lang="en-US" dirty="0" smtClean="0"/>
              <a:t>The vertex:- it is bordered by the posterior fontanel, the two parietal eminences and the anterior fontanel. 95% of the babies born head first present by vertex.</a:t>
            </a:r>
          </a:p>
          <a:p>
            <a:r>
              <a:rPr lang="en-US" dirty="0" smtClean="0"/>
              <a:t>Sinciput/brow:- extends from the anterior fontanel and coronal suture to the orbital ridges.</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Landmarks of the fetal skull</a:t>
            </a:r>
            <a:endParaRPr lang="en-US" dirty="0"/>
          </a:p>
        </p:txBody>
      </p:sp>
      <p:sp>
        <p:nvSpPr>
          <p:cNvPr id="3" name="Content Placeholder 2"/>
          <p:cNvSpPr>
            <a:spLocks noGrp="1"/>
          </p:cNvSpPr>
          <p:nvPr>
            <p:ph idx="1"/>
          </p:nvPr>
        </p:nvSpPr>
        <p:spPr/>
        <p:txBody>
          <a:bodyPr/>
          <a:lstStyle/>
          <a:p>
            <a:r>
              <a:rPr lang="en-US" dirty="0" smtClean="0"/>
              <a:t>These are important in determining the position on vaginal examination.</a:t>
            </a:r>
          </a:p>
          <a:p>
            <a:r>
              <a:rPr lang="en-US" dirty="0" smtClean="0"/>
              <a:t>Four suture.</a:t>
            </a:r>
          </a:p>
          <a:p>
            <a:r>
              <a:rPr lang="en-US" dirty="0" smtClean="0"/>
              <a:t>Two fontanels</a:t>
            </a:r>
          </a:p>
          <a:p>
            <a:r>
              <a:rPr lang="en-US" dirty="0" smtClean="0"/>
              <a:t>The sinciput</a:t>
            </a:r>
          </a:p>
          <a:p>
            <a:r>
              <a:rPr lang="en-US" dirty="0" smtClean="0"/>
              <a:t>The occiput.</a:t>
            </a:r>
          </a:p>
          <a:p>
            <a:r>
              <a:rPr lang="en-US" dirty="0" smtClean="0"/>
              <a:t>The mentum (chin)</a:t>
            </a:r>
          </a:p>
          <a:p>
            <a:endParaRPr lang="en-US"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Diameters of the </a:t>
            </a:r>
            <a:r>
              <a:rPr lang="en-US" smtClean="0"/>
              <a:t>fetal skull</a:t>
            </a:r>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Antenatal, intrapartum or perinatal care</a:t>
            </a:r>
            <a:endParaRPr lang="en-US" dirty="0"/>
          </a:p>
        </p:txBody>
      </p:sp>
      <p:sp>
        <p:nvSpPr>
          <p:cNvPr id="3" name="Text Placeholder 2"/>
          <p:cNvSpPr>
            <a:spLocks noGrp="1"/>
          </p:cNvSpPr>
          <p:nvPr>
            <p:ph type="body" idx="1"/>
          </p:nvPr>
        </p:nvSpPr>
        <p:spPr/>
        <p:txBody>
          <a:bodyPr/>
          <a:lstStyle/>
          <a:p>
            <a:endParaRPr lang="en-US"/>
          </a:p>
        </p:txBody>
      </p:sp>
    </p:spTree>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Focused antenatal care (</a:t>
            </a:r>
            <a:r>
              <a:rPr lang="en-US" dirty="0" err="1" smtClean="0"/>
              <a:t>fanc</a:t>
            </a:r>
            <a:r>
              <a:rPr lang="en-US" dirty="0" smtClean="0"/>
              <a:t>)</a:t>
            </a:r>
            <a:endParaRPr lang="en-US" dirty="0"/>
          </a:p>
        </p:txBody>
      </p:sp>
      <p:sp>
        <p:nvSpPr>
          <p:cNvPr id="3" name="Content Placeholder 2"/>
          <p:cNvSpPr>
            <a:spLocks noGrp="1"/>
          </p:cNvSpPr>
          <p:nvPr>
            <p:ph idx="1"/>
          </p:nvPr>
        </p:nvSpPr>
        <p:spPr/>
        <p:txBody>
          <a:bodyPr/>
          <a:lstStyle/>
          <a:p>
            <a:r>
              <a:rPr lang="en-US" dirty="0" smtClean="0"/>
              <a:t>Refers to the care given to a pregnant woman from the time she realizes she is pregnant until the birth of the baby.</a:t>
            </a:r>
          </a:p>
          <a:p>
            <a:r>
              <a:rPr lang="en-US" dirty="0" smtClean="0"/>
              <a:t>FANC is aimed at ensuring that the mother and fetus are in good health and that any problem during pregnancy is recognized, treated and referred promptly.</a:t>
            </a:r>
            <a:endParaRPr lang="en-US" dirty="0"/>
          </a:p>
        </p:txBody>
      </p:sp>
    </p:spTree>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or aims of </a:t>
            </a:r>
            <a:r>
              <a:rPr lang="en-US" dirty="0" err="1" smtClean="0"/>
              <a:t>fanc</a:t>
            </a:r>
            <a:endParaRPr lang="en-US" dirty="0"/>
          </a:p>
        </p:txBody>
      </p:sp>
      <p:sp>
        <p:nvSpPr>
          <p:cNvPr id="3" name="Content Placeholder 2"/>
          <p:cNvSpPr>
            <a:spLocks noGrp="1"/>
          </p:cNvSpPr>
          <p:nvPr>
            <p:ph idx="1"/>
          </p:nvPr>
        </p:nvSpPr>
        <p:spPr/>
        <p:txBody>
          <a:bodyPr>
            <a:normAutofit fontScale="85000" lnSpcReduction="10000"/>
          </a:bodyPr>
          <a:lstStyle/>
          <a:p>
            <a:pPr marL="514350" indent="-514350">
              <a:buFont typeface="+mj-lt"/>
              <a:buAutoNum type="arabicPeriod"/>
            </a:pPr>
            <a:r>
              <a:rPr lang="en-US" b="1" dirty="0" smtClean="0"/>
              <a:t>to promote and maintain good physical, mental and social health during pregnancy. This is done by education on:-</a:t>
            </a:r>
          </a:p>
          <a:p>
            <a:pPr marL="514350" indent="-514350">
              <a:buFont typeface="Wingdings" pitchFamily="2" charset="2"/>
              <a:buChar char="Ø"/>
            </a:pPr>
            <a:r>
              <a:rPr lang="en-US" b="1" dirty="0" smtClean="0"/>
              <a:t>How to recognize danger signs, </a:t>
            </a:r>
          </a:p>
          <a:p>
            <a:pPr marL="514350" indent="-514350">
              <a:buFont typeface="Wingdings" pitchFamily="2" charset="2"/>
              <a:buChar char="Ø"/>
            </a:pPr>
            <a:r>
              <a:rPr lang="en-US" b="1" dirty="0" smtClean="0"/>
              <a:t>what to do, and where to get help </a:t>
            </a:r>
          </a:p>
          <a:p>
            <a:pPr marL="514350" indent="-514350">
              <a:buFont typeface="Wingdings" pitchFamily="2" charset="2"/>
              <a:buChar char="Ø"/>
            </a:pPr>
            <a:r>
              <a:rPr lang="en-US" b="1" dirty="0" smtClean="0"/>
              <a:t>Good nutrition and the importance of rest</a:t>
            </a:r>
          </a:p>
          <a:p>
            <a:pPr marL="514350" indent="-514350">
              <a:buFont typeface="Wingdings" pitchFamily="2" charset="2"/>
              <a:buChar char="Ø"/>
            </a:pPr>
            <a:r>
              <a:rPr lang="en-US" b="1" dirty="0" smtClean="0"/>
              <a:t>Hygiene and infection prevention practices</a:t>
            </a:r>
          </a:p>
          <a:p>
            <a:pPr marL="514350" indent="-514350">
              <a:buFont typeface="Wingdings" pitchFamily="2" charset="2"/>
              <a:buChar char="Ø"/>
            </a:pPr>
            <a:r>
              <a:rPr lang="en-US" b="1" dirty="0" smtClean="0"/>
              <a:t>Risks of using tobacco, alcohol, local drugs, and traditional remedies</a:t>
            </a:r>
          </a:p>
          <a:p>
            <a:pPr marL="514350" indent="-514350">
              <a:buFont typeface="Wingdings" pitchFamily="2" charset="2"/>
              <a:buChar char="Ø"/>
            </a:pPr>
            <a:r>
              <a:rPr lang="en-US" b="1" dirty="0" smtClean="0"/>
              <a:t> Breastfeeding </a:t>
            </a:r>
          </a:p>
          <a:p>
            <a:pPr marL="514350" indent="-514350">
              <a:buFont typeface="Wingdings" pitchFamily="2" charset="2"/>
              <a:buChar char="Ø"/>
            </a:pPr>
            <a:r>
              <a:rPr lang="en-US" b="1" dirty="0" smtClean="0"/>
              <a:t>Postpartum family planning and birth spacing. </a:t>
            </a:r>
          </a:p>
        </p:txBody>
      </p:sp>
    </p:spTree>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514350" indent="-514350">
              <a:buNone/>
            </a:pPr>
            <a:r>
              <a:rPr lang="en-US" dirty="0" smtClean="0"/>
              <a:t>2. </a:t>
            </a:r>
            <a:r>
              <a:rPr lang="en-US" b="1" i="1" dirty="0" smtClean="0"/>
              <a:t>To detect early and treat any arising complications during pregnancy (medical, surgical or obstetrical)</a:t>
            </a:r>
          </a:p>
          <a:p>
            <a:pPr marL="514350" indent="-514350">
              <a:buFont typeface="Courier New" pitchFamily="49" charset="0"/>
              <a:buChar char="o"/>
            </a:pPr>
            <a:r>
              <a:rPr lang="en-US" b="1" dirty="0" smtClean="0"/>
              <a:t>This is done through good history taking, observations, investigations, examination and follow-up care.</a:t>
            </a:r>
          </a:p>
          <a:p>
            <a:pPr marL="514350" indent="-514350">
              <a:buNone/>
            </a:pPr>
            <a:r>
              <a:rPr lang="en-US" b="1" dirty="0" smtClean="0"/>
              <a:t>3. </a:t>
            </a:r>
            <a:r>
              <a:rPr lang="en-US" b="1" i="1" dirty="0" smtClean="0"/>
              <a:t>To promote safe delivery of a healthy baby with minimal stress and injury to the mother and the baby.</a:t>
            </a:r>
          </a:p>
          <a:p>
            <a:pPr marL="514350" indent="-514350">
              <a:buNone/>
            </a:pPr>
            <a:r>
              <a:rPr lang="en-US" b="1" dirty="0" smtClean="0"/>
              <a:t>This is possible through monitoring, encouraging pregnant women in ANC,</a:t>
            </a:r>
            <a:endParaRPr lang="en-US" b="1" dirty="0"/>
          </a:p>
        </p:txBody>
      </p:sp>
    </p:spTree>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buNone/>
            </a:pPr>
            <a:r>
              <a:rPr lang="en-US" dirty="0" smtClean="0"/>
              <a:t>  </a:t>
            </a:r>
            <a:r>
              <a:rPr lang="en-US" b="1" dirty="0" smtClean="0"/>
              <a:t>monitoring fetal growth and well being during pregnancy, advising mothers to avoid harmful substances and promoting rest.</a:t>
            </a:r>
          </a:p>
          <a:p>
            <a:pPr>
              <a:buNone/>
            </a:pPr>
            <a:r>
              <a:rPr lang="en-US" b="1" dirty="0" smtClean="0"/>
              <a:t>4. </a:t>
            </a:r>
            <a:r>
              <a:rPr lang="en-US" b="1" i="1" dirty="0" smtClean="0"/>
              <a:t>To prepare mothers for labor, lactation and normal puerperium</a:t>
            </a:r>
            <a:r>
              <a:rPr lang="en-US" b="1" dirty="0" smtClean="0"/>
              <a:t>- teach the woman about labor, child care and events that follows child birth</a:t>
            </a:r>
          </a:p>
          <a:p>
            <a:pPr>
              <a:buNone/>
            </a:pPr>
            <a:r>
              <a:rPr lang="en-US" b="1" dirty="0" smtClean="0"/>
              <a:t>5. </a:t>
            </a:r>
            <a:r>
              <a:rPr lang="en-US" b="1" i="1" dirty="0" smtClean="0"/>
              <a:t>To ensure that the pregnant woman makes an individual birth plan</a:t>
            </a:r>
            <a:r>
              <a:rPr lang="en-US" b="1" dirty="0" smtClean="0"/>
              <a:t>-counsel and educate the woman on delivery, need to plan for delivery </a:t>
            </a:r>
            <a:r>
              <a:rPr lang="en-US" b="1" dirty="0" err="1" smtClean="0"/>
              <a:t>ie</a:t>
            </a:r>
            <a:r>
              <a:rPr lang="en-US" b="1" dirty="0" smtClean="0"/>
              <a:t> emergency preparedness, where she plans to deliver, mode of transport, financial arrangement, etc</a:t>
            </a:r>
            <a:endParaRPr lang="en-US" b="1" dirty="0"/>
          </a:p>
        </p:txBody>
      </p:sp>
    </p:spTree>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smtClean="0"/>
              <a:t>FANC emphasizes that a woman should have at least four visits to the clinic during pregnancy.</a:t>
            </a:r>
          </a:p>
          <a:p>
            <a:r>
              <a:rPr lang="en-US" b="1" dirty="0" smtClean="0"/>
              <a:t>FANC is therefore:-</a:t>
            </a:r>
          </a:p>
          <a:p>
            <a:pPr marL="514350" indent="-514350">
              <a:buFont typeface="+mj-lt"/>
              <a:buAutoNum type="alphaLcParenR"/>
            </a:pPr>
            <a:r>
              <a:rPr lang="en-US" b="1" dirty="0" smtClean="0"/>
              <a:t>Care that is timely, friendly, simple, beneficial and safe to pregnant women.</a:t>
            </a:r>
          </a:p>
          <a:p>
            <a:pPr marL="514350" indent="-514350">
              <a:buFont typeface="+mj-lt"/>
              <a:buAutoNum type="alphaLcParenR"/>
            </a:pPr>
            <a:r>
              <a:rPr lang="en-US" b="1" dirty="0" smtClean="0"/>
              <a:t>It is care provided to pregnant women which emphasizes on the woman’s overall health, her preparedness for child birth and readiness for complications(emergency care)</a:t>
            </a:r>
            <a:endParaRPr lang="en-US" b="1" dirty="0"/>
          </a:p>
        </p:txBody>
      </p:sp>
    </p:spTree>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Booking visit</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This is the first visit a pregnant woman makes to the antenatal clinic.</a:t>
            </a:r>
          </a:p>
          <a:p>
            <a:pPr>
              <a:buNone/>
            </a:pPr>
            <a:r>
              <a:rPr lang="en-US" b="1" i="1" dirty="0" smtClean="0">
                <a:solidFill>
                  <a:srgbClr val="FF0000"/>
                </a:solidFill>
              </a:rPr>
              <a:t>Objectives of the visit</a:t>
            </a:r>
          </a:p>
          <a:p>
            <a:pPr marL="514350" indent="-514350">
              <a:buFont typeface="+mj-lt"/>
              <a:buAutoNum type="arabicPeriod"/>
            </a:pPr>
            <a:r>
              <a:rPr lang="en-US" b="1" i="1" dirty="0" smtClean="0"/>
              <a:t>to assess the level of health by taking a detailed history and employing screening tests or appropriate tests that are necessary.</a:t>
            </a:r>
          </a:p>
          <a:p>
            <a:pPr marL="514350" indent="-514350">
              <a:buFont typeface="+mj-lt"/>
              <a:buAutoNum type="arabicPeriod"/>
            </a:pPr>
            <a:r>
              <a:rPr lang="en-US" b="1" i="1" dirty="0" smtClean="0"/>
              <a:t>to make baseline recordings of weight, height, blood pressure and </a:t>
            </a:r>
            <a:r>
              <a:rPr lang="en-US" b="1" i="1" dirty="0" err="1" smtClean="0"/>
              <a:t>hb</a:t>
            </a:r>
            <a:r>
              <a:rPr lang="en-US" b="1" i="1" dirty="0" smtClean="0"/>
              <a:t> levels in order to assess normality. These values are used for comparison in subsequent visits</a:t>
            </a:r>
          </a:p>
          <a:p>
            <a:pPr marL="514350" indent="-514350">
              <a:buFont typeface="+mj-lt"/>
              <a:buAutoNum type="arabicPeriod"/>
            </a:pPr>
            <a:endParaRPr lang="en-US" b="1" i="1" dirty="0">
              <a:solidFill>
                <a:srgbClr val="FF0000"/>
              </a:solidFill>
            </a:endParaRPr>
          </a:p>
        </p:txBody>
      </p:sp>
    </p:spTree>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US" dirty="0" smtClean="0"/>
              <a:t>3.  </a:t>
            </a:r>
            <a:r>
              <a:rPr lang="en-US" b="1" i="1" dirty="0" smtClean="0"/>
              <a:t>To indentify risk factors by taking accurate details of past and present obstetric and medical history.</a:t>
            </a:r>
          </a:p>
          <a:p>
            <a:pPr marL="514350" indent="-514350">
              <a:buAutoNum type="arabicPeriod" startAt="4"/>
            </a:pPr>
            <a:r>
              <a:rPr lang="en-US" b="1" i="1" dirty="0" smtClean="0"/>
              <a:t>To provide an opportunity for the woman and her family to express any concerns they might have regarding the pregnancy and previous obstetrical experience.</a:t>
            </a:r>
          </a:p>
          <a:p>
            <a:pPr marL="514350" indent="-514350">
              <a:buAutoNum type="arabicPeriod" startAt="4"/>
            </a:pPr>
            <a:r>
              <a:rPr lang="en-US" b="1" i="1" dirty="0" smtClean="0"/>
              <a:t>To give advice on general health matters and those pertaining to pregnancy in order to maintain the health of the mother and development of the fetus.</a:t>
            </a:r>
          </a:p>
          <a:p>
            <a:pPr marL="514350" indent="-514350">
              <a:buAutoNum type="arabicPeriod" startAt="4"/>
            </a:pPr>
            <a:endParaRPr lang="en-US" dirty="0"/>
          </a:p>
        </p:txBody>
      </p:sp>
    </p:spTree>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marL="514350" indent="-514350">
              <a:buAutoNum type="arabicPeriod" startAt="6"/>
            </a:pPr>
            <a:r>
              <a:rPr lang="en-US" b="1" i="1" dirty="0" smtClean="0"/>
              <a:t>To begin building a trusting relationship in which realistic plans of care are discussed.</a:t>
            </a:r>
          </a:p>
          <a:p>
            <a:pPr marL="514350" indent="-514350">
              <a:buNone/>
            </a:pPr>
            <a:r>
              <a:rPr lang="en-US" b="1" u="sng" dirty="0" smtClean="0">
                <a:solidFill>
                  <a:srgbClr val="FF0000"/>
                </a:solidFill>
              </a:rPr>
              <a:t>Steps in antenatal care.</a:t>
            </a:r>
          </a:p>
          <a:p>
            <a:pPr marL="514350" indent="-514350">
              <a:buNone/>
            </a:pPr>
            <a:r>
              <a:rPr lang="en-US" b="1" i="1" dirty="0" smtClean="0"/>
              <a:t>Also referred to as antenatal profile. It is carried out in the following steps.</a:t>
            </a:r>
          </a:p>
          <a:p>
            <a:pPr marL="514350" indent="-514350">
              <a:buFont typeface="Wingdings" pitchFamily="2" charset="2"/>
              <a:buChar char="ü"/>
            </a:pPr>
            <a:r>
              <a:rPr lang="en-US" b="1" i="1" dirty="0" smtClean="0"/>
              <a:t>History taking</a:t>
            </a:r>
          </a:p>
          <a:p>
            <a:pPr marL="514350" indent="-514350">
              <a:buFont typeface="Wingdings" pitchFamily="2" charset="2"/>
              <a:buChar char="ü"/>
            </a:pPr>
            <a:r>
              <a:rPr lang="en-US" b="1" i="1" dirty="0" smtClean="0"/>
              <a:t>Observations</a:t>
            </a:r>
          </a:p>
          <a:p>
            <a:pPr marL="514350" indent="-514350">
              <a:buFont typeface="Wingdings" pitchFamily="2" charset="2"/>
              <a:buChar char="ü"/>
            </a:pPr>
            <a:r>
              <a:rPr lang="en-US" b="1" i="1" dirty="0" smtClean="0"/>
              <a:t>Investigations</a:t>
            </a:r>
          </a:p>
          <a:p>
            <a:pPr marL="514350" indent="-514350">
              <a:buFont typeface="Wingdings" pitchFamily="2" charset="2"/>
              <a:buChar char="ü"/>
            </a:pPr>
            <a:r>
              <a:rPr lang="en-US" b="1" i="1" dirty="0" smtClean="0"/>
              <a:t>General physical examination(head to toe)</a:t>
            </a:r>
          </a:p>
        </p:txBody>
      </p:sp>
    </p:spTree>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taking</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Welcome the woman, create good  rapport and then take history in a quite, private way.</a:t>
            </a:r>
          </a:p>
          <a:p>
            <a:r>
              <a:rPr lang="en-US" b="1" dirty="0" smtClean="0"/>
              <a:t>Several forms of history are taken:-</a:t>
            </a:r>
          </a:p>
          <a:p>
            <a:pPr marL="514350" indent="-514350">
              <a:buFont typeface="+mj-lt"/>
              <a:buAutoNum type="arabicPeriod"/>
            </a:pPr>
            <a:r>
              <a:rPr lang="en-US" b="1" i="1" dirty="0" smtClean="0">
                <a:solidFill>
                  <a:srgbClr val="FF0000"/>
                </a:solidFill>
              </a:rPr>
              <a:t>Personal and social history- </a:t>
            </a:r>
            <a:r>
              <a:rPr lang="en-US" b="1" dirty="0" smtClean="0"/>
              <a:t>name, age, address, religion, educational background, occupation, marital status, spouses name and address, tribe, chief or sub-chief, hobbies and habits such as smoking.</a:t>
            </a:r>
          </a:p>
          <a:p>
            <a:pPr marL="514350" indent="-514350">
              <a:buFont typeface="+mj-lt"/>
              <a:buAutoNum type="arabicPeriod"/>
            </a:pPr>
            <a:r>
              <a:rPr lang="en-US" b="1" i="1" dirty="0" smtClean="0">
                <a:solidFill>
                  <a:srgbClr val="FF0000"/>
                </a:solidFill>
              </a:rPr>
              <a:t>Family history- </a:t>
            </a:r>
            <a:r>
              <a:rPr lang="en-US" b="1" dirty="0" smtClean="0"/>
              <a:t>history of illness(s) running in the family such as epilepsy, psychiatric disorders, hypertension, DM, asthma, multiple pregnancies, etc</a:t>
            </a:r>
            <a:endParaRPr lang="en-US" b="1"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514350" indent="-514350">
              <a:buAutoNum type="arabicPeriod" startAt="3"/>
            </a:pPr>
            <a:r>
              <a:rPr lang="en-US" b="1" i="1" dirty="0" smtClean="0">
                <a:solidFill>
                  <a:srgbClr val="FF0000"/>
                </a:solidFill>
              </a:rPr>
              <a:t>Past medical/ surgical history- </a:t>
            </a:r>
            <a:r>
              <a:rPr lang="en-US" b="1" dirty="0" smtClean="0"/>
              <a:t>any past serious illness warranting medical attention or admission in an hospital such as poliomyelitis, cardiac conditions, UTI, STI, Anemia, hypertension, DM, asthma, blood transfusion, and any kind operations involving pelvic organs or accidents involving the pelvic region</a:t>
            </a:r>
          </a:p>
          <a:p>
            <a:pPr marL="514350" indent="-514350">
              <a:buAutoNum type="arabicPeriod" startAt="3"/>
            </a:pPr>
            <a:r>
              <a:rPr lang="en-US" b="1" i="1" dirty="0" smtClean="0">
                <a:solidFill>
                  <a:srgbClr val="FF0000"/>
                </a:solidFill>
              </a:rPr>
              <a:t>Past obstetrical/ gynecological history- </a:t>
            </a:r>
            <a:r>
              <a:rPr lang="en-US" b="1" dirty="0" smtClean="0"/>
              <a:t>ask her parity- the number of times she has delivered, gravida-the number of times she has ever been pregnant,</a:t>
            </a:r>
            <a:endParaRPr lang="en-US" b="1"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smtClean="0"/>
              <a:t>Abortions- when it occurred, how many times, was it complete or incomplete? was the cause known or identified, and was action or treatment was given.</a:t>
            </a:r>
          </a:p>
          <a:p>
            <a:r>
              <a:rPr lang="en-US" b="1" dirty="0" smtClean="0"/>
              <a:t>Ask about complications of previous pregnancies, labor and purperium.</a:t>
            </a:r>
          </a:p>
          <a:p>
            <a:r>
              <a:rPr lang="en-US" b="1" dirty="0" smtClean="0"/>
              <a:t>Ask whether the labor was spontaneous or induced, duration of labor and type of deliveries.</a:t>
            </a:r>
          </a:p>
          <a:p>
            <a:r>
              <a:rPr lang="en-US" b="1" dirty="0" smtClean="0"/>
              <a:t>Ask the weight of the babies and their fate, sex and any complications of the babies.</a:t>
            </a:r>
          </a:p>
          <a:p>
            <a:endParaRPr lang="en-US"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514350" indent="-514350">
              <a:buAutoNum type="arabicPeriod" startAt="5"/>
            </a:pPr>
            <a:r>
              <a:rPr lang="en-US" b="1" dirty="0" smtClean="0">
                <a:solidFill>
                  <a:srgbClr val="FF0000"/>
                </a:solidFill>
              </a:rPr>
              <a:t>present obstetrical history- </a:t>
            </a:r>
            <a:r>
              <a:rPr lang="en-US" b="1" dirty="0" smtClean="0"/>
              <a:t>ask about last menstrual period (LMP) and calculate the Expected Date of Delivery (EDD) so as to compare the actual fetal size and size. EDD =first day of LMP+ 7 days + 9 months or – 3 months.</a:t>
            </a:r>
          </a:p>
          <a:p>
            <a:pPr marL="514350" indent="-514350">
              <a:buNone/>
            </a:pPr>
            <a:r>
              <a:rPr lang="en-US" b="1" dirty="0" smtClean="0"/>
              <a:t>    note history of pregnancy related illnesses, other risks such as </a:t>
            </a:r>
            <a:r>
              <a:rPr lang="en-US" b="1" dirty="0" err="1" smtClean="0"/>
              <a:t>multiparity</a:t>
            </a:r>
            <a:r>
              <a:rPr lang="en-US" b="1" dirty="0" smtClean="0"/>
              <a:t>, age above 35 years or below 16 years and any history of harmful habits such as smoking</a:t>
            </a:r>
          </a:p>
          <a:p>
            <a:pPr marL="514350" indent="-514350">
              <a:buNone/>
            </a:pPr>
            <a:r>
              <a:rPr lang="en-US" b="1" dirty="0" smtClean="0"/>
              <a:t>Calculate the maturity by date</a:t>
            </a:r>
          </a:p>
          <a:p>
            <a:pPr>
              <a:buNone/>
            </a:pPr>
            <a:endParaRPr lang="en-US"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observations</a:t>
            </a:r>
            <a:endParaRPr lang="en-US" dirty="0"/>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lphaLcParenR"/>
            </a:pPr>
            <a:r>
              <a:rPr lang="en-US" b="1" dirty="0" smtClean="0"/>
              <a:t>Take the </a:t>
            </a:r>
            <a:r>
              <a:rPr lang="en-US" b="1" dirty="0" smtClean="0">
                <a:solidFill>
                  <a:srgbClr val="FF0000"/>
                </a:solidFill>
              </a:rPr>
              <a:t>height</a:t>
            </a:r>
            <a:r>
              <a:rPr lang="en-US" b="1" dirty="0" smtClean="0"/>
              <a:t> at first visit only and record it in the clinic card. Women of 150 cm and below, those who are limping or have abnormal gait are at risk of having contracted pelvis.</a:t>
            </a:r>
          </a:p>
          <a:p>
            <a:pPr marL="514350" indent="-514350">
              <a:buFont typeface="+mj-lt"/>
              <a:buAutoNum type="alphaLcParenR"/>
            </a:pPr>
            <a:r>
              <a:rPr lang="en-US" b="1" dirty="0" smtClean="0">
                <a:solidFill>
                  <a:srgbClr val="FF0000"/>
                </a:solidFill>
              </a:rPr>
              <a:t>Weight-</a:t>
            </a:r>
            <a:r>
              <a:rPr lang="en-US" b="1" dirty="0" smtClean="0"/>
              <a:t> should be taken as early as possible in pregnancy and then compared with that of subsequent visits</a:t>
            </a:r>
          </a:p>
          <a:p>
            <a:pPr marL="514350" indent="-514350">
              <a:buFont typeface="+mj-lt"/>
              <a:buAutoNum type="alphaLcParenR"/>
            </a:pPr>
            <a:r>
              <a:rPr lang="en-US" b="1" dirty="0" smtClean="0">
                <a:solidFill>
                  <a:srgbClr val="FF0000"/>
                </a:solidFill>
              </a:rPr>
              <a:t>Blood pressure- </a:t>
            </a:r>
            <a:r>
              <a:rPr lang="en-US" b="1" dirty="0" err="1" smtClean="0"/>
              <a:t>shld</a:t>
            </a:r>
            <a:r>
              <a:rPr lang="en-US" b="1" dirty="0" smtClean="0"/>
              <a:t> be recorded as early as possible and then comparison done during subsequent visits.</a:t>
            </a:r>
            <a:endParaRPr lang="en-US" b="1"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Laboratory investigations</a:t>
            </a:r>
            <a:endParaRPr lang="en-US" dirty="0"/>
          </a:p>
        </p:txBody>
      </p:sp>
      <p:sp>
        <p:nvSpPr>
          <p:cNvPr id="3" name="Content Placeholder 2"/>
          <p:cNvSpPr>
            <a:spLocks noGrp="1"/>
          </p:cNvSpPr>
          <p:nvPr>
            <p:ph idx="1"/>
          </p:nvPr>
        </p:nvSpPr>
        <p:spPr/>
        <p:txBody>
          <a:bodyPr/>
          <a:lstStyle/>
          <a:p>
            <a:pPr marL="514350" indent="-514350">
              <a:buFont typeface="+mj-lt"/>
              <a:buAutoNum type="alphaLcParenR"/>
            </a:pPr>
            <a:r>
              <a:rPr lang="en-US" b="1" i="1" dirty="0" smtClean="0">
                <a:solidFill>
                  <a:srgbClr val="FF0000"/>
                </a:solidFill>
              </a:rPr>
              <a:t> Urinalysis-</a:t>
            </a:r>
            <a:r>
              <a:rPr lang="en-US" b="1" dirty="0" smtClean="0"/>
              <a:t> test urine for proteins, sugar, ketone bodies and ph to identify or excludes conditions such as pre-eclampsia and DM.</a:t>
            </a:r>
          </a:p>
          <a:p>
            <a:pPr marL="514350" indent="-514350">
              <a:buFont typeface="+mj-lt"/>
              <a:buAutoNum type="alphaLcParenR"/>
            </a:pPr>
            <a:r>
              <a:rPr lang="en-US" b="1" i="1" dirty="0" smtClean="0">
                <a:solidFill>
                  <a:srgbClr val="FF0000"/>
                </a:solidFill>
              </a:rPr>
              <a:t>Blood tests- </a:t>
            </a:r>
            <a:r>
              <a:rPr lang="en-US" b="1" dirty="0" smtClean="0"/>
              <a:t>blood grouping, rhesus factor, hemoglobin level, VDRL, HIV/AIDS, and sometimes malaria.</a:t>
            </a:r>
          </a:p>
          <a:p>
            <a:pPr marL="514350" indent="-514350">
              <a:buFont typeface="+mj-lt"/>
              <a:buAutoNum type="alphaLcParenR"/>
            </a:pPr>
            <a:r>
              <a:rPr lang="en-US" b="1" i="1" dirty="0" smtClean="0">
                <a:solidFill>
                  <a:srgbClr val="FF0000"/>
                </a:solidFill>
              </a:rPr>
              <a:t>PMTCT</a:t>
            </a:r>
            <a:r>
              <a:rPr lang="en-US" b="1" dirty="0" smtClean="0"/>
              <a:t> </a:t>
            </a:r>
            <a:r>
              <a:rPr lang="en-US" b="1" i="1" dirty="0" smtClean="0">
                <a:solidFill>
                  <a:srgbClr val="FF0000"/>
                </a:solidFill>
              </a:rPr>
              <a:t>counseling</a:t>
            </a:r>
            <a:r>
              <a:rPr lang="en-US" b="1" dirty="0" smtClean="0"/>
              <a:t> is essential</a:t>
            </a:r>
            <a:endParaRPr lang="en-US" b="1"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examination</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A general head to toe examination is carried out to:-</a:t>
            </a:r>
          </a:p>
          <a:p>
            <a:pPr marL="514350" indent="-514350">
              <a:buFont typeface="+mj-lt"/>
              <a:buAutoNum type="alphaLcParenR"/>
            </a:pPr>
            <a:r>
              <a:rPr lang="en-US" b="1" dirty="0" smtClean="0"/>
              <a:t>Help detect abnormalities and take appropriate action.</a:t>
            </a:r>
          </a:p>
          <a:p>
            <a:pPr marL="514350" indent="-514350">
              <a:buFont typeface="+mj-lt"/>
              <a:buAutoNum type="alphaLcParenR"/>
            </a:pPr>
            <a:r>
              <a:rPr lang="en-US" b="1" dirty="0" smtClean="0"/>
              <a:t>Help give advice, health education, psychological support and reassurance in line with the findings.</a:t>
            </a:r>
          </a:p>
          <a:p>
            <a:pPr marL="514350" indent="-514350">
              <a:buFont typeface="+mj-lt"/>
              <a:buAutoNum type="alphaLcParenR"/>
            </a:pPr>
            <a:r>
              <a:rPr lang="en-US" b="1" dirty="0" smtClean="0"/>
              <a:t>To help students develop competency in the examination.</a:t>
            </a:r>
          </a:p>
          <a:p>
            <a:pPr marL="514350" indent="-514350">
              <a:buNone/>
            </a:pPr>
            <a:r>
              <a:rPr lang="en-US" b="1" dirty="0" smtClean="0">
                <a:solidFill>
                  <a:srgbClr val="00B0F0"/>
                </a:solidFill>
              </a:rPr>
              <a:t>Refer to procedure manual for general examination procedure.</a:t>
            </a:r>
            <a:endParaRPr lang="en-US" b="1" dirty="0">
              <a:solidFill>
                <a:srgbClr val="00B0F0"/>
              </a:solidFill>
            </a:endParaRP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Abdominal examination</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Aims:</a:t>
            </a:r>
          </a:p>
          <a:p>
            <a:pPr marL="514350" indent="-514350">
              <a:buFont typeface="+mj-lt"/>
              <a:buAutoNum type="arabicPeriod"/>
            </a:pPr>
            <a:r>
              <a:rPr lang="en-US" b="1" dirty="0" smtClean="0"/>
              <a:t>To observe signs of pregnancy</a:t>
            </a:r>
          </a:p>
          <a:p>
            <a:pPr marL="514350" indent="-514350">
              <a:buFont typeface="+mj-lt"/>
              <a:buAutoNum type="arabicPeriod"/>
            </a:pPr>
            <a:r>
              <a:rPr lang="en-US" b="1" dirty="0" smtClean="0"/>
              <a:t>To assess fetal size and growth</a:t>
            </a:r>
          </a:p>
          <a:p>
            <a:pPr marL="514350" indent="-514350">
              <a:buFont typeface="+mj-lt"/>
              <a:buAutoNum type="arabicPeriod"/>
            </a:pPr>
            <a:r>
              <a:rPr lang="en-US" b="1" dirty="0" smtClean="0"/>
              <a:t>To diagnose the location of fetal parts</a:t>
            </a:r>
          </a:p>
          <a:p>
            <a:pPr marL="514350" indent="-514350">
              <a:buFont typeface="+mj-lt"/>
              <a:buAutoNum type="arabicPeriod"/>
            </a:pPr>
            <a:r>
              <a:rPr lang="en-US" b="1" dirty="0" smtClean="0"/>
              <a:t>To detect any deviation from normal</a:t>
            </a:r>
          </a:p>
          <a:p>
            <a:pPr marL="514350" indent="-514350">
              <a:buNone/>
            </a:pPr>
            <a:r>
              <a:rPr lang="en-US" b="1" i="1" dirty="0" smtClean="0">
                <a:solidFill>
                  <a:srgbClr val="00B0F0"/>
                </a:solidFill>
              </a:rPr>
              <a:t>Preparation.</a:t>
            </a:r>
          </a:p>
          <a:p>
            <a:pPr marL="514350" indent="-514350">
              <a:buNone/>
            </a:pPr>
            <a:r>
              <a:rPr lang="en-US" b="1" dirty="0" smtClean="0"/>
              <a:t>Conduct general examination first. Abdominal examination is done with mother lying in a supine position. She </a:t>
            </a:r>
            <a:r>
              <a:rPr lang="en-US" b="1" dirty="0" err="1" smtClean="0"/>
              <a:t>shld</a:t>
            </a:r>
            <a:r>
              <a:rPr lang="en-US" b="1" dirty="0" smtClean="0"/>
              <a:t> empty the bladder first and privacy maintained</a:t>
            </a: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solidFill>
                  <a:srgbClr val="FF0000"/>
                </a:solidFill>
              </a:rPr>
              <a:t>Inspection.</a:t>
            </a:r>
          </a:p>
          <a:p>
            <a:r>
              <a:rPr lang="en-US" b="1" dirty="0" smtClean="0"/>
              <a:t>Inspect the abdomen for:</a:t>
            </a:r>
          </a:p>
          <a:p>
            <a:r>
              <a:rPr lang="en-US" b="1" dirty="0" smtClean="0"/>
              <a:t>Size-</a:t>
            </a:r>
          </a:p>
          <a:p>
            <a:r>
              <a:rPr lang="en-US" b="1" dirty="0" smtClean="0"/>
              <a:t>Shape</a:t>
            </a:r>
          </a:p>
          <a:p>
            <a:r>
              <a:rPr lang="en-US" b="1" dirty="0" smtClean="0"/>
              <a:t>Fetal movements</a:t>
            </a:r>
          </a:p>
          <a:p>
            <a:r>
              <a:rPr lang="en-US" b="1" dirty="0" smtClean="0"/>
              <a:t>Contour of the abdominal wall</a:t>
            </a:r>
          </a:p>
          <a:p>
            <a:r>
              <a:rPr lang="en-US" b="1" dirty="0" smtClean="0"/>
              <a:t>Skin changes- note any stretch marks, presence of linea nigra, fenesteal scars etc</a:t>
            </a:r>
            <a:endParaRPr lang="en-US" b="1"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i="1" u="sng" dirty="0" smtClean="0">
                <a:solidFill>
                  <a:srgbClr val="FF0000"/>
                </a:solidFill>
              </a:rPr>
              <a:t>Palpation</a:t>
            </a:r>
          </a:p>
          <a:p>
            <a:r>
              <a:rPr lang="en-US" b="1" dirty="0" smtClean="0"/>
              <a:t>It is done in three parts with clean and warm hands.</a:t>
            </a:r>
          </a:p>
          <a:p>
            <a:pPr>
              <a:buNone/>
            </a:pPr>
            <a:r>
              <a:rPr lang="en-US" b="1" i="1" dirty="0" smtClean="0">
                <a:solidFill>
                  <a:srgbClr val="00B0F0"/>
                </a:solidFill>
              </a:rPr>
              <a:t>Fundal palpation</a:t>
            </a:r>
          </a:p>
          <a:p>
            <a:r>
              <a:rPr lang="en-US" b="1" dirty="0" smtClean="0"/>
              <a:t>Done to estimate fundal height and thus, gestation</a:t>
            </a:r>
          </a:p>
          <a:p>
            <a:r>
              <a:rPr lang="en-US" b="1" dirty="0" smtClean="0"/>
              <a:t>Place your hand below the xiphisternum, pressing gently and move down until you feel the curved upper boarder of the fundus. note the number of finger breaths that can be accommodated between the two surfaces.</a:t>
            </a:r>
            <a:endParaRPr lang="en-US" b="1"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smtClean="0"/>
              <a:t>To determine the presentation, the fundus will contain either the head or breech. The head is distinctive in shape and more firm than the breech.</a:t>
            </a:r>
          </a:p>
          <a:p>
            <a:pPr>
              <a:buNone/>
            </a:pPr>
            <a:r>
              <a:rPr lang="en-US" b="1" i="1" dirty="0" smtClean="0">
                <a:solidFill>
                  <a:srgbClr val="00B0F0"/>
                </a:solidFill>
              </a:rPr>
              <a:t>Lateral palpation.</a:t>
            </a:r>
          </a:p>
          <a:p>
            <a:r>
              <a:rPr lang="en-US" b="1" dirty="0" smtClean="0"/>
              <a:t>To determine the position, the fetal back should be located and this is achieved through lateral palpation.</a:t>
            </a:r>
          </a:p>
          <a:p>
            <a:r>
              <a:rPr lang="en-US" b="1" dirty="0" smtClean="0"/>
              <a:t>The midwife places her hands at either side of uterus at the level of umbilicus</a:t>
            </a:r>
            <a:endParaRPr lang="en-US" b="1"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smtClean="0"/>
              <a:t>Apply pressure with alternate hands in order to determine which side of the uterus offers greater resistance.</a:t>
            </a:r>
          </a:p>
          <a:p>
            <a:r>
              <a:rPr lang="en-US" b="1" dirty="0" smtClean="0"/>
              <a:t>The back is marked out as a smooth continuous resistant mass from the breech to the neck and the limbs as parts that slip about under the examining fingers. One hand should steady the uterus while the other palpates</a:t>
            </a:r>
            <a:endParaRPr lang="en-US" b="1"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b="1" i="1" u="sng" dirty="0" smtClean="0">
                <a:solidFill>
                  <a:srgbClr val="FF0000"/>
                </a:solidFill>
              </a:rPr>
              <a:t>Pelvic palpation.</a:t>
            </a:r>
          </a:p>
          <a:p>
            <a:r>
              <a:rPr lang="en-US" b="1" dirty="0" smtClean="0"/>
              <a:t>This is to ascertain presentation, engagement and attitude.</a:t>
            </a:r>
          </a:p>
          <a:p>
            <a:r>
              <a:rPr lang="en-US" b="1" dirty="0" smtClean="0"/>
              <a:t>Ask the woman to relax and slightly bend her knees, and steadily breath through open mouth.</a:t>
            </a:r>
          </a:p>
          <a:p>
            <a:r>
              <a:rPr lang="en-US" b="1" dirty="0" smtClean="0"/>
              <a:t>Grasp the sides of uterus just below the umbilicus between the palms of the hand with fingers held close together pointing downwards and inwards.</a:t>
            </a:r>
          </a:p>
          <a:p>
            <a:r>
              <a:rPr lang="en-US" b="1" dirty="0" smtClean="0"/>
              <a:t>The head is felt as a hard mass with a distinctive round smooth surface.</a:t>
            </a:r>
            <a:endParaRPr lang="en-US" b="1"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b="1" dirty="0" smtClean="0"/>
              <a:t>To estimate the engagement, feel how much of the head is palpable above the pelvic brim. Alternatively, </a:t>
            </a:r>
            <a:r>
              <a:rPr lang="en-US" b="1" dirty="0" err="1" smtClean="0"/>
              <a:t>Pawliks</a:t>
            </a:r>
            <a:r>
              <a:rPr lang="en-US" b="1" dirty="0" smtClean="0"/>
              <a:t> maneuver is used- grasp the head between the fingers and the thumb and find if it is movable.</a:t>
            </a:r>
          </a:p>
          <a:p>
            <a:pPr>
              <a:buNone/>
            </a:pPr>
            <a:endParaRPr lang="en-US" b="1" dirty="0" smtClean="0"/>
          </a:p>
          <a:p>
            <a:pPr>
              <a:buNone/>
            </a:pPr>
            <a:r>
              <a:rPr lang="en-US" b="1" i="1" u="sng" dirty="0" smtClean="0">
                <a:solidFill>
                  <a:srgbClr val="FF0000"/>
                </a:solidFill>
              </a:rPr>
              <a:t>Auscultation.</a:t>
            </a:r>
          </a:p>
          <a:p>
            <a:r>
              <a:rPr lang="en-US" b="1" dirty="0" smtClean="0"/>
              <a:t>Used to assess fetal well-being.</a:t>
            </a:r>
          </a:p>
          <a:p>
            <a:r>
              <a:rPr lang="en-US" b="1" dirty="0" smtClean="0"/>
              <a:t>Done using </a:t>
            </a:r>
            <a:r>
              <a:rPr lang="en-US" b="1" dirty="0" err="1" smtClean="0"/>
              <a:t>Pinard’s</a:t>
            </a:r>
            <a:r>
              <a:rPr lang="en-US" b="1" dirty="0" smtClean="0"/>
              <a:t> fetal scope.</a:t>
            </a:r>
          </a:p>
          <a:p>
            <a:r>
              <a:rPr lang="en-US" b="1" dirty="0" smtClean="0"/>
              <a:t>Move the fetal scope around until the point of maximum intensity is determined.</a:t>
            </a:r>
          </a:p>
          <a:p>
            <a:endParaRPr lang="en-US"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The fetal heart beats are more rapid than the mother’s.</a:t>
            </a:r>
          </a:p>
          <a:p>
            <a:r>
              <a:rPr lang="en-US" b="1" dirty="0" smtClean="0"/>
              <a:t>Ask the mother about fetal movements. Cover the mother and explain the findings to her.</a:t>
            </a:r>
            <a:endParaRPr lang="en-US" b="1"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Recording the findings</a:t>
            </a:r>
            <a:endParaRPr lang="en-US" dirty="0"/>
          </a:p>
        </p:txBody>
      </p:sp>
      <p:sp>
        <p:nvSpPr>
          <p:cNvPr id="3" name="Content Placeholder 2"/>
          <p:cNvSpPr>
            <a:spLocks noGrp="1"/>
          </p:cNvSpPr>
          <p:nvPr>
            <p:ph idx="1"/>
          </p:nvPr>
        </p:nvSpPr>
        <p:spPr/>
        <p:txBody>
          <a:bodyPr>
            <a:normAutofit fontScale="92500"/>
          </a:bodyPr>
          <a:lstStyle/>
          <a:p>
            <a:r>
              <a:rPr lang="en-US" b="1" dirty="0" smtClean="0"/>
              <a:t>Recording should be done on ANC card and clinic book.</a:t>
            </a:r>
          </a:p>
          <a:p>
            <a:r>
              <a:rPr lang="en-US" b="1" dirty="0" smtClean="0"/>
              <a:t>The mother should carry the card home and instructed to always carry it to the clinic.</a:t>
            </a:r>
          </a:p>
          <a:p>
            <a:r>
              <a:rPr lang="en-US" b="1" dirty="0" smtClean="0">
                <a:solidFill>
                  <a:srgbClr val="00B0F0"/>
                </a:solidFill>
              </a:rPr>
              <a:t>Gestation age- </a:t>
            </a:r>
            <a:r>
              <a:rPr lang="en-US" b="1" dirty="0" smtClean="0"/>
              <a:t>predicted gestational age </a:t>
            </a:r>
            <a:r>
              <a:rPr lang="en-US" b="1" dirty="0" err="1" smtClean="0"/>
              <a:t>shld</a:t>
            </a:r>
            <a:r>
              <a:rPr lang="en-US" b="1" dirty="0" smtClean="0"/>
              <a:t> correspond to the fundal height. In singleton pregnancy, the uterus reaches the level of umbilicus at 22-24 weeks and sternum at 36 weeks. multiple pregnancy </a:t>
            </a:r>
            <a:r>
              <a:rPr lang="en-US" b="1" dirty="0" err="1" smtClean="0"/>
              <a:t>shld</a:t>
            </a:r>
            <a:r>
              <a:rPr lang="en-US" b="1" dirty="0" smtClean="0"/>
              <a:t> be diagnosed by 24</a:t>
            </a:r>
            <a:r>
              <a:rPr lang="en-US" b="1" baseline="30000" dirty="0" smtClean="0"/>
              <a:t>th</a:t>
            </a:r>
            <a:r>
              <a:rPr lang="en-US" b="1" dirty="0" smtClean="0"/>
              <a:t> week</a:t>
            </a:r>
            <a:endParaRPr lang="en-US" b="1"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7239000" cy="4846320"/>
          </a:xfrm>
        </p:spPr>
        <p:txBody>
          <a:bodyPr>
            <a:normAutofit fontScale="92500" lnSpcReduction="10000"/>
          </a:bodyPr>
          <a:lstStyle/>
          <a:p>
            <a:pPr algn="ctr">
              <a:buNone/>
            </a:pPr>
            <a:r>
              <a:rPr lang="en-US" sz="2800" b="1" i="1" u="sng" dirty="0" smtClean="0">
                <a:solidFill>
                  <a:srgbClr val="FF0000"/>
                </a:solidFill>
              </a:rPr>
              <a:t>Lie</a:t>
            </a:r>
          </a:p>
          <a:p>
            <a:r>
              <a:rPr lang="en-US" b="1" dirty="0" smtClean="0"/>
              <a:t>It is the relationship </a:t>
            </a:r>
            <a:r>
              <a:rPr lang="en-US" b="1" dirty="0" err="1" smtClean="0"/>
              <a:t>btwn</a:t>
            </a:r>
            <a:r>
              <a:rPr lang="en-US" b="1" dirty="0" smtClean="0"/>
              <a:t> the long axis of the fetus and the long axis of the uterus.</a:t>
            </a:r>
          </a:p>
          <a:p>
            <a:r>
              <a:rPr lang="en-US" b="1" dirty="0" smtClean="0"/>
              <a:t>The lie may be:-</a:t>
            </a:r>
          </a:p>
          <a:p>
            <a:r>
              <a:rPr lang="en-US" b="1" dirty="0" smtClean="0">
                <a:solidFill>
                  <a:srgbClr val="00B0F0"/>
                </a:solidFill>
              </a:rPr>
              <a:t>Longitudinal</a:t>
            </a:r>
            <a:r>
              <a:rPr lang="en-US" b="1" dirty="0" smtClean="0"/>
              <a:t>-the fetus lies along the uterine long axis. occurs in 99.5% </a:t>
            </a:r>
          </a:p>
          <a:p>
            <a:r>
              <a:rPr lang="en-US" b="1" dirty="0" smtClean="0">
                <a:solidFill>
                  <a:srgbClr val="00B0F0"/>
                </a:solidFill>
              </a:rPr>
              <a:t>Oblique</a:t>
            </a:r>
            <a:r>
              <a:rPr lang="en-US" b="1" dirty="0" smtClean="0"/>
              <a:t>- the fetus lies diagonally across the long axis of the uterus</a:t>
            </a:r>
          </a:p>
          <a:p>
            <a:r>
              <a:rPr lang="en-US" b="1" dirty="0" smtClean="0">
                <a:solidFill>
                  <a:srgbClr val="00B0F0"/>
                </a:solidFill>
              </a:rPr>
              <a:t>Transverse</a:t>
            </a:r>
            <a:r>
              <a:rPr lang="en-US" b="1" dirty="0" smtClean="0"/>
              <a:t>- the fetus lies at right angles to the long axis of the uterus</a:t>
            </a:r>
            <a:endParaRPr lang="en-US" b="1"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buNone/>
            </a:pPr>
            <a:r>
              <a:rPr lang="en-US" b="1" i="1" u="sng" dirty="0" smtClean="0">
                <a:solidFill>
                  <a:srgbClr val="FF0000"/>
                </a:solidFill>
              </a:rPr>
              <a:t>Attitude</a:t>
            </a:r>
          </a:p>
          <a:p>
            <a:r>
              <a:rPr lang="en-US" b="1" dirty="0" smtClean="0"/>
              <a:t>This is the relationship of the fetal head and limbs to its trunk.</a:t>
            </a:r>
          </a:p>
          <a:p>
            <a:r>
              <a:rPr lang="en-US" b="1" dirty="0" smtClean="0"/>
              <a:t>the attitude can be that of flexion or extension.</a:t>
            </a:r>
            <a:endParaRPr lang="en-US" b="1"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ctr">
              <a:buNone/>
            </a:pPr>
            <a:r>
              <a:rPr lang="en-US" b="1" i="1" u="sng" dirty="0" smtClean="0">
                <a:solidFill>
                  <a:srgbClr val="FF0000"/>
                </a:solidFill>
              </a:rPr>
              <a:t>Presentation</a:t>
            </a:r>
          </a:p>
          <a:p>
            <a:r>
              <a:rPr lang="en-US" b="1" dirty="0" smtClean="0"/>
              <a:t>Refers to the part of the fetus that lies at the pelvic brim or in the lower uterine pole</a:t>
            </a:r>
          </a:p>
          <a:p>
            <a:r>
              <a:rPr lang="en-US" b="1" dirty="0" smtClean="0"/>
              <a:t>Presentation can be:-</a:t>
            </a:r>
          </a:p>
          <a:p>
            <a:pPr lvl="1"/>
            <a:r>
              <a:rPr lang="en-US" sz="2800" b="1" dirty="0" smtClean="0"/>
              <a:t>Vertex- 96.8%</a:t>
            </a:r>
          </a:p>
          <a:p>
            <a:pPr lvl="1"/>
            <a:r>
              <a:rPr lang="en-US" sz="2800" b="1" dirty="0" smtClean="0"/>
              <a:t>Breech- 2.5%</a:t>
            </a:r>
          </a:p>
          <a:p>
            <a:pPr lvl="1"/>
            <a:r>
              <a:rPr lang="en-US" sz="2800" b="1" dirty="0" smtClean="0"/>
              <a:t>Shoulder-0.4%</a:t>
            </a:r>
          </a:p>
          <a:p>
            <a:pPr lvl="1"/>
            <a:r>
              <a:rPr lang="en-US" sz="2800" b="1" dirty="0" smtClean="0"/>
              <a:t>Face-0.2%</a:t>
            </a:r>
          </a:p>
          <a:p>
            <a:pPr lvl="1"/>
            <a:r>
              <a:rPr lang="en-US" sz="2800" b="1" dirty="0" smtClean="0"/>
              <a:t>Brow- 0.1%</a:t>
            </a:r>
          </a:p>
          <a:p>
            <a:r>
              <a:rPr lang="en-US" b="1" dirty="0" smtClean="0"/>
              <a:t>Brow, face and vertex are all cephalic presentations.</a:t>
            </a:r>
            <a:endParaRPr lang="en-US" b="1"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lgn="ctr">
              <a:buNone/>
            </a:pPr>
            <a:r>
              <a:rPr lang="en-US" b="1" i="1" u="sng" dirty="0" smtClean="0">
                <a:solidFill>
                  <a:srgbClr val="FF0000"/>
                </a:solidFill>
              </a:rPr>
              <a:t>Denominator</a:t>
            </a:r>
          </a:p>
          <a:p>
            <a:r>
              <a:rPr lang="en-US" b="1" dirty="0" smtClean="0"/>
              <a:t>It is the name given to the part of the presentation which is used when referring to the fetal position. Each presentation has a different denominator.</a:t>
            </a:r>
          </a:p>
          <a:p>
            <a:pPr lvl="1"/>
            <a:r>
              <a:rPr lang="en-US" b="1" dirty="0" smtClean="0">
                <a:solidFill>
                  <a:srgbClr val="00B0F0"/>
                </a:solidFill>
              </a:rPr>
              <a:t>Presentation</a:t>
            </a:r>
            <a:r>
              <a:rPr lang="en-US" b="1" dirty="0" smtClean="0"/>
              <a:t>            </a:t>
            </a:r>
            <a:r>
              <a:rPr lang="en-US" b="1" dirty="0" smtClean="0">
                <a:solidFill>
                  <a:srgbClr val="00B0F0"/>
                </a:solidFill>
              </a:rPr>
              <a:t>denominator</a:t>
            </a:r>
          </a:p>
          <a:p>
            <a:pPr lvl="1"/>
            <a:r>
              <a:rPr lang="en-US" b="1" dirty="0" smtClean="0"/>
              <a:t>Vertex                      occiput</a:t>
            </a:r>
          </a:p>
          <a:p>
            <a:pPr lvl="1"/>
            <a:r>
              <a:rPr lang="en-US" b="1" dirty="0" smtClean="0"/>
              <a:t>Breech                     sacrum</a:t>
            </a:r>
          </a:p>
          <a:p>
            <a:pPr lvl="1"/>
            <a:r>
              <a:rPr lang="en-US" b="1" dirty="0" smtClean="0"/>
              <a:t>Face                         mentum</a:t>
            </a:r>
          </a:p>
          <a:p>
            <a:pPr lvl="1"/>
            <a:r>
              <a:rPr lang="en-US" b="1" dirty="0" smtClean="0"/>
              <a:t>Shoulder                   </a:t>
            </a:r>
            <a:r>
              <a:rPr lang="en-US" b="1" dirty="0" err="1" smtClean="0"/>
              <a:t>acromion</a:t>
            </a:r>
            <a:r>
              <a:rPr lang="en-US" b="1" dirty="0" smtClean="0"/>
              <a:t>/dorsum</a:t>
            </a:r>
            <a:endParaRPr lang="en-US" b="1"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lgn="ctr">
              <a:buNone/>
            </a:pPr>
            <a:r>
              <a:rPr lang="en-US" b="1" i="1" u="sng" dirty="0" smtClean="0">
                <a:solidFill>
                  <a:srgbClr val="FF0000"/>
                </a:solidFill>
              </a:rPr>
              <a:t>Position</a:t>
            </a:r>
          </a:p>
          <a:p>
            <a:r>
              <a:rPr lang="en-US" b="1" dirty="0" smtClean="0"/>
              <a:t>It is the relationship between the denominator and the fixed six positions (land marks) of the pelvic brim </a:t>
            </a:r>
            <a:r>
              <a:rPr lang="en-US" b="1" dirty="0" err="1" smtClean="0"/>
              <a:t>eg</a:t>
            </a:r>
            <a:r>
              <a:rPr lang="en-US" b="1" dirty="0" smtClean="0"/>
              <a:t> in the left occipital  anterior (LOA), the occiput points to the left iliopectineal eminence and the saggital suture lies in the oblique diameter of the pelvis</a:t>
            </a:r>
          </a:p>
          <a:p>
            <a:r>
              <a:rPr lang="en-US" b="1" i="1" dirty="0" smtClean="0">
                <a:solidFill>
                  <a:srgbClr val="0070C0"/>
                </a:solidFill>
              </a:rPr>
              <a:t>Assignment- read and make notes on other positions </a:t>
            </a:r>
            <a:r>
              <a:rPr lang="en-US" b="1" i="1" dirty="0" err="1" smtClean="0">
                <a:solidFill>
                  <a:srgbClr val="0070C0"/>
                </a:solidFill>
              </a:rPr>
              <a:t>ie</a:t>
            </a:r>
            <a:r>
              <a:rPr lang="en-US" b="1" i="1" dirty="0" smtClean="0">
                <a:solidFill>
                  <a:srgbClr val="0070C0"/>
                </a:solidFill>
              </a:rPr>
              <a:t>, ROA, ROP, ROL, LOP, ROL</a:t>
            </a:r>
            <a:endParaRPr lang="en-US" b="1" i="1" dirty="0">
              <a:solidFill>
                <a:srgbClr val="0070C0"/>
              </a:solidFill>
            </a:endParaRP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buNone/>
            </a:pPr>
            <a:r>
              <a:rPr lang="en-US" i="1" u="sng" dirty="0" smtClean="0">
                <a:solidFill>
                  <a:srgbClr val="FF0000"/>
                </a:solidFill>
              </a:rPr>
              <a:t>PRESENTING PART</a:t>
            </a:r>
          </a:p>
          <a:p>
            <a:r>
              <a:rPr lang="en-US" b="1" dirty="0" smtClean="0"/>
              <a:t>The part that lies over the cervical os during labor</a:t>
            </a:r>
          </a:p>
          <a:p>
            <a:r>
              <a:rPr lang="en-US" b="1" dirty="0" smtClean="0"/>
              <a:t>Engagement</a:t>
            </a:r>
          </a:p>
          <a:p>
            <a:r>
              <a:rPr lang="en-US" b="1" dirty="0" smtClean="0"/>
              <a:t>Said to occur when the largest diameter has passed the pelvic brim. It can be assessed as descent abdominally or in relation to the ischial spines.</a:t>
            </a:r>
            <a:endParaRPr lang="en-US" b="1"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smtClean="0"/>
              <a:t>All the findings are recorded and appropriate action taken according to the findings.</a:t>
            </a:r>
          </a:p>
          <a:p>
            <a:r>
              <a:rPr lang="en-US" b="1" dirty="0" smtClean="0"/>
              <a:t>The woman also receives the following in the process of profiling</a:t>
            </a:r>
          </a:p>
          <a:p>
            <a:pPr lvl="1"/>
            <a:r>
              <a:rPr lang="en-US" b="1" dirty="0" smtClean="0"/>
              <a:t>Malaria prophylaxis</a:t>
            </a:r>
          </a:p>
          <a:p>
            <a:pPr lvl="1"/>
            <a:r>
              <a:rPr lang="en-US" b="1" dirty="0" smtClean="0"/>
              <a:t>Hematinics, iron and folate supplements</a:t>
            </a:r>
          </a:p>
          <a:p>
            <a:pPr lvl="1"/>
            <a:r>
              <a:rPr lang="en-US" b="1" dirty="0" smtClean="0"/>
              <a:t>Tetanus toxoid according to the schedule</a:t>
            </a:r>
          </a:p>
          <a:p>
            <a:pPr lvl="1"/>
            <a:r>
              <a:rPr lang="en-US" b="1" dirty="0" smtClean="0"/>
              <a:t>Date of the next visit is written down and well communicated.</a:t>
            </a:r>
          </a:p>
          <a:p>
            <a:pPr lvl="1"/>
            <a:r>
              <a:rPr lang="en-US" b="1" dirty="0" smtClean="0"/>
              <a:t>Health education and relevant advice.</a:t>
            </a:r>
            <a:endParaRPr lang="en-US" b="1" dirty="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00B0F0"/>
                </a:solidFill>
              </a:rPr>
              <a:t>PHYSIOLOGY OF LABOUR</a:t>
            </a:r>
            <a:endParaRPr lang="en-US" b="1" dirty="0">
              <a:solidFill>
                <a:srgbClr val="00B0F0"/>
              </a:solidFill>
            </a:endParaRP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b="1" dirty="0" smtClean="0"/>
              <a:t>Physiological changes that occur during labor are divided into three stages</a:t>
            </a:r>
          </a:p>
          <a:p>
            <a:r>
              <a:rPr lang="en-US" b="1" dirty="0" smtClean="0"/>
              <a:t>The duration of first stage of labor determines the duration of labor because it takes the most time. The duration of labor is determined by:</a:t>
            </a:r>
          </a:p>
          <a:p>
            <a:pPr lvl="1"/>
            <a:r>
              <a:rPr lang="en-US" sz="3200" b="1" dirty="0" smtClean="0"/>
              <a:t>Parity</a:t>
            </a:r>
          </a:p>
          <a:p>
            <a:pPr lvl="1"/>
            <a:r>
              <a:rPr lang="en-US" sz="3200" b="1" dirty="0" smtClean="0"/>
              <a:t>Birth interval</a:t>
            </a:r>
          </a:p>
          <a:p>
            <a:pPr lvl="1"/>
            <a:r>
              <a:rPr lang="en-US" sz="3200" b="1" dirty="0" smtClean="0"/>
              <a:t>Psychological state of the mother</a:t>
            </a:r>
            <a:endParaRPr lang="en-US" sz="3200" b="1"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1"/>
            <a:r>
              <a:rPr lang="en-US" sz="3600" b="1" dirty="0" smtClean="0"/>
              <a:t>Presentation and position of the fetus</a:t>
            </a:r>
          </a:p>
          <a:p>
            <a:pPr lvl="1"/>
            <a:r>
              <a:rPr lang="en-US" sz="3600" b="1" dirty="0" smtClean="0"/>
              <a:t>Pelvic shape and size</a:t>
            </a:r>
          </a:p>
          <a:p>
            <a:pPr lvl="1"/>
            <a:r>
              <a:rPr lang="en-US" sz="3600" b="1" dirty="0" smtClean="0"/>
              <a:t>Character of uterine contractions</a:t>
            </a:r>
            <a:endParaRPr lang="en-US" sz="3600" b="1" dirty="0"/>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first stage</a:t>
            </a:r>
            <a:endParaRPr lang="en-US" b="1" dirty="0"/>
          </a:p>
        </p:txBody>
      </p:sp>
      <p:sp>
        <p:nvSpPr>
          <p:cNvPr id="3" name="Content Placeholder 2"/>
          <p:cNvSpPr>
            <a:spLocks noGrp="1"/>
          </p:cNvSpPr>
          <p:nvPr>
            <p:ph idx="1"/>
          </p:nvPr>
        </p:nvSpPr>
        <p:spPr/>
        <p:txBody>
          <a:bodyPr/>
          <a:lstStyle/>
          <a:p>
            <a:r>
              <a:rPr lang="en-US" b="1" dirty="0" smtClean="0"/>
              <a:t>Physiology of first stage is divided into two categories.</a:t>
            </a:r>
          </a:p>
          <a:p>
            <a:pPr lvl="4"/>
            <a:r>
              <a:rPr lang="en-US" sz="3200" b="1" dirty="0" smtClean="0"/>
              <a:t>Uterine action</a:t>
            </a:r>
          </a:p>
          <a:p>
            <a:pPr lvl="4"/>
            <a:r>
              <a:rPr lang="en-US" sz="3200" b="1" dirty="0" smtClean="0"/>
              <a:t>Mechanical factors</a:t>
            </a:r>
            <a:endParaRPr lang="en-US" sz="3200" b="1" dirty="0"/>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lphaUcPeriod"/>
            </a:pPr>
            <a:r>
              <a:rPr lang="en-US" b="1" dirty="0" smtClean="0"/>
              <a:t>Uterine action</a:t>
            </a:r>
            <a:endParaRPr lang="en-US" b="1" dirty="0"/>
          </a:p>
        </p:txBody>
      </p:sp>
      <p:sp>
        <p:nvSpPr>
          <p:cNvPr id="3" name="Content Placeholder 2"/>
          <p:cNvSpPr>
            <a:spLocks noGrp="1"/>
          </p:cNvSpPr>
          <p:nvPr>
            <p:ph idx="1"/>
          </p:nvPr>
        </p:nvSpPr>
        <p:spPr/>
        <p:txBody>
          <a:bodyPr>
            <a:normAutofit/>
          </a:bodyPr>
          <a:lstStyle/>
          <a:p>
            <a:pPr marL="514350" indent="-514350">
              <a:buAutoNum type="alphaLcParenR"/>
            </a:pPr>
            <a:r>
              <a:rPr lang="en-US" b="1" dirty="0" smtClean="0"/>
              <a:t>Fundal dominance</a:t>
            </a:r>
          </a:p>
          <a:p>
            <a:pPr marL="514350" indent="-514350">
              <a:buFont typeface="Wingdings" pitchFamily="2" charset="2"/>
              <a:buChar char="§"/>
            </a:pPr>
            <a:r>
              <a:rPr lang="en-US" b="1" dirty="0" smtClean="0"/>
              <a:t>Contractions begins at the fundus and spread downwards lasting at the fundus where it is most intense but the peak is reached simultaneously over the whole uterus and fades from all parts together. This permits cervical dilatation and allows strongly contracting fundus to expel the fetus.</a:t>
            </a: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b) Polarity</a:t>
            </a:r>
          </a:p>
          <a:p>
            <a:pPr>
              <a:buFont typeface="Wingdings" pitchFamily="2" charset="2"/>
              <a:buChar char="§"/>
            </a:pPr>
            <a:r>
              <a:rPr lang="en-US" b="1" dirty="0" smtClean="0"/>
              <a:t>The term used to describe the </a:t>
            </a:r>
            <a:r>
              <a:rPr lang="en-US" b="1" dirty="0" err="1" smtClean="0"/>
              <a:t>neuromascular</a:t>
            </a:r>
            <a:r>
              <a:rPr lang="en-US" b="1" dirty="0" smtClean="0"/>
              <a:t> harmony that exist </a:t>
            </a:r>
            <a:r>
              <a:rPr lang="en-US" b="1" dirty="0" err="1" smtClean="0"/>
              <a:t>btwn</a:t>
            </a:r>
            <a:r>
              <a:rPr lang="en-US" b="1" dirty="0" smtClean="0"/>
              <a:t> the upper and lower uterine segments</a:t>
            </a:r>
          </a:p>
          <a:p>
            <a:pPr>
              <a:buFont typeface="Wingdings" pitchFamily="2" charset="2"/>
              <a:buChar char="§"/>
            </a:pPr>
            <a:r>
              <a:rPr lang="en-US" b="1" dirty="0" smtClean="0"/>
              <a:t>The upper uterine segment contracts strongly and retracts to expel the fetus while lower segment contracts slightly and dilates to allow expulsion of the fetus </a:t>
            </a:r>
            <a:endParaRPr lang="en-US" b="1" dirty="0"/>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514350" indent="-514350">
              <a:buAutoNum type="alphaLcParenR" startAt="3"/>
            </a:pPr>
            <a:r>
              <a:rPr lang="en-US" b="1" dirty="0" smtClean="0"/>
              <a:t>Contraction and retraction</a:t>
            </a:r>
          </a:p>
          <a:p>
            <a:pPr marL="514350" indent="-514350">
              <a:buFont typeface="Wingdings" pitchFamily="2" charset="2"/>
              <a:buChar char="§"/>
            </a:pPr>
            <a:r>
              <a:rPr lang="en-US" b="1" dirty="0" smtClean="0"/>
              <a:t>The uterus contracts and retracts in labor. The contractions do not fade completely but muscle fibers retain some of the shortening of contraction and therefore do not relax completely. This is known as </a:t>
            </a:r>
            <a:r>
              <a:rPr lang="en-US" b="1" i="1" dirty="0" smtClean="0"/>
              <a:t>retraction.</a:t>
            </a:r>
          </a:p>
          <a:p>
            <a:pPr marL="514350" indent="-514350">
              <a:buFont typeface="Wingdings" pitchFamily="2" charset="2"/>
              <a:buChar char="§"/>
            </a:pPr>
            <a:r>
              <a:rPr lang="en-US" b="1" dirty="0" smtClean="0"/>
              <a:t>During contractions, the upper segment becomes thicker and shorter; the cavity diminishes gradually while the lower segment becomes thinner.</a:t>
            </a:r>
            <a:endParaRPr lang="en-US" b="1"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514350" indent="-514350">
              <a:buAutoNum type="alphaLcParenR" startAt="4"/>
            </a:pPr>
            <a:r>
              <a:rPr lang="en-US" b="1" dirty="0" smtClean="0"/>
              <a:t>Formation of the upper and lower uterine segment</a:t>
            </a:r>
          </a:p>
          <a:p>
            <a:pPr marL="514350" indent="-514350">
              <a:buFont typeface="Wingdings" pitchFamily="2" charset="2"/>
              <a:buChar char="§"/>
            </a:pPr>
            <a:r>
              <a:rPr lang="en-US" b="1" dirty="0" smtClean="0"/>
              <a:t>This is a functional division that occurs ton the uterus at term. The uterus is divided into the upper and lower segment.</a:t>
            </a:r>
          </a:p>
          <a:p>
            <a:pPr marL="514350" indent="-514350">
              <a:buFont typeface="Wingdings" pitchFamily="2" charset="2"/>
              <a:buChar char="§"/>
            </a:pPr>
            <a:r>
              <a:rPr lang="en-US" b="1" dirty="0" smtClean="0"/>
              <a:t>The upper segment is thick and muscular concerned with contraction when the lower segment is thin prepared for distention and dilatation.</a:t>
            </a:r>
            <a:endParaRPr lang="en-US" b="1"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514350" indent="-514350">
              <a:buAutoNum type="alphaLcParenR" startAt="5"/>
            </a:pPr>
            <a:r>
              <a:rPr lang="en-US" b="1" dirty="0" smtClean="0"/>
              <a:t>Development of the retraction ring.</a:t>
            </a:r>
          </a:p>
          <a:p>
            <a:pPr marL="514350" indent="-514350">
              <a:buFont typeface="Wingdings" pitchFamily="2" charset="2"/>
              <a:buChar char="§"/>
            </a:pPr>
            <a:r>
              <a:rPr lang="en-US" b="1" dirty="0" smtClean="0"/>
              <a:t>The upper segment is functionally separated from the lower segment by a ridge known as retraction ring. it rises with the increase in contractions until full cervical dilatation is achieved</a:t>
            </a:r>
          </a:p>
          <a:p>
            <a:pPr marL="514350" indent="-514350">
              <a:buFont typeface="Wingdings" pitchFamily="2" charset="2"/>
              <a:buChar char="§"/>
            </a:pPr>
            <a:r>
              <a:rPr lang="en-US" b="1" dirty="0" smtClean="0"/>
              <a:t>It is not seen abdominally but if it does, it known as </a:t>
            </a:r>
            <a:r>
              <a:rPr lang="en-US" b="1" dirty="0" err="1" smtClean="0"/>
              <a:t>Bandl’s</a:t>
            </a:r>
            <a:r>
              <a:rPr lang="en-US" b="1" dirty="0" smtClean="0"/>
              <a:t> ring and denotes obstructed labor.</a:t>
            </a:r>
            <a:endParaRPr lang="en-US" b="1" dirty="0"/>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514350" indent="-514350">
              <a:buAutoNum type="alphaLcParenR" startAt="6"/>
            </a:pPr>
            <a:r>
              <a:rPr lang="en-US" b="1" dirty="0" smtClean="0"/>
              <a:t>Cervical effacement</a:t>
            </a:r>
          </a:p>
          <a:p>
            <a:pPr marL="514350" indent="-514350">
              <a:buFont typeface="Wingdings" pitchFamily="2" charset="2"/>
              <a:buChar char="§"/>
            </a:pPr>
            <a:r>
              <a:rPr lang="en-US" b="1" dirty="0" smtClean="0"/>
              <a:t>It denotes the “taking up” or shortening of the cervix that takes place during the last few days of pregnancy.</a:t>
            </a:r>
          </a:p>
          <a:p>
            <a:pPr marL="514350" indent="-514350">
              <a:buFont typeface="Wingdings" pitchFamily="2" charset="2"/>
              <a:buChar char="§"/>
            </a:pPr>
            <a:r>
              <a:rPr lang="en-US" b="1" dirty="0" smtClean="0"/>
              <a:t>The muscle fibers surrounding the internal os are drawn upwards by the retracting upper segment thus allowing the cervix to become shorter as it gets absorbed into the lower uterine segment</a:t>
            </a:r>
            <a:endParaRPr lang="en-US" b="1" dirty="0"/>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514350" indent="-514350">
              <a:buAutoNum type="alphaLcParenR" startAt="7"/>
            </a:pPr>
            <a:r>
              <a:rPr lang="en-US" b="1" dirty="0" smtClean="0"/>
              <a:t>Cervical dilatation</a:t>
            </a:r>
          </a:p>
          <a:p>
            <a:pPr marL="514350" indent="-514350">
              <a:buFont typeface="Wingdings" pitchFamily="2" charset="2"/>
              <a:buChar char="§"/>
            </a:pPr>
            <a:r>
              <a:rPr lang="en-US" b="1" dirty="0" smtClean="0"/>
              <a:t>This is brought about by the upward traction exerted by the retracted muscle fibers of the upper segment. It is also aided by the pressure from a well-fitting presenting part</a:t>
            </a:r>
            <a:endParaRPr lang="en-US" b="1" dirty="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514350" indent="-514350">
              <a:buAutoNum type="alphaLcParenR" startAt="8"/>
            </a:pPr>
            <a:r>
              <a:rPr lang="en-US" b="1" dirty="0" smtClean="0"/>
              <a:t>Show</a:t>
            </a:r>
          </a:p>
          <a:p>
            <a:pPr marL="514350" indent="-514350">
              <a:buFont typeface="Wingdings" pitchFamily="2" charset="2"/>
              <a:buChar char="§"/>
            </a:pPr>
            <a:r>
              <a:rPr lang="en-US" b="1" dirty="0" smtClean="0"/>
              <a:t>This is the blood stained mucous discharge that is seen within few hours after the labor starts.</a:t>
            </a:r>
          </a:p>
          <a:p>
            <a:pPr marL="514350" indent="-514350">
              <a:buFont typeface="Wingdings" pitchFamily="2" charset="2"/>
              <a:buChar char="§"/>
            </a:pPr>
            <a:r>
              <a:rPr lang="en-US" b="1" dirty="0" smtClean="0"/>
              <a:t>This is the mucous that was forming the cervical plug.</a:t>
            </a:r>
          </a:p>
          <a:p>
            <a:pPr marL="514350" indent="-514350">
              <a:buFont typeface="Wingdings" pitchFamily="2" charset="2"/>
              <a:buChar char="§"/>
            </a:pPr>
            <a:r>
              <a:rPr lang="en-US" b="1" dirty="0" smtClean="0"/>
              <a:t>The blood is from the ruptured capillaries as the chorion detaches from the decidua</a:t>
            </a:r>
            <a:endParaRPr lang="en-US" b="1" dirty="0"/>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B) Mechanical factors</a:t>
            </a:r>
            <a:endParaRPr lang="en-US" b="1" i="1" dirty="0"/>
          </a:p>
        </p:txBody>
      </p:sp>
      <p:sp>
        <p:nvSpPr>
          <p:cNvPr id="3" name="Content Placeholder 2"/>
          <p:cNvSpPr>
            <a:spLocks noGrp="1"/>
          </p:cNvSpPr>
          <p:nvPr>
            <p:ph idx="1"/>
          </p:nvPr>
        </p:nvSpPr>
        <p:spPr/>
        <p:txBody>
          <a:bodyPr>
            <a:normAutofit fontScale="92500" lnSpcReduction="10000"/>
          </a:bodyPr>
          <a:lstStyle/>
          <a:p>
            <a:pPr marL="514350" indent="-514350">
              <a:buAutoNum type="alphaLcParenR"/>
            </a:pPr>
            <a:r>
              <a:rPr lang="en-US" b="1" dirty="0" smtClean="0"/>
              <a:t>Formation of the fore waters.</a:t>
            </a:r>
          </a:p>
          <a:p>
            <a:pPr marL="514350" indent="-514350">
              <a:buFont typeface="Wingdings" pitchFamily="2" charset="2"/>
              <a:buChar char="§"/>
            </a:pPr>
            <a:r>
              <a:rPr lang="en-US" b="1" dirty="0" smtClean="0"/>
              <a:t>Increased intrauterine pressure causes the detached part of chorion to bulge into the dilating os. Well-fitting presenting part fits into the cervix and cuts off the fluid in front of the head from the reminder of the amniotic fluid. This fluid in front is called the fore waters and the reminder is hind waters. This is the nature’s way of keeping the membranes intact since the pressure is only applied to the hind waters. </a:t>
            </a:r>
          </a:p>
          <a:p>
            <a:pPr marL="514350" indent="-514350">
              <a:buNone/>
            </a:pPr>
            <a:endParaRPr lang="en-US" b="1" dirty="0"/>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514350" indent="-514350">
              <a:buAutoNum type="alphaLcParenR" startAt="2"/>
            </a:pPr>
            <a:r>
              <a:rPr lang="en-US" b="1" dirty="0" smtClean="0"/>
              <a:t>Rupture of membranes</a:t>
            </a:r>
          </a:p>
          <a:p>
            <a:pPr marL="514350" indent="-514350">
              <a:buFont typeface="Wingdings" pitchFamily="2" charset="2"/>
              <a:buChar char="§"/>
            </a:pPr>
            <a:r>
              <a:rPr lang="en-US" b="1" dirty="0" smtClean="0"/>
              <a:t>Membranes may rupture at any stage in labor.</a:t>
            </a:r>
          </a:p>
          <a:p>
            <a:pPr marL="514350" indent="-514350">
              <a:buFont typeface="Wingdings" pitchFamily="2" charset="2"/>
              <a:buChar char="§"/>
            </a:pPr>
            <a:r>
              <a:rPr lang="en-US" b="1" dirty="0" smtClean="0"/>
              <a:t>Towards the end of first stage the membranes ruptures due to extensive cervical dilatation. In poorly fitting presenting part the waters are not cut off effectively and is subjected to intense pressure leading to early rupture of membranes.</a:t>
            </a:r>
            <a:endParaRPr lang="en-US" b="1" dirty="0"/>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marL="514350" indent="-514350">
              <a:buAutoNum type="alphaLcParenR" startAt="3"/>
            </a:pPr>
            <a:r>
              <a:rPr lang="en-US" b="1" dirty="0" smtClean="0"/>
              <a:t>General fluid pressure</a:t>
            </a:r>
          </a:p>
          <a:p>
            <a:pPr marL="514350" indent="-514350">
              <a:buFont typeface="Wingdings" pitchFamily="2" charset="2"/>
              <a:buChar char="§"/>
            </a:pPr>
            <a:r>
              <a:rPr lang="en-US" b="1" dirty="0" smtClean="0"/>
              <a:t>When the membranes are intact, the pressure from uterine contractions is exerted on the fluid. Since the fluid is incompressive, the pressure is equalized throughout the uterus and over the fetal body. This is known as general fluid pressure</a:t>
            </a:r>
          </a:p>
          <a:p>
            <a:pPr marL="514350" indent="-514350">
              <a:buFont typeface="Wingdings" pitchFamily="2" charset="2"/>
              <a:buChar char="§"/>
            </a:pPr>
            <a:r>
              <a:rPr lang="en-US" b="1" dirty="0" smtClean="0"/>
              <a:t>After membranes rupture, the pressure is felt between the uterus and the fetus, with placenta compressed </a:t>
            </a:r>
            <a:r>
              <a:rPr lang="en-US" b="1" dirty="0" err="1" smtClean="0"/>
              <a:t>btwn</a:t>
            </a:r>
            <a:r>
              <a:rPr lang="en-US" b="1" dirty="0" smtClean="0"/>
              <a:t> them. This causes diminished oxygen supply to the fetus</a:t>
            </a:r>
            <a:endParaRPr lang="en-US" b="1" dirty="0"/>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b="1" dirty="0"/>
          </a:p>
        </p:txBody>
      </p:sp>
      <p:sp>
        <p:nvSpPr>
          <p:cNvPr id="3" name="Content Placeholder 2"/>
          <p:cNvSpPr>
            <a:spLocks noGrp="1"/>
          </p:cNvSpPr>
          <p:nvPr>
            <p:ph idx="1"/>
          </p:nvPr>
        </p:nvSpPr>
        <p:spPr/>
        <p:txBody>
          <a:bodyPr/>
          <a:lstStyle/>
          <a:p>
            <a:pPr>
              <a:buNone/>
            </a:pPr>
            <a:r>
              <a:rPr lang="en-US" b="1" dirty="0" smtClean="0"/>
              <a:t>d) Fetal axis pressure.</a:t>
            </a:r>
          </a:p>
          <a:p>
            <a:pPr>
              <a:buNone/>
            </a:pPr>
            <a:r>
              <a:rPr lang="en-US" b="1" dirty="0" smtClean="0"/>
              <a:t>During labor, the force of contraction is transmitted to the upper pole of the fetus down the long axis and is applied by the presenting part to the cervix. This pressure is more significant after the rupture of membranes. </a:t>
            </a:r>
            <a:endParaRPr lang="en-US" b="1" dirty="0"/>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PHYSIOLOGICAL CHANGES IN THE SECOND STAGE</a:t>
            </a:r>
            <a:endParaRPr lang="en-US" b="1" dirty="0"/>
          </a:p>
        </p:txBody>
      </p:sp>
      <p:sp>
        <p:nvSpPr>
          <p:cNvPr id="3" name="Content Placeholder 2"/>
          <p:cNvSpPr>
            <a:spLocks noGrp="1"/>
          </p:cNvSpPr>
          <p:nvPr>
            <p:ph idx="1"/>
          </p:nvPr>
        </p:nvSpPr>
        <p:spPr/>
        <p:txBody>
          <a:bodyPr/>
          <a:lstStyle/>
          <a:p>
            <a:pPr marL="514350" indent="-514350">
              <a:buAutoNum type="alphaLcParenR"/>
            </a:pPr>
            <a:r>
              <a:rPr lang="en-US" b="1" dirty="0" smtClean="0"/>
              <a:t>Contractions</a:t>
            </a:r>
          </a:p>
          <a:p>
            <a:pPr marL="514350" indent="-514350"/>
            <a:r>
              <a:rPr lang="en-US" b="1" dirty="0" smtClean="0"/>
              <a:t>The strength of contractions increases once the cervix is fully dilated.</a:t>
            </a:r>
          </a:p>
          <a:p>
            <a:pPr marL="514350" indent="-514350"/>
            <a:r>
              <a:rPr lang="en-US" b="1" dirty="0" smtClean="0"/>
              <a:t>They are more stronger and frequent due to irritation of the uterus. </a:t>
            </a:r>
          </a:p>
          <a:p>
            <a:pPr marL="514350" indent="-514350"/>
            <a:r>
              <a:rPr lang="en-US" b="1" dirty="0" smtClean="0"/>
              <a:t>As the vagina is being stretched by the fetus, the reflex stimulates the uterus causing more labor pains</a:t>
            </a:r>
            <a:endParaRPr lang="en-US" b="1" dirty="0"/>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514350" indent="-514350">
              <a:buAutoNum type="alphaLcParenR" startAt="2"/>
            </a:pPr>
            <a:r>
              <a:rPr lang="en-US" b="1" dirty="0" smtClean="0"/>
              <a:t>Abdominal and diaphragmatic muscles (secondary powers)</a:t>
            </a:r>
          </a:p>
          <a:p>
            <a:pPr marL="514350" indent="-514350"/>
            <a:r>
              <a:rPr lang="en-US" b="1" dirty="0" smtClean="0"/>
              <a:t>These muscles becomes more active and expulsive in action. This is known as pushing or bearing down.</a:t>
            </a:r>
          </a:p>
          <a:p>
            <a:pPr marL="514350" indent="-514350"/>
            <a:r>
              <a:rPr lang="en-US" b="1" dirty="0" smtClean="0"/>
              <a:t>The expulsion becomes involuntary when the presenting part reaches the pelvic floor and distends it.</a:t>
            </a:r>
            <a:endParaRPr lang="en-US" b="1" dirty="0"/>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b="1" dirty="0" smtClean="0"/>
              <a:t>c) Displacement of the pelvic floor</a:t>
            </a:r>
          </a:p>
          <a:p>
            <a:r>
              <a:rPr lang="en-US" b="1" dirty="0" smtClean="0"/>
              <a:t>The pelvic floor organs are displaced to allow the fetus to pass through:</a:t>
            </a:r>
          </a:p>
          <a:p>
            <a:pPr lvl="1">
              <a:buFont typeface="Wingdings" pitchFamily="2" charset="2"/>
              <a:buChar char="Ø"/>
            </a:pPr>
            <a:r>
              <a:rPr lang="en-US" b="1" dirty="0" smtClean="0"/>
              <a:t>The bladder is drawn up into the abdomen.</a:t>
            </a:r>
          </a:p>
          <a:p>
            <a:pPr lvl="1">
              <a:buFont typeface="Wingdings" pitchFamily="2" charset="2"/>
              <a:buChar char="Ø"/>
            </a:pPr>
            <a:r>
              <a:rPr lang="en-US" b="1" dirty="0" smtClean="0"/>
              <a:t>The vagina dilates</a:t>
            </a:r>
          </a:p>
          <a:p>
            <a:pPr lvl="1">
              <a:buFont typeface="Wingdings" pitchFamily="2" charset="2"/>
              <a:buChar char="Ø"/>
            </a:pPr>
            <a:r>
              <a:rPr lang="en-US" b="1" dirty="0" smtClean="0"/>
              <a:t>The posterior part of the pelvic floor is pushed downwards in front of presenting part. If there is any fecal matter in the rectum it is expelled</a:t>
            </a:r>
            <a:endParaRPr lang="en-US" b="1" dirty="0"/>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1">
              <a:buFont typeface="Wingdings" pitchFamily="2" charset="2"/>
              <a:buChar char="Ø"/>
            </a:pPr>
            <a:r>
              <a:rPr lang="en-US" b="1" dirty="0" smtClean="0"/>
              <a:t>The anus gapes until the anal opening is about 2.5 cm in diameter.</a:t>
            </a:r>
          </a:p>
          <a:p>
            <a:pPr lvl="1">
              <a:buFont typeface="Wingdings" pitchFamily="2" charset="2"/>
              <a:buChar char="Ø"/>
            </a:pPr>
            <a:r>
              <a:rPr lang="en-US" b="1" dirty="0" smtClean="0"/>
              <a:t>The triangular perineal body is flattened . It becomes thin, almost transparent and lengthens the vaginal canal.</a:t>
            </a:r>
          </a:p>
          <a:p>
            <a:r>
              <a:rPr lang="en-US" b="1" dirty="0" smtClean="0"/>
              <a:t>At this point, the presenting part is seen at the vulva advancing with each contraction and receding </a:t>
            </a:r>
            <a:r>
              <a:rPr lang="en-US" b="1" dirty="0" err="1" smtClean="0"/>
              <a:t>btwn</a:t>
            </a:r>
            <a:r>
              <a:rPr lang="en-US" b="1" dirty="0" smtClean="0"/>
              <a:t> </a:t>
            </a:r>
            <a:r>
              <a:rPr lang="en-US" b="1" smtClean="0"/>
              <a:t>contractions until crowning </a:t>
            </a:r>
            <a:r>
              <a:rPr lang="en-US" b="1" dirty="0" smtClean="0"/>
              <a:t>takes place. The presenting part is born by extension as the shoulders and body follow</a:t>
            </a:r>
          </a:p>
          <a:p>
            <a:pPr>
              <a:buNone/>
            </a:pPr>
            <a:endParaRPr lang="en-US" b="1" dirty="0"/>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MECHANISM OF NORMAL LABOR</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This describes a series of movements done by the fetus as it moves through the birth canal during delivery.</a:t>
            </a:r>
          </a:p>
          <a:p>
            <a:r>
              <a:rPr lang="en-US" dirty="0" smtClean="0"/>
              <a:t>Knowledge and recognition of the normal mechanisms enables the midwife anticipate the next step in the process of descent, which in turn will dictate her response to the birth as it progresses. This ensures that normal progress is recognized, and abnormalities are detected and dealt with appropriately early.</a:t>
            </a:r>
            <a:endParaRPr lang="en-US" dirty="0"/>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principles common to all mechanisms are:-</a:t>
            </a:r>
          </a:p>
          <a:p>
            <a:pPr lvl="1"/>
            <a:r>
              <a:rPr lang="en-US" dirty="0" smtClean="0"/>
              <a:t>Descent takes place</a:t>
            </a:r>
          </a:p>
          <a:p>
            <a:pPr lvl="1"/>
            <a:r>
              <a:rPr lang="en-US" dirty="0" smtClean="0"/>
              <a:t>Whichever part leads and meet the resistance of the pelvic floor will rotate forwards until it comes under the symphysis pubis.</a:t>
            </a:r>
          </a:p>
          <a:p>
            <a:pPr lvl="1"/>
            <a:r>
              <a:rPr lang="en-US" dirty="0" smtClean="0"/>
              <a:t>Whatever emerges from the pelvis will pivot around the pubic bone.</a:t>
            </a:r>
            <a:endParaRPr lang="en-US" dirty="0"/>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During the mechanism of normal labor, the fetus turns slightly to take advantage of the widest available space in each plane of the pelvis. The widest diameter of the pelvic brim is the transverse, and the outlet greatest diameter is the </a:t>
            </a:r>
            <a:r>
              <a:rPr lang="en-US" dirty="0" err="1" smtClean="0"/>
              <a:t>antero</a:t>
            </a:r>
            <a:r>
              <a:rPr lang="en-US" dirty="0" smtClean="0"/>
              <a:t> posterior.</a:t>
            </a:r>
          </a:p>
          <a:p>
            <a:r>
              <a:rPr lang="en-US" dirty="0" smtClean="0"/>
              <a:t>In normal vertex presentation, the fetus is situated as follows:</a:t>
            </a:r>
            <a:endParaRPr lang="en-US" dirty="0"/>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dirty="0" smtClean="0"/>
              <a:t>The lie is longitudinal.</a:t>
            </a:r>
          </a:p>
          <a:p>
            <a:pPr lvl="1"/>
            <a:r>
              <a:rPr lang="en-US" dirty="0" smtClean="0"/>
              <a:t>The presentation is cephalic</a:t>
            </a:r>
          </a:p>
          <a:p>
            <a:pPr lvl="1"/>
            <a:r>
              <a:rPr lang="en-US" dirty="0" smtClean="0"/>
              <a:t>Position is right or left occipitoanterior.</a:t>
            </a:r>
          </a:p>
          <a:p>
            <a:pPr lvl="1"/>
            <a:r>
              <a:rPr lang="en-US" dirty="0" smtClean="0"/>
              <a:t>The attitude is one of good flexion.</a:t>
            </a:r>
          </a:p>
          <a:p>
            <a:pPr lvl="1"/>
            <a:r>
              <a:rPr lang="en-US" dirty="0" smtClean="0"/>
              <a:t>The denominator is the occiput</a:t>
            </a:r>
          </a:p>
          <a:p>
            <a:pPr lvl="1"/>
            <a:r>
              <a:rPr lang="en-US" dirty="0" smtClean="0"/>
              <a:t>The presenting part is the posterior part of the anterior parietal bone.</a:t>
            </a:r>
          </a:p>
          <a:p>
            <a:endParaRPr lang="en-US" dirty="0" smtClean="0"/>
          </a:p>
          <a:p>
            <a:endParaRPr lang="en-US" dirty="0"/>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movements</a:t>
            </a:r>
            <a:endParaRPr lang="en-US" dirty="0"/>
          </a:p>
        </p:txBody>
      </p:sp>
      <p:sp>
        <p:nvSpPr>
          <p:cNvPr id="3" name="Content Placeholder 2"/>
          <p:cNvSpPr>
            <a:spLocks noGrp="1"/>
          </p:cNvSpPr>
          <p:nvPr>
            <p:ph idx="1"/>
          </p:nvPr>
        </p:nvSpPr>
        <p:spPr/>
        <p:txBody>
          <a:bodyPr>
            <a:normAutofit fontScale="92500"/>
          </a:bodyPr>
          <a:lstStyle/>
          <a:p>
            <a:r>
              <a:rPr lang="en-US" b="1" i="1" dirty="0" smtClean="0">
                <a:solidFill>
                  <a:srgbClr val="00B0F0"/>
                </a:solidFill>
              </a:rPr>
              <a:t>Descent:- </a:t>
            </a:r>
            <a:r>
              <a:rPr lang="en-US" dirty="0" smtClean="0"/>
              <a:t>this takes place throughout labor.</a:t>
            </a:r>
          </a:p>
          <a:p>
            <a:r>
              <a:rPr lang="en-US" dirty="0" smtClean="0"/>
              <a:t>Flexion:- it increases throughout labor. It ensures that a small diameter, suboccitobrematic, is presenting.</a:t>
            </a:r>
          </a:p>
          <a:p>
            <a:r>
              <a:rPr lang="en-US" b="1" i="1" dirty="0" smtClean="0">
                <a:solidFill>
                  <a:srgbClr val="00B0F0"/>
                </a:solidFill>
              </a:rPr>
              <a:t>Internal rotation of the head:- </a:t>
            </a:r>
            <a:r>
              <a:rPr lang="en-US" dirty="0" smtClean="0"/>
              <a:t>the leading part(occiput) meets the pelvic floor and rotates anteriorly through 1/8</a:t>
            </a:r>
            <a:r>
              <a:rPr lang="en-US" baseline="30000" dirty="0" smtClean="0"/>
              <a:t>th</a:t>
            </a:r>
            <a:r>
              <a:rPr lang="en-US" dirty="0" smtClean="0"/>
              <a:t> of a circle. This causes a slight twist in the neck of the fetus and head is no longer in direct alignment with the shoulders. </a:t>
            </a:r>
            <a:endParaRPr lang="en-US" dirty="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The anteroposterior diameter of the head now lies in the widest outlet diameter, the anteroposterior diameter.</a:t>
            </a:r>
          </a:p>
          <a:p>
            <a:r>
              <a:rPr lang="en-US" dirty="0" smtClean="0"/>
              <a:t>Crowning then occurs when the occiput slips beneath the subpubic arch.</a:t>
            </a:r>
          </a:p>
          <a:p>
            <a:r>
              <a:rPr lang="en-US" b="1" i="1" dirty="0" smtClean="0">
                <a:solidFill>
                  <a:srgbClr val="00B0F0"/>
                </a:solidFill>
              </a:rPr>
              <a:t>Extension of the head:- </a:t>
            </a:r>
            <a:r>
              <a:rPr lang="en-US" dirty="0" smtClean="0"/>
              <a:t>after crowning the fetal head extends pivoting on the subpubic arch. This releases the sinciput, face and chin which sweeps the perineum and are born by a movement of extension</a:t>
            </a:r>
          </a:p>
          <a:p>
            <a:endParaRPr lang="en-US" dirty="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i="1" dirty="0" smtClean="0">
                <a:solidFill>
                  <a:srgbClr val="00B0F0"/>
                </a:solidFill>
              </a:rPr>
              <a:t>Restitution:- </a:t>
            </a:r>
            <a:r>
              <a:rPr lang="en-US" dirty="0" smtClean="0"/>
              <a:t>the twist in the neck of the fetus resulting from the internal rotation of the head is corrected by a slight untwisting movement. The occiput moves 1/8</a:t>
            </a:r>
            <a:r>
              <a:rPr lang="en-US" baseline="30000" dirty="0" smtClean="0"/>
              <a:t>th</a:t>
            </a:r>
            <a:r>
              <a:rPr lang="en-US" dirty="0" smtClean="0"/>
              <a:t> of a circle towards the side from which it started.</a:t>
            </a:r>
          </a:p>
          <a:p>
            <a:r>
              <a:rPr lang="en-US" b="1" i="1" dirty="0" smtClean="0">
                <a:solidFill>
                  <a:srgbClr val="00B0F0"/>
                </a:solidFill>
              </a:rPr>
              <a:t>Internal rotation of the shoulders:- </a:t>
            </a:r>
            <a:r>
              <a:rPr lang="en-US" dirty="0" smtClean="0"/>
              <a:t>the anterior shoulder reaches the pelvic floor and rotates anteriorly to lie under the symphysis pubis. It occurs in the same direction as restitution, and the occiput now lies laterally.</a:t>
            </a:r>
          </a:p>
          <a:p>
            <a:endParaRPr lang="en-US" dirty="0"/>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i="1" dirty="0" smtClean="0">
                <a:solidFill>
                  <a:srgbClr val="00B0F0"/>
                </a:solidFill>
              </a:rPr>
              <a:t>Lateral flexion:- </a:t>
            </a:r>
            <a:r>
              <a:rPr lang="en-US" dirty="0" smtClean="0"/>
              <a:t>the anterior shoulder escapes beneath the subpubic arch and the posterior shoulder sweeps the perineum. The reminder of the body is born by lateral flexion as the spine bends sideways through the curved birth canal.</a:t>
            </a:r>
            <a:endParaRPr lang="en-US" dirty="0"/>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OF THE FIRST STAGE OF LABOR</a:t>
            </a:r>
            <a:endParaRPr lang="en-US" dirty="0"/>
          </a:p>
        </p:txBody>
      </p:sp>
      <p:sp>
        <p:nvSpPr>
          <p:cNvPr id="3" name="Content Placeholder 2"/>
          <p:cNvSpPr>
            <a:spLocks noGrp="1"/>
          </p:cNvSpPr>
          <p:nvPr>
            <p:ph idx="1"/>
          </p:nvPr>
        </p:nvSpPr>
        <p:spPr/>
        <p:txBody>
          <a:bodyPr/>
          <a:lstStyle/>
          <a:p>
            <a:pPr algn="ctr"/>
            <a:r>
              <a:rPr lang="en-US" b="1" dirty="0" smtClean="0">
                <a:solidFill>
                  <a:srgbClr val="00B0F0"/>
                </a:solidFill>
              </a:rPr>
              <a:t>INFECTION PREVENTION</a:t>
            </a:r>
          </a:p>
          <a:p>
            <a:r>
              <a:rPr lang="en-US" dirty="0" smtClean="0"/>
              <a:t>Admit the woman in a clean environment.</a:t>
            </a:r>
          </a:p>
          <a:p>
            <a:r>
              <a:rPr lang="en-US" dirty="0" smtClean="0"/>
              <a:t>Control the no number of visitors in a birthing unit.</a:t>
            </a:r>
          </a:p>
          <a:p>
            <a:r>
              <a:rPr lang="en-US" dirty="0" smtClean="0"/>
              <a:t>Clean beds and rooms thoroughly after use.</a:t>
            </a:r>
          </a:p>
          <a:p>
            <a:r>
              <a:rPr lang="en-US" dirty="0" smtClean="0"/>
              <a:t>Encourage the woman to bathe and wash as she wishes.</a:t>
            </a:r>
          </a:p>
          <a:p>
            <a:endParaRPr lang="en-US" dirty="0"/>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Wash your hands before and after attending the client.</a:t>
            </a:r>
          </a:p>
          <a:p>
            <a:r>
              <a:rPr lang="en-US" dirty="0" smtClean="0"/>
              <a:t>Wear gloves when handling used sanitary pads, blood stained linen or body fluid.</a:t>
            </a:r>
          </a:p>
          <a:p>
            <a:r>
              <a:rPr lang="en-US" dirty="0" smtClean="0"/>
              <a:t>Invasive procedures should be kept to the minimum</a:t>
            </a:r>
          </a:p>
          <a:p>
            <a:r>
              <a:rPr lang="en-US" dirty="0" smtClean="0"/>
              <a:t>Artificial rupture of membranes should be avoided unless there is a good indication of the same. </a:t>
            </a:r>
            <a:endParaRPr lang="en-US" dirty="0"/>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Observe the aseptic technique every time you are during a sterile procedure</a:t>
            </a:r>
          </a:p>
          <a:p>
            <a:r>
              <a:rPr lang="en-US" dirty="0" smtClean="0"/>
              <a:t>Avoid unnecessary frequent vaginal examinations.</a:t>
            </a:r>
          </a:p>
          <a:p>
            <a:endParaRPr lang="en-US" dirty="0"/>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Emotional support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Encourage the birth companion to support the woman emotionally during labor.</a:t>
            </a:r>
          </a:p>
          <a:p>
            <a:r>
              <a:rPr lang="en-US" dirty="0" smtClean="0"/>
              <a:t>Explain the process of labor to the woman and lay down expectations to relieve anxiety.</a:t>
            </a:r>
          </a:p>
          <a:p>
            <a:r>
              <a:rPr lang="en-US" dirty="0" smtClean="0"/>
              <a:t>Keep on encouraging the woman.</a:t>
            </a:r>
          </a:p>
          <a:p>
            <a:r>
              <a:rPr lang="en-US" dirty="0" smtClean="0"/>
              <a:t>Express care and dependability to the client to boost her confidence.</a:t>
            </a:r>
          </a:p>
          <a:p>
            <a:r>
              <a:rPr lang="en-US" dirty="0" smtClean="0"/>
              <a:t>As a midwife, display tolerant non-</a:t>
            </a:r>
            <a:r>
              <a:rPr lang="en-US" dirty="0" err="1" smtClean="0"/>
              <a:t>judgemental</a:t>
            </a:r>
            <a:r>
              <a:rPr lang="en-US" dirty="0" smtClean="0"/>
              <a:t> attitude in provision of care.</a:t>
            </a:r>
            <a:endParaRPr lang="en-US" dirty="0"/>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Observations/</a:t>
            </a:r>
            <a:r>
              <a:rPr lang="en-US" dirty="0" err="1" smtClean="0"/>
              <a:t>partographing</a:t>
            </a:r>
            <a:endParaRPr lang="en-US" dirty="0"/>
          </a:p>
        </p:txBody>
      </p:sp>
      <p:sp>
        <p:nvSpPr>
          <p:cNvPr id="3" name="Content Placeholder 2"/>
          <p:cNvSpPr>
            <a:spLocks noGrp="1"/>
          </p:cNvSpPr>
          <p:nvPr>
            <p:ph idx="1"/>
          </p:nvPr>
        </p:nvSpPr>
        <p:spPr/>
        <p:txBody>
          <a:bodyPr/>
          <a:lstStyle/>
          <a:p>
            <a:r>
              <a:rPr lang="en-US" dirty="0" smtClean="0"/>
              <a:t>Observations about the condition of the pregnant woman, her unborn baby and progress of labor should be monitored regularly.</a:t>
            </a:r>
          </a:p>
          <a:p>
            <a:r>
              <a:rPr lang="en-US" dirty="0" smtClean="0"/>
              <a:t>Partograph should only be started when the mother is in active labor, </a:t>
            </a:r>
            <a:r>
              <a:rPr lang="en-US" dirty="0" err="1" smtClean="0"/>
              <a:t>ie</a:t>
            </a:r>
            <a:r>
              <a:rPr lang="en-US" dirty="0" smtClean="0"/>
              <a:t> cervical dilatation of 4cm has been achieved.</a:t>
            </a:r>
          </a:p>
          <a:p>
            <a:r>
              <a:rPr lang="en-US" dirty="0" smtClean="0"/>
              <a:t>The following observations are done:-</a:t>
            </a:r>
            <a:endParaRPr lang="en-US" dirty="0"/>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solidFill>
                  <a:srgbClr val="00B0F0"/>
                </a:solidFill>
              </a:rPr>
              <a:t>Pulse rate</a:t>
            </a:r>
            <a:r>
              <a:rPr lang="en-US" dirty="0" smtClean="0"/>
              <a:t>:-recorded every 30 minutes when the woman is in active labor. Pulse rate of above 100b/m are indicative of anxiety, infections, ketosis or hemorrhage.</a:t>
            </a:r>
          </a:p>
          <a:p>
            <a:r>
              <a:rPr lang="en-US" dirty="0" smtClean="0">
                <a:solidFill>
                  <a:srgbClr val="00B0F0"/>
                </a:solidFill>
              </a:rPr>
              <a:t>Temperatures:- </a:t>
            </a:r>
            <a:r>
              <a:rPr lang="en-US" dirty="0" smtClean="0"/>
              <a:t>should be recorded every 4  hours. Pyrexia is indicative of infections or hypoglycemia.</a:t>
            </a:r>
          </a:p>
          <a:p>
            <a:r>
              <a:rPr lang="en-US" dirty="0" smtClean="0">
                <a:solidFill>
                  <a:srgbClr val="00B0F0"/>
                </a:solidFill>
              </a:rPr>
              <a:t>Blood pressure</a:t>
            </a:r>
            <a:r>
              <a:rPr lang="en-US" dirty="0" smtClean="0"/>
              <a:t>:- measured every four hours, unless it is abnormal. Hypotension may be due to supine position, shock or epidural </a:t>
            </a:r>
            <a:r>
              <a:rPr lang="en-US" dirty="0" err="1" smtClean="0"/>
              <a:t>anaesthesia</a:t>
            </a:r>
            <a:r>
              <a:rPr lang="en-US" dirty="0" smtClean="0"/>
              <a:t>.</a:t>
            </a:r>
          </a:p>
          <a:p>
            <a:endParaRPr lang="en-US" dirty="0" smtClean="0"/>
          </a:p>
          <a:p>
            <a:endParaRPr lang="en-US" dirty="0"/>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Blood pressures may be further aggravated by labor on women who had hypertensive disorders in pregnancy.</a:t>
            </a:r>
          </a:p>
          <a:p>
            <a:r>
              <a:rPr lang="en-US" dirty="0" smtClean="0">
                <a:solidFill>
                  <a:srgbClr val="00B0F0"/>
                </a:solidFill>
              </a:rPr>
              <a:t>Urinalysis:- </a:t>
            </a:r>
            <a:r>
              <a:rPr lang="en-US" dirty="0" smtClean="0"/>
              <a:t>urine is tested for glucose, ketones and proteins. The volume of the urine is also measured.</a:t>
            </a:r>
          </a:p>
          <a:p>
            <a:r>
              <a:rPr lang="en-US" dirty="0" smtClean="0">
                <a:solidFill>
                  <a:srgbClr val="00B0F0"/>
                </a:solidFill>
              </a:rPr>
              <a:t>Contractions:-</a:t>
            </a:r>
          </a:p>
          <a:p>
            <a:r>
              <a:rPr lang="en-US" dirty="0" smtClean="0">
                <a:solidFill>
                  <a:srgbClr val="00B0F0"/>
                </a:solidFill>
              </a:rPr>
              <a:t>Descent of the presenting part.</a:t>
            </a:r>
          </a:p>
          <a:p>
            <a:r>
              <a:rPr lang="en-US" dirty="0" smtClean="0">
                <a:solidFill>
                  <a:srgbClr val="00B0F0"/>
                </a:solidFill>
              </a:rPr>
              <a:t>Cervical dilatation</a:t>
            </a:r>
          </a:p>
          <a:p>
            <a:r>
              <a:rPr lang="en-US" dirty="0" smtClean="0">
                <a:solidFill>
                  <a:srgbClr val="00B0F0"/>
                </a:solidFill>
              </a:rPr>
              <a:t>Flexion.</a:t>
            </a:r>
          </a:p>
          <a:p>
            <a:endParaRPr lang="en-US" dirty="0"/>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solidFill>
                  <a:srgbClr val="00B0F0"/>
                </a:solidFill>
              </a:rPr>
              <a:t>Fetal heart rate</a:t>
            </a:r>
          </a:p>
          <a:p>
            <a:r>
              <a:rPr lang="en-US" dirty="0" smtClean="0">
                <a:solidFill>
                  <a:srgbClr val="00B0F0"/>
                </a:solidFill>
              </a:rPr>
              <a:t>Amniotic fluid</a:t>
            </a:r>
            <a:endParaRPr lang="en-US" dirty="0">
              <a:solidFill>
                <a:srgbClr val="00B0F0"/>
              </a:solidFill>
            </a:endParaRP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Care of the bladder</a:t>
            </a:r>
            <a:endParaRPr lang="en-US" dirty="0"/>
          </a:p>
        </p:txBody>
      </p:sp>
      <p:sp>
        <p:nvSpPr>
          <p:cNvPr id="3" name="Content Placeholder 2"/>
          <p:cNvSpPr>
            <a:spLocks noGrp="1"/>
          </p:cNvSpPr>
          <p:nvPr>
            <p:ph idx="1"/>
          </p:nvPr>
        </p:nvSpPr>
        <p:spPr/>
        <p:txBody>
          <a:bodyPr/>
          <a:lstStyle/>
          <a:p>
            <a:r>
              <a:rPr lang="en-US" dirty="0" smtClean="0"/>
              <a:t>Encourage the woman to empty her bladder every 1-2 hours.</a:t>
            </a:r>
          </a:p>
          <a:p>
            <a:r>
              <a:rPr lang="en-US" dirty="0" smtClean="0"/>
              <a:t>If the woman is not able to visit the toilet, offer privacy and provide with a bed pan.</a:t>
            </a:r>
          </a:p>
          <a:p>
            <a:r>
              <a:rPr lang="en-US" dirty="0" smtClean="0"/>
              <a:t>A catheter is passed if the woman is unable to empty the bladder completely.</a:t>
            </a:r>
            <a:endParaRPr lang="en-US" dirty="0"/>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nutrition</a:t>
            </a:r>
            <a:endParaRPr lang="en-US" dirty="0"/>
          </a:p>
        </p:txBody>
      </p:sp>
      <p:sp>
        <p:nvSpPr>
          <p:cNvPr id="3" name="Content Placeholder 2"/>
          <p:cNvSpPr>
            <a:spLocks noGrp="1"/>
          </p:cNvSpPr>
          <p:nvPr>
            <p:ph idx="1"/>
          </p:nvPr>
        </p:nvSpPr>
        <p:spPr/>
        <p:txBody>
          <a:bodyPr/>
          <a:lstStyle/>
          <a:p>
            <a:r>
              <a:rPr lang="en-US" dirty="0" smtClean="0"/>
              <a:t>Offer the woman light foods rich in carbohydrates to provide energy during labor </a:t>
            </a:r>
            <a:r>
              <a:rPr lang="en-US" dirty="0" err="1" smtClean="0"/>
              <a:t>eg</a:t>
            </a:r>
            <a:r>
              <a:rPr lang="en-US" dirty="0" smtClean="0"/>
              <a:t>. Biscuits, toast, yoghurt, breakfast cereal, fruit juice, tea etc.</a:t>
            </a:r>
          </a:p>
          <a:p>
            <a:r>
              <a:rPr lang="en-US" dirty="0" smtClean="0"/>
              <a:t>Fluids intake will reduce the risk of dehydration during labor.</a:t>
            </a:r>
            <a:endParaRPr lang="en-US" dirty="0"/>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Relieving pain and comfort</a:t>
            </a:r>
            <a:endParaRPr lang="en-US" dirty="0"/>
          </a:p>
        </p:txBody>
      </p:sp>
      <p:sp>
        <p:nvSpPr>
          <p:cNvPr id="3" name="Content Placeholder 2"/>
          <p:cNvSpPr>
            <a:spLocks noGrp="1"/>
          </p:cNvSpPr>
          <p:nvPr>
            <p:ph idx="1"/>
          </p:nvPr>
        </p:nvSpPr>
        <p:spPr/>
        <p:txBody>
          <a:bodyPr/>
          <a:lstStyle/>
          <a:p>
            <a:r>
              <a:rPr lang="en-US" dirty="0" smtClean="0"/>
              <a:t>Rub the woman’s back during contractions to increase sensory input and thus reduce sensation of pain.</a:t>
            </a:r>
          </a:p>
          <a:p>
            <a:r>
              <a:rPr lang="en-US" dirty="0" smtClean="0"/>
              <a:t>Ensure the woman assumes a comfortable position.</a:t>
            </a:r>
          </a:p>
          <a:p>
            <a:r>
              <a:rPr lang="en-US" dirty="0" smtClean="0"/>
              <a:t>Encourage the woman to walk around to aid in descent and shorten labor.</a:t>
            </a:r>
          </a:p>
          <a:p>
            <a:r>
              <a:rPr lang="en-US" dirty="0" smtClean="0"/>
              <a:t>Encourage the woman to anticipate positively the birth of her child.</a:t>
            </a:r>
            <a:endParaRPr lang="en-US" smtClean="0"/>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3447</TotalTime>
  <Words>14515</Words>
  <Application>Microsoft Office PowerPoint</Application>
  <PresentationFormat>On-screen Show (4:3)</PresentationFormat>
  <Paragraphs>1269</Paragraphs>
  <Slides>315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315</vt:i4>
      </vt:variant>
    </vt:vector>
  </HeadingPairs>
  <TitlesOfParts>
    <vt:vector size="324" baseType="lpstr">
      <vt:lpstr>Arial Black</vt:lpstr>
      <vt:lpstr>Calibri</vt:lpstr>
      <vt:lpstr>Century Gothic</vt:lpstr>
      <vt:lpstr>CommercialScript BT</vt:lpstr>
      <vt:lpstr>Courier New</vt:lpstr>
      <vt:lpstr>Verdana</vt:lpstr>
      <vt:lpstr>Wingdings</vt:lpstr>
      <vt:lpstr>Wingdings 2</vt:lpstr>
      <vt:lpstr>Verve</vt:lpstr>
      <vt:lpstr>NORMAL MIDWIFERY</vt:lpstr>
      <vt:lpstr>Aims of a midwife</vt:lpstr>
      <vt:lpstr>PowerPoint Presentation</vt:lpstr>
      <vt:lpstr>Code of ethics</vt:lpstr>
      <vt:lpstr>PowerPoint Presentation</vt:lpstr>
      <vt:lpstr>PowerPoint Presentation</vt:lpstr>
      <vt:lpstr>Students objectives</vt:lpstr>
      <vt:lpstr>PowerPoint Presentation</vt:lpstr>
      <vt:lpstr>ANATOMY AND PHYSIOLOGY OF FEMALE REPRODUCTIVE SYSTEM</vt:lpstr>
      <vt:lpstr>PowerPoint Presentation</vt:lpstr>
      <vt:lpstr>Female external genital organs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INTERNAL GENITALIA</vt:lpstr>
      <vt:lpstr>PowerPoint Presentation</vt:lpstr>
      <vt:lpstr>PowerPoint Presentation</vt:lpstr>
      <vt:lpstr>relations</vt:lpstr>
      <vt:lpstr>Functions of vagina</vt:lpstr>
      <vt:lpstr>PowerPoint Presentation</vt:lpstr>
      <vt:lpstr>Female external genitalia</vt:lpstr>
      <vt:lpstr>Internal female reproductive organs</vt:lpstr>
      <vt:lpstr>Longitudinal section of female reproductive system</vt:lpstr>
      <vt:lpstr>UTERUS</vt:lpstr>
      <vt:lpstr>Structure of the uterus</vt:lpstr>
      <vt:lpstr>PowerPoint Presentation</vt:lpstr>
      <vt:lpstr>PowerPoint Presentation</vt:lpstr>
      <vt:lpstr>PowerPoint Presentation</vt:lpstr>
      <vt:lpstr>myometrium</vt:lpstr>
      <vt:lpstr>perimetrium</vt:lpstr>
      <vt:lpstr>Blood supply and drainage</vt:lpstr>
      <vt:lpstr>Support of the uterus</vt:lpstr>
      <vt:lpstr>PowerPoint Presentation</vt:lpstr>
      <vt:lpstr>PowerPoint Presentation</vt:lpstr>
      <vt:lpstr>Functions of uterus</vt:lpstr>
      <vt:lpstr>OVARIES</vt:lpstr>
      <vt:lpstr>Structure of the ovaries</vt:lpstr>
      <vt:lpstr>PowerPoint Presentation</vt:lpstr>
      <vt:lpstr> FEMALE BREASTS</vt:lpstr>
      <vt:lpstr>Female breast</vt:lpstr>
      <vt:lpstr>structure</vt:lpstr>
      <vt:lpstr>PowerPoint Presentation</vt:lpstr>
      <vt:lpstr>PowerPoint Presentation</vt:lpstr>
      <vt:lpstr>PowerPoint Presentation</vt:lpstr>
      <vt:lpstr>THE OVARIAN CYCLE</vt:lpstr>
      <vt:lpstr>PowerPoint Presentation</vt:lpstr>
      <vt:lpstr>The follicular phase</vt:lpstr>
      <vt:lpstr>PowerPoint Presentation</vt:lpstr>
      <vt:lpstr>PowerPoint Presentation</vt:lpstr>
      <vt:lpstr>Luteal phase</vt:lpstr>
      <vt:lpstr>PowerPoint Presentation</vt:lpstr>
      <vt:lpstr>PowerPoint Presentation</vt:lpstr>
      <vt:lpstr>THE MENSTRUAL CYCLE</vt:lpstr>
      <vt:lpstr>Menstrual phase</vt:lpstr>
      <vt:lpstr>Proliferative phase</vt:lpstr>
      <vt:lpstr>PowerPoint Presentation</vt:lpstr>
      <vt:lpstr>Secretory phase</vt:lpstr>
      <vt:lpstr>PowerPoint Presentation</vt:lpstr>
      <vt:lpstr>PowerPoint Presentation</vt:lpstr>
      <vt:lpstr>Functions of estrogen</vt:lpstr>
      <vt:lpstr>PowerPoint Presentation</vt:lpstr>
      <vt:lpstr>Functions of progesterone</vt:lpstr>
      <vt:lpstr>PowerPoint Presentation</vt:lpstr>
      <vt:lpstr>MALE REPRODUCTIVE SYSTEM</vt:lpstr>
      <vt:lpstr>a) scrotum</vt:lpstr>
      <vt:lpstr>b) testes</vt:lpstr>
      <vt:lpstr>PowerPoint Presentation</vt:lpstr>
      <vt:lpstr>Structure of the testis</vt:lpstr>
      <vt:lpstr>PowerPoint Presentation</vt:lpstr>
      <vt:lpstr>Spermatic cords</vt:lpstr>
      <vt:lpstr>PowerPoint Presentation</vt:lpstr>
      <vt:lpstr>Seminal vesicles</vt:lpstr>
      <vt:lpstr>Ejaculatory ducts</vt:lpstr>
      <vt:lpstr>Prostate gland</vt:lpstr>
      <vt:lpstr>Cowper’s gland</vt:lpstr>
      <vt:lpstr>urethra</vt:lpstr>
      <vt:lpstr>penis</vt:lpstr>
      <vt:lpstr>PowerPoint Presentation</vt:lpstr>
      <vt:lpstr>Male hormones</vt:lpstr>
      <vt:lpstr>PowerPoint Presentation</vt:lpstr>
      <vt:lpstr>testosterone</vt:lpstr>
      <vt:lpstr>PowerPoint Presentation</vt:lpstr>
      <vt:lpstr>Structure of the sperm</vt:lpstr>
      <vt:lpstr>Structure of the ovum</vt:lpstr>
      <vt:lpstr>The pelvis</vt:lpstr>
      <vt:lpstr>types of pelvis</vt:lpstr>
      <vt:lpstr>Android Pelvis (Male type)  </vt:lpstr>
      <vt:lpstr>Anthropoid Pelvis</vt:lpstr>
      <vt:lpstr>Platypelloid Pelvis (3%)</vt:lpstr>
      <vt:lpstr>THE FEMALE PELVIS</vt:lpstr>
      <vt:lpstr>functions</vt:lpstr>
      <vt:lpstr>Structure of the pelvis</vt:lpstr>
      <vt:lpstr>Innominate bones</vt:lpstr>
      <vt:lpstr>ileum</vt:lpstr>
      <vt:lpstr>PowerPoint Presentation</vt:lpstr>
      <vt:lpstr>ischium</vt:lpstr>
      <vt:lpstr>The pubic bone</vt:lpstr>
      <vt:lpstr>The sacrum</vt:lpstr>
      <vt:lpstr>PowerPoint Presentation</vt:lpstr>
      <vt:lpstr>coccyx</vt:lpstr>
      <vt:lpstr>Pelvic joints</vt:lpstr>
      <vt:lpstr>PowerPoint Presentation</vt:lpstr>
      <vt:lpstr>Pelvic ligaments</vt:lpstr>
      <vt:lpstr>PowerPoint Presentation</vt:lpstr>
      <vt:lpstr>PARTS OF THE PELVIS</vt:lpstr>
      <vt:lpstr>True pelvis</vt:lpstr>
      <vt:lpstr>The brim</vt:lpstr>
      <vt:lpstr>PowerPoint Presentation</vt:lpstr>
      <vt:lpstr>The pelvic cavity</vt:lpstr>
      <vt:lpstr>The outlet</vt:lpstr>
      <vt:lpstr>DIAMETERS OF THE TRUE PELVIS a) the inlet</vt:lpstr>
      <vt:lpstr>PowerPoint Presentation</vt:lpstr>
      <vt:lpstr>PowerPoint Presentation</vt:lpstr>
      <vt:lpstr>Oblique diameters:</vt:lpstr>
      <vt:lpstr>PowerPoint Presentation</vt:lpstr>
      <vt:lpstr>Diameters of the cavity</vt:lpstr>
      <vt:lpstr>Diameters of the outlet</vt:lpstr>
      <vt:lpstr>PowerPoint Presentation</vt:lpstr>
      <vt:lpstr>Pelvic floor</vt:lpstr>
      <vt:lpstr>Muscle layer of the pelvic floor</vt:lpstr>
      <vt:lpstr>PowerPoint Presentation</vt:lpstr>
      <vt:lpstr>PowerPoint Presentation</vt:lpstr>
      <vt:lpstr>PowerPoint Presentation</vt:lpstr>
      <vt:lpstr>PowerPoint Presentation</vt:lpstr>
      <vt:lpstr>fertilization</vt:lpstr>
      <vt:lpstr>PowerPoint Presentation</vt:lpstr>
      <vt:lpstr>PowerPoint Presentation</vt:lpstr>
      <vt:lpstr>PowerPoint Presentation</vt:lpstr>
      <vt:lpstr>PowerPoint Presentation</vt:lpstr>
      <vt:lpstr>PowerPoint Presentation</vt:lpstr>
      <vt:lpstr>Development of the zygote</vt:lpstr>
      <vt:lpstr>PowerPoint Presentation</vt:lpstr>
      <vt:lpstr>PowerPoint Presentation</vt:lpstr>
      <vt:lpstr>Implantation or nidation</vt:lpstr>
      <vt:lpstr>PowerPoint Presentation</vt:lpstr>
      <vt:lpstr>Embryo development</vt:lpstr>
      <vt:lpstr>PowerPoint Presentation</vt:lpstr>
      <vt:lpstr>Development of the placenta</vt:lpstr>
      <vt:lpstr>Chorionic villus</vt:lpstr>
      <vt:lpstr>Embryonic membranes/ fetal sac</vt:lpstr>
      <vt:lpstr>chorion</vt:lpstr>
      <vt:lpstr>amnion</vt:lpstr>
      <vt:lpstr>Amniotic fluid</vt:lpstr>
      <vt:lpstr>Constituents of the amniotic fluid</vt:lpstr>
      <vt:lpstr>Functions of the amniotic fluid</vt:lpstr>
      <vt:lpstr>PowerPoint Presentation</vt:lpstr>
      <vt:lpstr>The mature placenta</vt:lpstr>
      <vt:lpstr>Maternal surface</vt:lpstr>
      <vt:lpstr>The fetal surface</vt:lpstr>
      <vt:lpstr>Functions of placenta</vt:lpstr>
      <vt:lpstr>PowerPoint Presentation</vt:lpstr>
      <vt:lpstr>PowerPoint Presentation</vt:lpstr>
      <vt:lpstr>Anatomical variations of placenta</vt:lpstr>
      <vt:lpstr>PowerPoint Presentation</vt:lpstr>
      <vt:lpstr>Summary of fetal development                  0-4 wks</vt:lpstr>
      <vt:lpstr>4-8 weeks</vt:lpstr>
      <vt:lpstr>8-12 weeks</vt:lpstr>
      <vt:lpstr>12-16 weeks</vt:lpstr>
      <vt:lpstr>16-20 weeks</vt:lpstr>
      <vt:lpstr>20-24 weeks</vt:lpstr>
      <vt:lpstr>25-28 weeks</vt:lpstr>
      <vt:lpstr>28-32 weeks</vt:lpstr>
      <vt:lpstr>32-36 weeks</vt:lpstr>
      <vt:lpstr>36-40 weeks</vt:lpstr>
      <vt:lpstr>FETAL CIRCULATION</vt:lpstr>
      <vt:lpstr>PowerPoint Presentation</vt:lpstr>
      <vt:lpstr>PowerPoint Presentation</vt:lpstr>
      <vt:lpstr>Blood flow in fetal circulation</vt:lpstr>
      <vt:lpstr>PowerPoint Presentation</vt:lpstr>
      <vt:lpstr>PowerPoint Presentation</vt:lpstr>
      <vt:lpstr>PowerPoint Presentation</vt:lpstr>
      <vt:lpstr>Points on fetal circulation</vt:lpstr>
      <vt:lpstr>PHYSIOLOGICAL CHANGES IN PREGNANCY</vt:lpstr>
      <vt:lpstr>Changes in the gi system</vt:lpstr>
      <vt:lpstr>Urinary system</vt:lpstr>
      <vt:lpstr>Changes in the breast</vt:lpstr>
      <vt:lpstr>Changes in weight</vt:lpstr>
      <vt:lpstr>PowerPoint Presentation</vt:lpstr>
      <vt:lpstr>Changes in cardiovascular system</vt:lpstr>
      <vt:lpstr>PowerPoint Presentation</vt:lpstr>
      <vt:lpstr>PowerPoint Presentation</vt:lpstr>
      <vt:lpstr>PowerPoint Presentation</vt:lpstr>
      <vt:lpstr>Changes in the respiratory system</vt:lpstr>
      <vt:lpstr>PowerPoint Presentation</vt:lpstr>
      <vt:lpstr>Changes in the skeletal system</vt:lpstr>
      <vt:lpstr>Changes in the endocrine system</vt:lpstr>
      <vt:lpstr>PowerPoint Presentation</vt:lpstr>
      <vt:lpstr>CHANGES IN THE REPRODUCTIVE SYSTEM</vt:lpstr>
      <vt:lpstr>PowerPoint Presentation</vt:lpstr>
      <vt:lpstr>PowerPoint Presentation</vt:lpstr>
      <vt:lpstr>PowerPoint Presentation</vt:lpstr>
      <vt:lpstr>PowerPoint Presentation</vt:lpstr>
      <vt:lpstr>PowerPoint Presentation</vt:lpstr>
      <vt:lpstr>Signs and symptoms of pregnancy</vt:lpstr>
      <vt:lpstr>Presumptive signs cont’</vt:lpstr>
      <vt:lpstr>PowerPoint Presentation</vt:lpstr>
      <vt:lpstr>PowerPoint Presentation</vt:lpstr>
      <vt:lpstr>PowerPoint Presentation</vt:lpstr>
      <vt:lpstr>Objective/probable signs of pregnancy</vt:lpstr>
      <vt:lpstr>PowerPoint Presentation</vt:lpstr>
      <vt:lpstr>Positive(diagnostic) changes</vt:lpstr>
      <vt:lpstr>Minor disorders of pregnancy</vt:lpstr>
      <vt:lpstr>constipation</vt:lpstr>
      <vt:lpstr>Back pain</vt:lpstr>
      <vt:lpstr>cramps</vt:lpstr>
      <vt:lpstr>Increased frequency of micturation</vt:lpstr>
      <vt:lpstr>fainting</vt:lpstr>
      <vt:lpstr>PowerPoint Presentation</vt:lpstr>
      <vt:lpstr>Varicose veins</vt:lpstr>
      <vt:lpstr>PowerPoint Presentation</vt:lpstr>
      <vt:lpstr>Pruritis vulvae</vt:lpstr>
      <vt:lpstr>insomnia</vt:lpstr>
      <vt:lpstr>THE FETAL SKULL.</vt:lpstr>
      <vt:lpstr>PowerPoint Presentation</vt:lpstr>
      <vt:lpstr>Development of fetal skull</vt:lpstr>
      <vt:lpstr>Bones of the vault</vt:lpstr>
      <vt:lpstr>PowerPoint Presentation</vt:lpstr>
      <vt:lpstr>sutures</vt:lpstr>
      <vt:lpstr>PowerPoint Presentation</vt:lpstr>
      <vt:lpstr>FONTANELS</vt:lpstr>
      <vt:lpstr>bregma</vt:lpstr>
      <vt:lpstr>b)lambda</vt:lpstr>
      <vt:lpstr>Regions of the fetal skull</vt:lpstr>
      <vt:lpstr>PowerPoint Presentation</vt:lpstr>
      <vt:lpstr>PowerPoint Presentation</vt:lpstr>
      <vt:lpstr>PowerPoint Presentation</vt:lpstr>
      <vt:lpstr>Landmarks of the fetal skull</vt:lpstr>
      <vt:lpstr>Diameters of the fetal skull</vt:lpstr>
      <vt:lpstr>Antenatal, intrapartum or perinatal care</vt:lpstr>
      <vt:lpstr>Focused antenatal care (fanc)</vt:lpstr>
      <vt:lpstr>Elements or aims of fanc</vt:lpstr>
      <vt:lpstr>PowerPoint Presentation</vt:lpstr>
      <vt:lpstr>PowerPoint Presentation</vt:lpstr>
      <vt:lpstr>PowerPoint Presentation</vt:lpstr>
      <vt:lpstr>Booking visit</vt:lpstr>
      <vt:lpstr>PowerPoint Presentation</vt:lpstr>
      <vt:lpstr>PowerPoint Presentation</vt:lpstr>
      <vt:lpstr>History taking</vt:lpstr>
      <vt:lpstr>PowerPoint Presentation</vt:lpstr>
      <vt:lpstr>PowerPoint Presentation</vt:lpstr>
      <vt:lpstr>PowerPoint Presentation</vt:lpstr>
      <vt:lpstr>observations</vt:lpstr>
      <vt:lpstr>Laboratory investigations</vt:lpstr>
      <vt:lpstr>examination</vt:lpstr>
      <vt:lpstr>Abdominal examination</vt:lpstr>
      <vt:lpstr>method</vt:lpstr>
      <vt:lpstr>L’</vt:lpstr>
      <vt:lpstr>PowerPoint Presentation</vt:lpstr>
      <vt:lpstr>PowerPoint Presentation</vt:lpstr>
      <vt:lpstr>PowerPoint Presentation</vt:lpstr>
      <vt:lpstr>PowerPoint Presentation</vt:lpstr>
      <vt:lpstr>PowerPoint Presentation</vt:lpstr>
      <vt:lpstr>Recording the findings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PHYSIOLOGY OF LABOUR</vt:lpstr>
      <vt:lpstr>PowerPoint Presentation</vt:lpstr>
      <vt:lpstr>PowerPoint Presentation</vt:lpstr>
      <vt:lpstr>Physiology of first stage</vt:lpstr>
      <vt:lpstr>Uterine 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 Mechanical factors</vt:lpstr>
      <vt:lpstr>PowerPoint Presentation</vt:lpstr>
      <vt:lpstr>PowerPoint Presentation</vt:lpstr>
      <vt:lpstr>PowerPoint Presentation</vt:lpstr>
      <vt:lpstr>PHYSIOLOGICAL CHANGES IN THE SECOND STAGE</vt:lpstr>
      <vt:lpstr>PowerPoint Presentation</vt:lpstr>
      <vt:lpstr>PowerPoint Presentation</vt:lpstr>
      <vt:lpstr>PowerPoint Presentation</vt:lpstr>
      <vt:lpstr>PowerPoint Presentation</vt:lpstr>
      <vt:lpstr>MECHANISM OF NORMAL LABOR</vt:lpstr>
      <vt:lpstr>PowerPoint Presentation</vt:lpstr>
      <vt:lpstr>PowerPoint Presentation</vt:lpstr>
      <vt:lpstr>PowerPoint Presentation</vt:lpstr>
      <vt:lpstr>Main movements</vt:lpstr>
      <vt:lpstr>PowerPoint Presentation</vt:lpstr>
      <vt:lpstr>PowerPoint Presentation</vt:lpstr>
      <vt:lpstr>PowerPoint Presentation</vt:lpstr>
      <vt:lpstr>MANAGEMENT OF THE FIRST STAGE OF LABOR</vt:lpstr>
      <vt:lpstr>PowerPoint Presentation</vt:lpstr>
      <vt:lpstr>PowerPoint Presentation</vt:lpstr>
      <vt:lpstr>Emotional support</vt:lpstr>
      <vt:lpstr>Observations/partographing</vt:lpstr>
      <vt:lpstr>PowerPoint Presentation</vt:lpstr>
      <vt:lpstr>PowerPoint Presentation</vt:lpstr>
      <vt:lpstr>PowerPoint Presentation</vt:lpstr>
      <vt:lpstr>Care of the bladder</vt:lpstr>
      <vt:lpstr>nutrition</vt:lpstr>
      <vt:lpstr>Relieving pain and comfort</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NORMAL MIDWIFERY</dc:title>
  <dc:creator>user</dc:creator>
  <cp:lastModifiedBy>Silas</cp:lastModifiedBy>
  <cp:revision>289</cp:revision>
  <dcterms:created xsi:type="dcterms:W3CDTF">2011-03-10T08:17:59Z</dcterms:created>
  <dcterms:modified xsi:type="dcterms:W3CDTF">2024-01-15T06:33:31Z</dcterms:modified>
</cp:coreProperties>
</file>