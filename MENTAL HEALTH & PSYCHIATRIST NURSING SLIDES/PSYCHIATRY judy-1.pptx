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notesSlides/notesSlide9.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2"/>
  </p:notesMasterIdLst>
  <p:sldIdLst>
    <p:sldId id="256" r:id="rId2"/>
    <p:sldId id="417" r:id="rId3"/>
    <p:sldId id="257" r:id="rId4"/>
    <p:sldId id="258" r:id="rId5"/>
    <p:sldId id="259" r:id="rId6"/>
    <p:sldId id="260" r:id="rId7"/>
    <p:sldId id="261" r:id="rId8"/>
    <p:sldId id="262" r:id="rId9"/>
    <p:sldId id="263" r:id="rId10"/>
    <p:sldId id="264" r:id="rId11"/>
    <p:sldId id="265" r:id="rId12"/>
    <p:sldId id="266" r:id="rId13"/>
    <p:sldId id="267" r:id="rId14"/>
    <p:sldId id="268" r:id="rId15"/>
    <p:sldId id="271" r:id="rId16"/>
    <p:sldId id="269" r:id="rId17"/>
    <p:sldId id="270" r:id="rId18"/>
    <p:sldId id="273" r:id="rId19"/>
    <p:sldId id="418" r:id="rId20"/>
    <p:sldId id="274" r:id="rId21"/>
    <p:sldId id="419"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9" r:id="rId114"/>
    <p:sldId id="367" r:id="rId115"/>
    <p:sldId id="368" r:id="rId116"/>
    <p:sldId id="370" r:id="rId117"/>
    <p:sldId id="371"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8" r:id="rId149"/>
    <p:sldId id="409" r:id="rId150"/>
    <p:sldId id="410" r:id="rId151"/>
    <p:sldId id="411" r:id="rId152"/>
    <p:sldId id="403" r:id="rId153"/>
    <p:sldId id="404" r:id="rId154"/>
    <p:sldId id="405" r:id="rId155"/>
    <p:sldId id="406" r:id="rId156"/>
    <p:sldId id="412" r:id="rId157"/>
    <p:sldId id="413" r:id="rId158"/>
    <p:sldId id="414" r:id="rId159"/>
    <p:sldId id="415" r:id="rId160"/>
    <p:sldId id="416" r:id="rId1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02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D99FA3-AFDC-4596-89BE-D2EB442FBA39}" type="datetimeFigureOut">
              <a:rPr lang="en-US" smtClean="0"/>
              <a:pPr/>
              <a:t>1/9/2014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E1BEB5-28E8-4990-9FBA-B354AB7DF8F2}"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8E1BEB5-28E8-4990-9FBA-B354AB7DF8F2}" type="slidenum">
              <a:rPr lang="en-US" smtClean="0"/>
              <a:pPr/>
              <a:t>3</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B3A17665-0A39-4106-9B1C-9194650B8E92}" type="slidenum">
              <a:rPr lang="en-US" smtClean="0"/>
              <a:pPr/>
              <a:t>91</a:t>
            </a:fld>
            <a:endParaRPr lang="en-US" smtClean="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en-US" smtClean="0"/>
              <a:t>Every thing is going fine until you face a threat, danger, change , or adjustment that forces you to cope or adapt</a:t>
            </a:r>
          </a:p>
          <a:p>
            <a:pPr eaLnBrk="1" hangingPunct="1"/>
            <a:r>
              <a:rPr lang="en-US" smtClean="0"/>
              <a:t>Homeostasis- regulation that maintains a steady state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0BDD6D1-EBD0-4F3A-9CC5-DF5887ED7A51}" type="slidenum">
              <a:rPr lang="en-US" smtClean="0"/>
              <a:pPr/>
              <a:t>93</a:t>
            </a:fld>
            <a:endParaRPr lang="en-US" smtClean="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smtClean="0"/>
              <a:t>Fight/flight- arousal, excitement, anxiety, increased heart rate, dilated pupils, increased breathing, muscle tension, and butterflies in stomach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DD798672-B6FF-4B58-A7B3-D5EDBCEC27E7}" type="slidenum">
              <a:rPr lang="en-US" smtClean="0"/>
              <a:pPr/>
              <a:t>97</a:t>
            </a:fld>
            <a:endParaRPr lang="en-US" smtClean="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smtClean="0"/>
              <a:t>Long term coping are effective over a long period of time</a:t>
            </a:r>
          </a:p>
          <a:p>
            <a:pPr eaLnBrk="1" hangingPunct="1"/>
            <a:r>
              <a:rPr lang="en-US" smtClean="0"/>
              <a:t>Short term temporary fixes</a:t>
            </a:r>
          </a:p>
          <a:p>
            <a:pPr eaLnBrk="1" hangingPunct="1"/>
            <a:r>
              <a:rPr lang="en-US" smtClean="0"/>
              <a:t>Defense mechanisms: denial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8E1BEB5-28E8-4990-9FBA-B354AB7DF8F2}" type="slidenum">
              <a:rPr lang="en-US" smtClean="0"/>
              <a:pPr/>
              <a:t>104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B42D16CA-5530-4AE5-9DD3-5392349AE1C4}" type="slidenum">
              <a:rPr lang="en-US" smtClean="0"/>
              <a:pPr/>
              <a:t>109</a:t>
            </a:fld>
            <a:endParaRPr lang="en-US"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r>
              <a:rPr lang="en-US" smtClean="0"/>
              <a:t>Physical stress- fatigue, adequacy of sleep, level of physical activity, bowel elimination </a:t>
            </a:r>
          </a:p>
          <a:p>
            <a:pPr eaLnBrk="1" hangingPunct="1"/>
            <a:r>
              <a:rPr lang="en-US" smtClean="0"/>
              <a:t>Psycho- denial , suspicion, hostility, regression, ambivalence</a:t>
            </a:r>
          </a:p>
          <a:p>
            <a:pPr eaLnBrk="1" hangingPunct="1"/>
            <a:r>
              <a:rPr lang="en-US" smtClean="0"/>
              <a:t>Environ- relocation ( hospital, long term care facility, change in home situation</a:t>
            </a:r>
          </a:p>
          <a:p>
            <a:pPr eaLnBrk="1" hangingPunct="1"/>
            <a:r>
              <a:rPr lang="en-US" smtClean="0"/>
              <a:t>Socio- family finances, career,spiritual</a:t>
            </a:r>
          </a:p>
          <a:p>
            <a:pPr eaLnBrk="1" hangingPunct="1"/>
            <a:r>
              <a:rPr lang="en-US" smtClean="0"/>
              <a:t>Risk – relocation, divorce, hospitalization, prison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33598A5F-9CB2-459E-BB58-1DFCF2A111E7}" type="slidenum">
              <a:rPr lang="en-US" smtClean="0"/>
              <a:pPr/>
              <a:t>111</a:t>
            </a:fld>
            <a:endParaRPr lang="en-US"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en-US" smtClean="0"/>
              <a:t>Supportive internal messages- self talk of encouragement, I can do this, or I can handle this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F144E14A-6E4F-48E0-BFC8-87A7D4CF7E96}" type="slidenum">
              <a:rPr lang="en-US" smtClean="0"/>
              <a:pPr/>
              <a:t>112</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r>
              <a:rPr lang="en-US" smtClean="0"/>
              <a:t>Case study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8E1BEB5-28E8-4990-9FBA-B354AB7DF8F2}" type="slidenum">
              <a:rPr lang="en-US" smtClean="0"/>
              <a:pPr/>
              <a:t>160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D9D1913A-5644-4911-BF8A-5F8313A8D050}"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81E022-7EB5-4127-95C8-C2D63F152D6D}" type="datetimeFigureOut">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D1913A-5644-4911-BF8A-5F8313A8D050}"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B81E022-7EB5-4127-95C8-C2D63F152D6D}" type="datetimeFigureOut">
              <a:rPr lang="en-US" smtClean="0"/>
              <a:pPr/>
              <a:t>1/9/2014</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9D1913A-5644-4911-BF8A-5F8313A8D050}"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PSYCHIATRY</a:t>
            </a:r>
            <a:endParaRPr lang="en-US" dirty="0"/>
          </a:p>
        </p:txBody>
      </p:sp>
      <p:sp>
        <p:nvSpPr>
          <p:cNvPr id="3" name="Subtitle 2"/>
          <p:cNvSpPr>
            <a:spLocks noGrp="1"/>
          </p:cNvSpPr>
          <p:nvPr>
            <p:ph type="subTitle" idx="1"/>
          </p:nvPr>
        </p:nvSpPr>
        <p:spPr/>
        <p:txBody>
          <a:bodyPr/>
          <a:lstStyle/>
          <a:p>
            <a:r>
              <a:rPr lang="en-US" dirty="0" smtClean="0"/>
              <a:t>BY</a:t>
            </a:r>
          </a:p>
          <a:p>
            <a:r>
              <a:rPr lang="en-US" dirty="0" smtClean="0"/>
              <a:t>MISS KARANJA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Specific objectives</a:t>
            </a:r>
            <a:endParaRPr lang="en-US"/>
          </a:p>
        </p:txBody>
      </p:sp>
      <p:sp>
        <p:nvSpPr>
          <p:cNvPr id="3" name="Content Placeholder 2"/>
          <p:cNvSpPr>
            <a:spLocks noGrp="1"/>
          </p:cNvSpPr>
          <p:nvPr>
            <p:ph idx="1"/>
          </p:nvPr>
        </p:nvSpPr>
        <p:spPr/>
        <p:txBody>
          <a:bodyPr/>
          <a:lstStyle/>
          <a:p>
            <a:pPr>
              <a:buNone/>
            </a:pPr>
            <a:r>
              <a:rPr lang="en-US" dirty="0" smtClean="0"/>
              <a:t>	By the end of </a:t>
            </a:r>
            <a:r>
              <a:rPr lang="en-US" dirty="0" smtClean="0"/>
              <a:t>this </a:t>
            </a:r>
            <a:r>
              <a:rPr lang="en-US" dirty="0" smtClean="0"/>
              <a:t>lesson, the student should be able to define schizophrenia</a:t>
            </a:r>
          </a:p>
          <a:p>
            <a:pPr>
              <a:buNone/>
            </a:pPr>
            <a:r>
              <a:rPr lang="en-US" dirty="0" smtClean="0"/>
              <a:t>	State signs, symptoms and management of schizophrenia</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SCHIZOPHRENIA</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Schizophrenia is a group of mental disorders that presents with varied symptoms of disordered thinking and bizarre social behavior. It affects approximately 1% of the total population, including adolescents and young adults. There is increased incidence in the lower social class. Patients with this condition occupy 50% of beds in mental hospitals. </a:t>
            </a:r>
          </a:p>
          <a:p>
            <a:pPr>
              <a:buNone/>
            </a:pPr>
            <a:r>
              <a:rPr lang="en-US" dirty="0" smtClean="0"/>
              <a:t>Generally:</a:t>
            </a:r>
          </a:p>
          <a:p>
            <a:pPr lvl="0"/>
            <a:r>
              <a:rPr lang="en-US" dirty="0" smtClean="0"/>
              <a:t>25% of patients diagnosed with schizophrenia recover completely.</a:t>
            </a:r>
          </a:p>
          <a:p>
            <a:pPr lvl="0"/>
            <a:r>
              <a:rPr lang="en-US" dirty="0" smtClean="0"/>
              <a:t>50 to 65% have residual symptoms</a:t>
            </a:r>
            <a:br>
              <a:rPr lang="en-US" dirty="0" smtClean="0"/>
            </a:br>
            <a:r>
              <a:rPr lang="en-US" dirty="0" smtClean="0"/>
              <a:t>and relapses.</a:t>
            </a:r>
          </a:p>
          <a:p>
            <a:pPr lvl="0"/>
            <a:r>
              <a:rPr lang="en-US" dirty="0" smtClean="0"/>
              <a:t>Approximately 10% remain ill.</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Schizophrenia is common in</a:t>
            </a:r>
            <a:endParaRPr lang="en-US" dirty="0"/>
          </a:p>
        </p:txBody>
      </p:sp>
      <p:sp>
        <p:nvSpPr>
          <p:cNvPr id="3" name="Content Placeholder 2"/>
          <p:cNvSpPr>
            <a:spLocks noGrp="1"/>
          </p:cNvSpPr>
          <p:nvPr>
            <p:ph idx="1"/>
          </p:nvPr>
        </p:nvSpPr>
        <p:spPr/>
        <p:txBody>
          <a:bodyPr>
            <a:normAutofit/>
          </a:bodyPr>
          <a:lstStyle/>
          <a:p>
            <a:r>
              <a:rPr lang="en-US" dirty="0" smtClean="0"/>
              <a:t>People whose family members have schizophrenia  </a:t>
            </a:r>
          </a:p>
          <a:p>
            <a:pPr>
              <a:buNone/>
            </a:pPr>
            <a:r>
              <a:rPr lang="en-US" dirty="0" smtClean="0"/>
              <a:t>In children who are: </a:t>
            </a:r>
          </a:p>
          <a:p>
            <a:pPr lvl="0"/>
            <a:r>
              <a:rPr lang="en-US" dirty="0" smtClean="0"/>
              <a:t>Highly individualistic in their thought processes.</a:t>
            </a:r>
          </a:p>
          <a:p>
            <a:pPr lvl="0"/>
            <a:r>
              <a:rPr lang="en-US" dirty="0" smtClean="0"/>
              <a:t>Overtly independent and obedient.</a:t>
            </a:r>
          </a:p>
          <a:p>
            <a:pPr lvl="0"/>
            <a:r>
              <a:rPr lang="en-US" dirty="0" smtClean="0"/>
              <a:t>Shy, withdrawn and loners.</a:t>
            </a:r>
          </a:p>
          <a:p>
            <a:pPr lvl="0"/>
            <a:r>
              <a:rPr lang="en-US" dirty="0" smtClean="0"/>
              <a:t>Unmanageable, prone to destructive, aggressive behavior.</a:t>
            </a:r>
          </a:p>
          <a:p>
            <a:r>
              <a:rPr lang="en-US" dirty="0" smtClean="0"/>
              <a:t>Truant from school</a:t>
            </a:r>
          </a:p>
          <a:p>
            <a:r>
              <a:rPr lang="en-US" dirty="0" smtClean="0"/>
              <a:t>Sensitive to separation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There is no single cause but research studies indicate several possible factors. These include possible hereditary factors or disturbances in the neurotransmitter system. The condition can also be traced back to disturbed family interaction patterns, for example, family schism and faulty familial communication and environmental stresses such as major crisis or migration.</a:t>
            </a:r>
          </a:p>
          <a:p>
            <a:pPr>
              <a:buNone/>
            </a:pPr>
            <a:r>
              <a:rPr lang="en-US" dirty="0" smtClean="0"/>
              <a:t>Early signs include: </a:t>
            </a:r>
          </a:p>
          <a:p>
            <a:pPr lvl="0"/>
            <a:r>
              <a:rPr lang="en-US" dirty="0" smtClean="0"/>
              <a:t>Blocking or cutting off conversation with friends</a:t>
            </a:r>
          </a:p>
          <a:p>
            <a:pPr lvl="0"/>
            <a:r>
              <a:rPr lang="en-US" dirty="0" smtClean="0"/>
              <a:t>Expressing various body symptoms</a:t>
            </a:r>
          </a:p>
          <a:p>
            <a:pPr lvl="0"/>
            <a:r>
              <a:rPr lang="en-US" dirty="0" smtClean="0"/>
              <a:t>Forgetting or abandoning plans or life goals</a:t>
            </a:r>
          </a:p>
          <a:p>
            <a:pPr lvl="0"/>
            <a:r>
              <a:rPr lang="en-US" dirty="0" smtClean="0"/>
              <a:t>Disregarding social customs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As the condition progresses, the patient exhibits a tendency towards separation, rejection or substance abuse like alcohol.</a:t>
            </a:r>
          </a:p>
          <a:p>
            <a:pPr>
              <a:buNone/>
            </a:pPr>
            <a:r>
              <a:rPr lang="en-US" dirty="0" smtClean="0"/>
              <a:t>In the acute phase, the patient will experience: </a:t>
            </a:r>
          </a:p>
          <a:p>
            <a:pPr lvl="0"/>
            <a:r>
              <a:rPr lang="en-US" dirty="0" smtClean="0"/>
              <a:t>Auditory and visual hallucinations.</a:t>
            </a:r>
          </a:p>
          <a:p>
            <a:pPr lvl="0"/>
            <a:r>
              <a:rPr lang="en-US" dirty="0" smtClean="0"/>
              <a:t>Illusions.</a:t>
            </a:r>
          </a:p>
          <a:p>
            <a:pPr lvl="0"/>
            <a:r>
              <a:rPr lang="en-US" dirty="0" smtClean="0"/>
              <a:t>Delusions of persecution, grandeur or impending distraction.</a:t>
            </a:r>
          </a:p>
          <a:p>
            <a:pPr lvl="0"/>
            <a:r>
              <a:rPr lang="en-US" dirty="0" smtClean="0"/>
              <a:t>Autistic thinking characterized by being highly personal.</a:t>
            </a:r>
          </a:p>
          <a:p>
            <a:pPr lvl="0"/>
            <a:r>
              <a:rPr lang="en-US" dirty="0" smtClean="0"/>
              <a:t>Speech characterized by incoherence, echolalia, neologisms and unwillingness to speak.</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Inappropriate behavior, for example, grimacing, negativism, suggestibility and poor personal hygiene.</a:t>
            </a:r>
          </a:p>
          <a:p>
            <a:pPr lvl="0"/>
            <a:r>
              <a:rPr lang="en-US" dirty="0" smtClean="0"/>
              <a:t>Blunting ambivalence and inappropriateness of affect.</a:t>
            </a:r>
          </a:p>
          <a:p>
            <a:r>
              <a:rPr lang="en-US" dirty="0" smtClean="0"/>
              <a:t>The next phase is known as the residual phase. At this stage, the patient usually exhibits symptoms of flat or blunt affect, rambling speech, poor hygiene and grooming and distortion of some perceptual experiences may persist.</a:t>
            </a:r>
          </a:p>
          <a:p>
            <a:r>
              <a:rPr lang="en-US" dirty="0" smtClean="0"/>
              <a:t>Finally, in the chronic/relapse phase, the patient may point to feelings of boredom and apathy, impulsive suppression of feelings and psychotic disorganization with increasing perceptual and cognitive dysfunction, loss of identity and loss of self-control.</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Schizophrenia</a:t>
            </a:r>
            <a:endParaRPr lang="en-US" dirty="0"/>
          </a:p>
        </p:txBody>
      </p:sp>
      <p:sp>
        <p:nvSpPr>
          <p:cNvPr id="3" name="Content Placeholder 2"/>
          <p:cNvSpPr>
            <a:spLocks noGrp="1"/>
          </p:cNvSpPr>
          <p:nvPr>
            <p:ph idx="1"/>
          </p:nvPr>
        </p:nvSpPr>
        <p:spPr/>
        <p:txBody>
          <a:bodyPr>
            <a:normAutofit/>
          </a:bodyPr>
          <a:lstStyle/>
          <a:p>
            <a:pPr>
              <a:buNone/>
            </a:pPr>
            <a:r>
              <a:rPr lang="en-US" b="1" dirty="0" smtClean="0"/>
              <a:t>Catatonic Schizophrenia</a:t>
            </a:r>
            <a:r>
              <a:rPr lang="en-US" dirty="0" smtClean="0"/>
              <a:t> </a:t>
            </a:r>
          </a:p>
          <a:p>
            <a:r>
              <a:rPr lang="en-US" dirty="0" smtClean="0"/>
              <a:t>This is a disorder </a:t>
            </a:r>
            <a:r>
              <a:rPr lang="en-US" dirty="0" err="1" smtClean="0"/>
              <a:t>characterised</a:t>
            </a:r>
            <a:r>
              <a:rPr lang="en-US" dirty="0" smtClean="0"/>
              <a:t> by a </a:t>
            </a:r>
            <a:r>
              <a:rPr lang="en-US" dirty="0" err="1" smtClean="0"/>
              <a:t>stuporous</a:t>
            </a:r>
            <a:r>
              <a:rPr lang="en-US" dirty="0" smtClean="0"/>
              <a:t> state in which the person is mute, negative or </a:t>
            </a:r>
            <a:br>
              <a:rPr lang="en-US" dirty="0" smtClean="0"/>
            </a:br>
            <a:r>
              <a:rPr lang="en-US" dirty="0" smtClean="0"/>
              <a:t>complains in response to a </a:t>
            </a:r>
            <a:r>
              <a:rPr lang="en-US" dirty="0" err="1" smtClean="0"/>
              <a:t>requestindividual</a:t>
            </a:r>
            <a:r>
              <a:rPr lang="en-US" dirty="0" smtClean="0"/>
              <a:t> may be immobile, display waxy flexibility and may retain urine and </a:t>
            </a:r>
            <a:r>
              <a:rPr lang="en-US" dirty="0" err="1" smtClean="0"/>
              <a:t>faeces</a:t>
            </a:r>
            <a:r>
              <a:rPr lang="en-US" dirty="0" smtClean="0"/>
              <a:t>.</a:t>
            </a:r>
          </a:p>
          <a:p>
            <a:r>
              <a:rPr lang="en-US" dirty="0" smtClean="0"/>
              <a:t>It may alternatively be </a:t>
            </a:r>
            <a:r>
              <a:rPr lang="en-US" dirty="0" err="1" smtClean="0"/>
              <a:t>characterised</a:t>
            </a:r>
            <a:r>
              <a:rPr lang="en-US" dirty="0" smtClean="0"/>
              <a:t> by a highly excited state in which the person is abusive, aggressive, hyperactive or agitated </a:t>
            </a:r>
            <a:br>
              <a:rPr lang="en-US" dirty="0" smtClean="0"/>
            </a:br>
            <a:r>
              <a:rPr lang="en-US" dirty="0" smtClean="0"/>
              <a:t>(catatonic excitement).</a:t>
            </a:r>
          </a:p>
          <a:p>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err="1" smtClean="0"/>
              <a:t>Disorganised</a:t>
            </a:r>
            <a:r>
              <a:rPr lang="en-US" b="1" dirty="0" smtClean="0"/>
              <a:t> Schizophrenia</a:t>
            </a:r>
            <a:r>
              <a:rPr lang="en-US" dirty="0" smtClean="0"/>
              <a:t> </a:t>
            </a:r>
          </a:p>
          <a:p>
            <a:r>
              <a:rPr lang="en-US" dirty="0" smtClean="0"/>
              <a:t>This is a disorder characterized by incoherence, foolishness and regressive behavior.</a:t>
            </a:r>
          </a:p>
          <a:p>
            <a:pPr>
              <a:buNone/>
            </a:pPr>
            <a:r>
              <a:rPr lang="en-US" b="1" dirty="0" smtClean="0"/>
              <a:t>Paranoid Schizophrenia</a:t>
            </a:r>
            <a:r>
              <a:rPr lang="en-US" dirty="0" smtClean="0"/>
              <a:t> </a:t>
            </a:r>
          </a:p>
          <a:p>
            <a:r>
              <a:rPr lang="en-US" dirty="0" smtClean="0"/>
              <a:t>This is a disorder characterized by delusions of persecution or grandeur.</a:t>
            </a:r>
          </a:p>
          <a:p>
            <a:pPr>
              <a:buNone/>
            </a:pPr>
            <a:r>
              <a:rPr lang="en-US" b="1" dirty="0" smtClean="0"/>
              <a:t> </a:t>
            </a:r>
            <a:endParaRPr lang="en-US" dirty="0" smtClean="0"/>
          </a:p>
          <a:p>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Undifferentiated Schizophrenia</a:t>
            </a:r>
            <a:r>
              <a:rPr lang="en-US" dirty="0" smtClean="0"/>
              <a:t> </a:t>
            </a:r>
          </a:p>
          <a:p>
            <a:r>
              <a:rPr lang="en-US" dirty="0" smtClean="0"/>
              <a:t>This disorder is characterized by a variety of symptoms found in several of the types of schizophrenia that have previously been covered above, and are known as simple type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a:t>
            </a:r>
            <a:endParaRPr lang="en-US" dirty="0"/>
          </a:p>
        </p:txBody>
      </p:sp>
      <p:sp>
        <p:nvSpPr>
          <p:cNvPr id="3" name="Content Placeholder 2"/>
          <p:cNvSpPr>
            <a:spLocks noGrp="1"/>
          </p:cNvSpPr>
          <p:nvPr>
            <p:ph idx="1"/>
          </p:nvPr>
        </p:nvSpPr>
        <p:spPr/>
        <p:txBody>
          <a:bodyPr>
            <a:normAutofit lnSpcReduction="10000"/>
          </a:bodyPr>
          <a:lstStyle/>
          <a:p>
            <a:pPr lvl="0"/>
            <a:r>
              <a:rPr lang="en-US" dirty="0" smtClean="0"/>
              <a:t>Short </a:t>
            </a:r>
            <a:r>
              <a:rPr lang="en-US" dirty="0" err="1" smtClean="0"/>
              <a:t>hospitalisation</a:t>
            </a:r>
            <a:r>
              <a:rPr lang="en-US" dirty="0" smtClean="0"/>
              <a:t> to assist with the problem of being a danger to themselves or others, of deviant behaviour that is abrasive to the family and community and monitoring effects of drugs or other therapies.</a:t>
            </a:r>
          </a:p>
          <a:p>
            <a:pPr lvl="0"/>
            <a:r>
              <a:rPr lang="en-US" dirty="0" smtClean="0"/>
              <a:t>Outpatient treatment to provide aftercare, maintenance therapy, social support programs and medical clinics.</a:t>
            </a:r>
          </a:p>
          <a:p>
            <a:pPr lvl="0"/>
            <a:r>
              <a:rPr lang="en-US" dirty="0" smtClean="0"/>
              <a:t>Rehabilitation services to provide opportunities to increase skills in living such as vocational rehabilitation, foster home care and halfway houses.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smtClean="0"/>
              <a:t>Drug therapy with antipsychotics to assist in alleviating symptoms and increasing patients availability for psychotherapy (refer to the section three on chemotherapy in treatments used in psychotherapy).</a:t>
            </a:r>
          </a:p>
          <a:p>
            <a:pPr lvl="0"/>
            <a:r>
              <a:rPr lang="en-US" dirty="0" smtClean="0"/>
              <a:t>Individual and group psychotherapy to assist patient in daily problems by exploring relationships, sources of anxiety and coping techniques. In group therapy support is offered on how to cope with problems encountered in everyday life.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smtClean="0"/>
              <a:t>Family therapy to assist in defining the problem as one concerning the entire family rather than concerning the patient alone, to improve communication, to clarify roles within the family, to manage stress and to assist in problem solving.</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It is also important to provide some basic health education to the patient. This would include the following steps:</a:t>
            </a:r>
          </a:p>
          <a:p>
            <a:pPr lvl="0"/>
            <a:r>
              <a:rPr lang="en-US" dirty="0" smtClean="0"/>
              <a:t>Teach patient and family various ways of obtaining help in improving work, educational and social skills.</a:t>
            </a:r>
          </a:p>
          <a:p>
            <a:pPr lvl="0"/>
            <a:r>
              <a:rPr lang="en-US" dirty="0" smtClean="0"/>
              <a:t>Stress the need for re-</a:t>
            </a:r>
            <a:r>
              <a:rPr lang="en-US" dirty="0" err="1" smtClean="0"/>
              <a:t>hospitalisation</a:t>
            </a:r>
            <a:r>
              <a:rPr lang="en-US" dirty="0" smtClean="0"/>
              <a:t> if the need arises.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AFFECTIVE DISORDERS</a:t>
            </a:r>
            <a:endParaRPr lang="en-US" dirty="0"/>
          </a:p>
        </p:txBody>
      </p:sp>
      <p:sp>
        <p:nvSpPr>
          <p:cNvPr id="3" name="Content Placeholder 2"/>
          <p:cNvSpPr>
            <a:spLocks noGrp="1"/>
          </p:cNvSpPr>
          <p:nvPr>
            <p:ph idx="1"/>
          </p:nvPr>
        </p:nvSpPr>
        <p:spPr/>
        <p:txBody>
          <a:bodyPr/>
          <a:lstStyle/>
          <a:p>
            <a:r>
              <a:rPr lang="en-US" dirty="0" smtClean="0"/>
              <a:t>Affective disorders are a group of mental disorders that present mainly with symptoms of mood disturbance with associated changes in thinking and behaviour. In terms of their incidence, females outnumber males 2:1. An estimated 20%-50% of people over 65 years of age experience depression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smtClean="0"/>
              <a:t>Teach the patient how to take medication and how to tolerate and/or adapt to side effects of the drugs.</a:t>
            </a:r>
          </a:p>
          <a:p>
            <a:pPr lvl="0"/>
            <a:r>
              <a:rPr lang="en-US" dirty="0" smtClean="0"/>
              <a:t>Patient and relatives should be taught how to identify stress early and then use problem solving skills.</a:t>
            </a:r>
          </a:p>
          <a:p>
            <a:pPr lvl="0"/>
            <a:r>
              <a:rPr lang="en-US" dirty="0" smtClean="0"/>
              <a:t>Family members should be taught how to supervise the patient's medication and how to respond to disturbing behaviour.</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smtClean="0"/>
              <a:t>Provide information on the nature of schizophrenia and the treatments available.</a:t>
            </a:r>
          </a:p>
          <a:p>
            <a:pPr lvl="0"/>
            <a:r>
              <a:rPr lang="en-US" dirty="0" smtClean="0"/>
              <a:t>Stress the importance of not using illicit drugs and alcohol.</a:t>
            </a:r>
          </a:p>
          <a:p>
            <a:pPr>
              <a:buNone/>
            </a:pPr>
            <a:r>
              <a:rPr lang="en-US" b="1" i="1" dirty="0" smtClean="0"/>
              <a:t>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Bipolar disorder</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Bipolar disorder is a serious, chronic (long-term) condition where you have periods of depression (lows) and periods of mania or hypomania (highs). Treatment with mood </a:t>
            </a:r>
            <a:r>
              <a:rPr lang="en-US" dirty="0" smtClean="0"/>
              <a:t>stabilizer </a:t>
            </a:r>
            <a:r>
              <a:rPr lang="en-US" dirty="0" smtClean="0"/>
              <a:t>medicines such as lithium, anticonvulsants or antipsychotic medicines aims to keep your mood within normal </a:t>
            </a:r>
            <a:r>
              <a:rPr lang="en-US" dirty="0" smtClean="0"/>
              <a:t>limits.</a:t>
            </a:r>
            <a:endParaRPr lang="en-US" dirty="0" smtClean="0"/>
          </a:p>
          <a:p>
            <a:r>
              <a:rPr lang="en-US" dirty="0" smtClean="0"/>
              <a:t>Bipolar </a:t>
            </a:r>
            <a:r>
              <a:rPr lang="en-US" dirty="0" smtClean="0"/>
              <a:t>disorders occur before the age of 30, while depression occurs at any age. Depression occurring for the first time after the age of 40 frequently indicates underlying physical illness. Depression is frequently associated with other medical disorders or treatment, for example, alcoholism, cancer and/or the side effects of some drugs used in the treatment of hypertension.</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length of time you spend in each extreme can vary. It is usually for several weeks at a time or longer. Bipolar disorder is very different from the mood swings that moody people have which last a few minutes or hours.</a:t>
            </a:r>
            <a:br>
              <a:rPr lang="en-US" dirty="0" smtClean="0"/>
            </a:br>
            <a:r>
              <a:rPr lang="en-US" b="1" dirty="0" smtClean="0"/>
              <a:t>Note</a:t>
            </a:r>
            <a:r>
              <a:rPr lang="en-US" dirty="0" smtClean="0"/>
              <a:t>: some people with bipolar disorder can have periods where they have mixed symptoms where they quickly alternate between depressive symptoms and manic symptoms (usually within a few hours). This is known as a mixed bipolar episode.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Possible causes</a:t>
            </a:r>
            <a:endParaRPr lang="en-US" dirty="0"/>
          </a:p>
        </p:txBody>
      </p:sp>
      <p:sp>
        <p:nvSpPr>
          <p:cNvPr id="3" name="Content Placeholder 2"/>
          <p:cNvSpPr>
            <a:spLocks noGrp="1"/>
          </p:cNvSpPr>
          <p:nvPr>
            <p:ph idx="1"/>
          </p:nvPr>
        </p:nvSpPr>
        <p:spPr/>
        <p:txBody>
          <a:bodyPr/>
          <a:lstStyle/>
          <a:p>
            <a:pPr lvl="0"/>
            <a:r>
              <a:rPr lang="en-US" dirty="0" smtClean="0"/>
              <a:t>Genetic factors.</a:t>
            </a:r>
          </a:p>
          <a:p>
            <a:pPr lvl="0"/>
            <a:r>
              <a:rPr lang="en-US" dirty="0" smtClean="0"/>
              <a:t>Disturbance in the neurotransmitters system, involving norepinephrine, serotonin, dopamine, acetylcholine.</a:t>
            </a:r>
          </a:p>
          <a:p>
            <a:pPr lvl="0"/>
            <a:r>
              <a:rPr lang="en-US" dirty="0" smtClean="0"/>
              <a:t>Disturbance of steroid hormones.</a:t>
            </a:r>
          </a:p>
          <a:p>
            <a:pPr lvl="0"/>
            <a:r>
              <a:rPr lang="en-US" dirty="0" smtClean="0"/>
              <a:t>Stressful life events prior to onset of illness.</a:t>
            </a:r>
          </a:p>
          <a:p>
            <a:pPr lvl="0"/>
            <a:r>
              <a:rPr lang="en-US" dirty="0" smtClean="0"/>
              <a:t>Lack of social support.</a:t>
            </a:r>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Symptoms of mania</a:t>
            </a:r>
            <a:endParaRPr lang="en-US" dirty="0"/>
          </a:p>
        </p:txBody>
      </p:sp>
      <p:sp>
        <p:nvSpPr>
          <p:cNvPr id="3" name="Content Placeholder 2"/>
          <p:cNvSpPr>
            <a:spLocks noGrp="1"/>
          </p:cNvSpPr>
          <p:nvPr>
            <p:ph idx="1"/>
          </p:nvPr>
        </p:nvSpPr>
        <p:spPr/>
        <p:txBody>
          <a:bodyPr>
            <a:normAutofit lnSpcReduction="10000"/>
          </a:bodyPr>
          <a:lstStyle/>
          <a:p>
            <a:r>
              <a:rPr lang="en-US" dirty="0" smtClean="0"/>
              <a:t>Disconnected and racing thoughts</a:t>
            </a:r>
          </a:p>
          <a:p>
            <a:r>
              <a:rPr lang="en-US" dirty="0" smtClean="0"/>
              <a:t>Grandiose notions</a:t>
            </a:r>
          </a:p>
          <a:p>
            <a:r>
              <a:rPr lang="en-US" dirty="0" smtClean="0"/>
              <a:t>Inappropriate elation</a:t>
            </a:r>
          </a:p>
          <a:p>
            <a:r>
              <a:rPr lang="en-US" dirty="0" smtClean="0"/>
              <a:t>Inappropriate irritability</a:t>
            </a:r>
          </a:p>
          <a:p>
            <a:r>
              <a:rPr lang="en-US" dirty="0" smtClean="0"/>
              <a:t>Inappropriate social behavior</a:t>
            </a:r>
          </a:p>
          <a:p>
            <a:r>
              <a:rPr lang="en-US" dirty="0" smtClean="0"/>
              <a:t>Increased sexual desire</a:t>
            </a:r>
          </a:p>
          <a:p>
            <a:r>
              <a:rPr lang="en-US" dirty="0" smtClean="0"/>
              <a:t>Increased talking speed and/or volume</a:t>
            </a:r>
          </a:p>
          <a:p>
            <a:r>
              <a:rPr lang="en-US" dirty="0" smtClean="0"/>
              <a:t>Markedly increased energy</a:t>
            </a:r>
          </a:p>
          <a:p>
            <a:r>
              <a:rPr lang="en-US" dirty="0" smtClean="0"/>
              <a:t>Poor judgment</a:t>
            </a:r>
          </a:p>
          <a:p>
            <a:r>
              <a:rPr lang="en-US" dirty="0" smtClean="0"/>
              <a:t>Severe insomnia</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Depression </a:t>
            </a:r>
            <a:endParaRPr lang="en-US" dirty="0"/>
          </a:p>
        </p:txBody>
      </p:sp>
      <p:sp>
        <p:nvSpPr>
          <p:cNvPr id="3" name="Content Placeholder 2"/>
          <p:cNvSpPr>
            <a:spLocks noGrp="1"/>
          </p:cNvSpPr>
          <p:nvPr>
            <p:ph idx="1"/>
          </p:nvPr>
        </p:nvSpPr>
        <p:spPr/>
        <p:txBody>
          <a:bodyPr>
            <a:normAutofit/>
          </a:bodyPr>
          <a:lstStyle/>
          <a:p>
            <a:pPr lvl="0"/>
            <a:r>
              <a:rPr lang="en-US" dirty="0" smtClean="0"/>
              <a:t>Depression is hostility turned against yourself, while mania is hostility projected at others.</a:t>
            </a:r>
          </a:p>
          <a:p>
            <a:pPr lvl="0"/>
            <a:r>
              <a:rPr lang="en-US" dirty="0" smtClean="0"/>
              <a:t>The individuals view themselves, the future and the current experiences in a negative way.</a:t>
            </a:r>
          </a:p>
          <a:p>
            <a:pPr lvl="0"/>
            <a:r>
              <a:rPr lang="en-US" dirty="0" smtClean="0"/>
              <a:t>Family interaction patterns in which a child experiences high expectations of achievement by parents and little approval for being themselves.</a:t>
            </a:r>
          </a:p>
          <a:p>
            <a:r>
              <a:rPr lang="en-US" dirty="0" smtClean="0"/>
              <a:t>The conditions manifests in different ways depending on the type of disorder. </a:t>
            </a:r>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Depression</a:t>
            </a:r>
            <a:endParaRPr lang="en-US" dirty="0"/>
          </a:p>
        </p:txBody>
      </p:sp>
      <p:sp>
        <p:nvSpPr>
          <p:cNvPr id="3" name="Content Placeholder 2"/>
          <p:cNvSpPr>
            <a:spLocks noGrp="1"/>
          </p:cNvSpPr>
          <p:nvPr>
            <p:ph idx="1"/>
          </p:nvPr>
        </p:nvSpPr>
        <p:spPr/>
        <p:txBody>
          <a:bodyPr>
            <a:normAutofit lnSpcReduction="10000"/>
          </a:bodyPr>
          <a:lstStyle/>
          <a:p>
            <a:r>
              <a:rPr lang="en-US" dirty="0" smtClean="0"/>
              <a:t>Symptoms include sadness, apathy, feelings of worthlessness, self-blame, thoughts of suicide, desire to escape, avoidance of simple problems, anorexia, weight loss, lessened interest in sex, sleeplessness, reduction in activity or ceaseless activity. In infants and older children, symptoms include a refusal to eat, listlessness, lack of activity, fear of death of a parent and fear of separation from parents. In adolescents, symptoms are social isolation, negative attitude, sulkiness, feeling of being unappreciated and acting out in antisocial ways.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This is a disorder in which there are alternating periods of depression and mania. Bipolar disorder manic episodes exhibit symptoms of hyperactivity, speech pressure, hyper sexuality, delusions, abusive and sleeplessness. Meanwhile, bipolar disorder depressive episodes exhibit symptoms similar to those of major depression.</a:t>
            </a:r>
          </a:p>
          <a:p>
            <a:r>
              <a:rPr lang="en-US" dirty="0" smtClean="0"/>
              <a:t>There are several forms of treatment. You will now look at some of these in more detail. </a:t>
            </a:r>
          </a:p>
          <a:p>
            <a:pPr>
              <a:buNone/>
            </a:pPr>
            <a:r>
              <a:rPr lang="en-US" b="1" dirty="0" smtClean="0"/>
              <a:t> </a:t>
            </a:r>
            <a:endParaRPr lang="en-US"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Hospitalization</a:t>
            </a:r>
            <a:endParaRPr lang="en-US" dirty="0" smtClean="0"/>
          </a:p>
          <a:p>
            <a:r>
              <a:rPr lang="en-US" dirty="0" smtClean="0"/>
              <a:t>This is used in acute mania and in depression when there is evidence of poor judgment, weight loss and a lack of emotional support.</a:t>
            </a:r>
          </a:p>
          <a:p>
            <a:pPr>
              <a:buNone/>
            </a:pPr>
            <a:r>
              <a:rPr lang="en-US" b="1" dirty="0" smtClean="0"/>
              <a:t> </a:t>
            </a:r>
            <a:endParaRPr lang="en-US" dirty="0" smtClean="0"/>
          </a:p>
          <a:p>
            <a:pPr>
              <a:buNone/>
            </a:pPr>
            <a:r>
              <a:rPr lang="en-US" b="1" dirty="0" smtClean="0"/>
              <a:t>Drug Therapy with Antidepressants or Antimanic Drugs</a:t>
            </a:r>
            <a:endParaRPr lang="en-US" dirty="0" smtClean="0"/>
          </a:p>
          <a:p>
            <a:r>
              <a:rPr lang="en-US" dirty="0" smtClean="0"/>
              <a:t>Examples of drug therapy treatments include antidepressants. As a hypothetical treatment, using tricyclic medication, for example, imipramine. Build up to the effective dose over </a:t>
            </a:r>
            <a:br>
              <a:rPr lang="en-US" dirty="0" smtClean="0"/>
            </a:br>
            <a:r>
              <a:rPr lang="en-US" dirty="0" smtClean="0"/>
              <a:t>7-10 days. Start with 25-50mg each night and build up to 100-150mg. Withdraw the medication </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slowly and monitor for withdrawal reaction and to ensure remission is stable. </a:t>
            </a:r>
          </a:p>
          <a:p>
            <a:r>
              <a:rPr lang="en-US" dirty="0" smtClean="0"/>
              <a:t>You can also use </a:t>
            </a:r>
            <a:r>
              <a:rPr lang="en-US" dirty="0" err="1" smtClean="0"/>
              <a:t>antimanic</a:t>
            </a:r>
            <a:r>
              <a:rPr lang="en-US" dirty="0" smtClean="0"/>
              <a:t> drugs.</a:t>
            </a:r>
          </a:p>
          <a:p>
            <a:pPr lvl="0">
              <a:buNone/>
            </a:pPr>
            <a:r>
              <a:rPr lang="en-US" b="1" dirty="0" smtClean="0"/>
              <a:t>Others</a:t>
            </a:r>
          </a:p>
          <a:p>
            <a:pPr lvl="0"/>
            <a:r>
              <a:rPr lang="en-US" dirty="0" smtClean="0"/>
              <a:t>Electro Convulsive Therapy (ECT): used in severe depression or mania.</a:t>
            </a:r>
          </a:p>
          <a:p>
            <a:pPr lvl="0"/>
            <a:r>
              <a:rPr lang="en-US" dirty="0" smtClean="0"/>
              <a:t>Psychotherapy used to deal with issues of dependency and manipulation of loss experience and self-destructiveness.</a:t>
            </a:r>
          </a:p>
          <a:p>
            <a:pPr lvl="0"/>
            <a:r>
              <a:rPr lang="en-US" dirty="0" smtClean="0"/>
              <a:t>Behaviour therapy, which focuses on rewarding acceptable behaviour and providing social skills.</a:t>
            </a:r>
          </a:p>
          <a:p>
            <a:pPr lvl="0"/>
            <a:r>
              <a:rPr lang="en-US" dirty="0" smtClean="0"/>
              <a:t>Maintenance of social support by family members, workmates, etc.</a:t>
            </a:r>
          </a:p>
          <a:p>
            <a:pPr>
              <a:buNone/>
            </a:pPr>
            <a:endParaRPr lang="en-US" b="1" dirty="0" smtClean="0"/>
          </a:p>
          <a:p>
            <a:pPr>
              <a:buNone/>
            </a:pPr>
            <a:endParaRPr lang="en-US" b="1" dirty="0" smtClean="0"/>
          </a:p>
          <a:p>
            <a:pPr>
              <a:buNone/>
            </a:pPr>
            <a:r>
              <a:rPr lang="en-US" b="1" dirty="0" smtClean="0"/>
              <a:t> </a:t>
            </a:r>
            <a:endParaRPr lang="en-US" dirty="0" smtClean="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smtClean="0"/>
              <a:t>Assessment for suicide ideation particularly for the depressed patients and prompt intervention.</a:t>
            </a:r>
          </a:p>
          <a:p>
            <a:pPr lvl="0"/>
            <a:r>
              <a:rPr lang="en-US" dirty="0" smtClean="0"/>
              <a:t>Health education is necessary to provide the patient with information about affective disorders, major treatments </a:t>
            </a:r>
            <a:br>
              <a:rPr lang="en-US" dirty="0" smtClean="0"/>
            </a:br>
            <a:r>
              <a:rPr lang="en-US" dirty="0" smtClean="0"/>
              <a:t>and prognosis.</a:t>
            </a:r>
          </a:p>
          <a:p>
            <a:pPr lvl="0"/>
            <a:r>
              <a:rPr lang="en-US" dirty="0" smtClean="0"/>
              <a:t>Assist the patient and family in learning ways to manage stress.</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SOMATOFORM AND DISSOCIATIVE DISORDERS</a:t>
            </a:r>
            <a:endParaRPr lang="en-US" dirty="0"/>
          </a:p>
        </p:txBody>
      </p:sp>
      <p:sp>
        <p:nvSpPr>
          <p:cNvPr id="3" name="Content Placeholder 2"/>
          <p:cNvSpPr>
            <a:spLocks noGrp="1"/>
          </p:cNvSpPr>
          <p:nvPr>
            <p:ph idx="1"/>
          </p:nvPr>
        </p:nvSpPr>
        <p:spPr/>
        <p:txBody>
          <a:bodyPr/>
          <a:lstStyle/>
          <a:p>
            <a:pPr>
              <a:buNone/>
            </a:pPr>
            <a:r>
              <a:rPr lang="en-US" b="1" dirty="0" smtClean="0">
                <a:solidFill>
                  <a:srgbClr val="FF0000"/>
                </a:solidFill>
              </a:rPr>
              <a:t>SOMATOFORM DISORDERS</a:t>
            </a:r>
          </a:p>
          <a:p>
            <a:pPr>
              <a:buFont typeface="Wingdings" pitchFamily="2" charset="2"/>
              <a:buChar char="Ø"/>
            </a:pPr>
            <a:r>
              <a:rPr lang="en-US" dirty="0" smtClean="0"/>
              <a:t>Also known as Briquet’s syndrome</a:t>
            </a:r>
          </a:p>
          <a:p>
            <a:pPr>
              <a:buFont typeface="Wingdings" pitchFamily="2" charset="2"/>
              <a:buChar char="Ø"/>
            </a:pPr>
            <a:r>
              <a:rPr lang="en-US" dirty="0" smtClean="0"/>
              <a:t>It’s a mental disorder chacterised by physical symptoms that mimick physical disease or injury for which there is no identifiable physical cause</a:t>
            </a:r>
          </a:p>
          <a:p>
            <a:pPr>
              <a:buFont typeface="Wingdings" pitchFamily="2" charset="2"/>
              <a:buChar char="Ø"/>
            </a:pPr>
            <a:r>
              <a:rPr lang="en-US" dirty="0" smtClean="0"/>
              <a:t>Are disorders that manifest themselves with bodily symptoms</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b="1" dirty="0" smtClean="0">
                <a:solidFill>
                  <a:srgbClr val="FF0000"/>
                </a:solidFill>
              </a:rPr>
              <a:t>Somatization disorder</a:t>
            </a:r>
          </a:p>
          <a:p>
            <a:pPr>
              <a:buFont typeface="Wingdings" pitchFamily="2" charset="2"/>
              <a:buChar char="Ø"/>
            </a:pPr>
            <a:r>
              <a:rPr lang="en-US" dirty="0" smtClean="0"/>
              <a:t>Characterized by many physical complains affecting many organ systems</a:t>
            </a:r>
          </a:p>
          <a:p>
            <a:pPr>
              <a:buFont typeface="Wingdings" pitchFamily="2" charset="2"/>
              <a:buChar char="Ø"/>
            </a:pPr>
            <a:r>
              <a:rPr lang="en-US" dirty="0" smtClean="0"/>
              <a:t>Somatic symptoms cannot be explained by physical examination or laboratory investigations</a:t>
            </a:r>
          </a:p>
          <a:p>
            <a:pPr>
              <a:buFont typeface="Wingdings" pitchFamily="2" charset="2"/>
              <a:buChar char="Ø"/>
            </a:pPr>
            <a:r>
              <a:rPr lang="en-US" dirty="0" smtClean="0"/>
              <a:t>Usually begins before age 30 and continues for many years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Ø"/>
            </a:pPr>
            <a:r>
              <a:rPr lang="en-US" dirty="0" smtClean="0"/>
              <a:t>Its chronic and associated with psychological stress</a:t>
            </a:r>
          </a:p>
          <a:p>
            <a:pPr>
              <a:buFont typeface="Wingdings" pitchFamily="2" charset="2"/>
              <a:buChar char="Ø"/>
            </a:pPr>
            <a:r>
              <a:rPr lang="en-US" dirty="0" smtClean="0"/>
              <a:t>There is impairment in social and occupational functioning and excessive medical help seeking behavior</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Symptoms </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dirty="0" smtClean="0"/>
              <a:t>Many somatic complains and a long complicated medical history such as nausea,vomiting,dysphagia,pain in the arms and legs and shortness of breath</a:t>
            </a:r>
          </a:p>
          <a:p>
            <a:pPr>
              <a:buFont typeface="Wingdings" pitchFamily="2" charset="2"/>
              <a:buChar char="Ø"/>
            </a:pPr>
            <a:r>
              <a:rPr lang="en-US" dirty="0" smtClean="0"/>
              <a:t>Neurological symptoms include impaired coordination and balance, paralysis, localized weakness</a:t>
            </a:r>
          </a:p>
          <a:p>
            <a:pPr>
              <a:buFont typeface="Wingdings" pitchFamily="2" charset="2"/>
              <a:buChar char="Ø"/>
            </a:pPr>
            <a:r>
              <a:rPr lang="en-US" dirty="0" smtClean="0"/>
              <a:t>Often sickly In most of their life</a:t>
            </a:r>
          </a:p>
          <a:p>
            <a:pPr>
              <a:buFont typeface="Wingdings" pitchFamily="2" charset="2"/>
              <a:buChar char="Ø"/>
            </a:pPr>
            <a:r>
              <a:rPr lang="en-US" dirty="0" smtClean="0"/>
              <a:t>Depression is the most prevalent psychiatric conditions among these patients</a:t>
            </a:r>
          </a:p>
          <a:p>
            <a:pPr>
              <a:buFont typeface="Wingdings" pitchFamily="2" charset="2"/>
              <a:buChar char="Ø"/>
            </a:pPr>
            <a:r>
              <a:rPr lang="en-US" dirty="0" smtClean="0"/>
              <a:t>Suicidal threats are common but actual ones are rare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Single identity physician</a:t>
            </a:r>
          </a:p>
          <a:p>
            <a:pPr>
              <a:buFont typeface="Wingdings" pitchFamily="2" charset="2"/>
              <a:buChar char="Ø"/>
            </a:pPr>
            <a:r>
              <a:rPr lang="en-US" dirty="0" smtClean="0"/>
              <a:t>Physical examination should be done for each visit to respond to each somatic syndrome</a:t>
            </a:r>
          </a:p>
          <a:p>
            <a:pPr>
              <a:buFont typeface="Wingdings" pitchFamily="2" charset="2"/>
              <a:buChar char="Ø"/>
            </a:pPr>
            <a:r>
              <a:rPr lang="en-US" dirty="0" smtClean="0"/>
              <a:t>Do psychotherapy after confirmation to reduce the rate of </a:t>
            </a:r>
            <a:r>
              <a:rPr lang="en-US" dirty="0" err="1" smtClean="0"/>
              <a:t>hospitalisation</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q"/>
            </a:pPr>
            <a:r>
              <a:rPr lang="en-US" b="1" dirty="0" smtClean="0">
                <a:solidFill>
                  <a:srgbClr val="FF0000"/>
                </a:solidFill>
              </a:rPr>
              <a:t>Hypochondriasis </a:t>
            </a:r>
            <a:endParaRPr lang="en-US" b="1" dirty="0">
              <a:solidFill>
                <a:srgbClr val="FF0000"/>
              </a:solidFill>
            </a:endParaRPr>
          </a:p>
        </p:txBody>
      </p:sp>
      <p:sp>
        <p:nvSpPr>
          <p:cNvPr id="3" name="Content Placeholder 2"/>
          <p:cNvSpPr>
            <a:spLocks noGrp="1"/>
          </p:cNvSpPr>
          <p:nvPr>
            <p:ph idx="1"/>
          </p:nvPr>
        </p:nvSpPr>
        <p:spPr/>
        <p:txBody>
          <a:bodyPr>
            <a:normAutofit/>
          </a:bodyPr>
          <a:lstStyle/>
          <a:p>
            <a:pPr>
              <a:buFont typeface="Wingdings" pitchFamily="2" charset="2"/>
              <a:buChar char="Ø"/>
            </a:pPr>
            <a:r>
              <a:rPr lang="en-US" dirty="0" smtClean="0"/>
              <a:t>It’s a pre-occupational feeling of having a serious disease based on persons presentation or physical sensation such as peristalsis,coughs,heart rate, sweating</a:t>
            </a:r>
          </a:p>
          <a:p>
            <a:pPr>
              <a:buFont typeface="Wingdings" pitchFamily="2" charset="2"/>
              <a:buChar char="Ø"/>
            </a:pPr>
            <a:r>
              <a:rPr lang="en-US" dirty="0" smtClean="0"/>
              <a:t>Anxiety, depression and obsessive compulsive disorder traits are frequently observed</a:t>
            </a:r>
          </a:p>
          <a:p>
            <a:pPr>
              <a:buFont typeface="Wingdings" pitchFamily="2" charset="2"/>
              <a:buChar char="Ø"/>
            </a:pPr>
            <a:r>
              <a:rPr lang="en-US" dirty="0" smtClean="0"/>
              <a:t>Age of onset is between 20-30 years</a:t>
            </a:r>
          </a:p>
          <a:p>
            <a:pPr>
              <a:buFont typeface="Wingdings" pitchFamily="2" charset="2"/>
              <a:buChar char="Ø"/>
            </a:pPr>
            <a:r>
              <a:rPr lang="en-US" dirty="0" smtClean="0"/>
              <a:t>Common in medical students in their first two years in medical school</a:t>
            </a:r>
          </a:p>
          <a:p>
            <a:pPr>
              <a:buFont typeface="Wingdings" pitchFamily="2" charset="2"/>
              <a:buChar char="Ø"/>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Ø"/>
            </a:pPr>
            <a:r>
              <a:rPr lang="en-US" dirty="0" smtClean="0"/>
              <a:t>This pre-occupation causes insignificant distress and impairment in social and occupational functioning. The pre-occupation is persistent despite medical reassurance and laboratory investigation</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q"/>
            </a:pPr>
            <a:r>
              <a:rPr lang="en-US" dirty="0" smtClean="0">
                <a:solidFill>
                  <a:srgbClr val="FF0000"/>
                </a:solidFill>
              </a:rPr>
              <a:t>Body dysmorphic disorder</a:t>
            </a:r>
            <a:endParaRPr lang="en-US" dirty="0">
              <a:solidFill>
                <a:srgbClr val="FF0000"/>
              </a:solidFill>
            </a:endParaRPr>
          </a:p>
        </p:txBody>
      </p:sp>
      <p:sp>
        <p:nvSpPr>
          <p:cNvPr id="3" name="Content Placeholder 2"/>
          <p:cNvSpPr>
            <a:spLocks noGrp="1"/>
          </p:cNvSpPr>
          <p:nvPr>
            <p:ph idx="1"/>
          </p:nvPr>
        </p:nvSpPr>
        <p:spPr/>
        <p:txBody>
          <a:bodyPr/>
          <a:lstStyle/>
          <a:p>
            <a:pPr>
              <a:buFont typeface="Wingdings" pitchFamily="2" charset="2"/>
              <a:buChar char="Ø"/>
            </a:pPr>
            <a:r>
              <a:rPr lang="en-US" dirty="0" smtClean="0"/>
              <a:t>Characterized by false beliefs that a body part is defect</a:t>
            </a:r>
          </a:p>
          <a:p>
            <a:pPr>
              <a:buFont typeface="Wingdings" pitchFamily="2" charset="2"/>
              <a:buChar char="Ø"/>
            </a:pPr>
            <a:r>
              <a:rPr lang="en-US" dirty="0" smtClean="0"/>
              <a:t>There is subjective feeling of ugly appearance such as facial scars, spots on the skin, excessive facial hair and shape of eyes</a:t>
            </a:r>
          </a:p>
          <a:p>
            <a:pPr>
              <a:buNone/>
            </a:pPr>
            <a:r>
              <a:rPr lang="en-US" dirty="0" smtClean="0">
                <a:solidFill>
                  <a:srgbClr val="FF0000"/>
                </a:solidFill>
              </a:rPr>
              <a:t>Symptoms </a:t>
            </a:r>
          </a:p>
          <a:p>
            <a:pPr>
              <a:buFont typeface="Wingdings" pitchFamily="2" charset="2"/>
              <a:buChar char="Ø"/>
            </a:pPr>
            <a:r>
              <a:rPr lang="en-US" dirty="0" smtClean="0"/>
              <a:t>The person attempts to hide the perceived deformity</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Ø"/>
            </a:pPr>
            <a:r>
              <a:rPr lang="en-US" dirty="0" smtClean="0"/>
              <a:t>History of repeated visits to plastic surgeons in an effort to correct the emerged deformity</a:t>
            </a:r>
          </a:p>
          <a:p>
            <a:pPr>
              <a:buFont typeface="Wingdings" pitchFamily="2" charset="2"/>
              <a:buChar char="Ø"/>
            </a:pPr>
            <a:r>
              <a:rPr lang="en-US" dirty="0" smtClean="0"/>
              <a:t>There is avoidance of social places and occupational situations</a:t>
            </a:r>
          </a:p>
          <a:p>
            <a:pPr>
              <a:buFont typeface="Wingdings" pitchFamily="2" charset="2"/>
              <a:buChar char="Ø"/>
            </a:pPr>
            <a:r>
              <a:rPr lang="en-US" dirty="0" smtClean="0"/>
              <a:t>Age of onset is is adolescent stage to 30 years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q"/>
            </a:pPr>
            <a:r>
              <a:rPr lang="en-US" b="1" dirty="0" smtClean="0">
                <a:solidFill>
                  <a:srgbClr val="FF0000"/>
                </a:solidFill>
              </a:rPr>
              <a:t>Psychogenic pain</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dirty="0" smtClean="0"/>
              <a:t>Characterized by symptoms of pain related to psychological factors</a:t>
            </a:r>
          </a:p>
          <a:p>
            <a:pPr>
              <a:buFont typeface="Wingdings" pitchFamily="2" charset="2"/>
              <a:buChar char="Ø"/>
            </a:pPr>
            <a:r>
              <a:rPr lang="en-US" dirty="0" smtClean="0"/>
              <a:t>Peak of onset is between 30-40 years</a:t>
            </a:r>
          </a:p>
          <a:p>
            <a:pPr>
              <a:buFont typeface="Wingdings" pitchFamily="2" charset="2"/>
              <a:buChar char="Ø"/>
            </a:pPr>
            <a:r>
              <a:rPr lang="en-US" dirty="0" smtClean="0"/>
              <a:t>Associated with depression, anxiety and substance dependent patients</a:t>
            </a:r>
          </a:p>
          <a:p>
            <a:pPr>
              <a:buFont typeface="Wingdings" pitchFamily="2" charset="2"/>
              <a:buChar char="Ø"/>
            </a:pPr>
            <a:r>
              <a:rPr lang="en-US" dirty="0" smtClean="0"/>
              <a:t>There is pre-occupation with pain without adequate physical findings</a:t>
            </a:r>
          </a:p>
          <a:p>
            <a:pPr>
              <a:buFont typeface="Wingdings" pitchFamily="2" charset="2"/>
              <a:buChar char="Ø"/>
            </a:pPr>
            <a:r>
              <a:rPr lang="en-US" dirty="0" smtClean="0"/>
              <a:t>The pain is persistently on one part of the body</a:t>
            </a:r>
          </a:p>
          <a:p>
            <a:pPr>
              <a:buFont typeface="Wingdings" pitchFamily="2" charset="2"/>
              <a:buChar char="Ø"/>
            </a:pPr>
            <a:r>
              <a:rPr lang="en-US" dirty="0" smtClean="0"/>
              <a:t>The attention and sympathy given to the patient by significant others may sustain the pain</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Font typeface="Wingdings" pitchFamily="2" charset="2"/>
              <a:buChar char="Ø"/>
            </a:pPr>
            <a:r>
              <a:rPr lang="en-US" dirty="0" smtClean="0"/>
              <a:t>Psychogenic pain doesn’t vary. Its constant</a:t>
            </a:r>
          </a:p>
          <a:p>
            <a:pPr>
              <a:buFont typeface="Wingdings" pitchFamily="2" charset="2"/>
              <a:buChar char="Ø"/>
            </a:pPr>
            <a:r>
              <a:rPr lang="en-US" dirty="0" smtClean="0"/>
              <a:t>Its not affected by emotional factors</a:t>
            </a:r>
          </a:p>
          <a:p>
            <a:pPr>
              <a:buFont typeface="Wingdings" pitchFamily="2" charset="2"/>
              <a:buChar char="Ø"/>
            </a:pPr>
            <a:r>
              <a:rPr lang="en-US" dirty="0" smtClean="0"/>
              <a:t>Doesn’t respond to analgesics, sedatives or anxiolytics</a:t>
            </a:r>
          </a:p>
          <a:p>
            <a:pPr>
              <a:buFont typeface="Wingdings" pitchFamily="2" charset="2"/>
              <a:buChar char="Ø"/>
            </a:pPr>
            <a:r>
              <a:rPr lang="en-US" dirty="0" smtClean="0"/>
              <a:t>It only responds to antidepressants</a:t>
            </a:r>
          </a:p>
          <a:p>
            <a:pPr>
              <a:buFont typeface="Wingdings" pitchFamily="2" charset="2"/>
              <a:buChar char="Ø"/>
            </a:pPr>
            <a:r>
              <a:rPr lang="en-US" dirty="0" smtClean="0"/>
              <a:t>It begins abruptly and increase in severity for a few weeks.</a:t>
            </a:r>
          </a:p>
          <a:p>
            <a:pPr>
              <a:buFont typeface="Wingdings" pitchFamily="2" charset="2"/>
              <a:buChar char="Ø"/>
            </a:pPr>
            <a:r>
              <a:rPr lang="en-US" dirty="0" smtClean="0"/>
              <a:t>Its chronic, distressful and completely disabling</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Psychotherapy</a:t>
            </a:r>
          </a:p>
          <a:p>
            <a:pPr>
              <a:buFont typeface="Wingdings" pitchFamily="2" charset="2"/>
              <a:buChar char="Ø"/>
            </a:pPr>
            <a:r>
              <a:rPr lang="en-US" dirty="0" smtClean="0"/>
              <a:t>Reassurance</a:t>
            </a:r>
          </a:p>
          <a:p>
            <a:pPr>
              <a:buFont typeface="Wingdings" pitchFamily="2" charset="2"/>
              <a:buChar char="Ø"/>
            </a:pPr>
            <a:r>
              <a:rPr lang="en-US" dirty="0" smtClean="0"/>
              <a:t>Antidepressants </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DISSOCIATIVE DISORDERS</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Ø"/>
            </a:pPr>
            <a:r>
              <a:rPr lang="en-US" dirty="0" smtClean="0"/>
              <a:t>There is disturbance in the normally integrative functions of identity, memory and consciousness</a:t>
            </a:r>
          </a:p>
          <a:p>
            <a:pPr>
              <a:buFont typeface="Wingdings" pitchFamily="2" charset="2"/>
              <a:buChar char="Ø"/>
            </a:pPr>
            <a:r>
              <a:rPr lang="en-US" dirty="0" smtClean="0"/>
              <a:t>May be sudden or gradual</a:t>
            </a:r>
          </a:p>
          <a:p>
            <a:pPr>
              <a:buNone/>
            </a:pPr>
            <a:r>
              <a:rPr lang="en-US" dirty="0" smtClean="0">
                <a:solidFill>
                  <a:srgbClr val="FF0000"/>
                </a:solidFill>
              </a:rPr>
              <a:t>Types</a:t>
            </a:r>
          </a:p>
          <a:p>
            <a:pPr marL="514350" indent="-514350">
              <a:buFont typeface="+mj-lt"/>
              <a:buAutoNum type="arabicPeriod"/>
            </a:pPr>
            <a:r>
              <a:rPr lang="en-US" dirty="0" smtClean="0">
                <a:solidFill>
                  <a:srgbClr val="FF0000"/>
                </a:solidFill>
              </a:rPr>
              <a:t>Multiple personality disorder/dissociative identity disorder</a:t>
            </a:r>
          </a:p>
          <a:p>
            <a:pPr marL="514350" indent="-514350">
              <a:buFont typeface="Wingdings" pitchFamily="2" charset="2"/>
              <a:buChar char="Ø"/>
            </a:pPr>
            <a:r>
              <a:rPr lang="en-US" dirty="0" smtClean="0"/>
              <a:t>Its disturbance in identity</a:t>
            </a:r>
          </a:p>
          <a:p>
            <a:pPr marL="514350" indent="-514350">
              <a:buFont typeface="Wingdings" pitchFamily="2" charset="2"/>
              <a:buChar char="Ø"/>
            </a:pPr>
            <a:r>
              <a:rPr lang="en-US" dirty="0" smtClean="0"/>
              <a:t>There is existence of two or more personalities, that is, primary and secondary personality</a:t>
            </a:r>
          </a:p>
          <a:p>
            <a:pPr marL="514350" indent="-514350">
              <a:buNone/>
            </a:pPr>
            <a:endParaRPr lang="en-US" dirty="0" smtClean="0"/>
          </a:p>
          <a:p>
            <a:pPr>
              <a:buNone/>
            </a:pPr>
            <a:endParaRPr lang="en-US"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Ø"/>
            </a:pPr>
            <a:r>
              <a:rPr lang="en-US" dirty="0" smtClean="0"/>
              <a:t>Secondary personalities are not dominant and manifest at a given time</a:t>
            </a:r>
          </a:p>
          <a:p>
            <a:pPr>
              <a:buFont typeface="Wingdings" pitchFamily="2" charset="2"/>
              <a:buChar char="Ø"/>
            </a:pPr>
            <a:r>
              <a:rPr lang="en-US" dirty="0" smtClean="0"/>
              <a:t>Each of the the different personalities has a unique memory,behaviour and social relationship(s)</a:t>
            </a:r>
          </a:p>
          <a:p>
            <a:pPr>
              <a:buFont typeface="Wingdings" pitchFamily="2" charset="2"/>
              <a:buChar char="Ø"/>
            </a:pPr>
            <a:r>
              <a:rPr lang="en-US" dirty="0" smtClean="0"/>
              <a:t>Sometimes there may be varying degree of sharing memories, common behavior or social relationships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dirty="0" smtClean="0"/>
              <a:t>The secondary personalities may vary from two to over a hundred with occasional cases of extreme complexities</a:t>
            </a:r>
          </a:p>
          <a:p>
            <a:pPr>
              <a:buFont typeface="Wingdings" pitchFamily="2" charset="2"/>
              <a:buChar char="Ø"/>
            </a:pPr>
            <a:r>
              <a:rPr lang="en-US" dirty="0" smtClean="0"/>
              <a:t>Sometimes they feel frustrated and there may be conflicts</a:t>
            </a:r>
          </a:p>
          <a:p>
            <a:pPr>
              <a:buFont typeface="Wingdings" pitchFamily="2" charset="2"/>
              <a:buChar char="Ø"/>
            </a:pPr>
            <a:r>
              <a:rPr lang="en-US" dirty="0" smtClean="0"/>
              <a:t>The personalities may not be aware of the existence of others</a:t>
            </a:r>
          </a:p>
          <a:p>
            <a:pPr>
              <a:buFont typeface="Wingdings" pitchFamily="2" charset="2"/>
              <a:buChar char="Ø"/>
            </a:pPr>
            <a:r>
              <a:rPr lang="en-US" dirty="0" smtClean="0"/>
              <a:t>Its higher in females than males in the ratio of 8:1</a:t>
            </a:r>
          </a:p>
          <a:p>
            <a:pPr>
              <a:buFont typeface="Wingdings" pitchFamily="2" charset="2"/>
              <a:buChar char="Ø"/>
            </a:pPr>
            <a:r>
              <a:rPr lang="en-US" dirty="0" smtClean="0"/>
              <a:t>Originate in childhood and manifest from adolescent</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2.Psychogenic/dissociative fugue</a:t>
            </a:r>
            <a:endParaRPr lang="en-US" dirty="0">
              <a:solidFill>
                <a:srgbClr val="FF0000"/>
              </a:solidFill>
            </a:endParaRPr>
          </a:p>
        </p:txBody>
      </p:sp>
      <p:sp>
        <p:nvSpPr>
          <p:cNvPr id="3" name="Content Placeholder 2"/>
          <p:cNvSpPr>
            <a:spLocks noGrp="1"/>
          </p:cNvSpPr>
          <p:nvPr>
            <p:ph idx="1"/>
          </p:nvPr>
        </p:nvSpPr>
        <p:spPr/>
        <p:txBody>
          <a:bodyPr/>
          <a:lstStyle/>
          <a:p>
            <a:pPr>
              <a:buFont typeface="Wingdings" pitchFamily="2" charset="2"/>
              <a:buChar char="Ø"/>
            </a:pPr>
            <a:r>
              <a:rPr lang="en-US" dirty="0" smtClean="0"/>
              <a:t>This is massive amnesia precipitated by extreme stress with the individual taking actual flight to escape the overwhelming, threatening or unacceptable situation</a:t>
            </a:r>
          </a:p>
          <a:p>
            <a:pPr>
              <a:buFont typeface="Wingdings" pitchFamily="2" charset="2"/>
              <a:buChar char="Ø"/>
            </a:pPr>
            <a:r>
              <a:rPr lang="en-US" dirty="0" smtClean="0"/>
              <a:t>There is a sudden temporary alteration in the integrative function of consciousness with the individual unable to encode personal information due to dissociation</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3.Psychogenic amnesia</a:t>
            </a:r>
            <a:endParaRPr lang="en-US" dirty="0">
              <a:solidFill>
                <a:srgbClr val="FF0000"/>
              </a:solidFill>
            </a:endParaRPr>
          </a:p>
        </p:txBody>
      </p:sp>
      <p:sp>
        <p:nvSpPr>
          <p:cNvPr id="3" name="Content Placeholder 2"/>
          <p:cNvSpPr>
            <a:spLocks noGrp="1"/>
          </p:cNvSpPr>
          <p:nvPr>
            <p:ph idx="1"/>
          </p:nvPr>
        </p:nvSpPr>
        <p:spPr/>
        <p:txBody>
          <a:bodyPr/>
          <a:lstStyle/>
          <a:p>
            <a:pPr>
              <a:buFont typeface="Wingdings" pitchFamily="2" charset="2"/>
              <a:buChar char="Ø"/>
            </a:pPr>
            <a:r>
              <a:rPr lang="en-US" dirty="0" smtClean="0"/>
              <a:t>This is sudden inability to recall important personal information</a:t>
            </a:r>
          </a:p>
          <a:p>
            <a:pPr>
              <a:buFont typeface="Wingdings" pitchFamily="2" charset="2"/>
              <a:buChar char="Ø"/>
            </a:pPr>
            <a:r>
              <a:rPr lang="en-US" dirty="0" smtClean="0"/>
              <a:t>Its due to psychological stress</a:t>
            </a:r>
          </a:p>
          <a:p>
            <a:pPr>
              <a:buFont typeface="Wingdings" pitchFamily="2" charset="2"/>
              <a:buChar char="Ø"/>
            </a:pPr>
            <a:r>
              <a:rPr lang="en-US" dirty="0" smtClean="0"/>
              <a:t>The person travels to a different place and retains identity</a:t>
            </a:r>
          </a:p>
          <a:p>
            <a:pPr>
              <a:buFont typeface="Wingdings" pitchFamily="2" charset="2"/>
              <a:buChar char="Ø"/>
            </a:pPr>
            <a:r>
              <a:rPr lang="en-US" dirty="0" smtClean="0"/>
              <a:t>They forget about the past</a:t>
            </a:r>
          </a:p>
          <a:p>
            <a:pPr>
              <a:buFont typeface="Wingdings" pitchFamily="2" charset="2"/>
              <a:buChar char="Ø"/>
            </a:pPr>
            <a:r>
              <a:rPr lang="en-US" dirty="0" smtClean="0"/>
              <a:t>The person starts a new life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4.depersonalisation/</a:t>
            </a:r>
            <a:r>
              <a:rPr lang="en-US" dirty="0" err="1" smtClean="0">
                <a:solidFill>
                  <a:srgbClr val="FF0000"/>
                </a:solidFill>
              </a:rPr>
              <a:t>derealization</a:t>
            </a:r>
            <a:endParaRPr lang="en-US"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dirty="0" smtClean="0"/>
              <a:t>The person uses his identity and perceives part of his/her body either increased or reduced in size or altered in form</a:t>
            </a:r>
          </a:p>
          <a:p>
            <a:pPr>
              <a:buFont typeface="Wingdings" pitchFamily="2" charset="2"/>
              <a:buChar char="Ø"/>
            </a:pPr>
            <a:r>
              <a:rPr lang="en-US" dirty="0" smtClean="0"/>
              <a:t>They feel like being outside their own body watching as an observer</a:t>
            </a:r>
          </a:p>
          <a:p>
            <a:pPr>
              <a:buFont typeface="Wingdings" pitchFamily="2" charset="2"/>
              <a:buChar char="Ø"/>
            </a:pPr>
            <a:r>
              <a:rPr lang="en-US" dirty="0" smtClean="0"/>
              <a:t>They feel like they are in a dream and loose their reality</a:t>
            </a:r>
          </a:p>
          <a:p>
            <a:pPr>
              <a:buFont typeface="Wingdings" pitchFamily="2" charset="2"/>
              <a:buChar char="Ø"/>
            </a:pPr>
            <a:r>
              <a:rPr lang="en-US" dirty="0" smtClean="0"/>
              <a:t>It can serve as a defense mechanism to protect the ego from  emotion and ideas especially the destructive ones</a:t>
            </a:r>
          </a:p>
          <a:p>
            <a:pPr>
              <a:buFont typeface="Wingdings" pitchFamily="2" charset="2"/>
              <a:buChar char="Ø"/>
            </a:pPr>
            <a:r>
              <a:rPr lang="en-US" dirty="0" smtClean="0"/>
              <a:t>Occurrence is rapid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SEXUAL DISORDERS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solidFill>
                  <a:srgbClr val="FF0000"/>
                </a:solidFill>
              </a:rPr>
              <a:t>A.GENDER IDENTITY DISORDERS</a:t>
            </a:r>
          </a:p>
          <a:p>
            <a:pPr marL="514350" indent="-514350">
              <a:buFont typeface="Wingdings" pitchFamily="2" charset="2"/>
              <a:buChar char="Ø"/>
            </a:pPr>
            <a:r>
              <a:rPr lang="en-US" dirty="0" smtClean="0"/>
              <a:t>Are disorders characterized by disturbance in gender identity i.e. being male or female</a:t>
            </a:r>
          </a:p>
          <a:p>
            <a:pPr marL="514350" indent="-514350">
              <a:buFont typeface="Wingdings" pitchFamily="2" charset="2"/>
              <a:buChar char="v"/>
            </a:pPr>
            <a:r>
              <a:rPr lang="en-US" dirty="0" smtClean="0">
                <a:solidFill>
                  <a:srgbClr val="FF0000"/>
                </a:solidFill>
              </a:rPr>
              <a:t>Trans-</a:t>
            </a:r>
            <a:r>
              <a:rPr lang="en-US" dirty="0" err="1" smtClean="0">
                <a:solidFill>
                  <a:srgbClr val="FF0000"/>
                </a:solidFill>
              </a:rPr>
              <a:t>sexualism</a:t>
            </a:r>
            <a:endParaRPr lang="en-US" dirty="0" smtClean="0">
              <a:solidFill>
                <a:srgbClr val="FF0000"/>
              </a:solidFill>
            </a:endParaRPr>
          </a:p>
          <a:p>
            <a:pPr marL="514350" indent="-514350">
              <a:buFont typeface="Wingdings" pitchFamily="2" charset="2"/>
              <a:buChar char="Ø"/>
            </a:pPr>
            <a:r>
              <a:rPr lang="en-US" dirty="0" smtClean="0"/>
              <a:t>It’s the severest form</a:t>
            </a:r>
          </a:p>
          <a:p>
            <a:pPr marL="514350" indent="-514350">
              <a:buFont typeface="Wingdings" pitchFamily="2" charset="2"/>
              <a:buChar char="Ø"/>
            </a:pPr>
            <a:r>
              <a:rPr lang="en-US" dirty="0" smtClean="0"/>
              <a:t>Characterized by a normal anatomic sexual organ but there is persistent sense of discomfort regarding to ones anatomic sexual organ</a:t>
            </a:r>
          </a:p>
          <a:p>
            <a:pPr marL="514350" indent="-514350">
              <a:buFont typeface="Wingdings" pitchFamily="2" charset="2"/>
              <a:buChar char="Ø"/>
            </a:pPr>
            <a:r>
              <a:rPr lang="en-US" dirty="0" smtClean="0"/>
              <a:t>There is marked pre-occupation with the need to get rid of ones genital and secondary sexual characteristics</a:t>
            </a:r>
          </a:p>
          <a:p>
            <a:pPr marL="514350" indent="-514350">
              <a:buFont typeface="Wingdings" pitchFamily="2" charset="2"/>
              <a:buChar char="Ø"/>
            </a:pPr>
            <a:r>
              <a:rPr lang="en-US" dirty="0" smtClean="0"/>
              <a:t>Diagnosis is made after puberty</a:t>
            </a:r>
          </a:p>
          <a:p>
            <a:pPr marL="514350" indent="-514350">
              <a:buNone/>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v"/>
            </a:pPr>
            <a:r>
              <a:rPr lang="en-US" dirty="0" smtClean="0">
                <a:solidFill>
                  <a:srgbClr val="FF0000"/>
                </a:solidFill>
              </a:rPr>
              <a:t>Duo role transvestism</a:t>
            </a:r>
          </a:p>
          <a:p>
            <a:pPr>
              <a:buFont typeface="Wingdings" pitchFamily="2" charset="2"/>
              <a:buChar char="Ø"/>
            </a:pPr>
            <a:r>
              <a:rPr lang="en-US" dirty="0" smtClean="0"/>
              <a:t>Its characterized by wearing clothes of the opposite sex in order to enjoy the temporary experience of membership of the opposite sex but without any desire for a more permanent change</a:t>
            </a:r>
          </a:p>
          <a:p>
            <a:pPr>
              <a:buFont typeface="Wingdings" pitchFamily="2" charset="2"/>
              <a:buChar char="Ø"/>
            </a:pPr>
            <a:r>
              <a:rPr lang="en-US" dirty="0" smtClean="0"/>
              <a:t>Complain of sexual excitement accompanies the cross dressing</a:t>
            </a:r>
          </a:p>
          <a:p>
            <a:pPr>
              <a:buFont typeface="Wingdings" pitchFamily="2" charset="2"/>
              <a:buChar char="Ø"/>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solidFill>
                  <a:srgbClr val="FF0000"/>
                </a:solidFill>
              </a:rPr>
              <a:t>GID of childhood</a:t>
            </a:r>
          </a:p>
          <a:p>
            <a:pPr>
              <a:buFont typeface="Wingdings" pitchFamily="2" charset="2"/>
              <a:buChar char="Ø"/>
            </a:pPr>
            <a:r>
              <a:rPr lang="en-US" dirty="0" smtClean="0"/>
              <a:t>Its of early onset between 2-4 years but can persist to old age and become trans-</a:t>
            </a:r>
            <a:r>
              <a:rPr lang="en-US" dirty="0" err="1" smtClean="0"/>
              <a:t>sexualism</a:t>
            </a:r>
            <a:endParaRPr lang="en-US" dirty="0" smtClean="0"/>
          </a:p>
          <a:p>
            <a:pPr>
              <a:buFont typeface="Wingdings" pitchFamily="2" charset="2"/>
              <a:buChar char="Ø"/>
            </a:pPr>
            <a:r>
              <a:rPr lang="en-US" dirty="0" smtClean="0"/>
              <a:t>Its discovered in early childhood when the child prefers playing as an opposite sex</a:t>
            </a:r>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smtClean="0"/>
          </a:p>
          <a:p>
            <a:pPr>
              <a:buFont typeface="Wingdings" pitchFamily="2" charset="2"/>
              <a:buChar char="Ø"/>
            </a:pP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v"/>
            </a:pPr>
            <a:r>
              <a:rPr lang="en-US" dirty="0" smtClean="0">
                <a:solidFill>
                  <a:srgbClr val="FF0000"/>
                </a:solidFill>
              </a:rPr>
              <a:t>Intersexualism </a:t>
            </a:r>
          </a:p>
          <a:p>
            <a:pPr>
              <a:buFont typeface="Wingdings" pitchFamily="2" charset="2"/>
              <a:buChar char="Ø"/>
            </a:pPr>
            <a:r>
              <a:rPr lang="en-US" dirty="0" smtClean="0"/>
              <a:t>The patient has gross anatomical or physical aspects of the other sex such as pseudohermaphroditism.</a:t>
            </a:r>
          </a:p>
          <a:p>
            <a:pPr>
              <a:buNone/>
            </a:pPr>
            <a:r>
              <a:rPr lang="en-US" dirty="0" smtClean="0">
                <a:solidFill>
                  <a:srgbClr val="FF0000"/>
                </a:solidFill>
              </a:rPr>
              <a:t>B.PARAPHILIAS</a:t>
            </a:r>
          </a:p>
          <a:p>
            <a:pPr>
              <a:buFont typeface="Wingdings" pitchFamily="2" charset="2"/>
              <a:buChar char="Ø"/>
            </a:pPr>
            <a:r>
              <a:rPr lang="en-US" dirty="0" smtClean="0"/>
              <a:t>These are sexual deviations</a:t>
            </a:r>
          </a:p>
          <a:p>
            <a:pPr>
              <a:buFont typeface="Wingdings" pitchFamily="2" charset="2"/>
              <a:buChar char="Ø"/>
            </a:pPr>
            <a:r>
              <a:rPr lang="en-US" dirty="0" smtClean="0"/>
              <a:t>They are disorders of sexual preference in which sexual arousal occur persistently in response to objects which are not part of normal sexual arousal</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a:t>
            </a:r>
            <a:endParaRPr lang="en-US" dirty="0"/>
          </a:p>
        </p:txBody>
      </p:sp>
      <p:sp>
        <p:nvSpPr>
          <p:cNvPr id="3" name="Content Placeholder 2"/>
          <p:cNvSpPr>
            <a:spLocks noGrp="1"/>
          </p:cNvSpPr>
          <p:nvPr>
            <p:ph idx="1"/>
          </p:nvPr>
        </p:nvSpPr>
        <p:spPr/>
        <p:txBody>
          <a:bodyPr/>
          <a:lstStyle/>
          <a:p>
            <a:pPr marL="514350" indent="-514350">
              <a:buFont typeface="+mj-lt"/>
              <a:buAutoNum type="arabicParenR"/>
            </a:pPr>
            <a:r>
              <a:rPr lang="en-US" dirty="0" smtClean="0"/>
              <a:t>Fetishism </a:t>
            </a:r>
          </a:p>
          <a:p>
            <a:pPr marL="514350" indent="-514350">
              <a:buFont typeface="Wingdings" pitchFamily="2" charset="2"/>
              <a:buChar char="Ø"/>
            </a:pPr>
            <a:r>
              <a:rPr lang="en-US" dirty="0" smtClean="0"/>
              <a:t>This is sexual arousal using a non-living object which is usually associated with human body e.g. shoes, underwear and stockings</a:t>
            </a:r>
          </a:p>
          <a:p>
            <a:pPr marL="514350" indent="-514350">
              <a:buNone/>
            </a:pPr>
            <a:r>
              <a:rPr lang="en-US" dirty="0" smtClean="0"/>
              <a:t>2)Fetishistic transvetism</a:t>
            </a:r>
          </a:p>
          <a:p>
            <a:pPr marL="514350" indent="-514350">
              <a:buFont typeface="Wingdings" pitchFamily="2" charset="2"/>
              <a:buChar char="Ø"/>
            </a:pPr>
            <a:r>
              <a:rPr lang="en-US" dirty="0" smtClean="0"/>
              <a:t>Sexual arousal is due to wearing or having fantasy of clothes of the opposite sex</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smtClean="0"/>
              <a:t>3)Sexual sadism</a:t>
            </a:r>
          </a:p>
          <a:p>
            <a:pPr>
              <a:buFont typeface="Wingdings" pitchFamily="2" charset="2"/>
              <a:buChar char="Ø"/>
            </a:pPr>
            <a:r>
              <a:rPr lang="en-US" dirty="0" smtClean="0"/>
              <a:t>Sexual arousal is due to physical/psychological humiliation, suffering or injury of opposite partner</a:t>
            </a:r>
          </a:p>
          <a:p>
            <a:pPr>
              <a:buFont typeface="Wingdings" pitchFamily="2" charset="2"/>
              <a:buChar char="Ø"/>
            </a:pPr>
            <a:r>
              <a:rPr lang="en-US" dirty="0" smtClean="0"/>
              <a:t>Its common in men</a:t>
            </a:r>
          </a:p>
          <a:p>
            <a:pPr>
              <a:buNone/>
            </a:pPr>
            <a:r>
              <a:rPr lang="en-US" dirty="0" smtClean="0"/>
              <a:t>4)Sexual masochism</a:t>
            </a:r>
          </a:p>
          <a:p>
            <a:pPr>
              <a:buFont typeface="Wingdings" pitchFamily="2" charset="2"/>
              <a:buChar char="Ø"/>
            </a:pPr>
            <a:r>
              <a:rPr lang="en-US" dirty="0" smtClean="0"/>
              <a:t>A person will get sexual arousal through experiencing physical/psychological suffering from humiliation of the opposite sex partner</a:t>
            </a:r>
          </a:p>
          <a:p>
            <a:pPr>
              <a:buFont typeface="Wingdings" pitchFamily="2" charset="2"/>
              <a:buChar char="Ø"/>
            </a:pPr>
            <a:r>
              <a:rPr lang="en-US" dirty="0" smtClean="0"/>
              <a:t>Common in women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676400"/>
            <a:ext cx="8229600" cy="4906963"/>
          </a:xfrm>
        </p:spPr>
        <p:txBody>
          <a:bodyPr/>
          <a:lstStyle/>
          <a:p>
            <a:pPr>
              <a:buNone/>
            </a:pPr>
            <a:r>
              <a:rPr lang="en-US" dirty="0" smtClean="0"/>
              <a:t>5)Sexual exhibitionism</a:t>
            </a:r>
          </a:p>
          <a:p>
            <a:pPr>
              <a:buFont typeface="Wingdings" pitchFamily="2" charset="2"/>
              <a:buChar char="Ø"/>
            </a:pPr>
            <a:r>
              <a:rPr lang="en-US" dirty="0" smtClean="0"/>
              <a:t>There is sexual arousal by exposure of ones genitalia to unsuspecting strangers</a:t>
            </a:r>
          </a:p>
          <a:p>
            <a:pPr>
              <a:buFont typeface="Wingdings" pitchFamily="2" charset="2"/>
              <a:buChar char="Ø"/>
            </a:pPr>
            <a:r>
              <a:rPr lang="en-US" dirty="0" smtClean="0"/>
              <a:t>They expose themselves till they get orgasm</a:t>
            </a:r>
          </a:p>
          <a:p>
            <a:pPr>
              <a:buNone/>
            </a:pPr>
            <a:r>
              <a:rPr lang="en-US" dirty="0" smtClean="0"/>
              <a:t>6)Sexual vogeirism</a:t>
            </a:r>
          </a:p>
          <a:p>
            <a:pPr>
              <a:buFont typeface="Wingdings" pitchFamily="2" charset="2"/>
              <a:buChar char="Ø"/>
            </a:pPr>
            <a:r>
              <a:rPr lang="en-US" dirty="0" smtClean="0"/>
              <a:t>Sexual arousal by observing unsuspecting person of opposite sex when they are naked or engaged in sexual activity</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295400"/>
            <a:ext cx="8229600" cy="4572000"/>
          </a:xfrm>
        </p:spPr>
        <p:txBody>
          <a:bodyPr>
            <a:normAutofit lnSpcReduction="10000"/>
          </a:bodyPr>
          <a:lstStyle/>
          <a:p>
            <a:pPr>
              <a:buNone/>
            </a:pPr>
            <a:r>
              <a:rPr lang="en-US" dirty="0" smtClean="0"/>
              <a:t>7)</a:t>
            </a:r>
            <a:r>
              <a:rPr lang="en-US" dirty="0" err="1" smtClean="0"/>
              <a:t>Frotteurism</a:t>
            </a:r>
            <a:endParaRPr lang="en-US" dirty="0" smtClean="0"/>
          </a:p>
          <a:p>
            <a:pPr>
              <a:buFont typeface="Wingdings" pitchFamily="2" charset="2"/>
              <a:buChar char="Ø"/>
            </a:pPr>
            <a:r>
              <a:rPr lang="en-US" dirty="0" smtClean="0"/>
              <a:t>Sexual arousal that occurs after rubbing ones genital with unsuspecting individuals of opposite sex</a:t>
            </a:r>
          </a:p>
          <a:p>
            <a:pPr>
              <a:buFont typeface="Wingdings" pitchFamily="2" charset="2"/>
              <a:buChar char="Ø"/>
            </a:pPr>
            <a:r>
              <a:rPr lang="en-US" dirty="0" smtClean="0"/>
              <a:t>Common in overcrowded buses</a:t>
            </a:r>
          </a:p>
          <a:p>
            <a:pPr>
              <a:buNone/>
            </a:pPr>
            <a:r>
              <a:rPr lang="en-US" dirty="0" smtClean="0"/>
              <a:t>8)Pedophilia </a:t>
            </a:r>
          </a:p>
          <a:p>
            <a:pPr>
              <a:buFont typeface="Wingdings" pitchFamily="2" charset="2"/>
              <a:buChar char="Ø"/>
            </a:pPr>
            <a:r>
              <a:rPr lang="en-US" dirty="0" smtClean="0"/>
              <a:t>Having a sexual arousal with a 16 years old with a difference of atleast five years</a:t>
            </a:r>
          </a:p>
          <a:p>
            <a:pPr>
              <a:buFont typeface="Wingdings" pitchFamily="2" charset="2"/>
              <a:buChar char="Ø"/>
            </a:pPr>
            <a:r>
              <a:rPr lang="en-US" dirty="0" smtClean="0"/>
              <a:t>Common in incest</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9) Zoophilia/beastiality </a:t>
            </a:r>
          </a:p>
          <a:p>
            <a:pPr>
              <a:buFont typeface="Wingdings" pitchFamily="2" charset="2"/>
              <a:buChar char="Ø"/>
            </a:pPr>
            <a:r>
              <a:rPr lang="en-US" dirty="0" smtClean="0"/>
              <a:t>Sexual arousal or beastiality with animals</a:t>
            </a:r>
          </a:p>
          <a:p>
            <a:pPr>
              <a:buNone/>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algn="l"/>
            <a:r>
              <a:rPr lang="en-US" smtClean="0"/>
              <a:t>Infant, childhood  psychiatric disorders.</a:t>
            </a:r>
          </a:p>
        </p:txBody>
      </p:sp>
      <p:sp>
        <p:nvSpPr>
          <p:cNvPr id="3" name="Subtitle 2"/>
          <p:cNvSpPr>
            <a:spLocks noGrp="1"/>
          </p:cNvSpPr>
          <p:nvPr>
            <p:ph type="subTitle" idx="1"/>
          </p:nvPr>
        </p:nvSpPr>
        <p:spPr/>
        <p:txBody>
          <a:bodyPr rtlCol="0">
            <a:normAutofit/>
          </a:bodyPr>
          <a:lstStyle/>
          <a:p>
            <a:pPr fontAlgn="auto">
              <a:spcAft>
                <a:spcPts val="0"/>
              </a:spcAft>
              <a:buFont typeface="Arial" pitchFamily="34" charset="0"/>
              <a:buNone/>
              <a:defRPr/>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dirty="0" smtClean="0"/>
              <a:t>MENTAL RETARDATION</a:t>
            </a:r>
            <a:br>
              <a:rPr lang="en-US" b="1" dirty="0" smtClean="0"/>
            </a:br>
            <a:endParaRPr lang="en-US" dirty="0"/>
          </a:p>
        </p:txBody>
      </p:sp>
      <p:sp>
        <p:nvSpPr>
          <p:cNvPr id="3" name="Content Placeholder 2"/>
          <p:cNvSpPr>
            <a:spLocks noGrp="1"/>
          </p:cNvSpPr>
          <p:nvPr>
            <p:ph idx="1"/>
          </p:nvPr>
        </p:nvSpPr>
        <p:spPr>
          <a:xfrm>
            <a:off x="0" y="914400"/>
            <a:ext cx="8915400" cy="5486400"/>
          </a:xfrm>
        </p:spPr>
        <p:txBody>
          <a:bodyPr rtlCol="0">
            <a:normAutofit fontScale="85000" lnSpcReduction="20000"/>
          </a:bodyPr>
          <a:lstStyle/>
          <a:p>
            <a:pPr fontAlgn="auto">
              <a:spcAft>
                <a:spcPts val="0"/>
              </a:spcAft>
              <a:buFont typeface="Arial" pitchFamily="34" charset="0"/>
              <a:buNone/>
              <a:defRPr/>
            </a:pPr>
            <a:r>
              <a:rPr lang="en-US" b="1" dirty="0" smtClean="0"/>
              <a:t>Definitions</a:t>
            </a:r>
          </a:p>
          <a:p>
            <a:pPr fontAlgn="auto">
              <a:spcAft>
                <a:spcPts val="0"/>
              </a:spcAft>
              <a:buFont typeface="Arial" pitchFamily="34" charset="0"/>
              <a:buChar char="•"/>
              <a:defRPr/>
            </a:pPr>
            <a:r>
              <a:rPr lang="en-US" dirty="0" smtClean="0"/>
              <a:t>Mental </a:t>
            </a:r>
            <a:r>
              <a:rPr lang="en-US" dirty="0"/>
              <a:t>retardation is defined by deficits in general </a:t>
            </a:r>
            <a:r>
              <a:rPr lang="en-US" dirty="0" smtClean="0"/>
              <a:t>intellectual functioning </a:t>
            </a:r>
            <a:r>
              <a:rPr lang="en-US" dirty="0"/>
              <a:t>and adaptive functioning (</a:t>
            </a:r>
            <a:r>
              <a:rPr lang="en-US" dirty="0" smtClean="0"/>
              <a:t>APA, 2000</a:t>
            </a:r>
            <a:r>
              <a:rPr lang="en-US" dirty="0"/>
              <a:t>). </a:t>
            </a:r>
            <a:endParaRPr lang="en-US" dirty="0" smtClean="0"/>
          </a:p>
          <a:p>
            <a:pPr fontAlgn="auto">
              <a:spcAft>
                <a:spcPts val="0"/>
              </a:spcAft>
              <a:buFont typeface="Arial" pitchFamily="34" charset="0"/>
              <a:buChar char="•"/>
              <a:defRPr/>
            </a:pPr>
            <a:r>
              <a:rPr lang="en-US" dirty="0" smtClean="0"/>
              <a:t>General </a:t>
            </a:r>
            <a:r>
              <a:rPr lang="en-US" dirty="0"/>
              <a:t>intellectual </a:t>
            </a:r>
            <a:r>
              <a:rPr lang="en-US" dirty="0" smtClean="0"/>
              <a:t>functioning </a:t>
            </a:r>
            <a:r>
              <a:rPr lang="en-US" dirty="0"/>
              <a:t>measured </a:t>
            </a:r>
            <a:r>
              <a:rPr lang="en-US" dirty="0" smtClean="0"/>
              <a:t>by </a:t>
            </a:r>
            <a:r>
              <a:rPr lang="fr-FR" dirty="0" smtClean="0"/>
              <a:t>an </a:t>
            </a:r>
            <a:r>
              <a:rPr lang="fr-FR" dirty="0"/>
              <a:t>individual’s performance on intelligence </a:t>
            </a:r>
            <a:r>
              <a:rPr lang="fr-FR" dirty="0" smtClean="0"/>
              <a:t>quotient </a:t>
            </a:r>
            <a:r>
              <a:rPr lang="en-US" dirty="0" smtClean="0"/>
              <a:t>(IQ</a:t>
            </a:r>
            <a:r>
              <a:rPr lang="en-US" dirty="0"/>
              <a:t>) tests. </a:t>
            </a:r>
            <a:endParaRPr lang="en-US" dirty="0" smtClean="0"/>
          </a:p>
          <a:p>
            <a:pPr fontAlgn="auto">
              <a:spcAft>
                <a:spcPts val="0"/>
              </a:spcAft>
              <a:buFont typeface="Arial" pitchFamily="34" charset="0"/>
              <a:buChar char="•"/>
              <a:defRPr/>
            </a:pPr>
            <a:r>
              <a:rPr lang="en-US" dirty="0" smtClean="0"/>
              <a:t>Adaptive </a:t>
            </a:r>
            <a:r>
              <a:rPr lang="en-US" dirty="0"/>
              <a:t>functioning refers to the </a:t>
            </a:r>
            <a:r>
              <a:rPr lang="en-US" dirty="0" smtClean="0"/>
              <a:t>person’s ability </a:t>
            </a:r>
            <a:r>
              <a:rPr lang="en-US" dirty="0"/>
              <a:t>to adapt to the requirements of daily </a:t>
            </a:r>
            <a:r>
              <a:rPr lang="en-US" dirty="0" smtClean="0"/>
              <a:t>living and </a:t>
            </a:r>
            <a:r>
              <a:rPr lang="en-US" dirty="0"/>
              <a:t>the expectations of his or her age and </a:t>
            </a:r>
            <a:r>
              <a:rPr lang="en-US" dirty="0" smtClean="0"/>
              <a:t>cultural group</a:t>
            </a:r>
            <a:r>
              <a:rPr lang="en-US" dirty="0"/>
              <a:t>. </a:t>
            </a:r>
            <a:endParaRPr lang="en-US" dirty="0" smtClean="0"/>
          </a:p>
          <a:p>
            <a:pPr fontAlgn="auto">
              <a:spcAft>
                <a:spcPts val="0"/>
              </a:spcAft>
              <a:buFont typeface="Arial" pitchFamily="34" charset="0"/>
              <a:buChar char="•"/>
              <a:defRPr/>
            </a:pPr>
            <a:r>
              <a:rPr lang="en-US" dirty="0" smtClean="0"/>
              <a:t>The </a:t>
            </a:r>
            <a:r>
              <a:rPr lang="en-US" dirty="0"/>
              <a:t>DSM-IV-TR identifies criteria for </a:t>
            </a:r>
            <a:r>
              <a:rPr lang="en-US" dirty="0" smtClean="0"/>
              <a:t>mental retardation </a:t>
            </a:r>
            <a:r>
              <a:rPr lang="en-US" dirty="0"/>
              <a:t>as IQ of 70 or below, with deficits or </a:t>
            </a:r>
            <a:r>
              <a:rPr lang="en-US" dirty="0" smtClean="0"/>
              <a:t>impairments in communication</a:t>
            </a:r>
            <a:r>
              <a:rPr lang="en-US" dirty="0"/>
              <a:t>, self-care, home </a:t>
            </a:r>
            <a:r>
              <a:rPr lang="en-US" dirty="0" smtClean="0"/>
              <a:t>living, social/interpersonal </a:t>
            </a:r>
            <a:r>
              <a:rPr lang="en-US" dirty="0"/>
              <a:t>skills, use of community </a:t>
            </a:r>
            <a:r>
              <a:rPr lang="en-US" dirty="0" smtClean="0"/>
              <a:t>resources, self-direction</a:t>
            </a:r>
            <a:r>
              <a:rPr lang="en-US" dirty="0"/>
              <a:t>, functional academic skills, work, </a:t>
            </a:r>
            <a:r>
              <a:rPr lang="en-US" dirty="0" smtClean="0"/>
              <a:t>leisure, health</a:t>
            </a:r>
            <a:r>
              <a:rPr lang="en-US" dirty="0"/>
              <a:t>, and safety.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rmAutofit fontScale="90000"/>
          </a:bodyPr>
          <a:lstStyle/>
          <a:p>
            <a:pPr fontAlgn="auto">
              <a:spcAft>
                <a:spcPts val="0"/>
              </a:spcAft>
              <a:defRPr/>
            </a:pPr>
            <a:r>
              <a:rPr lang="en-US" b="1" dirty="0" smtClean="0"/>
              <a:t/>
            </a:r>
            <a:br>
              <a:rPr lang="en-US" b="1" dirty="0" smtClean="0"/>
            </a:br>
            <a:r>
              <a:rPr lang="en-US" b="1" dirty="0" smtClean="0"/>
              <a:t>Etiological Implications</a:t>
            </a:r>
            <a:br>
              <a:rPr lang="en-US" b="1" dirty="0" smtClean="0"/>
            </a:br>
            <a:endParaRPr lang="en-US" dirty="0"/>
          </a:p>
        </p:txBody>
      </p:sp>
      <p:sp>
        <p:nvSpPr>
          <p:cNvPr id="3" name="Content Placeholder 2"/>
          <p:cNvSpPr>
            <a:spLocks noGrp="1"/>
          </p:cNvSpPr>
          <p:nvPr>
            <p:ph idx="1"/>
          </p:nvPr>
        </p:nvSpPr>
        <p:spPr>
          <a:xfrm>
            <a:off x="381000" y="914400"/>
            <a:ext cx="8458200" cy="5562600"/>
          </a:xfrm>
        </p:spPr>
        <p:txBody>
          <a:bodyPr rtlCol="0">
            <a:normAutofit fontScale="85000" lnSpcReduction="10000"/>
          </a:bodyPr>
          <a:lstStyle/>
          <a:p>
            <a:pPr fontAlgn="auto">
              <a:spcAft>
                <a:spcPts val="0"/>
              </a:spcAft>
              <a:buFont typeface="Arial" pitchFamily="34" charset="0"/>
              <a:buChar char="•"/>
              <a:defRPr/>
            </a:pPr>
            <a:r>
              <a:rPr lang="en-US" dirty="0" smtClean="0"/>
              <a:t>The </a:t>
            </a:r>
            <a:r>
              <a:rPr lang="en-US" i="1" dirty="0"/>
              <a:t>DSM-IV-TR (APA, 2000) states that the </a:t>
            </a:r>
            <a:r>
              <a:rPr lang="en-US" i="1" dirty="0" err="1" smtClean="0"/>
              <a:t>etiology</a:t>
            </a:r>
            <a:r>
              <a:rPr lang="en-US" dirty="0" err="1" smtClean="0"/>
              <a:t>of</a:t>
            </a:r>
            <a:r>
              <a:rPr lang="en-US" dirty="0" smtClean="0"/>
              <a:t> </a:t>
            </a:r>
            <a:r>
              <a:rPr lang="en-US" dirty="0"/>
              <a:t>mental retardation may be primarily biological </a:t>
            </a:r>
            <a:r>
              <a:rPr lang="en-US" dirty="0" smtClean="0"/>
              <a:t>or primarily </a:t>
            </a:r>
            <a:r>
              <a:rPr lang="en-US" dirty="0"/>
              <a:t>psychosocial, or some combination of both.</a:t>
            </a:r>
          </a:p>
          <a:p>
            <a:pPr fontAlgn="auto">
              <a:spcAft>
                <a:spcPts val="0"/>
              </a:spcAft>
              <a:buFont typeface="Arial" pitchFamily="34" charset="0"/>
              <a:buChar char="•"/>
              <a:defRPr/>
            </a:pPr>
            <a:r>
              <a:rPr lang="en-US" dirty="0"/>
              <a:t>In approximately 30 to 40 percent of individuals seen </a:t>
            </a:r>
            <a:r>
              <a:rPr lang="en-US" dirty="0" smtClean="0"/>
              <a:t>in clinical </a:t>
            </a:r>
            <a:r>
              <a:rPr lang="en-US" dirty="0"/>
              <a:t>settings, the etiology cannot be determined.</a:t>
            </a:r>
          </a:p>
          <a:p>
            <a:pPr fontAlgn="auto">
              <a:spcAft>
                <a:spcPts val="0"/>
              </a:spcAft>
              <a:buFont typeface="Arial" pitchFamily="34" charset="0"/>
              <a:buNone/>
              <a:defRPr/>
            </a:pPr>
            <a:r>
              <a:rPr lang="en-US" dirty="0"/>
              <a:t>Five major predisposing factors have been identified:</a:t>
            </a:r>
          </a:p>
          <a:p>
            <a:pPr fontAlgn="auto">
              <a:spcAft>
                <a:spcPts val="0"/>
              </a:spcAft>
              <a:buFont typeface="Arial" pitchFamily="34" charset="0"/>
              <a:buNone/>
              <a:defRPr/>
            </a:pPr>
            <a:r>
              <a:rPr lang="en-US" dirty="0" smtClean="0"/>
              <a:t>	1</a:t>
            </a:r>
            <a:r>
              <a:rPr lang="en-US" dirty="0"/>
              <a:t>. Hereditary factors</a:t>
            </a:r>
          </a:p>
          <a:p>
            <a:pPr fontAlgn="auto">
              <a:spcAft>
                <a:spcPts val="0"/>
              </a:spcAft>
              <a:buFont typeface="Arial" pitchFamily="34" charset="0"/>
              <a:buNone/>
              <a:defRPr/>
            </a:pPr>
            <a:r>
              <a:rPr lang="en-US" dirty="0" smtClean="0"/>
              <a:t>	2</a:t>
            </a:r>
            <a:r>
              <a:rPr lang="en-US" dirty="0"/>
              <a:t>. Early alterations in embryonic development</a:t>
            </a:r>
          </a:p>
          <a:p>
            <a:pPr fontAlgn="auto">
              <a:spcAft>
                <a:spcPts val="0"/>
              </a:spcAft>
              <a:buFont typeface="Arial" pitchFamily="34" charset="0"/>
              <a:buNone/>
              <a:defRPr/>
            </a:pPr>
            <a:r>
              <a:rPr lang="en-US" dirty="0" smtClean="0"/>
              <a:t>	3</a:t>
            </a:r>
            <a:r>
              <a:rPr lang="en-US" dirty="0"/>
              <a:t>. Pregnancy and prenatal factors</a:t>
            </a:r>
          </a:p>
          <a:p>
            <a:pPr fontAlgn="auto">
              <a:spcAft>
                <a:spcPts val="0"/>
              </a:spcAft>
              <a:buFont typeface="Arial" pitchFamily="34" charset="0"/>
              <a:buNone/>
              <a:defRPr/>
            </a:pPr>
            <a:r>
              <a:rPr lang="en-US" dirty="0" smtClean="0"/>
              <a:t>	4</a:t>
            </a:r>
            <a:r>
              <a:rPr lang="en-US" dirty="0"/>
              <a:t>. General medical conditions acquired in infancy </a:t>
            </a:r>
            <a:r>
              <a:rPr lang="en-US" dirty="0" smtClean="0"/>
              <a:t>or childhood</a:t>
            </a:r>
            <a:endParaRPr lang="en-US" dirty="0"/>
          </a:p>
          <a:p>
            <a:pPr fontAlgn="auto">
              <a:spcAft>
                <a:spcPts val="0"/>
              </a:spcAft>
              <a:buFont typeface="Arial" pitchFamily="34" charset="0"/>
              <a:buNone/>
              <a:defRPr/>
            </a:pPr>
            <a:r>
              <a:rPr lang="en-US" dirty="0" smtClean="0"/>
              <a:t>	5</a:t>
            </a:r>
            <a:r>
              <a:rPr lang="en-US" dirty="0"/>
              <a:t>. Environmental influences and other mental disorders.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dirty="0" smtClean="0"/>
              <a:t>Hereditary Factors</a:t>
            </a:r>
            <a:br>
              <a:rPr lang="en-US" b="1" dirty="0" smtClean="0"/>
            </a:br>
            <a:endParaRPr lang="en-US" dirty="0"/>
          </a:p>
        </p:txBody>
      </p:sp>
      <p:sp>
        <p:nvSpPr>
          <p:cNvPr id="5123" name="Content Placeholder 2"/>
          <p:cNvSpPr>
            <a:spLocks noGrp="1"/>
          </p:cNvSpPr>
          <p:nvPr>
            <p:ph idx="1"/>
          </p:nvPr>
        </p:nvSpPr>
        <p:spPr>
          <a:xfrm>
            <a:off x="304800" y="990600"/>
            <a:ext cx="8534400" cy="5135563"/>
          </a:xfrm>
        </p:spPr>
        <p:txBody>
          <a:bodyPr/>
          <a:lstStyle/>
          <a:p>
            <a:r>
              <a:rPr lang="en-US" smtClean="0"/>
              <a:t>Hereditary factors are implicated as the cause in approximately 5 percent of the cases. </a:t>
            </a:r>
          </a:p>
          <a:p>
            <a:r>
              <a:rPr lang="en-US" smtClean="0"/>
              <a:t>These factors include inborn errors of metabolism, such as Tay-Sachs disease, phenylketonuria, and hyperglycinemia. </a:t>
            </a:r>
          </a:p>
          <a:p>
            <a:r>
              <a:rPr lang="en-US" smtClean="0"/>
              <a:t>Also included are chromosomal disorders, such as Down syndrome and Klinefelter’s syndrome, and single-gene abnormalities, such as tuberous sclerosis and neurofibromatosis.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rtlCol="0">
            <a:normAutofit fontScale="92500" lnSpcReduction="20000"/>
          </a:bodyPr>
          <a:lstStyle/>
          <a:p>
            <a:pPr fontAlgn="auto">
              <a:spcAft>
                <a:spcPts val="0"/>
              </a:spcAft>
              <a:buFont typeface="Arial" pitchFamily="34" charset="0"/>
              <a:buNone/>
              <a:defRPr/>
            </a:pPr>
            <a:r>
              <a:rPr lang="en-US" b="1" dirty="0"/>
              <a:t>Early Alterations in Embryonic Development</a:t>
            </a:r>
          </a:p>
          <a:p>
            <a:pPr fontAlgn="auto">
              <a:spcAft>
                <a:spcPts val="0"/>
              </a:spcAft>
              <a:buFont typeface="Arial" pitchFamily="34" charset="0"/>
              <a:buChar char="•"/>
              <a:defRPr/>
            </a:pPr>
            <a:r>
              <a:rPr lang="en-US" dirty="0"/>
              <a:t>Prenatal factors that result in early alterations in </a:t>
            </a:r>
            <a:r>
              <a:rPr lang="en-US" dirty="0" smtClean="0"/>
              <a:t>embryonic development </a:t>
            </a:r>
            <a:r>
              <a:rPr lang="en-US" dirty="0"/>
              <a:t>account for </a:t>
            </a:r>
            <a:r>
              <a:rPr lang="en-US" dirty="0" smtClean="0"/>
              <a:t>approximately 30 </a:t>
            </a:r>
            <a:r>
              <a:rPr lang="en-US" dirty="0"/>
              <a:t>percent of mental retardation cases. </a:t>
            </a:r>
            <a:endParaRPr lang="en-US" dirty="0" smtClean="0"/>
          </a:p>
          <a:p>
            <a:pPr fontAlgn="auto">
              <a:spcAft>
                <a:spcPts val="0"/>
              </a:spcAft>
              <a:buFont typeface="Arial" pitchFamily="34" charset="0"/>
              <a:buChar char="•"/>
              <a:defRPr/>
            </a:pPr>
            <a:r>
              <a:rPr lang="en-US" dirty="0" smtClean="0"/>
              <a:t>Damages may occur </a:t>
            </a:r>
            <a:r>
              <a:rPr lang="en-US" dirty="0"/>
              <a:t>in response to toxicity associated with </a:t>
            </a:r>
            <a:r>
              <a:rPr lang="en-US" dirty="0" smtClean="0"/>
              <a:t>maternal ingestion </a:t>
            </a:r>
            <a:r>
              <a:rPr lang="en-US" dirty="0"/>
              <a:t>of alcohol or other </a:t>
            </a:r>
            <a:r>
              <a:rPr lang="en-US" dirty="0" smtClean="0"/>
              <a:t>drugs.</a:t>
            </a:r>
          </a:p>
          <a:p>
            <a:pPr fontAlgn="auto">
              <a:spcAft>
                <a:spcPts val="0"/>
              </a:spcAft>
              <a:buFont typeface="Arial" pitchFamily="34" charset="0"/>
              <a:buChar char="•"/>
              <a:defRPr/>
            </a:pPr>
            <a:r>
              <a:rPr lang="en-US" dirty="0" smtClean="0"/>
              <a:t>Maternal illnesses and </a:t>
            </a:r>
            <a:r>
              <a:rPr lang="en-US" dirty="0"/>
              <a:t>infections during pregnancy (e.g., rubella, </a:t>
            </a:r>
            <a:r>
              <a:rPr lang="en-US" dirty="0" smtClean="0"/>
              <a:t>cytomegalovirus) and </a:t>
            </a:r>
            <a:r>
              <a:rPr lang="en-US" dirty="0"/>
              <a:t>complications of pregnancy (e.g</a:t>
            </a:r>
            <a:r>
              <a:rPr lang="en-US" dirty="0" smtClean="0"/>
              <a:t>., toxemia</a:t>
            </a:r>
            <a:r>
              <a:rPr lang="en-US" dirty="0"/>
              <a:t>, uncontrolled diabetes) also can result in </a:t>
            </a:r>
            <a:r>
              <a:rPr lang="en-US" dirty="0" smtClean="0"/>
              <a:t>congenital mental </a:t>
            </a:r>
            <a:r>
              <a:rPr lang="en-US" dirty="0"/>
              <a:t>retardation (</a:t>
            </a:r>
            <a:r>
              <a:rPr lang="en-US" dirty="0" err="1"/>
              <a:t>Sadock</a:t>
            </a:r>
            <a:r>
              <a:rPr lang="en-US" dirty="0"/>
              <a:t> and </a:t>
            </a:r>
            <a:r>
              <a:rPr lang="en-US" dirty="0" err="1"/>
              <a:t>Sadock</a:t>
            </a:r>
            <a:r>
              <a:rPr lang="en-US" dirty="0"/>
              <a:t>, 2003).</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05800" cy="5668963"/>
          </a:xfrm>
        </p:spPr>
        <p:txBody>
          <a:bodyPr rtlCol="0">
            <a:normAutofit lnSpcReduction="10000"/>
          </a:bodyPr>
          <a:lstStyle/>
          <a:p>
            <a:pPr fontAlgn="auto">
              <a:spcAft>
                <a:spcPts val="0"/>
              </a:spcAft>
              <a:buFont typeface="Arial" pitchFamily="34" charset="0"/>
              <a:buNone/>
              <a:defRPr/>
            </a:pPr>
            <a:r>
              <a:rPr lang="en-US" b="1" dirty="0"/>
              <a:t>General Medical Conditions </a:t>
            </a:r>
            <a:r>
              <a:rPr lang="en-US" b="1" dirty="0" smtClean="0"/>
              <a:t>Acquired in </a:t>
            </a:r>
            <a:r>
              <a:rPr lang="en-US" b="1" dirty="0"/>
              <a:t>Infancy or Childhood</a:t>
            </a:r>
          </a:p>
          <a:p>
            <a:pPr fontAlgn="auto">
              <a:spcAft>
                <a:spcPts val="0"/>
              </a:spcAft>
              <a:buFont typeface="Arial" pitchFamily="34" charset="0"/>
              <a:buChar char="•"/>
              <a:defRPr/>
            </a:pPr>
            <a:r>
              <a:rPr lang="en-US" dirty="0"/>
              <a:t>General medical conditions acquired during infancy </a:t>
            </a:r>
            <a:r>
              <a:rPr lang="en-US" dirty="0" smtClean="0"/>
              <a:t>or childhood </a:t>
            </a:r>
            <a:r>
              <a:rPr lang="en-US" dirty="0"/>
              <a:t>account for approximately 5 percent of </a:t>
            </a:r>
            <a:r>
              <a:rPr lang="en-US" dirty="0" smtClean="0"/>
              <a:t>cases of </a:t>
            </a:r>
            <a:r>
              <a:rPr lang="en-US" dirty="0"/>
              <a:t>mental retardation. </a:t>
            </a:r>
            <a:endParaRPr lang="en-US" dirty="0" smtClean="0"/>
          </a:p>
          <a:p>
            <a:pPr fontAlgn="auto">
              <a:spcAft>
                <a:spcPts val="0"/>
              </a:spcAft>
              <a:buFont typeface="Arial" pitchFamily="34" charset="0"/>
              <a:buChar char="•"/>
              <a:defRPr/>
            </a:pPr>
            <a:r>
              <a:rPr lang="en-US" dirty="0" smtClean="0"/>
              <a:t>They </a:t>
            </a:r>
            <a:r>
              <a:rPr lang="en-US" dirty="0"/>
              <a:t>include infections, such </a:t>
            </a:r>
            <a:r>
              <a:rPr lang="en-US" dirty="0" smtClean="0"/>
              <a:t>as meningitis </a:t>
            </a:r>
            <a:r>
              <a:rPr lang="en-US" dirty="0"/>
              <a:t>and encephalitis; poisonings, such as </a:t>
            </a:r>
            <a:r>
              <a:rPr lang="en-US" dirty="0" smtClean="0"/>
              <a:t>from insecticides</a:t>
            </a:r>
            <a:r>
              <a:rPr lang="en-US" dirty="0"/>
              <a:t>, medications, and lead; and physical </a:t>
            </a:r>
            <a:r>
              <a:rPr lang="en-US" dirty="0" smtClean="0"/>
              <a:t>trauma, such </a:t>
            </a:r>
            <a:r>
              <a:rPr lang="en-US" dirty="0"/>
              <a:t>as head injuries, asphyxiation, and </a:t>
            </a:r>
            <a:r>
              <a:rPr lang="en-US" dirty="0" smtClean="0"/>
              <a:t>hyperpyrexia (</a:t>
            </a:r>
            <a:r>
              <a:rPr lang="en-US" dirty="0" err="1" smtClean="0"/>
              <a:t>Sadock</a:t>
            </a:r>
            <a:r>
              <a:rPr lang="en-US" dirty="0" smtClean="0"/>
              <a:t> </a:t>
            </a:r>
            <a:r>
              <a:rPr lang="en-US" dirty="0"/>
              <a:t>&amp; </a:t>
            </a:r>
            <a:r>
              <a:rPr lang="en-US" dirty="0" err="1"/>
              <a:t>Sadock</a:t>
            </a:r>
            <a:r>
              <a:rPr lang="en-US" dirty="0"/>
              <a:t>, 2003).</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381000" y="533400"/>
            <a:ext cx="8305800" cy="5592763"/>
          </a:xfrm>
        </p:spPr>
        <p:txBody>
          <a:bodyPr/>
          <a:lstStyle/>
          <a:p>
            <a:pPr>
              <a:buFont typeface="Arial" charset="0"/>
              <a:buNone/>
            </a:pPr>
            <a:r>
              <a:rPr lang="en-US" b="1" smtClean="0"/>
              <a:t>Environmental Influences and Other Mental Disorders</a:t>
            </a:r>
          </a:p>
          <a:p>
            <a:r>
              <a:rPr lang="en-US" smtClean="0"/>
              <a:t>Between 15 and 20 percent of cases of mental retardation are attributed to deprivation of nurturance and social, linguistic, and other stimulation, and to severe mental disorders, such as autistic disorder (APA, 2000).</a:t>
            </a:r>
          </a:p>
          <a:p>
            <a:r>
              <a:rPr lang="en-US" smtClean="0"/>
              <a:t>Recognition of the cause and period of inception provides information regarding what to expect in terms of behavior and potential.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458200" cy="6096000"/>
          </a:xfrm>
        </p:spPr>
        <p:txBody>
          <a:bodyPr rtlCol="0">
            <a:normAutofit fontScale="92500" lnSpcReduction="20000"/>
          </a:bodyPr>
          <a:lstStyle/>
          <a:p>
            <a:pPr fontAlgn="auto">
              <a:spcAft>
                <a:spcPts val="0"/>
              </a:spcAft>
              <a:buFont typeface="Arial" pitchFamily="34" charset="0"/>
              <a:buChar char="•"/>
              <a:defRPr/>
            </a:pPr>
            <a:r>
              <a:rPr lang="en-US" dirty="0"/>
              <a:t>The degree of severity of mental retardation is </a:t>
            </a:r>
            <a:r>
              <a:rPr lang="en-US" dirty="0" smtClean="0"/>
              <a:t>identified by </a:t>
            </a:r>
            <a:r>
              <a:rPr lang="en-US" dirty="0"/>
              <a:t>the client’s IQ level. </a:t>
            </a:r>
            <a:endParaRPr lang="en-US" dirty="0" smtClean="0"/>
          </a:p>
          <a:p>
            <a:pPr fontAlgn="auto">
              <a:spcAft>
                <a:spcPts val="0"/>
              </a:spcAft>
              <a:buFont typeface="Arial" pitchFamily="34" charset="0"/>
              <a:buChar char="•"/>
              <a:defRPr/>
            </a:pPr>
            <a:r>
              <a:rPr lang="en-US" dirty="0" smtClean="0"/>
              <a:t>Four </a:t>
            </a:r>
            <a:r>
              <a:rPr lang="en-US" dirty="0"/>
              <a:t>levels have been </a:t>
            </a:r>
            <a:r>
              <a:rPr lang="en-US" dirty="0" smtClean="0"/>
              <a:t>delineated: mild</a:t>
            </a:r>
            <a:r>
              <a:rPr lang="en-US" dirty="0"/>
              <a:t>, moderate, severe, and profound</a:t>
            </a:r>
            <a:r>
              <a:rPr lang="en-US" dirty="0" smtClean="0"/>
              <a:t>.</a:t>
            </a:r>
          </a:p>
          <a:p>
            <a:pPr fontAlgn="auto">
              <a:spcAft>
                <a:spcPts val="0"/>
              </a:spcAft>
              <a:buFont typeface="Arial" pitchFamily="34" charset="0"/>
              <a:buNone/>
              <a:defRPr/>
            </a:pPr>
            <a:r>
              <a:rPr lang="en-US" b="1" dirty="0"/>
              <a:t>Mild (50–70</a:t>
            </a:r>
            <a:r>
              <a:rPr lang="en-US" b="1" dirty="0" smtClean="0"/>
              <a:t>)</a:t>
            </a:r>
            <a:r>
              <a:rPr lang="en-US" b="1" dirty="0"/>
              <a:t> </a:t>
            </a:r>
            <a:endParaRPr lang="en-US" b="1" dirty="0" smtClean="0"/>
          </a:p>
          <a:p>
            <a:pPr fontAlgn="auto">
              <a:spcAft>
                <a:spcPts val="0"/>
              </a:spcAft>
              <a:buFont typeface="Arial" pitchFamily="34" charset="0"/>
              <a:buChar char="•"/>
              <a:defRPr/>
            </a:pPr>
            <a:r>
              <a:rPr lang="en-US" dirty="0" smtClean="0"/>
              <a:t>Capable </a:t>
            </a:r>
            <a:r>
              <a:rPr lang="en-US" dirty="0"/>
              <a:t>of </a:t>
            </a:r>
            <a:r>
              <a:rPr lang="en-US" dirty="0" smtClean="0"/>
              <a:t>independent living</a:t>
            </a:r>
            <a:r>
              <a:rPr lang="en-US" dirty="0"/>
              <a:t>, with </a:t>
            </a:r>
            <a:r>
              <a:rPr lang="en-US" dirty="0" smtClean="0"/>
              <a:t>assistance during </a:t>
            </a:r>
            <a:r>
              <a:rPr lang="en-US" dirty="0"/>
              <a:t>times of stress</a:t>
            </a:r>
            <a:r>
              <a:rPr lang="en-US" dirty="0" smtClean="0"/>
              <a:t>.</a:t>
            </a:r>
          </a:p>
          <a:p>
            <a:pPr fontAlgn="auto">
              <a:spcAft>
                <a:spcPts val="0"/>
              </a:spcAft>
              <a:buFont typeface="Arial" pitchFamily="34" charset="0"/>
              <a:buChar char="•"/>
              <a:defRPr/>
            </a:pPr>
            <a:r>
              <a:rPr lang="en-US" dirty="0"/>
              <a:t>Capable of academic </a:t>
            </a:r>
            <a:r>
              <a:rPr lang="en-US" dirty="0" smtClean="0"/>
              <a:t>skills to </a:t>
            </a:r>
            <a:r>
              <a:rPr lang="en-US" dirty="0"/>
              <a:t>sixth-grade level. </a:t>
            </a:r>
            <a:r>
              <a:rPr lang="en-US" dirty="0" smtClean="0"/>
              <a:t>As adult </a:t>
            </a:r>
            <a:r>
              <a:rPr lang="en-US" dirty="0"/>
              <a:t>can achieve </a:t>
            </a:r>
            <a:r>
              <a:rPr lang="en-US" dirty="0" smtClean="0"/>
              <a:t>vocational skills </a:t>
            </a:r>
            <a:r>
              <a:rPr lang="en-US" dirty="0"/>
              <a:t>for </a:t>
            </a:r>
            <a:r>
              <a:rPr lang="en-US" dirty="0" smtClean="0"/>
              <a:t>minimum self-support.</a:t>
            </a:r>
          </a:p>
          <a:p>
            <a:pPr fontAlgn="auto">
              <a:spcAft>
                <a:spcPts val="0"/>
              </a:spcAft>
              <a:buFont typeface="Arial" pitchFamily="34" charset="0"/>
              <a:buChar char="•"/>
              <a:defRPr/>
            </a:pPr>
            <a:r>
              <a:rPr lang="en-US" dirty="0"/>
              <a:t>Capable of developing </a:t>
            </a:r>
            <a:r>
              <a:rPr lang="en-US" dirty="0" smtClean="0"/>
              <a:t>social skills</a:t>
            </a:r>
            <a:r>
              <a:rPr lang="en-US" dirty="0"/>
              <a:t>. Functions </a:t>
            </a:r>
            <a:r>
              <a:rPr lang="en-US" dirty="0" smtClean="0"/>
              <a:t>well in </a:t>
            </a:r>
            <a:r>
              <a:rPr lang="en-US" dirty="0"/>
              <a:t>a structured, </a:t>
            </a:r>
            <a:r>
              <a:rPr lang="en-US" dirty="0" smtClean="0"/>
              <a:t>sheltered setting.</a:t>
            </a:r>
          </a:p>
          <a:p>
            <a:pPr fontAlgn="auto">
              <a:spcAft>
                <a:spcPts val="0"/>
              </a:spcAft>
              <a:buFont typeface="Arial" pitchFamily="34" charset="0"/>
              <a:buChar char="•"/>
              <a:defRPr/>
            </a:pPr>
            <a:r>
              <a:rPr lang="en-US" dirty="0"/>
              <a:t>Psychomotor skills </a:t>
            </a:r>
            <a:r>
              <a:rPr lang="en-US" dirty="0" smtClean="0"/>
              <a:t>usually not </a:t>
            </a:r>
            <a:r>
              <a:rPr lang="en-US" dirty="0"/>
              <a:t>affected, </a:t>
            </a:r>
            <a:r>
              <a:rPr lang="en-US" dirty="0" smtClean="0"/>
              <a:t>although may </a:t>
            </a:r>
            <a:r>
              <a:rPr lang="en-US" dirty="0"/>
              <a:t>have some </a:t>
            </a:r>
            <a:r>
              <a:rPr lang="en-US" dirty="0" smtClean="0"/>
              <a:t>slight problems </a:t>
            </a:r>
            <a:r>
              <a:rPr lang="en-US" dirty="0"/>
              <a:t>with coordination.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rtlCol="0">
            <a:normAutofit fontScale="92500"/>
          </a:bodyPr>
          <a:lstStyle/>
          <a:p>
            <a:pPr fontAlgn="auto">
              <a:spcAft>
                <a:spcPts val="0"/>
              </a:spcAft>
              <a:buFont typeface="Arial" pitchFamily="34" charset="0"/>
              <a:buNone/>
              <a:defRPr/>
            </a:pPr>
            <a:r>
              <a:rPr lang="en-US" b="1" dirty="0" smtClean="0"/>
              <a:t>Moderate (35–49)</a:t>
            </a:r>
          </a:p>
          <a:p>
            <a:pPr fontAlgn="auto">
              <a:spcAft>
                <a:spcPts val="0"/>
              </a:spcAft>
              <a:buFont typeface="Arial" pitchFamily="34" charset="0"/>
              <a:buChar char="•"/>
              <a:defRPr/>
            </a:pPr>
            <a:r>
              <a:rPr lang="en-US" dirty="0"/>
              <a:t>Can perform some </a:t>
            </a:r>
            <a:r>
              <a:rPr lang="en-US" dirty="0" smtClean="0"/>
              <a:t>activities independently</a:t>
            </a:r>
            <a:r>
              <a:rPr lang="en-US" dirty="0"/>
              <a:t>. </a:t>
            </a:r>
            <a:r>
              <a:rPr lang="en-US" dirty="0" smtClean="0"/>
              <a:t>Requires supervision.</a:t>
            </a:r>
          </a:p>
          <a:p>
            <a:pPr fontAlgn="auto">
              <a:spcAft>
                <a:spcPts val="0"/>
              </a:spcAft>
              <a:buFont typeface="Arial" pitchFamily="34" charset="0"/>
              <a:buChar char="•"/>
              <a:defRPr/>
            </a:pPr>
            <a:r>
              <a:rPr lang="en-US" dirty="0"/>
              <a:t>Capable of academic </a:t>
            </a:r>
            <a:r>
              <a:rPr lang="en-US" dirty="0" smtClean="0"/>
              <a:t>skill to </a:t>
            </a:r>
            <a:r>
              <a:rPr lang="en-US" dirty="0"/>
              <a:t>second-grade level. </a:t>
            </a:r>
            <a:r>
              <a:rPr lang="en-US" dirty="0" smtClean="0"/>
              <a:t>As adult </a:t>
            </a:r>
            <a:r>
              <a:rPr lang="en-US" dirty="0"/>
              <a:t>may be able to </a:t>
            </a:r>
            <a:r>
              <a:rPr lang="en-US" dirty="0" smtClean="0"/>
              <a:t>contribute to </a:t>
            </a:r>
            <a:r>
              <a:rPr lang="en-US" dirty="0"/>
              <a:t>own support </a:t>
            </a:r>
            <a:r>
              <a:rPr lang="en-US" dirty="0" smtClean="0"/>
              <a:t>in sheltered </a:t>
            </a:r>
            <a:r>
              <a:rPr lang="en-US" dirty="0"/>
              <a:t>workshop</a:t>
            </a:r>
            <a:r>
              <a:rPr lang="en-US" dirty="0" smtClean="0"/>
              <a:t>.</a:t>
            </a:r>
          </a:p>
          <a:p>
            <a:pPr fontAlgn="auto">
              <a:spcAft>
                <a:spcPts val="0"/>
              </a:spcAft>
              <a:buFont typeface="Arial" pitchFamily="34" charset="0"/>
              <a:buChar char="•"/>
              <a:defRPr/>
            </a:pPr>
            <a:r>
              <a:rPr lang="en-US" dirty="0"/>
              <a:t>May experience some </a:t>
            </a:r>
            <a:r>
              <a:rPr lang="en-US" dirty="0" smtClean="0"/>
              <a:t>limitation in </a:t>
            </a:r>
            <a:r>
              <a:rPr lang="en-US" dirty="0"/>
              <a:t>speech </a:t>
            </a:r>
            <a:r>
              <a:rPr lang="en-US" dirty="0" smtClean="0"/>
              <a:t>communication. Difficulty adhering </a:t>
            </a:r>
            <a:r>
              <a:rPr lang="en-US" dirty="0"/>
              <a:t>to social </a:t>
            </a:r>
            <a:r>
              <a:rPr lang="en-US" dirty="0" smtClean="0"/>
              <a:t>convention may interfere with </a:t>
            </a:r>
            <a:r>
              <a:rPr lang="en-US" dirty="0"/>
              <a:t>peer relationships</a:t>
            </a:r>
            <a:r>
              <a:rPr lang="en-US" dirty="0" smtClean="0"/>
              <a:t>.</a:t>
            </a:r>
          </a:p>
          <a:p>
            <a:pPr fontAlgn="auto">
              <a:spcAft>
                <a:spcPts val="0"/>
              </a:spcAft>
              <a:buFont typeface="Arial" pitchFamily="34" charset="0"/>
              <a:buChar char="•"/>
              <a:defRPr/>
            </a:pPr>
            <a:r>
              <a:rPr lang="en-US" dirty="0"/>
              <a:t>Motor development is </a:t>
            </a:r>
            <a:r>
              <a:rPr lang="en-US" dirty="0" smtClean="0"/>
              <a:t>fair. Vocational capabilities may </a:t>
            </a:r>
            <a:r>
              <a:rPr lang="en-US" dirty="0"/>
              <a:t>be limited to </a:t>
            </a:r>
            <a:r>
              <a:rPr lang="en-US" dirty="0" smtClean="0"/>
              <a:t>unskilled gross motor activities</a:t>
            </a:r>
            <a:r>
              <a:rPr lang="en-US" dirty="0"/>
              <a:t>.</a:t>
            </a:r>
            <a:endParaRPr lang="en-US"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457200" y="609600"/>
            <a:ext cx="8229600" cy="5516563"/>
          </a:xfrm>
        </p:spPr>
        <p:txBody>
          <a:bodyPr/>
          <a:lstStyle/>
          <a:p>
            <a:pPr>
              <a:buFont typeface="Arial" charset="0"/>
              <a:buNone/>
            </a:pPr>
            <a:r>
              <a:rPr lang="en-US" b="1" smtClean="0"/>
              <a:t>Severe(20–34)</a:t>
            </a:r>
          </a:p>
          <a:p>
            <a:r>
              <a:rPr lang="en-US" smtClean="0"/>
              <a:t>May be trained in elementary hygiene skills. Requires complete supervision.</a:t>
            </a:r>
          </a:p>
          <a:p>
            <a:r>
              <a:rPr lang="en-US" smtClean="0"/>
              <a:t>Unable to benefit from academic or vocational training. Profits from systematic habit training.</a:t>
            </a:r>
          </a:p>
          <a:p>
            <a:r>
              <a:rPr lang="en-US" smtClean="0"/>
              <a:t>Minimal verbal skills. Wants and needs often communicated by acting-out behaviors.</a:t>
            </a:r>
          </a:p>
          <a:p>
            <a:r>
              <a:rPr lang="en-US" smtClean="0"/>
              <a:t>Poor psychomotor development. Only able to perform simple tasks under close supervision.</a:t>
            </a:r>
            <a:endParaRPr lang="en-US" b="1"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rtlCol="0">
            <a:normAutofit fontScale="92500" lnSpcReduction="20000"/>
          </a:bodyPr>
          <a:lstStyle/>
          <a:p>
            <a:pPr fontAlgn="auto">
              <a:spcAft>
                <a:spcPts val="0"/>
              </a:spcAft>
              <a:buFont typeface="Arial" pitchFamily="34" charset="0"/>
              <a:buNone/>
              <a:defRPr/>
            </a:pPr>
            <a:r>
              <a:rPr lang="en-US" b="1" dirty="0" smtClean="0"/>
              <a:t>Profound (below </a:t>
            </a:r>
            <a:r>
              <a:rPr lang="en-US" b="1" dirty="0"/>
              <a:t>20</a:t>
            </a:r>
            <a:r>
              <a:rPr lang="en-US" b="1" dirty="0" smtClean="0"/>
              <a:t>)</a:t>
            </a:r>
          </a:p>
          <a:p>
            <a:pPr fontAlgn="auto">
              <a:spcAft>
                <a:spcPts val="0"/>
              </a:spcAft>
              <a:buFont typeface="Arial" pitchFamily="34" charset="0"/>
              <a:buChar char="•"/>
              <a:defRPr/>
            </a:pPr>
            <a:r>
              <a:rPr lang="en-US" dirty="0"/>
              <a:t>No capacity for </a:t>
            </a:r>
            <a:r>
              <a:rPr lang="en-US" dirty="0" smtClean="0"/>
              <a:t>independent functioning. Requires </a:t>
            </a:r>
            <a:r>
              <a:rPr lang="en-US" dirty="0"/>
              <a:t>constant </a:t>
            </a:r>
            <a:r>
              <a:rPr lang="en-US" dirty="0" smtClean="0"/>
              <a:t>aid and </a:t>
            </a:r>
            <a:r>
              <a:rPr lang="en-US" dirty="0"/>
              <a:t>supervision</a:t>
            </a:r>
            <a:r>
              <a:rPr lang="en-US" dirty="0" smtClean="0"/>
              <a:t>.</a:t>
            </a:r>
          </a:p>
          <a:p>
            <a:pPr fontAlgn="auto">
              <a:spcAft>
                <a:spcPts val="0"/>
              </a:spcAft>
              <a:buFont typeface="Arial" pitchFamily="34" charset="0"/>
              <a:buChar char="•"/>
              <a:defRPr/>
            </a:pPr>
            <a:r>
              <a:rPr lang="en-US" dirty="0"/>
              <a:t>Unable to profit from </a:t>
            </a:r>
            <a:r>
              <a:rPr lang="en-US" dirty="0" smtClean="0"/>
              <a:t>academic or vocational training</a:t>
            </a:r>
            <a:r>
              <a:rPr lang="en-US" dirty="0"/>
              <a:t>. May respond </a:t>
            </a:r>
            <a:r>
              <a:rPr lang="en-US" dirty="0" smtClean="0"/>
              <a:t>to minimal </a:t>
            </a:r>
            <a:r>
              <a:rPr lang="en-US" dirty="0"/>
              <a:t>training in </a:t>
            </a:r>
            <a:r>
              <a:rPr lang="en-US" dirty="0" smtClean="0"/>
              <a:t>self help if </a:t>
            </a:r>
            <a:r>
              <a:rPr lang="en-US" dirty="0"/>
              <a:t>presented in </a:t>
            </a:r>
            <a:r>
              <a:rPr lang="en-US" dirty="0" smtClean="0"/>
              <a:t>the close </a:t>
            </a:r>
            <a:r>
              <a:rPr lang="en-US" dirty="0"/>
              <a:t>context of a </a:t>
            </a:r>
            <a:r>
              <a:rPr lang="en-US" dirty="0" smtClean="0"/>
              <a:t>one-</a:t>
            </a:r>
            <a:r>
              <a:rPr lang="en-US" dirty="0" err="1" smtClean="0"/>
              <a:t>toone</a:t>
            </a:r>
            <a:r>
              <a:rPr lang="en-US" dirty="0" smtClean="0"/>
              <a:t> relationship.</a:t>
            </a:r>
          </a:p>
          <a:p>
            <a:pPr fontAlgn="auto">
              <a:spcAft>
                <a:spcPts val="0"/>
              </a:spcAft>
              <a:buFont typeface="Arial" pitchFamily="34" charset="0"/>
              <a:buChar char="•"/>
              <a:defRPr/>
            </a:pPr>
            <a:r>
              <a:rPr lang="en-US" dirty="0"/>
              <a:t>Little, if any, speech </a:t>
            </a:r>
            <a:r>
              <a:rPr lang="en-US" dirty="0" smtClean="0"/>
              <a:t>development. No </a:t>
            </a:r>
            <a:r>
              <a:rPr lang="en-US" dirty="0"/>
              <a:t>capacity </a:t>
            </a:r>
            <a:r>
              <a:rPr lang="en-US" dirty="0" smtClean="0"/>
              <a:t>for socialization </a:t>
            </a:r>
            <a:r>
              <a:rPr lang="en-US" dirty="0"/>
              <a:t>skills</a:t>
            </a:r>
            <a:r>
              <a:rPr lang="en-US" dirty="0" smtClean="0"/>
              <a:t>.</a:t>
            </a:r>
          </a:p>
          <a:p>
            <a:pPr fontAlgn="auto">
              <a:spcAft>
                <a:spcPts val="0"/>
              </a:spcAft>
              <a:buFont typeface="Arial" pitchFamily="34" charset="0"/>
              <a:buChar char="•"/>
              <a:defRPr/>
            </a:pPr>
            <a:r>
              <a:rPr lang="en-US" dirty="0"/>
              <a:t>Lack of ability for both </a:t>
            </a:r>
            <a:r>
              <a:rPr lang="en-US" dirty="0" smtClean="0"/>
              <a:t>fine and </a:t>
            </a:r>
            <a:r>
              <a:rPr lang="en-US" dirty="0"/>
              <a:t>gross motor </a:t>
            </a:r>
            <a:r>
              <a:rPr lang="en-US" dirty="0" smtClean="0"/>
              <a:t>movements. Requires constant supervision </a:t>
            </a:r>
            <a:r>
              <a:rPr lang="en-US" dirty="0"/>
              <a:t>and </a:t>
            </a:r>
            <a:r>
              <a:rPr lang="en-US" dirty="0" smtClean="0"/>
              <a:t>care. May </a:t>
            </a:r>
            <a:r>
              <a:rPr lang="en-US" dirty="0"/>
              <a:t>be associated </a:t>
            </a:r>
            <a:r>
              <a:rPr lang="en-US" dirty="0" smtClean="0"/>
              <a:t>with other </a:t>
            </a:r>
            <a:r>
              <a:rPr lang="en-US" dirty="0"/>
              <a:t>physical disorders.</a:t>
            </a:r>
            <a:endParaRPr lang="en-US" dirty="0" smtClean="0"/>
          </a:p>
          <a:p>
            <a:pPr fontAlgn="auto">
              <a:spcAft>
                <a:spcPts val="0"/>
              </a:spcAft>
              <a:buFont typeface="Arial" pitchFamily="34" charset="0"/>
              <a:buChar char="•"/>
              <a:defRPr/>
            </a:pPr>
            <a:endParaRPr lang="en-US"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05800" cy="533400"/>
          </a:xfrm>
        </p:spPr>
        <p:txBody>
          <a:bodyPr rtlCol="0">
            <a:normAutofit fontScale="90000"/>
          </a:bodyPr>
          <a:lstStyle/>
          <a:p>
            <a:pPr fontAlgn="auto">
              <a:spcAft>
                <a:spcPts val="0"/>
              </a:spcAft>
              <a:defRPr/>
            </a:pPr>
            <a:r>
              <a:rPr lang="en-US" b="1" dirty="0" smtClean="0"/>
              <a:t> Nursing Diagnosis</a:t>
            </a:r>
            <a:endParaRPr lang="en-US" dirty="0"/>
          </a:p>
        </p:txBody>
      </p:sp>
      <p:sp>
        <p:nvSpPr>
          <p:cNvPr id="3" name="Content Placeholder 2"/>
          <p:cNvSpPr>
            <a:spLocks noGrp="1"/>
          </p:cNvSpPr>
          <p:nvPr>
            <p:ph idx="1"/>
          </p:nvPr>
        </p:nvSpPr>
        <p:spPr>
          <a:xfrm>
            <a:off x="304800" y="533400"/>
            <a:ext cx="8534400" cy="6019800"/>
          </a:xfrm>
        </p:spPr>
        <p:txBody>
          <a:bodyPr rtlCol="0">
            <a:normAutofit fontScale="77500" lnSpcReduction="20000"/>
          </a:bodyPr>
          <a:lstStyle/>
          <a:p>
            <a:pPr fontAlgn="auto">
              <a:spcAft>
                <a:spcPts val="0"/>
              </a:spcAft>
              <a:buFont typeface="Arial" pitchFamily="34" charset="0"/>
              <a:buNone/>
              <a:defRPr/>
            </a:pPr>
            <a:r>
              <a:rPr lang="en-US" dirty="0"/>
              <a:t>● Risk for injury related to altered physical </a:t>
            </a:r>
            <a:r>
              <a:rPr lang="en-US" dirty="0" smtClean="0"/>
              <a:t>mobility or </a:t>
            </a:r>
            <a:r>
              <a:rPr lang="en-US" dirty="0"/>
              <a:t>aggressive behavior</a:t>
            </a:r>
          </a:p>
          <a:p>
            <a:pPr fontAlgn="auto">
              <a:spcAft>
                <a:spcPts val="0"/>
              </a:spcAft>
              <a:buFont typeface="Arial" pitchFamily="34" charset="0"/>
              <a:buNone/>
              <a:defRPr/>
            </a:pPr>
            <a:r>
              <a:rPr lang="en-US" dirty="0"/>
              <a:t>● Self-care deficit related to altered physical </a:t>
            </a:r>
            <a:r>
              <a:rPr lang="en-US" dirty="0" smtClean="0"/>
              <a:t>mobility or </a:t>
            </a:r>
            <a:r>
              <a:rPr lang="en-US" dirty="0"/>
              <a:t>lack of maturity</a:t>
            </a:r>
          </a:p>
          <a:p>
            <a:pPr fontAlgn="auto">
              <a:spcAft>
                <a:spcPts val="0"/>
              </a:spcAft>
              <a:buFont typeface="Arial" pitchFamily="34" charset="0"/>
              <a:buNone/>
              <a:defRPr/>
            </a:pPr>
            <a:r>
              <a:rPr lang="en-US" dirty="0"/>
              <a:t>● Impaired verbal communication related to </a:t>
            </a:r>
            <a:r>
              <a:rPr lang="en-US" dirty="0" smtClean="0"/>
              <a:t>developmental alteration</a:t>
            </a:r>
            <a:endParaRPr lang="en-US" dirty="0"/>
          </a:p>
          <a:p>
            <a:pPr fontAlgn="auto">
              <a:spcAft>
                <a:spcPts val="0"/>
              </a:spcAft>
              <a:buFont typeface="Arial" pitchFamily="34" charset="0"/>
              <a:buNone/>
              <a:defRPr/>
            </a:pPr>
            <a:r>
              <a:rPr lang="en-US" dirty="0"/>
              <a:t>● Impaired social interaction related to </a:t>
            </a:r>
            <a:r>
              <a:rPr lang="en-US" dirty="0" smtClean="0"/>
              <a:t>speech deficiencies </a:t>
            </a:r>
            <a:r>
              <a:rPr lang="en-US" dirty="0"/>
              <a:t>or difficulty adhering to </a:t>
            </a:r>
            <a:r>
              <a:rPr lang="en-US" dirty="0" smtClean="0"/>
              <a:t>conventional social </a:t>
            </a:r>
            <a:r>
              <a:rPr lang="en-US" dirty="0"/>
              <a:t>behavior</a:t>
            </a:r>
          </a:p>
          <a:p>
            <a:pPr fontAlgn="auto">
              <a:spcAft>
                <a:spcPts val="0"/>
              </a:spcAft>
              <a:buFont typeface="Arial" pitchFamily="34" charset="0"/>
              <a:buNone/>
              <a:defRPr/>
            </a:pPr>
            <a:r>
              <a:rPr lang="en-US" dirty="0"/>
              <a:t>● Delayed growth and development related to </a:t>
            </a:r>
            <a:r>
              <a:rPr lang="en-US" dirty="0" smtClean="0"/>
              <a:t>isolation from </a:t>
            </a:r>
            <a:r>
              <a:rPr lang="en-US" dirty="0"/>
              <a:t>significant others; inadequate </a:t>
            </a:r>
            <a:r>
              <a:rPr lang="en-US" dirty="0" smtClean="0"/>
              <a:t>environmental stimulation</a:t>
            </a:r>
            <a:r>
              <a:rPr lang="en-US" dirty="0"/>
              <a:t>; hereditary factors</a:t>
            </a:r>
          </a:p>
          <a:p>
            <a:pPr fontAlgn="auto">
              <a:spcAft>
                <a:spcPts val="0"/>
              </a:spcAft>
              <a:buFont typeface="Arial" pitchFamily="34" charset="0"/>
              <a:buNone/>
              <a:defRPr/>
            </a:pPr>
            <a:r>
              <a:rPr lang="en-US" dirty="0"/>
              <a:t>● Anxiety (moderate to severe) related to </a:t>
            </a:r>
            <a:r>
              <a:rPr lang="en-US" dirty="0" smtClean="0"/>
              <a:t>hospitalization and </a:t>
            </a:r>
            <a:r>
              <a:rPr lang="en-US" dirty="0"/>
              <a:t>absence of familiar surroundings</a:t>
            </a:r>
          </a:p>
          <a:p>
            <a:pPr fontAlgn="auto">
              <a:spcAft>
                <a:spcPts val="0"/>
              </a:spcAft>
              <a:buFont typeface="Arial" pitchFamily="34" charset="0"/>
              <a:buNone/>
              <a:defRPr/>
            </a:pPr>
            <a:r>
              <a:rPr lang="en-US" dirty="0"/>
              <a:t>● Defensive coping related to feelings of </a:t>
            </a:r>
            <a:r>
              <a:rPr lang="en-US" dirty="0" smtClean="0"/>
              <a:t>powerlessness and </a:t>
            </a:r>
            <a:r>
              <a:rPr lang="en-US" dirty="0"/>
              <a:t>threat to self-esteem</a:t>
            </a:r>
          </a:p>
          <a:p>
            <a:pPr fontAlgn="auto">
              <a:spcAft>
                <a:spcPts val="0"/>
              </a:spcAft>
              <a:buFont typeface="Arial" pitchFamily="34" charset="0"/>
              <a:buNone/>
              <a:defRPr/>
            </a:pPr>
            <a:r>
              <a:rPr lang="en-US" dirty="0"/>
              <a:t>● Ineffective coping related to inadequate coping </a:t>
            </a:r>
            <a:r>
              <a:rPr lang="en-US" dirty="0" smtClean="0"/>
              <a:t>skills secondary </a:t>
            </a:r>
            <a:r>
              <a:rPr lang="en-US" dirty="0"/>
              <a:t>to developmental delay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dirty="0" smtClean="0"/>
              <a:t>AUTISTIC DISORDER</a:t>
            </a:r>
            <a:br>
              <a:rPr lang="en-US" b="1" dirty="0" smtClean="0"/>
            </a:br>
            <a:endParaRPr lang="en-US" dirty="0"/>
          </a:p>
        </p:txBody>
      </p:sp>
      <p:sp>
        <p:nvSpPr>
          <p:cNvPr id="3" name="Content Placeholder 2"/>
          <p:cNvSpPr>
            <a:spLocks noGrp="1"/>
          </p:cNvSpPr>
          <p:nvPr>
            <p:ph idx="1"/>
          </p:nvPr>
        </p:nvSpPr>
        <p:spPr>
          <a:xfrm>
            <a:off x="381000" y="762000"/>
            <a:ext cx="8382000" cy="5715000"/>
          </a:xfrm>
        </p:spPr>
        <p:txBody>
          <a:bodyPr rtlCol="0">
            <a:normAutofit fontScale="85000" lnSpcReduction="20000"/>
          </a:bodyPr>
          <a:lstStyle/>
          <a:p>
            <a:pPr fontAlgn="auto">
              <a:spcAft>
                <a:spcPts val="0"/>
              </a:spcAft>
              <a:buFont typeface="Arial" pitchFamily="34" charset="0"/>
              <a:buChar char="•"/>
              <a:defRPr/>
            </a:pPr>
            <a:r>
              <a:rPr lang="en-US" dirty="0" smtClean="0"/>
              <a:t>Autistic </a:t>
            </a:r>
            <a:r>
              <a:rPr lang="en-US" dirty="0"/>
              <a:t>disorder is characterized by a withdrawal </a:t>
            </a:r>
            <a:r>
              <a:rPr lang="en-US" dirty="0" smtClean="0"/>
              <a:t>of the </a:t>
            </a:r>
            <a:r>
              <a:rPr lang="en-US" dirty="0"/>
              <a:t>child into the self and into a fantasy world of his </a:t>
            </a:r>
            <a:r>
              <a:rPr lang="en-US" dirty="0" smtClean="0"/>
              <a:t>or her </a:t>
            </a:r>
            <a:r>
              <a:rPr lang="en-US" dirty="0"/>
              <a:t>own creation. </a:t>
            </a:r>
            <a:endParaRPr lang="en-US" dirty="0" smtClean="0"/>
          </a:p>
          <a:p>
            <a:pPr fontAlgn="auto">
              <a:spcAft>
                <a:spcPts val="0"/>
              </a:spcAft>
              <a:buFont typeface="Arial" pitchFamily="34" charset="0"/>
              <a:buChar char="•"/>
              <a:defRPr/>
            </a:pPr>
            <a:r>
              <a:rPr lang="en-US" dirty="0" smtClean="0"/>
              <a:t>The </a:t>
            </a:r>
            <a:r>
              <a:rPr lang="en-US" dirty="0"/>
              <a:t>child has markedly abnormal </a:t>
            </a:r>
            <a:r>
              <a:rPr lang="en-US" dirty="0" smtClean="0"/>
              <a:t>or impaired </a:t>
            </a:r>
            <a:r>
              <a:rPr lang="en-US" dirty="0"/>
              <a:t>development in social interaction and </a:t>
            </a:r>
            <a:r>
              <a:rPr lang="en-US" dirty="0" smtClean="0"/>
              <a:t>communication (APA</a:t>
            </a:r>
            <a:r>
              <a:rPr lang="en-US" dirty="0"/>
              <a:t>, 2000). </a:t>
            </a:r>
            <a:endParaRPr lang="en-US" dirty="0" smtClean="0"/>
          </a:p>
          <a:p>
            <a:pPr fontAlgn="auto">
              <a:spcAft>
                <a:spcPts val="0"/>
              </a:spcAft>
              <a:buFont typeface="Arial" pitchFamily="34" charset="0"/>
              <a:buChar char="•"/>
              <a:defRPr/>
            </a:pPr>
            <a:r>
              <a:rPr lang="en-US" dirty="0" smtClean="0"/>
              <a:t>Activities </a:t>
            </a:r>
            <a:r>
              <a:rPr lang="en-US" dirty="0"/>
              <a:t>and interests are </a:t>
            </a:r>
            <a:r>
              <a:rPr lang="en-US" dirty="0" smtClean="0"/>
              <a:t>restricted and </a:t>
            </a:r>
            <a:r>
              <a:rPr lang="en-US" dirty="0"/>
              <a:t>may be considered somewhat bizarre.</a:t>
            </a:r>
          </a:p>
          <a:p>
            <a:pPr fontAlgn="auto">
              <a:spcAft>
                <a:spcPts val="0"/>
              </a:spcAft>
              <a:buFont typeface="Arial" pitchFamily="34" charset="0"/>
              <a:buChar char="•"/>
              <a:defRPr/>
            </a:pPr>
            <a:r>
              <a:rPr lang="en-US" dirty="0"/>
              <a:t>The prevalence of autism spectrum disorders in </a:t>
            </a:r>
            <a:r>
              <a:rPr lang="en-US" dirty="0" smtClean="0"/>
              <a:t>the United </a:t>
            </a:r>
            <a:r>
              <a:rPr lang="en-US" dirty="0"/>
              <a:t>States is about 1 in 150 children (CDC, 2007).</a:t>
            </a:r>
          </a:p>
          <a:p>
            <a:pPr fontAlgn="auto">
              <a:spcAft>
                <a:spcPts val="0"/>
              </a:spcAft>
              <a:buFont typeface="Arial" pitchFamily="34" charset="0"/>
              <a:buChar char="•"/>
              <a:defRPr/>
            </a:pPr>
            <a:r>
              <a:rPr lang="en-US" dirty="0"/>
              <a:t>It occurs four to five times more often in boys than </a:t>
            </a:r>
            <a:r>
              <a:rPr lang="en-US" dirty="0" smtClean="0"/>
              <a:t>in girls</a:t>
            </a:r>
            <a:r>
              <a:rPr lang="en-US" dirty="0"/>
              <a:t>. </a:t>
            </a:r>
            <a:endParaRPr lang="en-US" dirty="0" smtClean="0"/>
          </a:p>
          <a:p>
            <a:pPr fontAlgn="auto">
              <a:spcAft>
                <a:spcPts val="0"/>
              </a:spcAft>
              <a:buFont typeface="Arial" pitchFamily="34" charset="0"/>
              <a:buChar char="•"/>
              <a:defRPr/>
            </a:pPr>
            <a:r>
              <a:rPr lang="en-US" dirty="0" smtClean="0"/>
              <a:t>Onset </a:t>
            </a:r>
            <a:r>
              <a:rPr lang="en-US" dirty="0"/>
              <a:t>of the disorder occurs before age 3, and </a:t>
            </a:r>
            <a:r>
              <a:rPr lang="en-US" dirty="0" smtClean="0"/>
              <a:t>in most </a:t>
            </a:r>
            <a:r>
              <a:rPr lang="en-US" dirty="0"/>
              <a:t>cases it runs a chronic course, with symptoms </a:t>
            </a:r>
            <a:r>
              <a:rPr lang="en-US" dirty="0" smtClean="0"/>
              <a:t>persisting into </a:t>
            </a:r>
            <a:r>
              <a:rPr lang="en-US" dirty="0"/>
              <a:t>adulthood.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rtlCol="0">
            <a:normAutofit fontScale="85000" lnSpcReduction="20000"/>
          </a:bodyPr>
          <a:lstStyle/>
          <a:p>
            <a:pPr fontAlgn="auto">
              <a:spcAft>
                <a:spcPts val="0"/>
              </a:spcAft>
              <a:buFont typeface="Arial" pitchFamily="34" charset="0"/>
              <a:buNone/>
              <a:defRPr/>
            </a:pPr>
            <a:r>
              <a:rPr lang="en-US" b="1" dirty="0" smtClean="0"/>
              <a:t>Etiology</a:t>
            </a:r>
            <a:endParaRPr lang="en-US" b="1" dirty="0"/>
          </a:p>
          <a:p>
            <a:pPr fontAlgn="auto">
              <a:spcAft>
                <a:spcPts val="0"/>
              </a:spcAft>
              <a:buFont typeface="Arial" pitchFamily="34" charset="0"/>
              <a:buNone/>
              <a:defRPr/>
            </a:pPr>
            <a:r>
              <a:rPr lang="en-US" b="1" dirty="0" smtClean="0"/>
              <a:t>	Neurological </a:t>
            </a:r>
            <a:r>
              <a:rPr lang="en-US" b="1" dirty="0"/>
              <a:t>Implications</a:t>
            </a:r>
          </a:p>
          <a:p>
            <a:pPr fontAlgn="auto">
              <a:spcAft>
                <a:spcPts val="0"/>
              </a:spcAft>
              <a:buFont typeface="Arial" pitchFamily="34" charset="0"/>
              <a:buChar char="•"/>
              <a:defRPr/>
            </a:pPr>
            <a:r>
              <a:rPr lang="en-US" dirty="0"/>
              <a:t>It is generally accepted that autism is caused by </a:t>
            </a:r>
            <a:r>
              <a:rPr lang="en-US" dirty="0" smtClean="0"/>
              <a:t>abnormalities in </a:t>
            </a:r>
            <a:r>
              <a:rPr lang="en-US" dirty="0"/>
              <a:t>brain structures or functions (National </a:t>
            </a:r>
            <a:r>
              <a:rPr lang="en-US" dirty="0" smtClean="0"/>
              <a:t>Institute of </a:t>
            </a:r>
            <a:r>
              <a:rPr lang="en-US" dirty="0"/>
              <a:t>Mental Health [NIMH], 2004). </a:t>
            </a:r>
            <a:endParaRPr lang="en-US" dirty="0" smtClean="0"/>
          </a:p>
          <a:p>
            <a:pPr fontAlgn="auto">
              <a:spcAft>
                <a:spcPts val="0"/>
              </a:spcAft>
              <a:buFont typeface="Arial" pitchFamily="34" charset="0"/>
              <a:buChar char="•"/>
              <a:defRPr/>
            </a:pPr>
            <a:r>
              <a:rPr lang="en-US" dirty="0" smtClean="0"/>
              <a:t>Abnormalities have </a:t>
            </a:r>
            <a:r>
              <a:rPr lang="en-US" dirty="0"/>
              <a:t>been found in the area of the </a:t>
            </a:r>
            <a:r>
              <a:rPr lang="en-US" dirty="0" err="1"/>
              <a:t>amygdala</a:t>
            </a:r>
            <a:r>
              <a:rPr lang="en-US" dirty="0"/>
              <a:t>, which </a:t>
            </a:r>
            <a:r>
              <a:rPr lang="en-US" dirty="0" smtClean="0"/>
              <a:t>is known to help regulate aspects of social and emotional behavior</a:t>
            </a:r>
            <a:r>
              <a:rPr lang="en-US" dirty="0"/>
              <a:t>. </a:t>
            </a:r>
            <a:endParaRPr lang="en-US" dirty="0" smtClean="0"/>
          </a:p>
          <a:p>
            <a:pPr fontAlgn="auto">
              <a:spcAft>
                <a:spcPts val="0"/>
              </a:spcAft>
              <a:buFont typeface="Arial" pitchFamily="34" charset="0"/>
              <a:buChar char="•"/>
              <a:defRPr/>
            </a:pPr>
            <a:r>
              <a:rPr lang="en-US" dirty="0" smtClean="0"/>
              <a:t>Elevated </a:t>
            </a:r>
            <a:r>
              <a:rPr lang="en-US" dirty="0"/>
              <a:t>levels of serotonin have also </a:t>
            </a:r>
            <a:r>
              <a:rPr lang="en-US" dirty="0" smtClean="0"/>
              <a:t>been found </a:t>
            </a:r>
            <a:r>
              <a:rPr lang="en-US" dirty="0"/>
              <a:t>in a number of people with autism. </a:t>
            </a:r>
            <a:endParaRPr lang="en-US" dirty="0" smtClean="0"/>
          </a:p>
          <a:p>
            <a:pPr fontAlgn="auto">
              <a:spcAft>
                <a:spcPts val="0"/>
              </a:spcAft>
              <a:buFont typeface="Arial" pitchFamily="34" charset="0"/>
              <a:buChar char="•"/>
              <a:defRPr/>
            </a:pPr>
            <a:r>
              <a:rPr lang="en-US" dirty="0" smtClean="0"/>
              <a:t>Magnetic resonance imagery </a:t>
            </a:r>
            <a:r>
              <a:rPr lang="en-US" dirty="0"/>
              <a:t>(MRI) has been used to study </a:t>
            </a:r>
            <a:r>
              <a:rPr lang="en-US" dirty="0" smtClean="0"/>
              <a:t>brain activity </a:t>
            </a:r>
            <a:r>
              <a:rPr lang="en-US" dirty="0"/>
              <a:t>of children with autistic disorder, </a:t>
            </a:r>
            <a:r>
              <a:rPr lang="en-US" dirty="0" smtClean="0"/>
              <a:t>revealing markedly </a:t>
            </a:r>
            <a:r>
              <a:rPr lang="en-US" dirty="0"/>
              <a:t>less activity in the parietal areas and the </a:t>
            </a:r>
            <a:r>
              <a:rPr lang="en-US" dirty="0" smtClean="0"/>
              <a:t>corpus </a:t>
            </a:r>
            <a:r>
              <a:rPr lang="en-US" dirty="0" err="1" smtClean="0"/>
              <a:t>callosum</a:t>
            </a:r>
            <a:r>
              <a:rPr lang="en-US" dirty="0" smtClean="0"/>
              <a:t> </a:t>
            </a:r>
            <a:r>
              <a:rPr lang="en-US" dirty="0"/>
              <a:t>than in their peers unaffected by the disorder.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rtlCol="0">
            <a:normAutofit fontScale="85000" lnSpcReduction="10000"/>
          </a:bodyPr>
          <a:lstStyle/>
          <a:p>
            <a:pPr fontAlgn="auto">
              <a:spcAft>
                <a:spcPts val="0"/>
              </a:spcAft>
              <a:buFont typeface="Arial" pitchFamily="34" charset="0"/>
              <a:buChar char="•"/>
              <a:defRPr/>
            </a:pPr>
            <a:r>
              <a:rPr lang="en-US" dirty="0"/>
              <a:t>Popper and associates (2003) identify early </a:t>
            </a:r>
            <a:r>
              <a:rPr lang="en-US" dirty="0" smtClean="0"/>
              <a:t>developmental problems </a:t>
            </a:r>
            <a:r>
              <a:rPr lang="en-US" dirty="0"/>
              <a:t>such as postnatal neurological </a:t>
            </a:r>
            <a:r>
              <a:rPr lang="en-US" dirty="0" smtClean="0"/>
              <a:t>infections, congenital </a:t>
            </a:r>
            <a:r>
              <a:rPr lang="en-US" dirty="0"/>
              <a:t>rubella, </a:t>
            </a:r>
            <a:r>
              <a:rPr lang="en-US" dirty="0" err="1" smtClean="0"/>
              <a:t>phenylketonuria</a:t>
            </a:r>
            <a:r>
              <a:rPr lang="en-US" dirty="0" smtClean="0"/>
              <a:t> as </a:t>
            </a:r>
            <a:r>
              <a:rPr lang="en-US" dirty="0"/>
              <a:t>possible implications in the </a:t>
            </a:r>
            <a:r>
              <a:rPr lang="en-US" dirty="0" smtClean="0"/>
              <a:t>predisposition to </a:t>
            </a:r>
            <a:r>
              <a:rPr lang="en-US" dirty="0"/>
              <a:t>autistic disorder. </a:t>
            </a:r>
            <a:endParaRPr lang="en-US" dirty="0" smtClean="0"/>
          </a:p>
          <a:p>
            <a:pPr fontAlgn="auto">
              <a:spcAft>
                <a:spcPts val="0"/>
              </a:spcAft>
              <a:buFont typeface="Arial" pitchFamily="34" charset="0"/>
              <a:buChar char="•"/>
              <a:defRPr/>
            </a:pPr>
            <a:r>
              <a:rPr lang="en-US" dirty="0" smtClean="0"/>
              <a:t>Several </a:t>
            </a:r>
            <a:r>
              <a:rPr lang="en-US" dirty="0"/>
              <a:t>studies have also </a:t>
            </a:r>
            <a:r>
              <a:rPr lang="en-US" dirty="0" smtClean="0"/>
              <a:t>implicated various </a:t>
            </a:r>
            <a:r>
              <a:rPr lang="en-US" dirty="0"/>
              <a:t>structural and functional </a:t>
            </a:r>
            <a:r>
              <a:rPr lang="en-US" dirty="0" smtClean="0"/>
              <a:t>abnormalities in </a:t>
            </a:r>
            <a:r>
              <a:rPr lang="en-US" dirty="0"/>
              <a:t>the brain. </a:t>
            </a:r>
            <a:endParaRPr lang="en-US" dirty="0" smtClean="0"/>
          </a:p>
          <a:p>
            <a:pPr fontAlgn="auto">
              <a:spcAft>
                <a:spcPts val="0"/>
              </a:spcAft>
              <a:buFont typeface="Arial" pitchFamily="34" charset="0"/>
              <a:buChar char="•"/>
              <a:defRPr/>
            </a:pPr>
            <a:r>
              <a:rPr lang="en-US" dirty="0" smtClean="0"/>
              <a:t>These </a:t>
            </a:r>
            <a:r>
              <a:rPr lang="en-US" dirty="0"/>
              <a:t>include ventricular </a:t>
            </a:r>
            <a:r>
              <a:rPr lang="en-US" dirty="0" smtClean="0"/>
              <a:t>enlargement, left </a:t>
            </a:r>
            <a:r>
              <a:rPr lang="en-US" dirty="0"/>
              <a:t>temporal lobe abnormalities, and increased </a:t>
            </a:r>
            <a:r>
              <a:rPr lang="en-US" dirty="0" smtClean="0"/>
              <a:t>glucose metabolism</a:t>
            </a:r>
            <a:r>
              <a:rPr lang="en-US" dirty="0"/>
              <a:t>. </a:t>
            </a:r>
            <a:endParaRPr lang="en-US" dirty="0" smtClean="0"/>
          </a:p>
          <a:p>
            <a:pPr fontAlgn="auto">
              <a:spcAft>
                <a:spcPts val="0"/>
              </a:spcAft>
              <a:buFont typeface="Arial" pitchFamily="34" charset="0"/>
              <a:buChar char="•"/>
              <a:defRPr/>
            </a:pPr>
            <a:r>
              <a:rPr lang="en-US" dirty="0" smtClean="0"/>
              <a:t>Popper </a:t>
            </a:r>
            <a:r>
              <a:rPr lang="en-US" dirty="0"/>
              <a:t>and associates (2003) state: “</a:t>
            </a:r>
            <a:r>
              <a:rPr lang="en-US" dirty="0" smtClean="0"/>
              <a:t>The neurobiological </a:t>
            </a:r>
            <a:r>
              <a:rPr lang="en-US" dirty="0"/>
              <a:t>dysfunction appears to be quite </a:t>
            </a:r>
            <a:r>
              <a:rPr lang="en-US" dirty="0" smtClean="0"/>
              <a:t>diffuse, and </a:t>
            </a:r>
            <a:r>
              <a:rPr lang="en-US" dirty="0"/>
              <a:t>no clear primary deficit is found in most </a:t>
            </a:r>
            <a:r>
              <a:rPr lang="en-US" dirty="0" smtClean="0"/>
              <a:t>autistic individuals</a:t>
            </a:r>
            <a:r>
              <a:rPr lang="en-US" dirty="0"/>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458200" cy="5943600"/>
          </a:xfrm>
        </p:spPr>
        <p:txBody>
          <a:bodyPr rtlCol="0">
            <a:normAutofit fontScale="92500" lnSpcReduction="20000"/>
          </a:bodyPr>
          <a:lstStyle/>
          <a:p>
            <a:pPr fontAlgn="auto">
              <a:spcAft>
                <a:spcPts val="0"/>
              </a:spcAft>
              <a:buFont typeface="Arial" pitchFamily="34" charset="0"/>
              <a:buNone/>
              <a:defRPr/>
            </a:pPr>
            <a:r>
              <a:rPr lang="en-US" b="1" dirty="0"/>
              <a:t>Perinatal Influences</a:t>
            </a:r>
          </a:p>
          <a:p>
            <a:pPr fontAlgn="auto">
              <a:spcAft>
                <a:spcPts val="0"/>
              </a:spcAft>
              <a:buFont typeface="Arial" pitchFamily="34" charset="0"/>
              <a:buChar char="•"/>
              <a:defRPr/>
            </a:pPr>
            <a:r>
              <a:rPr lang="en-US" dirty="0"/>
              <a:t>Researchers at Kaiser Permanente in Oakland, </a:t>
            </a:r>
            <a:r>
              <a:rPr lang="en-US" dirty="0" smtClean="0"/>
              <a:t>California, recently </a:t>
            </a:r>
            <a:r>
              <a:rPr lang="en-US" dirty="0"/>
              <a:t>found that women who suffered </a:t>
            </a:r>
            <a:r>
              <a:rPr lang="en-US" dirty="0" smtClean="0"/>
              <a:t>from asthma </a:t>
            </a:r>
            <a:r>
              <a:rPr lang="en-US" dirty="0"/>
              <a:t>and/or allergies around the time of </a:t>
            </a:r>
            <a:r>
              <a:rPr lang="en-US" dirty="0" smtClean="0"/>
              <a:t>pregnancy were </a:t>
            </a:r>
            <a:r>
              <a:rPr lang="en-US" dirty="0"/>
              <a:t>at increased risk of having a child affected </a:t>
            </a:r>
            <a:r>
              <a:rPr lang="en-US" dirty="0" smtClean="0"/>
              <a:t>by autism </a:t>
            </a:r>
            <a:r>
              <a:rPr lang="en-US" dirty="0"/>
              <a:t>(</a:t>
            </a:r>
            <a:r>
              <a:rPr lang="en-US" dirty="0" err="1"/>
              <a:t>Croen</a:t>
            </a:r>
            <a:r>
              <a:rPr lang="en-US" dirty="0"/>
              <a:t> et al, 2005</a:t>
            </a:r>
            <a:r>
              <a:rPr lang="en-US" dirty="0" smtClean="0"/>
              <a:t>).</a:t>
            </a:r>
          </a:p>
          <a:p>
            <a:pPr fontAlgn="auto">
              <a:spcAft>
                <a:spcPts val="0"/>
              </a:spcAft>
              <a:buFont typeface="Arial" pitchFamily="34" charset="0"/>
              <a:buChar char="•"/>
              <a:defRPr/>
            </a:pPr>
            <a:r>
              <a:rPr lang="en-US" dirty="0" smtClean="0"/>
              <a:t>Women </a:t>
            </a:r>
            <a:r>
              <a:rPr lang="en-US" dirty="0"/>
              <a:t>with asthma </a:t>
            </a:r>
            <a:r>
              <a:rPr lang="en-US" dirty="0" smtClean="0"/>
              <a:t>and allergies </a:t>
            </a:r>
            <a:r>
              <a:rPr lang="en-US" dirty="0"/>
              <a:t>recorded during the second trimester had </a:t>
            </a:r>
            <a:r>
              <a:rPr lang="en-US" dirty="0" smtClean="0"/>
              <a:t>a greater </a:t>
            </a:r>
            <a:r>
              <a:rPr lang="en-US" dirty="0"/>
              <a:t>than twofold elevated risk of having a child </a:t>
            </a:r>
            <a:r>
              <a:rPr lang="en-US" dirty="0" smtClean="0"/>
              <a:t>affected by </a:t>
            </a:r>
            <a:r>
              <a:rPr lang="en-US" dirty="0"/>
              <a:t>autism. </a:t>
            </a:r>
            <a:endParaRPr lang="en-US" dirty="0" smtClean="0"/>
          </a:p>
          <a:p>
            <a:pPr fontAlgn="auto">
              <a:spcAft>
                <a:spcPts val="0"/>
              </a:spcAft>
              <a:buFont typeface="Arial" pitchFamily="34" charset="0"/>
              <a:buChar char="•"/>
              <a:defRPr/>
            </a:pPr>
            <a:r>
              <a:rPr lang="en-US" dirty="0" smtClean="0"/>
              <a:t>The </a:t>
            </a:r>
            <a:r>
              <a:rPr lang="en-US" dirty="0"/>
              <a:t>researchers have postulated </a:t>
            </a:r>
            <a:r>
              <a:rPr lang="en-US" dirty="0" smtClean="0"/>
              <a:t>that this </a:t>
            </a:r>
            <a:r>
              <a:rPr lang="en-US" dirty="0"/>
              <a:t>may be due to maternal immune response </a:t>
            </a:r>
            <a:r>
              <a:rPr lang="en-US" dirty="0" smtClean="0"/>
              <a:t>during pregnancy</a:t>
            </a:r>
            <a:r>
              <a:rPr lang="en-US" dirty="0"/>
              <a:t>, or that asthma and allergy may share </a:t>
            </a:r>
            <a:r>
              <a:rPr lang="en-US" dirty="0" smtClean="0"/>
              <a:t>environmental risk </a:t>
            </a:r>
            <a:r>
              <a:rPr lang="en-US" dirty="0"/>
              <a:t>factors with autism spectrum disorders.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b="1" smtClean="0"/>
              <a:t>Assessment</a:t>
            </a:r>
            <a:endParaRPr lang="en-US" smtClean="0"/>
          </a:p>
        </p:txBody>
      </p:sp>
      <p:sp>
        <p:nvSpPr>
          <p:cNvPr id="3" name="Content Placeholder 2"/>
          <p:cNvSpPr>
            <a:spLocks noGrp="1"/>
          </p:cNvSpPr>
          <p:nvPr>
            <p:ph idx="1"/>
          </p:nvPr>
        </p:nvSpPr>
        <p:spPr>
          <a:xfrm>
            <a:off x="381000" y="1143000"/>
            <a:ext cx="8458200" cy="5334000"/>
          </a:xfrm>
        </p:spPr>
        <p:txBody>
          <a:bodyPr rtlCol="0">
            <a:normAutofit fontScale="85000" lnSpcReduction="20000"/>
          </a:bodyPr>
          <a:lstStyle/>
          <a:p>
            <a:pPr fontAlgn="auto">
              <a:spcAft>
                <a:spcPts val="0"/>
              </a:spcAft>
              <a:buFont typeface="Arial" pitchFamily="34" charset="0"/>
              <a:buNone/>
              <a:defRPr/>
            </a:pPr>
            <a:r>
              <a:rPr lang="en-US" b="1" dirty="0"/>
              <a:t>Impairment in Social Interaction</a:t>
            </a:r>
          </a:p>
          <a:p>
            <a:pPr fontAlgn="auto">
              <a:spcAft>
                <a:spcPts val="0"/>
              </a:spcAft>
              <a:buFont typeface="Arial" pitchFamily="34" charset="0"/>
              <a:buChar char="•"/>
              <a:defRPr/>
            </a:pPr>
            <a:r>
              <a:rPr lang="en-US" dirty="0"/>
              <a:t>Children with autistic disorder do not form </a:t>
            </a:r>
            <a:r>
              <a:rPr lang="en-US" dirty="0" smtClean="0"/>
              <a:t>interpersonal relationships </a:t>
            </a:r>
            <a:r>
              <a:rPr lang="en-US" dirty="0"/>
              <a:t>with others. </a:t>
            </a:r>
            <a:endParaRPr lang="en-US" dirty="0" smtClean="0"/>
          </a:p>
          <a:p>
            <a:pPr fontAlgn="auto">
              <a:spcAft>
                <a:spcPts val="0"/>
              </a:spcAft>
              <a:buFont typeface="Arial" pitchFamily="34" charset="0"/>
              <a:buChar char="•"/>
              <a:defRPr/>
            </a:pPr>
            <a:r>
              <a:rPr lang="en-US" dirty="0" smtClean="0"/>
              <a:t>They </a:t>
            </a:r>
            <a:r>
              <a:rPr lang="en-US" dirty="0"/>
              <a:t>do not respond </a:t>
            </a:r>
            <a:r>
              <a:rPr lang="en-US" dirty="0" smtClean="0"/>
              <a:t>to or </a:t>
            </a:r>
            <a:r>
              <a:rPr lang="en-US" dirty="0"/>
              <a:t>show interest in people. </a:t>
            </a:r>
            <a:endParaRPr lang="en-US" dirty="0" smtClean="0"/>
          </a:p>
          <a:p>
            <a:pPr fontAlgn="auto">
              <a:spcAft>
                <a:spcPts val="0"/>
              </a:spcAft>
              <a:buFont typeface="Arial" pitchFamily="34" charset="0"/>
              <a:buChar char="•"/>
              <a:defRPr/>
            </a:pPr>
            <a:r>
              <a:rPr lang="en-US" dirty="0" smtClean="0"/>
              <a:t>As </a:t>
            </a:r>
            <a:r>
              <a:rPr lang="en-US" dirty="0"/>
              <a:t>infants they may have </a:t>
            </a:r>
            <a:r>
              <a:rPr lang="en-US" dirty="0" smtClean="0"/>
              <a:t>an aversion </a:t>
            </a:r>
            <a:r>
              <a:rPr lang="en-US" dirty="0"/>
              <a:t>to affection and physical contact. </a:t>
            </a:r>
            <a:endParaRPr lang="en-US" dirty="0" smtClean="0"/>
          </a:p>
          <a:p>
            <a:pPr fontAlgn="auto">
              <a:spcAft>
                <a:spcPts val="0"/>
              </a:spcAft>
              <a:buFont typeface="Arial" pitchFamily="34" charset="0"/>
              <a:buChar char="•"/>
              <a:defRPr/>
            </a:pPr>
            <a:r>
              <a:rPr lang="en-US" dirty="0" smtClean="0"/>
              <a:t>As toddlers, the </a:t>
            </a:r>
            <a:r>
              <a:rPr lang="en-US" dirty="0"/>
              <a:t>attachment to a significant adult may be either </a:t>
            </a:r>
            <a:r>
              <a:rPr lang="en-US" dirty="0" smtClean="0"/>
              <a:t>absent or </a:t>
            </a:r>
            <a:r>
              <a:rPr lang="en-US" dirty="0"/>
              <a:t>manifested as exaggerated adherence behaviors.</a:t>
            </a:r>
          </a:p>
          <a:p>
            <a:pPr fontAlgn="auto">
              <a:spcAft>
                <a:spcPts val="0"/>
              </a:spcAft>
              <a:buFont typeface="Arial" pitchFamily="34" charset="0"/>
              <a:buChar char="•"/>
              <a:defRPr/>
            </a:pPr>
            <a:r>
              <a:rPr lang="en-US" dirty="0"/>
              <a:t>In childhood, there is failure to develop </a:t>
            </a:r>
            <a:r>
              <a:rPr lang="en-US" dirty="0" smtClean="0"/>
              <a:t>cooperative play</a:t>
            </a:r>
            <a:r>
              <a:rPr lang="en-US" dirty="0"/>
              <a:t>, imaginative play, and friendships. </a:t>
            </a:r>
            <a:endParaRPr lang="en-US" dirty="0" smtClean="0"/>
          </a:p>
          <a:p>
            <a:pPr fontAlgn="auto">
              <a:spcAft>
                <a:spcPts val="0"/>
              </a:spcAft>
              <a:buFont typeface="Arial" pitchFamily="34" charset="0"/>
              <a:buChar char="•"/>
              <a:defRPr/>
            </a:pPr>
            <a:r>
              <a:rPr lang="en-US" dirty="0" smtClean="0"/>
              <a:t>Those children with </a:t>
            </a:r>
            <a:r>
              <a:rPr lang="en-US" dirty="0"/>
              <a:t>minimal handicaps may eventually progress to </a:t>
            </a:r>
            <a:r>
              <a:rPr lang="en-US" dirty="0" smtClean="0"/>
              <a:t>the point </a:t>
            </a:r>
            <a:r>
              <a:rPr lang="en-US" dirty="0"/>
              <a:t>of recognizing other children as part of their </a:t>
            </a:r>
            <a:r>
              <a:rPr lang="en-US" dirty="0" smtClean="0"/>
              <a:t>environment, if </a:t>
            </a:r>
            <a:r>
              <a:rPr lang="en-US" dirty="0"/>
              <a:t>only in a passive manner.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i="1" dirty="0" smtClean="0"/>
              <a:t/>
            </a:r>
            <a:br>
              <a:rPr lang="en-US" b="1" i="1" dirty="0" smtClean="0"/>
            </a:br>
            <a:r>
              <a:rPr lang="en-US" b="1" dirty="0" smtClean="0"/>
              <a:t>Impairment</a:t>
            </a:r>
            <a:r>
              <a:rPr lang="en-US" b="1" i="1" dirty="0" smtClean="0"/>
              <a:t> </a:t>
            </a:r>
            <a:r>
              <a:rPr lang="en-US" b="1" dirty="0" smtClean="0"/>
              <a:t>in</a:t>
            </a:r>
            <a:r>
              <a:rPr lang="en-US" b="1" i="1" dirty="0" smtClean="0"/>
              <a:t> </a:t>
            </a:r>
            <a:r>
              <a:rPr lang="en-US" b="1" dirty="0" smtClean="0"/>
              <a:t>Communication</a:t>
            </a:r>
            <a:r>
              <a:rPr lang="en-US" b="1" i="1" dirty="0" smtClean="0"/>
              <a:t/>
            </a:r>
            <a:br>
              <a:rPr lang="en-US" b="1" i="1" dirty="0" smtClean="0"/>
            </a:br>
            <a:r>
              <a:rPr lang="en-US" b="1" dirty="0" smtClean="0"/>
              <a:t>and</a:t>
            </a:r>
            <a:r>
              <a:rPr lang="en-US" b="1" i="1" dirty="0" smtClean="0"/>
              <a:t> </a:t>
            </a:r>
            <a:r>
              <a:rPr lang="en-US" b="1" dirty="0" smtClean="0"/>
              <a:t>Imaginative</a:t>
            </a:r>
            <a:r>
              <a:rPr lang="en-US" b="1" i="1" dirty="0" smtClean="0"/>
              <a:t> </a:t>
            </a:r>
            <a:r>
              <a:rPr lang="en-US" b="1" dirty="0" smtClean="0"/>
              <a:t>Activity</a:t>
            </a:r>
            <a:r>
              <a:rPr lang="en-US" b="1" i="1" dirty="0" smtClean="0"/>
              <a:t/>
            </a:r>
            <a:br>
              <a:rPr lang="en-US" b="1" i="1" dirty="0" smtClean="0"/>
            </a:br>
            <a:endParaRPr lang="en-US" dirty="0"/>
          </a:p>
        </p:txBody>
      </p:sp>
      <p:sp>
        <p:nvSpPr>
          <p:cNvPr id="3" name="Content Placeholder 2"/>
          <p:cNvSpPr>
            <a:spLocks noGrp="1"/>
          </p:cNvSpPr>
          <p:nvPr>
            <p:ph idx="1"/>
          </p:nvPr>
        </p:nvSpPr>
        <p:spPr/>
        <p:txBody>
          <a:bodyPr rtlCol="0">
            <a:normAutofit fontScale="92500" lnSpcReduction="10000"/>
          </a:bodyPr>
          <a:lstStyle/>
          <a:p>
            <a:pPr fontAlgn="auto">
              <a:spcAft>
                <a:spcPts val="0"/>
              </a:spcAft>
              <a:buFont typeface="Arial" pitchFamily="34" charset="0"/>
              <a:buChar char="•"/>
              <a:defRPr/>
            </a:pPr>
            <a:r>
              <a:rPr lang="en-US" dirty="0" smtClean="0"/>
              <a:t>Both </a:t>
            </a:r>
            <a:r>
              <a:rPr lang="en-US" dirty="0"/>
              <a:t>verbal and nonverbal skills are affected. </a:t>
            </a:r>
            <a:endParaRPr lang="en-US" dirty="0" smtClean="0"/>
          </a:p>
          <a:p>
            <a:pPr fontAlgn="auto">
              <a:spcAft>
                <a:spcPts val="0"/>
              </a:spcAft>
              <a:buFont typeface="Arial" pitchFamily="34" charset="0"/>
              <a:buChar char="•"/>
              <a:defRPr/>
            </a:pPr>
            <a:r>
              <a:rPr lang="en-US" dirty="0" smtClean="0"/>
              <a:t>Language may </a:t>
            </a:r>
            <a:r>
              <a:rPr lang="en-US" dirty="0"/>
              <a:t>be totally absent, or characterized by </a:t>
            </a:r>
            <a:r>
              <a:rPr lang="en-US" dirty="0" smtClean="0"/>
              <a:t>immature structure </a:t>
            </a:r>
            <a:r>
              <a:rPr lang="en-US" dirty="0"/>
              <a:t>or idiosyncratic utterances whose meaning </a:t>
            </a:r>
            <a:r>
              <a:rPr lang="en-US" dirty="0" smtClean="0"/>
              <a:t>is clear </a:t>
            </a:r>
            <a:r>
              <a:rPr lang="en-US" dirty="0"/>
              <a:t>only to those who are familiar with the child’s </a:t>
            </a:r>
            <a:r>
              <a:rPr lang="en-US" dirty="0" smtClean="0"/>
              <a:t>past experiences.</a:t>
            </a:r>
          </a:p>
          <a:p>
            <a:pPr fontAlgn="auto">
              <a:spcAft>
                <a:spcPts val="0"/>
              </a:spcAft>
              <a:buFont typeface="Arial" pitchFamily="34" charset="0"/>
              <a:buChar char="•"/>
              <a:defRPr/>
            </a:pPr>
            <a:r>
              <a:rPr lang="en-US" dirty="0" smtClean="0"/>
              <a:t>Nonverbal </a:t>
            </a:r>
            <a:r>
              <a:rPr lang="en-US" dirty="0"/>
              <a:t>communication, such as </a:t>
            </a:r>
            <a:r>
              <a:rPr lang="en-US" dirty="0" smtClean="0"/>
              <a:t>facial expression </a:t>
            </a:r>
            <a:r>
              <a:rPr lang="en-US" dirty="0"/>
              <a:t>or gestures, is often absent or socially inappropriate.</a:t>
            </a:r>
          </a:p>
          <a:p>
            <a:pPr fontAlgn="auto">
              <a:spcAft>
                <a:spcPts val="0"/>
              </a:spcAft>
              <a:buFont typeface="Arial" pitchFamily="34" charset="0"/>
              <a:buChar char="•"/>
              <a:defRPr/>
            </a:pPr>
            <a:r>
              <a:rPr lang="en-US" dirty="0"/>
              <a:t>The pattern of imaginative play is often </a:t>
            </a:r>
            <a:r>
              <a:rPr lang="en-US" dirty="0" smtClean="0"/>
              <a:t>restricted and </a:t>
            </a:r>
            <a:r>
              <a:rPr lang="en-US" dirty="0"/>
              <a:t>stereotypical.</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rmAutofit fontScale="90000"/>
          </a:bodyPr>
          <a:lstStyle/>
          <a:p>
            <a:pPr fontAlgn="auto">
              <a:spcAft>
                <a:spcPts val="0"/>
              </a:spcAft>
              <a:defRPr/>
            </a:pPr>
            <a:r>
              <a:rPr lang="en-US" b="1" dirty="0" smtClean="0"/>
              <a:t/>
            </a:r>
            <a:br>
              <a:rPr lang="en-US" b="1" dirty="0" smtClean="0"/>
            </a:br>
            <a:r>
              <a:rPr lang="en-US" b="1" dirty="0" smtClean="0"/>
              <a:t>Restricted</a:t>
            </a:r>
            <a:r>
              <a:rPr lang="en-US" b="1" i="1" dirty="0" smtClean="0"/>
              <a:t> </a:t>
            </a:r>
            <a:r>
              <a:rPr lang="en-US" b="1" dirty="0" smtClean="0"/>
              <a:t>Activities</a:t>
            </a:r>
            <a:r>
              <a:rPr lang="en-US" b="1" i="1" dirty="0" smtClean="0"/>
              <a:t> </a:t>
            </a:r>
            <a:r>
              <a:rPr lang="en-US" b="1" dirty="0" smtClean="0"/>
              <a:t>and</a:t>
            </a:r>
            <a:r>
              <a:rPr lang="en-US" b="1" i="1" dirty="0" smtClean="0"/>
              <a:t> </a:t>
            </a:r>
            <a:r>
              <a:rPr lang="en-US" b="1" dirty="0" smtClean="0"/>
              <a:t>Interests</a:t>
            </a:r>
            <a:r>
              <a:rPr lang="en-US" b="1" i="1" dirty="0" smtClean="0"/>
              <a:t/>
            </a:r>
            <a:br>
              <a:rPr lang="en-US" b="1" i="1" dirty="0" smtClean="0"/>
            </a:br>
            <a:endParaRPr lang="en-US" dirty="0"/>
          </a:p>
        </p:txBody>
      </p:sp>
      <p:sp>
        <p:nvSpPr>
          <p:cNvPr id="3" name="Content Placeholder 2"/>
          <p:cNvSpPr>
            <a:spLocks noGrp="1"/>
          </p:cNvSpPr>
          <p:nvPr>
            <p:ph idx="1"/>
          </p:nvPr>
        </p:nvSpPr>
        <p:spPr>
          <a:xfrm>
            <a:off x="381000" y="990600"/>
            <a:ext cx="8382000" cy="5562600"/>
          </a:xfrm>
        </p:spPr>
        <p:txBody>
          <a:bodyPr rtlCol="0">
            <a:normAutofit fontScale="85000" lnSpcReduction="20000"/>
          </a:bodyPr>
          <a:lstStyle/>
          <a:p>
            <a:pPr fontAlgn="auto">
              <a:spcAft>
                <a:spcPts val="0"/>
              </a:spcAft>
              <a:buFont typeface="Arial" pitchFamily="34" charset="0"/>
              <a:buChar char="•"/>
              <a:defRPr/>
            </a:pPr>
            <a:r>
              <a:rPr lang="en-US" dirty="0" smtClean="0"/>
              <a:t>Even </a:t>
            </a:r>
            <a:r>
              <a:rPr lang="en-US" dirty="0"/>
              <a:t>minor changes in the environment are often </a:t>
            </a:r>
            <a:r>
              <a:rPr lang="en-US" dirty="0" smtClean="0"/>
              <a:t>met with </a:t>
            </a:r>
            <a:r>
              <a:rPr lang="en-US" dirty="0"/>
              <a:t>resistance, or sometimes with hysterical responses.</a:t>
            </a:r>
          </a:p>
          <a:p>
            <a:pPr fontAlgn="auto">
              <a:spcAft>
                <a:spcPts val="0"/>
              </a:spcAft>
              <a:buFont typeface="Arial" pitchFamily="34" charset="0"/>
              <a:buChar char="•"/>
              <a:defRPr/>
            </a:pPr>
            <a:r>
              <a:rPr lang="en-US" dirty="0"/>
              <a:t>Attachment to, or extreme fascination with, objects </a:t>
            </a:r>
            <a:r>
              <a:rPr lang="en-US" dirty="0" smtClean="0"/>
              <a:t>that move </a:t>
            </a:r>
            <a:r>
              <a:rPr lang="en-US" dirty="0"/>
              <a:t>or spin (e.g., fans) is common. </a:t>
            </a:r>
            <a:endParaRPr lang="en-US" dirty="0" smtClean="0"/>
          </a:p>
          <a:p>
            <a:pPr fontAlgn="auto">
              <a:spcAft>
                <a:spcPts val="0"/>
              </a:spcAft>
              <a:buFont typeface="Arial" pitchFamily="34" charset="0"/>
              <a:buChar char="•"/>
              <a:defRPr/>
            </a:pPr>
            <a:r>
              <a:rPr lang="en-US" dirty="0" smtClean="0"/>
              <a:t>Routine </a:t>
            </a:r>
            <a:r>
              <a:rPr lang="en-US" dirty="0"/>
              <a:t>may </a:t>
            </a:r>
            <a:r>
              <a:rPr lang="en-US" dirty="0" smtClean="0"/>
              <a:t>become an </a:t>
            </a:r>
            <a:r>
              <a:rPr lang="en-US" dirty="0"/>
              <a:t>obsession, with minor alterations in </a:t>
            </a:r>
            <a:r>
              <a:rPr lang="en-US" dirty="0" smtClean="0"/>
              <a:t>routine leading </a:t>
            </a:r>
            <a:r>
              <a:rPr lang="en-US" dirty="0"/>
              <a:t>to marked distress. </a:t>
            </a:r>
            <a:endParaRPr lang="en-US" dirty="0" smtClean="0"/>
          </a:p>
          <a:p>
            <a:pPr fontAlgn="auto">
              <a:spcAft>
                <a:spcPts val="0"/>
              </a:spcAft>
              <a:buFont typeface="Arial" pitchFamily="34" charset="0"/>
              <a:buChar char="•"/>
              <a:defRPr/>
            </a:pPr>
            <a:r>
              <a:rPr lang="en-US" dirty="0" smtClean="0"/>
              <a:t>Stereotyped </a:t>
            </a:r>
            <a:r>
              <a:rPr lang="en-US" dirty="0"/>
              <a:t>body </a:t>
            </a:r>
            <a:r>
              <a:rPr lang="en-US" dirty="0" smtClean="0"/>
              <a:t>movements (hand-clapping</a:t>
            </a:r>
            <a:r>
              <a:rPr lang="en-US" dirty="0"/>
              <a:t>, rocking, whole-body </a:t>
            </a:r>
            <a:r>
              <a:rPr lang="en-US" dirty="0" smtClean="0"/>
              <a:t>swaying) and </a:t>
            </a:r>
            <a:r>
              <a:rPr lang="en-US" dirty="0"/>
              <a:t>verbalizations (repetition of words or phrases) </a:t>
            </a:r>
            <a:r>
              <a:rPr lang="en-US" dirty="0" smtClean="0"/>
              <a:t>are typical</a:t>
            </a:r>
            <a:r>
              <a:rPr lang="en-US" dirty="0"/>
              <a:t>. </a:t>
            </a:r>
            <a:endParaRPr lang="en-US" dirty="0" smtClean="0"/>
          </a:p>
          <a:p>
            <a:pPr fontAlgn="auto">
              <a:spcAft>
                <a:spcPts val="0"/>
              </a:spcAft>
              <a:buFont typeface="Arial" pitchFamily="34" charset="0"/>
              <a:buChar char="•"/>
              <a:defRPr/>
            </a:pPr>
            <a:r>
              <a:rPr lang="en-US" dirty="0" smtClean="0"/>
              <a:t>Diet </a:t>
            </a:r>
            <a:r>
              <a:rPr lang="en-US" dirty="0"/>
              <a:t>abnormalities may include eating only </a:t>
            </a:r>
            <a:r>
              <a:rPr lang="en-US" dirty="0" smtClean="0"/>
              <a:t>a few </a:t>
            </a:r>
            <a:r>
              <a:rPr lang="en-US" dirty="0"/>
              <a:t>specific foods or consuming an excessive </a:t>
            </a:r>
            <a:r>
              <a:rPr lang="en-US" dirty="0" smtClean="0"/>
              <a:t>amount of </a:t>
            </a:r>
            <a:r>
              <a:rPr lang="en-US" dirty="0"/>
              <a:t>fluids. </a:t>
            </a:r>
            <a:endParaRPr lang="en-US" dirty="0" smtClean="0"/>
          </a:p>
          <a:p>
            <a:pPr fontAlgn="auto">
              <a:spcAft>
                <a:spcPts val="0"/>
              </a:spcAft>
              <a:buFont typeface="Arial" pitchFamily="34" charset="0"/>
              <a:buChar char="•"/>
              <a:defRPr/>
            </a:pPr>
            <a:r>
              <a:rPr lang="en-US" dirty="0" smtClean="0"/>
              <a:t>Behaviors </a:t>
            </a:r>
            <a:r>
              <a:rPr lang="en-US" dirty="0"/>
              <a:t>that are self-injurious, such as </a:t>
            </a:r>
            <a:r>
              <a:rPr lang="en-US" dirty="0" smtClean="0"/>
              <a:t>head banging </a:t>
            </a:r>
            <a:r>
              <a:rPr lang="en-US" dirty="0"/>
              <a:t>or biting the hands or arms, may be evident.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rtlCol="0">
            <a:normAutofit fontScale="92500"/>
          </a:bodyPr>
          <a:lstStyle/>
          <a:p>
            <a:pPr fontAlgn="auto">
              <a:spcAft>
                <a:spcPts val="0"/>
              </a:spcAft>
              <a:buFont typeface="Arial" pitchFamily="34" charset="0"/>
              <a:buNone/>
              <a:defRPr/>
            </a:pPr>
            <a:r>
              <a:rPr lang="en-US" dirty="0" smtClean="0"/>
              <a:t>Nursing </a:t>
            </a:r>
            <a:r>
              <a:rPr lang="en-US" dirty="0"/>
              <a:t>diagnoses for the client with </a:t>
            </a:r>
            <a:r>
              <a:rPr lang="en-US" dirty="0" smtClean="0"/>
              <a:t>autistic disorder </a:t>
            </a:r>
            <a:r>
              <a:rPr lang="en-US" dirty="0"/>
              <a:t>include:</a:t>
            </a:r>
          </a:p>
          <a:p>
            <a:pPr fontAlgn="auto">
              <a:spcAft>
                <a:spcPts val="0"/>
              </a:spcAft>
              <a:buFont typeface="Arial" pitchFamily="34" charset="0"/>
              <a:buNone/>
              <a:defRPr/>
            </a:pPr>
            <a:r>
              <a:rPr lang="en-US" dirty="0"/>
              <a:t>● Risk for self-mutilation related to neurological alterations</a:t>
            </a:r>
          </a:p>
          <a:p>
            <a:pPr fontAlgn="auto">
              <a:spcAft>
                <a:spcPts val="0"/>
              </a:spcAft>
              <a:buFont typeface="Arial" pitchFamily="34" charset="0"/>
              <a:buNone/>
              <a:defRPr/>
            </a:pPr>
            <a:r>
              <a:rPr lang="en-US" dirty="0"/>
              <a:t>● Impaired social interaction related to inability </a:t>
            </a:r>
            <a:r>
              <a:rPr lang="en-US" dirty="0" smtClean="0"/>
              <a:t>to trust</a:t>
            </a:r>
            <a:r>
              <a:rPr lang="en-US" dirty="0"/>
              <a:t>; neurological alterations</a:t>
            </a:r>
          </a:p>
          <a:p>
            <a:pPr fontAlgn="auto">
              <a:spcAft>
                <a:spcPts val="0"/>
              </a:spcAft>
              <a:buFont typeface="Arial" pitchFamily="34" charset="0"/>
              <a:buNone/>
              <a:defRPr/>
            </a:pPr>
            <a:r>
              <a:rPr lang="en-US" dirty="0"/>
              <a:t>● Impaired verbal communication related to </a:t>
            </a:r>
            <a:r>
              <a:rPr lang="en-US" dirty="0" smtClean="0"/>
              <a:t>withdrawal into </a:t>
            </a:r>
            <a:r>
              <a:rPr lang="en-US" dirty="0"/>
              <a:t>the self; inadequate sensory </a:t>
            </a:r>
            <a:r>
              <a:rPr lang="en-US" dirty="0" smtClean="0"/>
              <a:t>stimulation; neurological </a:t>
            </a:r>
            <a:r>
              <a:rPr lang="en-US" dirty="0"/>
              <a:t>alterations</a:t>
            </a:r>
          </a:p>
          <a:p>
            <a:pPr fontAlgn="auto">
              <a:spcAft>
                <a:spcPts val="0"/>
              </a:spcAft>
              <a:buFont typeface="Arial" pitchFamily="34" charset="0"/>
              <a:buNone/>
              <a:defRPr/>
            </a:pPr>
            <a:r>
              <a:rPr lang="en-US" dirty="0"/>
              <a:t>● Disturbed personal identity related to </a:t>
            </a:r>
            <a:r>
              <a:rPr lang="en-US" dirty="0" smtClean="0"/>
              <a:t>inadequate sensory </a:t>
            </a:r>
            <a:r>
              <a:rPr lang="en-US" dirty="0"/>
              <a:t>stimulation; neurological alterations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153400" cy="762000"/>
          </a:xfrm>
        </p:spPr>
        <p:txBody>
          <a:bodyPr rtlCol="0">
            <a:normAutofit fontScale="90000"/>
          </a:bodyPr>
          <a:lstStyle/>
          <a:p>
            <a:pPr algn="l" fontAlgn="auto">
              <a:spcAft>
                <a:spcPts val="0"/>
              </a:spcAft>
              <a:defRPr/>
            </a:pPr>
            <a:r>
              <a:rPr lang="en-US" b="1" dirty="0" smtClean="0"/>
              <a:t/>
            </a:r>
            <a:br>
              <a:rPr lang="en-US" b="1" dirty="0" smtClean="0"/>
            </a:br>
            <a:r>
              <a:rPr lang="en-US" sz="3600" b="1" dirty="0" smtClean="0"/>
              <a:t>ATTENTION-DEFICIT/HYPERACTIVITY DISORDER</a:t>
            </a:r>
            <a:r>
              <a:rPr lang="en-US" b="1" dirty="0" smtClean="0"/>
              <a:t/>
            </a:r>
            <a:br>
              <a:rPr lang="en-US" b="1" dirty="0" smtClean="0"/>
            </a:br>
            <a:endParaRPr lang="en-US" dirty="0"/>
          </a:p>
        </p:txBody>
      </p:sp>
      <p:sp>
        <p:nvSpPr>
          <p:cNvPr id="22531" name="Content Placeholder 2"/>
          <p:cNvSpPr>
            <a:spLocks noGrp="1"/>
          </p:cNvSpPr>
          <p:nvPr>
            <p:ph idx="1"/>
          </p:nvPr>
        </p:nvSpPr>
        <p:spPr>
          <a:xfrm>
            <a:off x="304800" y="1219200"/>
            <a:ext cx="8458200" cy="5181600"/>
          </a:xfrm>
        </p:spPr>
        <p:txBody>
          <a:bodyPr/>
          <a:lstStyle/>
          <a:p>
            <a:r>
              <a:rPr lang="en-US" smtClean="0"/>
              <a:t>The essential feature of attention-deficit/hyperactivity disorder (ADHD) is a persistent pattern of inattention and/or hyperactivity-impulsivity that is more frequent and severe than is typically observed in individuals at a comparable level of development (APA, 2000). </a:t>
            </a:r>
          </a:p>
          <a:p>
            <a:r>
              <a:rPr lang="en-US" smtClean="0"/>
              <a:t>These children are highly distractible and unable to contain stimuli.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305800" cy="5440363"/>
          </a:xfrm>
        </p:spPr>
        <p:txBody>
          <a:bodyPr rtlCol="0">
            <a:normAutofit lnSpcReduction="10000"/>
          </a:bodyPr>
          <a:lstStyle/>
          <a:p>
            <a:pPr fontAlgn="auto">
              <a:spcAft>
                <a:spcPts val="0"/>
              </a:spcAft>
              <a:buFont typeface="Arial" pitchFamily="34" charset="0"/>
              <a:buChar char="•"/>
              <a:defRPr/>
            </a:pPr>
            <a:r>
              <a:rPr lang="en-US" dirty="0" smtClean="0"/>
              <a:t>Motor activity is excessive and movements are random and impulsive.</a:t>
            </a:r>
          </a:p>
          <a:p>
            <a:pPr fontAlgn="auto">
              <a:spcAft>
                <a:spcPts val="0"/>
              </a:spcAft>
              <a:buFont typeface="Arial" pitchFamily="34" charset="0"/>
              <a:buChar char="•"/>
              <a:defRPr/>
            </a:pPr>
            <a:r>
              <a:rPr lang="en-US" dirty="0" smtClean="0"/>
              <a:t>Onset of the disorder is difficult to diagnose in children younger than age 4 years because their characteristic behavior is much more variable than that of older children. </a:t>
            </a:r>
          </a:p>
          <a:p>
            <a:pPr fontAlgn="auto">
              <a:spcAft>
                <a:spcPts val="0"/>
              </a:spcAft>
              <a:buFont typeface="Arial" pitchFamily="34" charset="0"/>
              <a:buChar char="•"/>
              <a:defRPr/>
            </a:pPr>
            <a:r>
              <a:rPr lang="en-US" dirty="0" smtClean="0"/>
              <a:t>Disorder is not recognized until the child enters school. </a:t>
            </a:r>
          </a:p>
          <a:p>
            <a:pPr fontAlgn="auto">
              <a:spcAft>
                <a:spcPts val="0"/>
              </a:spcAft>
              <a:buFont typeface="Arial" pitchFamily="34" charset="0"/>
              <a:buChar char="•"/>
              <a:defRPr/>
            </a:pPr>
            <a:r>
              <a:rPr lang="en-US" dirty="0" smtClean="0"/>
              <a:t>It is four to nine times more common in boys than in girls and may occur in as many as 3 to 7 percent of school age children (APA, 2000). </a:t>
            </a:r>
          </a:p>
          <a:p>
            <a:pPr fontAlgn="auto">
              <a:spcAft>
                <a:spcPts val="0"/>
              </a:spcAft>
              <a:buFont typeface="Arial" pitchFamily="34" charset="0"/>
              <a:buChar char="•"/>
              <a:defRPr/>
            </a:pP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dirty="0" smtClean="0"/>
              <a:t>Etiological Implications</a:t>
            </a:r>
            <a:br>
              <a:rPr lang="en-US" b="1" dirty="0" smtClean="0"/>
            </a:br>
            <a:endParaRPr lang="en-US" dirty="0"/>
          </a:p>
        </p:txBody>
      </p:sp>
      <p:sp>
        <p:nvSpPr>
          <p:cNvPr id="3" name="Content Placeholder 2"/>
          <p:cNvSpPr>
            <a:spLocks noGrp="1"/>
          </p:cNvSpPr>
          <p:nvPr>
            <p:ph idx="1"/>
          </p:nvPr>
        </p:nvSpPr>
        <p:spPr>
          <a:xfrm>
            <a:off x="457200" y="914400"/>
            <a:ext cx="8229600" cy="5211763"/>
          </a:xfrm>
        </p:spPr>
        <p:txBody>
          <a:bodyPr rtlCol="0">
            <a:normAutofit fontScale="92500" lnSpcReduction="20000"/>
          </a:bodyPr>
          <a:lstStyle/>
          <a:p>
            <a:pPr fontAlgn="auto">
              <a:spcAft>
                <a:spcPts val="0"/>
              </a:spcAft>
              <a:buFont typeface="Arial" pitchFamily="34" charset="0"/>
              <a:buNone/>
              <a:defRPr/>
            </a:pPr>
            <a:r>
              <a:rPr lang="en-US" b="1" dirty="0" smtClean="0"/>
              <a:t>Biological </a:t>
            </a:r>
            <a:r>
              <a:rPr lang="en-US" b="1" dirty="0"/>
              <a:t>Factors</a:t>
            </a:r>
          </a:p>
          <a:p>
            <a:pPr fontAlgn="auto">
              <a:spcAft>
                <a:spcPts val="0"/>
              </a:spcAft>
              <a:buFont typeface="Arial" pitchFamily="34" charset="0"/>
              <a:buNone/>
              <a:defRPr/>
            </a:pPr>
            <a:r>
              <a:rPr lang="en-US" b="1" dirty="0"/>
              <a:t>Genetics</a:t>
            </a:r>
          </a:p>
          <a:p>
            <a:pPr fontAlgn="auto">
              <a:spcAft>
                <a:spcPts val="0"/>
              </a:spcAft>
              <a:buFont typeface="Arial" pitchFamily="34" charset="0"/>
              <a:buChar char="•"/>
              <a:defRPr/>
            </a:pPr>
            <a:r>
              <a:rPr lang="en-US" dirty="0"/>
              <a:t>A number of studies have revealed supportive </a:t>
            </a:r>
            <a:r>
              <a:rPr lang="en-US" dirty="0" smtClean="0"/>
              <a:t>evidence of </a:t>
            </a:r>
            <a:r>
              <a:rPr lang="en-US" dirty="0"/>
              <a:t>genetic influences in the </a:t>
            </a:r>
            <a:r>
              <a:rPr lang="en-US" dirty="0" smtClean="0"/>
              <a:t>etiology of </a:t>
            </a:r>
            <a:r>
              <a:rPr lang="en-US" dirty="0"/>
              <a:t>ADHD. </a:t>
            </a:r>
            <a:endParaRPr lang="en-US" dirty="0" smtClean="0"/>
          </a:p>
          <a:p>
            <a:pPr fontAlgn="auto">
              <a:spcAft>
                <a:spcPts val="0"/>
              </a:spcAft>
              <a:buFont typeface="Arial" pitchFamily="34" charset="0"/>
              <a:buChar char="•"/>
              <a:defRPr/>
            </a:pPr>
            <a:r>
              <a:rPr lang="en-US" dirty="0" smtClean="0"/>
              <a:t>Results have </a:t>
            </a:r>
            <a:r>
              <a:rPr lang="en-US" dirty="0"/>
              <a:t>indicated that a large number of parents of </a:t>
            </a:r>
            <a:r>
              <a:rPr lang="en-US" dirty="0" smtClean="0"/>
              <a:t>hyperactive children </a:t>
            </a:r>
            <a:r>
              <a:rPr lang="en-US" dirty="0"/>
              <a:t>showed signs of hyperactivity </a:t>
            </a:r>
            <a:r>
              <a:rPr lang="en-US" dirty="0" smtClean="0"/>
              <a:t>during their </a:t>
            </a:r>
            <a:r>
              <a:rPr lang="en-US" dirty="0"/>
              <a:t>own childhood; that hyperactive children </a:t>
            </a:r>
            <a:r>
              <a:rPr lang="en-US" dirty="0" smtClean="0"/>
              <a:t>are more </a:t>
            </a:r>
            <a:r>
              <a:rPr lang="en-US" dirty="0"/>
              <a:t>likely than children with more typical </a:t>
            </a:r>
            <a:r>
              <a:rPr lang="en-US" dirty="0" smtClean="0"/>
              <a:t>behavior to </a:t>
            </a:r>
            <a:r>
              <a:rPr lang="en-US" dirty="0"/>
              <a:t>have siblings who are also hyperactive; and </a:t>
            </a:r>
            <a:r>
              <a:rPr lang="en-US" dirty="0" smtClean="0"/>
              <a:t>that when </a:t>
            </a:r>
            <a:r>
              <a:rPr lang="en-US" dirty="0"/>
              <a:t>one twin of an identical twin pair has the </a:t>
            </a:r>
            <a:r>
              <a:rPr lang="en-US" dirty="0" smtClean="0"/>
              <a:t>disorder, the </a:t>
            </a:r>
            <a:r>
              <a:rPr lang="en-US" dirty="0"/>
              <a:t>other is likely to have it too</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rtlCol="0">
            <a:normAutofit fontScale="90000"/>
          </a:bodyPr>
          <a:lstStyle/>
          <a:p>
            <a:pPr fontAlgn="auto">
              <a:spcAft>
                <a:spcPts val="0"/>
              </a:spcAft>
              <a:defRPr/>
            </a:pPr>
            <a:r>
              <a:rPr lang="en-US" b="1" dirty="0" smtClean="0"/>
              <a:t/>
            </a:r>
            <a:br>
              <a:rPr lang="en-US" b="1" dirty="0" smtClean="0"/>
            </a:br>
            <a:r>
              <a:rPr lang="en-US" b="1" dirty="0" smtClean="0"/>
              <a:t>Biochemical</a:t>
            </a:r>
            <a:r>
              <a:rPr lang="en-US" b="1" i="1" dirty="0" smtClean="0"/>
              <a:t> </a:t>
            </a:r>
            <a:r>
              <a:rPr lang="en-US" b="1" dirty="0" smtClean="0"/>
              <a:t>Theory</a:t>
            </a:r>
            <a:r>
              <a:rPr lang="en-US" b="1" i="1" dirty="0" smtClean="0"/>
              <a:t/>
            </a:r>
            <a:br>
              <a:rPr lang="en-US" b="1" i="1" dirty="0" smtClean="0"/>
            </a:br>
            <a:endParaRPr lang="en-US" dirty="0"/>
          </a:p>
        </p:txBody>
      </p:sp>
      <p:sp>
        <p:nvSpPr>
          <p:cNvPr id="3" name="Content Placeholder 2"/>
          <p:cNvSpPr>
            <a:spLocks noGrp="1"/>
          </p:cNvSpPr>
          <p:nvPr>
            <p:ph idx="1"/>
          </p:nvPr>
        </p:nvSpPr>
        <p:spPr>
          <a:xfrm>
            <a:off x="381000" y="1066800"/>
            <a:ext cx="8305800" cy="5059363"/>
          </a:xfrm>
        </p:spPr>
        <p:txBody>
          <a:bodyPr rtlCol="0">
            <a:normAutofit lnSpcReduction="10000"/>
          </a:bodyPr>
          <a:lstStyle/>
          <a:p>
            <a:pPr fontAlgn="auto">
              <a:spcAft>
                <a:spcPts val="0"/>
              </a:spcAft>
              <a:buFont typeface="Arial" pitchFamily="34" charset="0"/>
              <a:buChar char="•"/>
              <a:defRPr/>
            </a:pPr>
            <a:r>
              <a:rPr lang="en-US" dirty="0" smtClean="0"/>
              <a:t>Although </a:t>
            </a:r>
            <a:r>
              <a:rPr lang="en-US" dirty="0"/>
              <a:t>it is believed that certain </a:t>
            </a:r>
            <a:r>
              <a:rPr lang="en-US" dirty="0" smtClean="0"/>
              <a:t>neurotransmitters— particularly </a:t>
            </a:r>
            <a:r>
              <a:rPr lang="en-US" dirty="0"/>
              <a:t>dopamine, norepinephrine, and </a:t>
            </a:r>
            <a:r>
              <a:rPr lang="en-US" dirty="0" smtClean="0"/>
              <a:t>possibly serotonin—are </a:t>
            </a:r>
            <a:r>
              <a:rPr lang="en-US" dirty="0"/>
              <a:t>involved in producing the symptoms </a:t>
            </a:r>
            <a:r>
              <a:rPr lang="en-US" dirty="0" smtClean="0"/>
              <a:t>associated with </a:t>
            </a:r>
            <a:r>
              <a:rPr lang="en-US" dirty="0"/>
              <a:t>ADHD, their involvement is still </a:t>
            </a:r>
            <a:r>
              <a:rPr lang="en-US" dirty="0" smtClean="0"/>
              <a:t>under investigation</a:t>
            </a:r>
            <a:r>
              <a:rPr lang="en-US" dirty="0"/>
              <a:t>. </a:t>
            </a:r>
            <a:endParaRPr lang="en-US" dirty="0" smtClean="0"/>
          </a:p>
          <a:p>
            <a:pPr fontAlgn="auto">
              <a:spcAft>
                <a:spcPts val="0"/>
              </a:spcAft>
              <a:buFont typeface="Arial" pitchFamily="34" charset="0"/>
              <a:buChar char="•"/>
              <a:defRPr/>
            </a:pPr>
            <a:r>
              <a:rPr lang="en-US" dirty="0" smtClean="0"/>
              <a:t>Abnormal </a:t>
            </a:r>
            <a:r>
              <a:rPr lang="en-US" dirty="0"/>
              <a:t>levels of these </a:t>
            </a:r>
            <a:r>
              <a:rPr lang="en-US" dirty="0" smtClean="0"/>
              <a:t>neurotransmitters may </a:t>
            </a:r>
            <a:r>
              <a:rPr lang="en-US" dirty="0"/>
              <a:t>be associated with the symptoms of </a:t>
            </a:r>
            <a:r>
              <a:rPr lang="en-US" dirty="0" smtClean="0"/>
              <a:t>hyperactivity, impulsivity</a:t>
            </a:r>
            <a:r>
              <a:rPr lang="en-US" dirty="0"/>
              <a:t>, mood, and aggression often </a:t>
            </a:r>
            <a:r>
              <a:rPr lang="en-US" dirty="0" smtClean="0"/>
              <a:t>observed in </a:t>
            </a:r>
            <a:r>
              <a:rPr lang="en-US" dirty="0"/>
              <a:t>individuals with the disorder.</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172200"/>
          </a:xfrm>
        </p:spPr>
        <p:txBody>
          <a:bodyPr rtlCol="0">
            <a:normAutofit fontScale="85000" lnSpcReduction="20000"/>
          </a:bodyPr>
          <a:lstStyle/>
          <a:p>
            <a:pPr fontAlgn="auto">
              <a:spcAft>
                <a:spcPts val="0"/>
              </a:spcAft>
              <a:buFont typeface="Arial" pitchFamily="34" charset="0"/>
              <a:buNone/>
              <a:defRPr/>
            </a:pPr>
            <a:r>
              <a:rPr lang="en-US" b="1" dirty="0"/>
              <a:t>Prenatal</a:t>
            </a:r>
            <a:r>
              <a:rPr lang="en-US" b="1" i="1" dirty="0"/>
              <a:t>, </a:t>
            </a:r>
            <a:r>
              <a:rPr lang="en-US" b="1" dirty="0"/>
              <a:t>Perinatal</a:t>
            </a:r>
            <a:r>
              <a:rPr lang="en-US" b="1" i="1" dirty="0"/>
              <a:t>, </a:t>
            </a:r>
            <a:r>
              <a:rPr lang="en-US" b="1" dirty="0"/>
              <a:t>and</a:t>
            </a:r>
            <a:r>
              <a:rPr lang="en-US" b="1" i="1" dirty="0"/>
              <a:t> </a:t>
            </a:r>
            <a:r>
              <a:rPr lang="en-US" b="1" dirty="0"/>
              <a:t>Postnatal</a:t>
            </a:r>
            <a:r>
              <a:rPr lang="en-US" b="1" i="1" dirty="0"/>
              <a:t> </a:t>
            </a:r>
            <a:r>
              <a:rPr lang="en-US" b="1" dirty="0"/>
              <a:t>Factors</a:t>
            </a:r>
          </a:p>
          <a:p>
            <a:pPr fontAlgn="auto">
              <a:spcAft>
                <a:spcPts val="0"/>
              </a:spcAft>
              <a:buFont typeface="Arial" pitchFamily="34" charset="0"/>
              <a:buChar char="•"/>
              <a:defRPr/>
            </a:pPr>
            <a:r>
              <a:rPr lang="en-US" dirty="0"/>
              <a:t>A recent study is consistent with an earlier finding </a:t>
            </a:r>
            <a:r>
              <a:rPr lang="en-US" dirty="0" smtClean="0"/>
              <a:t>that links </a:t>
            </a:r>
            <a:r>
              <a:rPr lang="en-US" dirty="0"/>
              <a:t>maternal smoking during pregnancy and </a:t>
            </a:r>
            <a:r>
              <a:rPr lang="en-US" dirty="0" smtClean="0"/>
              <a:t>hyperkinetic- impulsive </a:t>
            </a:r>
            <a:r>
              <a:rPr lang="en-US" dirty="0"/>
              <a:t>behavior in offspring (Linnet et </a:t>
            </a:r>
            <a:r>
              <a:rPr lang="en-US" dirty="0" smtClean="0"/>
              <a:t>al, 2005).</a:t>
            </a:r>
          </a:p>
          <a:p>
            <a:pPr fontAlgn="auto">
              <a:spcAft>
                <a:spcPts val="0"/>
              </a:spcAft>
              <a:buFont typeface="Arial" pitchFamily="34" charset="0"/>
              <a:buChar char="•"/>
              <a:defRPr/>
            </a:pPr>
            <a:r>
              <a:rPr lang="en-US" dirty="0" smtClean="0"/>
              <a:t>Intrauterine </a:t>
            </a:r>
            <a:r>
              <a:rPr lang="en-US" dirty="0"/>
              <a:t>exposure to toxic substances, </a:t>
            </a:r>
            <a:r>
              <a:rPr lang="en-US" dirty="0" smtClean="0"/>
              <a:t>including alcohol</a:t>
            </a:r>
            <a:r>
              <a:rPr lang="en-US" dirty="0"/>
              <a:t>, can produce effects on behavior. </a:t>
            </a:r>
            <a:endParaRPr lang="en-US" dirty="0" smtClean="0"/>
          </a:p>
          <a:p>
            <a:pPr fontAlgn="auto">
              <a:spcAft>
                <a:spcPts val="0"/>
              </a:spcAft>
              <a:buFont typeface="Arial" pitchFamily="34" charset="0"/>
              <a:buChar char="•"/>
              <a:defRPr/>
            </a:pPr>
            <a:r>
              <a:rPr lang="en-US" dirty="0" smtClean="0"/>
              <a:t>Fetal</a:t>
            </a:r>
            <a:r>
              <a:rPr lang="en-US" dirty="0"/>
              <a:t> </a:t>
            </a:r>
            <a:r>
              <a:rPr lang="en-US" dirty="0" smtClean="0"/>
              <a:t>alcohol </a:t>
            </a:r>
            <a:r>
              <a:rPr lang="en-US" dirty="0"/>
              <a:t>syndrome includes hyperactivity, </a:t>
            </a:r>
            <a:r>
              <a:rPr lang="en-US" dirty="0" smtClean="0"/>
              <a:t>impulsivity, and </a:t>
            </a:r>
            <a:r>
              <a:rPr lang="en-US" dirty="0"/>
              <a:t>inattention, as well as physical anomalies (</a:t>
            </a:r>
            <a:r>
              <a:rPr lang="en-US" dirty="0" smtClean="0"/>
              <a:t>Popper </a:t>
            </a:r>
            <a:r>
              <a:rPr lang="sv-SE" dirty="0" smtClean="0"/>
              <a:t>et </a:t>
            </a:r>
            <a:r>
              <a:rPr lang="sv-SE" dirty="0"/>
              <a:t>al, 2003; Sadock &amp; Sadock, 2003).</a:t>
            </a:r>
          </a:p>
          <a:p>
            <a:pPr fontAlgn="auto">
              <a:spcAft>
                <a:spcPts val="0"/>
              </a:spcAft>
              <a:buFont typeface="Arial" pitchFamily="34" charset="0"/>
              <a:buChar char="•"/>
              <a:defRPr/>
            </a:pPr>
            <a:r>
              <a:rPr lang="en-US" dirty="0"/>
              <a:t>Perinatal influences that may contribute to </a:t>
            </a:r>
            <a:r>
              <a:rPr lang="en-US" dirty="0" smtClean="0"/>
              <a:t>ADHD are </a:t>
            </a:r>
            <a:r>
              <a:rPr lang="en-US" dirty="0"/>
              <a:t>prematurity, signs of fetal distress, low birth </a:t>
            </a:r>
            <a:r>
              <a:rPr lang="en-US" dirty="0" smtClean="0"/>
              <a:t>weight, precipitated </a:t>
            </a:r>
            <a:r>
              <a:rPr lang="en-US" dirty="0"/>
              <a:t>or prolonged labor, and perinatal anoxia.</a:t>
            </a:r>
          </a:p>
          <a:p>
            <a:pPr fontAlgn="auto">
              <a:spcAft>
                <a:spcPts val="0"/>
              </a:spcAft>
              <a:buFont typeface="Arial" pitchFamily="34" charset="0"/>
              <a:buChar char="•"/>
              <a:defRPr/>
            </a:pPr>
            <a:r>
              <a:rPr lang="en-US" dirty="0"/>
              <a:t>Postnatal factors that have been implicated include </a:t>
            </a:r>
            <a:r>
              <a:rPr lang="en-US" dirty="0" err="1" smtClean="0"/>
              <a:t>cere-</a:t>
            </a:r>
            <a:r>
              <a:rPr lang="en-US" dirty="0" err="1"/>
              <a:t>bral</a:t>
            </a:r>
            <a:r>
              <a:rPr lang="en-US" dirty="0"/>
              <a:t> palsy, epilepsy, and other central nervous </a:t>
            </a:r>
            <a:r>
              <a:rPr lang="en-US" dirty="0" smtClean="0"/>
              <a:t>system (CNS</a:t>
            </a:r>
            <a:r>
              <a:rPr lang="en-US" dirty="0"/>
              <a:t>) abnormalities resulting from trauma, </a:t>
            </a:r>
            <a:r>
              <a:rPr lang="en-US" dirty="0" smtClean="0"/>
              <a:t>infections, or </a:t>
            </a:r>
            <a:r>
              <a:rPr lang="en-US" dirty="0"/>
              <a:t>other neurological disorders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p:cNvSpPr>
            <a:spLocks noGrp="1"/>
          </p:cNvSpPr>
          <p:nvPr>
            <p:ph idx="1"/>
          </p:nvPr>
        </p:nvSpPr>
        <p:spPr>
          <a:xfrm>
            <a:off x="381000" y="457200"/>
            <a:ext cx="8305800" cy="5668963"/>
          </a:xfrm>
        </p:spPr>
        <p:txBody>
          <a:bodyPr/>
          <a:lstStyle/>
          <a:p>
            <a:pPr>
              <a:buFont typeface="Arial" charset="0"/>
              <a:buNone/>
            </a:pPr>
            <a:r>
              <a:rPr lang="en-US" b="1" smtClean="0"/>
              <a:t>Environmental Influences</a:t>
            </a:r>
          </a:p>
          <a:p>
            <a:pPr>
              <a:buFont typeface="Arial" charset="0"/>
              <a:buNone/>
            </a:pPr>
            <a:r>
              <a:rPr lang="en-US" b="1" smtClean="0"/>
              <a:t>Environmental Lead</a:t>
            </a:r>
          </a:p>
          <a:p>
            <a:r>
              <a:rPr lang="en-US" smtClean="0"/>
              <a:t>Studies continue to provide evidence of the adverse effects on cognitive and behavioral development in children with elevated body levels of lead. </a:t>
            </a:r>
          </a:p>
          <a:p>
            <a:r>
              <a:rPr lang="en-US" smtClean="0"/>
              <a:t>A possible causal link between elevated lead levels and behavior associated with ADHD is still being investigated.</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rtlCol="0">
            <a:normAutofit fontScale="92500" lnSpcReduction="10000"/>
          </a:bodyPr>
          <a:lstStyle/>
          <a:p>
            <a:pPr fontAlgn="auto">
              <a:spcAft>
                <a:spcPts val="0"/>
              </a:spcAft>
              <a:buFont typeface="Arial" pitchFamily="34" charset="0"/>
              <a:buNone/>
              <a:defRPr/>
            </a:pPr>
            <a:r>
              <a:rPr lang="en-US" b="1" dirty="0"/>
              <a:t>Psychosocial Influences</a:t>
            </a:r>
          </a:p>
          <a:p>
            <a:pPr fontAlgn="auto">
              <a:spcAft>
                <a:spcPts val="0"/>
              </a:spcAft>
              <a:buFont typeface="Arial" pitchFamily="34" charset="0"/>
              <a:buChar char="•"/>
              <a:defRPr/>
            </a:pPr>
            <a:r>
              <a:rPr lang="en-US" dirty="0"/>
              <a:t>Disorganized or chaotic environments or a </a:t>
            </a:r>
            <a:r>
              <a:rPr lang="en-US" dirty="0" smtClean="0"/>
              <a:t>disruption in </a:t>
            </a:r>
            <a:r>
              <a:rPr lang="en-US" dirty="0"/>
              <a:t>family equilibrium may predispose some </a:t>
            </a:r>
            <a:r>
              <a:rPr lang="en-US" dirty="0" smtClean="0"/>
              <a:t>individuals to </a:t>
            </a:r>
            <a:r>
              <a:rPr lang="en-US" dirty="0"/>
              <a:t>ADHD. </a:t>
            </a:r>
            <a:endParaRPr lang="en-US" dirty="0" smtClean="0"/>
          </a:p>
          <a:p>
            <a:pPr fontAlgn="auto">
              <a:spcAft>
                <a:spcPts val="0"/>
              </a:spcAft>
              <a:buFont typeface="Arial" pitchFamily="34" charset="0"/>
              <a:buChar char="•"/>
              <a:defRPr/>
            </a:pPr>
            <a:r>
              <a:rPr lang="en-US" dirty="0" smtClean="0"/>
              <a:t>A </a:t>
            </a:r>
            <a:r>
              <a:rPr lang="en-US" dirty="0"/>
              <a:t>high degree of psychosocial stress, </a:t>
            </a:r>
            <a:r>
              <a:rPr lang="en-US" dirty="0" smtClean="0"/>
              <a:t>maternal mental </a:t>
            </a:r>
            <a:r>
              <a:rPr lang="en-US" dirty="0"/>
              <a:t>disorder, paternal criminality, low </a:t>
            </a:r>
            <a:r>
              <a:rPr lang="en-US" dirty="0" smtClean="0"/>
              <a:t>socioeconomic status</a:t>
            </a:r>
            <a:r>
              <a:rPr lang="en-US" dirty="0"/>
              <a:t>, and foster care have been </a:t>
            </a:r>
            <a:r>
              <a:rPr lang="en-US" dirty="0" smtClean="0"/>
              <a:t>implicated (</a:t>
            </a:r>
            <a:r>
              <a:rPr lang="en-US" dirty="0" err="1" smtClean="0"/>
              <a:t>Dopheide</a:t>
            </a:r>
            <a:r>
              <a:rPr lang="en-US" dirty="0"/>
              <a:t>, 2001; </a:t>
            </a:r>
            <a:r>
              <a:rPr lang="en-US" dirty="0" err="1"/>
              <a:t>Voeller</a:t>
            </a:r>
            <a:r>
              <a:rPr lang="en-US" dirty="0"/>
              <a:t>, 2004).</a:t>
            </a:r>
          </a:p>
          <a:p>
            <a:pPr fontAlgn="auto">
              <a:spcAft>
                <a:spcPts val="0"/>
              </a:spcAft>
              <a:buFont typeface="Arial" pitchFamily="34" charset="0"/>
              <a:buChar char="•"/>
              <a:defRPr/>
            </a:pPr>
            <a:r>
              <a:rPr lang="en-US" dirty="0"/>
              <a:t>Other psychosocial influences that have been </a:t>
            </a:r>
            <a:r>
              <a:rPr lang="en-US" dirty="0" smtClean="0"/>
              <a:t>implicated include </a:t>
            </a:r>
            <a:r>
              <a:rPr lang="en-US" dirty="0"/>
              <a:t>family history of alcoholism, </a:t>
            </a:r>
            <a:r>
              <a:rPr lang="en-US" dirty="0" smtClean="0"/>
              <a:t>hysterical and </a:t>
            </a:r>
            <a:r>
              <a:rPr lang="en-US" dirty="0"/>
              <a:t>sociopathic behaviors, and parental history </a:t>
            </a:r>
            <a:r>
              <a:rPr lang="en-US" dirty="0" smtClean="0"/>
              <a:t>of hyperactivity</a:t>
            </a:r>
            <a:r>
              <a:rPr lang="en-US" dirty="0"/>
              <a:t>. </a:t>
            </a:r>
            <a:endParaRPr lang="en-US" dirty="0" smtClean="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dirty="0" smtClean="0"/>
              <a:t/>
            </a:r>
            <a:br>
              <a:rPr lang="en-US" b="1" dirty="0" smtClean="0"/>
            </a:br>
            <a:r>
              <a:rPr lang="en-US" b="1" dirty="0" smtClean="0"/>
              <a:t>Psychopharmacological Intervention for ADHD</a:t>
            </a:r>
            <a:br>
              <a:rPr lang="en-US" b="1" dirty="0" smtClean="0"/>
            </a:br>
            <a:endParaRPr lang="en-US" dirty="0"/>
          </a:p>
        </p:txBody>
      </p:sp>
      <p:sp>
        <p:nvSpPr>
          <p:cNvPr id="3" name="Content Placeholder 2"/>
          <p:cNvSpPr>
            <a:spLocks noGrp="1"/>
          </p:cNvSpPr>
          <p:nvPr>
            <p:ph idx="1"/>
          </p:nvPr>
        </p:nvSpPr>
        <p:spPr/>
        <p:txBody>
          <a:bodyPr rtlCol="0">
            <a:normAutofit fontScale="85000" lnSpcReduction="20000"/>
          </a:bodyPr>
          <a:lstStyle/>
          <a:p>
            <a:pPr fontAlgn="auto">
              <a:spcAft>
                <a:spcPts val="0"/>
              </a:spcAft>
              <a:buFont typeface="Arial" pitchFamily="34" charset="0"/>
              <a:buChar char="•"/>
              <a:defRPr/>
            </a:pPr>
            <a:r>
              <a:rPr lang="en-US" dirty="0" smtClean="0"/>
              <a:t>Central nervous system stimulants are sometimes given to children with ADHD. </a:t>
            </a:r>
          </a:p>
          <a:p>
            <a:pPr fontAlgn="auto">
              <a:spcAft>
                <a:spcPts val="0"/>
              </a:spcAft>
              <a:buFont typeface="Arial" pitchFamily="34" charset="0"/>
              <a:buChar char="•"/>
              <a:defRPr/>
            </a:pPr>
            <a:r>
              <a:rPr lang="en-US" dirty="0" smtClean="0"/>
              <a:t>Those commonly used include </a:t>
            </a:r>
            <a:r>
              <a:rPr lang="en-US" dirty="0" err="1" smtClean="0"/>
              <a:t>dextroamphetamine</a:t>
            </a:r>
            <a:r>
              <a:rPr lang="en-US" dirty="0" smtClean="0"/>
              <a:t> , methylphenidate, </a:t>
            </a:r>
            <a:r>
              <a:rPr lang="en-US" dirty="0" err="1" smtClean="0"/>
              <a:t>dexmethylphenidate</a:t>
            </a:r>
            <a:r>
              <a:rPr lang="en-US" dirty="0" smtClean="0"/>
              <a:t> , and a </a:t>
            </a:r>
            <a:r>
              <a:rPr lang="en-US" dirty="0" err="1" smtClean="0"/>
              <a:t>dextroamphetamine</a:t>
            </a:r>
            <a:r>
              <a:rPr lang="en-US" dirty="0" smtClean="0"/>
              <a:t>/amphetamine composite .</a:t>
            </a:r>
          </a:p>
          <a:p>
            <a:pPr fontAlgn="auto">
              <a:spcAft>
                <a:spcPts val="0"/>
              </a:spcAft>
              <a:buFont typeface="Arial" pitchFamily="34" charset="0"/>
              <a:buChar char="•"/>
              <a:defRPr/>
            </a:pPr>
            <a:r>
              <a:rPr lang="en-US" dirty="0" smtClean="0"/>
              <a:t>The actual mechanism by which these medications improve behavior associated with ADHD is not known. </a:t>
            </a:r>
          </a:p>
          <a:p>
            <a:pPr fontAlgn="auto">
              <a:spcAft>
                <a:spcPts val="0"/>
              </a:spcAft>
              <a:buFont typeface="Arial" pitchFamily="34" charset="0"/>
              <a:buChar char="•"/>
              <a:defRPr/>
            </a:pPr>
            <a:r>
              <a:rPr lang="en-US" dirty="0" smtClean="0"/>
              <a:t>In most individuals, they produce stimulation, excitability, and restlessness. </a:t>
            </a:r>
          </a:p>
          <a:p>
            <a:pPr fontAlgn="auto">
              <a:spcAft>
                <a:spcPts val="0"/>
              </a:spcAft>
              <a:buFont typeface="Arial" pitchFamily="34" charset="0"/>
              <a:buChar char="•"/>
              <a:defRPr/>
            </a:pPr>
            <a:r>
              <a:rPr lang="en-US" dirty="0" smtClean="0"/>
              <a:t>In children with ADHD, the effects include an increased attention span, control of hyperactive behavior, and improvement in learning ability.</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82000" cy="5943600"/>
          </a:xfrm>
        </p:spPr>
        <p:txBody>
          <a:bodyPr rtlCol="0">
            <a:normAutofit fontScale="85000" lnSpcReduction="20000"/>
          </a:bodyPr>
          <a:lstStyle/>
          <a:p>
            <a:pPr fontAlgn="auto">
              <a:spcAft>
                <a:spcPts val="0"/>
              </a:spcAft>
              <a:buFont typeface="Arial" pitchFamily="34" charset="0"/>
              <a:buChar char="•"/>
              <a:defRPr/>
            </a:pPr>
            <a:r>
              <a:rPr lang="en-US" dirty="0" smtClean="0"/>
              <a:t>Side effects include insomnia, anorexia, weight loss, tachycardia, and temporary decrease in rate of growth and development. </a:t>
            </a:r>
          </a:p>
          <a:p>
            <a:pPr fontAlgn="auto">
              <a:spcAft>
                <a:spcPts val="0"/>
              </a:spcAft>
              <a:buFont typeface="Arial" pitchFamily="34" charset="0"/>
              <a:buChar char="•"/>
              <a:defRPr/>
            </a:pPr>
            <a:r>
              <a:rPr lang="en-US" dirty="0" smtClean="0"/>
              <a:t>Physical tolerance can occur. </a:t>
            </a:r>
          </a:p>
          <a:p>
            <a:pPr fontAlgn="auto">
              <a:spcAft>
                <a:spcPts val="0"/>
              </a:spcAft>
              <a:buFont typeface="Arial" pitchFamily="34" charset="0"/>
              <a:buChar char="•"/>
              <a:defRPr/>
            </a:pPr>
            <a:r>
              <a:rPr lang="en-US" dirty="0" smtClean="0"/>
              <a:t>In 2002, the U.S. Food and Drug Administration approved </a:t>
            </a:r>
            <a:r>
              <a:rPr lang="en-US" dirty="0" err="1" smtClean="0"/>
              <a:t>atomoxetine</a:t>
            </a:r>
            <a:r>
              <a:rPr lang="en-US" dirty="0" smtClean="0"/>
              <a:t> (</a:t>
            </a:r>
            <a:r>
              <a:rPr lang="en-US" dirty="0" err="1" smtClean="0"/>
              <a:t>Strattera</a:t>
            </a:r>
            <a:r>
              <a:rPr lang="en-US" dirty="0" smtClean="0"/>
              <a:t>), a medication specific for treating ADHD. </a:t>
            </a:r>
          </a:p>
          <a:p>
            <a:pPr fontAlgn="auto">
              <a:spcAft>
                <a:spcPts val="0"/>
              </a:spcAft>
              <a:buFont typeface="Arial" pitchFamily="34" charset="0"/>
              <a:buChar char="•"/>
              <a:defRPr/>
            </a:pPr>
            <a:r>
              <a:rPr lang="en-US" dirty="0" err="1" smtClean="0"/>
              <a:t>Atomoxetine</a:t>
            </a:r>
            <a:r>
              <a:rPr lang="en-US" dirty="0" smtClean="0"/>
              <a:t> is a selective norepinephrine reuptake inhibitor. </a:t>
            </a:r>
          </a:p>
          <a:p>
            <a:pPr fontAlgn="auto">
              <a:spcAft>
                <a:spcPts val="0"/>
              </a:spcAft>
              <a:buFont typeface="Arial" pitchFamily="34" charset="0"/>
              <a:buChar char="•"/>
              <a:defRPr/>
            </a:pPr>
            <a:r>
              <a:rPr lang="en-US" dirty="0" smtClean="0"/>
              <a:t>The exact mechanism by which it produces its therapeutic effect in ADHD is unknown. </a:t>
            </a:r>
          </a:p>
          <a:p>
            <a:pPr fontAlgn="auto">
              <a:spcAft>
                <a:spcPts val="0"/>
              </a:spcAft>
              <a:buFont typeface="Arial" pitchFamily="34" charset="0"/>
              <a:buChar char="•"/>
              <a:defRPr/>
            </a:pPr>
            <a:r>
              <a:rPr lang="en-US" dirty="0" smtClean="0"/>
              <a:t>Side effects include headache, nausea and vomiting, upper abdominal pain, dry mouth, decreased appetite, weight loss, constipation, insomnia, increased blood pressure and heart rate, and sexual dysfunction.</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382000" cy="5592763"/>
          </a:xfrm>
        </p:spPr>
        <p:txBody>
          <a:bodyPr rtlCol="0">
            <a:normAutofit fontScale="85000" lnSpcReduction="10000"/>
          </a:bodyPr>
          <a:lstStyle/>
          <a:p>
            <a:pPr fontAlgn="auto">
              <a:spcAft>
                <a:spcPts val="0"/>
              </a:spcAft>
              <a:buFont typeface="Arial" pitchFamily="34" charset="0"/>
              <a:buChar char="•"/>
              <a:defRPr/>
            </a:pPr>
            <a:r>
              <a:rPr lang="en-US" dirty="0" smtClean="0"/>
              <a:t>Drugs in the antidepressant classification also have been used with some success in the treatment of ADHA. </a:t>
            </a:r>
          </a:p>
          <a:p>
            <a:pPr fontAlgn="auto">
              <a:spcAft>
                <a:spcPts val="0"/>
              </a:spcAft>
              <a:buFont typeface="Arial" pitchFamily="34" charset="0"/>
              <a:buChar char="•"/>
              <a:defRPr/>
            </a:pPr>
            <a:r>
              <a:rPr lang="en-US" dirty="0" smtClean="0"/>
              <a:t>Commonly used medications in this category are </a:t>
            </a:r>
            <a:r>
              <a:rPr lang="en-US" dirty="0" err="1" smtClean="0"/>
              <a:t>bupropion</a:t>
            </a:r>
            <a:r>
              <a:rPr lang="en-US" dirty="0" smtClean="0"/>
              <a:t> (</a:t>
            </a:r>
            <a:r>
              <a:rPr lang="en-US" dirty="0" err="1" smtClean="0"/>
              <a:t>Wellbutrin</a:t>
            </a:r>
            <a:r>
              <a:rPr lang="en-US" dirty="0" smtClean="0"/>
              <a:t>), </a:t>
            </a:r>
            <a:r>
              <a:rPr lang="en-US" dirty="0" err="1" smtClean="0"/>
              <a:t>desipramine</a:t>
            </a:r>
            <a:r>
              <a:rPr lang="en-US" dirty="0" smtClean="0"/>
              <a:t> (</a:t>
            </a:r>
            <a:r>
              <a:rPr lang="en-US" dirty="0" err="1" smtClean="0"/>
              <a:t>Norpramin</a:t>
            </a:r>
            <a:r>
              <a:rPr lang="en-US" dirty="0" smtClean="0"/>
              <a:t>), </a:t>
            </a:r>
            <a:r>
              <a:rPr lang="en-US" dirty="0" err="1" smtClean="0"/>
              <a:t>nortriptyline</a:t>
            </a:r>
            <a:r>
              <a:rPr lang="en-US" dirty="0" smtClean="0"/>
              <a:t> (</a:t>
            </a:r>
            <a:r>
              <a:rPr lang="en-US" dirty="0" err="1" smtClean="0"/>
              <a:t>Pamelor</a:t>
            </a:r>
            <a:r>
              <a:rPr lang="en-US" dirty="0" smtClean="0"/>
              <a:t>), and </a:t>
            </a:r>
            <a:r>
              <a:rPr lang="en-US" dirty="0" err="1" smtClean="0"/>
              <a:t>imipramine</a:t>
            </a:r>
            <a:r>
              <a:rPr lang="en-US" dirty="0" smtClean="0"/>
              <a:t> (</a:t>
            </a:r>
            <a:r>
              <a:rPr lang="en-US" dirty="0" err="1" smtClean="0"/>
              <a:t>Tofranil</a:t>
            </a:r>
            <a:r>
              <a:rPr lang="en-US" dirty="0" smtClean="0"/>
              <a:t>). The tricyclic antidepressants have been useful for some ADHD symptoms, particularly attention and restlessness.</a:t>
            </a:r>
          </a:p>
          <a:p>
            <a:pPr fontAlgn="auto">
              <a:spcAft>
                <a:spcPts val="0"/>
              </a:spcAft>
              <a:buFont typeface="Arial" pitchFamily="34" charset="0"/>
              <a:buChar char="•"/>
              <a:defRPr/>
            </a:pPr>
            <a:r>
              <a:rPr lang="en-US" dirty="0" smtClean="0"/>
              <a:t>The major side effects include sedation, dry mouth, increased appetite, changes in </a:t>
            </a:r>
            <a:r>
              <a:rPr lang="en-US" dirty="0" err="1" smtClean="0"/>
              <a:t>atrioventricular</a:t>
            </a:r>
            <a:r>
              <a:rPr lang="en-US" dirty="0" smtClean="0"/>
              <a:t> conduction of the heart, hypertension or hypotension, arrhythmias, and tachycardia. </a:t>
            </a:r>
          </a:p>
          <a:p>
            <a:pPr fontAlgn="auto">
              <a:spcAft>
                <a:spcPts val="0"/>
              </a:spcAft>
              <a:buFont typeface="Arial" pitchFamily="34" charset="0"/>
              <a:buChar char="•"/>
              <a:defRPr/>
            </a:pPr>
            <a:r>
              <a:rPr lang="en-US" dirty="0" smtClean="0"/>
              <a:t>An electrocardiogram should be performed prior to initiation of therapy.</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b="1" dirty="0" smtClean="0"/>
              <a:t>Nursing Implications</a:t>
            </a:r>
            <a:br>
              <a:rPr lang="en-US" b="1" dirty="0" smtClean="0"/>
            </a:br>
            <a:endParaRPr lang="en-US" dirty="0"/>
          </a:p>
        </p:txBody>
      </p:sp>
      <p:sp>
        <p:nvSpPr>
          <p:cNvPr id="3" name="Content Placeholder 2"/>
          <p:cNvSpPr>
            <a:spLocks noGrp="1"/>
          </p:cNvSpPr>
          <p:nvPr>
            <p:ph idx="1"/>
          </p:nvPr>
        </p:nvSpPr>
        <p:spPr>
          <a:xfrm>
            <a:off x="381000" y="914400"/>
            <a:ext cx="8382000" cy="5410200"/>
          </a:xfrm>
        </p:spPr>
        <p:txBody>
          <a:bodyPr rtlCol="0">
            <a:normAutofit fontScale="92500" lnSpcReduction="20000"/>
          </a:bodyPr>
          <a:lstStyle/>
          <a:p>
            <a:pPr fontAlgn="auto">
              <a:spcAft>
                <a:spcPts val="0"/>
              </a:spcAft>
              <a:buFont typeface="Arial" pitchFamily="34" charset="0"/>
              <a:buNone/>
              <a:defRPr/>
            </a:pPr>
            <a:r>
              <a:rPr lang="en-US" dirty="0" smtClean="0"/>
              <a:t>● Assess the client’s mental status for changes in mood, level of activity, degree of stimulation, and aggressiveness.</a:t>
            </a:r>
          </a:p>
          <a:p>
            <a:pPr fontAlgn="auto">
              <a:spcAft>
                <a:spcPts val="0"/>
              </a:spcAft>
              <a:buFont typeface="Arial" pitchFamily="34" charset="0"/>
              <a:buNone/>
              <a:defRPr/>
            </a:pPr>
            <a:r>
              <a:rPr lang="en-US" dirty="0" smtClean="0"/>
              <a:t>● Ensure that the client is protected from injury. Keep stimuli low and environment as quiet as possible to discourage overstimulation.</a:t>
            </a:r>
          </a:p>
          <a:p>
            <a:pPr fontAlgn="auto">
              <a:spcAft>
                <a:spcPts val="0"/>
              </a:spcAft>
              <a:buFont typeface="Arial" pitchFamily="34" charset="0"/>
              <a:buNone/>
              <a:defRPr/>
            </a:pPr>
            <a:r>
              <a:rPr lang="en-US" dirty="0" smtClean="0"/>
              <a:t>● To reduce anorexia, the medication may be administered immediately after meals. The client should be weighed regularly (at least weekly) while on therapy with CNS stimulants because of the potential for anorexia and weight loss and the temporary interruption of growth and development.</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05800" cy="5668963"/>
          </a:xfrm>
        </p:spPr>
        <p:txBody>
          <a:bodyPr rtlCol="0">
            <a:normAutofit fontScale="92500" lnSpcReduction="20000"/>
          </a:bodyPr>
          <a:lstStyle/>
          <a:p>
            <a:pPr fontAlgn="auto">
              <a:spcAft>
                <a:spcPts val="0"/>
              </a:spcAft>
              <a:buFont typeface="Arial" pitchFamily="34" charset="0"/>
              <a:buChar char="•"/>
              <a:defRPr/>
            </a:pPr>
            <a:r>
              <a:rPr lang="en-US" dirty="0" smtClean="0"/>
              <a:t>To prevent insomnia, administer last dose at least</a:t>
            </a:r>
          </a:p>
          <a:p>
            <a:pPr fontAlgn="auto">
              <a:spcAft>
                <a:spcPts val="0"/>
              </a:spcAft>
              <a:buFont typeface="Arial" pitchFamily="34" charset="0"/>
              <a:buNone/>
              <a:defRPr/>
            </a:pPr>
            <a:r>
              <a:rPr lang="en-US" dirty="0" smtClean="0"/>
              <a:t>	6 hours before bedtime. Administer sustained-release forms in the morning.</a:t>
            </a:r>
          </a:p>
          <a:p>
            <a:pPr fontAlgn="auto">
              <a:spcAft>
                <a:spcPts val="0"/>
              </a:spcAft>
              <a:buFont typeface="Arial" pitchFamily="34" charset="0"/>
              <a:buChar char="•"/>
              <a:defRPr/>
            </a:pPr>
            <a:r>
              <a:rPr lang="en-US" dirty="0" smtClean="0"/>
              <a:t>In children with behavior disorders, a drug “holiday” should be attempted periodically under the direction of the physician to determine effectiveness of the medication and need for continuation.</a:t>
            </a:r>
          </a:p>
          <a:p>
            <a:pPr fontAlgn="auto">
              <a:spcAft>
                <a:spcPts val="0"/>
              </a:spcAft>
              <a:buFont typeface="Arial" pitchFamily="34" charset="0"/>
              <a:buChar char="•"/>
              <a:defRPr/>
            </a:pPr>
            <a:r>
              <a:rPr lang="en-US" dirty="0" smtClean="0"/>
              <a:t>A careful personal and family history of heart disease, heart defects, or hypertension should be obtained before these medications are prescribed. Careful monitoring of cardiovascular function during administration must be ongoing.</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rtlCol="0">
            <a:normAutofit fontScale="92500" lnSpcReduction="20000"/>
          </a:bodyPr>
          <a:lstStyle/>
          <a:p>
            <a:pPr fontAlgn="auto">
              <a:spcAft>
                <a:spcPts val="0"/>
              </a:spcAft>
              <a:buFont typeface="Arial" pitchFamily="34" charset="0"/>
              <a:buChar char="•"/>
              <a:defRPr/>
            </a:pPr>
            <a:r>
              <a:rPr lang="en-US" dirty="0" smtClean="0"/>
              <a:t>Severe liver damage has been noted with </a:t>
            </a:r>
            <a:r>
              <a:rPr lang="en-US" dirty="0" err="1" smtClean="0"/>
              <a:t>atomoxetine</a:t>
            </a:r>
            <a:r>
              <a:rPr lang="en-US" dirty="0" smtClean="0"/>
              <a:t>.</a:t>
            </a:r>
          </a:p>
          <a:p>
            <a:pPr fontAlgn="auto">
              <a:spcAft>
                <a:spcPts val="0"/>
              </a:spcAft>
              <a:buFont typeface="Arial" pitchFamily="34" charset="0"/>
              <a:buNone/>
              <a:defRPr/>
            </a:pPr>
            <a:r>
              <a:rPr lang="en-US" dirty="0" smtClean="0"/>
              <a:t>	Any of the following side effects should be reported to the immediately: itching, dark urine, right upper quadrant pain, yellow skin or eyes, sore throat, fever, malaise.</a:t>
            </a:r>
          </a:p>
          <a:p>
            <a:pPr fontAlgn="auto">
              <a:spcAft>
                <a:spcPts val="0"/>
              </a:spcAft>
              <a:buFont typeface="Arial" pitchFamily="34" charset="0"/>
              <a:buChar char="•"/>
              <a:defRPr/>
            </a:pPr>
            <a:r>
              <a:rPr lang="en-US" dirty="0" smtClean="0"/>
              <a:t>New or worsened psychiatric symptoms have been noted with CNS stimulants and </a:t>
            </a:r>
            <a:r>
              <a:rPr lang="en-US" dirty="0" err="1" smtClean="0"/>
              <a:t>atomoxetine</a:t>
            </a:r>
            <a:r>
              <a:rPr lang="en-US" dirty="0" smtClean="0"/>
              <a:t>. It is important to monitor continuously for psychotic symptoms (e.g., hearing voices, paranoid behaviors, delusions) and for manic symptoms, including aggressive and hostile behaviors.</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05800" cy="5668963"/>
          </a:xfrm>
        </p:spPr>
        <p:txBody>
          <a:bodyPr rtlCol="0">
            <a:normAutofit fontScale="77500" lnSpcReduction="20000"/>
          </a:bodyPr>
          <a:lstStyle/>
          <a:p>
            <a:pPr fontAlgn="auto">
              <a:spcAft>
                <a:spcPts val="0"/>
              </a:spcAft>
              <a:buFont typeface="Arial" pitchFamily="34" charset="0"/>
              <a:buChar char="•"/>
              <a:defRPr/>
            </a:pPr>
            <a:r>
              <a:rPr lang="en-US" dirty="0" smtClean="0"/>
              <a:t>Any of the following side effects should be reported  immediately: shortness of breath, chest pain, jaw/left arm pain, fainting, seizures, sudden vision changes, weakness on one side of the body, slurred speech, confusion, itching, dark urine, right upper quadrant pain, yellow skin or eyes, sore throat, fever, malaise, increased hyperactivity, believing things that are not true, or hearing voices.</a:t>
            </a:r>
          </a:p>
          <a:p>
            <a:pPr fontAlgn="auto">
              <a:spcAft>
                <a:spcPts val="0"/>
              </a:spcAft>
              <a:buFont typeface="Arial" pitchFamily="34" charset="0"/>
              <a:buChar char="•"/>
              <a:defRPr/>
            </a:pPr>
            <a:r>
              <a:rPr lang="en-US" dirty="0" smtClean="0"/>
              <a:t>Inform parents that over-the-counter (OTC) medications should be avoided while the child is receiving stimulant medication. Some OTC medications, particularly cold and hay fever preparations, contain sympathomimetic agents that could compound the effects of the stimulant and create a drug interaction that may be toxic to the child.</a:t>
            </a:r>
          </a:p>
          <a:p>
            <a:pPr fontAlgn="auto">
              <a:spcAft>
                <a:spcPts val="0"/>
              </a:spcAft>
              <a:buFont typeface="Arial" pitchFamily="34" charset="0"/>
              <a:buChar char="•"/>
              <a:defRPr/>
            </a:pPr>
            <a:r>
              <a:rPr lang="en-US" dirty="0" smtClean="0"/>
              <a:t>Ensure that parents are aware that the drug should not be withdrawn abruptly. Withdrawal should be gradual and under the direction of the physician.</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smtClean="0"/>
              <a:t>Coping and Stress Management</a:t>
            </a:r>
          </a:p>
        </p:txBody>
      </p:sp>
      <p:sp>
        <p:nvSpPr>
          <p:cNvPr id="2051" name="Rectangle 3"/>
          <p:cNvSpPr>
            <a:spLocks noGrp="1" noChangeArrowheads="1"/>
          </p:cNvSpPr>
          <p:nvPr>
            <p:ph type="subTitle" idx="1"/>
          </p:nvPr>
        </p:nvSpPr>
        <p:spPr/>
        <p:txBody>
          <a:bodyPr rtlCol="0">
            <a:normAutofit/>
          </a:bodyPr>
          <a:lstStyle/>
          <a:p>
            <a:pPr eaLnBrk="1" fontAlgn="auto" hangingPunct="1">
              <a:spcAft>
                <a:spcPts val="0"/>
              </a:spcAft>
              <a:buFont typeface="Arial" pitchFamily="34" charset="0"/>
              <a:buNone/>
              <a:defRPr/>
            </a:pPr>
            <a:r>
              <a:rPr lang="en-US" dirty="0" err="1" smtClean="0"/>
              <a:t>DeKUT</a:t>
            </a:r>
            <a:endParaRPr lang="en-US" dirty="0" smtClean="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smtClean="0"/>
              <a:t>Introduction </a:t>
            </a:r>
          </a:p>
        </p:txBody>
      </p:sp>
      <p:sp>
        <p:nvSpPr>
          <p:cNvPr id="4099" name="Content Placeholder 2"/>
          <p:cNvSpPr>
            <a:spLocks noGrp="1"/>
          </p:cNvSpPr>
          <p:nvPr>
            <p:ph idx="1"/>
          </p:nvPr>
        </p:nvSpPr>
        <p:spPr/>
        <p:txBody>
          <a:bodyPr/>
          <a:lstStyle/>
          <a:p>
            <a:pPr eaLnBrk="1" hangingPunct="1"/>
            <a:r>
              <a:rPr lang="en-US" smtClean="0"/>
              <a:t>Stress is a subjective feeling in response to environmental events that are perceived as frustrating or threatening. </a:t>
            </a:r>
          </a:p>
          <a:p>
            <a:pPr eaLnBrk="1" hangingPunct="1"/>
            <a:r>
              <a:rPr lang="en-US" smtClean="0"/>
              <a:t>Individuals adapt to stressful situations by using coping strategies and defense mechanisms.</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Terms</a:t>
            </a:r>
          </a:p>
        </p:txBody>
      </p:sp>
      <p:sp>
        <p:nvSpPr>
          <p:cNvPr id="5123" name="Rectangle 3"/>
          <p:cNvSpPr>
            <a:spLocks noGrp="1" noChangeArrowheads="1"/>
          </p:cNvSpPr>
          <p:nvPr>
            <p:ph idx="1"/>
          </p:nvPr>
        </p:nvSpPr>
        <p:spPr>
          <a:xfrm>
            <a:off x="1219200" y="1219200"/>
            <a:ext cx="7726363" cy="4876800"/>
          </a:xfrm>
        </p:spPr>
        <p:txBody>
          <a:bodyPr/>
          <a:lstStyle/>
          <a:p>
            <a:pPr eaLnBrk="1" hangingPunct="1"/>
            <a:r>
              <a:rPr lang="en-US" smtClean="0"/>
              <a:t>Stress</a:t>
            </a:r>
          </a:p>
          <a:p>
            <a:pPr lvl="1" eaLnBrk="1" hangingPunct="1"/>
            <a:r>
              <a:rPr lang="en-US" smtClean="0"/>
              <a:t>Complex phenomenon that is inherent to life</a:t>
            </a:r>
          </a:p>
          <a:p>
            <a:pPr lvl="2" eaLnBrk="1" hangingPunct="1"/>
            <a:r>
              <a:rPr lang="en-US" smtClean="0"/>
              <a:t>Human response</a:t>
            </a:r>
          </a:p>
          <a:p>
            <a:pPr lvl="1" eaLnBrk="1" hangingPunct="1"/>
            <a:r>
              <a:rPr lang="en-US" smtClean="0"/>
              <a:t>Coping</a:t>
            </a:r>
          </a:p>
          <a:p>
            <a:pPr lvl="2" eaLnBrk="1" hangingPunct="1"/>
            <a:r>
              <a:rPr lang="en-US" smtClean="0"/>
              <a:t>Process used to manage events that he/she encounters, perceives, or interprets as stressful</a:t>
            </a:r>
          </a:p>
          <a:p>
            <a:pPr lvl="1" eaLnBrk="1" hangingPunct="1"/>
            <a:r>
              <a:rPr lang="en-US" smtClean="0"/>
              <a:t>Adaptation</a:t>
            </a:r>
          </a:p>
          <a:p>
            <a:pPr lvl="2" eaLnBrk="1" hangingPunct="1"/>
            <a:r>
              <a:rPr lang="en-US" smtClean="0"/>
              <a:t>A person’s capacity to survive and to flourish</a:t>
            </a:r>
          </a:p>
          <a:p>
            <a:pPr lvl="2" eaLnBrk="1" hangingPunct="1"/>
            <a:r>
              <a:rPr lang="en-US" smtClean="0"/>
              <a:t>Outcome of coping, adjustments, change</a:t>
            </a:r>
          </a:p>
          <a:p>
            <a:pPr lvl="1" eaLnBrk="1" hangingPunct="1"/>
            <a:r>
              <a:rPr lang="en-US" smtClean="0"/>
              <a:t>Homeostatis</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mtClean="0"/>
              <a:t>Characteristics of stress, coping and adaptation</a:t>
            </a:r>
          </a:p>
        </p:txBody>
      </p:sp>
      <p:sp>
        <p:nvSpPr>
          <p:cNvPr id="9219" name="Rectangle 3"/>
          <p:cNvSpPr>
            <a:spLocks noGrp="1" noChangeArrowheads="1"/>
          </p:cNvSpPr>
          <p:nvPr>
            <p:ph idx="1"/>
          </p:nvPr>
        </p:nvSpPr>
        <p:spPr/>
        <p:txBody>
          <a:bodyPr rtlCol="0">
            <a:normAutofit lnSpcReduction="10000"/>
          </a:bodyPr>
          <a:lstStyle/>
          <a:p>
            <a:pPr eaLnBrk="1" fontAlgn="auto" hangingPunct="1">
              <a:spcAft>
                <a:spcPts val="0"/>
              </a:spcAft>
              <a:buFont typeface="Arial" pitchFamily="34" charset="0"/>
              <a:buChar char="•"/>
              <a:defRPr/>
            </a:pPr>
            <a:r>
              <a:rPr lang="en-US" smtClean="0"/>
              <a:t>Stress as a stimulus</a:t>
            </a:r>
          </a:p>
          <a:p>
            <a:pPr lvl="1" eaLnBrk="1" fontAlgn="auto" hangingPunct="1">
              <a:spcAft>
                <a:spcPts val="0"/>
              </a:spcAft>
              <a:buFont typeface="Arial" pitchFamily="34" charset="0"/>
              <a:buChar char="–"/>
              <a:defRPr/>
            </a:pPr>
            <a:r>
              <a:rPr lang="en-US" smtClean="0"/>
              <a:t>Stressor</a:t>
            </a:r>
          </a:p>
          <a:p>
            <a:pPr lvl="2" eaLnBrk="1" fontAlgn="auto" hangingPunct="1">
              <a:spcAft>
                <a:spcPts val="0"/>
              </a:spcAft>
              <a:buFont typeface="Arial" pitchFamily="34" charset="0"/>
              <a:buChar char="•"/>
              <a:defRPr/>
            </a:pPr>
            <a:r>
              <a:rPr lang="en-US" smtClean="0"/>
              <a:t>Event that causes a response</a:t>
            </a:r>
          </a:p>
          <a:p>
            <a:pPr lvl="2" eaLnBrk="1" fontAlgn="auto" hangingPunct="1">
              <a:spcAft>
                <a:spcPts val="0"/>
              </a:spcAft>
              <a:buFont typeface="Arial" pitchFamily="34" charset="0"/>
              <a:buChar char="•"/>
              <a:defRPr/>
            </a:pPr>
            <a:r>
              <a:rPr lang="en-US" smtClean="0"/>
              <a:t>Triggers associated with work, relationships, disasters, trauma, injuries, illness, divorce, death, loss of job.</a:t>
            </a:r>
          </a:p>
          <a:p>
            <a:pPr lvl="1" eaLnBrk="1" fontAlgn="auto" hangingPunct="1">
              <a:spcAft>
                <a:spcPts val="0"/>
              </a:spcAft>
              <a:buFont typeface="Arial" pitchFamily="34" charset="0"/>
              <a:buChar char="–"/>
              <a:defRPr/>
            </a:pPr>
            <a:r>
              <a:rPr lang="en-US" smtClean="0"/>
              <a:t>Stress as a response</a:t>
            </a:r>
          </a:p>
          <a:p>
            <a:pPr lvl="2" eaLnBrk="1" fontAlgn="auto" hangingPunct="1">
              <a:spcAft>
                <a:spcPts val="0"/>
              </a:spcAft>
              <a:buFont typeface="Arial" pitchFamily="34" charset="0"/>
              <a:buChar char="•"/>
              <a:defRPr/>
            </a:pPr>
            <a:r>
              <a:rPr lang="en-US" smtClean="0"/>
              <a:t>Nonspecific response of the body to any demand upon it</a:t>
            </a:r>
          </a:p>
          <a:p>
            <a:pPr lvl="2" eaLnBrk="1" fontAlgn="auto" hangingPunct="1">
              <a:spcAft>
                <a:spcPts val="0"/>
              </a:spcAft>
              <a:buFont typeface="Arial" pitchFamily="34" charset="0"/>
              <a:buChar char="•"/>
              <a:defRPr/>
            </a:pPr>
            <a:r>
              <a:rPr lang="en-US" smtClean="0"/>
              <a:t>Change or adaptation</a:t>
            </a:r>
          </a:p>
          <a:p>
            <a:pPr lvl="1" eaLnBrk="1" fontAlgn="auto" hangingPunct="1">
              <a:spcAft>
                <a:spcPts val="0"/>
              </a:spcAft>
              <a:buFont typeface="Arial" pitchFamily="34" charset="0"/>
              <a:buChar char="–"/>
              <a:defRPr/>
            </a:pPr>
            <a:r>
              <a:rPr lang="en-US" smtClean="0"/>
              <a:t>Negative/positive stressors</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Physiologic response to stress</a:t>
            </a:r>
          </a:p>
        </p:txBody>
      </p:sp>
      <p:sp>
        <p:nvSpPr>
          <p:cNvPr id="10243" name="Rectangle 3"/>
          <p:cNvSpPr>
            <a:spLocks noGrp="1" noChangeArrowheads="1"/>
          </p:cNvSpPr>
          <p:nvPr>
            <p:ph idx="1"/>
          </p:nvPr>
        </p:nvSpPr>
        <p:spPr/>
        <p:txBody>
          <a:bodyPr rtlCol="0">
            <a:normAutofit lnSpcReduction="10000"/>
          </a:bodyPr>
          <a:lstStyle/>
          <a:p>
            <a:pPr eaLnBrk="1" fontAlgn="auto" hangingPunct="1">
              <a:spcAft>
                <a:spcPts val="0"/>
              </a:spcAft>
              <a:buFont typeface="Arial" pitchFamily="34" charset="0"/>
              <a:buChar char="•"/>
              <a:defRPr/>
            </a:pPr>
            <a:r>
              <a:rPr lang="en-US" smtClean="0"/>
              <a:t>Nervous system</a:t>
            </a:r>
          </a:p>
          <a:p>
            <a:pPr lvl="1" eaLnBrk="1" fontAlgn="auto" hangingPunct="1">
              <a:spcAft>
                <a:spcPts val="0"/>
              </a:spcAft>
              <a:buFont typeface="Arial" pitchFamily="34" charset="0"/>
              <a:buChar char="–"/>
              <a:defRPr/>
            </a:pPr>
            <a:r>
              <a:rPr lang="en-US" smtClean="0"/>
              <a:t>Central cortex ( thinking part of the brain) processes the stressful stimuli and relays this information via the limbic system to the hypothalamus=emotional response</a:t>
            </a:r>
          </a:p>
          <a:p>
            <a:pPr lvl="1" eaLnBrk="1" fontAlgn="auto" hangingPunct="1">
              <a:spcAft>
                <a:spcPts val="0"/>
              </a:spcAft>
              <a:buFont typeface="Arial" pitchFamily="34" charset="0"/>
              <a:buChar char="–"/>
              <a:defRPr/>
            </a:pPr>
            <a:r>
              <a:rPr lang="en-US" smtClean="0"/>
              <a:t>Activation of sympathetic nervous system</a:t>
            </a:r>
          </a:p>
          <a:p>
            <a:pPr lvl="2" eaLnBrk="1" fontAlgn="auto" hangingPunct="1">
              <a:spcAft>
                <a:spcPts val="0"/>
              </a:spcAft>
              <a:buFont typeface="Arial" pitchFamily="34" charset="0"/>
              <a:buChar char="•"/>
              <a:defRPr/>
            </a:pPr>
            <a:r>
              <a:rPr lang="en-US" smtClean="0"/>
              <a:t>Fight or flight response</a:t>
            </a:r>
          </a:p>
          <a:p>
            <a:pPr eaLnBrk="1" fontAlgn="auto" hangingPunct="1">
              <a:spcAft>
                <a:spcPts val="0"/>
              </a:spcAft>
              <a:buFont typeface="Arial" pitchFamily="34" charset="0"/>
              <a:buChar char="•"/>
              <a:defRPr/>
            </a:pPr>
            <a:r>
              <a:rPr lang="en-US" smtClean="0"/>
              <a:t>Endocrine/autonomic nervous system </a:t>
            </a:r>
          </a:p>
          <a:p>
            <a:pPr lvl="1" eaLnBrk="1" fontAlgn="auto" hangingPunct="1">
              <a:spcAft>
                <a:spcPts val="0"/>
              </a:spcAft>
              <a:buFont typeface="Arial" pitchFamily="34" charset="0"/>
              <a:buChar char="–"/>
              <a:defRPr/>
            </a:pPr>
            <a:r>
              <a:rPr lang="en-US" smtClean="0"/>
              <a:t>Activation of these systems may alter the immune function</a:t>
            </a:r>
          </a:p>
          <a:p>
            <a:pPr eaLnBrk="1" fontAlgn="auto" hangingPunct="1">
              <a:spcAft>
                <a:spcPts val="0"/>
              </a:spcAft>
              <a:buFont typeface="Arial" pitchFamily="34" charset="0"/>
              <a:buChar char="•"/>
              <a:defRPr/>
            </a:pPr>
            <a:endParaRPr lang="en-US" smtClean="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Psychologic response to stress</a:t>
            </a:r>
          </a:p>
        </p:txBody>
      </p:sp>
      <p:sp>
        <p:nvSpPr>
          <p:cNvPr id="12291" name="Rectangle 3"/>
          <p:cNvSpPr>
            <a:spLocks noGrp="1" noChangeArrowheads="1"/>
          </p:cNvSpPr>
          <p:nvPr>
            <p:ph idx="1"/>
          </p:nvPr>
        </p:nvSpPr>
        <p:spPr>
          <a:xfrm>
            <a:off x="381000" y="1219200"/>
            <a:ext cx="8458200" cy="5410200"/>
          </a:xfrm>
        </p:spPr>
        <p:txBody>
          <a:bodyPr rtlCol="0">
            <a:normAutofit fontScale="77500" lnSpcReduction="20000"/>
          </a:bodyPr>
          <a:lstStyle/>
          <a:p>
            <a:pPr eaLnBrk="1" fontAlgn="auto" hangingPunct="1">
              <a:spcAft>
                <a:spcPts val="0"/>
              </a:spcAft>
              <a:buFont typeface="Arial" pitchFamily="34" charset="0"/>
              <a:buNone/>
              <a:defRPr/>
            </a:pPr>
            <a:endParaRPr lang="en-US" dirty="0" smtClean="0"/>
          </a:p>
          <a:p>
            <a:pPr eaLnBrk="1" fontAlgn="auto" hangingPunct="1">
              <a:spcAft>
                <a:spcPts val="0"/>
              </a:spcAft>
              <a:buFont typeface="Arial" pitchFamily="34" charset="0"/>
              <a:buNone/>
              <a:defRPr/>
            </a:pPr>
            <a:r>
              <a:rPr lang="en-US" dirty="0" smtClean="0"/>
              <a:t>1. Anxiety</a:t>
            </a:r>
          </a:p>
          <a:p>
            <a:pPr eaLnBrk="1" fontAlgn="auto" hangingPunct="1">
              <a:spcAft>
                <a:spcPts val="0"/>
              </a:spcAft>
              <a:buFont typeface="Arial" pitchFamily="34" charset="0"/>
              <a:buNone/>
              <a:defRPr/>
            </a:pPr>
            <a:r>
              <a:rPr lang="en-US" dirty="0" smtClean="0"/>
              <a:t>	a. Definition: vague unpleasant feeling that produces physical sensations</a:t>
            </a:r>
          </a:p>
          <a:p>
            <a:pPr lvl="1" eaLnBrk="1" fontAlgn="auto" hangingPunct="1">
              <a:spcAft>
                <a:spcPts val="0"/>
              </a:spcAft>
              <a:buFont typeface="Arial" pitchFamily="34" charset="0"/>
              <a:buNone/>
              <a:defRPr/>
            </a:pPr>
            <a:r>
              <a:rPr lang="en-US" dirty="0" smtClean="0"/>
              <a:t>1) result: tension and increased heart rate</a:t>
            </a:r>
          </a:p>
          <a:p>
            <a:pPr lvl="1" eaLnBrk="1" fontAlgn="auto" hangingPunct="1">
              <a:spcAft>
                <a:spcPts val="0"/>
              </a:spcAft>
              <a:buFont typeface="Arial" pitchFamily="34" charset="0"/>
              <a:buNone/>
              <a:defRPr/>
            </a:pPr>
            <a:r>
              <a:rPr lang="en-US" dirty="0" smtClean="0"/>
              <a:t>2) often can not identify reason for emotional distress</a:t>
            </a:r>
          </a:p>
          <a:p>
            <a:pPr eaLnBrk="1" fontAlgn="auto" hangingPunct="1">
              <a:spcAft>
                <a:spcPts val="0"/>
              </a:spcAft>
              <a:buFont typeface="Arial" pitchFamily="34" charset="0"/>
              <a:buNone/>
              <a:defRPr/>
            </a:pPr>
            <a:r>
              <a:rPr lang="en-US" dirty="0" smtClean="0"/>
              <a:t>2. Fear</a:t>
            </a:r>
          </a:p>
          <a:p>
            <a:pPr lvl="1" eaLnBrk="1" fontAlgn="auto" hangingPunct="1">
              <a:spcAft>
                <a:spcPts val="0"/>
              </a:spcAft>
              <a:buFont typeface="Arial" pitchFamily="34" charset="0"/>
              <a:buNone/>
              <a:defRPr/>
            </a:pPr>
            <a:r>
              <a:rPr lang="en-US" dirty="0" smtClean="0"/>
              <a:t>a. result of specific, identifiable cause</a:t>
            </a:r>
          </a:p>
          <a:p>
            <a:pPr lvl="1" eaLnBrk="1" fontAlgn="auto" hangingPunct="1">
              <a:spcAft>
                <a:spcPts val="0"/>
              </a:spcAft>
              <a:buFont typeface="Arial" pitchFamily="34" charset="0"/>
              <a:buNone/>
              <a:defRPr/>
            </a:pPr>
            <a:r>
              <a:rPr lang="en-US" dirty="0" smtClean="0"/>
              <a:t>b. physiologic reactions similar to anxiety</a:t>
            </a:r>
          </a:p>
          <a:p>
            <a:pPr eaLnBrk="1" fontAlgn="auto" hangingPunct="1">
              <a:spcAft>
                <a:spcPts val="0"/>
              </a:spcAft>
              <a:buFont typeface="Arial" pitchFamily="34" charset="0"/>
              <a:buNone/>
              <a:defRPr/>
            </a:pPr>
            <a:r>
              <a:rPr lang="en-US" dirty="0" smtClean="0"/>
              <a:t>3. Anger</a:t>
            </a:r>
          </a:p>
          <a:p>
            <a:pPr lvl="1" eaLnBrk="1" fontAlgn="auto" hangingPunct="1">
              <a:spcAft>
                <a:spcPts val="0"/>
              </a:spcAft>
              <a:buFont typeface="Arial" pitchFamily="34" charset="0"/>
              <a:buNone/>
              <a:defRPr/>
            </a:pPr>
            <a:r>
              <a:rPr lang="en-US" dirty="0" smtClean="0"/>
              <a:t>a. inborn, instinctive</a:t>
            </a:r>
          </a:p>
          <a:p>
            <a:pPr lvl="1" eaLnBrk="1" fontAlgn="auto" hangingPunct="1">
              <a:spcAft>
                <a:spcPts val="0"/>
              </a:spcAft>
              <a:buFont typeface="Arial" pitchFamily="34" charset="0"/>
              <a:buNone/>
              <a:defRPr/>
            </a:pPr>
            <a:r>
              <a:rPr lang="en-US" dirty="0" smtClean="0"/>
              <a:t>b. emotional reaction to loss</a:t>
            </a:r>
          </a:p>
          <a:p>
            <a:pPr eaLnBrk="1" fontAlgn="auto" hangingPunct="1">
              <a:spcAft>
                <a:spcPts val="0"/>
              </a:spcAft>
              <a:buFont typeface="Arial" pitchFamily="34" charset="0"/>
              <a:buNone/>
              <a:defRPr/>
            </a:pPr>
            <a:r>
              <a:rPr lang="en-US" dirty="0" smtClean="0"/>
              <a:t>4. Aggression</a:t>
            </a:r>
          </a:p>
          <a:p>
            <a:pPr eaLnBrk="1" fontAlgn="auto" hangingPunct="1">
              <a:spcAft>
                <a:spcPts val="0"/>
              </a:spcAft>
              <a:buFont typeface="Arial" pitchFamily="34" charset="0"/>
              <a:buNone/>
              <a:defRPr/>
            </a:pPr>
            <a:r>
              <a:rPr lang="en-US" dirty="0" smtClean="0"/>
              <a:t>	a. combination of frustration, hate, or rage</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Cognitive manifestations</a:t>
            </a:r>
          </a:p>
        </p:txBody>
      </p:sp>
      <p:sp>
        <p:nvSpPr>
          <p:cNvPr id="9219" name="Rectangle 3"/>
          <p:cNvSpPr>
            <a:spLocks noGrp="1" noChangeArrowheads="1"/>
          </p:cNvSpPr>
          <p:nvPr>
            <p:ph idx="1"/>
          </p:nvPr>
        </p:nvSpPr>
        <p:spPr/>
        <p:txBody>
          <a:bodyPr/>
          <a:lstStyle/>
          <a:p>
            <a:pPr eaLnBrk="1" hangingPunct="1"/>
            <a:r>
              <a:rPr lang="en-US" smtClean="0"/>
              <a:t>Thinking response</a:t>
            </a:r>
          </a:p>
          <a:p>
            <a:pPr eaLnBrk="1" hangingPunct="1"/>
            <a:r>
              <a:rPr lang="en-US" smtClean="0"/>
              <a:t>Problem solving</a:t>
            </a:r>
          </a:p>
          <a:p>
            <a:pPr eaLnBrk="1" hangingPunct="1"/>
            <a:r>
              <a:rPr lang="en-US" smtClean="0"/>
              <a:t>Structuring</a:t>
            </a:r>
          </a:p>
          <a:p>
            <a:pPr eaLnBrk="1" hangingPunct="1"/>
            <a:r>
              <a:rPr lang="en-US" smtClean="0"/>
              <a:t>Self-control</a:t>
            </a:r>
          </a:p>
          <a:p>
            <a:pPr eaLnBrk="1" hangingPunct="1"/>
            <a:r>
              <a:rPr lang="en-US" smtClean="0"/>
              <a:t>Suppression</a:t>
            </a:r>
          </a:p>
          <a:p>
            <a:pPr eaLnBrk="1" hangingPunct="1"/>
            <a:r>
              <a:rPr lang="en-US" smtClean="0"/>
              <a:t>Fantasy or day dreaming</a:t>
            </a:r>
          </a:p>
          <a:p>
            <a:pPr eaLnBrk="1" hangingPunct="1"/>
            <a:r>
              <a:rPr lang="en-US" smtClean="0"/>
              <a:t>Prayer </a:t>
            </a:r>
          </a:p>
          <a:p>
            <a:pPr eaLnBrk="1" hangingPunct="1"/>
            <a:endParaRPr lang="en-US" smtClean="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Verbal and motor manifestation</a:t>
            </a:r>
          </a:p>
        </p:txBody>
      </p:sp>
      <p:sp>
        <p:nvSpPr>
          <p:cNvPr id="10243" name="Rectangle 3"/>
          <p:cNvSpPr>
            <a:spLocks noGrp="1" noChangeArrowheads="1"/>
          </p:cNvSpPr>
          <p:nvPr>
            <p:ph idx="1"/>
          </p:nvPr>
        </p:nvSpPr>
        <p:spPr/>
        <p:txBody>
          <a:bodyPr/>
          <a:lstStyle/>
          <a:p>
            <a:pPr eaLnBrk="1" hangingPunct="1"/>
            <a:r>
              <a:rPr lang="en-US" smtClean="0"/>
              <a:t>Crying</a:t>
            </a:r>
          </a:p>
          <a:p>
            <a:pPr eaLnBrk="1" hangingPunct="1"/>
            <a:r>
              <a:rPr lang="en-US" smtClean="0"/>
              <a:t>Verbal abuse</a:t>
            </a:r>
          </a:p>
          <a:p>
            <a:pPr eaLnBrk="1" hangingPunct="1"/>
            <a:r>
              <a:rPr lang="en-US" smtClean="0"/>
              <a:t>Screaming</a:t>
            </a:r>
          </a:p>
          <a:p>
            <a:pPr eaLnBrk="1" hangingPunct="1"/>
            <a:r>
              <a:rPr lang="en-US" smtClean="0"/>
              <a:t>Hitting, kicking</a:t>
            </a:r>
          </a:p>
          <a:p>
            <a:pPr eaLnBrk="1" hangingPunct="1"/>
            <a:r>
              <a:rPr lang="en-US" smtClean="0"/>
              <a:t>Holding, touching</a:t>
            </a:r>
          </a:p>
          <a:p>
            <a:pPr eaLnBrk="1" hangingPunct="1"/>
            <a:r>
              <a:rPr lang="en-US" smtClean="0"/>
              <a:t>Laughing </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mtClean="0"/>
              <a:t>Normal coping patterns</a:t>
            </a:r>
          </a:p>
        </p:txBody>
      </p:sp>
      <p:sp>
        <p:nvSpPr>
          <p:cNvPr id="11267" name="Rectangle 3"/>
          <p:cNvSpPr>
            <a:spLocks noGrp="1" noChangeArrowheads="1"/>
          </p:cNvSpPr>
          <p:nvPr>
            <p:ph idx="1"/>
          </p:nvPr>
        </p:nvSpPr>
        <p:spPr>
          <a:xfrm>
            <a:off x="1066800" y="1295400"/>
            <a:ext cx="7878763" cy="4800600"/>
          </a:xfrm>
        </p:spPr>
        <p:txBody>
          <a:bodyPr/>
          <a:lstStyle/>
          <a:p>
            <a:pPr eaLnBrk="1" hangingPunct="1"/>
            <a:r>
              <a:rPr lang="en-US" smtClean="0"/>
              <a:t>Manage change, demands, and challenges</a:t>
            </a:r>
          </a:p>
          <a:p>
            <a:pPr eaLnBrk="1" hangingPunct="1"/>
            <a:r>
              <a:rPr lang="en-US" smtClean="0"/>
              <a:t>Adaptations</a:t>
            </a:r>
          </a:p>
          <a:p>
            <a:pPr eaLnBrk="1" hangingPunct="1"/>
            <a:r>
              <a:rPr lang="en-US" smtClean="0"/>
              <a:t>Coping mechanisms</a:t>
            </a:r>
          </a:p>
          <a:p>
            <a:pPr lvl="1" eaLnBrk="1" hangingPunct="1"/>
            <a:r>
              <a:rPr lang="en-US" smtClean="0"/>
              <a:t>Activities or measures for managing stress</a:t>
            </a:r>
          </a:p>
          <a:p>
            <a:pPr lvl="2" eaLnBrk="1" hangingPunct="1"/>
            <a:r>
              <a:rPr lang="en-US" smtClean="0"/>
              <a:t>Long term coping</a:t>
            </a:r>
          </a:p>
          <a:p>
            <a:pPr lvl="2" eaLnBrk="1" hangingPunct="1"/>
            <a:r>
              <a:rPr lang="en-US" smtClean="0"/>
              <a:t>Short term coping</a:t>
            </a:r>
          </a:p>
          <a:p>
            <a:pPr eaLnBrk="1" hangingPunct="1"/>
            <a:r>
              <a:rPr lang="en-US" smtClean="0"/>
              <a:t>Defense mechanisms - unconscious and operate automatically </a:t>
            </a:r>
          </a:p>
          <a:p>
            <a:pPr eaLnBrk="1" hangingPunct="1">
              <a:buFont typeface="Arial" charset="0"/>
              <a:buNone/>
            </a:pPr>
            <a:endParaRPr lang="en-US" smtClean="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rtlCol="0">
            <a:normAutofit lnSpcReduction="10000"/>
          </a:bodyPr>
          <a:lstStyle/>
          <a:p>
            <a:pPr eaLnBrk="1" fontAlgn="auto" hangingPunct="1">
              <a:spcAft>
                <a:spcPts val="0"/>
              </a:spcAft>
              <a:buFont typeface="Arial" pitchFamily="34" charset="0"/>
              <a:buNone/>
              <a:defRPr/>
            </a:pPr>
            <a:r>
              <a:rPr lang="en-US" dirty="0" smtClean="0"/>
              <a:t>Stress and Coping</a:t>
            </a:r>
          </a:p>
          <a:p>
            <a:pPr eaLnBrk="1" fontAlgn="auto" hangingPunct="1">
              <a:spcAft>
                <a:spcPts val="0"/>
              </a:spcAft>
              <a:buFont typeface="Arial" pitchFamily="34" charset="0"/>
              <a:buNone/>
              <a:defRPr/>
            </a:pPr>
            <a:r>
              <a:rPr lang="en-US" dirty="0" smtClean="0"/>
              <a:t>A. stress – the subjective feeling of tension to perceived events</a:t>
            </a:r>
          </a:p>
          <a:p>
            <a:pPr eaLnBrk="1" fontAlgn="auto" hangingPunct="1">
              <a:spcAft>
                <a:spcPts val="0"/>
              </a:spcAft>
              <a:buFont typeface="Arial" pitchFamily="34" charset="0"/>
              <a:buNone/>
              <a:defRPr/>
            </a:pPr>
            <a:r>
              <a:rPr lang="en-US" dirty="0" smtClean="0"/>
              <a:t>B. coping – refers to how the mind reacts to stress</a:t>
            </a:r>
          </a:p>
          <a:p>
            <a:pPr eaLnBrk="1" fontAlgn="auto" hangingPunct="1">
              <a:spcAft>
                <a:spcPts val="0"/>
              </a:spcAft>
              <a:buFont typeface="Arial" pitchFamily="34" charset="0"/>
              <a:buNone/>
              <a:defRPr/>
            </a:pPr>
            <a:r>
              <a:rPr lang="en-US" dirty="0" smtClean="0"/>
              <a:t>C. coping mechanisms vary from person to person</a:t>
            </a:r>
          </a:p>
          <a:p>
            <a:pPr eaLnBrk="1" fontAlgn="auto" hangingPunct="1">
              <a:spcAft>
                <a:spcPts val="0"/>
              </a:spcAft>
              <a:buFont typeface="Arial" pitchFamily="34" charset="0"/>
              <a:buNone/>
              <a:defRPr/>
            </a:pPr>
            <a:r>
              <a:rPr lang="en-US" dirty="0" smtClean="0"/>
              <a:t>1. event that stresses one person, might not stress other</a:t>
            </a:r>
          </a:p>
          <a:p>
            <a:pPr eaLnBrk="1" fontAlgn="auto" hangingPunct="1">
              <a:spcAft>
                <a:spcPts val="0"/>
              </a:spcAft>
              <a:buFont typeface="Arial" pitchFamily="34" charset="0"/>
              <a:buNone/>
              <a:defRPr/>
            </a:pPr>
            <a:r>
              <a:rPr lang="en-US" dirty="0" smtClean="0"/>
              <a:t>2. conscious behavior usually based on success of previous coping experiences</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Defense mechanisms </a:t>
            </a:r>
            <a:br>
              <a:rPr lang="en-US" dirty="0" smtClean="0"/>
            </a:br>
            <a:endParaRPr lang="en-US" dirty="0" smtClean="0"/>
          </a:p>
        </p:txBody>
      </p:sp>
      <p:sp>
        <p:nvSpPr>
          <p:cNvPr id="3" name="Content Placeholder 2"/>
          <p:cNvSpPr>
            <a:spLocks noGrp="1"/>
          </p:cNvSpPr>
          <p:nvPr>
            <p:ph idx="1"/>
          </p:nvPr>
        </p:nvSpPr>
        <p:spPr>
          <a:xfrm>
            <a:off x="381000" y="990600"/>
            <a:ext cx="8458200" cy="5486400"/>
          </a:xfrm>
        </p:spPr>
        <p:txBody>
          <a:bodyPr rtlCol="0">
            <a:normAutofit fontScale="85000" lnSpcReduction="20000"/>
          </a:bodyPr>
          <a:lstStyle/>
          <a:p>
            <a:pPr eaLnBrk="1" fontAlgn="auto" hangingPunct="1">
              <a:spcAft>
                <a:spcPts val="0"/>
              </a:spcAft>
              <a:buFont typeface="Arial" pitchFamily="34" charset="0"/>
              <a:buNone/>
              <a:defRPr/>
            </a:pPr>
            <a:r>
              <a:rPr lang="en-US" dirty="0" smtClean="0"/>
              <a:t>1. </a:t>
            </a:r>
            <a:r>
              <a:rPr lang="en-US" b="1" dirty="0" smtClean="0"/>
              <a:t>Compensation </a:t>
            </a:r>
            <a:r>
              <a:rPr lang="en-US" dirty="0" smtClean="0"/>
              <a:t>– covering up weaknesses by emphasizing a more desirable trait or</a:t>
            </a:r>
            <a:r>
              <a:rPr lang="en-US" b="1" dirty="0" smtClean="0"/>
              <a:t> </a:t>
            </a:r>
            <a:r>
              <a:rPr lang="en-US" dirty="0" smtClean="0"/>
              <a:t>by overachievement in a more comfortable area</a:t>
            </a:r>
          </a:p>
          <a:p>
            <a:pPr eaLnBrk="1" fontAlgn="auto" hangingPunct="1">
              <a:spcAft>
                <a:spcPts val="0"/>
              </a:spcAft>
              <a:buFont typeface="Arial" pitchFamily="34" charset="0"/>
              <a:buNone/>
              <a:defRPr/>
            </a:pPr>
            <a:r>
              <a:rPr lang="en-US" dirty="0" smtClean="0"/>
              <a:t>a. example: high school student too small to play football becomes star tennis player</a:t>
            </a:r>
          </a:p>
          <a:p>
            <a:pPr eaLnBrk="1" fontAlgn="auto" hangingPunct="1">
              <a:spcAft>
                <a:spcPts val="0"/>
              </a:spcAft>
              <a:buFont typeface="Arial" pitchFamily="34" charset="0"/>
              <a:buNone/>
              <a:defRPr/>
            </a:pPr>
            <a:r>
              <a:rPr lang="en-US" dirty="0" smtClean="0"/>
              <a:t>b. purpose: allows person to overcome weakness and achieve success</a:t>
            </a:r>
          </a:p>
          <a:p>
            <a:pPr eaLnBrk="1" fontAlgn="auto" hangingPunct="1">
              <a:spcAft>
                <a:spcPts val="0"/>
              </a:spcAft>
              <a:buFont typeface="Arial" pitchFamily="34" charset="0"/>
              <a:buNone/>
              <a:defRPr/>
            </a:pPr>
            <a:r>
              <a:rPr lang="en-US" dirty="0" smtClean="0"/>
              <a:t>2. </a:t>
            </a:r>
            <a:r>
              <a:rPr lang="en-US" b="1" dirty="0" smtClean="0"/>
              <a:t>Denial – </a:t>
            </a:r>
            <a:r>
              <a:rPr lang="en-US" dirty="0" smtClean="0"/>
              <a:t>an attempt to ignore unacceptable realities by refusing to acknowledge them</a:t>
            </a:r>
          </a:p>
          <a:p>
            <a:pPr eaLnBrk="1" fontAlgn="auto" hangingPunct="1">
              <a:spcAft>
                <a:spcPts val="0"/>
              </a:spcAft>
              <a:buFont typeface="Arial" pitchFamily="34" charset="0"/>
              <a:buNone/>
              <a:defRPr/>
            </a:pPr>
            <a:r>
              <a:rPr lang="en-US" dirty="0" smtClean="0"/>
              <a:t>a. example: a mother, though told her daughter has terminal cancer, continues to plan for her daughter’s college entrance</a:t>
            </a:r>
          </a:p>
          <a:p>
            <a:pPr eaLnBrk="1" fontAlgn="auto" hangingPunct="1">
              <a:spcAft>
                <a:spcPts val="0"/>
              </a:spcAft>
              <a:buFont typeface="Arial" pitchFamily="34" charset="0"/>
              <a:buNone/>
              <a:defRPr/>
            </a:pPr>
            <a:r>
              <a:rPr lang="en-US" dirty="0" smtClean="0"/>
              <a:t>b. purpose: temporarily isolates person from full impact of a traumatic situation</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458200" cy="6172200"/>
          </a:xfrm>
        </p:spPr>
        <p:txBody>
          <a:bodyPr rtlCol="0">
            <a:normAutofit fontScale="85000" lnSpcReduction="10000"/>
          </a:bodyPr>
          <a:lstStyle/>
          <a:p>
            <a:pPr eaLnBrk="1" fontAlgn="auto" hangingPunct="1">
              <a:spcAft>
                <a:spcPts val="0"/>
              </a:spcAft>
              <a:buFont typeface="Arial" pitchFamily="34" charset="0"/>
              <a:buNone/>
              <a:defRPr/>
            </a:pPr>
            <a:r>
              <a:rPr lang="en-US" dirty="0" smtClean="0"/>
              <a:t>3. </a:t>
            </a:r>
            <a:r>
              <a:rPr lang="en-US" b="1" dirty="0" smtClean="0"/>
              <a:t>Displacement – </a:t>
            </a:r>
            <a:r>
              <a:rPr lang="en-US" dirty="0" smtClean="0"/>
              <a:t>transferring emotional reactions from one object or person to another object or person</a:t>
            </a:r>
          </a:p>
          <a:p>
            <a:pPr eaLnBrk="1" fontAlgn="auto" hangingPunct="1">
              <a:spcAft>
                <a:spcPts val="0"/>
              </a:spcAft>
              <a:buFont typeface="Arial" pitchFamily="34" charset="0"/>
              <a:buNone/>
              <a:defRPr/>
            </a:pPr>
            <a:r>
              <a:rPr lang="en-US" dirty="0" smtClean="0"/>
              <a:t>a. example: a boyfriend and girlfriend are arguing, and he gets so angry that he slams his fist into the wall</a:t>
            </a:r>
          </a:p>
          <a:p>
            <a:pPr eaLnBrk="1" fontAlgn="auto" hangingPunct="1">
              <a:spcAft>
                <a:spcPts val="0"/>
              </a:spcAft>
              <a:buFont typeface="Arial" pitchFamily="34" charset="0"/>
              <a:buNone/>
              <a:defRPr/>
            </a:pPr>
            <a:r>
              <a:rPr lang="en-US" dirty="0" smtClean="0"/>
              <a:t>b. purpose: allows feelings to be expressed through or to less meaningful objects or people</a:t>
            </a:r>
          </a:p>
          <a:p>
            <a:pPr eaLnBrk="1" fontAlgn="auto" hangingPunct="1">
              <a:spcAft>
                <a:spcPts val="0"/>
              </a:spcAft>
              <a:buFont typeface="Arial" pitchFamily="34" charset="0"/>
              <a:buNone/>
              <a:defRPr/>
            </a:pPr>
            <a:r>
              <a:rPr lang="en-US" dirty="0" smtClean="0"/>
              <a:t>4. </a:t>
            </a:r>
            <a:r>
              <a:rPr lang="en-US" b="1" dirty="0" smtClean="0"/>
              <a:t>Intellectualization– </a:t>
            </a:r>
            <a:r>
              <a:rPr lang="en-US" dirty="0" smtClean="0"/>
              <a:t>when an emotional response that would normally accompany a painful (or uncomfortable) incident is avoided by use of academic or intellectual explanations that remove personal feelings from the incident</a:t>
            </a:r>
          </a:p>
          <a:p>
            <a:pPr eaLnBrk="1" fontAlgn="auto" hangingPunct="1">
              <a:spcAft>
                <a:spcPts val="0"/>
              </a:spcAft>
              <a:buFont typeface="Arial" pitchFamily="34" charset="0"/>
              <a:buNone/>
              <a:defRPr/>
            </a:pPr>
            <a:r>
              <a:rPr lang="en-US" dirty="0" smtClean="0"/>
              <a:t>a. example: pain over best friend’s sudden death is reduced by saying, “He wouldn’t have wanted to live disabled.”</a:t>
            </a:r>
          </a:p>
          <a:p>
            <a:pPr eaLnBrk="1" fontAlgn="auto" hangingPunct="1">
              <a:spcAft>
                <a:spcPts val="0"/>
              </a:spcAft>
              <a:buFont typeface="Arial" pitchFamily="34" charset="0"/>
              <a:buNone/>
              <a:defRPr/>
            </a:pPr>
            <a:r>
              <a:rPr lang="en-US" dirty="0" smtClean="0"/>
              <a:t>b. purpose: protects person from emotional reality of loss</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rtlCol="0">
            <a:normAutofit fontScale="92500" lnSpcReduction="20000"/>
          </a:bodyPr>
          <a:lstStyle/>
          <a:p>
            <a:pPr eaLnBrk="1" fontAlgn="auto" hangingPunct="1">
              <a:spcAft>
                <a:spcPts val="0"/>
              </a:spcAft>
              <a:buFont typeface="Arial" pitchFamily="34" charset="0"/>
              <a:buNone/>
              <a:defRPr/>
            </a:pPr>
            <a:r>
              <a:rPr lang="en-US" dirty="0" smtClean="0"/>
              <a:t>5. </a:t>
            </a:r>
            <a:r>
              <a:rPr lang="en-US" b="1" dirty="0" smtClean="0"/>
              <a:t>minimization – </a:t>
            </a:r>
            <a:r>
              <a:rPr lang="en-US" dirty="0" smtClean="0"/>
              <a:t>not acknowledging the significance of one’s behavior</a:t>
            </a:r>
          </a:p>
          <a:p>
            <a:pPr eaLnBrk="1" fontAlgn="auto" hangingPunct="1">
              <a:spcAft>
                <a:spcPts val="0"/>
              </a:spcAft>
              <a:buFont typeface="Arial" pitchFamily="34" charset="0"/>
              <a:buNone/>
              <a:defRPr/>
            </a:pPr>
            <a:r>
              <a:rPr lang="en-US" dirty="0" smtClean="0"/>
              <a:t>a. example: a teenager says, “Don’t believe everything my kid brother tells you. I wasn’t so drunk I couldn’t drive.”</a:t>
            </a:r>
          </a:p>
          <a:p>
            <a:pPr eaLnBrk="1" fontAlgn="auto" hangingPunct="1">
              <a:spcAft>
                <a:spcPts val="0"/>
              </a:spcAft>
              <a:buFont typeface="Arial" pitchFamily="34" charset="0"/>
              <a:buNone/>
              <a:defRPr/>
            </a:pPr>
            <a:r>
              <a:rPr lang="en-US" dirty="0" smtClean="0"/>
              <a:t>b. purpose: allows a person to decrease and trivialize responsibility for behavior</a:t>
            </a:r>
          </a:p>
          <a:p>
            <a:pPr eaLnBrk="1" fontAlgn="auto" hangingPunct="1">
              <a:spcAft>
                <a:spcPts val="0"/>
              </a:spcAft>
              <a:buFont typeface="Arial" pitchFamily="34" charset="0"/>
              <a:buNone/>
              <a:defRPr/>
            </a:pPr>
            <a:r>
              <a:rPr lang="en-US" dirty="0" smtClean="0"/>
              <a:t>6. </a:t>
            </a:r>
            <a:r>
              <a:rPr lang="en-US" b="1" dirty="0" smtClean="0"/>
              <a:t>projection – </a:t>
            </a:r>
            <a:r>
              <a:rPr lang="en-US" dirty="0" smtClean="0"/>
              <a:t>projects shortcomings or feelings on to others</a:t>
            </a:r>
          </a:p>
          <a:p>
            <a:pPr eaLnBrk="1" fontAlgn="auto" hangingPunct="1">
              <a:spcAft>
                <a:spcPts val="0"/>
              </a:spcAft>
              <a:buFont typeface="Arial" pitchFamily="34" charset="0"/>
              <a:buNone/>
              <a:defRPr/>
            </a:pPr>
            <a:r>
              <a:rPr lang="en-US" dirty="0" smtClean="0"/>
              <a:t>a. example: a disgruntled college freshman when called to meet with her advisor believes that she’s called in because advisor doesn’t like her</a:t>
            </a:r>
          </a:p>
          <a:p>
            <a:pPr eaLnBrk="1" fontAlgn="auto" hangingPunct="1">
              <a:spcAft>
                <a:spcPts val="0"/>
              </a:spcAft>
              <a:buFont typeface="Arial" pitchFamily="34" charset="0"/>
              <a:buNone/>
              <a:defRPr/>
            </a:pPr>
            <a:r>
              <a:rPr lang="en-US" dirty="0" smtClean="0"/>
              <a:t>b. purpose: allows person to deny existence of shortcomings</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382000" cy="6096000"/>
          </a:xfrm>
        </p:spPr>
        <p:txBody>
          <a:bodyPr rtlCol="0">
            <a:normAutofit fontScale="85000" lnSpcReduction="10000"/>
          </a:bodyPr>
          <a:lstStyle/>
          <a:p>
            <a:pPr eaLnBrk="1" fontAlgn="auto" hangingPunct="1">
              <a:spcAft>
                <a:spcPts val="0"/>
              </a:spcAft>
              <a:buFont typeface="Arial" pitchFamily="34" charset="0"/>
              <a:buNone/>
              <a:defRPr/>
            </a:pPr>
            <a:r>
              <a:rPr lang="en-US" dirty="0" smtClean="0"/>
              <a:t>7. </a:t>
            </a:r>
            <a:r>
              <a:rPr lang="en-US" b="1" dirty="0" smtClean="0"/>
              <a:t>Rationalization – </a:t>
            </a:r>
            <a:r>
              <a:rPr lang="en-US" dirty="0" smtClean="0"/>
              <a:t>justification of certain behaviors by faulty logic and attribution of socially acceptable motives that did not in fact inspire the behavior</a:t>
            </a:r>
          </a:p>
          <a:p>
            <a:pPr eaLnBrk="1" fontAlgn="auto" hangingPunct="1">
              <a:spcAft>
                <a:spcPts val="0"/>
              </a:spcAft>
              <a:buFont typeface="Arial" pitchFamily="34" charset="0"/>
              <a:buNone/>
              <a:defRPr/>
            </a:pPr>
            <a:r>
              <a:rPr lang="en-US" dirty="0" smtClean="0"/>
              <a:t>a. example: a student cheats on an exam but blames the teacher for not making the material more understandable</a:t>
            </a:r>
          </a:p>
          <a:p>
            <a:pPr eaLnBrk="1" fontAlgn="auto" hangingPunct="1">
              <a:spcAft>
                <a:spcPts val="0"/>
              </a:spcAft>
              <a:buFont typeface="Arial" pitchFamily="34" charset="0"/>
              <a:buNone/>
              <a:defRPr/>
            </a:pPr>
            <a:r>
              <a:rPr lang="en-US" dirty="0" smtClean="0"/>
              <a:t>b. purpose: helps person cope with inability to acknowledge inappropriate behavior</a:t>
            </a:r>
          </a:p>
          <a:p>
            <a:pPr eaLnBrk="1" fontAlgn="auto" hangingPunct="1">
              <a:spcAft>
                <a:spcPts val="0"/>
              </a:spcAft>
              <a:buFont typeface="Arial" pitchFamily="34" charset="0"/>
              <a:buNone/>
              <a:defRPr/>
            </a:pPr>
            <a:r>
              <a:rPr lang="en-US" dirty="0" smtClean="0"/>
              <a:t>8. </a:t>
            </a:r>
            <a:r>
              <a:rPr lang="en-US" b="1" dirty="0" smtClean="0"/>
              <a:t>Reaction formation –</a:t>
            </a:r>
            <a:r>
              <a:rPr lang="en-US" dirty="0" smtClean="0"/>
              <a:t> individual acts exactly opposite to the way he/she feels</a:t>
            </a:r>
          </a:p>
          <a:p>
            <a:pPr eaLnBrk="1" fontAlgn="auto" hangingPunct="1">
              <a:spcAft>
                <a:spcPts val="0"/>
              </a:spcAft>
              <a:buFont typeface="Arial" pitchFamily="34" charset="0"/>
              <a:buNone/>
              <a:defRPr/>
            </a:pPr>
            <a:r>
              <a:rPr lang="en-US" dirty="0" smtClean="0"/>
              <a:t>a. example: teenager has bitterness towards girl who beat her out of cheerleader position, but acts very sweet and friendly when they see each other</a:t>
            </a:r>
          </a:p>
          <a:p>
            <a:pPr eaLnBrk="1" fontAlgn="auto" hangingPunct="1">
              <a:spcAft>
                <a:spcPts val="0"/>
              </a:spcAft>
              <a:buFont typeface="Arial" pitchFamily="34" charset="0"/>
              <a:buNone/>
              <a:defRPr/>
            </a:pPr>
            <a:r>
              <a:rPr lang="en-US" dirty="0" smtClean="0"/>
              <a:t>b. purpose: form of repression that allows feelings to be acted out in a more acceptable way</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458200" cy="6096000"/>
          </a:xfrm>
        </p:spPr>
        <p:txBody>
          <a:bodyPr rtlCol="0">
            <a:normAutofit fontScale="92500" lnSpcReduction="20000"/>
          </a:bodyPr>
          <a:lstStyle/>
          <a:p>
            <a:pPr eaLnBrk="1" fontAlgn="auto" hangingPunct="1">
              <a:spcAft>
                <a:spcPts val="0"/>
              </a:spcAft>
              <a:buFont typeface="Arial" pitchFamily="34" charset="0"/>
              <a:buNone/>
              <a:defRPr/>
            </a:pPr>
            <a:r>
              <a:rPr lang="en-US" dirty="0" smtClean="0"/>
              <a:t>9. </a:t>
            </a:r>
            <a:r>
              <a:rPr lang="en-US" b="1" dirty="0" smtClean="0"/>
              <a:t>Regression – </a:t>
            </a:r>
            <a:r>
              <a:rPr lang="en-US" dirty="0" smtClean="0"/>
              <a:t>resorting to an earlier stage of life that is generally less demanding and responsible</a:t>
            </a:r>
          </a:p>
          <a:p>
            <a:pPr eaLnBrk="1" fontAlgn="auto" hangingPunct="1">
              <a:spcAft>
                <a:spcPts val="0"/>
              </a:spcAft>
              <a:buFont typeface="Arial" pitchFamily="34" charset="0"/>
              <a:buNone/>
              <a:defRPr/>
            </a:pPr>
            <a:r>
              <a:rPr lang="en-US" dirty="0" smtClean="0"/>
              <a:t>a. example: a adult throws a temper tantrum when he can’t have his own way</a:t>
            </a:r>
          </a:p>
          <a:p>
            <a:pPr eaLnBrk="1" fontAlgn="auto" hangingPunct="1">
              <a:spcAft>
                <a:spcPts val="0"/>
              </a:spcAft>
              <a:buFont typeface="Arial" pitchFamily="34" charset="0"/>
              <a:buNone/>
              <a:defRPr/>
            </a:pPr>
            <a:r>
              <a:rPr lang="en-US" dirty="0" smtClean="0"/>
              <a:t>b. purpose: allows person to return to point in development when nurturing and dependency were acceptable</a:t>
            </a:r>
          </a:p>
          <a:p>
            <a:pPr eaLnBrk="1" fontAlgn="auto" hangingPunct="1">
              <a:spcAft>
                <a:spcPts val="0"/>
              </a:spcAft>
              <a:buFont typeface="Arial" pitchFamily="34" charset="0"/>
              <a:buNone/>
              <a:defRPr/>
            </a:pPr>
            <a:r>
              <a:rPr lang="en-US" dirty="0" smtClean="0"/>
              <a:t>10. </a:t>
            </a:r>
            <a:r>
              <a:rPr lang="en-US" b="1" dirty="0" smtClean="0"/>
              <a:t>R</a:t>
            </a:r>
            <a:r>
              <a:rPr lang="en-US" b="1" smtClean="0"/>
              <a:t>epression </a:t>
            </a:r>
            <a:r>
              <a:rPr lang="en-US" b="1" dirty="0" smtClean="0"/>
              <a:t>– </a:t>
            </a:r>
            <a:r>
              <a:rPr lang="en-US" dirty="0" smtClean="0"/>
              <a:t>an unconscious mechanism by which threatening thoughts, </a:t>
            </a:r>
            <a:r>
              <a:rPr lang="en-US" dirty="0" err="1" smtClean="0"/>
              <a:t>feelings,and</a:t>
            </a:r>
            <a:r>
              <a:rPr lang="en-US" dirty="0" smtClean="0"/>
              <a:t> desires are kept from becoming conscious</a:t>
            </a:r>
          </a:p>
          <a:p>
            <a:pPr eaLnBrk="1" fontAlgn="auto" hangingPunct="1">
              <a:spcAft>
                <a:spcPts val="0"/>
              </a:spcAft>
              <a:buFont typeface="Arial" pitchFamily="34" charset="0"/>
              <a:buNone/>
              <a:defRPr/>
            </a:pPr>
            <a:r>
              <a:rPr lang="en-US" dirty="0" smtClean="0"/>
              <a:t>a. example: child who was verbally abused by her alcoholic mother cannot remember certain events during her childhood</a:t>
            </a:r>
          </a:p>
          <a:p>
            <a:pPr eaLnBrk="1" fontAlgn="auto" hangingPunct="1">
              <a:spcAft>
                <a:spcPts val="0"/>
              </a:spcAft>
              <a:buFont typeface="Arial" pitchFamily="34" charset="0"/>
              <a:buNone/>
              <a:defRPr/>
            </a:pPr>
            <a:r>
              <a:rPr lang="en-US" dirty="0" smtClean="0"/>
              <a:t>b. purpose: protects person from traumatic experience until he/she has resources to cope</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smtClean="0"/>
              <a:t>Lifespan</a:t>
            </a:r>
          </a:p>
        </p:txBody>
      </p:sp>
      <p:sp>
        <p:nvSpPr>
          <p:cNvPr id="17411" name="Rectangle 3"/>
          <p:cNvSpPr>
            <a:spLocks noGrp="1" noChangeArrowheads="1"/>
          </p:cNvSpPr>
          <p:nvPr>
            <p:ph idx="1"/>
          </p:nvPr>
        </p:nvSpPr>
        <p:spPr>
          <a:xfrm>
            <a:off x="1066800" y="1371600"/>
            <a:ext cx="7878763" cy="4724400"/>
          </a:xfrm>
        </p:spPr>
        <p:txBody>
          <a:bodyPr rtlCol="0">
            <a:normAutofit lnSpcReduction="10000"/>
          </a:bodyPr>
          <a:lstStyle/>
          <a:p>
            <a:pPr eaLnBrk="1" fontAlgn="auto" hangingPunct="1">
              <a:spcAft>
                <a:spcPts val="0"/>
              </a:spcAft>
              <a:buFont typeface="Arial" pitchFamily="34" charset="0"/>
              <a:buChar char="•"/>
              <a:defRPr/>
            </a:pPr>
            <a:r>
              <a:rPr lang="en-US" smtClean="0"/>
              <a:t>Newborns/ infants</a:t>
            </a:r>
          </a:p>
          <a:p>
            <a:pPr lvl="1" eaLnBrk="1" fontAlgn="auto" hangingPunct="1">
              <a:spcAft>
                <a:spcPts val="0"/>
              </a:spcAft>
              <a:buFont typeface="Arial" pitchFamily="34" charset="0"/>
              <a:buChar char="–"/>
              <a:defRPr/>
            </a:pPr>
            <a:r>
              <a:rPr lang="en-US" smtClean="0"/>
              <a:t>Reflex responses and associated stressors</a:t>
            </a:r>
          </a:p>
          <a:p>
            <a:pPr lvl="2" eaLnBrk="1" fontAlgn="auto" hangingPunct="1">
              <a:spcAft>
                <a:spcPts val="0"/>
              </a:spcAft>
              <a:buFont typeface="Arial" pitchFamily="34" charset="0"/>
              <a:buChar char="•"/>
              <a:defRPr/>
            </a:pPr>
            <a:r>
              <a:rPr lang="en-US" smtClean="0"/>
              <a:t>Hungry infants will cry and the parents will response to stimuli and fed the infant</a:t>
            </a:r>
          </a:p>
          <a:p>
            <a:pPr lvl="1" eaLnBrk="1" fontAlgn="auto" hangingPunct="1">
              <a:spcAft>
                <a:spcPts val="0"/>
              </a:spcAft>
              <a:buFont typeface="Arial" pitchFamily="34" charset="0"/>
              <a:buChar char="–"/>
              <a:defRPr/>
            </a:pPr>
            <a:r>
              <a:rPr lang="en-US" smtClean="0"/>
              <a:t>Totally dependent on the caregivers</a:t>
            </a:r>
          </a:p>
          <a:p>
            <a:pPr eaLnBrk="1" fontAlgn="auto" hangingPunct="1">
              <a:spcAft>
                <a:spcPts val="0"/>
              </a:spcAft>
              <a:buFont typeface="Arial" pitchFamily="34" charset="0"/>
              <a:buChar char="•"/>
              <a:defRPr/>
            </a:pPr>
            <a:r>
              <a:rPr lang="en-US" smtClean="0"/>
              <a:t>Toddler and Preschooler</a:t>
            </a:r>
          </a:p>
          <a:p>
            <a:pPr lvl="1" eaLnBrk="1" fontAlgn="auto" hangingPunct="1">
              <a:spcAft>
                <a:spcPts val="0"/>
              </a:spcAft>
              <a:buFont typeface="Arial" pitchFamily="34" charset="0"/>
              <a:buChar char="–"/>
              <a:defRPr/>
            </a:pPr>
            <a:r>
              <a:rPr lang="en-US" smtClean="0"/>
              <a:t>Learning coping strategies for simple stressors</a:t>
            </a:r>
          </a:p>
          <a:p>
            <a:pPr lvl="2" eaLnBrk="1" fontAlgn="auto" hangingPunct="1">
              <a:spcAft>
                <a:spcPts val="0"/>
              </a:spcAft>
              <a:buFont typeface="Arial" pitchFamily="34" charset="0"/>
              <a:buChar char="•"/>
              <a:defRPr/>
            </a:pPr>
            <a:r>
              <a:rPr lang="en-US" smtClean="0"/>
              <a:t>Not getting exactly what they want</a:t>
            </a:r>
          </a:p>
          <a:p>
            <a:pPr lvl="1" eaLnBrk="1" fontAlgn="auto" hangingPunct="1">
              <a:spcAft>
                <a:spcPts val="0"/>
              </a:spcAft>
              <a:buFont typeface="Arial" pitchFamily="34" charset="0"/>
              <a:buChar char="–"/>
              <a:defRPr/>
            </a:pPr>
            <a:r>
              <a:rPr lang="en-US" smtClean="0"/>
              <a:t>Still dependent  on caregivers for safety and limits (boundaries) </a:t>
            </a:r>
          </a:p>
          <a:p>
            <a:pPr lvl="1" eaLnBrk="1" fontAlgn="auto" hangingPunct="1">
              <a:spcAft>
                <a:spcPts val="0"/>
              </a:spcAft>
              <a:buFont typeface="Arial" pitchFamily="34" charset="0"/>
              <a:buChar char="–"/>
              <a:defRPr/>
            </a:pPr>
            <a:endParaRPr lang="en-US" smtClean="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990600" y="0"/>
            <a:ext cx="7954963" cy="6096000"/>
          </a:xfrm>
        </p:spPr>
        <p:txBody>
          <a:bodyPr rtlCol="0">
            <a:normAutofit lnSpcReduction="10000"/>
          </a:bodyPr>
          <a:lstStyle/>
          <a:p>
            <a:pPr eaLnBrk="1" fontAlgn="auto" hangingPunct="1">
              <a:spcAft>
                <a:spcPts val="0"/>
              </a:spcAft>
              <a:buFont typeface="Arial" pitchFamily="34" charset="0"/>
              <a:buChar char="•"/>
              <a:defRPr/>
            </a:pPr>
            <a:r>
              <a:rPr lang="en-US" smtClean="0"/>
              <a:t>Child</a:t>
            </a:r>
          </a:p>
          <a:p>
            <a:pPr lvl="1" eaLnBrk="1" fontAlgn="auto" hangingPunct="1">
              <a:spcAft>
                <a:spcPts val="0"/>
              </a:spcAft>
              <a:buFont typeface="Arial" pitchFamily="34" charset="0"/>
              <a:buChar char="–"/>
              <a:defRPr/>
            </a:pPr>
            <a:r>
              <a:rPr lang="en-US" smtClean="0"/>
              <a:t>Experience stress outside the home</a:t>
            </a:r>
          </a:p>
          <a:p>
            <a:pPr lvl="2" eaLnBrk="1" fontAlgn="auto" hangingPunct="1">
              <a:spcAft>
                <a:spcPts val="0"/>
              </a:spcAft>
              <a:buFont typeface="Arial" pitchFamily="34" charset="0"/>
              <a:buChar char="•"/>
              <a:defRPr/>
            </a:pPr>
            <a:r>
              <a:rPr lang="en-US" smtClean="0"/>
              <a:t>Classroom, interaction with other children and adults</a:t>
            </a:r>
          </a:p>
          <a:p>
            <a:pPr lvl="1" eaLnBrk="1" fontAlgn="auto" hangingPunct="1">
              <a:spcAft>
                <a:spcPts val="0"/>
              </a:spcAft>
              <a:buFont typeface="Arial" pitchFamily="34" charset="0"/>
              <a:buChar char="–"/>
              <a:defRPr/>
            </a:pPr>
            <a:r>
              <a:rPr lang="en-US" smtClean="0"/>
              <a:t>Can identify stressors and reason with parents about how to cope.</a:t>
            </a:r>
          </a:p>
          <a:p>
            <a:pPr lvl="1" eaLnBrk="1" fontAlgn="auto" hangingPunct="1">
              <a:spcAft>
                <a:spcPts val="0"/>
              </a:spcAft>
              <a:buFont typeface="Arial" pitchFamily="34" charset="0"/>
              <a:buChar char="–"/>
              <a:defRPr/>
            </a:pPr>
            <a:r>
              <a:rPr lang="en-US" smtClean="0"/>
              <a:t>Draw from past experiences</a:t>
            </a:r>
          </a:p>
          <a:p>
            <a:pPr eaLnBrk="1" fontAlgn="auto" hangingPunct="1">
              <a:spcAft>
                <a:spcPts val="0"/>
              </a:spcAft>
              <a:buFont typeface="Arial" pitchFamily="34" charset="0"/>
              <a:buChar char="•"/>
              <a:defRPr/>
            </a:pPr>
            <a:r>
              <a:rPr lang="en-US" smtClean="0"/>
              <a:t>Adolescents</a:t>
            </a:r>
          </a:p>
          <a:p>
            <a:pPr lvl="1" eaLnBrk="1" fontAlgn="auto" hangingPunct="1">
              <a:spcAft>
                <a:spcPts val="0"/>
              </a:spcAft>
              <a:buFont typeface="Arial" pitchFamily="34" charset="0"/>
              <a:buChar char="–"/>
              <a:defRPr/>
            </a:pPr>
            <a:r>
              <a:rPr lang="en-US" smtClean="0"/>
              <a:t>Stressors </a:t>
            </a:r>
          </a:p>
          <a:p>
            <a:pPr eaLnBrk="1" fontAlgn="auto" hangingPunct="1">
              <a:spcAft>
                <a:spcPts val="0"/>
              </a:spcAft>
              <a:buFont typeface="Wingdings" pitchFamily="2" charset="2"/>
              <a:buNone/>
              <a:defRPr/>
            </a:pPr>
            <a:r>
              <a:rPr lang="en-US" smtClean="0"/>
              <a:t>		Achieving emotional independence 	from parents, developing sexual 	identity, learning values and social 	responsibility</a:t>
            </a:r>
          </a:p>
          <a:p>
            <a:pPr eaLnBrk="1" fontAlgn="auto" hangingPunct="1">
              <a:spcAft>
                <a:spcPts val="0"/>
              </a:spcAft>
              <a:buFont typeface="Wingdings" pitchFamily="2" charset="2"/>
              <a:buNone/>
              <a:defRPr/>
            </a:pPr>
            <a:r>
              <a:rPr lang="en-US" smtClean="0"/>
              <a:t>Develop new coping skills </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762000" y="0"/>
            <a:ext cx="8183563" cy="6096000"/>
          </a:xfrm>
        </p:spPr>
        <p:txBody>
          <a:bodyPr/>
          <a:lstStyle/>
          <a:p>
            <a:pPr eaLnBrk="1" hangingPunct="1"/>
            <a:r>
              <a:rPr lang="en-US" smtClean="0"/>
              <a:t>Adulthood</a:t>
            </a:r>
          </a:p>
          <a:p>
            <a:pPr lvl="1" eaLnBrk="1" hangingPunct="1"/>
            <a:r>
              <a:rPr lang="en-US" smtClean="0"/>
              <a:t>Daily stressors</a:t>
            </a:r>
          </a:p>
          <a:p>
            <a:pPr lvl="1" eaLnBrk="1" hangingPunct="1"/>
            <a:r>
              <a:rPr lang="en-US" smtClean="0"/>
              <a:t>Draw on coping skills developed though life and learn new ones</a:t>
            </a:r>
          </a:p>
          <a:p>
            <a:pPr lvl="1" eaLnBrk="1" hangingPunct="1"/>
            <a:r>
              <a:rPr lang="en-US" smtClean="0"/>
              <a:t>Previous exposure to stressful situations may help</a:t>
            </a:r>
          </a:p>
          <a:p>
            <a:pPr eaLnBrk="1" hangingPunct="1"/>
            <a:r>
              <a:rPr lang="en-US" smtClean="0"/>
              <a:t>Older adults</a:t>
            </a:r>
          </a:p>
          <a:p>
            <a:pPr lvl="1" eaLnBrk="1" hangingPunct="1"/>
            <a:r>
              <a:rPr lang="en-US" smtClean="0"/>
              <a:t>As a person ages, stress does not decrease.</a:t>
            </a:r>
          </a:p>
          <a:p>
            <a:pPr lvl="2" eaLnBrk="1" hangingPunct="1"/>
            <a:r>
              <a:rPr lang="en-US" smtClean="0"/>
              <a:t>Retirement, decline in physical energy, decrease in income, loss of family and friends, loss in functioning ability</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Factors affecting coping patterns</a:t>
            </a:r>
          </a:p>
        </p:txBody>
      </p:sp>
      <p:sp>
        <p:nvSpPr>
          <p:cNvPr id="21507" name="Rectangle 3"/>
          <p:cNvSpPr>
            <a:spLocks noGrp="1" noChangeArrowheads="1"/>
          </p:cNvSpPr>
          <p:nvPr>
            <p:ph idx="1"/>
          </p:nvPr>
        </p:nvSpPr>
        <p:spPr/>
        <p:txBody>
          <a:bodyPr/>
          <a:lstStyle/>
          <a:p>
            <a:pPr eaLnBrk="1" hangingPunct="1"/>
            <a:r>
              <a:rPr lang="en-US" smtClean="0"/>
              <a:t>Diet</a:t>
            </a:r>
          </a:p>
          <a:p>
            <a:pPr lvl="1" eaLnBrk="1" hangingPunct="1"/>
            <a:r>
              <a:rPr lang="en-US" smtClean="0"/>
              <a:t>Poorly nourished person unprepared to handle stress</a:t>
            </a:r>
          </a:p>
          <a:p>
            <a:pPr eaLnBrk="1" hangingPunct="1"/>
            <a:r>
              <a:rPr lang="en-US" smtClean="0"/>
              <a:t>Activity/exercise</a:t>
            </a:r>
          </a:p>
          <a:p>
            <a:pPr lvl="1" eaLnBrk="1" hangingPunct="1"/>
            <a:r>
              <a:rPr lang="en-US" smtClean="0"/>
              <a:t>Benefits of exercise on stress reduction</a:t>
            </a:r>
          </a:p>
          <a:p>
            <a:pPr eaLnBrk="1" hangingPunct="1"/>
            <a:r>
              <a:rPr lang="en-US" smtClean="0"/>
              <a:t>Sleep/rest</a:t>
            </a:r>
          </a:p>
          <a:p>
            <a:pPr eaLnBrk="1" hangingPunct="1"/>
            <a:r>
              <a:rPr lang="en-US" smtClean="0"/>
              <a:t>Safety/security</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Manifestations of altered coping</a:t>
            </a:r>
          </a:p>
        </p:txBody>
      </p:sp>
      <p:sp>
        <p:nvSpPr>
          <p:cNvPr id="22531" name="Rectangle 3"/>
          <p:cNvSpPr>
            <a:spLocks noGrp="1" noChangeArrowheads="1"/>
          </p:cNvSpPr>
          <p:nvPr>
            <p:ph idx="1"/>
          </p:nvPr>
        </p:nvSpPr>
        <p:spPr/>
        <p:txBody>
          <a:bodyPr/>
          <a:lstStyle/>
          <a:p>
            <a:pPr eaLnBrk="1" hangingPunct="1"/>
            <a:r>
              <a:rPr lang="en-US" smtClean="0"/>
              <a:t>Addictive behaviors</a:t>
            </a:r>
          </a:p>
          <a:p>
            <a:pPr eaLnBrk="1" hangingPunct="1"/>
            <a:r>
              <a:rPr lang="en-US" smtClean="0"/>
              <a:t>Physical illness</a:t>
            </a:r>
          </a:p>
          <a:p>
            <a:pPr lvl="1" eaLnBrk="1" hangingPunct="1"/>
            <a:r>
              <a:rPr lang="en-US" smtClean="0"/>
              <a:t>Overhead</a:t>
            </a:r>
          </a:p>
          <a:p>
            <a:pPr eaLnBrk="1" hangingPunct="1"/>
            <a:r>
              <a:rPr lang="en-US" smtClean="0"/>
              <a:t>Anxiety/ depression</a:t>
            </a:r>
          </a:p>
          <a:p>
            <a:pPr eaLnBrk="1" hangingPunct="1"/>
            <a:r>
              <a:rPr lang="en-US" smtClean="0"/>
              <a:t>Violent behavior</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Assessment</a:t>
            </a:r>
          </a:p>
        </p:txBody>
      </p:sp>
      <p:sp>
        <p:nvSpPr>
          <p:cNvPr id="22531" name="Rectangle 3"/>
          <p:cNvSpPr>
            <a:spLocks noGrp="1" noChangeArrowheads="1"/>
          </p:cNvSpPr>
          <p:nvPr>
            <p:ph idx="1"/>
          </p:nvPr>
        </p:nvSpPr>
        <p:spPr>
          <a:xfrm>
            <a:off x="990600" y="1447800"/>
            <a:ext cx="7954963" cy="4648200"/>
          </a:xfrm>
        </p:spPr>
        <p:txBody>
          <a:bodyPr rtlCol="0">
            <a:normAutofit lnSpcReduction="10000"/>
          </a:bodyPr>
          <a:lstStyle/>
          <a:p>
            <a:pPr eaLnBrk="1" fontAlgn="auto" hangingPunct="1">
              <a:spcAft>
                <a:spcPts val="0"/>
              </a:spcAft>
              <a:buFont typeface="Arial" pitchFamily="34" charset="0"/>
              <a:buChar char="•"/>
              <a:defRPr/>
            </a:pPr>
            <a:r>
              <a:rPr lang="en-US" smtClean="0"/>
              <a:t>Subjective</a:t>
            </a:r>
          </a:p>
          <a:p>
            <a:pPr lvl="1" eaLnBrk="1" fontAlgn="auto" hangingPunct="1">
              <a:spcAft>
                <a:spcPts val="0"/>
              </a:spcAft>
              <a:buFont typeface="Arial" pitchFamily="34" charset="0"/>
              <a:buChar char="–"/>
              <a:defRPr/>
            </a:pPr>
            <a:r>
              <a:rPr lang="en-US" smtClean="0"/>
              <a:t>Assess </a:t>
            </a:r>
          </a:p>
          <a:p>
            <a:pPr lvl="2" eaLnBrk="1" fontAlgn="auto" hangingPunct="1">
              <a:spcAft>
                <a:spcPts val="0"/>
              </a:spcAft>
              <a:buFont typeface="Arial" pitchFamily="34" charset="0"/>
              <a:buChar char="•"/>
              <a:defRPr/>
            </a:pPr>
            <a:r>
              <a:rPr lang="en-US" smtClean="0"/>
              <a:t>Physiologic stress</a:t>
            </a:r>
          </a:p>
          <a:p>
            <a:pPr lvl="2" eaLnBrk="1" fontAlgn="auto" hangingPunct="1">
              <a:spcAft>
                <a:spcPts val="0"/>
              </a:spcAft>
              <a:buFont typeface="Arial" pitchFamily="34" charset="0"/>
              <a:buChar char="•"/>
              <a:defRPr/>
            </a:pPr>
            <a:r>
              <a:rPr lang="en-US" smtClean="0"/>
              <a:t>Psychological stress</a:t>
            </a:r>
          </a:p>
          <a:p>
            <a:pPr lvl="2" eaLnBrk="1" fontAlgn="auto" hangingPunct="1">
              <a:spcAft>
                <a:spcPts val="0"/>
              </a:spcAft>
              <a:buFont typeface="Arial" pitchFamily="34" charset="0"/>
              <a:buChar char="•"/>
              <a:defRPr/>
            </a:pPr>
            <a:r>
              <a:rPr lang="en-US" smtClean="0"/>
              <a:t>Environmental stress</a:t>
            </a:r>
          </a:p>
          <a:p>
            <a:pPr lvl="2" eaLnBrk="1" fontAlgn="auto" hangingPunct="1">
              <a:spcAft>
                <a:spcPts val="0"/>
              </a:spcAft>
              <a:buFont typeface="Arial" pitchFamily="34" charset="0"/>
              <a:buChar char="•"/>
              <a:defRPr/>
            </a:pPr>
            <a:r>
              <a:rPr lang="en-US" smtClean="0"/>
              <a:t>Sociocultural stress</a:t>
            </a:r>
          </a:p>
          <a:p>
            <a:pPr lvl="2" eaLnBrk="1" fontAlgn="auto" hangingPunct="1">
              <a:spcAft>
                <a:spcPts val="0"/>
              </a:spcAft>
              <a:buFont typeface="Arial" pitchFamily="34" charset="0"/>
              <a:buChar char="•"/>
              <a:defRPr/>
            </a:pPr>
            <a:r>
              <a:rPr lang="en-US" smtClean="0"/>
              <a:t>Risk identification</a:t>
            </a:r>
          </a:p>
          <a:p>
            <a:pPr eaLnBrk="1" fontAlgn="auto" hangingPunct="1">
              <a:spcAft>
                <a:spcPts val="0"/>
              </a:spcAft>
              <a:buFont typeface="Arial" pitchFamily="34" charset="0"/>
              <a:buChar char="•"/>
              <a:defRPr/>
            </a:pPr>
            <a:r>
              <a:rPr lang="en-US" smtClean="0"/>
              <a:t>Objective</a:t>
            </a:r>
          </a:p>
          <a:p>
            <a:pPr lvl="1" eaLnBrk="1" fontAlgn="auto" hangingPunct="1">
              <a:spcAft>
                <a:spcPts val="0"/>
              </a:spcAft>
              <a:buFont typeface="Arial" pitchFamily="34" charset="0"/>
              <a:buChar char="–"/>
              <a:defRPr/>
            </a:pPr>
            <a:r>
              <a:rPr lang="en-US" smtClean="0"/>
              <a:t>Cardiovascular, respiratory, GI, MS, integumentary</a:t>
            </a:r>
          </a:p>
          <a:p>
            <a:pPr lvl="2" eaLnBrk="1" fontAlgn="auto" hangingPunct="1">
              <a:spcAft>
                <a:spcPts val="0"/>
              </a:spcAft>
              <a:buFont typeface="Arial" pitchFamily="34" charset="0"/>
              <a:buChar char="•"/>
              <a:defRPr/>
            </a:pPr>
            <a:endParaRPr lang="en-US" smtClean="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eaLnBrk="1" hangingPunct="1"/>
            <a:r>
              <a:rPr lang="en-US" dirty="0" smtClean="0"/>
              <a:t>Nursing diagnosis</a:t>
            </a:r>
            <a:br>
              <a:rPr lang="en-US" dirty="0" smtClean="0"/>
            </a:br>
            <a:endParaRPr lang="en-US" dirty="0" smtClean="0"/>
          </a:p>
        </p:txBody>
      </p:sp>
      <p:sp>
        <p:nvSpPr>
          <p:cNvPr id="24579" name="Rectangle 3"/>
          <p:cNvSpPr>
            <a:spLocks noGrp="1" noChangeArrowheads="1"/>
          </p:cNvSpPr>
          <p:nvPr>
            <p:ph idx="1"/>
          </p:nvPr>
        </p:nvSpPr>
        <p:spPr/>
        <p:txBody>
          <a:bodyPr/>
          <a:lstStyle/>
          <a:p>
            <a:pPr eaLnBrk="1" hangingPunct="1"/>
            <a:r>
              <a:rPr lang="en-US" dirty="0" smtClean="0"/>
              <a:t>Ineffective individual coping</a:t>
            </a:r>
          </a:p>
          <a:p>
            <a:pPr eaLnBrk="1" hangingPunct="1"/>
            <a:r>
              <a:rPr lang="en-US" dirty="0" smtClean="0"/>
              <a:t>Goal</a:t>
            </a:r>
          </a:p>
          <a:p>
            <a:pPr lvl="1" eaLnBrk="1" hangingPunct="1"/>
            <a:r>
              <a:rPr lang="en-US" dirty="0" smtClean="0"/>
              <a:t>The client will identify sources of stress in his/her life.</a:t>
            </a:r>
          </a:p>
          <a:p>
            <a:pPr lvl="1" eaLnBrk="1" hangingPunct="1"/>
            <a:r>
              <a:rPr lang="en-US" dirty="0" smtClean="0"/>
              <a:t>The client will list effective coping mechanisms for stressful situations.</a:t>
            </a:r>
          </a:p>
          <a:p>
            <a:pPr lvl="1" eaLnBrk="1" hangingPunct="1">
              <a:buFontTx/>
              <a:buNone/>
            </a:pPr>
            <a:endParaRPr lang="en-US" dirty="0" smtClean="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mtClean="0"/>
              <a:t>Interventions</a:t>
            </a:r>
          </a:p>
        </p:txBody>
      </p:sp>
      <p:sp>
        <p:nvSpPr>
          <p:cNvPr id="24579" name="Rectangle 3"/>
          <p:cNvSpPr>
            <a:spLocks noGrp="1" noChangeArrowheads="1"/>
          </p:cNvSpPr>
          <p:nvPr>
            <p:ph idx="1"/>
          </p:nvPr>
        </p:nvSpPr>
        <p:spPr>
          <a:xfrm>
            <a:off x="1066800" y="1295400"/>
            <a:ext cx="7878763" cy="4800600"/>
          </a:xfrm>
        </p:spPr>
        <p:txBody>
          <a:bodyPr rtlCol="0">
            <a:normAutofit lnSpcReduction="10000"/>
          </a:bodyPr>
          <a:lstStyle/>
          <a:p>
            <a:pPr eaLnBrk="1" fontAlgn="auto" hangingPunct="1">
              <a:spcAft>
                <a:spcPts val="0"/>
              </a:spcAft>
              <a:buFont typeface="Arial" pitchFamily="34" charset="0"/>
              <a:buChar char="•"/>
              <a:defRPr/>
            </a:pPr>
            <a:r>
              <a:rPr lang="en-US" smtClean="0"/>
              <a:t>Health promotion</a:t>
            </a:r>
          </a:p>
          <a:p>
            <a:pPr lvl="1" eaLnBrk="1" fontAlgn="auto" hangingPunct="1">
              <a:spcAft>
                <a:spcPts val="0"/>
              </a:spcAft>
              <a:buFont typeface="Arial" pitchFamily="34" charset="0"/>
              <a:buChar char="–"/>
              <a:defRPr/>
            </a:pPr>
            <a:r>
              <a:rPr lang="en-US" smtClean="0"/>
              <a:t>Reducing stress</a:t>
            </a:r>
          </a:p>
          <a:p>
            <a:pPr lvl="1" eaLnBrk="1" fontAlgn="auto" hangingPunct="1">
              <a:spcAft>
                <a:spcPts val="0"/>
              </a:spcAft>
              <a:buFont typeface="Arial" pitchFamily="34" charset="0"/>
              <a:buChar char="–"/>
              <a:defRPr/>
            </a:pPr>
            <a:r>
              <a:rPr lang="en-US" smtClean="0"/>
              <a:t>Addressing perfection</a:t>
            </a:r>
          </a:p>
          <a:p>
            <a:pPr lvl="1" eaLnBrk="1" fontAlgn="auto" hangingPunct="1">
              <a:spcAft>
                <a:spcPts val="0"/>
              </a:spcAft>
              <a:buFont typeface="Arial" pitchFamily="34" charset="0"/>
              <a:buChar char="–"/>
              <a:defRPr/>
            </a:pPr>
            <a:r>
              <a:rPr lang="en-US" smtClean="0"/>
              <a:t>Supportive internal messages</a:t>
            </a:r>
          </a:p>
          <a:p>
            <a:pPr lvl="1" eaLnBrk="1" fontAlgn="auto" hangingPunct="1">
              <a:spcAft>
                <a:spcPts val="0"/>
              </a:spcAft>
              <a:buFont typeface="Arial" pitchFamily="34" charset="0"/>
              <a:buChar char="–"/>
              <a:defRPr/>
            </a:pPr>
            <a:r>
              <a:rPr lang="en-US" smtClean="0"/>
              <a:t>Assertiveness </a:t>
            </a:r>
          </a:p>
          <a:p>
            <a:pPr lvl="2" eaLnBrk="1" fontAlgn="auto" hangingPunct="1">
              <a:spcAft>
                <a:spcPts val="0"/>
              </a:spcAft>
              <a:buFont typeface="Arial" pitchFamily="34" charset="0"/>
              <a:buChar char="•"/>
              <a:defRPr/>
            </a:pPr>
            <a:r>
              <a:rPr lang="en-US" smtClean="0"/>
              <a:t>Act in their best interest</a:t>
            </a:r>
          </a:p>
          <a:p>
            <a:pPr lvl="1" eaLnBrk="1" fontAlgn="auto" hangingPunct="1">
              <a:spcAft>
                <a:spcPts val="0"/>
              </a:spcAft>
              <a:buFont typeface="Arial" pitchFamily="34" charset="0"/>
              <a:buChar char="–"/>
              <a:defRPr/>
            </a:pPr>
            <a:r>
              <a:rPr lang="en-US" smtClean="0"/>
              <a:t>Lifestyle change</a:t>
            </a:r>
          </a:p>
          <a:p>
            <a:pPr lvl="1" eaLnBrk="1" fontAlgn="auto" hangingPunct="1">
              <a:spcAft>
                <a:spcPts val="0"/>
              </a:spcAft>
              <a:buFont typeface="Arial" pitchFamily="34" charset="0"/>
              <a:buChar char="–"/>
              <a:defRPr/>
            </a:pPr>
            <a:r>
              <a:rPr lang="en-US" smtClean="0"/>
              <a:t>Exercise</a:t>
            </a:r>
          </a:p>
          <a:p>
            <a:pPr lvl="1" eaLnBrk="1" fontAlgn="auto" hangingPunct="1">
              <a:spcAft>
                <a:spcPts val="0"/>
              </a:spcAft>
              <a:buFont typeface="Arial" pitchFamily="34" charset="0"/>
              <a:buChar char="–"/>
              <a:defRPr/>
            </a:pPr>
            <a:r>
              <a:rPr lang="en-US" smtClean="0"/>
              <a:t>Relaxation techniques</a:t>
            </a:r>
          </a:p>
          <a:p>
            <a:pPr lvl="1" eaLnBrk="1" fontAlgn="auto" hangingPunct="1">
              <a:spcAft>
                <a:spcPts val="0"/>
              </a:spcAft>
              <a:buFont typeface="Arial" pitchFamily="34" charset="0"/>
              <a:buChar char="–"/>
              <a:defRPr/>
            </a:pPr>
            <a:r>
              <a:rPr lang="en-US" smtClean="0"/>
              <a:t>Modifying the environment </a:t>
            </a:r>
          </a:p>
          <a:p>
            <a:pPr lvl="1" eaLnBrk="1" fontAlgn="auto" hangingPunct="1">
              <a:spcAft>
                <a:spcPts val="0"/>
              </a:spcAft>
              <a:buFont typeface="Arial" pitchFamily="34" charset="0"/>
              <a:buChar char="–"/>
              <a:defRPr/>
            </a:pPr>
            <a:endParaRPr lang="en-US" smtClean="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mtClean="0"/>
              <a:t>Crisis</a:t>
            </a:r>
          </a:p>
        </p:txBody>
      </p:sp>
      <p:sp>
        <p:nvSpPr>
          <p:cNvPr id="26627" name="Rectangle 3"/>
          <p:cNvSpPr>
            <a:spLocks noGrp="1" noChangeArrowheads="1"/>
          </p:cNvSpPr>
          <p:nvPr>
            <p:ph idx="1"/>
          </p:nvPr>
        </p:nvSpPr>
        <p:spPr>
          <a:xfrm>
            <a:off x="990600" y="1447800"/>
            <a:ext cx="7954963" cy="4648200"/>
          </a:xfrm>
        </p:spPr>
        <p:txBody>
          <a:bodyPr/>
          <a:lstStyle/>
          <a:p>
            <a:pPr eaLnBrk="1" hangingPunct="1"/>
            <a:r>
              <a:rPr lang="en-US" dirty="0" smtClean="0"/>
              <a:t>A state of psychological emergency rendering one’s usually effective problem solving skills useless or greatly diminished.</a:t>
            </a:r>
          </a:p>
          <a:p>
            <a:pPr eaLnBrk="1" hangingPunct="1"/>
            <a:r>
              <a:rPr lang="en-US" dirty="0" smtClean="0"/>
              <a:t>Crisis interventions</a:t>
            </a:r>
          </a:p>
          <a:p>
            <a:pPr lvl="1" eaLnBrk="1" hangingPunct="1"/>
            <a:r>
              <a:rPr lang="en-US" dirty="0" smtClean="0"/>
              <a:t>Systematic application of problem-solving techniques, designed to help the client in crisis move through the crisis process swiftly and painlessly as possible and achieving at least the same level prior to crisis</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Suicide </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Ø"/>
            </a:pPr>
            <a:r>
              <a:rPr lang="en-US" dirty="0" smtClean="0"/>
              <a:t>Its an act of taking ones own life voluntarily or intentionally</a:t>
            </a:r>
          </a:p>
          <a:p>
            <a:pPr>
              <a:buFont typeface="Wingdings" pitchFamily="2" charset="2"/>
              <a:buChar char="Ø"/>
            </a:pPr>
            <a:r>
              <a:rPr lang="en-US" dirty="0" smtClean="0"/>
              <a:t>It’s the commonest cause of death among psychiatric patients </a:t>
            </a:r>
          </a:p>
          <a:p>
            <a:pPr>
              <a:buFont typeface="Wingdings" pitchFamily="2" charset="2"/>
              <a:buChar char="Ø"/>
            </a:pPr>
            <a:r>
              <a:rPr lang="en-US" dirty="0" smtClean="0"/>
              <a:t>Over 90% of people who die by suicide have clinical depression or another diagnosable mental disorder. Many times, people who die by suicide have a substance abuse  problem. Often they have that problem in combination with other mental disorders</a:t>
            </a:r>
          </a:p>
          <a:p>
            <a:pPr>
              <a:buFont typeface="Wingdings" pitchFamily="2" charset="2"/>
              <a:buChar char="Ø"/>
            </a:pP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Risk Factors For Suicide </a:t>
            </a:r>
            <a:endParaRPr lang="en-US" dirty="0"/>
          </a:p>
        </p:txBody>
      </p:sp>
      <p:sp>
        <p:nvSpPr>
          <p:cNvPr id="3" name="Content Placeholder 2"/>
          <p:cNvSpPr>
            <a:spLocks noGrp="1"/>
          </p:cNvSpPr>
          <p:nvPr>
            <p:ph idx="1"/>
          </p:nvPr>
        </p:nvSpPr>
        <p:spPr/>
        <p:txBody>
          <a:bodyPr>
            <a:normAutofit/>
          </a:bodyPr>
          <a:lstStyle/>
          <a:p>
            <a:r>
              <a:rPr lang="en-US" dirty="0" smtClean="0"/>
              <a:t>Adverse or traumatic life events in combination with other risk factors, such as clinical depression, may lead to suicide. But suicide and suicidal behavior are never normal responses to stress</a:t>
            </a:r>
          </a:p>
          <a:p>
            <a:r>
              <a:rPr lang="en-US" dirty="0" smtClean="0"/>
              <a:t>One or more prior suicide attempts</a:t>
            </a:r>
          </a:p>
          <a:p>
            <a:r>
              <a:rPr lang="en-US" dirty="0" smtClean="0"/>
              <a:t>Family history of mental disorder or substance abuse</a:t>
            </a:r>
          </a:p>
          <a:p>
            <a:pPr>
              <a:buNone/>
            </a:pP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Physical or sexual abuse</a:t>
            </a:r>
          </a:p>
          <a:p>
            <a:r>
              <a:rPr lang="en-US" dirty="0" smtClean="0"/>
              <a:t>Keeping firearms in the home</a:t>
            </a:r>
          </a:p>
          <a:p>
            <a:r>
              <a:rPr lang="en-US" dirty="0" smtClean="0"/>
              <a:t>Chronic physical illness, including chronic pain</a:t>
            </a:r>
          </a:p>
          <a:p>
            <a:r>
              <a:rPr lang="en-US" dirty="0" smtClean="0"/>
              <a:t>Incarceration</a:t>
            </a:r>
          </a:p>
          <a:p>
            <a:r>
              <a:rPr lang="en-US" dirty="0" smtClean="0"/>
              <a:t>Exposure to the suicidal behavior of others</a:t>
            </a:r>
          </a:p>
          <a:p>
            <a:r>
              <a:rPr lang="en-US" dirty="0" smtClean="0"/>
              <a:t>Family history of suicide</a:t>
            </a:r>
          </a:p>
          <a:p>
            <a:r>
              <a:rPr lang="en-US" dirty="0" smtClean="0"/>
              <a:t>Family violence</a:t>
            </a:r>
          </a:p>
          <a:p>
            <a:pPr>
              <a:buNone/>
            </a:pPr>
            <a:endParaRPr lang="en-US" dirty="0" smtClean="0"/>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Warning signs of suicide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Always talking or thinking about death</a:t>
            </a:r>
          </a:p>
          <a:p>
            <a:r>
              <a:rPr lang="en-US" dirty="0" smtClean="0"/>
              <a:t>Clinical depression -- deep sadness, loss of interest, trouble sleeping and eating -- that gets worse</a:t>
            </a:r>
          </a:p>
          <a:p>
            <a:r>
              <a:rPr lang="en-US" dirty="0" smtClean="0"/>
              <a:t>Having a "death wish," tempting fate by taking risks that could lead to death, such as driving fast or running red lights</a:t>
            </a:r>
          </a:p>
          <a:p>
            <a:r>
              <a:rPr lang="en-US" dirty="0" smtClean="0"/>
              <a:t>Losing interest in things one used to care about</a:t>
            </a:r>
          </a:p>
          <a:p>
            <a:r>
              <a:rPr lang="en-US" dirty="0" smtClean="0"/>
              <a:t>Making comments about being hopeless, helpless or worthless</a:t>
            </a:r>
          </a:p>
          <a:p>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Putting affairs in order, tying up loose ends, changing a will</a:t>
            </a:r>
          </a:p>
          <a:p>
            <a:r>
              <a:rPr lang="en-US" dirty="0" smtClean="0"/>
              <a:t>Saying things like "it would be better if I wasn't here" or "I want out"</a:t>
            </a:r>
          </a:p>
          <a:p>
            <a:r>
              <a:rPr lang="en-US" dirty="0" smtClean="0"/>
              <a:t>Sudden, unexpected switch from being very sad to being very calm or appearing to be happy</a:t>
            </a:r>
          </a:p>
          <a:p>
            <a:r>
              <a:rPr lang="en-US" dirty="0" smtClean="0"/>
              <a:t>Talking about suicide or killing one's self</a:t>
            </a:r>
          </a:p>
          <a:p>
            <a:r>
              <a:rPr lang="en-US" dirty="0" smtClean="0"/>
              <a:t>Visiting or calling people to say goodbye</a:t>
            </a:r>
          </a:p>
          <a:p>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PERSONALITY DISORDERS</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dirty="0" smtClean="0"/>
              <a:t>Are characterized by chronic patterns of inner experiences and behaviors that are not in accordance with the community standards</a:t>
            </a:r>
          </a:p>
          <a:p>
            <a:pPr>
              <a:buFont typeface="Wingdings" pitchFamily="2" charset="2"/>
              <a:buChar char="Ø"/>
            </a:pPr>
            <a:r>
              <a:rPr lang="en-US" dirty="0" smtClean="0"/>
              <a:t>The person has no insight of the problem</a:t>
            </a:r>
          </a:p>
          <a:p>
            <a:pPr>
              <a:buNone/>
            </a:pPr>
            <a:r>
              <a:rPr lang="en-US" dirty="0" smtClean="0">
                <a:solidFill>
                  <a:srgbClr val="FF0000"/>
                </a:solidFill>
              </a:rPr>
              <a:t>TYPES</a:t>
            </a:r>
          </a:p>
          <a:p>
            <a:pPr>
              <a:buNone/>
            </a:pPr>
            <a:r>
              <a:rPr lang="en-US" dirty="0" smtClean="0">
                <a:solidFill>
                  <a:srgbClr val="FF0000"/>
                </a:solidFill>
              </a:rPr>
              <a:t>1.CLUSTER A:ODD ECCENTRIC/PSYCHOTICS</a:t>
            </a:r>
          </a:p>
          <a:p>
            <a:pPr>
              <a:buFont typeface="Wingdings" pitchFamily="2" charset="2"/>
              <a:buChar char="Ø"/>
            </a:pPr>
            <a:r>
              <a:rPr lang="en-US" dirty="0" smtClean="0"/>
              <a:t>Are uncomfortable with interpersonal situations, emotionally distant, difficult to engage and are socially withdrawn</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US" dirty="0" smtClean="0">
                <a:solidFill>
                  <a:srgbClr val="FF0000"/>
                </a:solidFill>
              </a:rPr>
              <a:t>Paranoid personality disorder</a:t>
            </a:r>
          </a:p>
          <a:p>
            <a:pPr>
              <a:buFont typeface="Wingdings" pitchFamily="2" charset="2"/>
              <a:buChar char="Ø"/>
            </a:pPr>
            <a:r>
              <a:rPr lang="en-US" dirty="0" smtClean="0"/>
              <a:t>They have heightened sense of fear and vulnerability</a:t>
            </a:r>
          </a:p>
          <a:p>
            <a:pPr>
              <a:buFont typeface="Wingdings" pitchFamily="2" charset="2"/>
              <a:buChar char="Ø"/>
            </a:pPr>
            <a:r>
              <a:rPr lang="en-US" dirty="0" smtClean="0"/>
              <a:t>They may harm themselves</a:t>
            </a:r>
          </a:p>
          <a:p>
            <a:pPr>
              <a:buFont typeface="Wingdings" pitchFamily="2" charset="2"/>
              <a:buChar char="Ø"/>
            </a:pPr>
            <a:r>
              <a:rPr lang="en-US" dirty="0" smtClean="0"/>
              <a:t>They argue very much</a:t>
            </a:r>
          </a:p>
          <a:p>
            <a:pPr>
              <a:buFont typeface="Wingdings" pitchFamily="2" charset="2"/>
              <a:buChar char="Ø"/>
            </a:pPr>
            <a:r>
              <a:rPr lang="en-US" dirty="0" smtClean="0"/>
              <a:t>They like conflicts</a:t>
            </a:r>
          </a:p>
          <a:p>
            <a:pPr>
              <a:buFont typeface="Wingdings" pitchFamily="2" charset="2"/>
              <a:buChar char="Ø"/>
            </a:pPr>
            <a:r>
              <a:rPr lang="en-US" dirty="0" smtClean="0"/>
              <a:t>It begins in early adulthood</a:t>
            </a:r>
          </a:p>
          <a:p>
            <a:pPr>
              <a:buFont typeface="Wingdings" pitchFamily="2" charset="2"/>
              <a:buChar char="Ø"/>
            </a:pPr>
            <a:r>
              <a:rPr lang="en-US" dirty="0" smtClean="0"/>
              <a:t>They are ever suspicious</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US" dirty="0" smtClean="0"/>
              <a:t>Criteria </a:t>
            </a:r>
          </a:p>
          <a:p>
            <a:pPr>
              <a:buNone/>
            </a:pPr>
            <a:r>
              <a:rPr lang="en-US" dirty="0" smtClean="0"/>
              <a:t>Its called SUSPECT</a:t>
            </a:r>
          </a:p>
          <a:p>
            <a:pPr>
              <a:buNone/>
            </a:pPr>
            <a:r>
              <a:rPr lang="en-US" dirty="0" smtClean="0"/>
              <a:t>S-spouse fidelity is suspected</a:t>
            </a:r>
          </a:p>
          <a:p>
            <a:pPr>
              <a:buNone/>
            </a:pPr>
            <a:r>
              <a:rPr lang="en-US" dirty="0" smtClean="0"/>
              <a:t>U-</a:t>
            </a:r>
            <a:r>
              <a:rPr lang="en-US" dirty="0" err="1" smtClean="0"/>
              <a:t>unforgiving.They</a:t>
            </a:r>
            <a:r>
              <a:rPr lang="en-US" dirty="0" smtClean="0"/>
              <a:t> keep grudges</a:t>
            </a:r>
          </a:p>
          <a:p>
            <a:pPr>
              <a:buNone/>
            </a:pPr>
            <a:r>
              <a:rPr lang="en-US" dirty="0" smtClean="0"/>
              <a:t>P-suspicious of others</a:t>
            </a:r>
          </a:p>
          <a:p>
            <a:pPr>
              <a:buNone/>
            </a:pPr>
            <a:r>
              <a:rPr lang="en-US" dirty="0" smtClean="0"/>
              <a:t>E-perceives attack and reacts quickly</a:t>
            </a:r>
          </a:p>
          <a:p>
            <a:pPr>
              <a:buNone/>
            </a:pPr>
            <a:r>
              <a:rPr lang="en-US" dirty="0" smtClean="0"/>
              <a:t>C-</a:t>
            </a:r>
            <a:r>
              <a:rPr lang="en-US" dirty="0" err="1" smtClean="0"/>
              <a:t>enemity</a:t>
            </a:r>
            <a:endParaRPr lang="en-US" dirty="0" smtClean="0"/>
          </a:p>
          <a:p>
            <a:pPr>
              <a:buNone/>
            </a:pPr>
            <a:r>
              <a:rPr lang="en-US" dirty="0" smtClean="0"/>
              <a:t>T-threats are perceived in benign trends</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Font typeface="Wingdings" pitchFamily="2" charset="2"/>
              <a:buChar char="q"/>
            </a:pPr>
            <a:r>
              <a:rPr lang="en-US" dirty="0" smtClean="0">
                <a:solidFill>
                  <a:srgbClr val="FF0000"/>
                </a:solidFill>
              </a:rPr>
              <a:t>Schizoid</a:t>
            </a:r>
          </a:p>
          <a:p>
            <a:pPr>
              <a:buFont typeface="Wingdings" pitchFamily="2" charset="2"/>
              <a:buChar char="Ø"/>
            </a:pPr>
            <a:r>
              <a:rPr lang="en-US" dirty="0" smtClean="0"/>
              <a:t> there is social detachment and emotional restriction</a:t>
            </a:r>
          </a:p>
          <a:p>
            <a:pPr>
              <a:buFont typeface="Wingdings" pitchFamily="2" charset="2"/>
              <a:buChar char="Ø"/>
            </a:pPr>
            <a:r>
              <a:rPr lang="en-US" dirty="0" smtClean="0"/>
              <a:t>They delay seeking care and appear unappreciative</a:t>
            </a:r>
          </a:p>
          <a:p>
            <a:pPr>
              <a:buFont typeface="Wingdings" pitchFamily="2" charset="2"/>
              <a:buChar char="Ø"/>
            </a:pPr>
            <a:r>
              <a:rPr lang="en-US" dirty="0" smtClean="0"/>
              <a:t>There is restricted range of emotional expression</a:t>
            </a:r>
          </a:p>
          <a:p>
            <a:pPr>
              <a:buFont typeface="Wingdings" pitchFamily="2" charset="2"/>
              <a:buChar char="q"/>
            </a:pPr>
            <a:r>
              <a:rPr lang="en-US" dirty="0" smtClean="0"/>
              <a:t>Criteria </a:t>
            </a:r>
          </a:p>
          <a:p>
            <a:pPr>
              <a:buNone/>
            </a:pPr>
            <a:r>
              <a:rPr lang="en-US" dirty="0" smtClean="0"/>
              <a:t>DISTANT</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dirty="0" smtClean="0"/>
              <a:t>D-detached/latent affect</a:t>
            </a:r>
          </a:p>
          <a:p>
            <a:pPr>
              <a:buNone/>
            </a:pPr>
            <a:r>
              <a:rPr lang="en-US" dirty="0" smtClean="0"/>
              <a:t>I-indifferent to criticism and praise</a:t>
            </a:r>
          </a:p>
          <a:p>
            <a:pPr>
              <a:buNone/>
            </a:pPr>
            <a:r>
              <a:rPr lang="en-US" dirty="0" smtClean="0"/>
              <a:t>S-sexual experiences of little interest</a:t>
            </a:r>
          </a:p>
          <a:p>
            <a:pPr>
              <a:buNone/>
            </a:pPr>
            <a:r>
              <a:rPr lang="en-US" dirty="0" smtClean="0"/>
              <a:t>T-task is done solitarily</a:t>
            </a:r>
          </a:p>
          <a:p>
            <a:pPr>
              <a:buNone/>
            </a:pPr>
            <a:r>
              <a:rPr lang="en-US" dirty="0" smtClean="0"/>
              <a:t>A-absence of close friends</a:t>
            </a:r>
          </a:p>
          <a:p>
            <a:pPr>
              <a:buNone/>
            </a:pPr>
            <a:r>
              <a:rPr lang="en-US" dirty="0" smtClean="0"/>
              <a:t>N-neither desires desires nor enjoys close relations</a:t>
            </a:r>
          </a:p>
          <a:p>
            <a:pPr>
              <a:buNone/>
            </a:pPr>
            <a:r>
              <a:rPr lang="en-US" dirty="0" smtClean="0"/>
              <a:t>T-takes pleasure in few activities</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Font typeface="Wingdings" pitchFamily="2" charset="2"/>
              <a:buChar char="q"/>
            </a:pPr>
            <a:r>
              <a:rPr lang="en-US" dirty="0" smtClean="0">
                <a:solidFill>
                  <a:srgbClr val="FF0000"/>
                </a:solidFill>
              </a:rPr>
              <a:t>Schizotypal/Me-peculiar</a:t>
            </a:r>
          </a:p>
          <a:p>
            <a:pPr>
              <a:buFont typeface="Wingdings" pitchFamily="2" charset="2"/>
              <a:buChar char="q"/>
            </a:pPr>
            <a:r>
              <a:rPr lang="en-US" dirty="0" smtClean="0"/>
              <a:t>Criteria </a:t>
            </a:r>
          </a:p>
          <a:p>
            <a:pPr>
              <a:buNone/>
            </a:pPr>
            <a:r>
              <a:rPr lang="en-US" dirty="0" smtClean="0"/>
              <a:t>Me-peculiar</a:t>
            </a:r>
          </a:p>
          <a:p>
            <a:pPr>
              <a:buNone/>
            </a:pPr>
            <a:r>
              <a:rPr lang="en-US" dirty="0" smtClean="0"/>
              <a:t>M-magical thinking. Are odd beliefs</a:t>
            </a:r>
          </a:p>
          <a:p>
            <a:pPr>
              <a:buNone/>
            </a:pPr>
            <a:r>
              <a:rPr lang="en-US" dirty="0" smtClean="0"/>
              <a:t>e-experience unusual perceptions</a:t>
            </a:r>
          </a:p>
          <a:p>
            <a:pPr>
              <a:buNone/>
            </a:pPr>
            <a:r>
              <a:rPr lang="en-US" dirty="0" smtClean="0"/>
              <a:t>P-paranoid ideation</a:t>
            </a:r>
          </a:p>
          <a:p>
            <a:pPr>
              <a:buNone/>
            </a:pPr>
            <a:r>
              <a:rPr lang="en-US" dirty="0" smtClean="0"/>
              <a:t>E-eccentric behavior/appearance</a:t>
            </a:r>
          </a:p>
          <a:p>
            <a:pPr>
              <a:buNone/>
            </a:pPr>
            <a:r>
              <a:rPr lang="en-US" dirty="0" smtClean="0"/>
              <a:t>C-constricted or inappropriate affect</a:t>
            </a:r>
          </a:p>
          <a:p>
            <a:pPr>
              <a:buNone/>
            </a:pPr>
            <a:r>
              <a:rPr lang="en-US" dirty="0" smtClean="0"/>
              <a:t>U-unusual thinking and speech</a:t>
            </a:r>
          </a:p>
          <a:p>
            <a:pPr>
              <a:buNone/>
            </a:pPr>
            <a:r>
              <a:rPr lang="en-US" dirty="0" smtClean="0"/>
              <a:t>L-lack close friends</a:t>
            </a:r>
          </a:p>
          <a:p>
            <a:pPr>
              <a:buNone/>
            </a:pPr>
            <a:r>
              <a:rPr lang="en-US" dirty="0" smtClean="0"/>
              <a:t>I -ideas of preference</a:t>
            </a:r>
          </a:p>
          <a:p>
            <a:pPr>
              <a:buNone/>
            </a:pPr>
            <a:r>
              <a:rPr lang="en-US" dirty="0" smtClean="0"/>
              <a:t>A-anxiety</a:t>
            </a:r>
          </a:p>
          <a:p>
            <a:pPr>
              <a:buNone/>
            </a:pPr>
            <a:r>
              <a:rPr lang="en-US" dirty="0" smtClean="0"/>
              <a:t>R-r/o psychotic disorder</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smtClean="0">
                <a:solidFill>
                  <a:srgbClr val="FF0000"/>
                </a:solidFill>
              </a:rPr>
              <a:t>CLUSTER B</a:t>
            </a:r>
          </a:p>
          <a:p>
            <a:pPr>
              <a:buFont typeface="Wingdings" pitchFamily="2" charset="2"/>
              <a:buChar char="Ø"/>
            </a:pPr>
            <a:r>
              <a:rPr lang="en-US" dirty="0" smtClean="0"/>
              <a:t>Are dramatic and eratic</a:t>
            </a:r>
          </a:p>
          <a:p>
            <a:pPr>
              <a:buFont typeface="Wingdings" pitchFamily="2" charset="2"/>
              <a:buChar char="Ø"/>
            </a:pPr>
            <a:r>
              <a:rPr lang="en-US" dirty="0" smtClean="0"/>
              <a:t>Are extraverts</a:t>
            </a:r>
          </a:p>
          <a:p>
            <a:pPr>
              <a:buFont typeface="Wingdings" pitchFamily="2" charset="2"/>
              <a:buChar char="Ø"/>
            </a:pPr>
            <a:r>
              <a:rPr lang="en-US" dirty="0" smtClean="0"/>
              <a:t>These patients are the most challenging to encounter in the clinical setting</a:t>
            </a:r>
          </a:p>
          <a:p>
            <a:pPr>
              <a:buFont typeface="Wingdings" pitchFamily="2" charset="2"/>
              <a:buChar char="Ø"/>
            </a:pPr>
            <a:r>
              <a:rPr lang="en-US" dirty="0" smtClean="0"/>
              <a:t>They can be excessively demanding, manipulative and emotionally unstable</a:t>
            </a:r>
          </a:p>
          <a:p>
            <a:pPr>
              <a:buFont typeface="Wingdings" pitchFamily="2" charset="2"/>
              <a:buChar char="Ø"/>
            </a:pPr>
            <a:r>
              <a:rPr lang="en-US" dirty="0" smtClean="0"/>
              <a:t>They attempt to create relationships that cross professional boundaries to place health professionals in a compromising situation</a:t>
            </a: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v"/>
            </a:pPr>
            <a:r>
              <a:rPr lang="en-US" dirty="0" smtClean="0"/>
              <a:t>Antisocial</a:t>
            </a:r>
          </a:p>
          <a:p>
            <a:pPr>
              <a:buFont typeface="Wingdings" pitchFamily="2" charset="2"/>
              <a:buChar char="Ø"/>
            </a:pPr>
            <a:r>
              <a:rPr lang="en-US" dirty="0" smtClean="0"/>
              <a:t>Criteria is CORRUPT</a:t>
            </a:r>
          </a:p>
          <a:p>
            <a:pPr>
              <a:buNone/>
            </a:pPr>
            <a:r>
              <a:rPr lang="en-US" dirty="0" smtClean="0"/>
              <a:t>C-conformity to law is lacking</a:t>
            </a:r>
          </a:p>
          <a:p>
            <a:pPr>
              <a:buNone/>
            </a:pPr>
            <a:r>
              <a:rPr lang="en-US" dirty="0" smtClean="0"/>
              <a:t>O-obligations are ignored</a:t>
            </a:r>
          </a:p>
          <a:p>
            <a:pPr>
              <a:buNone/>
            </a:pPr>
            <a:r>
              <a:rPr lang="en-US" dirty="0" smtClean="0"/>
              <a:t>R-</a:t>
            </a:r>
            <a:r>
              <a:rPr lang="en-US" dirty="0" err="1" smtClean="0"/>
              <a:t>reckless.Disregards</a:t>
            </a:r>
            <a:r>
              <a:rPr lang="en-US" dirty="0" smtClean="0"/>
              <a:t> safety for self and others</a:t>
            </a:r>
          </a:p>
          <a:p>
            <a:pPr>
              <a:buNone/>
            </a:pPr>
            <a:r>
              <a:rPr lang="en-US" dirty="0" smtClean="0"/>
              <a:t>R-</a:t>
            </a:r>
            <a:r>
              <a:rPr lang="en-US" dirty="0" err="1" smtClean="0"/>
              <a:t>remourse</a:t>
            </a:r>
            <a:r>
              <a:rPr lang="en-US" dirty="0" smtClean="0"/>
              <a:t> is lacking</a:t>
            </a:r>
          </a:p>
          <a:p>
            <a:pPr>
              <a:buNone/>
            </a:pPr>
            <a:r>
              <a:rPr lang="en-US" dirty="0" smtClean="0"/>
              <a:t>U-underhanded</a:t>
            </a:r>
          </a:p>
          <a:p>
            <a:pPr>
              <a:buNone/>
            </a:pPr>
            <a:r>
              <a:rPr lang="en-US" dirty="0" smtClean="0"/>
              <a:t>P-planning is insufficient</a:t>
            </a:r>
          </a:p>
          <a:p>
            <a:pPr>
              <a:buNone/>
            </a:pPr>
            <a:r>
              <a:rPr lang="en-US" dirty="0" smtClean="0"/>
              <a:t>T-temper(are irritable and aggressive)</a:t>
            </a:r>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v"/>
            </a:pPr>
            <a:r>
              <a:rPr lang="en-US" dirty="0" smtClean="0"/>
              <a:t>Histrionic </a:t>
            </a:r>
          </a:p>
          <a:p>
            <a:pPr>
              <a:buFont typeface="Wingdings" pitchFamily="2" charset="2"/>
              <a:buChar char="Ø"/>
            </a:pPr>
            <a:r>
              <a:rPr lang="en-US" dirty="0" smtClean="0"/>
              <a:t>Are excessive attention seekers</a:t>
            </a:r>
          </a:p>
          <a:p>
            <a:pPr>
              <a:buFont typeface="Wingdings" pitchFamily="2" charset="2"/>
              <a:buChar char="Ø"/>
            </a:pPr>
            <a:r>
              <a:rPr lang="en-US" dirty="0" smtClean="0"/>
              <a:t>Have a threatened sense of attractiveness and self esteem</a:t>
            </a:r>
          </a:p>
          <a:p>
            <a:pPr>
              <a:buFont typeface="Wingdings" pitchFamily="2" charset="2"/>
              <a:buChar char="Ø"/>
            </a:pPr>
            <a:r>
              <a:rPr lang="en-US" dirty="0" smtClean="0"/>
              <a:t>Are overly dramatic</a:t>
            </a:r>
          </a:p>
          <a:p>
            <a:pPr>
              <a:buFont typeface="Wingdings" pitchFamily="2" charset="2"/>
              <a:buChar char="Ø"/>
            </a:pPr>
            <a:r>
              <a:rPr lang="en-US" dirty="0" smtClean="0"/>
              <a:t>The acronym is PRAISE ME</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dirty="0" smtClean="0"/>
              <a:t>P-provocative/sexually seductive</a:t>
            </a:r>
          </a:p>
          <a:p>
            <a:pPr>
              <a:buNone/>
            </a:pPr>
            <a:r>
              <a:rPr lang="en-US" dirty="0" smtClean="0"/>
              <a:t>R-relationships are considered more intimate than they are</a:t>
            </a:r>
          </a:p>
          <a:p>
            <a:pPr>
              <a:buNone/>
            </a:pPr>
            <a:r>
              <a:rPr lang="en-US" dirty="0" smtClean="0"/>
              <a:t>A-attention seeking behavior</a:t>
            </a:r>
          </a:p>
          <a:p>
            <a:pPr>
              <a:buNone/>
            </a:pPr>
            <a:r>
              <a:rPr lang="en-US" dirty="0" smtClean="0"/>
              <a:t>I-influenced easily</a:t>
            </a:r>
          </a:p>
          <a:p>
            <a:pPr>
              <a:buNone/>
            </a:pPr>
            <a:r>
              <a:rPr lang="en-US" dirty="0" smtClean="0"/>
              <a:t>S-style of speech. The speech is impressive to others which lacks the meaning</a:t>
            </a:r>
          </a:p>
          <a:p>
            <a:pPr>
              <a:buNone/>
            </a:pPr>
            <a:r>
              <a:rPr lang="en-US" dirty="0" smtClean="0"/>
              <a:t>E-</a:t>
            </a:r>
            <a:r>
              <a:rPr lang="en-US" dirty="0" err="1" smtClean="0"/>
              <a:t>emotions.Are</a:t>
            </a:r>
            <a:r>
              <a:rPr lang="en-US" dirty="0" smtClean="0"/>
              <a:t> rapidly shifting and shallow</a:t>
            </a:r>
          </a:p>
          <a:p>
            <a:pPr>
              <a:buNone/>
            </a:pPr>
            <a:endParaRPr lang="en-US" dirty="0" smtClean="0"/>
          </a:p>
          <a:p>
            <a:pPr>
              <a:buNone/>
            </a:pPr>
            <a:r>
              <a:rPr lang="en-US" dirty="0" smtClean="0"/>
              <a:t>M-make up</a:t>
            </a:r>
          </a:p>
          <a:p>
            <a:pPr>
              <a:buNone/>
            </a:pPr>
            <a:r>
              <a:rPr lang="en-US" dirty="0" smtClean="0"/>
              <a:t>E-emotional exaggeration</a:t>
            </a:r>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err="1" smtClean="0"/>
              <a:t>Narcistic</a:t>
            </a:r>
            <a:endParaRPr lang="en-US" dirty="0" smtClean="0"/>
          </a:p>
          <a:p>
            <a:pPr>
              <a:buFont typeface="Wingdings" pitchFamily="2" charset="2"/>
              <a:buChar char="Ø"/>
            </a:pPr>
            <a:r>
              <a:rPr lang="en-US" dirty="0" smtClean="0"/>
              <a:t>There is grandiosity, need for admiration and they lack empathy</a:t>
            </a:r>
          </a:p>
          <a:p>
            <a:pPr>
              <a:buFont typeface="Wingdings" pitchFamily="2" charset="2"/>
              <a:buChar char="Ø"/>
            </a:pPr>
            <a:r>
              <a:rPr lang="en-US" dirty="0" smtClean="0"/>
              <a:t>They are very demanding and they seek for entitlement</a:t>
            </a:r>
          </a:p>
          <a:p>
            <a:pPr>
              <a:buFont typeface="Wingdings" pitchFamily="2" charset="2"/>
              <a:buChar char="Ø"/>
            </a:pPr>
            <a:r>
              <a:rPr lang="en-US" dirty="0" smtClean="0"/>
              <a:t>The acronym is SPECIAL</a:t>
            </a:r>
          </a:p>
          <a:p>
            <a:pPr>
              <a:buNone/>
            </a:pPr>
            <a:endParaRPr lang="en-US" dirty="0" smtClean="0"/>
          </a:p>
          <a:p>
            <a:pPr>
              <a:buFont typeface="Wingdings" pitchFamily="2" charset="2"/>
              <a:buChar char="Ø"/>
            </a:pPr>
            <a:endParaRPr lang="en-US" dirty="0" smtClean="0"/>
          </a:p>
          <a:p>
            <a:pPr>
              <a:buFont typeface="Wingdings" pitchFamily="2" charset="2"/>
              <a:buChar char="v"/>
            </a:pPr>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905000"/>
            <a:ext cx="8229600" cy="4525963"/>
          </a:xfrm>
        </p:spPr>
        <p:txBody>
          <a:bodyPr>
            <a:normAutofit lnSpcReduction="10000"/>
          </a:bodyPr>
          <a:lstStyle/>
          <a:p>
            <a:pPr>
              <a:buNone/>
            </a:pPr>
            <a:r>
              <a:rPr lang="en-US" dirty="0" smtClean="0"/>
              <a:t>S-special and unique</a:t>
            </a:r>
          </a:p>
          <a:p>
            <a:pPr>
              <a:buNone/>
            </a:pPr>
            <a:r>
              <a:rPr lang="en-US" dirty="0" smtClean="0"/>
              <a:t>P-pre-occupied with fantasies of unlimited success,power,brilliance,beauty and ideal love</a:t>
            </a:r>
          </a:p>
          <a:p>
            <a:pPr>
              <a:buNone/>
            </a:pPr>
            <a:r>
              <a:rPr lang="en-US" dirty="0" smtClean="0"/>
              <a:t>E-entitlement. They seek big titles</a:t>
            </a:r>
          </a:p>
          <a:p>
            <a:pPr>
              <a:buNone/>
            </a:pPr>
            <a:r>
              <a:rPr lang="en-US" dirty="0" smtClean="0"/>
              <a:t>C-</a:t>
            </a:r>
            <a:r>
              <a:rPr lang="en-US" dirty="0" err="1" smtClean="0"/>
              <a:t>conceite</a:t>
            </a:r>
            <a:r>
              <a:rPr lang="en-US" dirty="0" smtClean="0"/>
              <a:t>(Grandiose sense of self importance)</a:t>
            </a:r>
          </a:p>
          <a:p>
            <a:pPr>
              <a:buNone/>
            </a:pPr>
            <a:r>
              <a:rPr lang="en-US" dirty="0" smtClean="0"/>
              <a:t>I-interpersonal exploitation</a:t>
            </a:r>
          </a:p>
          <a:p>
            <a:pPr>
              <a:buNone/>
            </a:pPr>
            <a:r>
              <a:rPr lang="en-US" dirty="0" smtClean="0"/>
              <a:t>A-arrogant</a:t>
            </a:r>
          </a:p>
          <a:p>
            <a:pPr>
              <a:buNone/>
            </a:pPr>
            <a:r>
              <a:rPr lang="en-US" dirty="0" smtClean="0"/>
              <a:t>L-lacks empathy</a:t>
            </a:r>
          </a:p>
          <a:p>
            <a:pPr>
              <a:buNone/>
            </a:pPr>
            <a:endParaRPr lang="en-US" dirty="0" smtClean="0"/>
          </a:p>
          <a:p>
            <a:pPr>
              <a:buFont typeface="Wingdings" pitchFamily="2" charset="2"/>
              <a:buChar char="Ø"/>
            </a:pPr>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smtClean="0"/>
              <a:t>Borderline personality disorder</a:t>
            </a:r>
          </a:p>
          <a:p>
            <a:pPr>
              <a:buFont typeface="Wingdings" pitchFamily="2" charset="2"/>
              <a:buChar char="Ø"/>
            </a:pPr>
            <a:r>
              <a:rPr lang="en-US" dirty="0" smtClean="0"/>
              <a:t>They are impulsive</a:t>
            </a:r>
          </a:p>
          <a:p>
            <a:pPr>
              <a:buFont typeface="Wingdings" pitchFamily="2" charset="2"/>
              <a:buChar char="Ø"/>
            </a:pPr>
            <a:r>
              <a:rPr lang="en-US" dirty="0" smtClean="0"/>
              <a:t>There is instability in personal relations</a:t>
            </a:r>
          </a:p>
          <a:p>
            <a:pPr>
              <a:buFont typeface="Wingdings" pitchFamily="2" charset="2"/>
              <a:buChar char="Ø"/>
            </a:pPr>
            <a:r>
              <a:rPr lang="en-US" dirty="0" smtClean="0"/>
              <a:t>High self esteem</a:t>
            </a:r>
          </a:p>
          <a:p>
            <a:pPr>
              <a:buFont typeface="Wingdings" pitchFamily="2" charset="2"/>
              <a:buChar char="Ø"/>
            </a:pPr>
            <a:r>
              <a:rPr lang="en-US" dirty="0" smtClean="0"/>
              <a:t>They have fear of rejection and abandonment</a:t>
            </a:r>
          </a:p>
          <a:p>
            <a:pPr>
              <a:buFont typeface="Wingdings" pitchFamily="2" charset="2"/>
              <a:buChar char="Ø"/>
            </a:pPr>
            <a:r>
              <a:rPr lang="en-US" dirty="0" smtClean="0"/>
              <a:t>They avoid excessive familiarity</a:t>
            </a:r>
          </a:p>
          <a:p>
            <a:pPr>
              <a:buFont typeface="Wingdings" pitchFamily="2" charset="2"/>
              <a:buChar char="Ø"/>
            </a:pPr>
            <a:r>
              <a:rPr lang="en-US" dirty="0" smtClean="0"/>
              <a:t>They are prone to suicide attempts</a:t>
            </a:r>
          </a:p>
          <a:p>
            <a:pPr>
              <a:buFont typeface="Wingdings" pitchFamily="2" charset="2"/>
              <a:buChar char="Ø"/>
            </a:pPr>
            <a:r>
              <a:rPr lang="en-US" dirty="0" smtClean="0"/>
              <a:t>The acronym is AM SUICIDE</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smtClean="0"/>
              <a:t>A-Abandonment(fear)</a:t>
            </a:r>
          </a:p>
          <a:p>
            <a:pPr>
              <a:buNone/>
            </a:pPr>
            <a:r>
              <a:rPr lang="en-US" dirty="0" smtClean="0"/>
              <a:t>M-mood instability</a:t>
            </a:r>
          </a:p>
          <a:p>
            <a:pPr>
              <a:buNone/>
            </a:pPr>
            <a:r>
              <a:rPr lang="en-US" dirty="0" smtClean="0"/>
              <a:t>S-suicidal or self mutilating behavior</a:t>
            </a:r>
          </a:p>
          <a:p>
            <a:pPr>
              <a:buNone/>
            </a:pPr>
            <a:r>
              <a:rPr lang="en-US" dirty="0" smtClean="0"/>
              <a:t>I-</a:t>
            </a:r>
            <a:r>
              <a:rPr lang="en-US" dirty="0" err="1" smtClean="0"/>
              <a:t>imperceivity</a:t>
            </a:r>
            <a:r>
              <a:rPr lang="en-US" dirty="0" smtClean="0"/>
              <a:t> </a:t>
            </a:r>
          </a:p>
          <a:p>
            <a:pPr>
              <a:buNone/>
            </a:pPr>
            <a:r>
              <a:rPr lang="en-US" dirty="0" smtClean="0"/>
              <a:t>C-</a:t>
            </a:r>
            <a:r>
              <a:rPr lang="en-US" dirty="0" err="1" smtClean="0"/>
              <a:t>controll</a:t>
            </a:r>
            <a:r>
              <a:rPr lang="en-US" b="1" dirty="0" smtClean="0"/>
              <a:t> </a:t>
            </a:r>
            <a:r>
              <a:rPr lang="en-US" dirty="0" smtClean="0"/>
              <a:t>of anger is impaired</a:t>
            </a:r>
          </a:p>
          <a:p>
            <a:pPr>
              <a:buNone/>
            </a:pPr>
            <a:r>
              <a:rPr lang="en-US" dirty="0" smtClean="0"/>
              <a:t>I-identity disturbance</a:t>
            </a:r>
          </a:p>
          <a:p>
            <a:pPr>
              <a:buNone/>
            </a:pPr>
            <a:r>
              <a:rPr lang="en-US" dirty="0" smtClean="0"/>
              <a:t>D-dissociative/paranoid symptoms that are stress related</a:t>
            </a:r>
          </a:p>
          <a:p>
            <a:pPr>
              <a:buNone/>
            </a:pPr>
            <a:r>
              <a:rPr lang="en-US" dirty="0" smtClean="0"/>
              <a:t>E-</a:t>
            </a:r>
            <a:r>
              <a:rPr lang="en-US" dirty="0" err="1" smtClean="0"/>
              <a:t>emptiness.The</a:t>
            </a:r>
            <a:r>
              <a:rPr lang="en-US" dirty="0" smtClean="0"/>
              <a:t> patient experiences a chronic feeling of emptiness</a:t>
            </a:r>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solidFill>
                  <a:srgbClr val="FF0000"/>
                </a:solidFill>
              </a:rPr>
              <a:t>CLUSTER C</a:t>
            </a:r>
          </a:p>
          <a:p>
            <a:pPr>
              <a:buFont typeface="Wingdings" pitchFamily="2" charset="2"/>
              <a:buChar char="Ø"/>
            </a:pPr>
            <a:r>
              <a:rPr lang="en-US" dirty="0" smtClean="0"/>
              <a:t>Are anxious and fearful</a:t>
            </a:r>
          </a:p>
          <a:p>
            <a:pPr>
              <a:buFont typeface="Wingdings" pitchFamily="2" charset="2"/>
              <a:buChar char="Ø"/>
            </a:pPr>
            <a:r>
              <a:rPr lang="en-US" dirty="0" smtClean="0"/>
              <a:t>They cannot make their own decision</a:t>
            </a:r>
          </a:p>
          <a:p>
            <a:pPr>
              <a:buFont typeface="Wingdings" pitchFamily="2" charset="2"/>
              <a:buChar char="Ø"/>
            </a:pPr>
            <a:r>
              <a:rPr lang="en-US" dirty="0" smtClean="0"/>
              <a:t>They have fear of the unknown and they doubt whatever they think</a:t>
            </a: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smtClean="0"/>
              <a:t>Avoidant personality disorder</a:t>
            </a:r>
          </a:p>
          <a:p>
            <a:pPr>
              <a:buFont typeface="Wingdings" pitchFamily="2" charset="2"/>
              <a:buChar char="Ø"/>
            </a:pPr>
            <a:r>
              <a:rPr lang="en-US" dirty="0" smtClean="0"/>
              <a:t>They have feelings of inadequacy and high sensitivity to criticism</a:t>
            </a:r>
          </a:p>
          <a:p>
            <a:pPr>
              <a:buFont typeface="Wingdings" pitchFamily="2" charset="2"/>
              <a:buChar char="Ø"/>
            </a:pPr>
            <a:r>
              <a:rPr lang="en-US" dirty="0" smtClean="0"/>
              <a:t>The acronym is CRINGES</a:t>
            </a:r>
          </a:p>
          <a:p>
            <a:pPr>
              <a:buNone/>
            </a:pPr>
            <a:r>
              <a:rPr lang="en-US" dirty="0" smtClean="0"/>
              <a:t>C-</a:t>
            </a:r>
            <a:r>
              <a:rPr lang="en-US" dirty="0" err="1" smtClean="0"/>
              <a:t>Certainity</a:t>
            </a:r>
            <a:r>
              <a:rPr lang="en-US" dirty="0" smtClean="0"/>
              <a:t> of being liked or required before willing to get involved with others</a:t>
            </a:r>
          </a:p>
          <a:p>
            <a:pPr>
              <a:buNone/>
            </a:pPr>
            <a:r>
              <a:rPr lang="en-US" dirty="0" smtClean="0"/>
              <a:t>R-rejection or criticism which pre-occupies ones thoughts in social situations</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smtClean="0"/>
              <a:t>I-intimate relationship. They are restrained in intimate relationships due to fear of being ashamed</a:t>
            </a:r>
          </a:p>
          <a:p>
            <a:pPr>
              <a:buNone/>
            </a:pPr>
            <a:r>
              <a:rPr lang="en-US" dirty="0" smtClean="0"/>
              <a:t>N-new interpersonal relationships are inhibited</a:t>
            </a:r>
          </a:p>
          <a:p>
            <a:pPr>
              <a:buNone/>
            </a:pPr>
            <a:r>
              <a:rPr lang="en-US" dirty="0" smtClean="0"/>
              <a:t>G-gets around occupational activity. They don’t want to take up any kind of responsibility</a:t>
            </a:r>
          </a:p>
          <a:p>
            <a:pPr>
              <a:buNone/>
            </a:pPr>
            <a:r>
              <a:rPr lang="en-US" dirty="0" smtClean="0"/>
              <a:t>E-</a:t>
            </a:r>
            <a:r>
              <a:rPr lang="en-US" dirty="0" err="1" smtClean="0"/>
              <a:t>embarassment</a:t>
            </a:r>
            <a:r>
              <a:rPr lang="en-US" dirty="0" smtClean="0"/>
              <a:t>. They have potential for embarrassment that prevents them from taking new activity</a:t>
            </a:r>
          </a:p>
          <a:p>
            <a:pPr>
              <a:buNone/>
            </a:pPr>
            <a:r>
              <a:rPr lang="en-US" dirty="0" smtClean="0"/>
              <a:t>S-self filled as un appealing and inferior</a:t>
            </a:r>
            <a:endParaRPr 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US" dirty="0" smtClean="0"/>
              <a:t>Dependent </a:t>
            </a:r>
          </a:p>
          <a:p>
            <a:pPr>
              <a:buFont typeface="Wingdings" pitchFamily="2" charset="2"/>
              <a:buChar char="Ø"/>
            </a:pPr>
            <a:r>
              <a:rPr lang="en-US" dirty="0" smtClean="0"/>
              <a:t>They have excessive need to be taken care of</a:t>
            </a:r>
          </a:p>
          <a:p>
            <a:pPr>
              <a:buFont typeface="Wingdings" pitchFamily="2" charset="2"/>
              <a:buChar char="Ø"/>
            </a:pPr>
            <a:r>
              <a:rPr lang="en-US" dirty="0" smtClean="0"/>
              <a:t>They have submissive behavior and fear of rejection</a:t>
            </a:r>
          </a:p>
          <a:p>
            <a:pPr>
              <a:buFont typeface="Wingdings" pitchFamily="2" charset="2"/>
              <a:buChar char="Ø"/>
            </a:pPr>
            <a:r>
              <a:rPr lang="en-US" dirty="0" smtClean="0"/>
              <a:t>The acronym is RELIANCE</a:t>
            </a:r>
          </a:p>
          <a:p>
            <a:pPr>
              <a:buNone/>
            </a:pPr>
            <a:r>
              <a:rPr lang="en-US" dirty="0" smtClean="0"/>
              <a:t>R-reassurance is required before decision is made</a:t>
            </a:r>
          </a:p>
          <a:p>
            <a:pPr>
              <a:buNone/>
            </a:pPr>
            <a:r>
              <a:rPr lang="en-US" dirty="0" smtClean="0"/>
              <a:t>E-express disagreement due to fear of loss of support and approval</a:t>
            </a:r>
          </a:p>
          <a:p>
            <a:pPr>
              <a:buNone/>
            </a:pPr>
            <a:r>
              <a:rPr lang="en-US" dirty="0" smtClean="0"/>
              <a:t>L-life responsibilities need to be assumed  by others</a:t>
            </a:r>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I-initiating projects is difficult</a:t>
            </a:r>
          </a:p>
          <a:p>
            <a:pPr>
              <a:buNone/>
            </a:pPr>
            <a:r>
              <a:rPr lang="en-US" dirty="0" smtClean="0"/>
              <a:t>A-</a:t>
            </a:r>
            <a:r>
              <a:rPr lang="en-US" dirty="0" err="1" smtClean="0"/>
              <a:t>alone.Feels</a:t>
            </a:r>
            <a:r>
              <a:rPr lang="en-US" dirty="0" smtClean="0"/>
              <a:t> helpless and uncomfortable</a:t>
            </a:r>
          </a:p>
          <a:p>
            <a:pPr>
              <a:buNone/>
            </a:pPr>
            <a:r>
              <a:rPr lang="en-US" dirty="0" smtClean="0"/>
              <a:t>N-nurturance</a:t>
            </a:r>
          </a:p>
          <a:p>
            <a:pPr>
              <a:buNone/>
            </a:pPr>
            <a:r>
              <a:rPr lang="en-US" dirty="0" smtClean="0"/>
              <a:t>C-companionship is sought urgently when close relationships end</a:t>
            </a:r>
          </a:p>
          <a:p>
            <a:pPr>
              <a:buNone/>
            </a:pPr>
            <a:r>
              <a:rPr lang="en-US" dirty="0" smtClean="0"/>
              <a:t>E-</a:t>
            </a:r>
            <a:r>
              <a:rPr lang="en-US" dirty="0" err="1" smtClean="0"/>
              <a:t>exagerated</a:t>
            </a:r>
            <a:r>
              <a:rPr lang="en-US" dirty="0" smtClean="0"/>
              <a:t> fear of being left</a:t>
            </a:r>
          </a:p>
          <a:p>
            <a:pPr>
              <a:buNone/>
            </a:pPr>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v"/>
            </a:pPr>
            <a:r>
              <a:rPr lang="en-US" dirty="0" smtClean="0"/>
              <a:t>Obsessive compulsive personality disorder</a:t>
            </a:r>
          </a:p>
          <a:p>
            <a:pPr>
              <a:buFont typeface="Wingdings" pitchFamily="2" charset="2"/>
              <a:buChar char="Ø"/>
            </a:pPr>
            <a:r>
              <a:rPr lang="en-US" dirty="0" smtClean="0"/>
              <a:t>They are pre-occupied with orderliness and perfectionism</a:t>
            </a:r>
          </a:p>
          <a:p>
            <a:pPr>
              <a:buFont typeface="Wingdings" pitchFamily="2" charset="2"/>
              <a:buChar char="Ø"/>
            </a:pPr>
            <a:r>
              <a:rPr lang="en-US" dirty="0" smtClean="0"/>
              <a:t>They have interpersonal control</a:t>
            </a:r>
          </a:p>
          <a:p>
            <a:pPr>
              <a:buFont typeface="Wingdings" pitchFamily="2" charset="2"/>
              <a:buChar char="Ø"/>
            </a:pPr>
            <a:r>
              <a:rPr lang="en-US" dirty="0" smtClean="0"/>
              <a:t>LAW FIRM is the acronym</a:t>
            </a: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US" dirty="0" smtClean="0"/>
              <a:t>L-looses point of activity due to pre-occupation with details</a:t>
            </a:r>
          </a:p>
          <a:p>
            <a:pPr>
              <a:buNone/>
            </a:pPr>
            <a:r>
              <a:rPr lang="en-US" dirty="0" smtClean="0"/>
              <a:t>A-ability to complete a task is compromised by perfectionism</a:t>
            </a:r>
          </a:p>
          <a:p>
            <a:pPr>
              <a:buNone/>
            </a:pPr>
            <a:r>
              <a:rPr lang="en-US" dirty="0" smtClean="0"/>
              <a:t>W-worthless objects are never discarded</a:t>
            </a:r>
          </a:p>
          <a:p>
            <a:pPr>
              <a:buNone/>
            </a:pPr>
            <a:r>
              <a:rPr lang="en-US" dirty="0" smtClean="0"/>
              <a:t>F-friendships and leisure activities are excluded due to pre-occupation with work</a:t>
            </a:r>
          </a:p>
          <a:p>
            <a:pPr>
              <a:buNone/>
            </a:pPr>
            <a:r>
              <a:rPr lang="en-US" dirty="0" smtClean="0"/>
              <a:t>I-inflexible. They are over conscious with the values, morality and culture</a:t>
            </a:r>
          </a:p>
          <a:p>
            <a:pPr>
              <a:buNone/>
            </a:pPr>
            <a:r>
              <a:rPr lang="en-US" dirty="0" smtClean="0"/>
              <a:t>R-reluctant to delegate unless others submit to exact guidelines</a:t>
            </a:r>
          </a:p>
          <a:p>
            <a:pPr>
              <a:buNone/>
            </a:pPr>
            <a:r>
              <a:rPr lang="en-US" dirty="0" smtClean="0"/>
              <a:t>M-misery toward self and others</a:t>
            </a:r>
          </a:p>
          <a:p>
            <a:pPr>
              <a:buNone/>
            </a:pPr>
            <a:r>
              <a:rPr lang="en-US" dirty="0" smtClean="0"/>
              <a:t>S-stubborn and rigid</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NEUROTIC DISORDERS IN ADULTS AND ADOLESCENTS</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dirty="0" smtClean="0"/>
              <a:t>Neurosis is a nonpsychotic mental illness that triggers feelings of distress and anxiety and impairs functioning</a:t>
            </a:r>
          </a:p>
          <a:p>
            <a:pPr>
              <a:buNone/>
            </a:pPr>
            <a:r>
              <a:rPr lang="en-US" dirty="0" smtClean="0">
                <a:solidFill>
                  <a:srgbClr val="FF0000"/>
                </a:solidFill>
              </a:rPr>
              <a:t>Characteristics of neurosis</a:t>
            </a:r>
          </a:p>
          <a:p>
            <a:pPr>
              <a:buFont typeface="Wingdings" pitchFamily="2" charset="2"/>
              <a:buChar char="Ø"/>
            </a:pPr>
            <a:r>
              <a:rPr lang="en-US" dirty="0" smtClean="0"/>
              <a:t>The symptoms are distressing and are recognized as un acceptable to the individual</a:t>
            </a:r>
          </a:p>
          <a:p>
            <a:pPr>
              <a:buFont typeface="Wingdings" pitchFamily="2" charset="2"/>
              <a:buChar char="Ø"/>
            </a:pPr>
            <a:r>
              <a:rPr lang="en-US" dirty="0" smtClean="0"/>
              <a:t>Reality testing is grossly intact</a:t>
            </a:r>
          </a:p>
          <a:p>
            <a:pPr>
              <a:buFont typeface="Wingdings" pitchFamily="2" charset="2"/>
              <a:buChar char="Ø"/>
            </a:pPr>
            <a:r>
              <a:rPr lang="en-US" dirty="0" smtClean="0"/>
              <a:t>Behavior does not actively violate social norms although functioning of the individual may be significantly  impaired</a:t>
            </a:r>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There is disturbance or recurrence of the condition without treatment</a:t>
            </a:r>
          </a:p>
          <a:p>
            <a:pPr>
              <a:buFont typeface="Wingdings" pitchFamily="2" charset="2"/>
              <a:buChar char="Ø"/>
            </a:pPr>
            <a:r>
              <a:rPr lang="en-US" dirty="0" smtClean="0"/>
              <a:t>There is no evident  organic cause</a:t>
            </a:r>
          </a:p>
          <a:p>
            <a:pPr>
              <a:buFont typeface="Wingdings" pitchFamily="2" charset="2"/>
              <a:buChar char="Ø"/>
            </a:pPr>
            <a:r>
              <a:rPr lang="en-US" dirty="0" smtClean="0"/>
              <a:t>It may precede psychosis in severe conflict with the coping mechanisms</a:t>
            </a:r>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 </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Anxiety neurosis</a:t>
            </a:r>
          </a:p>
          <a:p>
            <a:pPr>
              <a:buFont typeface="Wingdings" pitchFamily="2" charset="2"/>
              <a:buChar char="Ø"/>
            </a:pPr>
            <a:r>
              <a:rPr lang="en-US" dirty="0" smtClean="0"/>
              <a:t>This is mental illness defined by excessive anxiety and worry, sometimes involving panic attacks and manifesting itself in physical symptoms such as tremor, chest pain, sweating and nausea</a:t>
            </a:r>
          </a:p>
          <a:p>
            <a:pPr>
              <a:buFont typeface="Wingdings" pitchFamily="2" charset="2"/>
              <a:buChar char="Ø"/>
            </a:pPr>
            <a:r>
              <a:rPr lang="en-US" dirty="0" smtClean="0"/>
              <a:t>It may be genetical or could also be caused by excessive chronic stress</a:t>
            </a:r>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anxiety disorders</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smtClean="0"/>
              <a:t>Generalized anxiety disorder: This is excessive or uncontrolled worry persisting atleast six months combined with any three of the following:restlessness,feeling of being keyed up, easily fatigued, difficulty in concentrating, muscle tension,irritability,sleep disturbance and headache for more than six months</a:t>
            </a:r>
          </a:p>
          <a:p>
            <a:pPr>
              <a:buNone/>
            </a:pPr>
            <a:r>
              <a:rPr lang="en-US" dirty="0" smtClean="0"/>
              <a:t>	usually not as intense as panic and can start at any age with history of excessive worry</a:t>
            </a:r>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smtClean="0"/>
              <a:t>Panic disorder: it is unpredictable acute attack(s) of worry that is not specific to a particular situation. The person experiences intense apprehension and other physical manifestations such as palpitation,dyspnoea,dizziness,depersonalization and derealization</a:t>
            </a:r>
          </a:p>
          <a:p>
            <a:pPr>
              <a:buNone/>
            </a:pPr>
            <a:r>
              <a:rPr lang="en-US" dirty="0" smtClean="0"/>
              <a:t>	It occurs rapidly and peaks in seconds or minutes then it passes</a:t>
            </a:r>
          </a:p>
          <a:p>
            <a:pPr>
              <a:buNone/>
            </a:pPr>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dirty="0" smtClean="0"/>
              <a:t>	There is fear of loosing control(going to psychosis or death)</a:t>
            </a:r>
          </a:p>
          <a:p>
            <a:pPr>
              <a:buNone/>
            </a:pPr>
            <a:r>
              <a:rPr lang="en-US" dirty="0" smtClean="0"/>
              <a:t>	Its treated with anxiolytics such as diazepam and antidepressants if provoked by depression</a:t>
            </a:r>
          </a:p>
          <a:p>
            <a:pPr>
              <a:buFont typeface="Wingdings" pitchFamily="2" charset="2"/>
              <a:buChar char="v"/>
            </a:pPr>
            <a:r>
              <a:rPr lang="en-US" dirty="0" smtClean="0"/>
              <a:t>Agora phobia</a:t>
            </a:r>
          </a:p>
          <a:p>
            <a:pPr>
              <a:buFont typeface="Wingdings" pitchFamily="2" charset="2"/>
              <a:buChar char="v"/>
            </a:pPr>
            <a:r>
              <a:rPr lang="en-US" dirty="0" smtClean="0"/>
              <a:t>Social phobia</a:t>
            </a:r>
          </a:p>
          <a:p>
            <a:pPr>
              <a:buFont typeface="Wingdings" pitchFamily="2" charset="2"/>
              <a:buChar char="v"/>
            </a:pPr>
            <a:r>
              <a:rPr lang="en-US" dirty="0" smtClean="0"/>
              <a:t>Specific phobia</a:t>
            </a:r>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US" dirty="0" smtClean="0"/>
              <a:t>Depressive neurosis</a:t>
            </a:r>
          </a:p>
          <a:p>
            <a:pPr>
              <a:buFont typeface="Wingdings" pitchFamily="2" charset="2"/>
              <a:buChar char="Ø"/>
            </a:pPr>
            <a:r>
              <a:rPr lang="en-US" dirty="0" smtClean="0"/>
              <a:t>A mental illness characterized by a profound feeling of sadness and despair and a lack of interest in things that were once pleasurable</a:t>
            </a:r>
          </a:p>
          <a:p>
            <a:pPr>
              <a:buFont typeface="Wingdings" pitchFamily="2" charset="2"/>
              <a:buChar char="q"/>
            </a:pPr>
            <a:r>
              <a:rPr lang="en-US" dirty="0" smtClean="0"/>
              <a:t>Obsessive-compulsive neurosis</a:t>
            </a:r>
          </a:p>
          <a:p>
            <a:pPr>
              <a:buFont typeface="Wingdings" pitchFamily="2" charset="2"/>
              <a:buChar char="Ø"/>
            </a:pPr>
            <a:r>
              <a:rPr lang="en-US" dirty="0" smtClean="0"/>
              <a:t>It’s the persistent and distressing recurrence of intrusive thoughts or images(obsessions) and repetitive  behaviors or mental acts(compulsions)</a:t>
            </a:r>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Somatization(formerly called hysterical neurosis)</a:t>
            </a:r>
          </a:p>
          <a:p>
            <a:pPr>
              <a:buFont typeface="Wingdings" pitchFamily="2" charset="2"/>
              <a:buChar char="Ø"/>
            </a:pPr>
            <a:r>
              <a:rPr lang="en-US" dirty="0" smtClean="0"/>
              <a:t>The presence of real and significant physical symptoms that cannot be explained by a medical condition, but are instead a manifestation of anxiety or other mental distress</a:t>
            </a:r>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Post-traumatic stress disorder/combat or war neurosis</a:t>
            </a:r>
          </a:p>
          <a:p>
            <a:pPr>
              <a:buFont typeface="Wingdings" pitchFamily="2" charset="2"/>
              <a:buChar char="Ø"/>
            </a:pPr>
            <a:r>
              <a:rPr lang="en-US" dirty="0" smtClean="0"/>
              <a:t>Its severe stress and functional disability caused by witnessing a traumatic event such as war or any other event that involved death or serious injury</a:t>
            </a:r>
          </a:p>
          <a:p>
            <a:pPr>
              <a:buFont typeface="Wingdings" pitchFamily="2" charset="2"/>
              <a:buChar char="Ø"/>
            </a:pPr>
            <a:endParaRPr lang="en-US" dirty="0" smtClean="0"/>
          </a:p>
          <a:p>
            <a:pPr>
              <a:buNone/>
            </a:pPr>
            <a:endParaRPr lang="en-US" dirty="0" smtClean="0"/>
          </a:p>
          <a:p>
            <a:pPr>
              <a:buNone/>
            </a:pPr>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ANTEPARTUM PSYCHOSIS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Chorea psychosis</a:t>
            </a:r>
          </a:p>
          <a:p>
            <a:pPr>
              <a:buFont typeface="Wingdings" pitchFamily="2" charset="2"/>
              <a:buChar char="Ø"/>
            </a:pPr>
            <a:r>
              <a:rPr lang="en-US" dirty="0" smtClean="0"/>
              <a:t>Its sydenham's chorea</a:t>
            </a:r>
          </a:p>
          <a:p>
            <a:pPr>
              <a:buNone/>
            </a:pPr>
            <a:r>
              <a:rPr lang="en-US" dirty="0" smtClean="0"/>
              <a:t> Signs and symptoms</a:t>
            </a:r>
          </a:p>
          <a:p>
            <a:pPr>
              <a:buFont typeface="Wingdings" pitchFamily="2" charset="2"/>
              <a:buChar char="Ø"/>
            </a:pPr>
            <a:r>
              <a:rPr lang="en-US" dirty="0" smtClean="0"/>
              <a:t> depression</a:t>
            </a:r>
          </a:p>
          <a:p>
            <a:pPr>
              <a:buFont typeface="Wingdings" pitchFamily="2" charset="2"/>
              <a:buChar char="Ø"/>
            </a:pPr>
            <a:r>
              <a:rPr lang="en-US" dirty="0" smtClean="0"/>
              <a:t> Tourette's syndrome</a:t>
            </a:r>
          </a:p>
          <a:p>
            <a:pPr>
              <a:buFont typeface="Wingdings" pitchFamily="2" charset="2"/>
              <a:buChar char="Ø"/>
            </a:pPr>
            <a:r>
              <a:rPr lang="en-US" dirty="0" smtClean="0"/>
              <a:t>Hallucinations</a:t>
            </a:r>
            <a:endParaRPr lang="en-US" baseline="30000" dirty="0" smtClean="0"/>
          </a:p>
          <a:p>
            <a:pPr>
              <a:buNone/>
            </a:pPr>
            <a:r>
              <a:rPr lang="en-US" dirty="0" smtClean="0"/>
              <a:t>	Chorea gravidarum is a severe variant</a:t>
            </a:r>
          </a:p>
          <a:p>
            <a:pPr>
              <a:buNone/>
            </a:pPr>
            <a:r>
              <a:rPr lang="en-US" dirty="0" smtClean="0"/>
              <a:t>     Due to streptococcal infections, which are now usually controlled by antibiotics. But it still occurs as a result of systemic lupus . Nevertheless chorea psychoses are very rare, with only about 50 prepartum cases reported in the literature. Occasionally they can break out after delivery, or after a termination of pregnancy</a:t>
            </a:r>
          </a:p>
          <a:p>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Wernicke-Korsakoff psychosis</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severe mental disorder was described by Wernicke and Korsakoff.</a:t>
            </a:r>
          </a:p>
          <a:p>
            <a:r>
              <a:rPr lang="en-US" dirty="0" smtClean="0"/>
              <a:t>Its most striking feature is loss of memory, which can be permanent. The cause is vitamin B</a:t>
            </a:r>
            <a:r>
              <a:rPr lang="en-US" baseline="-25000" dirty="0" smtClean="0"/>
              <a:t>1</a:t>
            </a:r>
            <a:r>
              <a:rPr lang="en-US" dirty="0" smtClean="0"/>
              <a:t> (thiamine) deficiency, usually found in severe alcoholics. It can also result from pernicious vomiting of pregnancy (hyperemesis gravidarum).</a:t>
            </a:r>
          </a:p>
          <a:p>
            <a:r>
              <a:rPr lang="en-US" dirty="0" smtClean="0"/>
              <a:t>Over 125 cases have been reported in the world literature and, although thiamine treatment has been available since 1936, these cases still occur in countries with advanced medical services, due to rehydration without vitamin supplements. A few patients have developed symptoms after the death of the fetus, miscarriage, termination of pregnancy or delivery.</a:t>
            </a:r>
          </a:p>
          <a:p>
            <a:endParaRPr 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Eclamptic psychosis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Eclampsia is the sudden eruption of convulsions in a pregnant woman, usually around the time of delivery. It is the late complication of pre-</a:t>
            </a:r>
            <a:r>
              <a:rPr lang="en-US" dirty="0" err="1" smtClean="0"/>
              <a:t>eclamptic</a:t>
            </a:r>
            <a:r>
              <a:rPr lang="en-US" dirty="0" smtClean="0"/>
              <a:t> toxemia (that is, the triad of edema, hypertension and albuminuria). </a:t>
            </a:r>
          </a:p>
          <a:p>
            <a:r>
              <a:rPr lang="en-US" dirty="0" smtClean="0"/>
              <a:t>In fatal cases, there are arterial lesions in many organs including the brain.</a:t>
            </a:r>
          </a:p>
          <a:p>
            <a:r>
              <a:rPr lang="en-US" dirty="0" smtClean="0"/>
              <a:t>Delirium occurs in about 5% of cases. About 240 detailed cases have been reported in the world literature. It particularly affects first time mothers. Seizures may begin before, during or after labor, but the onset of psychosis is almost always postpartum. </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Eclamptic delirium can occur without seizures. There is often an interval between seizures (or coma) and psychosis, a gap that has occasionally exceeded four days. The duration is classically short – one to two weeks, but a prolonged course (two months or more) has been observed. Recurrence after another pregnancy is unknown. After recovery, amnesia, and sometimes retrograde memory loss may occur, as well as other permanent cerebral lesions such as dysphasia, hemiplegia,or blindness</a:t>
            </a:r>
          </a:p>
          <a:p>
            <a:pPr>
              <a:buNone/>
            </a:pPr>
            <a:endParaRPr 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Compensation neurosis</a:t>
            </a:r>
          </a:p>
          <a:p>
            <a:pPr>
              <a:buFont typeface="Wingdings" pitchFamily="2" charset="2"/>
              <a:buChar char="Ø"/>
            </a:pPr>
            <a:r>
              <a:rPr lang="en-US" dirty="0" smtClean="0"/>
              <a:t>Not a true neurosis but a form of malingering or feigning psychological symptoms for monetary or other personal gain</a:t>
            </a:r>
            <a:endParaRPr 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PUEPERAL PSYCHOSIS</a:t>
            </a:r>
            <a:endParaRPr lang="en-US" dirty="0"/>
          </a:p>
        </p:txBody>
      </p:sp>
      <p:sp>
        <p:nvSpPr>
          <p:cNvPr id="3" name="Content Placeholder 2"/>
          <p:cNvSpPr>
            <a:spLocks noGrp="1"/>
          </p:cNvSpPr>
          <p:nvPr>
            <p:ph idx="1"/>
          </p:nvPr>
        </p:nvSpPr>
        <p:spPr/>
        <p:txBody>
          <a:bodyPr>
            <a:normAutofit/>
          </a:bodyPr>
          <a:lstStyle/>
          <a:p>
            <a:r>
              <a:rPr lang="en-US" dirty="0" smtClean="0"/>
              <a:t>Puerperal psychosis is also called post partum psychosis or post natal psychosis: the three are the same condition. It's a rare condition. Whilst that's rare, it's not uncommon.</a:t>
            </a:r>
          </a:p>
          <a:p>
            <a:pPr>
              <a:buNone/>
            </a:pPr>
            <a:endParaRPr lang="en-US" dirty="0" smtClean="0"/>
          </a:p>
          <a:p>
            <a:r>
              <a:rPr lang="en-US" dirty="0" smtClean="0"/>
              <a:t>Their partner will certainly feel that he's got no control over the situation</a:t>
            </a:r>
          </a:p>
          <a:p>
            <a:pPr>
              <a:buNone/>
            </a:pPr>
            <a:endParaRPr lang="en-US" dirty="0" smtClean="0"/>
          </a:p>
          <a:p>
            <a:endParaRPr lang="en-US" dirty="0" smtClean="0"/>
          </a:p>
          <a:p>
            <a:pPr>
              <a:buNone/>
            </a:pPr>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Signs and symptoms</a:t>
            </a:r>
            <a:endParaRPr lang="en-US" dirty="0"/>
          </a:p>
        </p:txBody>
      </p:sp>
      <p:sp>
        <p:nvSpPr>
          <p:cNvPr id="3" name="Content Placeholder 2"/>
          <p:cNvSpPr>
            <a:spLocks noGrp="1"/>
          </p:cNvSpPr>
          <p:nvPr>
            <p:ph idx="1"/>
          </p:nvPr>
        </p:nvSpPr>
        <p:spPr/>
        <p:txBody>
          <a:bodyPr>
            <a:normAutofit fontScale="77500" lnSpcReduction="20000"/>
          </a:bodyPr>
          <a:lstStyle/>
          <a:p>
            <a:pPr>
              <a:buFont typeface="Wingdings" pitchFamily="2" charset="2"/>
              <a:buChar char="Ø"/>
            </a:pPr>
            <a:r>
              <a:rPr lang="en-US" dirty="0" smtClean="0"/>
              <a:t>Delusions (false beliefs - beliefs that you or I might find bizarre)</a:t>
            </a:r>
          </a:p>
          <a:p>
            <a:pPr>
              <a:buFont typeface="Wingdings" pitchFamily="2" charset="2"/>
              <a:buChar char="Ø"/>
            </a:pPr>
            <a:r>
              <a:rPr lang="en-US" dirty="0" smtClean="0"/>
              <a:t>Hallucinations (hearing voices, seeing things that aren't there)</a:t>
            </a:r>
          </a:p>
          <a:p>
            <a:pPr>
              <a:buFont typeface="Wingdings" pitchFamily="2" charset="2"/>
              <a:buChar char="Ø"/>
            </a:pPr>
            <a:r>
              <a:rPr lang="en-US" dirty="0" smtClean="0"/>
              <a:t>Confusion</a:t>
            </a:r>
          </a:p>
          <a:p>
            <a:pPr>
              <a:buFont typeface="Wingdings" pitchFamily="2" charset="2"/>
              <a:buChar char="Ø"/>
            </a:pPr>
            <a:r>
              <a:rPr lang="en-US" dirty="0" smtClean="0"/>
              <a:t>Rigidity or extreme flexibility of the limbs</a:t>
            </a:r>
          </a:p>
          <a:p>
            <a:pPr>
              <a:buFont typeface="Wingdings" pitchFamily="2" charset="2"/>
              <a:buChar char="Ø"/>
            </a:pPr>
            <a:r>
              <a:rPr lang="en-US" dirty="0" smtClean="0"/>
              <a:t>A common delusion is the belief that the new baby is evil - that they're the devil. Sufferers have been known to hear voices telling them to kill the baby. This is not the only delusion: people suffering can believe </a:t>
            </a:r>
            <a:r>
              <a:rPr lang="en-US" i="1" dirty="0" smtClean="0"/>
              <a:t>anything</a:t>
            </a:r>
            <a:r>
              <a:rPr lang="en-US" dirty="0" smtClean="0"/>
              <a:t> absolutely and wholeheartedly. This condition </a:t>
            </a:r>
            <a:r>
              <a:rPr lang="en-US" b="1" dirty="0" smtClean="0"/>
              <a:t>is</a:t>
            </a:r>
            <a:r>
              <a:rPr lang="en-US" dirty="0" smtClean="0"/>
              <a:t> that powerful, and the experiences of the people suffering it </a:t>
            </a:r>
            <a:r>
              <a:rPr lang="en-US" b="1" dirty="0" smtClean="0"/>
              <a:t>are real</a:t>
            </a:r>
            <a:r>
              <a:rPr lang="en-US" dirty="0" smtClean="0"/>
              <a:t>, at least to them.</a:t>
            </a:r>
          </a:p>
          <a:p>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Keep the child away from them because they might kill the child.</a:t>
            </a:r>
          </a:p>
          <a:p>
            <a:r>
              <a:rPr lang="en-US" dirty="0" smtClean="0"/>
              <a:t>Hospitalization is common for assessment and early treatment purposes.</a:t>
            </a:r>
          </a:p>
          <a:p>
            <a:r>
              <a:rPr lang="en-US" dirty="0" smtClean="0"/>
              <a:t>Anti-psychotics like Olanzapine, Aripiprazole (Abilify) and Amisulpride. These work by lowering the activity of the brain in the areas where it's been heightened, silencing the voices and dispelling the beliefs. It can take time to find the right anti-psychotic and the right dose because each patient is different.</a:t>
            </a:r>
          </a:p>
          <a:p>
            <a:r>
              <a:rPr lang="en-US" dirty="0" smtClean="0"/>
              <a:t>Counseling can help to drill down to the roots of any false beliefs.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EPISODIC DYSCONTROL/AGGRESSIVE BEHAVIOUR</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dirty="0" smtClean="0"/>
              <a:t> 	Intermittent explosive disorder  marked by sudden, unpredictable acts of violent, aggressive behavior in otherwise normal persons. The reaction is out of proportion to the event that triggers or provokes the outburst. </a:t>
            </a:r>
          </a:p>
          <a:p>
            <a:pPr>
              <a:buNone/>
            </a:pPr>
            <a:endParaRPr lang="en-US" dirty="0" smtClean="0"/>
          </a:p>
          <a:p>
            <a:pPr>
              <a:buNone/>
            </a:pPr>
            <a:r>
              <a:rPr lang="en-US" dirty="0" smtClean="0"/>
              <a:t>	Affect both children and adults. This may occasionally be the case, but in some children it seems that their threshold to such behaviour is abnormally low, and this may also result from defects in the biochemistry or structure of the brain.</a:t>
            </a:r>
          </a:p>
          <a:p>
            <a:pPr>
              <a:buNone/>
            </a:pPr>
            <a:r>
              <a:rPr lang="en-US" dirty="0" smtClean="0"/>
              <a:t> </a:t>
            </a:r>
          </a:p>
          <a:p>
            <a:pPr>
              <a:buNone/>
            </a:pPr>
            <a:r>
              <a:rPr lang="en-US" dirty="0" smtClean="0"/>
              <a:t>	There is nothing calculated about this behaviour, and it cannot be explained by justifiable anger, such as the result of frustration. Boys are affected</a:t>
            </a:r>
          </a:p>
          <a:p>
            <a:pPr>
              <a:buNone/>
            </a:pPr>
            <a:r>
              <a:rPr lang="en-US" dirty="0" smtClean="0"/>
              <a:t>	more frequently than girls, and the syndrome is more often</a:t>
            </a:r>
          </a:p>
          <a:p>
            <a:pPr>
              <a:buNone/>
            </a:pPr>
            <a:r>
              <a:rPr lang="en-US" dirty="0" smtClean="0"/>
              <a:t>	seen among urban than rural populations</a:t>
            </a:r>
          </a:p>
          <a:p>
            <a:pPr>
              <a:buNone/>
            </a:pPr>
            <a:endParaRPr lang="en-US" dirty="0" smtClean="0"/>
          </a:p>
          <a:p>
            <a:pPr>
              <a:buNone/>
            </a:pPr>
            <a:r>
              <a:rPr lang="en-US" dirty="0" smtClean="0"/>
              <a:t>	 Such outbursts can occur in isolation, but also after a series of minor episode such as the crying of a younger sibling for nights on end. The outbursts may be very brief or last several hours</a:t>
            </a:r>
          </a:p>
          <a:p>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a caregiver who is antisocial </a:t>
            </a:r>
          </a:p>
          <a:p>
            <a:r>
              <a:rPr lang="en-US" dirty="0" smtClean="0"/>
              <a:t>child abuse and neglect </a:t>
            </a:r>
          </a:p>
          <a:p>
            <a:r>
              <a:rPr lang="en-US" dirty="0" smtClean="0"/>
              <a:t>conflict with a spouse or significant other </a:t>
            </a:r>
          </a:p>
          <a:p>
            <a:r>
              <a:rPr lang="en-US" dirty="0" smtClean="0"/>
              <a:t>parents who abuse drugs or alcohol lower </a:t>
            </a:r>
          </a:p>
          <a:p>
            <a:r>
              <a:rPr lang="en-US" dirty="0" smtClean="0"/>
              <a:t>socioeconomic status </a:t>
            </a:r>
          </a:p>
          <a:p>
            <a:r>
              <a:rPr lang="en-US" dirty="0" smtClean="0"/>
              <a:t>parents who are not consistent in their availability or discipline </a:t>
            </a:r>
          </a:p>
          <a:p>
            <a:r>
              <a:rPr lang="en-US" dirty="0" smtClean="0"/>
              <a:t>psychiatric illness </a:t>
            </a:r>
          </a:p>
          <a:p>
            <a:pPr>
              <a:buNone/>
            </a:pPr>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Signs and symptoms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A person who has intermittent explosive disorder: </a:t>
            </a:r>
          </a:p>
          <a:p>
            <a:r>
              <a:rPr lang="en-US" dirty="0" smtClean="0"/>
              <a:t>destroys property </a:t>
            </a:r>
          </a:p>
          <a:p>
            <a:r>
              <a:rPr lang="en-US" dirty="0" smtClean="0"/>
              <a:t>has repeated acts of sudden verbal or physical aggression.</a:t>
            </a:r>
          </a:p>
          <a:p>
            <a:r>
              <a:rPr lang="en-US" dirty="0" smtClean="0"/>
              <a:t>Is unable to stop or control the impulsive, aggressive actions </a:t>
            </a:r>
          </a:p>
          <a:p>
            <a:r>
              <a:rPr lang="en-US" dirty="0" smtClean="0"/>
              <a:t>A person who has this disorder is not violent or aggressive most of the time. The outbreaks of severe rage and anger are usually isolated. The amount of aggression is out of proportion with the incident that triggered the outburst. </a:t>
            </a:r>
          </a:p>
          <a:p>
            <a:endParaRPr 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 </a:t>
            </a:r>
            <a:endParaRPr lang="en-US" dirty="0"/>
          </a:p>
        </p:txBody>
      </p:sp>
      <p:sp>
        <p:nvSpPr>
          <p:cNvPr id="3" name="Content Placeholder 2"/>
          <p:cNvSpPr>
            <a:spLocks noGrp="1"/>
          </p:cNvSpPr>
          <p:nvPr>
            <p:ph idx="1"/>
          </p:nvPr>
        </p:nvSpPr>
        <p:spPr/>
        <p:txBody>
          <a:bodyPr>
            <a:normAutofit lnSpcReduction="10000"/>
          </a:bodyPr>
          <a:lstStyle/>
          <a:p>
            <a:r>
              <a:rPr lang="en-US" dirty="0" smtClean="0"/>
              <a:t>Medical history and physical exam. </a:t>
            </a:r>
          </a:p>
          <a:p>
            <a:r>
              <a:rPr lang="en-US" dirty="0" smtClean="0"/>
              <a:t>A complete psychological evaluation should be done to rule out another medical or mental disorder.</a:t>
            </a:r>
          </a:p>
          <a:p>
            <a:pPr>
              <a:buNone/>
            </a:pPr>
            <a:r>
              <a:rPr lang="en-US" b="1" dirty="0" smtClean="0"/>
              <a:t>Treatment &amp; Monitoring</a:t>
            </a:r>
          </a:p>
          <a:p>
            <a:r>
              <a:rPr lang="en-US" dirty="0" smtClean="0"/>
              <a:t>Psychological treatment are generally used to treat this disorder. Psychotherapy with a focus on awareness of appropriate limits in social settings is often helpful. </a:t>
            </a:r>
          </a:p>
          <a:p>
            <a:endParaRPr lang="en-US" dirty="0" smtClean="0"/>
          </a:p>
          <a:p>
            <a:endParaRPr 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Carbamazepine 300mg twice daily control aggression</a:t>
            </a:r>
          </a:p>
          <a:p>
            <a:r>
              <a:rPr lang="en-US" dirty="0" smtClean="0"/>
              <a:t>Based on the hypothesis that in some instances the episodes may be related to discharges from the temporal lobes and that ethosuximide may inhibit them, it has been prescribed with promising results. Although this drug is not usually given for the treatment of seizures involving the temporal lobes</a:t>
            </a:r>
          </a:p>
          <a:p>
            <a:r>
              <a:rPr lang="en-US" dirty="0" smtClean="0"/>
              <a:t>Antiepileptic drugs are ineffective in controlling aggressive behaviour in children who do not experience definite seizure disorders. </a:t>
            </a:r>
          </a:p>
          <a:p>
            <a:pPr>
              <a:buNone/>
            </a:pPr>
            <a:endParaRPr lang="en-US" dirty="0" smtClean="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984</TotalTime>
  <Words>8665</Words>
  <Application>Microsoft Office PowerPoint</Application>
  <PresentationFormat>On-screen Show (4:3)</PresentationFormat>
  <Paragraphs>936</Paragraphs>
  <Slides>160</Slides>
  <Notes>9</Notes>
  <HiddenSlides>0</HiddenSlides>
  <MMClips>0</MMClips>
  <ScaleCrop>false</ScaleCrop>
  <HeadingPairs>
    <vt:vector size="4" baseType="variant">
      <vt:variant>
        <vt:lpstr>Theme</vt:lpstr>
      </vt:variant>
      <vt:variant>
        <vt:i4>1</vt:i4>
      </vt:variant>
      <vt:variant>
        <vt:lpstr>Slide Titles</vt:lpstr>
      </vt:variant>
      <vt:variant>
        <vt:i4>160</vt:i4>
      </vt:variant>
    </vt:vector>
  </HeadingPairs>
  <TitlesOfParts>
    <vt:vector size="161" baseType="lpstr">
      <vt:lpstr>Flow</vt:lpstr>
      <vt:lpstr>PSYCHIATRY</vt:lpstr>
      <vt:lpstr>Specific objectives</vt:lpstr>
      <vt:lpstr>SCHIZOPHRENIA</vt:lpstr>
      <vt:lpstr>Schizophrenia is common in</vt:lpstr>
      <vt:lpstr>Slide 5</vt:lpstr>
      <vt:lpstr>Slide 6</vt:lpstr>
      <vt:lpstr>Slide 7</vt:lpstr>
      <vt:lpstr>Types of Schizophrenia</vt:lpstr>
      <vt:lpstr>Slide 9</vt:lpstr>
      <vt:lpstr>Slide 10</vt:lpstr>
      <vt:lpstr>Management</vt:lpstr>
      <vt:lpstr>Slide 12</vt:lpstr>
      <vt:lpstr>Slide 13</vt:lpstr>
      <vt:lpstr>Slide 14</vt:lpstr>
      <vt:lpstr>AFFECTIVE DISORDERS</vt:lpstr>
      <vt:lpstr>Slide 16</vt:lpstr>
      <vt:lpstr>Slide 17</vt:lpstr>
      <vt:lpstr>Bipolar disorder</vt:lpstr>
      <vt:lpstr>Slide 19</vt:lpstr>
      <vt:lpstr>Possible causes</vt:lpstr>
      <vt:lpstr>Symptoms of mania</vt:lpstr>
      <vt:lpstr>Depression </vt:lpstr>
      <vt:lpstr>Major Depression</vt:lpstr>
      <vt:lpstr>Slide 24</vt:lpstr>
      <vt:lpstr>Management</vt:lpstr>
      <vt:lpstr>Slide 26</vt:lpstr>
      <vt:lpstr>Slide 27</vt:lpstr>
      <vt:lpstr>SOMATOFORM AND DISSOCIATIVE DISORDERS</vt:lpstr>
      <vt:lpstr>Types </vt:lpstr>
      <vt:lpstr>Slide 30</vt:lpstr>
      <vt:lpstr>Symptoms </vt:lpstr>
      <vt:lpstr>Management </vt:lpstr>
      <vt:lpstr>Hypochondriasis </vt:lpstr>
      <vt:lpstr>Slide 34</vt:lpstr>
      <vt:lpstr>Body dysmorphic disorder</vt:lpstr>
      <vt:lpstr>Slide 36</vt:lpstr>
      <vt:lpstr>Psychogenic pain</vt:lpstr>
      <vt:lpstr>Slide 38</vt:lpstr>
      <vt:lpstr>Management </vt:lpstr>
      <vt:lpstr>DISSOCIATIVE DISORDERS</vt:lpstr>
      <vt:lpstr>Slide 41</vt:lpstr>
      <vt:lpstr>Slide 42</vt:lpstr>
      <vt:lpstr>2.Psychogenic/dissociative fugue</vt:lpstr>
      <vt:lpstr>3.Psychogenic amnesia</vt:lpstr>
      <vt:lpstr>4.depersonalisation/derealization</vt:lpstr>
      <vt:lpstr>SEXUAL DISORDERS</vt:lpstr>
      <vt:lpstr>Slide 47</vt:lpstr>
      <vt:lpstr>Slide 48</vt:lpstr>
      <vt:lpstr>Slide 49</vt:lpstr>
      <vt:lpstr>Types </vt:lpstr>
      <vt:lpstr>Slide 51</vt:lpstr>
      <vt:lpstr>Slide 52</vt:lpstr>
      <vt:lpstr>Slide 53</vt:lpstr>
      <vt:lpstr>Slide 54</vt:lpstr>
      <vt:lpstr>Infant, childhood  psychiatric disorders.</vt:lpstr>
      <vt:lpstr>MENTAL RETARDATION </vt:lpstr>
      <vt:lpstr> Etiological Implications </vt:lpstr>
      <vt:lpstr>Hereditary Factors </vt:lpstr>
      <vt:lpstr>Slide 59</vt:lpstr>
      <vt:lpstr>Slide 60</vt:lpstr>
      <vt:lpstr>Slide 61</vt:lpstr>
      <vt:lpstr>Slide 62</vt:lpstr>
      <vt:lpstr>Slide 63</vt:lpstr>
      <vt:lpstr>Slide 64</vt:lpstr>
      <vt:lpstr>Slide 65</vt:lpstr>
      <vt:lpstr> Nursing Diagnosis</vt:lpstr>
      <vt:lpstr>AUTISTIC DISORDER </vt:lpstr>
      <vt:lpstr>Slide 68</vt:lpstr>
      <vt:lpstr>Slide 69</vt:lpstr>
      <vt:lpstr>Slide 70</vt:lpstr>
      <vt:lpstr>Assessment</vt:lpstr>
      <vt:lpstr> Impairment in Communication and Imaginative Activity </vt:lpstr>
      <vt:lpstr> Restricted Activities and Interests </vt:lpstr>
      <vt:lpstr>Slide 74</vt:lpstr>
      <vt:lpstr> ATTENTION-DEFICIT/HYPERACTIVITY DISORDER </vt:lpstr>
      <vt:lpstr>Slide 76</vt:lpstr>
      <vt:lpstr>Etiological Implications </vt:lpstr>
      <vt:lpstr> Biochemical Theory </vt:lpstr>
      <vt:lpstr>Slide 79</vt:lpstr>
      <vt:lpstr>Slide 80</vt:lpstr>
      <vt:lpstr>Slide 81</vt:lpstr>
      <vt:lpstr> Psychopharmacological Intervention for ADHD </vt:lpstr>
      <vt:lpstr>Slide 83</vt:lpstr>
      <vt:lpstr>Slide 84</vt:lpstr>
      <vt:lpstr>Nursing Implications </vt:lpstr>
      <vt:lpstr>Slide 86</vt:lpstr>
      <vt:lpstr>Slide 87</vt:lpstr>
      <vt:lpstr>Slide 88</vt:lpstr>
      <vt:lpstr>Coping and Stress Management</vt:lpstr>
      <vt:lpstr>Introduction </vt:lpstr>
      <vt:lpstr>Terms</vt:lpstr>
      <vt:lpstr>Characteristics of stress, coping and adaptation</vt:lpstr>
      <vt:lpstr>Physiologic response to stress</vt:lpstr>
      <vt:lpstr>Psychologic response to stress</vt:lpstr>
      <vt:lpstr>Cognitive manifestations</vt:lpstr>
      <vt:lpstr>Verbal and motor manifestation</vt:lpstr>
      <vt:lpstr>Normal coping patterns</vt:lpstr>
      <vt:lpstr>Slide 98</vt:lpstr>
      <vt:lpstr>Defense mechanisms  </vt:lpstr>
      <vt:lpstr>Slide 100</vt:lpstr>
      <vt:lpstr>Slide 101</vt:lpstr>
      <vt:lpstr>Slide 102</vt:lpstr>
      <vt:lpstr>Slide 103</vt:lpstr>
      <vt:lpstr>Lifespan</vt:lpstr>
      <vt:lpstr>Slide 105</vt:lpstr>
      <vt:lpstr>Slide 106</vt:lpstr>
      <vt:lpstr>Factors affecting coping patterns</vt:lpstr>
      <vt:lpstr>Manifestations of altered coping</vt:lpstr>
      <vt:lpstr>Assessment</vt:lpstr>
      <vt:lpstr>Nursing diagnosis </vt:lpstr>
      <vt:lpstr>Interventions</vt:lpstr>
      <vt:lpstr>Crisis</vt:lpstr>
      <vt:lpstr>Suicide </vt:lpstr>
      <vt:lpstr>Risk Factors For Suicide </vt:lpstr>
      <vt:lpstr>Slide 115</vt:lpstr>
      <vt:lpstr>Warning signs of suicide</vt:lpstr>
      <vt:lpstr>Slide 117</vt:lpstr>
      <vt:lpstr>PERSONALITY DISORDERS</vt:lpstr>
      <vt:lpstr>Types </vt:lpstr>
      <vt:lpstr>Slide 120</vt:lpstr>
      <vt:lpstr>Slide 121</vt:lpstr>
      <vt:lpstr>Slide 122</vt:lpstr>
      <vt:lpstr>Slide 123</vt:lpstr>
      <vt:lpstr>Slide 124</vt:lpstr>
      <vt:lpstr>Types </vt:lpstr>
      <vt:lpstr>Slide 126</vt:lpstr>
      <vt:lpstr>Slide 127</vt:lpstr>
      <vt:lpstr>Slide 128</vt:lpstr>
      <vt:lpstr>Slide 129</vt:lpstr>
      <vt:lpstr>Slide 130</vt:lpstr>
      <vt:lpstr>Slide 131</vt:lpstr>
      <vt:lpstr>Slide 132</vt:lpstr>
      <vt:lpstr>Types</vt:lpstr>
      <vt:lpstr>Slide 134</vt:lpstr>
      <vt:lpstr>Slide 135</vt:lpstr>
      <vt:lpstr>Slide 136</vt:lpstr>
      <vt:lpstr>Slide 137</vt:lpstr>
      <vt:lpstr>Slide 138</vt:lpstr>
      <vt:lpstr>NEUROTIC DISORDERS IN ADULTS AND ADOLESCENTS</vt:lpstr>
      <vt:lpstr>Slide 140</vt:lpstr>
      <vt:lpstr>Categories </vt:lpstr>
      <vt:lpstr>Types of anxiety disorders</vt:lpstr>
      <vt:lpstr>Slide 143</vt:lpstr>
      <vt:lpstr>Slide 144</vt:lpstr>
      <vt:lpstr>Slide 145</vt:lpstr>
      <vt:lpstr>Slide 146</vt:lpstr>
      <vt:lpstr>Slide 147</vt:lpstr>
      <vt:lpstr>ANTEPARTUM PSYCHOSIS</vt:lpstr>
      <vt:lpstr> Wernicke-Korsakoff psychosis </vt:lpstr>
      <vt:lpstr>Eclamptic psychosis</vt:lpstr>
      <vt:lpstr>Slide 151</vt:lpstr>
      <vt:lpstr>Slide 152</vt:lpstr>
      <vt:lpstr>PUEPERAL PSYCHOSIS</vt:lpstr>
      <vt:lpstr>Signs and symptoms</vt:lpstr>
      <vt:lpstr>Management </vt:lpstr>
      <vt:lpstr>EPISODIC DYSCONTROL/AGGRESSIVE BEHAVIOUR</vt:lpstr>
      <vt:lpstr>Slide 157</vt:lpstr>
      <vt:lpstr>Signs and symptoms</vt:lpstr>
      <vt:lpstr>Diagnosis </vt:lpstr>
      <vt:lpstr>Slide 160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PSYCHIATRY</dc:title>
  <dc:creator>JUDY</dc:creator>
  <cp:lastModifiedBy>JUDY</cp:lastModifiedBy>
  <cp:revision>137</cp:revision>
  <dcterms:created xsi:type="dcterms:W3CDTF">2013-07-09T16:45:44Z</dcterms:created>
  <dcterms:modified xsi:type="dcterms:W3CDTF">2014-01-09T13:03:30Z</dcterms:modified>
</cp:coreProperties>
</file>