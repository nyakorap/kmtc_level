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</p:sldMasterIdLst>
  <p:notesMasterIdLst>
    <p:notesMasterId r:id="rId41"/>
  </p:notesMasterIdLst>
  <p:handoutMasterIdLst>
    <p:handoutMasterId r:id="rId42"/>
  </p:handoutMasterIdLst>
  <p:sldIdLst>
    <p:sldId id="279" r:id="rId2"/>
    <p:sldId id="369" r:id="rId3"/>
    <p:sldId id="342" r:id="rId4"/>
    <p:sldId id="383" r:id="rId5"/>
    <p:sldId id="350" r:id="rId6"/>
    <p:sldId id="380" r:id="rId7"/>
    <p:sldId id="381" r:id="rId8"/>
    <p:sldId id="375" r:id="rId9"/>
    <p:sldId id="376" r:id="rId10"/>
    <p:sldId id="384" r:id="rId11"/>
    <p:sldId id="385" r:id="rId12"/>
    <p:sldId id="344" r:id="rId13"/>
    <p:sldId id="386" r:id="rId14"/>
    <p:sldId id="370" r:id="rId15"/>
    <p:sldId id="387" r:id="rId16"/>
    <p:sldId id="377" r:id="rId17"/>
    <p:sldId id="388" r:id="rId18"/>
    <p:sldId id="378" r:id="rId19"/>
    <p:sldId id="389" r:id="rId20"/>
    <p:sldId id="355" r:id="rId21"/>
    <p:sldId id="394" r:id="rId22"/>
    <p:sldId id="357" r:id="rId23"/>
    <p:sldId id="391" r:id="rId24"/>
    <p:sldId id="320" r:id="rId25"/>
    <p:sldId id="322" r:id="rId26"/>
    <p:sldId id="364" r:id="rId27"/>
    <p:sldId id="328" r:id="rId28"/>
    <p:sldId id="329" r:id="rId29"/>
    <p:sldId id="367" r:id="rId30"/>
    <p:sldId id="330" r:id="rId31"/>
    <p:sldId id="382" r:id="rId32"/>
    <p:sldId id="392" r:id="rId33"/>
    <p:sldId id="333" r:id="rId34"/>
    <p:sldId id="373" r:id="rId35"/>
    <p:sldId id="335" r:id="rId36"/>
    <p:sldId id="332" r:id="rId37"/>
    <p:sldId id="334" r:id="rId38"/>
    <p:sldId id="336" r:id="rId39"/>
    <p:sldId id="393" r:id="rId40"/>
  </p:sldIdLst>
  <p:sldSz cx="10287000" cy="6858000" type="35mm"/>
  <p:notesSz cx="6858000" cy="91900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4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rina Avery" initials="kha" lastIdx="27" clrIdx="0"/>
  <p:cmAuthor id="1" name="muveaafrancis@gmail.com" initials="m" lastIdx="1" clrIdx="1">
    <p:extLst>
      <p:ext uri="{19B8F6BF-5375-455C-9EA6-DF929625EA0E}">
        <p15:presenceInfo xmlns:p15="http://schemas.microsoft.com/office/powerpoint/2012/main" userId="e925fb44e6711fe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8E2"/>
    <a:srgbClr val="FFFF99"/>
    <a:srgbClr val="B0B1B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1308" autoAdjust="0"/>
  </p:normalViewPr>
  <p:slideViewPr>
    <p:cSldViewPr snapToGrid="0">
      <p:cViewPr>
        <p:scale>
          <a:sx n="75" d="100"/>
          <a:sy n="75" d="100"/>
        </p:scale>
        <p:origin x="269" y="134"/>
      </p:cViewPr>
      <p:guideLst>
        <p:guide orient="horz" pos="2160"/>
        <p:guide pos="32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926" y="-84"/>
      </p:cViewPr>
      <p:guideLst>
        <p:guide orient="horz" pos="2894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2971800" cy="460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-1588"/>
            <a:ext cx="2971800" cy="460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9663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9663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pPr>
              <a:defRPr/>
            </a:pPr>
            <a:fld id="{4BFAAC6D-C44A-4254-8923-C4D20A738C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944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2971800" cy="460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-1588"/>
            <a:ext cx="2971800" cy="460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9663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9663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253A1DC3-B000-4DAC-9411-F8CEB67AAC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4038"/>
            <a:ext cx="5029200" cy="413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1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0900" y="695325"/>
            <a:ext cx="5156200" cy="34337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77759539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27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39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96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3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37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44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44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33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53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45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38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29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36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50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1000">
              <a:latin typeface="Times New Roman" pitchFamily="18" charset="0"/>
            </a:endParaRPr>
          </a:p>
        </p:txBody>
      </p:sp>
      <p:sp>
        <p:nvSpPr>
          <p:cNvPr id="53251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E48442F2-8C47-44C3-AEE7-57FF3A8D556A}" type="slidenum">
              <a:rPr lang="en-US" sz="1000" smtClean="0">
                <a:latin typeface="Times New Roman" pitchFamily="18" charset="0"/>
              </a:rPr>
              <a:pPr/>
              <a:t>24</a:t>
            </a:fld>
            <a:endParaRPr lang="en-US" sz="1000">
              <a:latin typeface="Times New Roman" pitchFamily="18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695325"/>
            <a:ext cx="5149850" cy="3433763"/>
          </a:xfrm>
          <a:ln/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38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49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204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424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0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43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659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01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263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062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441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062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263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695325"/>
            <a:ext cx="5149850" cy="34337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A1DC3-B000-4DAC-9411-F8CEB67AACC1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72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5830" y="758952"/>
            <a:ext cx="8486775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168" y="4455621"/>
            <a:ext cx="8486775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D1B358-2335-4964-8E24-7482860A473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06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4F1AD-6F8A-4005-BD93-9021B78E8C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3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758952"/>
            <a:ext cx="8486775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4453128"/>
            <a:ext cx="8486775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E191B-4684-4E02-9C9D-F6024F9676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037008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830" y="1845734"/>
            <a:ext cx="4166235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6370" y="1845737"/>
            <a:ext cx="4166235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41B97E-055E-4FEC-B4C5-89A17F5415A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9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2582334"/>
            <a:ext cx="4166235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637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6370" y="2582334"/>
            <a:ext cx="4166235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E191B-4684-4E02-9C9D-F6024F9676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6540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E191B-4684-4E02-9C9D-F6024F9676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61771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r"/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E191B-4684-4E02-9C9D-F6024F9676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15804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4178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408810" y="0"/>
            <a:ext cx="54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62" y="594359"/>
            <a:ext cx="2700338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2767" y="731520"/>
            <a:ext cx="5635567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762" y="2926080"/>
            <a:ext cx="2700338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2777" y="6459787"/>
            <a:ext cx="2209368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0506" y="6459787"/>
            <a:ext cx="39219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algn="r"/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F0E191B-4684-4E02-9C9D-F6024F9676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27593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02843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491507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5074920"/>
            <a:ext cx="853821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286988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829" y="5907024"/>
            <a:ext cx="853821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E191B-4684-4E02-9C9D-F6024F9676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6887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E191B-4684-4E02-9C9D-F6024F9676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90286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414780"/>
            <a:ext cx="2218134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414779"/>
            <a:ext cx="6525816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E191B-4684-4E02-9C9D-F6024F9676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21164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0287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0287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29" y="1845734"/>
            <a:ext cx="8486776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5832" y="6459787"/>
            <a:ext cx="2085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10219" y="6459787"/>
            <a:ext cx="4069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algn="r"/>
            <a:r>
              <a:rPr lang="en-US"/>
              <a:t>© 2015 John Wiley &amp; Sons, Inc.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513" y="6459787"/>
            <a:ext cx="1107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F0E191B-4684-4E02-9C9D-F6024F9676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007042" y="1737845"/>
            <a:ext cx="84096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45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2" y="725714"/>
            <a:ext cx="8486775" cy="2496457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6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Dissociative Disorders and Somatic Symptom-Related Disorders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6700" y="4325112"/>
            <a:ext cx="10020300" cy="2075688"/>
          </a:xfrm>
        </p:spPr>
        <p:txBody>
          <a:bodyPr>
            <a:noAutofit/>
          </a:bodyPr>
          <a:lstStyle/>
          <a:p>
            <a:pPr marL="411480" lvl="1"/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Dissociative Disorders</a:t>
            </a:r>
          </a:p>
          <a:p>
            <a:pPr marL="411480" lvl="1"/>
            <a:endParaRPr 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11480" lvl="1"/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Somatic Symptom and Related Disorders</a:t>
            </a:r>
          </a:p>
          <a:p>
            <a:pPr>
              <a:lnSpc>
                <a:spcPct val="8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286606"/>
            <a:ext cx="8486775" cy="1063224"/>
          </a:xfrm>
        </p:spPr>
        <p:txBody>
          <a:bodyPr>
            <a:no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 of </a:t>
            </a:r>
            <a:r>
              <a:rPr 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Dissociative Disorders</a:t>
            </a:r>
          </a:p>
        </p:txBody>
      </p:sp>
      <p:pic>
        <p:nvPicPr>
          <p:cNvPr id="6" name="Picture 5" descr="Table 8.1.jpg"/>
          <p:cNvPicPr>
            <a:picLocks noChangeAspect="1"/>
          </p:cNvPicPr>
          <p:nvPr/>
        </p:nvPicPr>
        <p:blipFill>
          <a:blip r:embed="rId3"/>
          <a:srcRect b="5524"/>
          <a:stretch>
            <a:fillRect/>
          </a:stretch>
        </p:blipFill>
        <p:spPr>
          <a:xfrm>
            <a:off x="459330" y="1788162"/>
            <a:ext cx="9827669" cy="483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95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925830" y="286606"/>
            <a:ext cx="9176113" cy="1063224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Dissociative Disorders (Introduction)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idx="1"/>
          </p:nvPr>
        </p:nvSpPr>
        <p:spPr>
          <a:xfrm>
            <a:off x="925829" y="1845734"/>
            <a:ext cx="8486776" cy="43373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/>
              <a:t>Dissociation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Some aspect of cognition or experience becomes inaccessible to consciousness</a:t>
            </a:r>
          </a:p>
          <a:p>
            <a:pPr lvl="2">
              <a:lnSpc>
                <a:spcPct val="100000"/>
              </a:lnSpc>
            </a:pPr>
            <a:endParaRPr lang="en-US" sz="3600" dirty="0"/>
          </a:p>
          <a:p>
            <a:pPr lvl="1">
              <a:lnSpc>
                <a:spcPct val="100000"/>
              </a:lnSpc>
            </a:pPr>
            <a:r>
              <a:rPr lang="en-US" sz="3600" dirty="0"/>
              <a:t>Some types of dissociation are harmless and common (e.g., losing track of time)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ABBE-8D9C-43F4-968F-4F1A5269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Dissociative Disorders Cont’d…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2D80F-885D-4290-8870-18BACE493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3600" b="1" dirty="0"/>
              <a:t>Sudden disruption in the continuity of: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Consciousness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Emotions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Motivation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Memory 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Identity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276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925830" y="286606"/>
            <a:ext cx="8486775" cy="918080"/>
          </a:xfrm>
        </p:spPr>
        <p:txBody>
          <a:bodyPr>
            <a:norm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Dissociation and  Memory 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>
          <a:xfrm>
            <a:off x="925829" y="1465945"/>
            <a:ext cx="8486776" cy="48477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/>
              <a:t>How does memory work under stress?</a:t>
            </a:r>
          </a:p>
          <a:p>
            <a:pPr lvl="1">
              <a:lnSpc>
                <a:spcPct val="100000"/>
              </a:lnSpc>
            </a:pPr>
            <a:r>
              <a:rPr lang="en-US" sz="3200" b="1" dirty="0"/>
              <a:t>Psychodynamic</a:t>
            </a:r>
          </a:p>
          <a:p>
            <a:pPr marL="384048" lvl="2" indent="0">
              <a:lnSpc>
                <a:spcPct val="100000"/>
              </a:lnSpc>
              <a:buNone/>
            </a:pPr>
            <a:r>
              <a:rPr lang="en-US" sz="3200" dirty="0"/>
              <a:t>  - Traumatic events are repressed</a:t>
            </a:r>
          </a:p>
          <a:p>
            <a:pPr lvl="2">
              <a:lnSpc>
                <a:spcPct val="100000"/>
              </a:lnSpc>
            </a:pPr>
            <a:endParaRPr lang="en-US" sz="3200" dirty="0"/>
          </a:p>
          <a:p>
            <a:pPr lvl="1">
              <a:lnSpc>
                <a:spcPct val="100000"/>
              </a:lnSpc>
            </a:pPr>
            <a:r>
              <a:rPr lang="en-US" sz="3200" b="1" dirty="0"/>
              <a:t>Cognitive</a:t>
            </a:r>
            <a:r>
              <a:rPr lang="en-US" sz="3200" dirty="0"/>
              <a:t> </a:t>
            </a:r>
          </a:p>
          <a:p>
            <a:pPr marL="384048" lvl="2" indent="0">
              <a:lnSpc>
                <a:spcPct val="100000"/>
              </a:lnSpc>
              <a:buNone/>
            </a:pPr>
            <a:r>
              <a:rPr lang="en-US" sz="3200" dirty="0"/>
              <a:t>  - Extreme </a:t>
            </a:r>
            <a:r>
              <a:rPr lang="en-US" sz="3200" u="sng" dirty="0"/>
              <a:t>stress usually enhances rather than impairs memory </a:t>
            </a:r>
          </a:p>
          <a:p>
            <a:pPr lvl="1">
              <a:lnSpc>
                <a:spcPct val="100000"/>
              </a:lnSpc>
            </a:pPr>
            <a:r>
              <a:rPr lang="en-US" sz="3200" b="1" dirty="0"/>
              <a:t>Interference in memory formation </a:t>
            </a:r>
          </a:p>
          <a:p>
            <a:pPr marL="384048" lvl="2" indent="0">
              <a:lnSpc>
                <a:spcPct val="100000"/>
              </a:lnSpc>
              <a:buNone/>
            </a:pPr>
            <a:r>
              <a:rPr lang="en-US" sz="3200" dirty="0"/>
              <a:t> - Not accessible to awareness later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925830" y="286605"/>
            <a:ext cx="8486775" cy="1034195"/>
          </a:xfrm>
        </p:spPr>
        <p:txBody>
          <a:bodyPr>
            <a:norm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Deficits and Dissociation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xfrm>
            <a:off x="348342" y="1741714"/>
            <a:ext cx="9608457" cy="41273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/>
              <a:t>Memory deficits in </a:t>
            </a:r>
            <a:r>
              <a:rPr lang="en-US" sz="3200" b="1" i="1" u="sng" dirty="0">
                <a:solidFill>
                  <a:srgbClr val="C00000"/>
                </a:solidFill>
              </a:rPr>
              <a:t>explicit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r>
              <a:rPr lang="en-US" sz="3200" b="1" dirty="0"/>
              <a:t>but not </a:t>
            </a:r>
            <a:r>
              <a:rPr lang="en-US" sz="3200" b="1" i="1" u="sng" dirty="0">
                <a:solidFill>
                  <a:schemeClr val="accent1"/>
                </a:solidFill>
              </a:rPr>
              <a:t>implicit</a:t>
            </a:r>
            <a:r>
              <a:rPr lang="en-US" sz="3200" b="1" dirty="0"/>
              <a:t> memory</a:t>
            </a:r>
          </a:p>
          <a:p>
            <a:pPr>
              <a:lnSpc>
                <a:spcPct val="100000"/>
              </a:lnSpc>
            </a:pPr>
            <a:r>
              <a:rPr lang="en-US" sz="3200" b="1" dirty="0"/>
              <a:t>Explicit memory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Involves conscious recall of experiences</a:t>
            </a:r>
          </a:p>
          <a:p>
            <a:pPr marL="384048" lvl="2" indent="0">
              <a:lnSpc>
                <a:spcPct val="100000"/>
              </a:lnSpc>
              <a:buNone/>
            </a:pPr>
            <a:r>
              <a:rPr lang="en-US" sz="3200" dirty="0"/>
              <a:t> - e.g., Last promotion, daughter’s birthday party</a:t>
            </a:r>
          </a:p>
          <a:p>
            <a:pPr>
              <a:lnSpc>
                <a:spcPct val="100000"/>
              </a:lnSpc>
            </a:pPr>
            <a:r>
              <a:rPr lang="en-US" sz="3200" b="1" dirty="0"/>
              <a:t>Implicit memory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Underlies behaviors based on experiences that cannot be consciously recalled</a:t>
            </a:r>
          </a:p>
          <a:p>
            <a:pPr marL="384048" lvl="2" indent="0">
              <a:lnSpc>
                <a:spcPct val="100000"/>
              </a:lnSpc>
              <a:buNone/>
            </a:pPr>
            <a:r>
              <a:rPr lang="en-US" sz="3200" dirty="0"/>
              <a:t> - e.g., riding a bicycle, writing a check</a:t>
            </a:r>
          </a:p>
        </p:txBody>
      </p:sp>
    </p:spTree>
    <p:extLst>
      <p:ext uri="{BB962C8B-B14F-4D97-AF65-F5344CB8AC3E}">
        <p14:creationId xmlns:p14="http://schemas.microsoft.com/office/powerpoint/2010/main" val="3398412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967240" y="300673"/>
            <a:ext cx="8486775" cy="1048709"/>
          </a:xfrm>
        </p:spPr>
        <p:txBody>
          <a:bodyPr>
            <a:norm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Deficits and Dissociation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595086" y="1845733"/>
            <a:ext cx="9231085" cy="442443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800" b="1" dirty="0"/>
              <a:t>Distinguishing other causes of memory loss from dissociation:</a:t>
            </a:r>
          </a:p>
          <a:p>
            <a:pPr lvl="1">
              <a:lnSpc>
                <a:spcPct val="120000"/>
              </a:lnSpc>
            </a:pPr>
            <a:r>
              <a:rPr lang="en-US" sz="3200" dirty="0"/>
              <a:t>Major Neurocognitive Disorder (MND</a:t>
            </a:r>
            <a:r>
              <a:rPr lang="en-US" sz="2400" dirty="0"/>
              <a:t>)</a:t>
            </a:r>
            <a:endParaRPr lang="en-US" sz="1700" dirty="0"/>
          </a:p>
          <a:p>
            <a:pPr lvl="2">
              <a:lnSpc>
                <a:spcPct val="120000"/>
              </a:lnSpc>
            </a:pPr>
            <a:r>
              <a:rPr lang="en-US" sz="2800" dirty="0"/>
              <a:t>Memory fails slowly over time</a:t>
            </a:r>
          </a:p>
          <a:p>
            <a:pPr lvl="2">
              <a:lnSpc>
                <a:spcPct val="120000"/>
              </a:lnSpc>
            </a:pPr>
            <a:r>
              <a:rPr lang="en-US" sz="2800" dirty="0"/>
              <a:t>Is not linked to stress</a:t>
            </a:r>
          </a:p>
          <a:p>
            <a:pPr lvl="2">
              <a:lnSpc>
                <a:spcPct val="120000"/>
              </a:lnSpc>
            </a:pPr>
            <a:r>
              <a:rPr lang="en-US" sz="2800" dirty="0"/>
              <a:t>Accompanied by other cognitive deficits</a:t>
            </a:r>
          </a:p>
          <a:p>
            <a:pPr lvl="3">
              <a:lnSpc>
                <a:spcPct val="120000"/>
              </a:lnSpc>
            </a:pPr>
            <a:r>
              <a:rPr lang="en-US" sz="2800" dirty="0"/>
              <a:t>Inability to learn new information</a:t>
            </a:r>
          </a:p>
          <a:p>
            <a:pPr lvl="3"/>
            <a:endParaRPr lang="en-US" sz="1800" dirty="0"/>
          </a:p>
          <a:p>
            <a:pPr lvl="1"/>
            <a:r>
              <a:rPr lang="en-US" sz="3200" dirty="0"/>
              <a:t>Memory loss after a brain injury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Substance abuse                 </a:t>
            </a:r>
            <a:r>
              <a:rPr lang="en-US" sz="1700" dirty="0"/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465878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146957" y="239021"/>
            <a:ext cx="9753600" cy="997709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Depersonalization/Derealization Disorder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342899" y="1643974"/>
            <a:ext cx="9753599" cy="470818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/>
              <a:t>Perception of self is altered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Triggered by stress or traumatic event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No disturbance in memory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No psychosis or loss of memory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Often co-morbid with anxiety, depression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Typical onset in adolescence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Chronic course	</a:t>
            </a:r>
            <a:r>
              <a:rPr lang="en-US" dirty="0"/>
              <a:t>	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Symptoms are not explained by substances, another dissociative disorder, another psychological disorder, or a medical condition </a:t>
            </a:r>
            <a:endParaRPr lang="en-US" sz="14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406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830" y="286605"/>
            <a:ext cx="8570776" cy="104870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+mn-lt"/>
              </a:rPr>
              <a:t>DSM-5 Criteria:</a:t>
            </a:r>
            <a:br>
              <a:rPr lang="en-US" sz="3600" b="1" dirty="0">
                <a:latin typeface="+mn-lt"/>
              </a:rPr>
            </a:br>
            <a:r>
              <a:rPr lang="en-US" sz="3600" b="1" dirty="0">
                <a:latin typeface="+mn-lt"/>
              </a:rPr>
              <a:t>Depersonalization/Derealization Disorder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737362"/>
            <a:ext cx="9753600" cy="4587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Experiences of </a:t>
            </a:r>
            <a:r>
              <a:rPr lang="en-US" sz="2800" b="1" u="sng" dirty="0">
                <a:solidFill>
                  <a:srgbClr val="C00000"/>
                </a:solidFill>
              </a:rPr>
              <a:t>depersonalization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or </a:t>
            </a:r>
            <a:r>
              <a:rPr lang="en-US" sz="2800" b="1" u="sng" dirty="0"/>
              <a:t>detachment from one’s mental processes as if one is in a dream</a:t>
            </a:r>
          </a:p>
          <a:p>
            <a:pPr lvl="1">
              <a:lnSpc>
                <a:spcPct val="100000"/>
              </a:lnSpc>
            </a:pPr>
            <a:r>
              <a:rPr lang="en-US" sz="2800" u="sng" dirty="0"/>
              <a:t>Unusual sensory experiences</a:t>
            </a:r>
          </a:p>
          <a:p>
            <a:pPr lvl="2">
              <a:lnSpc>
                <a:spcPct val="100000"/>
              </a:lnSpc>
            </a:pPr>
            <a:r>
              <a:rPr lang="en-US" sz="2800" dirty="0"/>
              <a:t>Limbs feel deformed or enlarged</a:t>
            </a:r>
          </a:p>
          <a:p>
            <a:pPr lvl="2">
              <a:lnSpc>
                <a:spcPct val="100000"/>
              </a:lnSpc>
            </a:pPr>
            <a:r>
              <a:rPr lang="en-US" sz="2800" dirty="0"/>
              <a:t>Voice sounds different or distant</a:t>
            </a:r>
          </a:p>
          <a:p>
            <a:pPr lvl="2">
              <a:lnSpc>
                <a:spcPct val="100000"/>
              </a:lnSpc>
            </a:pP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u="sng" dirty="0"/>
              <a:t>Feelings of detachment or disconnection</a:t>
            </a:r>
          </a:p>
          <a:p>
            <a:pPr lvl="2">
              <a:lnSpc>
                <a:spcPct val="100000"/>
              </a:lnSpc>
            </a:pPr>
            <a:r>
              <a:rPr lang="en-US" sz="2800" dirty="0"/>
              <a:t>Watching self from outside</a:t>
            </a:r>
          </a:p>
          <a:p>
            <a:pPr lvl="3">
              <a:lnSpc>
                <a:spcPct val="100000"/>
              </a:lnSpc>
            </a:pPr>
            <a:r>
              <a:rPr lang="en-US" sz="2800" dirty="0"/>
              <a:t>Floating above one’s body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04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0B12-4B77-42C7-AB1B-6B2635AB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286605"/>
            <a:ext cx="9724571" cy="145075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latin typeface="+mn-lt"/>
              </a:rPr>
              <a:t>DSM-5 Criteria:</a:t>
            </a:r>
            <a:br>
              <a:rPr lang="en-US" sz="4000" b="1" dirty="0">
                <a:latin typeface="+mn-lt"/>
              </a:rPr>
            </a:br>
            <a:r>
              <a:rPr lang="en-US" sz="4000" b="1" dirty="0">
                <a:latin typeface="+mn-lt"/>
              </a:rPr>
              <a:t>Depersonalization/Derealization Disorder Cont’d…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752A7-E82D-4477-A722-2485B0CDA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829" y="1845733"/>
            <a:ext cx="8885828" cy="4409923"/>
          </a:xfrm>
        </p:spPr>
        <p:txBody>
          <a:bodyPr/>
          <a:lstStyle/>
          <a:p>
            <a:r>
              <a:rPr lang="en-US" sz="3200" b="1" dirty="0"/>
              <a:t>Or experiences of </a:t>
            </a:r>
            <a:r>
              <a:rPr lang="en-US" sz="3200" b="1" u="sng" dirty="0">
                <a:solidFill>
                  <a:srgbClr val="7030A0"/>
                </a:solidFill>
              </a:rPr>
              <a:t>derealization</a:t>
            </a:r>
          </a:p>
          <a:p>
            <a:pPr lvl="1"/>
            <a:r>
              <a:rPr lang="en-US" sz="3200" dirty="0"/>
              <a:t>World has become </a:t>
            </a:r>
            <a:r>
              <a:rPr lang="en-US" sz="3200" b="1" dirty="0">
                <a:solidFill>
                  <a:srgbClr val="C00000"/>
                </a:solidFill>
              </a:rPr>
              <a:t>unreal</a:t>
            </a:r>
          </a:p>
          <a:p>
            <a:pPr lvl="2">
              <a:lnSpc>
                <a:spcPct val="100000"/>
              </a:lnSpc>
            </a:pPr>
            <a:r>
              <a:rPr lang="en-US" sz="2800" i="1" dirty="0"/>
              <a:t>World appears strange, peculiar, foreign, dream-like</a:t>
            </a:r>
          </a:p>
          <a:p>
            <a:pPr lvl="2">
              <a:lnSpc>
                <a:spcPct val="100000"/>
              </a:lnSpc>
            </a:pPr>
            <a:r>
              <a:rPr lang="en-US" sz="2800" i="1" dirty="0"/>
              <a:t>Objects appear at times strangely diminished in size, at times flat</a:t>
            </a:r>
          </a:p>
          <a:p>
            <a:pPr lvl="2">
              <a:lnSpc>
                <a:spcPct val="100000"/>
              </a:lnSpc>
            </a:pPr>
            <a:r>
              <a:rPr lang="en-US" sz="2800" i="1" dirty="0"/>
              <a:t>Incapable of experiencing emotions</a:t>
            </a:r>
          </a:p>
          <a:p>
            <a:pPr lvl="2">
              <a:lnSpc>
                <a:spcPct val="100000"/>
              </a:lnSpc>
            </a:pPr>
            <a:r>
              <a:rPr lang="en-US" sz="2800" i="1" dirty="0"/>
              <a:t>Feeling as if they were dead, lifeless, mere automatons</a:t>
            </a:r>
          </a:p>
          <a:p>
            <a:pPr lvl="2">
              <a:lnSpc>
                <a:spcPct val="100000"/>
              </a:lnSpc>
            </a:pPr>
            <a:r>
              <a:rPr lang="en-US" sz="2800" i="1" dirty="0"/>
              <a:t>Experiences of unreality of surroundings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503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257E-53B2-456D-BDE1-2FA86A02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6605"/>
            <a:ext cx="9797143" cy="1237395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+mn-lt"/>
              </a:rPr>
              <a:t>DSM-5 Criteria:</a:t>
            </a:r>
            <a:br>
              <a:rPr lang="en-US" sz="3600" b="1" dirty="0">
                <a:latin typeface="+mn-lt"/>
              </a:rPr>
            </a:br>
            <a:r>
              <a:rPr lang="en-US" sz="3600" b="1" dirty="0">
                <a:latin typeface="+mn-lt"/>
              </a:rPr>
              <a:t>Depersonalization/Derealization Disorder Cont’d…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7C228-7242-43D5-96E6-6ABDAAAC1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Or experiences of derealization Cont’d…</a:t>
            </a:r>
            <a:endParaRPr lang="en-US" i="1" dirty="0"/>
          </a:p>
          <a:p>
            <a:r>
              <a:rPr lang="en-US" sz="3200" i="1" dirty="0"/>
              <a:t>Symptoms are persistent or recurrent</a:t>
            </a:r>
          </a:p>
          <a:p>
            <a:r>
              <a:rPr lang="en-US" sz="3200" i="1" dirty="0"/>
              <a:t>Reality testing remains intact </a:t>
            </a:r>
          </a:p>
          <a:p>
            <a:endParaRPr lang="en-US" sz="3200" i="1" dirty="0"/>
          </a:p>
          <a:p>
            <a:pPr>
              <a:lnSpc>
                <a:spcPct val="100000"/>
              </a:lnSpc>
            </a:pPr>
            <a:r>
              <a:rPr lang="en-US" sz="3200" i="1" dirty="0"/>
              <a:t>Symptoms are not explained by substances, another dissociative disorder </a:t>
            </a:r>
          </a:p>
          <a:p>
            <a:pPr>
              <a:lnSpc>
                <a:spcPct val="100000"/>
              </a:lnSpc>
            </a:pPr>
            <a:endParaRPr lang="en-US" sz="3200" i="1" dirty="0"/>
          </a:p>
          <a:p>
            <a:pPr>
              <a:lnSpc>
                <a:spcPct val="100000"/>
              </a:lnSpc>
            </a:pPr>
            <a:r>
              <a:rPr lang="en-US" sz="1400" i="1" dirty="0"/>
              <a:t>&gt;&gt;&gt;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10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464458" y="203201"/>
            <a:ext cx="9376228" cy="132080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Criteria:</a:t>
            </a:r>
            <a:br>
              <a:rPr 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Dissociative  Amnesia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464458" y="1737362"/>
            <a:ext cx="9376228" cy="4576352"/>
          </a:xfrm>
        </p:spPr>
        <p:txBody>
          <a:bodyPr>
            <a:normAutofit/>
          </a:bodyPr>
          <a:lstStyle/>
          <a:p>
            <a:r>
              <a:rPr lang="en-US" sz="3200" u="sng" dirty="0"/>
              <a:t>Inability to remember important personal information, usually of a traumatic or stressful nature</a:t>
            </a:r>
            <a:r>
              <a:rPr lang="en-US" sz="3200" dirty="0"/>
              <a:t>, that is too extensive to be ordinary forgetfulness</a:t>
            </a:r>
          </a:p>
          <a:p>
            <a:endParaRPr lang="en-US" sz="3200" dirty="0"/>
          </a:p>
          <a:p>
            <a:r>
              <a:rPr lang="en-US" sz="3200" dirty="0"/>
              <a:t>The amnesia is not explained by substances, or by other medical or psychological conditions</a:t>
            </a:r>
          </a:p>
          <a:p>
            <a:endParaRPr lang="en-US" sz="3400" dirty="0"/>
          </a:p>
          <a:p>
            <a:pPr lvl="1"/>
            <a:r>
              <a:rPr lang="en-US" sz="2800" dirty="0"/>
              <a:t>Need to rule out other possible causes of memory loss</a:t>
            </a:r>
          </a:p>
          <a:p>
            <a:endParaRPr lang="en-US" sz="3400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C08C-7978-4A42-BE42-FE1E0C675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DSM-5 Criteria:</a:t>
            </a:r>
            <a:br>
              <a:rPr lang="en-US" sz="4800" b="1" dirty="0"/>
            </a:br>
            <a:r>
              <a:rPr lang="en-US" sz="4800" b="1" dirty="0"/>
              <a:t>Dissociative  Amnesia Cont’d…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AF6BA-09B6-40BF-BC15-C808D48E5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1" y="1845734"/>
            <a:ext cx="8933634" cy="4023360"/>
          </a:xfrm>
        </p:spPr>
        <p:txBody>
          <a:bodyPr/>
          <a:lstStyle/>
          <a:p>
            <a:r>
              <a:rPr lang="en-US" sz="3200" dirty="0"/>
              <a:t>Specify </a:t>
            </a:r>
            <a:r>
              <a:rPr lang="en-US" sz="3200" u="sng" dirty="0"/>
              <a:t>dissociative fugue subtype if the amnesia is associated with bewildered or apparently purposeful wandering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7030A0"/>
                </a:solidFill>
              </a:rPr>
              <a:t>Usually remits spontaneously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592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86605"/>
            <a:ext cx="8803005" cy="145075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Dissociative Amnesia: </a:t>
            </a:r>
            <a:br>
              <a:rPr lang="en-US" sz="4400" b="1" dirty="0">
                <a:solidFill>
                  <a:srgbClr val="C00000"/>
                </a:solidFill>
              </a:rPr>
            </a:br>
            <a:r>
              <a:rPr lang="en-US" sz="4400" b="1" dirty="0">
                <a:solidFill>
                  <a:schemeClr val="accent1"/>
                </a:solidFill>
              </a:rPr>
              <a:t>Dissociative Fugue Subtype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464457" y="1845734"/>
            <a:ext cx="8948148" cy="402336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1" u="sng" dirty="0"/>
              <a:t>Amnesia </a:t>
            </a:r>
            <a:r>
              <a:rPr lang="en-US" sz="3200" dirty="0"/>
              <a:t>and </a:t>
            </a:r>
            <a:r>
              <a:rPr lang="en-US" sz="3200" b="1" u="sng" dirty="0"/>
              <a:t>flight</a:t>
            </a:r>
            <a:r>
              <a:rPr lang="en-US" sz="3200" dirty="0"/>
              <a:t> and </a:t>
            </a:r>
            <a:r>
              <a:rPr lang="en-US" sz="3200" b="1" u="sng" dirty="0"/>
              <a:t>new identity</a:t>
            </a:r>
          </a:p>
          <a:p>
            <a:pPr lvl="1">
              <a:lnSpc>
                <a:spcPct val="90000"/>
              </a:lnSpc>
            </a:pPr>
            <a:r>
              <a:rPr lang="en-US" sz="3200" dirty="0"/>
              <a:t>Latin </a:t>
            </a:r>
            <a:r>
              <a:rPr lang="en-US" sz="3200" i="1" dirty="0" err="1"/>
              <a:t>fugere</a:t>
            </a:r>
            <a:r>
              <a:rPr lang="en-US" sz="3200" dirty="0"/>
              <a:t>, “to flee”</a:t>
            </a:r>
          </a:p>
          <a:p>
            <a:pPr>
              <a:lnSpc>
                <a:spcPct val="90000"/>
              </a:lnSpc>
            </a:pPr>
            <a:r>
              <a:rPr lang="en-US" sz="3200" dirty="0"/>
              <a:t>Sudden, unexpected travel with inability to recall one’s past</a:t>
            </a:r>
          </a:p>
          <a:p>
            <a:pPr lvl="1">
              <a:lnSpc>
                <a:spcPct val="90000"/>
              </a:lnSpc>
            </a:pPr>
            <a:r>
              <a:rPr lang="en-US" sz="3200" dirty="0"/>
              <a:t>Assume new identity</a:t>
            </a:r>
          </a:p>
          <a:p>
            <a:pPr lvl="2">
              <a:lnSpc>
                <a:spcPct val="90000"/>
              </a:lnSpc>
            </a:pPr>
            <a:r>
              <a:rPr lang="en-US" sz="3200" dirty="0"/>
              <a:t>May involve new name, job, personality characteristics</a:t>
            </a:r>
          </a:p>
          <a:p>
            <a:pPr lvl="1">
              <a:lnSpc>
                <a:spcPct val="90000"/>
              </a:lnSpc>
            </a:pPr>
            <a:r>
              <a:rPr lang="en-US" sz="3200" dirty="0"/>
              <a:t>More often of brief duration</a:t>
            </a:r>
          </a:p>
          <a:p>
            <a:pPr lvl="1">
              <a:lnSpc>
                <a:spcPct val="90000"/>
              </a:lnSpc>
            </a:pPr>
            <a:r>
              <a:rPr lang="en-US" sz="2800" i="1" dirty="0">
                <a:solidFill>
                  <a:srgbClr val="7030A0"/>
                </a:solidFill>
              </a:rPr>
              <a:t>Remits spontaneously</a:t>
            </a:r>
          </a:p>
        </p:txBody>
      </p:sp>
    </p:spTree>
    <p:extLst>
      <p:ext uri="{BB962C8B-B14F-4D97-AF65-F5344CB8AC3E}">
        <p14:creationId xmlns:p14="http://schemas.microsoft.com/office/powerpoint/2010/main" val="816045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45DA6-03F1-45BE-ACC9-0C959AA7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286606"/>
            <a:ext cx="9840685" cy="128093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 for Dissociative Amnesia Cont’d…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A0D16-5C3A-4EC9-9E43-C8B297CB1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829" y="1845734"/>
            <a:ext cx="8486776" cy="454099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030A0"/>
                </a:solidFill>
              </a:rPr>
              <a:t>Specify dissociative fugue subtype if:</a:t>
            </a:r>
          </a:p>
          <a:p>
            <a:pPr lvl="1">
              <a:lnSpc>
                <a:spcPct val="100000"/>
              </a:lnSpc>
            </a:pPr>
            <a:r>
              <a:rPr lang="en-US" sz="3200" dirty="0">
                <a:solidFill>
                  <a:srgbClr val="7030A0"/>
                </a:solidFill>
              </a:rPr>
              <a:t>the amnesia includes inability to recall one’s past, confusion about identity, or assumption of a new identity, and </a:t>
            </a:r>
          </a:p>
          <a:p>
            <a:pPr lvl="1">
              <a:lnSpc>
                <a:spcPct val="100000"/>
              </a:lnSpc>
            </a:pPr>
            <a:endParaRPr lang="en-US" sz="3200" dirty="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3200" dirty="0">
                <a:solidFill>
                  <a:srgbClr val="7030A0"/>
                </a:solidFill>
              </a:rPr>
              <a:t>sudden, unexpected travel away from home or work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sz="3200" dirty="0"/>
          </a:p>
          <a:p>
            <a:pPr marL="201168" lvl="1" indent="0">
              <a:lnSpc>
                <a:spcPct val="100000"/>
              </a:lnSpc>
              <a:buNone/>
            </a:pPr>
            <a:endParaRPr lang="en-US" sz="1400" dirty="0"/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1400" dirty="0"/>
              <a:t>&gt;&gt;&gt;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313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522514" y="286605"/>
            <a:ext cx="8890091" cy="94710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Dissociative Identity Disorder (DID)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>
          <a:xfrm>
            <a:off x="266700" y="1786597"/>
            <a:ext cx="9753600" cy="461420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u="sng" dirty="0"/>
              <a:t>Two or more distinct and fully developed personalities (alters)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Each has unique modes of being, thinking, feeling, acting, memories, and relationships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Primary alter may be unaware of existence of other alters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0038E2"/>
                </a:solidFill>
              </a:rPr>
              <a:t>Most severe of dissociative disorders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Recovery may be less complete</a:t>
            </a:r>
          </a:p>
        </p:txBody>
      </p:sp>
    </p:spTree>
    <p:extLst>
      <p:ext uri="{BB962C8B-B14F-4D97-AF65-F5344CB8AC3E}">
        <p14:creationId xmlns:p14="http://schemas.microsoft.com/office/powerpoint/2010/main" val="2492829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C7E87-E953-441A-BAFA-BBE84896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30" y="286605"/>
            <a:ext cx="9078776" cy="123739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Dissociative Identity Disorder (DID) Cont’d…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E714-32B1-4466-976E-A1C370BC5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829" y="1845733"/>
            <a:ext cx="9078776" cy="4395409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Typical onset in childhood</a:t>
            </a:r>
          </a:p>
          <a:p>
            <a:pPr lvl="1"/>
            <a:r>
              <a:rPr lang="en-US" sz="2800" dirty="0"/>
              <a:t>Rarely diagnosed until adulthood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More common in women than men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Often comorbid with:</a:t>
            </a:r>
          </a:p>
          <a:p>
            <a:pPr lvl="1"/>
            <a:r>
              <a:rPr lang="en-US" sz="2800" dirty="0"/>
              <a:t>PTSD, major depression, somatic symptoms</a:t>
            </a:r>
          </a:p>
          <a:p>
            <a:pPr lvl="1"/>
            <a:endParaRPr lang="en-US" sz="2800" dirty="0"/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3200" dirty="0"/>
              <a:t>Has no relation to schizophrenia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No thought disorders or behavioral disorganization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368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286605"/>
            <a:ext cx="9601200" cy="712201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 for Dissociative Identity Disorder (DID</a:t>
            </a:r>
            <a:r>
              <a:rPr lang="en-US" sz="3600" b="1" dirty="0"/>
              <a:t>)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1097280"/>
            <a:ext cx="9601200" cy="5303520"/>
          </a:xfrm>
        </p:spPr>
        <p:txBody>
          <a:bodyPr>
            <a:noAutofit/>
          </a:bodyPr>
          <a:lstStyle/>
          <a:p>
            <a:endParaRPr lang="en-US" sz="24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Disruption of identity characterized by two or more distinct personality states (</a:t>
            </a:r>
            <a:r>
              <a:rPr lang="en-US" sz="3200" b="1" dirty="0"/>
              <a:t>alters</a:t>
            </a:r>
            <a:r>
              <a:rPr lang="en-US" sz="3200" dirty="0"/>
              <a:t>) or an experience of possession, as evidenced by discontinuities in sense of self as reflected in </a:t>
            </a:r>
            <a:r>
              <a:rPr lang="en-US" sz="3200" u="sng" dirty="0"/>
              <a:t>altered cognition</a:t>
            </a:r>
            <a:r>
              <a:rPr lang="en-US" sz="3200" dirty="0"/>
              <a:t>, </a:t>
            </a:r>
            <a:r>
              <a:rPr lang="en-US" sz="3200" u="sng" dirty="0"/>
              <a:t>behavior</a:t>
            </a:r>
            <a:r>
              <a:rPr lang="en-US" sz="3200" dirty="0"/>
              <a:t>, </a:t>
            </a:r>
            <a:r>
              <a:rPr lang="en-US" sz="3200" u="sng" dirty="0"/>
              <a:t>affect</a:t>
            </a:r>
            <a:r>
              <a:rPr lang="en-US" sz="3200" dirty="0"/>
              <a:t>, </a:t>
            </a:r>
            <a:r>
              <a:rPr lang="en-US" sz="3200" u="sng" dirty="0"/>
              <a:t>perceptions</a:t>
            </a:r>
            <a:r>
              <a:rPr lang="en-US" sz="3200" dirty="0"/>
              <a:t>, </a:t>
            </a:r>
            <a:r>
              <a:rPr lang="en-US" sz="3200" u="sng" dirty="0"/>
              <a:t>consciousness</a:t>
            </a:r>
            <a:r>
              <a:rPr lang="en-US" sz="3200" dirty="0"/>
              <a:t>, </a:t>
            </a:r>
            <a:r>
              <a:rPr lang="en-US" sz="3200" u="sng" dirty="0"/>
              <a:t>memories</a:t>
            </a:r>
            <a:r>
              <a:rPr lang="en-US" sz="3200" dirty="0"/>
              <a:t>, or </a:t>
            </a:r>
            <a:r>
              <a:rPr lang="en-US" sz="3200" u="sng" dirty="0"/>
              <a:t>sensory-motor functioning.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This disruption may be observed by others or reported by the patient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90766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F31C-4850-4AD8-B45E-FE859943B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14" y="286605"/>
            <a:ext cx="8991691" cy="1450757"/>
          </a:xfrm>
        </p:spPr>
        <p:txBody>
          <a:bodyPr>
            <a:norm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 for Dissociative Identity Disorder (DID) Cont’d…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6A37E-535C-465E-BF17-F82D0BA13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114" y="2152357"/>
            <a:ext cx="9152932" cy="4103299"/>
          </a:xfrm>
        </p:spPr>
        <p:txBody>
          <a:bodyPr/>
          <a:lstStyle/>
          <a:p>
            <a:r>
              <a:rPr lang="en-US" sz="3200" u="sng" dirty="0">
                <a:solidFill>
                  <a:schemeClr val="accent1"/>
                </a:solidFill>
              </a:rPr>
              <a:t>Recurrent gaps in recalling events </a:t>
            </a:r>
            <a:r>
              <a:rPr lang="en-US" sz="3200" u="sng" dirty="0"/>
              <a:t>or important personal information that are beyond ordinary forgetting </a:t>
            </a:r>
          </a:p>
          <a:p>
            <a:endParaRPr lang="en-US" sz="3200" dirty="0"/>
          </a:p>
          <a:p>
            <a:r>
              <a:rPr lang="en-US" sz="3200" dirty="0"/>
              <a:t>Symptoms are not due to drugs or a medical condition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429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478972" y="286606"/>
            <a:ext cx="8933634" cy="1266424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Dissociative Identity Disorder (DID):  Two Major Theories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>
          <a:xfrm>
            <a:off x="210207" y="2053882"/>
            <a:ext cx="9764110" cy="4204678"/>
          </a:xfrm>
        </p:spPr>
        <p:txBody>
          <a:bodyPr>
            <a:noAutofit/>
          </a:bodyPr>
          <a:lstStyle/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US" sz="3200" b="1" dirty="0"/>
              <a:t>Trauma Theory (Posttraumatic Model)</a:t>
            </a:r>
          </a:p>
          <a:p>
            <a:pPr lvl="3">
              <a:lnSpc>
                <a:spcPct val="100000"/>
              </a:lnSpc>
            </a:pPr>
            <a:r>
              <a:rPr lang="en-US" sz="3200" dirty="0"/>
              <a:t>DID,</a:t>
            </a:r>
            <a:r>
              <a:rPr lang="en-US" sz="32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formerly, multiple personality disorder,</a:t>
            </a:r>
            <a:r>
              <a:rPr lang="en-US" sz="3200" dirty="0"/>
              <a:t> </a:t>
            </a:r>
            <a:r>
              <a:rPr lang="en-US" sz="3200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Google Sans"/>
              </a:rPr>
              <a:t>usually occurs in people who experienced overwhelming stress or trauma during childhood</a:t>
            </a:r>
          </a:p>
          <a:p>
            <a:pPr lvl="5">
              <a:lnSpc>
                <a:spcPct val="100000"/>
              </a:lnSpc>
            </a:pPr>
            <a:r>
              <a:rPr lang="en-US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Children are not born with a sense of a unified identity; it develops from many sources and experiences	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FE98-DF7C-DE37-7C0C-7FB3B431F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830" y="286606"/>
            <a:ext cx="8486775" cy="1230960"/>
          </a:xfrm>
        </p:spPr>
        <p:txBody>
          <a:bodyPr/>
          <a:lstStyle/>
          <a:p>
            <a:r>
              <a:rPr lang="en-US" sz="4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 …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6B6BE-1803-0EE1-A9A8-A11073CD1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738" y="1650124"/>
            <a:ext cx="9690538" cy="4677104"/>
          </a:xfrm>
        </p:spPr>
        <p:txBody>
          <a:bodyPr>
            <a:normAutofit/>
          </a:bodyPr>
          <a:lstStyle/>
          <a:p>
            <a:pPr marL="1241298" lvl="2" indent="-857250">
              <a:buFont typeface="+mj-lt"/>
              <a:buAutoNum type="romanLcPeriod" startAt="2"/>
            </a:pPr>
            <a:r>
              <a:rPr lang="en-US" sz="36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Sociocognitive model </a:t>
            </a:r>
            <a:r>
              <a:rPr lang="en-US" sz="36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of dissociative identity disorder (DID; formerly, multiple personality disorder),  According to sociocognitive model: </a:t>
            </a:r>
            <a:r>
              <a:rPr lang="en-US" sz="3600" b="0" i="1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Google Sans"/>
              </a:rPr>
              <a:t>DID is not a valid psychiatric disorder of posttraumatic origin; rather, it is a creation of psychotherapy and the media</a:t>
            </a:r>
            <a:r>
              <a:rPr lang="en-US" sz="36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</a:t>
            </a:r>
          </a:p>
          <a:p>
            <a:pPr marL="1241298" lvl="2" indent="-857250">
              <a:buFont typeface="+mj-lt"/>
              <a:buAutoNum type="romanLcPeriod" startAt="2"/>
            </a:pPr>
            <a:endParaRPr lang="en-US" sz="2800" dirty="0"/>
          </a:p>
          <a:p>
            <a:pPr lvl="7"/>
            <a:r>
              <a:rPr lang="en-US" sz="2800" dirty="0"/>
              <a:t>Because it is so rare, no prospective studies have been conducted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D9CAD-6B4A-7E67-D80C-1C452043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2015 John Wiley &amp; Sons,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20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Treatment of Dissociative Identity Disorder (DID)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>
          <a:xfrm>
            <a:off x="925828" y="1845734"/>
            <a:ext cx="8879353" cy="43721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dirty="0"/>
              <a:t>Most treatments involve: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Empathic and supportive therapist</a:t>
            </a:r>
          </a:p>
          <a:p>
            <a:pPr lvl="1">
              <a:lnSpc>
                <a:spcPct val="100000"/>
              </a:lnSpc>
            </a:pPr>
            <a:endParaRPr lang="en-US" sz="3200" dirty="0"/>
          </a:p>
          <a:p>
            <a:pPr lvl="1">
              <a:lnSpc>
                <a:spcPct val="100000"/>
              </a:lnSpc>
            </a:pPr>
            <a:r>
              <a:rPr lang="en-US" sz="3200" dirty="0"/>
              <a:t>Integration of alters into one fully functioning individual</a:t>
            </a:r>
          </a:p>
          <a:p>
            <a:pPr lvl="1">
              <a:lnSpc>
                <a:spcPct val="100000"/>
              </a:lnSpc>
            </a:pPr>
            <a:endParaRPr lang="en-US" sz="3200" dirty="0"/>
          </a:p>
          <a:p>
            <a:pPr lvl="1">
              <a:lnSpc>
                <a:spcPct val="100000"/>
              </a:lnSpc>
            </a:pPr>
            <a:r>
              <a:rPr lang="en-US" sz="3200" dirty="0"/>
              <a:t>Improvement of coping skills</a:t>
            </a:r>
          </a:p>
          <a:p>
            <a:pPr lvl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93CE-D019-424E-956D-0B9A0D70C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Treatment of Dissociative Identity Disorder (DID) Cont’d…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3F617-50F1-4B15-866E-C701A6B59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tx1"/>
                </a:solidFill>
              </a:rPr>
              <a:t>Psychodynamic approach adds:</a:t>
            </a:r>
          </a:p>
          <a:p>
            <a:pPr lvl="1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</a:rPr>
              <a:t>Overcome repression</a:t>
            </a:r>
          </a:p>
          <a:p>
            <a:pPr lvl="1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</a:rPr>
              <a:t>Use of hypnosis </a:t>
            </a:r>
          </a:p>
          <a:p>
            <a:pPr lvl="3">
              <a:lnSpc>
                <a:spcPct val="90000"/>
              </a:lnSpc>
            </a:pPr>
            <a:r>
              <a:rPr lang="en-US" sz="2800" i="1" dirty="0">
                <a:solidFill>
                  <a:schemeClr val="tx1"/>
                </a:solidFill>
              </a:rPr>
              <a:t>Age regression</a:t>
            </a:r>
          </a:p>
          <a:p>
            <a:pPr lvl="3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Can actually worsen symptoms</a:t>
            </a:r>
          </a:p>
          <a:p>
            <a:pPr lvl="3">
              <a:lnSpc>
                <a:spcPct val="90000"/>
              </a:lnSpc>
            </a:pPr>
            <a:endParaRPr lang="en-US" sz="2800" dirty="0">
              <a:solidFill>
                <a:srgbClr val="7030A0"/>
              </a:solidFill>
            </a:endParaRPr>
          </a:p>
          <a:p>
            <a:pPr lvl="3">
              <a:lnSpc>
                <a:spcPct val="90000"/>
              </a:lnSpc>
            </a:pPr>
            <a:endParaRPr lang="en-US" sz="2800" dirty="0">
              <a:solidFill>
                <a:srgbClr val="7030A0"/>
              </a:solidFill>
            </a:endParaRPr>
          </a:p>
          <a:p>
            <a:pPr marL="566928" lvl="3" indent="0">
              <a:lnSpc>
                <a:spcPct val="90000"/>
              </a:lnSpc>
              <a:buNone/>
            </a:pPr>
            <a:endParaRPr lang="en-US" sz="2800" dirty="0">
              <a:solidFill>
                <a:srgbClr val="7030A0"/>
              </a:solidFill>
            </a:endParaRPr>
          </a:p>
          <a:p>
            <a:pPr marL="566928" lvl="3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7030A0"/>
                </a:solidFill>
              </a:rPr>
              <a:t>                                                                            &gt;&gt;&gt;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433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50" y="33089"/>
            <a:ext cx="8898255" cy="83776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Somatic Symptom Disorders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>
          <a:xfrm>
            <a:off x="178707" y="870857"/>
            <a:ext cx="9759950" cy="83776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sz="3200" dirty="0"/>
              <a:t>Excessive concerns about physical symptoms or health ‘Soma’ means body</a:t>
            </a:r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200" dirty="0"/>
          </a:p>
        </p:txBody>
      </p:sp>
      <p:pic>
        <p:nvPicPr>
          <p:cNvPr id="7" name="Picture 6" descr="300_Table 8.2.jpg"/>
          <p:cNvPicPr>
            <a:picLocks noChangeAspect="1"/>
          </p:cNvPicPr>
          <p:nvPr/>
        </p:nvPicPr>
        <p:blipFill>
          <a:blip r:embed="rId3"/>
          <a:srcRect b="3979"/>
          <a:stretch>
            <a:fillRect/>
          </a:stretch>
        </p:blipFill>
        <p:spPr>
          <a:xfrm>
            <a:off x="348343" y="1679597"/>
            <a:ext cx="9593943" cy="49534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925830" y="162560"/>
            <a:ext cx="8486775" cy="89408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 for 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Somatic Symptom Disorder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>
          <a:xfrm>
            <a:off x="203200" y="1351280"/>
            <a:ext cx="10083800" cy="4988560"/>
          </a:xfrm>
        </p:spPr>
        <p:txBody>
          <a:bodyPr>
            <a:normAutofit/>
          </a:bodyPr>
          <a:lstStyle/>
          <a:p>
            <a:r>
              <a:rPr lang="en-US" sz="2800" b="1" dirty="0"/>
              <a:t>-</a:t>
            </a:r>
            <a:r>
              <a:rPr lang="en-US" sz="2800" dirty="0"/>
              <a:t>At </a:t>
            </a:r>
            <a:r>
              <a:rPr lang="en-US" sz="2800" u="sng" dirty="0"/>
              <a:t>least one somatic symptom that is distressing </a:t>
            </a:r>
            <a:r>
              <a:rPr lang="en-US" sz="2800" dirty="0"/>
              <a:t>or </a:t>
            </a:r>
            <a:r>
              <a:rPr lang="en-US" sz="2800" u="sng" dirty="0"/>
              <a:t>disrupts daily life</a:t>
            </a:r>
          </a:p>
          <a:p>
            <a:r>
              <a:rPr lang="en-US" sz="2800" b="1" dirty="0"/>
              <a:t>-</a:t>
            </a:r>
            <a:r>
              <a:rPr lang="en-US" sz="2800" dirty="0"/>
              <a:t>Excessive </a:t>
            </a:r>
            <a:r>
              <a:rPr lang="en-US" sz="2800" b="1" dirty="0"/>
              <a:t>thoughts,</a:t>
            </a:r>
            <a:r>
              <a:rPr lang="en-US" sz="2800" dirty="0"/>
              <a:t> </a:t>
            </a:r>
            <a:r>
              <a:rPr lang="en-US" sz="2800" b="1" dirty="0"/>
              <a:t>feelings</a:t>
            </a:r>
            <a:r>
              <a:rPr lang="en-US" sz="2800" dirty="0"/>
              <a:t>, and </a:t>
            </a:r>
            <a:r>
              <a:rPr lang="en-US" sz="2800" b="1" dirty="0"/>
              <a:t>behaviors related to somatic symptom(s)</a:t>
            </a:r>
            <a:r>
              <a:rPr lang="en-US" sz="2800" dirty="0"/>
              <a:t> or health concerns, as indicated by at least one of the following: </a:t>
            </a:r>
          </a:p>
          <a:p>
            <a:pPr lvl="1"/>
            <a:r>
              <a:rPr lang="en-US" sz="2400" dirty="0"/>
              <a:t>health-related anxiety</a:t>
            </a:r>
          </a:p>
          <a:p>
            <a:pPr lvl="1"/>
            <a:r>
              <a:rPr lang="en-US" sz="2400" dirty="0"/>
              <a:t>disproportionate concerns about the medical seriousness of symptoms</a:t>
            </a:r>
          </a:p>
          <a:p>
            <a:pPr lvl="1"/>
            <a:r>
              <a:rPr lang="en-US" sz="2400" dirty="0"/>
              <a:t>excessive time and energy devoted to health concerns</a:t>
            </a:r>
          </a:p>
          <a:p>
            <a:r>
              <a:rPr lang="en-US" sz="3200" b="1" dirty="0"/>
              <a:t>-</a:t>
            </a:r>
            <a:r>
              <a:rPr lang="en-US" sz="3200" dirty="0"/>
              <a:t>Duration of at least 6 months</a:t>
            </a:r>
          </a:p>
          <a:p>
            <a:r>
              <a:rPr lang="en-US" sz="3200" b="1" dirty="0"/>
              <a:t>-</a:t>
            </a:r>
            <a:r>
              <a:rPr lang="en-US" sz="3200" dirty="0"/>
              <a:t>Specify: predominant</a:t>
            </a:r>
          </a:p>
          <a:p>
            <a:r>
              <a:rPr lang="en-US" sz="1200" dirty="0"/>
              <a:t>&gt;&gt;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82600" y="286605"/>
            <a:ext cx="8930005" cy="1084995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 for </a:t>
            </a:r>
            <a:r>
              <a:rPr lang="en-US" sz="36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Illness Anxiety Disorder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542" y="1866900"/>
            <a:ext cx="9983958" cy="46101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200" u="sng" dirty="0"/>
              <a:t>Preoccupation with and high level of anxiety about having or acquiring a serious disease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200" dirty="0"/>
              <a:t>Excessive behaviors (e.g., checking for signs of illness, seeking reassurance) or maladaptive avoidance (e.g., avoiding medical care)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200" dirty="0"/>
              <a:t>No more than mild somatic symptoms are present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200" dirty="0"/>
              <a:t>Not explained by other psychological disorders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200" dirty="0"/>
              <a:t>Preoccupation lasts at least 6 months </a:t>
            </a:r>
            <a:r>
              <a:rPr lang="en-US" sz="1400" dirty="0"/>
              <a:t>&gt;&gt;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925830" y="286605"/>
            <a:ext cx="8486775" cy="102149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Conversion Disorder (Hysteria DSM IV) 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>
          <a:xfrm>
            <a:off x="168812" y="1536700"/>
            <a:ext cx="9243793" cy="433239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3200" u="sng" dirty="0"/>
              <a:t>Sensory or motor function impaired but no known neurological cause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Vision impairment or tunnel vision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Partial or complete paralysis of arms or legs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Seizures or coordination problems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Aphonia </a:t>
            </a:r>
          </a:p>
          <a:p>
            <a:pPr lvl="2">
              <a:lnSpc>
                <a:spcPct val="80000"/>
              </a:lnSpc>
            </a:pPr>
            <a:r>
              <a:rPr lang="en-US" sz="2400" dirty="0"/>
              <a:t>Whispered speech</a:t>
            </a:r>
          </a:p>
          <a:p>
            <a:pPr lvl="2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800" dirty="0"/>
              <a:t>Anosmia </a:t>
            </a:r>
          </a:p>
          <a:p>
            <a:pPr lvl="2">
              <a:lnSpc>
                <a:spcPct val="80000"/>
              </a:lnSpc>
            </a:pPr>
            <a:r>
              <a:rPr lang="en-US" sz="2400" dirty="0"/>
              <a:t>Loss of smell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925830" y="286605"/>
            <a:ext cx="8486775" cy="1123095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Conversion Disorder 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idx="1"/>
          </p:nvPr>
        </p:nvSpPr>
        <p:spPr>
          <a:xfrm>
            <a:off x="925829" y="1845734"/>
            <a:ext cx="8486776" cy="440266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Hippocrates</a:t>
            </a:r>
          </a:p>
          <a:p>
            <a:pPr lvl="1">
              <a:lnSpc>
                <a:spcPct val="90000"/>
              </a:lnSpc>
            </a:pPr>
            <a:r>
              <a:rPr lang="en-US" sz="3200" dirty="0"/>
              <a:t>Believed disorder only occurred in women</a:t>
            </a:r>
          </a:p>
          <a:p>
            <a:pPr lvl="1">
              <a:lnSpc>
                <a:spcPct val="90000"/>
              </a:lnSpc>
            </a:pPr>
            <a:r>
              <a:rPr lang="en-US" sz="3200" dirty="0"/>
              <a:t>Attributed it to a wandering uterus </a:t>
            </a:r>
          </a:p>
          <a:p>
            <a:pPr lvl="2">
              <a:lnSpc>
                <a:spcPct val="90000"/>
              </a:lnSpc>
            </a:pPr>
            <a:r>
              <a:rPr lang="en-US" sz="2800" dirty="0"/>
              <a:t>Originally known as </a:t>
            </a:r>
            <a:r>
              <a:rPr lang="en-US" sz="2800" i="1" dirty="0"/>
              <a:t>hysteria</a:t>
            </a:r>
          </a:p>
          <a:p>
            <a:pPr lvl="3">
              <a:lnSpc>
                <a:spcPct val="90000"/>
              </a:lnSpc>
            </a:pPr>
            <a:r>
              <a:rPr lang="en-US" sz="2400" dirty="0"/>
              <a:t>Greek word for </a:t>
            </a:r>
            <a:r>
              <a:rPr lang="en-US" sz="2400" i="1" dirty="0"/>
              <a:t>uterus</a:t>
            </a:r>
          </a:p>
          <a:p>
            <a:pPr>
              <a:lnSpc>
                <a:spcPct val="90000"/>
              </a:lnSpc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Freud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Coined term </a:t>
            </a:r>
            <a:r>
              <a:rPr lang="en-US" sz="2800" i="1" u="sng" dirty="0"/>
              <a:t>conversion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solidFill>
                  <a:srgbClr val="0070C0"/>
                </a:solidFill>
              </a:rPr>
              <a:t>Anxiety </a:t>
            </a:r>
            <a:r>
              <a:rPr lang="en-US" sz="2800" dirty="0"/>
              <a:t>and </a:t>
            </a:r>
            <a:r>
              <a:rPr lang="en-US" sz="2800" dirty="0">
                <a:solidFill>
                  <a:srgbClr val="0070C0"/>
                </a:solidFill>
              </a:rPr>
              <a:t>conflict</a:t>
            </a:r>
            <a:r>
              <a:rPr lang="en-US" sz="2800" dirty="0"/>
              <a:t> </a:t>
            </a:r>
            <a:r>
              <a:rPr lang="en-US" sz="2800" i="1" u="sng" dirty="0"/>
              <a:t>converted</a:t>
            </a:r>
            <a:r>
              <a:rPr lang="en-US" sz="2800" dirty="0"/>
              <a:t> into physical symptoms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925830" y="286606"/>
            <a:ext cx="8486775" cy="1178408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Criteria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Conversion Disorder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674055"/>
            <a:ext cx="9753600" cy="472674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One or more symptoms affecting voluntary motor or sensory function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32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The symptoms are incompatible with recognized medical disorders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32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Symptoms cause significant distress or functional impairment or warrant medical evaluation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548640" y="286605"/>
            <a:ext cx="8863965" cy="1199295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Conversion Disorder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idx="1"/>
          </p:nvPr>
        </p:nvSpPr>
        <p:spPr>
          <a:xfrm>
            <a:off x="925829" y="1756229"/>
            <a:ext cx="8486776" cy="446677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3200" dirty="0"/>
              <a:t>Onset typically adolescence or early adulthood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Often follows life stress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3200" dirty="0"/>
              <a:t>Prevalence less than 1%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More common in women than men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3200" dirty="0"/>
              <a:t>Often comorbid with: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Other somatic symptom disorders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Major depressive disorder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Substance use disorders           </a:t>
            </a:r>
            <a:r>
              <a:rPr lang="en-US" sz="1600" dirty="0"/>
              <a:t>&gt;&gt;&gt;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Criteria: 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Factitious Disorder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>
                <a:effectLst/>
              </a:rPr>
              <a:t>Fabrication or induction </a:t>
            </a:r>
            <a:r>
              <a:rPr lang="en-US" sz="3200" b="0" dirty="0">
                <a:effectLst/>
              </a:rPr>
              <a:t>of physical or psychological symptoms, injury, or disease</a:t>
            </a:r>
          </a:p>
          <a:p>
            <a:endParaRPr lang="en-US" sz="3200" b="0" dirty="0">
              <a:effectLst/>
            </a:endParaRPr>
          </a:p>
          <a:p>
            <a:r>
              <a:rPr lang="en-US" sz="3200" b="0" dirty="0">
                <a:effectLst/>
              </a:rPr>
              <a:t>Deceptive behavior is present in the absence of obvious external rewards</a:t>
            </a:r>
          </a:p>
          <a:p>
            <a:endParaRPr lang="en-US" sz="3200" b="0" dirty="0">
              <a:effectLst/>
            </a:endParaRPr>
          </a:p>
          <a:p>
            <a:r>
              <a:rPr lang="en-US" sz="3200" b="0" dirty="0">
                <a:effectLst/>
              </a:rPr>
              <a:t>Behavior is not explained by another psychological disorder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83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7036-B645-4754-AB0C-28DD4AF84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Criteria: 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Factitious Disorder  Cont’d…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E4B82-D47F-418A-A26E-2DD3A8200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828" y="1845734"/>
            <a:ext cx="8713471" cy="4023360"/>
          </a:xfrm>
        </p:spPr>
        <p:txBody>
          <a:bodyPr>
            <a:noAutofit/>
          </a:bodyPr>
          <a:lstStyle/>
          <a:p>
            <a:r>
              <a:rPr lang="en-US" sz="3200" b="0" dirty="0">
                <a:effectLst/>
              </a:rPr>
              <a:t>In Factitious Disorder Imposed on Self, the person presents himself or herself to others as ill, impaired, or injured</a:t>
            </a:r>
          </a:p>
          <a:p>
            <a:endParaRPr lang="en-US" sz="3200" b="0" dirty="0">
              <a:effectLst/>
            </a:endParaRPr>
          </a:p>
          <a:p>
            <a:r>
              <a:rPr lang="en-US" sz="3200" b="0" dirty="0">
                <a:effectLst/>
              </a:rPr>
              <a:t>In Factitious Disorder Imposed on Another, the person fabricates or induces symptoms in another person and then presents that person to others as ill, impaired, or injured</a:t>
            </a:r>
          </a:p>
          <a:p>
            <a:r>
              <a:rPr lang="en-US" sz="1300" dirty="0"/>
              <a:t>&gt;&gt;</a:t>
            </a:r>
            <a:endParaRPr lang="en-US" sz="1300" b="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032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925830" y="286605"/>
            <a:ext cx="8486775" cy="145510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Somatic Symptoms Disorders: </a:t>
            </a:r>
            <a:b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Neurological Factors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idx="1"/>
          </p:nvPr>
        </p:nvSpPr>
        <p:spPr>
          <a:xfrm>
            <a:off x="127000" y="1538514"/>
            <a:ext cx="9645649" cy="463400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dirty="0"/>
              <a:t>There is no support for genetic influence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Concordance rates in MZ twin pairs do not differ from DZ twin pairs</a:t>
            </a:r>
          </a:p>
          <a:p>
            <a:pPr lvl="1">
              <a:lnSpc>
                <a:spcPct val="110000"/>
              </a:lnSpc>
            </a:pPr>
            <a:endParaRPr lang="en-US" sz="3200" dirty="0"/>
          </a:p>
          <a:p>
            <a:pPr>
              <a:lnSpc>
                <a:spcPct val="110000"/>
              </a:lnSpc>
            </a:pPr>
            <a:r>
              <a:rPr lang="en-US" sz="3200" dirty="0"/>
              <a:t>Why are some people more aware and distressed by bodily sensation?</a:t>
            </a:r>
          </a:p>
          <a:p>
            <a:pPr lvl="1">
              <a:lnSpc>
                <a:spcPct val="110000"/>
              </a:lnSpc>
            </a:pPr>
            <a:r>
              <a:rPr lang="en-US" sz="3200" b="1" dirty="0">
                <a:solidFill>
                  <a:srgbClr val="7030A0"/>
                </a:solidFill>
              </a:rPr>
              <a:t>Anterior insula </a:t>
            </a:r>
            <a:r>
              <a:rPr lang="en-US" sz="3200" dirty="0"/>
              <a:t>and </a:t>
            </a:r>
            <a:r>
              <a:rPr lang="en-US" sz="3200" b="1" dirty="0">
                <a:solidFill>
                  <a:srgbClr val="7030A0"/>
                </a:solidFill>
              </a:rPr>
              <a:t>anterior cingulate hyperactive</a:t>
            </a:r>
          </a:p>
          <a:p>
            <a:pPr lvl="1">
              <a:lnSpc>
                <a:spcPct val="110000"/>
              </a:lnSpc>
            </a:pPr>
            <a:r>
              <a:rPr lang="en-US" sz="3200" u="sng" dirty="0"/>
              <a:t>Somatic symptoms influenced by </a:t>
            </a:r>
            <a:r>
              <a:rPr lang="en-US" sz="3200" u="sng" dirty="0">
                <a:solidFill>
                  <a:srgbClr val="C00000"/>
                </a:solidFill>
              </a:rPr>
              <a:t>emotions </a:t>
            </a:r>
            <a:r>
              <a:rPr lang="en-US" sz="3200" u="sng" dirty="0"/>
              <a:t>and </a:t>
            </a:r>
            <a:r>
              <a:rPr lang="en-US" sz="3200" u="sng" dirty="0">
                <a:solidFill>
                  <a:srgbClr val="C00000"/>
                </a:solidFill>
              </a:rPr>
              <a:t>stress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925830" y="1"/>
            <a:ext cx="8486775" cy="171268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Somatic Symptoms Disorders: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ii) Cognitive Behavioral Factors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845734"/>
            <a:ext cx="9080500" cy="4415366"/>
          </a:xfrm>
        </p:spPr>
        <p:txBody>
          <a:bodyPr>
            <a:normAutofit/>
          </a:bodyPr>
          <a:lstStyle/>
          <a:p>
            <a:r>
              <a:rPr lang="en-US" sz="2800" b="1" dirty="0"/>
              <a:t>Two important cognitive variables:</a:t>
            </a:r>
          </a:p>
          <a:p>
            <a:pPr lvl="1"/>
            <a:r>
              <a:rPr lang="en-US" sz="2800" u="sng" dirty="0">
                <a:solidFill>
                  <a:srgbClr val="7030A0"/>
                </a:solidFill>
              </a:rPr>
              <a:t>Attention to bodily sensations</a:t>
            </a:r>
          </a:p>
          <a:p>
            <a:pPr lvl="2"/>
            <a:r>
              <a:rPr lang="en-US" sz="2800" dirty="0"/>
              <a:t>Automatic focus on physical health cues</a:t>
            </a:r>
          </a:p>
          <a:p>
            <a:pPr lvl="1"/>
            <a:r>
              <a:rPr lang="en-US" sz="2800" u="sng" dirty="0">
                <a:solidFill>
                  <a:srgbClr val="7030A0"/>
                </a:solidFill>
              </a:rPr>
              <a:t>Attributions (interpretation) of those sensations</a:t>
            </a:r>
          </a:p>
          <a:p>
            <a:pPr lvl="2"/>
            <a:r>
              <a:rPr lang="en-US" sz="2800" dirty="0"/>
              <a:t>Overreact with overly negative interpretations</a:t>
            </a:r>
          </a:p>
          <a:p>
            <a:pPr lvl="2"/>
            <a:endParaRPr lang="en-US" sz="2800" dirty="0"/>
          </a:p>
          <a:p>
            <a:r>
              <a:rPr lang="en-US" sz="2800" b="1" dirty="0"/>
              <a:t>Two important consequences:</a:t>
            </a:r>
          </a:p>
          <a:p>
            <a:pPr lvl="1"/>
            <a:r>
              <a:rPr lang="en-US" sz="2800" dirty="0"/>
              <a:t>Sick role limits healthy life alternatives</a:t>
            </a:r>
          </a:p>
          <a:p>
            <a:pPr lvl="1"/>
            <a:r>
              <a:rPr lang="en-US" sz="2800" dirty="0"/>
              <a:t>Help-seeking behaviors reinforced by attention or sympathy</a:t>
            </a:r>
          </a:p>
        </p:txBody>
      </p:sp>
    </p:spTree>
    <p:extLst>
      <p:ext uri="{BB962C8B-B14F-4D97-AF65-F5344CB8AC3E}">
        <p14:creationId xmlns:p14="http://schemas.microsoft.com/office/powerpoint/2010/main" val="16924322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6540500" y="253536"/>
            <a:ext cx="3530600" cy="3378664"/>
          </a:xfrm>
        </p:spPr>
        <p:txBody>
          <a:bodyPr>
            <a:norm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Mechanisms Involved in Somatic Symptom Disorders</a:t>
            </a:r>
          </a:p>
        </p:txBody>
      </p:sp>
      <p:pic>
        <p:nvPicPr>
          <p:cNvPr id="9" name="Picture 8" descr="ap12e_fig_08_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152399"/>
            <a:ext cx="5676900" cy="61824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925830" y="145143"/>
            <a:ext cx="8486775" cy="155302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Conversion Disorder: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Psychodynamic Perspective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idx="1"/>
          </p:nvPr>
        </p:nvSpPr>
        <p:spPr>
          <a:xfrm>
            <a:off x="174171" y="1941342"/>
            <a:ext cx="9811658" cy="4290646"/>
          </a:xfrm>
        </p:spPr>
        <p:txBody>
          <a:bodyPr>
            <a:normAutofit/>
          </a:bodyPr>
          <a:lstStyle/>
          <a:p>
            <a:r>
              <a:rPr lang="en-US" sz="3200" dirty="0"/>
              <a:t>Unconscious psychological factor cause</a:t>
            </a:r>
          </a:p>
          <a:p>
            <a:pPr marL="0" indent="0">
              <a:buNone/>
            </a:pPr>
            <a:r>
              <a:rPr lang="en-US" sz="3200" dirty="0"/>
              <a:t>Blindsight</a:t>
            </a:r>
          </a:p>
          <a:p>
            <a:pPr lvl="1"/>
            <a:r>
              <a:rPr lang="en-US" sz="3200" dirty="0"/>
              <a:t>Not consciously aware of visual input</a:t>
            </a:r>
          </a:p>
          <a:p>
            <a:pPr lvl="1"/>
            <a:r>
              <a:rPr lang="en-US" sz="3200" dirty="0"/>
              <a:t>Failure to be explicitly aware of sensory information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Conversion Disorder :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ii) Social and Cultural Factors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3200" dirty="0"/>
              <a:t>Decrease in incidence of conversion disorders since last half of 19</a:t>
            </a:r>
            <a:r>
              <a:rPr lang="en-US" sz="3200" baseline="30000" dirty="0"/>
              <a:t>th</a:t>
            </a:r>
            <a:r>
              <a:rPr lang="en-US" sz="3200" dirty="0"/>
              <a:t> century</a:t>
            </a:r>
          </a:p>
          <a:p>
            <a:pPr>
              <a:defRPr/>
            </a:pPr>
            <a:endParaRPr lang="en-US" sz="3200" dirty="0"/>
          </a:p>
          <a:p>
            <a:pPr lvl="1">
              <a:defRPr/>
            </a:pPr>
            <a:r>
              <a:rPr lang="en-US" sz="2800" dirty="0"/>
              <a:t>Higher incidence may have been due to more repressed sexual attitudes or  low tolerance for anxiety symptoms</a:t>
            </a:r>
          </a:p>
          <a:p>
            <a:pPr>
              <a:defRPr/>
            </a:pPr>
            <a:r>
              <a:rPr lang="en-US" sz="3200" dirty="0"/>
              <a:t>More prevalent</a:t>
            </a:r>
          </a:p>
          <a:p>
            <a:pPr lvl="1">
              <a:defRPr/>
            </a:pPr>
            <a:r>
              <a:rPr lang="en-US" sz="2800" dirty="0"/>
              <a:t>In rural areas</a:t>
            </a:r>
          </a:p>
          <a:p>
            <a:pPr lvl="1">
              <a:defRPr/>
            </a:pPr>
            <a:r>
              <a:rPr lang="en-US" sz="2800" dirty="0"/>
              <a:t>In individuals of lower Socio Economic Status (SES)</a:t>
            </a:r>
          </a:p>
          <a:p>
            <a:pPr lvl="1">
              <a:defRPr/>
            </a:pPr>
            <a:r>
              <a:rPr lang="en-US" sz="2800" dirty="0"/>
              <a:t>In non-Western cultures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925830" y="286605"/>
            <a:ext cx="8486775" cy="111039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Treatment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Somatic Symptoms Disorders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idx="1"/>
          </p:nvPr>
        </p:nvSpPr>
        <p:spPr>
          <a:xfrm>
            <a:off x="0" y="1654629"/>
            <a:ext cx="10286999" cy="4568371"/>
          </a:xfrm>
        </p:spPr>
        <p:txBody>
          <a:bodyPr>
            <a:noAutofit/>
          </a:bodyPr>
          <a:lstStyle/>
          <a:p>
            <a:r>
              <a:rPr lang="en-US" sz="2800" dirty="0"/>
              <a:t>Few controlled treatment outcome studies</a:t>
            </a:r>
          </a:p>
          <a:p>
            <a:r>
              <a:rPr lang="en-US" sz="2800" b="1" u="sng" dirty="0"/>
              <a:t>Cognitive Behavioral Treatment</a:t>
            </a:r>
          </a:p>
          <a:p>
            <a:pPr lvl="1"/>
            <a:r>
              <a:rPr lang="en-US" sz="2800" dirty="0"/>
              <a:t>Identify and change triggering emotions</a:t>
            </a:r>
          </a:p>
          <a:p>
            <a:pPr lvl="1"/>
            <a:r>
              <a:rPr lang="en-US" sz="2800" dirty="0"/>
              <a:t>Change cognitions about symptoms</a:t>
            </a:r>
          </a:p>
          <a:p>
            <a:pPr lvl="1"/>
            <a:r>
              <a:rPr lang="en-US" sz="2800" dirty="0"/>
              <a:t>Replace sick role behaviors with more appropriate social interactions</a:t>
            </a:r>
          </a:p>
          <a:p>
            <a:pPr lvl="1"/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b="1" dirty="0"/>
              <a:t>Antidepressants</a:t>
            </a:r>
          </a:p>
          <a:p>
            <a:pPr lvl="1">
              <a:lnSpc>
                <a:spcPct val="80000"/>
              </a:lnSpc>
            </a:pPr>
            <a:r>
              <a:rPr lang="en-US" sz="2800" dirty="0"/>
              <a:t>Tofranil (imipramine) </a:t>
            </a:r>
          </a:p>
          <a:p>
            <a:pPr lvl="2">
              <a:lnSpc>
                <a:spcPct val="80000"/>
              </a:lnSpc>
            </a:pPr>
            <a:r>
              <a:rPr lang="en-US" sz="2800" dirty="0"/>
              <a:t>Effective even at low dosages that do not alleviate depressive symptoms                                    </a:t>
            </a:r>
            <a:r>
              <a:rPr lang="en-US" sz="1200" dirty="0">
                <a:solidFill>
                  <a:srgbClr val="C00000"/>
                </a:solidFill>
              </a:rPr>
              <a:t>&gt;&gt;&gt;</a:t>
            </a:r>
          </a:p>
          <a:p>
            <a:pPr marL="384048" lvl="2" indent="0">
              <a:lnSpc>
                <a:spcPct val="80000"/>
              </a:lnSpc>
              <a:buNone/>
            </a:pPr>
            <a:endParaRPr lang="en-US" sz="2400" dirty="0"/>
          </a:p>
          <a:p>
            <a:pPr marL="411480" lvl="1" indent="0">
              <a:buNone/>
            </a:pPr>
            <a:r>
              <a:rPr lang="en-US" dirty="0"/>
              <a:t>                                                                           &gt;&gt;&gt;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0C0B0-74B1-4A56-A5A4-3F5E011E2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FE497-50D1-4FC7-9B2B-A8BBC6AD7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en-US" sz="2000" b="1" dirty="0"/>
          </a:p>
          <a:p>
            <a:pPr algn="ctr"/>
            <a:endParaRPr lang="en-US" altLang="en-US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6000" b="1" dirty="0"/>
              <a:t>THANK YOU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9769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12326</TotalTime>
  <Pages>37</Pages>
  <Words>1673</Words>
  <Application>Microsoft Office PowerPoint</Application>
  <PresentationFormat>35mm Slides</PresentationFormat>
  <Paragraphs>294</Paragraphs>
  <Slides>39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Courier New</vt:lpstr>
      <vt:lpstr>Google Sans</vt:lpstr>
      <vt:lpstr>Times New Roman</vt:lpstr>
      <vt:lpstr>Wingdings</vt:lpstr>
      <vt:lpstr>Retrospect</vt:lpstr>
      <vt:lpstr>  Dissociative Disorders and Somatic Symptom-Related Disorders</vt:lpstr>
      <vt:lpstr>Key Features of Dissociative Disorders</vt:lpstr>
      <vt:lpstr>Dissociative Disorders (Introduction)</vt:lpstr>
      <vt:lpstr>Dissociative Disorders Cont’d…</vt:lpstr>
      <vt:lpstr>Dissociation and  Memory </vt:lpstr>
      <vt:lpstr>Memory Deficits and Dissociation</vt:lpstr>
      <vt:lpstr>Memory Deficits and Dissociation</vt:lpstr>
      <vt:lpstr>Depersonalization/Derealization Disorder</vt:lpstr>
      <vt:lpstr>DSM-5 Criteria: Depersonalization/Derealization Disorder</vt:lpstr>
      <vt:lpstr>DSM-5 Criteria: Depersonalization/Derealization Disorder Cont’d…</vt:lpstr>
      <vt:lpstr>DSM-5 Criteria: Depersonalization/Derealization Disorder Cont’d…</vt:lpstr>
      <vt:lpstr>DSM-5 Criteria: Dissociative  Amnesia</vt:lpstr>
      <vt:lpstr>DSM-5 Criteria: Dissociative  Amnesia Cont’d…</vt:lpstr>
      <vt:lpstr>Dissociative Amnesia:  Dissociative Fugue Subtype</vt:lpstr>
      <vt:lpstr>DSM-5 Criteria for Dissociative Amnesia Cont’d…</vt:lpstr>
      <vt:lpstr>Dissociative Identity Disorder (DID)</vt:lpstr>
      <vt:lpstr>Dissociative Identity Disorder (DID) Cont’d…</vt:lpstr>
      <vt:lpstr>DSM-5 Criteria for Dissociative Identity Disorder (DID)</vt:lpstr>
      <vt:lpstr>DSM-5 Criteria for Dissociative Identity Disorder (DID) Cont’d…</vt:lpstr>
      <vt:lpstr>Etiology of Dissociative Identity Disorder (DID):  Two Major Theories</vt:lpstr>
      <vt:lpstr>Etiology … </vt:lpstr>
      <vt:lpstr>Treatment of Dissociative Identity Disorder (DID)</vt:lpstr>
      <vt:lpstr>Treatment of Dissociative Identity Disorder (DID) Cont’d…</vt:lpstr>
      <vt:lpstr>Somatic Symptom Disorders</vt:lpstr>
      <vt:lpstr>DSM-5 Criteria for Somatic Symptom Disorder</vt:lpstr>
      <vt:lpstr>DSM-5 Criteria for Illness Anxiety Disorder</vt:lpstr>
      <vt:lpstr>Conversion Disorder (Hysteria DSM IV) </vt:lpstr>
      <vt:lpstr>Conversion Disorder </vt:lpstr>
      <vt:lpstr>DSM-5 Criteria for  Conversion Disorder </vt:lpstr>
      <vt:lpstr>Conversion Disorder</vt:lpstr>
      <vt:lpstr>DSM-5 Criteria:  Factitious Disorder </vt:lpstr>
      <vt:lpstr>DSM-5 Criteria:  Factitious Disorder  Cont’d…</vt:lpstr>
      <vt:lpstr>Etiology of Somatic Symptoms Disorders:   i) Neurological Factors</vt:lpstr>
      <vt:lpstr>Etiology of Somatic Symptoms Disorders:   ii) Cognitive Behavioral Factors</vt:lpstr>
      <vt:lpstr>Mechanisms Involved in Somatic Symptom Disorders</vt:lpstr>
      <vt:lpstr>Etiology of Conversion Disorder:  i) Psychodynamic Perspective</vt:lpstr>
      <vt:lpstr>Etiology of Conversion Disorder :  ii) Social and Cultural Factors</vt:lpstr>
      <vt:lpstr>Treatment of Somatic Symptoms Disorders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 Lecture Notes Presentation  Chapter 2  Current Paradigms in Psychopathology</dc:title>
  <dc:creator>MNina</dc:creator>
  <cp:lastModifiedBy>DELL LATITUDE 5289</cp:lastModifiedBy>
  <cp:revision>247</cp:revision>
  <cp:lastPrinted>1997-05-05T16:48:04Z</cp:lastPrinted>
  <dcterms:created xsi:type="dcterms:W3CDTF">2014-11-18T21:53:39Z</dcterms:created>
  <dcterms:modified xsi:type="dcterms:W3CDTF">2024-05-01T17:32:35Z</dcterms:modified>
</cp:coreProperties>
</file>