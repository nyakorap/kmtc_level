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7" r:id="rId3"/>
    <p:sldId id="388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386" r:id="rId19"/>
    <p:sldId id="338" r:id="rId20"/>
    <p:sldId id="340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349" r:id="rId30"/>
    <p:sldId id="350" r:id="rId31"/>
    <p:sldId id="384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1" r:id="rId43"/>
    <p:sldId id="362" r:id="rId44"/>
    <p:sldId id="376" r:id="rId45"/>
    <p:sldId id="385" r:id="rId46"/>
    <p:sldId id="377" r:id="rId47"/>
    <p:sldId id="378" r:id="rId48"/>
    <p:sldId id="379" r:id="rId49"/>
    <p:sldId id="380" r:id="rId50"/>
    <p:sldId id="381" r:id="rId51"/>
    <p:sldId id="363" r:id="rId52"/>
    <p:sldId id="364" r:id="rId53"/>
    <p:sldId id="365" r:id="rId54"/>
    <p:sldId id="382" r:id="rId55"/>
    <p:sldId id="383" r:id="rId56"/>
    <p:sldId id="366" r:id="rId57"/>
    <p:sldId id="368" r:id="rId58"/>
    <p:sldId id="369" r:id="rId59"/>
    <p:sldId id="370" r:id="rId60"/>
    <p:sldId id="371" r:id="rId61"/>
    <p:sldId id="372" r:id="rId62"/>
    <p:sldId id="373" r:id="rId63"/>
    <p:sldId id="375" r:id="rId64"/>
    <p:sldId id="276" r:id="rId65"/>
    <p:sldId id="275" r:id="rId66"/>
    <p:sldId id="269" r:id="rId67"/>
    <p:sldId id="270" r:id="rId68"/>
    <p:sldId id="271" r:id="rId69"/>
    <p:sldId id="272" r:id="rId70"/>
    <p:sldId id="278" r:id="rId71"/>
    <p:sldId id="279" r:id="rId72"/>
    <p:sldId id="334" r:id="rId73"/>
    <p:sldId id="335" r:id="rId74"/>
    <p:sldId id="336" r:id="rId75"/>
    <p:sldId id="296" r:id="rId76"/>
    <p:sldId id="297" r:id="rId77"/>
    <p:sldId id="298" r:id="rId78"/>
    <p:sldId id="299" r:id="rId79"/>
    <p:sldId id="283" r:id="rId80"/>
    <p:sldId id="284" r:id="rId81"/>
    <p:sldId id="285" r:id="rId82"/>
    <p:sldId id="286" r:id="rId83"/>
    <p:sldId id="287" r:id="rId84"/>
    <p:sldId id="300" r:id="rId85"/>
    <p:sldId id="301" r:id="rId86"/>
    <p:sldId id="302" r:id="rId87"/>
    <p:sldId id="303" r:id="rId88"/>
    <p:sldId id="304" r:id="rId89"/>
    <p:sldId id="305" r:id="rId90"/>
    <p:sldId id="306" r:id="rId91"/>
    <p:sldId id="329" r:id="rId92"/>
    <p:sldId id="307" r:id="rId93"/>
    <p:sldId id="308" r:id="rId94"/>
    <p:sldId id="309" r:id="rId95"/>
    <p:sldId id="310" r:id="rId96"/>
    <p:sldId id="311" r:id="rId97"/>
    <p:sldId id="312" r:id="rId98"/>
    <p:sldId id="330" r:id="rId99"/>
    <p:sldId id="313" r:id="rId100"/>
    <p:sldId id="314" r:id="rId101"/>
    <p:sldId id="316" r:id="rId102"/>
    <p:sldId id="331" r:id="rId103"/>
    <p:sldId id="318" r:id="rId104"/>
    <p:sldId id="320" r:id="rId105"/>
    <p:sldId id="332" r:id="rId106"/>
    <p:sldId id="321" r:id="rId107"/>
    <p:sldId id="333" r:id="rId108"/>
    <p:sldId id="322" r:id="rId109"/>
    <p:sldId id="323" r:id="rId110"/>
    <p:sldId id="324" r:id="rId111"/>
    <p:sldId id="325" r:id="rId112"/>
    <p:sldId id="326" r:id="rId113"/>
    <p:sldId id="327" r:id="rId114"/>
    <p:sldId id="328" r:id="rId115"/>
    <p:sldId id="288" r:id="rId116"/>
    <p:sldId id="289" r:id="rId117"/>
    <p:sldId id="290" r:id="rId118"/>
    <p:sldId id="295" r:id="rId1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10D1-3C39-0637-5456-55F1A5857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79241-AE09-AB12-496F-06B318DF9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114A4-5B57-39F1-C365-49D9E37C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E562-C65D-9DF4-C466-A43E5CDF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9F94-D025-9916-D2A0-8C525570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8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59EF-B3C1-C672-59E7-6976DE54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16E8F-9597-D1CE-A7C2-D76D0FC04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A5014-BA2F-E798-1135-93C55F82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48809-1AFB-A7F4-2D29-1D061C0E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956BB-6D32-356D-17CB-204A9815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3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9BE1-5F2E-AA40-FB43-1559A243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E2E88-4CE4-294B-A9F9-5051B47DA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A71E-92FA-7BF0-DB56-27434908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5E0AA-1B51-7BE1-C843-DDD0ACB8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E32F6-ABA0-A6C2-4278-6BC94CA8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AA2E-FC27-0887-9203-A66FD204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2D281-DE7A-FE50-E992-20CEF871C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37486-EE92-E87F-6062-77AD4DC8C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4014-929C-B491-086B-1B99FCBF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28335-0C4F-8636-BFD0-BDB6EA8E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B0322-C7DE-2431-16C1-FBAD9673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4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E3BF-6AD2-11B7-B0DC-370B0205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4BD4F-6AFA-A85F-4B4D-4ACB23398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1295E-89E3-45BF-5797-32AA5B60B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3408C-CDB6-CBC6-6B85-0ABCB2DC1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98291-3A36-524E-BCBF-2BDBBF4D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336F4-08C0-9E09-C590-01CD06D5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499B3-99EE-3002-6551-8E027568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72B706-9F97-A51F-13B7-830F4DF7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86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37156-3772-130F-71D6-EC0D1E1DC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5EB73-FF7E-7636-8142-F24FBBF5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636CE-C136-953C-FF23-B3FA557A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8AFCF-A8F2-0684-EAE8-4094EB3B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3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891A0-4034-75D8-5F8A-D4A2C943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C614E-45AD-C017-999B-CAEED501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6D3B6-F800-4C2C-1291-CA8A569F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3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2A42-5B60-C99A-C90F-75827074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3949A-852F-CC46-F146-0AAE8E2FD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8B989-878E-4466-78FD-C28625636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ADF59-5E92-0CF3-DA42-E4EE7241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442FE-0B7B-0963-A463-3A51077B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0FACD-E28B-53C6-6969-7684DD68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9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7CDB-5C1D-F5E6-62DB-1E6FCD43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73FE1-237B-9415-88BA-C79186274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99874-7E43-86EA-3FDF-5EE600D0E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2086B-F340-0EFE-196E-01F79AAA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50536-8301-6BE3-1822-F84417BC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C4919-2CC0-AA6A-27A1-12DBC690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5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E304-5E18-C806-244A-125E1AF8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B5CFF-AF01-622D-11DD-1A27B9068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C1460-8E3A-0B9F-373A-F2D40B2B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EC9CE-2907-DF85-6629-604441CD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F3B41-468A-F166-C394-093AB763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4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FAA4A-4228-DDAD-8901-2A1BDE98E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7BCB7-712A-1863-673E-B1DDF0EBF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1EA78-F7B1-766E-3CF9-EBE1A4E62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89C5A-4FAA-6A58-D7E5-C02222F81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F64D3-D136-18D0-576C-141F0132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0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50816A-12B3-C617-63A7-0285B25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193CF-BE9F-3229-79B0-AF53E49F6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7E602-BBC3-735F-AA45-11CE77694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D7479-79CB-476C-90A7-A834C4891424}" type="datetimeFigureOut">
              <a:rPr lang="en-US" smtClean="0"/>
              <a:t>01/25/2024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96322-6E00-9D35-B21D-933C4C36C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80D1-B6A4-643C-0EE5-858316986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9B3E6-0249-446B-8C06-018B8E70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alhelp.net/mental-disorders/" TargetMode="External"/><Relationship Id="rId2" Type="http://schemas.openxmlformats.org/officeDocument/2006/relationships/hyperlink" Target="https://www.mentalhelp.net/schizophrenia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ycom.net/major-depressive-disorder" TargetMode="External"/><Relationship Id="rId2" Type="http://schemas.openxmlformats.org/officeDocument/2006/relationships/hyperlink" Target="https://www.psycom.net/depression.central.schizoaffectiv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sycom.net/bipolar-disorder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om.net/schizophrenia-5-subtype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om.net/schizophrenia/schizophrenia-spectrum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om.net/paranoid-schizophrenia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om.net/disorganized-schizophrenia-hebephrenia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om.net/schizophrenia/catatonic-schizophrenia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hyperlink" Target="https://nurseslabs.com/schizophrenia-nursing-care-pla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58AD-E8F0-FF0F-117D-B645DFB18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Schizophrenia Spectrum and other Psychotic Disorders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8BCB2-BAB9-E845-DEF6-3A797304B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144000" cy="1952978"/>
          </a:xfrm>
        </p:spPr>
        <p:txBody>
          <a:bodyPr>
            <a:normAutofit/>
          </a:bodyPr>
          <a:lstStyle/>
          <a:p>
            <a:pPr algn="l"/>
            <a:r>
              <a:rPr lang="en-US" i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PRESENTED BY:</a:t>
            </a:r>
          </a:p>
          <a:p>
            <a:pPr>
              <a:lnSpc>
                <a:spcPct val="90000"/>
              </a:lnSpc>
            </a:pPr>
            <a:endParaRPr lang="en-US" b="1" dirty="0">
              <a:solidFill>
                <a:schemeClr val="tx1"/>
              </a:solidFill>
              <a:latin typeface="Bahnschrift SemiBold" panose="020B0502040204020203" pitchFamily="34" charset="0"/>
              <a:cs typeface="Andalus" pitchFamily="18" charset="-78"/>
            </a:endParaRPr>
          </a:p>
          <a:p>
            <a:pPr algn="l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FRANCIS NJAGI KABUGUA          </a:t>
            </a:r>
          </a:p>
          <a:p>
            <a:pPr algn="l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MscN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-M.H. &amp; </a:t>
            </a:r>
            <a:r>
              <a:rPr lang="en-US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Psy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. Nursing ,</a:t>
            </a:r>
            <a:r>
              <a:rPr lang="en-US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BscN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, KRPN,KRCHN)</a:t>
            </a:r>
            <a:endParaRPr lang="en-US" sz="2400" b="1" dirty="0">
              <a:solidFill>
                <a:schemeClr val="tx1"/>
              </a:solidFill>
              <a:latin typeface="Bahnschrift SemiBold" panose="020B0502040204020203" pitchFamily="34" charset="0"/>
              <a:cs typeface="Andalus" pitchFamily="18" charset="-7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687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20EE-AE1E-6483-4F31-7970A0E9B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B6ED9-9E41-F445-DA04-B5F3AB2DF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sz="2800" b="1" dirty="0"/>
              <a:t>Describe a brief History of schizophrenia</a:t>
            </a:r>
            <a:r>
              <a:rPr lang="en-US" b="1" dirty="0"/>
              <a:t>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 dirty="0"/>
              <a:t>Explain the discovery schizophrenia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 dirty="0"/>
              <a:t>Indicate who coined the term schizophrenia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87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EE0E-1BE7-9F2E-7D93-C9F44A4B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726"/>
            <a:ext cx="10515600" cy="4043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BB155-7424-17C5-39A8-29D7EF238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5032"/>
            <a:ext cx="10515600" cy="5021931"/>
          </a:xfrm>
        </p:spPr>
        <p:txBody>
          <a:bodyPr/>
          <a:lstStyle/>
          <a:p>
            <a:r>
              <a:rPr lang="en-US" dirty="0"/>
              <a:t>Conditions like </a:t>
            </a:r>
            <a:r>
              <a:rPr lang="en-US" u="sng" dirty="0">
                <a:hlinkClick r:id="rId2"/>
              </a:rPr>
              <a:t>schizophrenia</a:t>
            </a:r>
            <a:r>
              <a:rPr lang="en-US" dirty="0"/>
              <a:t> were not differentiated from other forms of </a:t>
            </a:r>
            <a:r>
              <a:rPr lang="en-US" u="sng" dirty="0">
                <a:hlinkClick r:id="rId3"/>
              </a:rPr>
              <a:t>mental illness</a:t>
            </a:r>
            <a:r>
              <a:rPr lang="en-US" dirty="0"/>
              <a:t> or mental retardation, </a:t>
            </a:r>
          </a:p>
          <a:p>
            <a:r>
              <a:rPr lang="en-US" dirty="0"/>
              <a:t>Mental illness was thought of as being supernatural in origin, </a:t>
            </a:r>
          </a:p>
          <a:p>
            <a:r>
              <a:rPr lang="en-US" dirty="0"/>
              <a:t>Caused by </a:t>
            </a:r>
          </a:p>
          <a:p>
            <a:pPr>
              <a:buFontTx/>
              <a:buChar char="-"/>
            </a:pPr>
            <a:r>
              <a:rPr lang="en-US" dirty="0"/>
              <a:t>evil spirits, </a:t>
            </a:r>
          </a:p>
          <a:p>
            <a:pPr>
              <a:buFontTx/>
              <a:buChar char="-"/>
            </a:pPr>
            <a:r>
              <a:rPr lang="en-US" dirty="0"/>
              <a:t>demon possession, </a:t>
            </a:r>
          </a:p>
          <a:p>
            <a:pPr>
              <a:buFontTx/>
              <a:buChar char="-"/>
            </a:pPr>
            <a:r>
              <a:rPr lang="en-US" dirty="0"/>
              <a:t>punishment for sin.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07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CB975-C630-2BF8-3454-07BEEC15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378F7-9CDF-DD8D-B3A1-8063C3066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654"/>
            <a:ext cx="10515600" cy="5166310"/>
          </a:xfrm>
        </p:spPr>
        <p:txBody>
          <a:bodyPr/>
          <a:lstStyle/>
          <a:p>
            <a:r>
              <a:rPr lang="en-US" dirty="0"/>
              <a:t>Positive symptoms of schizophrenia, i.e.  </a:t>
            </a:r>
          </a:p>
          <a:p>
            <a:pPr>
              <a:buFontTx/>
              <a:buChar char="-"/>
            </a:pPr>
            <a:r>
              <a:rPr lang="en-US" dirty="0"/>
              <a:t>Hallucinations, </a:t>
            </a:r>
          </a:p>
          <a:p>
            <a:pPr>
              <a:buFontTx/>
              <a:buChar char="-"/>
            </a:pPr>
            <a:r>
              <a:rPr lang="en-US" dirty="0"/>
              <a:t>Delusions, </a:t>
            </a:r>
          </a:p>
          <a:p>
            <a:pPr>
              <a:buFontTx/>
              <a:buChar char="-"/>
            </a:pPr>
            <a:r>
              <a:rPr lang="en-US" dirty="0"/>
              <a:t>Disorganized thinking, </a:t>
            </a:r>
          </a:p>
          <a:p>
            <a:r>
              <a:rPr lang="en-US" dirty="0"/>
              <a:t>Have been described throughout ancient Egyptian, Hindu, Chinese, Greek, and Roman history.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39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E761-D27C-371B-76AA-A7B10F76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D428-23A2-993F-CE4D-818996A7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716"/>
            <a:ext cx="10515600" cy="514224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Who discovered schizophrenia?</a:t>
            </a:r>
            <a:endParaRPr lang="en-US" dirty="0"/>
          </a:p>
          <a:p>
            <a:r>
              <a:rPr lang="en-US" dirty="0"/>
              <a:t>The discovery of schizophrenia is attributed to the German psychiatrist </a:t>
            </a:r>
            <a:r>
              <a:rPr lang="en-US" b="1" dirty="0"/>
              <a:t>Emil Kraepelin</a:t>
            </a:r>
            <a:r>
              <a:rPr lang="en-US" dirty="0"/>
              <a:t>, </a:t>
            </a:r>
          </a:p>
          <a:p>
            <a:r>
              <a:rPr lang="en-US" dirty="0"/>
              <a:t>He first described the condition in the late 1800s</a:t>
            </a:r>
          </a:p>
          <a:p>
            <a:r>
              <a:rPr lang="en-US" dirty="0"/>
              <a:t>In 1887, Emil Kraepelin, first to classified schizophrenia using the term “</a:t>
            </a:r>
            <a:r>
              <a:rPr lang="en-US" b="1" dirty="0"/>
              <a:t>dementia praecox</a:t>
            </a:r>
            <a:r>
              <a:rPr lang="en-US" dirty="0"/>
              <a:t>”, </a:t>
            </a:r>
          </a:p>
          <a:p>
            <a:r>
              <a:rPr lang="en-US" dirty="0"/>
              <a:t>Dementia praecox means </a:t>
            </a:r>
            <a:r>
              <a:rPr lang="en-US" b="1" dirty="0"/>
              <a:t>early dementia </a:t>
            </a:r>
            <a:r>
              <a:rPr lang="en-US" dirty="0"/>
              <a:t>or </a:t>
            </a:r>
            <a:r>
              <a:rPr lang="en-US" b="1" dirty="0"/>
              <a:t> premature dementia</a:t>
            </a:r>
            <a:r>
              <a:rPr lang="en-US" dirty="0"/>
              <a:t>. 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3433-95E5-A0D1-C7AE-80F61C2F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06F53-9189-FEE6-20F5-955A154EC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779"/>
            <a:ext cx="10515600" cy="5118184"/>
          </a:xfrm>
        </p:spPr>
        <p:txBody>
          <a:bodyPr/>
          <a:lstStyle/>
          <a:p>
            <a:r>
              <a:rPr lang="en-US" dirty="0"/>
              <a:t>Kraepelin believed that dementia praecox was primarily a </a:t>
            </a:r>
            <a:r>
              <a:rPr lang="en-US" b="1" dirty="0"/>
              <a:t>disease of the brain.</a:t>
            </a:r>
          </a:p>
          <a:p>
            <a:r>
              <a:rPr lang="en-US" dirty="0"/>
              <a:t>He observed patients with this condition had symptoms such as </a:t>
            </a:r>
          </a:p>
          <a:p>
            <a:pPr>
              <a:buFontTx/>
              <a:buChar char="-"/>
            </a:pPr>
            <a:r>
              <a:rPr lang="en-US" dirty="0"/>
              <a:t>delusions, </a:t>
            </a:r>
          </a:p>
          <a:p>
            <a:pPr>
              <a:buFontTx/>
              <a:buChar char="-"/>
            </a:pPr>
            <a:r>
              <a:rPr lang="en-US" dirty="0"/>
              <a:t>hallucinations, and </a:t>
            </a:r>
          </a:p>
          <a:p>
            <a:pPr>
              <a:buFontTx/>
              <a:buChar char="-"/>
            </a:pPr>
            <a:r>
              <a:rPr lang="en-US" dirty="0"/>
              <a:t>disorganized thinking,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10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968F-69AA-A964-61A5-212CBA18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916"/>
            <a:ext cx="105156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C449-5E1A-1B2E-647F-942A7A7CD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726"/>
            <a:ext cx="10515600" cy="4757237"/>
          </a:xfrm>
        </p:spPr>
        <p:txBody>
          <a:bodyPr/>
          <a:lstStyle/>
          <a:p>
            <a:r>
              <a:rPr lang="en-US" dirty="0"/>
              <a:t>Emil Kraepelin’s classification of mental disorders, is the precursor of today’s most influential classifications of mental disorders </a:t>
            </a:r>
            <a:r>
              <a:rPr lang="en-US" dirty="0" err="1"/>
              <a:t>ie</a:t>
            </a:r>
            <a:r>
              <a:rPr lang="en-US" dirty="0"/>
              <a:t> , </a:t>
            </a:r>
          </a:p>
          <a:p>
            <a:pPr marL="571500" indent="-571500">
              <a:buAutoNum type="romanLcParenR"/>
            </a:pPr>
            <a:r>
              <a:rPr lang="en-US" dirty="0"/>
              <a:t>the </a:t>
            </a:r>
            <a:r>
              <a:rPr lang="en-US" b="1" dirty="0"/>
              <a:t>Diagnostic and Statistical Manual </a:t>
            </a:r>
            <a:r>
              <a:rPr lang="en-US" dirty="0"/>
              <a:t>of Mental Disorders currently in the 5th Revision (DSM-5)</a:t>
            </a:r>
          </a:p>
          <a:p>
            <a:pPr marL="571500" indent="-571500">
              <a:buAutoNum type="romanLcParenR"/>
            </a:pPr>
            <a:r>
              <a:rPr lang="en-US" dirty="0"/>
              <a:t>the </a:t>
            </a:r>
            <a:r>
              <a:rPr lang="en-US" b="1" dirty="0"/>
              <a:t>International Classification of Diseases </a:t>
            </a:r>
            <a:r>
              <a:rPr lang="en-US" dirty="0"/>
              <a:t>currently in the 11th Revision (ICD-11).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05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2E5D-1391-FBC2-0A43-43FA5FEE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DD76D-BBDC-706D-AD42-03D50C51A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968"/>
            <a:ext cx="10515600" cy="504599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Who coined the term schizophrenia</a:t>
            </a:r>
          </a:p>
          <a:p>
            <a:r>
              <a:rPr lang="en-US" dirty="0"/>
              <a:t>The term "schizophrenia" was coined by a Swiss psychiatrist, </a:t>
            </a:r>
            <a:r>
              <a:rPr lang="en-US" b="1" dirty="0"/>
              <a:t>Eugen Bleuler </a:t>
            </a:r>
            <a:r>
              <a:rPr lang="en-US" b="1" dirty="0">
                <a:solidFill>
                  <a:prstClr val="black"/>
                </a:solidFill>
              </a:rPr>
              <a:t>in 1910. </a:t>
            </a:r>
            <a:endParaRPr lang="en-US" b="1" dirty="0"/>
          </a:p>
          <a:p>
            <a:r>
              <a:rPr lang="en-US" dirty="0"/>
              <a:t>Schizophrenia comes from the Greek words </a:t>
            </a:r>
            <a:r>
              <a:rPr lang="en-US" dirty="0" err="1"/>
              <a:t>schizo</a:t>
            </a:r>
            <a:r>
              <a:rPr lang="en-US" dirty="0"/>
              <a:t> (split) and </a:t>
            </a:r>
            <a:r>
              <a:rPr lang="en-US" dirty="0" err="1"/>
              <a:t>phrene</a:t>
            </a:r>
            <a:r>
              <a:rPr lang="en-US" dirty="0"/>
              <a:t> (mind). </a:t>
            </a:r>
          </a:p>
          <a:p>
            <a:r>
              <a:rPr lang="en-US" dirty="0"/>
              <a:t>This translates to “</a:t>
            </a:r>
            <a:r>
              <a:rPr lang="en-US" b="1" dirty="0"/>
              <a:t>splitting of the mind</a:t>
            </a:r>
            <a:r>
              <a:rPr lang="en-US" dirty="0"/>
              <a:t>” </a:t>
            </a:r>
          </a:p>
          <a:p>
            <a:r>
              <a:rPr lang="en-US" dirty="0"/>
              <a:t>Bleuler used this name to describe a separation of psychological functions: i.e. </a:t>
            </a:r>
            <a:r>
              <a:rPr lang="en-US" b="1" dirty="0"/>
              <a:t>cognition, perception and affect.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30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B1BC-5152-897E-3F63-BB67858F7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4D10-9A41-6013-BDA5-77FA86F00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937"/>
            <a:ext cx="10515600" cy="5058026"/>
          </a:xfrm>
        </p:spPr>
        <p:txBody>
          <a:bodyPr/>
          <a:lstStyle/>
          <a:p>
            <a:r>
              <a:rPr lang="en-US" dirty="0"/>
              <a:t>Bleuler believed that the symptoms of the condition, i.e. </a:t>
            </a:r>
          </a:p>
          <a:p>
            <a:pPr>
              <a:buFontTx/>
              <a:buChar char="-"/>
            </a:pPr>
            <a:r>
              <a:rPr lang="en-US" dirty="0"/>
              <a:t>delusions, </a:t>
            </a:r>
          </a:p>
          <a:p>
            <a:pPr>
              <a:buFontTx/>
              <a:buChar char="-"/>
            </a:pPr>
            <a:r>
              <a:rPr lang="en-US" dirty="0"/>
              <a:t>hallucinations, and </a:t>
            </a:r>
          </a:p>
          <a:p>
            <a:pPr>
              <a:buFontTx/>
              <a:buChar char="-"/>
            </a:pPr>
            <a:r>
              <a:rPr lang="en-US" dirty="0"/>
              <a:t>disordered thinking, </a:t>
            </a:r>
          </a:p>
          <a:p>
            <a:r>
              <a:rPr lang="en-US" dirty="0"/>
              <a:t>were caused by a split in the mind of the affected individual.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48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06A3-28BC-C99E-0A43-A87495E12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114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54BB-B858-DAE3-EFA2-52C4A3EE2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221"/>
            <a:ext cx="10515600" cy="4949742"/>
          </a:xfrm>
        </p:spPr>
        <p:txBody>
          <a:bodyPr/>
          <a:lstStyle/>
          <a:p>
            <a:r>
              <a:rPr lang="en-US" dirty="0"/>
              <a:t>Bleuler was the first to describe symptoms as "</a:t>
            </a:r>
            <a:r>
              <a:rPr lang="en-US" b="1" dirty="0"/>
              <a:t>positive" or "negative</a:t>
            </a:r>
            <a:r>
              <a:rPr lang="en-US" dirty="0"/>
              <a:t>", </a:t>
            </a:r>
          </a:p>
          <a:p>
            <a:r>
              <a:rPr lang="en-US" dirty="0"/>
              <a:t>Both Kraepelin and Bleuler recognized that schizophrenia symptoms tended to cluster into distinct categories. </a:t>
            </a:r>
          </a:p>
          <a:p>
            <a:r>
              <a:rPr lang="en-US" dirty="0"/>
              <a:t>They created a typology of schizophrenic subtypes that continues to be used today.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462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2785-069F-3AE8-AB8B-8E0B65862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692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A4EA4-1C0A-8B07-E793-3DEF931C8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189"/>
            <a:ext cx="10515600" cy="4961774"/>
          </a:xfrm>
        </p:spPr>
        <p:txBody>
          <a:bodyPr/>
          <a:lstStyle/>
          <a:p>
            <a:r>
              <a:rPr lang="en-US" dirty="0"/>
              <a:t>Schizophrenic categories recognized by the DSM IV TR based on a particular distinct symptom cluster included: </a:t>
            </a:r>
          </a:p>
          <a:p>
            <a:pPr>
              <a:buFontTx/>
              <a:buChar char="-"/>
            </a:pPr>
            <a:r>
              <a:rPr lang="en-US" dirty="0"/>
              <a:t>paranoid, </a:t>
            </a:r>
          </a:p>
          <a:p>
            <a:pPr>
              <a:buFontTx/>
              <a:buChar char="-"/>
            </a:pPr>
            <a:r>
              <a:rPr lang="en-US" dirty="0"/>
              <a:t>disorganized, </a:t>
            </a:r>
          </a:p>
          <a:p>
            <a:pPr>
              <a:buFontTx/>
              <a:buChar char="-"/>
            </a:pPr>
            <a:r>
              <a:rPr lang="en-US" dirty="0"/>
              <a:t>catatonic, </a:t>
            </a:r>
          </a:p>
          <a:p>
            <a:pPr>
              <a:buFontTx/>
              <a:buChar char="-"/>
            </a:pPr>
            <a:r>
              <a:rPr lang="en-US" dirty="0"/>
              <a:t>residual, and </a:t>
            </a:r>
          </a:p>
          <a:p>
            <a:pPr>
              <a:buFontTx/>
              <a:buChar char="-"/>
            </a:pPr>
            <a:r>
              <a:rPr lang="en-US" dirty="0"/>
              <a:t>undifferentiated subtypes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57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905E-AE7C-2386-8A71-7D6B5237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FE77-D932-CF6E-0A4C-BA2938930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779"/>
            <a:ext cx="10515600" cy="5118184"/>
          </a:xfrm>
        </p:spPr>
        <p:txBody>
          <a:bodyPr/>
          <a:lstStyle/>
          <a:p>
            <a:r>
              <a:rPr lang="en-US" b="1" dirty="0"/>
              <a:t>Kurt Schneider </a:t>
            </a:r>
            <a:r>
              <a:rPr lang="en-US" dirty="0"/>
              <a:t>gave a major contribution in the understanding schizophrenia.</a:t>
            </a:r>
          </a:p>
          <a:p>
            <a:r>
              <a:rPr lang="en-US" dirty="0"/>
              <a:t>He listed his 'first rank' features of schizophrenia in 1959. </a:t>
            </a:r>
          </a:p>
          <a:p>
            <a:r>
              <a:rPr lang="en-US" dirty="0"/>
              <a:t>He differentiated schizophrenia from other psychoses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2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3CDC-F863-12B6-2311-A609FF2C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099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7EB22-545E-01BF-497F-518DE05F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126"/>
            <a:ext cx="10515600" cy="4985837"/>
          </a:xfrm>
        </p:spPr>
        <p:txBody>
          <a:bodyPr/>
          <a:lstStyle/>
          <a:p>
            <a:r>
              <a:rPr lang="en-US" dirty="0"/>
              <a:t>This also served as the inspiration for the two diagnostic manuals widely used to define modern schizophrenia the:</a:t>
            </a:r>
          </a:p>
          <a:p>
            <a:pPr marL="571500" indent="-571500">
              <a:buAutoNum type="romanLcParenR"/>
            </a:pPr>
            <a:r>
              <a:rPr lang="en-US" dirty="0"/>
              <a:t>International Classification of Diseases (ICD, currently in its 11th edition- </a:t>
            </a:r>
            <a:r>
              <a:rPr lang="en-US" dirty="0">
                <a:solidFill>
                  <a:srgbClr val="FF0000"/>
                </a:solidFill>
              </a:rPr>
              <a:t>ICD 11</a:t>
            </a:r>
            <a:r>
              <a:rPr lang="en-US" dirty="0"/>
              <a:t>) 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dirty="0"/>
              <a:t>Diagnostic and Statistical Manual of Mental Disorders (DSM, currently in its 5th edition- </a:t>
            </a:r>
            <a:r>
              <a:rPr lang="en-US" dirty="0">
                <a:solidFill>
                  <a:srgbClr val="FF0000"/>
                </a:solidFill>
              </a:rPr>
              <a:t>DSM 5 TR </a:t>
            </a:r>
            <a:r>
              <a:rPr lang="en-US" dirty="0"/>
              <a:t>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0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76DC2-4AB6-0428-A55B-D44D0BAFF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2FCD-B6D1-187D-3FA8-2CE1B660D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653"/>
            <a:ext cx="10515600" cy="5166310"/>
          </a:xfrm>
        </p:spPr>
        <p:txBody>
          <a:bodyPr/>
          <a:lstStyle/>
          <a:p>
            <a:r>
              <a:rPr lang="en-US" dirty="0"/>
              <a:t>Gregory Bateson and colleagues offered the "double bind" theory in the middle 1950's</a:t>
            </a:r>
          </a:p>
          <a:p>
            <a:r>
              <a:rPr lang="en-US" dirty="0"/>
              <a:t>This theory proposed that schizophrenia was caused by particular forms of bad parenting,</a:t>
            </a:r>
          </a:p>
          <a:p>
            <a:r>
              <a:rPr lang="en-US" dirty="0"/>
              <a:t>Parents explicitly said one thing and then contradicted that thing with implicit unconscious messages of opposite content. </a:t>
            </a:r>
          </a:p>
          <a:p>
            <a:r>
              <a:rPr lang="en-US" dirty="0"/>
              <a:t>For example, parents might praise their child, but treat him poorly.</a:t>
            </a:r>
          </a:p>
          <a:p>
            <a:r>
              <a:rPr lang="en-US" dirty="0"/>
              <a:t> This theory has been discarded for lack of scientific evidence.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1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C669-B264-12E1-0B96-C9D30B45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6FDB6-95AE-34CB-F4D8-08C39FC4C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0337"/>
            <a:ext cx="10515600" cy="5286626"/>
          </a:xfrm>
        </p:spPr>
        <p:txBody>
          <a:bodyPr/>
          <a:lstStyle/>
          <a:p>
            <a:r>
              <a:rPr lang="en-US" dirty="0"/>
              <a:t>The stressful life events (i.e. schizophrenic parents) can play a role in causing schizophrenia. </a:t>
            </a:r>
          </a:p>
          <a:p>
            <a:r>
              <a:rPr lang="en-US" dirty="0"/>
              <a:t>This encourages modern psychiatric research and "diathesis-stress" models of schizophrenia.</a:t>
            </a:r>
          </a:p>
          <a:p>
            <a:r>
              <a:rPr lang="en-US" dirty="0"/>
              <a:t>A diathesis is a vulnerability. </a:t>
            </a:r>
          </a:p>
          <a:p>
            <a:r>
              <a:rPr lang="en-US" dirty="0"/>
              <a:t>Diathesis-stress models of schizophrenia propose that people have predispositions and vulnerabilities for schizophrenia (diatheses).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97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0762-DE0D-C966-210F-13F3B2A9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33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AFFB-CD87-09D4-0AC0-CEBAD035C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758"/>
            <a:ext cx="10515600" cy="4745205"/>
          </a:xfrm>
        </p:spPr>
        <p:txBody>
          <a:bodyPr/>
          <a:lstStyle/>
          <a:p>
            <a:r>
              <a:rPr lang="en-US" dirty="0"/>
              <a:t>Some people are more susceptible than others, due to genetics, biology and experience. </a:t>
            </a:r>
          </a:p>
          <a:p>
            <a:r>
              <a:rPr lang="en-US" dirty="0"/>
              <a:t>The greater a person's inherent susceptibility for developing schizophrenia, the easier it is to trigger psychotic episode.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652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ABB8-7523-6C43-A3E3-611BA7290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DEDDF-3EC8-158A-2680-641D3682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936"/>
            <a:ext cx="10515600" cy="5173579"/>
          </a:xfrm>
        </p:spPr>
        <p:txBody>
          <a:bodyPr/>
          <a:lstStyle/>
          <a:p>
            <a:r>
              <a:rPr lang="en-US" dirty="0"/>
              <a:t>Various sources of stress may combine to produce the releasing effect of diatheses</a:t>
            </a:r>
          </a:p>
          <a:p>
            <a:r>
              <a:rPr lang="en-US" dirty="0"/>
              <a:t>Stressors include: </a:t>
            </a:r>
          </a:p>
          <a:p>
            <a:pPr>
              <a:buFontTx/>
              <a:buChar char="-"/>
            </a:pPr>
            <a:r>
              <a:rPr lang="en-US" dirty="0"/>
              <a:t>psychological, social, and </a:t>
            </a:r>
          </a:p>
          <a:p>
            <a:pPr>
              <a:buFontTx/>
              <a:buChar char="-"/>
            </a:pPr>
            <a:r>
              <a:rPr lang="en-US" dirty="0"/>
              <a:t>biological (including trauma, depression, viruses, birth complications). </a:t>
            </a:r>
          </a:p>
          <a:p>
            <a:r>
              <a:rPr lang="en-US" dirty="0"/>
              <a:t>The use of certain 'recreational' drugs can release  hidden diathesis towards developing schizophrenia.</a:t>
            </a:r>
          </a:p>
          <a:p>
            <a:r>
              <a:rPr lang="en-US" dirty="0"/>
              <a:t>The drugs includes marijuana or psychedelics- LSD.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08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2FA76-9335-ED1C-EF4B-416A535F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0A0D-2D82-ECA0-66C6-9B5D3F05A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/>
              <a:t>Schizophrenia Spectrum and other Psychotic Disorders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13869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9823-43AA-A1A6-B66D-4530F49E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Objectives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DA12-7FF9-D8D2-1AD2-E2A0A438B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State the five (5)domains of schizophrenia spectrum and other psychotic disorders.</a:t>
            </a:r>
          </a:p>
          <a:p>
            <a:pPr marL="514350" indent="-514350">
              <a:buAutoNum type="arabicPeriod"/>
            </a:pPr>
            <a:r>
              <a:rPr lang="en-US" dirty="0"/>
              <a:t>Describe the  components of Schizophrenia Spectrum Disorders.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Describe the Five (5) Subtypes Schizophrenia according to DSM IV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373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E877-6CD9-D877-0A91-CA4D5F92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574"/>
            <a:ext cx="10515600" cy="3131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17590-3F78-F911-4057-664117F8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342"/>
            <a:ext cx="10515600" cy="5348614"/>
          </a:xfrm>
        </p:spPr>
        <p:txBody>
          <a:bodyPr/>
          <a:lstStyle/>
          <a:p>
            <a:r>
              <a:rPr lang="en-US" dirty="0"/>
              <a:t>According to DSM-5 (2013) schizophrenia exists as : </a:t>
            </a:r>
          </a:p>
          <a:p>
            <a:pPr marL="571500" indent="-571500">
              <a:buAutoNum type="romanLcParenR"/>
            </a:pPr>
            <a:r>
              <a:rPr lang="en-US" dirty="0"/>
              <a:t>a single condition </a:t>
            </a:r>
          </a:p>
          <a:p>
            <a:pPr marL="571500" indent="-571500">
              <a:buAutoNum type="romanLcParenR"/>
            </a:pPr>
            <a:r>
              <a:rPr lang="en-US" dirty="0"/>
              <a:t>a part of a spectrum of conditions related to a larger group of psychotic disorders. </a:t>
            </a:r>
          </a:p>
          <a:p>
            <a:endParaRPr lang="en-US" dirty="0"/>
          </a:p>
          <a:p>
            <a:r>
              <a:rPr lang="en-US" dirty="0"/>
              <a:t>The predominant symptoms mental disorders has helped mental health professionals: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) to distinguish mental disorders that resemble schizophrenia </a:t>
            </a:r>
          </a:p>
          <a:p>
            <a:pPr marL="0" indent="0">
              <a:buNone/>
            </a:pPr>
            <a:r>
              <a:rPr lang="en-US" dirty="0"/>
              <a:t>ii) better treat other mental disorders that resemble schizophrenia</a:t>
            </a:r>
          </a:p>
        </p:txBody>
      </p:sp>
    </p:spTree>
    <p:extLst>
      <p:ext uri="{BB962C8B-B14F-4D97-AF65-F5344CB8AC3E}">
        <p14:creationId xmlns:p14="http://schemas.microsoft.com/office/powerpoint/2010/main" val="3740533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6628-802E-1B2C-5ED0-A968B289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9D20-9D93-F42C-F9E3-95EAA69B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6718"/>
            <a:ext cx="10515600" cy="566615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Five 5 domains of schizophrenia spectrum and other psychotic disorders</a:t>
            </a:r>
            <a:r>
              <a:rPr lang="en-US" dirty="0"/>
              <a:t>; according  to DSM-5: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00FF"/>
                </a:solidFill>
              </a:rPr>
              <a:t>Hallucinations</a:t>
            </a:r>
            <a:r>
              <a:rPr lang="en-US" b="1" dirty="0"/>
              <a:t>,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00FF"/>
                </a:solidFill>
              </a:rPr>
              <a:t>Delusions</a:t>
            </a:r>
            <a:r>
              <a:rPr lang="en-US" b="1" dirty="0"/>
              <a:t>,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 dirty="0">
                <a:solidFill>
                  <a:srgbClr val="0000FF"/>
                </a:solidFill>
              </a:rPr>
              <a:t>Disorganized thought and speech</a:t>
            </a:r>
            <a:r>
              <a:rPr lang="en-US" b="1" dirty="0"/>
              <a:t>, </a:t>
            </a:r>
            <a:r>
              <a:rPr lang="en-US" dirty="0"/>
              <a:t>(e.g., frequent derailment or incoherence)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00FF"/>
                </a:solidFill>
              </a:rPr>
              <a:t>Disorganized or abnormal motor behavior</a:t>
            </a:r>
            <a:r>
              <a:rPr lang="en-US" b="1" dirty="0"/>
              <a:t> </a:t>
            </a:r>
            <a:r>
              <a:rPr lang="en-US" dirty="0"/>
              <a:t>(including catatonia),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 dirty="0">
                <a:solidFill>
                  <a:srgbClr val="0000FF"/>
                </a:solidFill>
              </a:rPr>
              <a:t>Negative symptoms </a:t>
            </a:r>
            <a:r>
              <a:rPr lang="en-US" dirty="0"/>
              <a:t>(i.e., affective flattening, alogia, or avolition)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863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7C12-5F94-E539-EC89-7644C47B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4CE42-16BF-E3A7-A725-D319FA3BA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874"/>
            <a:ext cx="10515600" cy="527508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Schizophrenic Spectrum Disorders includes:</a:t>
            </a:r>
          </a:p>
          <a:p>
            <a:pPr marL="514350" indent="-514350">
              <a:buAutoNum type="arabicPeriod"/>
            </a:pPr>
            <a:r>
              <a:rPr lang="en-US" dirty="0"/>
              <a:t>Schizoaffective disorder </a:t>
            </a:r>
          </a:p>
          <a:p>
            <a:pPr marL="514350" indent="-514350">
              <a:buAutoNum type="arabicPeriod"/>
            </a:pPr>
            <a:r>
              <a:rPr lang="en-US" dirty="0"/>
              <a:t>Schizophreniform disorder </a:t>
            </a:r>
          </a:p>
          <a:p>
            <a:pPr marL="514350" indent="-514350">
              <a:buAutoNum type="arabicPeriod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Paranoid Schizophrenia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Brief Psychotic Disorder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Delusional Disorder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Shared Psychotic Disorder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Schizotypal personality disorder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01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01A0-88DC-58D2-C35A-32731F9F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891"/>
            <a:ext cx="10515600" cy="37578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E6C90-C5B1-AD95-F919-A12D18286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4088"/>
            <a:ext cx="10515600" cy="56367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u="sng" dirty="0">
                <a:hlinkClick r:id="rId2"/>
              </a:rPr>
              <a:t>1 Schizoaffective disorder</a:t>
            </a:r>
            <a:r>
              <a:rPr lang="en-US" dirty="0"/>
              <a:t> </a:t>
            </a:r>
          </a:p>
          <a:p>
            <a:r>
              <a:rPr lang="en-US" dirty="0"/>
              <a:t>Schizoaffective disorder is a type of disorder that combines symptoms of schizophrenia with a mood disorder;</a:t>
            </a:r>
          </a:p>
          <a:p>
            <a:r>
              <a:rPr lang="en-US" dirty="0"/>
              <a:t>Most likely symptoms are either </a:t>
            </a:r>
            <a:r>
              <a:rPr lang="en-US" u="sng" dirty="0">
                <a:hlinkClick r:id="rId3"/>
              </a:rPr>
              <a:t>major depression</a:t>
            </a:r>
            <a:r>
              <a:rPr lang="en-US" dirty="0"/>
              <a:t> or </a:t>
            </a:r>
            <a:r>
              <a:rPr lang="en-US" u="sng" dirty="0">
                <a:hlinkClick r:id="rId4"/>
              </a:rPr>
              <a:t>bipolar disorder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This type of schizophrenia is chronic and appears in intermittent or recurrent episodes. </a:t>
            </a:r>
          </a:p>
          <a:p>
            <a:endParaRPr lang="en-US" dirty="0"/>
          </a:p>
          <a:p>
            <a:r>
              <a:rPr lang="en-US" dirty="0"/>
              <a:t>Common symptoms of schizoaffective disorder include:</a:t>
            </a:r>
          </a:p>
          <a:p>
            <a:pPr>
              <a:buFontTx/>
              <a:buChar char="-"/>
            </a:pPr>
            <a:r>
              <a:rPr lang="en-US" dirty="0"/>
              <a:t>depression, </a:t>
            </a:r>
          </a:p>
          <a:p>
            <a:pPr>
              <a:buFontTx/>
              <a:buChar char="-"/>
            </a:pPr>
            <a:r>
              <a:rPr lang="en-US" dirty="0"/>
              <a:t>mania, and </a:t>
            </a:r>
          </a:p>
          <a:p>
            <a:pPr>
              <a:buFontTx/>
              <a:buChar char="-"/>
            </a:pPr>
            <a:r>
              <a:rPr lang="en-US" dirty="0"/>
              <a:t>classic schizophrenia.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321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CA95-DAE5-D418-B277-A0DE935A9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69"/>
            <a:ext cx="10515600" cy="22546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90375-9A11-96D2-68C6-8D9112560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3984"/>
            <a:ext cx="10515600" cy="5462979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/>
              <a:t>2. Schizophreniform disorder</a:t>
            </a:r>
            <a:r>
              <a:rPr lang="en-US" dirty="0"/>
              <a:t> </a:t>
            </a:r>
          </a:p>
          <a:p>
            <a:r>
              <a:rPr lang="en-US" dirty="0"/>
              <a:t>Has identical features to schizophrenia but the duration of symptoms is less. </a:t>
            </a:r>
          </a:p>
          <a:p>
            <a:r>
              <a:rPr lang="en-US" dirty="0"/>
              <a:t>The patient has experienced symptoms for longer than one week but less than six months.</a:t>
            </a:r>
          </a:p>
          <a:p>
            <a:r>
              <a:rPr lang="en-US" sz="2800" dirty="0"/>
              <a:t>Return to normal functioning is possible</a:t>
            </a:r>
            <a:r>
              <a:rPr lang="en-US" dirty="0"/>
              <a:t> </a:t>
            </a:r>
          </a:p>
          <a:p>
            <a:r>
              <a:rPr lang="en-US" sz="2800" dirty="0"/>
              <a:t>(NB: 6 months is the amount of time necessary to meet the diagnostic criteria for schizophrenia)</a:t>
            </a:r>
          </a:p>
          <a:p>
            <a:endParaRPr lang="en-US" dirty="0"/>
          </a:p>
          <a:p>
            <a:pPr lvl="0"/>
            <a:r>
              <a:rPr lang="en-US" dirty="0"/>
              <a:t>The individual experiences: </a:t>
            </a:r>
          </a:p>
          <a:p>
            <a:pPr lvl="0">
              <a:buFontTx/>
              <a:buChar char="-"/>
            </a:pPr>
            <a:r>
              <a:rPr lang="en-US" dirty="0"/>
              <a:t>distorted thinking, </a:t>
            </a:r>
          </a:p>
          <a:p>
            <a:pPr lvl="0">
              <a:buFontTx/>
              <a:buChar char="-"/>
            </a:pPr>
            <a:r>
              <a:rPr lang="en-US" dirty="0"/>
              <a:t>emotional reactions, </a:t>
            </a:r>
          </a:p>
          <a:p>
            <a:pPr lvl="0">
              <a:buFontTx/>
              <a:buChar char="-"/>
            </a:pPr>
            <a:r>
              <a:rPr lang="en-US" dirty="0"/>
              <a:t>distorted perceptions of reality. </a:t>
            </a:r>
          </a:p>
          <a:p>
            <a:pPr lvl="0"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1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47D0-BC4A-62B8-E803-9D9D003D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996"/>
            <a:ext cx="10515600" cy="30062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D47F-9FDF-3EA7-CB8B-D0ADD3F9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1352"/>
            <a:ext cx="10515600" cy="5749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Paranoid Schizophrenia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most common type of schizophrenia characterized by psychosis uneven with reality.</a:t>
            </a:r>
          </a:p>
          <a:p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One may be unreasonably paranoid of others,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paranoid delusions that someone is after him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People are trying to hurt him. </a:t>
            </a:r>
          </a:p>
          <a:p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Common paranoid delusions include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coworkers,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spouses,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government, and </a:t>
            </a:r>
          </a:p>
          <a:p>
            <a:pPr>
              <a:buFontTx/>
              <a:buChar char="-"/>
            </a:pPr>
            <a:r>
              <a:rPr lang="en-US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plotting to hurt him in some way.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73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EAB7-D51F-C40D-2BD1-96567F44B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EF161-7B45-7F05-44E5-0A0EE1FCB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822"/>
            <a:ext cx="10515600" cy="5300141"/>
          </a:xfrm>
        </p:spPr>
        <p:txBody>
          <a:bodyPr/>
          <a:lstStyle/>
          <a:p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He may believe others are out to try to: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kill him,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spy on him,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make his life miserable,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poison him or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cheat on him.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809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BDF9-32B5-2CD1-65EF-11A7F51E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100"/>
            <a:ext cx="10515600" cy="28809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F2FA-B579-5D15-881D-DB0DAB8EC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614"/>
            <a:ext cx="10515600" cy="5400349"/>
          </a:xfrm>
        </p:spPr>
        <p:txBody>
          <a:bodyPr/>
          <a:lstStyle/>
          <a:p>
            <a:pPr algn="just"/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Paranoid schizophrenia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has a severe impact on relationships, </a:t>
            </a:r>
          </a:p>
          <a:p>
            <a:pPr algn="just"/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One believes those that are close to him are trying to hurt him in some way. </a:t>
            </a:r>
          </a:p>
          <a:p>
            <a:pPr algn="just"/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There is feeling of  anger and agitation. </a:t>
            </a:r>
          </a:p>
          <a:p>
            <a:pPr algn="just"/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paranoid delusions may be accompanied by auditory hallucinations </a:t>
            </a:r>
          </a:p>
          <a:p>
            <a:pPr algn="just"/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He  hear voices that are insulting him or prompting him to do bad things.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693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C138B-880C-1C08-A3DF-B9463CFD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A4409-F873-FA20-FC3B-5FCA56E61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1769"/>
            <a:ext cx="10515600" cy="5862181"/>
          </a:xfrm>
        </p:spPr>
        <p:txBody>
          <a:bodyPr>
            <a:norm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Brief Psychotic Disorder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</a:rPr>
              <a:t>This is a short-term occurrence of schizophrenia, where there is a sudden onset of symptoms that only persist for less than one month.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ea typeface="Times New Roman" panose="02020603050405020304" pitchFamily="18" charset="0"/>
              </a:rPr>
              <a:t>This condition is characterized by one or more of the following as per the DSM-5.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</a:rPr>
              <a:t>hallucinations,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</a:rPr>
              <a:t>delusions, and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</a:rPr>
              <a:t>disorganized speech, and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</a:rPr>
              <a:t>may also include “grossly disorganized or catatonic behavior,”</a:t>
            </a:r>
            <a:endParaRPr lang="en-US" dirty="0"/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</a:rPr>
              <a:t>cognitive deficits,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88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6908F-BF3D-C064-6D3E-CE66A636B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3A42B-6700-3CDF-CE0F-84AA3A505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140"/>
            <a:ext cx="10515600" cy="5387823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ea typeface="Times New Roman" panose="02020603050405020304" pitchFamily="18" charset="0"/>
              </a:rPr>
              <a:t>The causes of brief psychoses include: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</a:rPr>
              <a:t>an obvious stressor (e.g., death of a loved one, trauma from natural disasters), </a:t>
            </a:r>
          </a:p>
          <a:p>
            <a:pPr>
              <a:buFontTx/>
              <a:buChar char="-"/>
            </a:pPr>
            <a:r>
              <a:rPr lang="en-US" dirty="0">
                <a:effectLst/>
                <a:ea typeface="Times New Roman" panose="02020603050405020304" pitchFamily="18" charset="0"/>
              </a:rPr>
              <a:t>no apparent stressor (i.e., the symptoms come on due to no obvious reaction to a disturbing event), and </a:t>
            </a:r>
          </a:p>
          <a:p>
            <a:pPr>
              <a:buFontTx/>
              <a:buChar char="-"/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Postpartum </a:t>
            </a:r>
            <a:r>
              <a:rPr lang="en-US" dirty="0">
                <a:effectLst/>
                <a:ea typeface="Times New Roman" panose="02020603050405020304" pitchFamily="18" charset="0"/>
              </a:rPr>
              <a:t>psychoses – occurring in women within 4 weeks of giving birth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53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915C-66CF-3652-8504-2BF6F78A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996"/>
            <a:ext cx="10515600" cy="17536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9B4FD-ADFA-78BE-978A-98D723444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9036"/>
            <a:ext cx="10515600" cy="5437927"/>
          </a:xfrm>
        </p:spPr>
        <p:txBody>
          <a:bodyPr>
            <a:normAutofit fontScale="32500" lnSpcReduction="20000"/>
          </a:bodyPr>
          <a:lstStyle/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96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Delusional Disorder </a:t>
            </a:r>
            <a:endParaRPr lang="en-US" sz="9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People experience at least one delusion for a month or more.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people with this disorder can function and behave more or less normally.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If mood disorders occur along with delusions, they are typically fleeting (brief). 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600" dirty="0">
                <a:effectLst/>
                <a:ea typeface="Times New Roman" panose="02020603050405020304" pitchFamily="18" charset="0"/>
              </a:rPr>
              <a:t>Most delusions involve someone trying to poison him or harm him. </a:t>
            </a:r>
            <a:endParaRPr lang="en-US" sz="9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152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BA35B-EECF-4050-4C9E-A1AD275B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790"/>
            <a:ext cx="10515600" cy="38024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B59EC-1713-B472-FADC-D340A4EA8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4558"/>
            <a:ext cx="10515600" cy="5378116"/>
          </a:xfrm>
        </p:spPr>
        <p:txBody>
          <a:bodyPr>
            <a:normAutofit fontScale="32500" lnSpcReduction="20000"/>
          </a:bodyPr>
          <a:lstStyle/>
          <a:p>
            <a:pPr lvl="1" algn="just">
              <a:lnSpc>
                <a:spcPct val="120000"/>
              </a:lnSpc>
            </a:pPr>
            <a:r>
              <a:rPr lang="en-US" sz="9600" dirty="0"/>
              <a:t>Similar to schizophrenia because they hold unusual bizarre beliefs and cannot be reasoned with regarding these beliefs.</a:t>
            </a:r>
          </a:p>
          <a:p>
            <a:pPr lvl="1" algn="just">
              <a:lnSpc>
                <a:spcPct val="120000"/>
              </a:lnSpc>
            </a:pPr>
            <a:r>
              <a:rPr lang="en-US" sz="9600" dirty="0">
                <a:solidFill>
                  <a:srgbClr val="FF0000"/>
                </a:solidFill>
              </a:rPr>
              <a:t>Unlike schizophrenic clients</a:t>
            </a:r>
            <a:r>
              <a:rPr lang="en-US" sz="9600" dirty="0"/>
              <a:t>, </a:t>
            </a:r>
            <a:r>
              <a:rPr lang="en-US" sz="9600" dirty="0">
                <a:solidFill>
                  <a:schemeClr val="hlink"/>
                </a:solidFill>
              </a:rPr>
              <a:t>delusional clients do not have persistent hallucinations</a:t>
            </a:r>
          </a:p>
          <a:p>
            <a:pPr lvl="2" algn="just">
              <a:lnSpc>
                <a:spcPct val="120000"/>
              </a:lnSpc>
            </a:pPr>
            <a:r>
              <a:rPr lang="en-US" sz="9600" dirty="0"/>
              <a:t>Delusions have a basis reality</a:t>
            </a:r>
          </a:p>
          <a:p>
            <a:pPr lvl="2" algn="just">
              <a:lnSpc>
                <a:spcPct val="120000"/>
              </a:lnSpc>
            </a:pPr>
            <a:r>
              <a:rPr lang="en-US" sz="9600" dirty="0"/>
              <a:t>Hallucinations are not a dominant feature</a:t>
            </a:r>
          </a:p>
          <a:p>
            <a:pPr lvl="2" algn="just">
              <a:lnSpc>
                <a:spcPct val="120000"/>
              </a:lnSpc>
            </a:pPr>
            <a:r>
              <a:rPr lang="en-US" sz="9600" dirty="0">
                <a:solidFill>
                  <a:schemeClr val="hlink"/>
                </a:solidFill>
              </a:rPr>
              <a:t>Behavior is within normal range except in relation to delusion</a:t>
            </a:r>
          </a:p>
          <a:p>
            <a:pPr lvl="2" algn="just">
              <a:lnSpc>
                <a:spcPct val="120000"/>
              </a:lnSpc>
            </a:pPr>
            <a:r>
              <a:rPr lang="en-US" sz="9600" dirty="0"/>
              <a:t>Behavior does not meet criteria for schizophrenia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375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30D0-CCD2-B0DE-ABD6-951344A8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BAD59-E368-4DD3-1939-1DD6C6FA7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1769"/>
            <a:ext cx="10515600" cy="5799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 Shared Psychotic Disorder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Also known as “folie a deux” (the folly of two), </a:t>
            </a: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This is a rare form of psychosis</a:t>
            </a: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healthy individual may begin to adopt the psychotic beliefs or delusions of someone suffering from schizophrenia. </a:t>
            </a: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 example, if one is suffering from schizophrenia, he may believe that monsters are after him and trying to abduct him</a:t>
            </a: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spouse (otherwise healthy) may also starts to believe that ,it is true. </a:t>
            </a: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 this  case the spouse would be considered to suffer from shared psychotic disorder. </a:t>
            </a: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If he  and his partner separate, the delusions resolve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77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904A-3CD8-923D-AB21-281F2E17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996"/>
            <a:ext cx="10515600" cy="17536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C59DC-2D56-D63B-E956-C7CCD2C8E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6510"/>
            <a:ext cx="10515600" cy="589349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200" b="1" dirty="0"/>
              <a:t>7. Schizotypal personality disorder</a:t>
            </a:r>
            <a:r>
              <a:rPr lang="en-US" sz="3200" dirty="0"/>
              <a:t> </a:t>
            </a:r>
          </a:p>
          <a:p>
            <a:r>
              <a:rPr lang="en-US" sz="3200" dirty="0"/>
              <a:t>Develops by early adulthood and is characterized by: </a:t>
            </a:r>
          </a:p>
          <a:p>
            <a:pPr>
              <a:buFontTx/>
              <a:buChar char="-"/>
            </a:pPr>
            <a:r>
              <a:rPr lang="en-US" sz="3200" dirty="0"/>
              <a:t>pervasive deficits in social and interpersonal  </a:t>
            </a:r>
          </a:p>
          <a:p>
            <a:pPr marL="0" indent="0">
              <a:buNone/>
            </a:pPr>
            <a:r>
              <a:rPr lang="en-US" sz="3200" dirty="0"/>
              <a:t>    skills, </a:t>
            </a:r>
          </a:p>
          <a:p>
            <a:pPr>
              <a:buFontTx/>
              <a:buChar char="-"/>
            </a:pPr>
            <a:r>
              <a:rPr lang="en-US" sz="3200" dirty="0"/>
              <a:t>Eccentric, odd or </a:t>
            </a:r>
            <a:r>
              <a:rPr lang="en-US" sz="3200" dirty="0" err="1"/>
              <a:t>bizzare</a:t>
            </a:r>
            <a:r>
              <a:rPr lang="en-US" sz="3200" dirty="0"/>
              <a:t> behavior, </a:t>
            </a:r>
          </a:p>
          <a:p>
            <a:pPr>
              <a:buFontTx/>
              <a:buChar char="-"/>
            </a:pPr>
            <a:r>
              <a:rPr lang="en-US" sz="3200" dirty="0"/>
              <a:t>discomfort forming close personal relationships, </a:t>
            </a:r>
          </a:p>
          <a:p>
            <a:pPr>
              <a:buFontTx/>
              <a:buChar char="-"/>
            </a:pPr>
            <a:r>
              <a:rPr lang="en-US" sz="3200" dirty="0"/>
              <a:t>cognitive distortions </a:t>
            </a:r>
          </a:p>
          <a:p>
            <a:pPr>
              <a:buFontTx/>
              <a:buChar char="-"/>
            </a:pPr>
            <a:r>
              <a:rPr lang="en-US" sz="3200" dirty="0"/>
              <a:t>perceptual distortions.</a:t>
            </a:r>
          </a:p>
        </p:txBody>
      </p:sp>
    </p:spTree>
    <p:extLst>
      <p:ext uri="{BB962C8B-B14F-4D97-AF65-F5344CB8AC3E}">
        <p14:creationId xmlns:p14="http://schemas.microsoft.com/office/powerpoint/2010/main" val="4090075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998F-AE64-9E64-1D8A-FCDDA79F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567D3-DB72-6944-C302-FA5B4A2BF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290"/>
            <a:ext cx="10515600" cy="5087199"/>
          </a:xfrm>
        </p:spPr>
        <p:txBody>
          <a:bodyPr/>
          <a:lstStyle/>
          <a:p>
            <a:r>
              <a:rPr lang="en-US" dirty="0"/>
              <a:t>He may believe that occurrences of reference are signs about his own future. </a:t>
            </a:r>
          </a:p>
          <a:p>
            <a:r>
              <a:rPr lang="en-US" dirty="0"/>
              <a:t>Magical thinking, superstitions, and bizarre fantasies are common in schizotypal personality disorder.</a:t>
            </a:r>
          </a:p>
          <a:p>
            <a:r>
              <a:rPr lang="en-US" dirty="0"/>
              <a:t>Similar to schizophrenia the patient may experience </a:t>
            </a:r>
          </a:p>
          <a:p>
            <a:pPr>
              <a:buFontTx/>
              <a:buChar char="-"/>
            </a:pPr>
            <a:r>
              <a:rPr lang="en-US" dirty="0"/>
              <a:t>paranoia, inappropriate affect, </a:t>
            </a:r>
          </a:p>
          <a:p>
            <a:pPr>
              <a:buFontTx/>
              <a:buChar char="-"/>
            </a:pPr>
            <a:r>
              <a:rPr lang="en-US" dirty="0"/>
              <a:t>social anxiety, unusual bodily sensations, or</a:t>
            </a:r>
          </a:p>
          <a:p>
            <a:pPr>
              <a:buFontTx/>
              <a:buChar char="-"/>
            </a:pPr>
            <a:r>
              <a:rPr lang="en-US" dirty="0"/>
              <a:t> odd speech (e.g. metaphorical, overly elaborate, vagueness).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945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2506-5AE3-B72A-54E9-37C98A9F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4326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>
                <a:latin typeface="+mn-lt"/>
              </a:rPr>
              <a:t>DSM IV: Schizophrenia Subtypes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47CA-61E4-54AC-1E36-01AF7E23A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812"/>
            <a:ext cx="10515600" cy="48241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Five (5) Schizophrenia Subtypes</a:t>
            </a:r>
            <a:endParaRPr lang="en-US" dirty="0"/>
          </a:p>
          <a:p>
            <a:r>
              <a:rPr lang="en-US" dirty="0"/>
              <a:t>Prior to the DSM-5, the DSM-IV had </a:t>
            </a:r>
            <a:r>
              <a:rPr lang="en-US" dirty="0">
                <a:hlinkClick r:id="rId2"/>
              </a:rPr>
              <a:t>five types (or subtypes) of schizophrenia</a:t>
            </a:r>
            <a:r>
              <a:rPr lang="en-US" dirty="0"/>
              <a:t> depending on the symptom i.e. </a:t>
            </a:r>
          </a:p>
          <a:p>
            <a:pPr marL="0" indent="0">
              <a:buNone/>
            </a:pPr>
            <a:r>
              <a:rPr lang="en-US" b="1" dirty="0"/>
              <a:t>        1. Paranoid schizophrenia</a:t>
            </a:r>
          </a:p>
          <a:p>
            <a:pPr marL="0" indent="0">
              <a:buNone/>
            </a:pPr>
            <a:r>
              <a:rPr lang="en-US" b="1" dirty="0"/>
              <a:t>        2. Disorganized schizophrenia</a:t>
            </a:r>
          </a:p>
          <a:p>
            <a:pPr marL="0" indent="0">
              <a:buNone/>
            </a:pPr>
            <a:r>
              <a:rPr lang="en-US" b="1" dirty="0"/>
              <a:t>        3. Catatonic schizophrenia, </a:t>
            </a:r>
          </a:p>
          <a:p>
            <a:pPr marL="0" indent="0">
              <a:buNone/>
            </a:pPr>
            <a:r>
              <a:rPr lang="en-US" b="1" dirty="0"/>
              <a:t>        4. Undifferentiated schizophrenia, </a:t>
            </a:r>
          </a:p>
          <a:p>
            <a:pPr marL="0" indent="0">
              <a:buNone/>
            </a:pPr>
            <a:r>
              <a:rPr lang="en-US" b="1" dirty="0"/>
              <a:t>        5. Residual schizophrenia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938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2967-8072-3408-D682-161C1E19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1158-0901-A8C3-4875-082661DE0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4504"/>
            <a:ext cx="10515600" cy="5199933"/>
          </a:xfrm>
        </p:spPr>
        <p:txBody>
          <a:bodyPr/>
          <a:lstStyle/>
          <a:p>
            <a:r>
              <a:rPr lang="en-US" dirty="0"/>
              <a:t>Schizophrenia is currently considered an illness that </a:t>
            </a:r>
            <a:r>
              <a:rPr lang="en-US" u="sng" dirty="0">
                <a:hlinkClick r:id="rId2"/>
              </a:rPr>
              <a:t>exists on a spectrum</a:t>
            </a:r>
            <a:r>
              <a:rPr lang="en-US" u="sng" dirty="0"/>
              <a:t>.</a:t>
            </a:r>
          </a:p>
          <a:p>
            <a:r>
              <a:rPr lang="en-US" dirty="0"/>
              <a:t>The five subtypes are not included in the DSM-5</a:t>
            </a:r>
          </a:p>
          <a:p>
            <a:r>
              <a:rPr lang="en-US" dirty="0"/>
              <a:t>Because the APA found that they were “not helpful to clinicians. </a:t>
            </a:r>
          </a:p>
          <a:p>
            <a:r>
              <a:rPr lang="en-US" dirty="0"/>
              <a:t>Because symptoms often changed from one subtype to another.</a:t>
            </a:r>
          </a:p>
          <a:p>
            <a:r>
              <a:rPr lang="en-US" dirty="0"/>
              <a:t>Then blurring  the distinctions among the five subtypes 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9520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4C5E-1183-0809-3AE2-65D8460D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4EFF-F00A-9290-5E9F-3402FAE7F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9452"/>
            <a:ext cx="10515600" cy="57995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1. </a:t>
            </a:r>
            <a:r>
              <a:rPr lang="en-US" b="1" u="sng" dirty="0">
                <a:hlinkClick r:id="rId2"/>
              </a:rPr>
              <a:t>Paranoid schizophrenia</a:t>
            </a:r>
            <a:r>
              <a:rPr lang="en-US" dirty="0"/>
              <a:t> is characterized by: </a:t>
            </a:r>
          </a:p>
          <a:p>
            <a:r>
              <a:rPr lang="en-US" dirty="0"/>
              <a:t>Unreasonable suspicion and positive symptoms. </a:t>
            </a:r>
          </a:p>
          <a:p>
            <a:r>
              <a:rPr lang="en-US" dirty="0"/>
              <a:t>The patient is preoccupied with at least one delusion (usually persecutory in nature). </a:t>
            </a:r>
          </a:p>
          <a:p>
            <a:r>
              <a:rPr lang="en-US" dirty="0"/>
              <a:t>The patient experiences frequent auditory hallucinations (usually persecutory in nature).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248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BD44-A1D4-67DE-1B73-B250428B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107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9EA8F-745B-B245-9F60-EC5F5E5D2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6718"/>
            <a:ext cx="10515600" cy="53502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u="sng" dirty="0">
                <a:hlinkClick r:id="rId2"/>
              </a:rPr>
              <a:t>Disorganized schizophrenia</a:t>
            </a:r>
            <a:r>
              <a:rPr lang="en-US" b="1" dirty="0"/>
              <a:t> (also known as  </a:t>
            </a:r>
          </a:p>
          <a:p>
            <a:pPr marL="0" indent="0">
              <a:buNone/>
            </a:pPr>
            <a:r>
              <a:rPr lang="en-US" b="1" dirty="0"/>
              <a:t>    hebephrenic schizophrenia).</a:t>
            </a:r>
          </a:p>
          <a:p>
            <a:r>
              <a:rPr lang="en-US" dirty="0"/>
              <a:t>Characterized by predominantly disorganized symptoms. </a:t>
            </a:r>
          </a:p>
          <a:p>
            <a:r>
              <a:rPr lang="en-US" dirty="0"/>
              <a:t>All of the following must be present to fit the criteria for this subtype:</a:t>
            </a:r>
          </a:p>
          <a:p>
            <a:pPr lvl="0">
              <a:buFontTx/>
              <a:buChar char="-"/>
            </a:pPr>
            <a:r>
              <a:rPr lang="en-US" dirty="0"/>
              <a:t>Disorganized speech (e.g., word salad,  </a:t>
            </a:r>
          </a:p>
          <a:p>
            <a:pPr marL="0" lvl="0" indent="0">
              <a:buNone/>
            </a:pPr>
            <a:r>
              <a:rPr lang="en-US" dirty="0"/>
              <a:t>    incoherence, perseverance)</a:t>
            </a:r>
          </a:p>
          <a:p>
            <a:pPr lvl="0">
              <a:buFontTx/>
              <a:buChar char="-"/>
            </a:pPr>
            <a:r>
              <a:rPr lang="en-US" dirty="0"/>
              <a:t>Disorganized behavior (e.g., difficulty starting or </a:t>
            </a:r>
          </a:p>
          <a:p>
            <a:pPr marL="0" lvl="0" indent="0">
              <a:buNone/>
            </a:pPr>
            <a:r>
              <a:rPr lang="en-US" dirty="0"/>
              <a:t>    finishing a task, difficulty acting appropriately in </a:t>
            </a:r>
          </a:p>
          <a:p>
            <a:pPr marL="0" lvl="0" indent="0">
              <a:buNone/>
            </a:pPr>
            <a:r>
              <a:rPr lang="en-US" dirty="0"/>
              <a:t>    social situations)</a:t>
            </a:r>
          </a:p>
          <a:p>
            <a:pPr lvl="0">
              <a:buFontTx/>
              <a:buChar char="-"/>
            </a:pPr>
            <a:r>
              <a:rPr lang="en-US" dirty="0"/>
              <a:t>Flat or inappropriate affect (e.g., poor eye </a:t>
            </a:r>
          </a:p>
          <a:p>
            <a:pPr marL="0" lvl="0" indent="0">
              <a:buNone/>
            </a:pPr>
            <a:r>
              <a:rPr lang="en-US" dirty="0"/>
              <a:t>    contact, lack of facial expressions)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260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24C7-C759-CEC7-A37F-C1F15174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5A816-4179-0548-20D8-CE7F40C46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030"/>
            <a:ext cx="10515600" cy="551584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u="sng" dirty="0">
                <a:hlinkClick r:id="rId2"/>
              </a:rPr>
              <a:t>Catatonic schizophrenia</a:t>
            </a:r>
            <a:r>
              <a:rPr lang="en-US" dirty="0"/>
              <a:t> </a:t>
            </a:r>
          </a:p>
          <a:p>
            <a:r>
              <a:rPr lang="en-US" dirty="0"/>
              <a:t>It is characterized by a considerable decrease or increase in movement, with at least two of the following symptoms present.</a:t>
            </a:r>
          </a:p>
          <a:p>
            <a:r>
              <a:rPr lang="en-US" dirty="0"/>
              <a:t>A person with catatonic schizophrenia may be:</a:t>
            </a:r>
          </a:p>
          <a:p>
            <a:pPr>
              <a:buFontTx/>
              <a:buChar char="-"/>
            </a:pPr>
            <a:r>
              <a:rPr lang="en-US" dirty="0"/>
              <a:t>largely immobile, </a:t>
            </a:r>
          </a:p>
          <a:p>
            <a:pPr>
              <a:buFontTx/>
              <a:buChar char="-"/>
            </a:pPr>
            <a:r>
              <a:rPr lang="en-US" dirty="0"/>
              <a:t>maintain a rigid posture, and </a:t>
            </a:r>
          </a:p>
          <a:p>
            <a:pPr>
              <a:buFontTx/>
              <a:buChar char="-"/>
            </a:pPr>
            <a:r>
              <a:rPr lang="en-US" dirty="0"/>
              <a:t>resist all attempts to be moved.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00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5E99-D91C-FB28-A121-5E47F247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D5889-51F2-A39A-6AFA-EFB53582B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140"/>
            <a:ext cx="10515600" cy="5703734"/>
          </a:xfrm>
        </p:spPr>
        <p:txBody>
          <a:bodyPr>
            <a:normAutofit/>
          </a:bodyPr>
          <a:lstStyle/>
          <a:p>
            <a:r>
              <a:rPr lang="en-US" dirty="0"/>
              <a:t>On the other hand, there may be excessive, seemingly purposeless movement. </a:t>
            </a:r>
          </a:p>
          <a:p>
            <a:r>
              <a:rPr lang="en-US" dirty="0"/>
              <a:t>This can include:</a:t>
            </a:r>
          </a:p>
          <a:p>
            <a:pPr>
              <a:buFontTx/>
              <a:buChar char="-"/>
            </a:pPr>
            <a:r>
              <a:rPr lang="en-US" dirty="0"/>
              <a:t>echolalia (repeating what other people say) </a:t>
            </a:r>
          </a:p>
          <a:p>
            <a:pPr>
              <a:buFontTx/>
              <a:buChar char="-"/>
            </a:pPr>
            <a:r>
              <a:rPr lang="en-US" dirty="0"/>
              <a:t>echopraxia (mimicking the movements of other people). </a:t>
            </a:r>
          </a:p>
          <a:p>
            <a:r>
              <a:rPr lang="en-US" dirty="0"/>
              <a:t>There may be peculiarities in voluntary movement such as:</a:t>
            </a:r>
          </a:p>
          <a:p>
            <a:pPr>
              <a:buFontTx/>
              <a:buChar char="-"/>
            </a:pPr>
            <a:r>
              <a:rPr lang="en-US" dirty="0"/>
              <a:t>bizarre posturing, </a:t>
            </a:r>
          </a:p>
          <a:p>
            <a:pPr>
              <a:buFontTx/>
              <a:buChar char="-"/>
            </a:pPr>
            <a:r>
              <a:rPr lang="en-US" dirty="0"/>
              <a:t>grimacing, or </a:t>
            </a:r>
          </a:p>
          <a:p>
            <a:pPr>
              <a:buFontTx/>
              <a:buChar char="-"/>
            </a:pPr>
            <a:r>
              <a:rPr lang="en-US" dirty="0"/>
              <a:t>stereotypic movements (e.g., rocking, hand waving, nail biting).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435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FC22-A977-D7B7-7D5D-6E46082F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F956B-22AF-6696-0665-93D7DEC43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822"/>
            <a:ext cx="10515600" cy="56160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 Undifferentiated schizophrenia</a:t>
            </a:r>
            <a:r>
              <a:rPr lang="en-US" dirty="0"/>
              <a:t> </a:t>
            </a:r>
          </a:p>
          <a:p>
            <a:r>
              <a:rPr lang="en-US" dirty="0"/>
              <a:t>It is a categorization for people who do not fit into the three previous categories. </a:t>
            </a:r>
          </a:p>
          <a:p>
            <a:r>
              <a:rPr lang="en-US" dirty="0"/>
              <a:t>The individuals may experience significant: </a:t>
            </a:r>
          </a:p>
          <a:p>
            <a:pPr>
              <a:buFontTx/>
              <a:buChar char="-"/>
            </a:pPr>
            <a:r>
              <a:rPr lang="en-US" dirty="0"/>
              <a:t>delusions, hallucinations, </a:t>
            </a:r>
          </a:p>
          <a:p>
            <a:pPr>
              <a:buFontTx/>
              <a:buChar char="-"/>
            </a:pPr>
            <a:r>
              <a:rPr lang="en-US" dirty="0"/>
              <a:t>disorganized speech, or </a:t>
            </a:r>
          </a:p>
          <a:p>
            <a:pPr>
              <a:buFontTx/>
              <a:buChar char="-"/>
            </a:pPr>
            <a:r>
              <a:rPr lang="en-US" dirty="0"/>
              <a:t>disorganized or catatonic behavior, </a:t>
            </a:r>
          </a:p>
          <a:p>
            <a:r>
              <a:rPr lang="en-US" dirty="0"/>
              <a:t>But their symptoms are mild, not predominantly positive, disorganized, or movement disordered.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709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A1A33-BB5B-3D8D-668D-DDFFB65E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009FA-978D-DBA2-694E-70EC32C84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822"/>
            <a:ext cx="10515600" cy="530014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Residual schizophrenia</a:t>
            </a:r>
            <a:r>
              <a:rPr lang="en-US" dirty="0"/>
              <a:t> </a:t>
            </a:r>
          </a:p>
          <a:p>
            <a:r>
              <a:rPr lang="en-US" dirty="0"/>
              <a:t>Its a term used to describe a patient who is not presently experiencing prominent:</a:t>
            </a:r>
          </a:p>
          <a:p>
            <a:pPr>
              <a:buFontTx/>
              <a:buChar char="-"/>
            </a:pPr>
            <a:r>
              <a:rPr lang="en-US" dirty="0"/>
              <a:t>delusions, hallucinations, </a:t>
            </a:r>
          </a:p>
          <a:p>
            <a:pPr>
              <a:buFontTx/>
              <a:buChar char="-"/>
            </a:pPr>
            <a:r>
              <a:rPr lang="en-US" dirty="0"/>
              <a:t>disorganized speech, or disorganized or catatonic behaviors. </a:t>
            </a:r>
          </a:p>
          <a:p>
            <a:r>
              <a:rPr lang="en-US" dirty="0"/>
              <a:t>However they are experiencing at least two of those symptoms to a lesser extent (e.g., thought distortions or odd beliefs)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136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BBC7-7AD9-56FD-F999-2D7E6DCC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148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BD713-E2A8-0639-EE21-095ED2A1D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7447"/>
            <a:ext cx="10515600" cy="4999516"/>
          </a:xfrm>
        </p:spPr>
        <p:txBody>
          <a:bodyPr/>
          <a:lstStyle/>
          <a:p>
            <a:r>
              <a:rPr lang="en-US" dirty="0"/>
              <a:t>They continue to experience the negative symptoms of schizophrenia e.g., </a:t>
            </a:r>
          </a:p>
          <a:p>
            <a:pPr>
              <a:buFontTx/>
              <a:buChar char="-"/>
            </a:pPr>
            <a:r>
              <a:rPr lang="en-US" dirty="0"/>
              <a:t>difficulty paying attention, </a:t>
            </a:r>
          </a:p>
          <a:p>
            <a:pPr>
              <a:buFontTx/>
              <a:buChar char="-"/>
            </a:pPr>
            <a:r>
              <a:rPr lang="en-US" dirty="0"/>
              <a:t>social withdrawal, </a:t>
            </a:r>
          </a:p>
          <a:p>
            <a:pPr>
              <a:buFontTx/>
              <a:buChar char="-"/>
            </a:pPr>
            <a:r>
              <a:rPr lang="en-US" dirty="0"/>
              <a:t>apathy, </a:t>
            </a:r>
          </a:p>
          <a:p>
            <a:pPr>
              <a:buFontTx/>
              <a:buChar char="-"/>
            </a:pPr>
            <a:r>
              <a:rPr lang="en-US" dirty="0"/>
              <a:t>reduction in speech.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041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4F70-D163-04AD-C091-8DAE7E6E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93BF7-AD55-B014-5B56-1BBFD6EE0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200" b="1" dirty="0">
                <a:latin typeface="+mn-lt"/>
              </a:rPr>
              <a:t>SCHIZOPHRENIA</a:t>
            </a:r>
            <a:endParaRPr lang="en-US" sz="7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311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A33B-7AD3-B6CE-65FA-C35E3D0E0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1075-F246-B4DB-434E-335C545D1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Define</a:t>
            </a:r>
            <a:r>
              <a:rPr lang="en-US" sz="2800" b="1" dirty="0"/>
              <a:t> </a:t>
            </a:r>
            <a:r>
              <a:rPr lang="en-US" dirty="0"/>
              <a:t>schizophrenia </a:t>
            </a:r>
          </a:p>
          <a:p>
            <a:pPr marL="514350" indent="-514350">
              <a:buAutoNum type="arabicPeriod"/>
            </a:pPr>
            <a:r>
              <a:rPr lang="en-US" dirty="0">
                <a:latin typeface="+mn-lt"/>
              </a:rPr>
              <a:t>State the Pathophysiology</a:t>
            </a:r>
            <a:r>
              <a:rPr lang="en-US" sz="2800" dirty="0">
                <a:latin typeface="+mn-lt"/>
              </a:rPr>
              <a:t> of Schizophrenia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Describe </a:t>
            </a:r>
            <a:r>
              <a:rPr lang="en-US" sz="2800" dirty="0">
                <a:latin typeface="+mn-lt"/>
              </a:rPr>
              <a:t>Theories of Causation of Schizophrenia</a:t>
            </a:r>
            <a:r>
              <a:rPr lang="en-US" dirty="0"/>
              <a:t>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Describe the </a:t>
            </a: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arly signs (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prodromal phase)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 schizophrenia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Describe </a:t>
            </a:r>
            <a:r>
              <a:rPr lang="en-US" sz="2800" b="1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The Symptoms (active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phase)</a:t>
            </a:r>
            <a:r>
              <a:rPr lang="en-US" sz="2800" b="1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of Schizophrenia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Describe </a:t>
            </a:r>
            <a:r>
              <a:rPr lang="en-US" b="1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Factors that predict the </a:t>
            </a:r>
            <a:r>
              <a:rPr lang="en-US" b="1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Prognosis of Schizophrenia 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Describe </a:t>
            </a:r>
            <a:r>
              <a:rPr lang="en-US" b="1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+mn-lt"/>
              </a:rPr>
              <a:t>Management of Schizophrenia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735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83A8-8E5F-154A-4F64-E53AE759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69"/>
            <a:ext cx="10515600" cy="551146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latin typeface="+mn-lt"/>
              </a:rPr>
            </a:br>
            <a:r>
              <a:rPr lang="en-US" sz="4400" b="1" dirty="0">
                <a:latin typeface="+mn-lt"/>
              </a:rPr>
              <a:t>SCHIZOPHRENIA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6223-3A18-C972-4469-8D9B311E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5"/>
            <a:ext cx="10515600" cy="4836678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Definition</a:t>
            </a:r>
            <a:r>
              <a:rPr lang="en-US" sz="2800" dirty="0"/>
              <a:t>: </a:t>
            </a:r>
          </a:p>
          <a:p>
            <a:pPr algn="just"/>
            <a:r>
              <a:rPr lang="en-US" sz="2800" dirty="0"/>
              <a:t>Most common psychotic disorder characterized by abnormalities in:</a:t>
            </a:r>
          </a:p>
          <a:p>
            <a:pPr algn="just">
              <a:buFontTx/>
              <a:buChar char="-"/>
            </a:pPr>
            <a:r>
              <a:rPr lang="en-US" sz="2800" dirty="0"/>
              <a:t>perception ,</a:t>
            </a:r>
          </a:p>
          <a:p>
            <a:pPr algn="just">
              <a:buFontTx/>
              <a:buChar char="-"/>
            </a:pPr>
            <a:r>
              <a:rPr lang="en-US" sz="2800" dirty="0"/>
              <a:t>beliefs and </a:t>
            </a:r>
          </a:p>
          <a:p>
            <a:pPr algn="just">
              <a:buFontTx/>
              <a:buChar char="-"/>
            </a:pPr>
            <a:r>
              <a:rPr lang="en-US" sz="2800" dirty="0"/>
              <a:t>thought processing </a:t>
            </a:r>
          </a:p>
          <a:p>
            <a:pPr algn="just">
              <a:buFontTx/>
              <a:buChar char="-"/>
            </a:pPr>
            <a:r>
              <a:rPr lang="en-US" sz="2800" dirty="0"/>
              <a:t>emotions, </a:t>
            </a:r>
          </a:p>
          <a:p>
            <a:pPr algn="just">
              <a:buFontTx/>
              <a:buChar char="-"/>
            </a:pPr>
            <a:r>
              <a:rPr lang="en-US" sz="2800" dirty="0"/>
              <a:t>movements and behavior</a:t>
            </a:r>
          </a:p>
          <a:p>
            <a:pPr marL="0" indent="0">
              <a:buNone/>
            </a:pP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716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006BB-40B9-E27F-AE3F-7BE99161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756"/>
            <a:ext cx="10515600" cy="20188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57239-8EE7-594E-8007-298F966C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8140"/>
            <a:ext cx="10515600" cy="6086104"/>
          </a:xfrm>
        </p:spPr>
        <p:txBody>
          <a:bodyPr/>
          <a:lstStyle/>
          <a:p>
            <a:pPr algn="just">
              <a:defRPr/>
            </a:pPr>
            <a:r>
              <a:rPr lang="en-US" sz="2800" dirty="0"/>
              <a:t>The term “schizophrenia” (</a:t>
            </a:r>
            <a:r>
              <a:rPr lang="en-US" sz="2800" dirty="0">
                <a:solidFill>
                  <a:srgbClr val="FF0000"/>
                </a:solidFill>
              </a:rPr>
              <a:t>split mind</a:t>
            </a:r>
            <a:r>
              <a:rPr lang="en-US" sz="2800" dirty="0"/>
              <a:t>) was coined by Bleuler to describe a </a:t>
            </a:r>
            <a:r>
              <a:rPr lang="en-US" sz="2800" dirty="0">
                <a:solidFill>
                  <a:schemeClr val="hlink"/>
                </a:solidFill>
              </a:rPr>
              <a:t>lack of integration of the patient’s functions</a:t>
            </a:r>
          </a:p>
          <a:p>
            <a:pPr algn="just">
              <a:defRPr/>
            </a:pPr>
            <a:r>
              <a:rPr lang="en-US" sz="2800" dirty="0"/>
              <a:t>There is disharmony between the patient’s </a:t>
            </a:r>
            <a:r>
              <a:rPr lang="en-US" sz="2800" dirty="0">
                <a:solidFill>
                  <a:srgbClr val="FF0000"/>
                </a:solidFill>
              </a:rPr>
              <a:t>thinking, feeling and acting.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b="1" dirty="0"/>
              <a:t>Epidemiology </a:t>
            </a:r>
          </a:p>
          <a:p>
            <a:pPr algn="just"/>
            <a:r>
              <a:rPr lang="en-US" dirty="0"/>
              <a:t>Life time prevalence is about 1% in the general population.</a:t>
            </a:r>
          </a:p>
          <a:p>
            <a:pPr algn="just"/>
            <a:r>
              <a:rPr lang="en-US" dirty="0"/>
              <a:t>First onset is typically between 15-45 years although men exhibit symptoms earlier than women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6762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ABC24-855F-E14E-C4F0-A9E60D422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942"/>
            <a:ext cx="10515600" cy="65135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Pathophysiology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BAC46-A4EF-87C3-BA93-8DF159D02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499"/>
            <a:ext cx="10515600" cy="4974464"/>
          </a:xfrm>
        </p:spPr>
        <p:txBody>
          <a:bodyPr/>
          <a:lstStyle/>
          <a:p>
            <a:pPr algn="just"/>
            <a:r>
              <a:rPr lang="en-US" dirty="0"/>
              <a:t>The main problem in schizophrenia is </a:t>
            </a:r>
            <a:r>
              <a:rPr lang="en-US" dirty="0">
                <a:solidFill>
                  <a:srgbClr val="FF0000"/>
                </a:solidFill>
              </a:rPr>
              <a:t>Altered Thought Process</a:t>
            </a:r>
          </a:p>
          <a:p>
            <a:pPr algn="just"/>
            <a:r>
              <a:rPr lang="en-US" dirty="0"/>
              <a:t>Schizophrenia is associated with </a:t>
            </a:r>
            <a:r>
              <a:rPr lang="en-US" dirty="0">
                <a:solidFill>
                  <a:srgbClr val="FF0000"/>
                </a:solidFill>
              </a:rPr>
              <a:t>increased dopamine</a:t>
            </a:r>
            <a:r>
              <a:rPr lang="en-US" dirty="0"/>
              <a:t> in mesolimbic cortex of the brain in basal ganglia.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8515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DB8B-7A1C-F751-D02B-A93C23289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80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Theories of Causation of Schizophrenia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E540-EC77-BE73-6309-BA04F797A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290"/>
            <a:ext cx="10515600" cy="5390585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Biologic Theories</a:t>
            </a:r>
          </a:p>
          <a:p>
            <a:pPr marL="457200" lvl="1" indent="0" algn="just">
              <a:buNone/>
            </a:pPr>
            <a:r>
              <a:rPr lang="en-US" sz="3200" dirty="0">
                <a:solidFill>
                  <a:schemeClr val="hlink"/>
                </a:solidFill>
              </a:rPr>
              <a:t>1. Genetic Theories</a:t>
            </a:r>
          </a:p>
          <a:p>
            <a:pPr lvl="2" algn="just"/>
            <a:r>
              <a:rPr lang="en-US" sz="3200" dirty="0"/>
              <a:t>Schizophrenics inherit a genetic vulnerability for the disease</a:t>
            </a:r>
          </a:p>
          <a:p>
            <a:pPr lvl="2" algn="just"/>
            <a:r>
              <a:rPr lang="en-US" sz="3200" dirty="0">
                <a:solidFill>
                  <a:schemeClr val="hlink"/>
                </a:solidFill>
              </a:rPr>
              <a:t>Relatives of schizophrenics have a greater chance of developing the disease</a:t>
            </a:r>
          </a:p>
          <a:p>
            <a:pPr lvl="2" algn="just"/>
            <a:r>
              <a:rPr lang="en-US" sz="3200" dirty="0"/>
              <a:t>Concordance rates for schizophrenia are consistently higher for monozygotic than for dizygotic twins</a:t>
            </a:r>
          </a:p>
          <a:p>
            <a:pPr marL="457200" lvl="1" indent="0" algn="just">
              <a:buNone/>
            </a:pPr>
            <a:r>
              <a:rPr lang="en-US" sz="3200" dirty="0">
                <a:solidFill>
                  <a:schemeClr val="hlink"/>
                </a:solidFill>
              </a:rPr>
              <a:t>2. Biological Theories</a:t>
            </a:r>
          </a:p>
          <a:p>
            <a:pPr lvl="2" algn="just"/>
            <a:r>
              <a:rPr lang="en-US" sz="3200" dirty="0"/>
              <a:t>The </a:t>
            </a:r>
            <a:r>
              <a:rPr lang="en-US" sz="3200" dirty="0">
                <a:solidFill>
                  <a:srgbClr val="FF0000"/>
                </a:solidFill>
              </a:rPr>
              <a:t>dopamine hypothesis</a:t>
            </a:r>
            <a:r>
              <a:rPr lang="en-US" sz="3200" dirty="0"/>
              <a:t> is the most widely held and extensively studied biochemical mechanism thought to underlie schizophrenia</a:t>
            </a:r>
          </a:p>
          <a:p>
            <a:pPr marL="457200" lvl="1" indent="0" algn="just">
              <a:buNone/>
            </a:pPr>
            <a:r>
              <a:rPr lang="en-US" sz="3200" dirty="0">
                <a:solidFill>
                  <a:schemeClr val="hlink"/>
                </a:solidFill>
              </a:rPr>
              <a:t>3. Brain Structure</a:t>
            </a:r>
          </a:p>
          <a:p>
            <a:pPr lvl="2" algn="just"/>
            <a:r>
              <a:rPr lang="en-US" sz="3200" dirty="0">
                <a:solidFill>
                  <a:srgbClr val="FF0000"/>
                </a:solidFill>
              </a:rPr>
              <a:t>Ventricular size</a:t>
            </a:r>
            <a:r>
              <a:rPr lang="en-US" sz="3200" dirty="0"/>
              <a:t> has been found to be significantly </a:t>
            </a:r>
            <a:r>
              <a:rPr lang="en-US" sz="3200" dirty="0">
                <a:solidFill>
                  <a:srgbClr val="FF0000"/>
                </a:solidFill>
              </a:rPr>
              <a:t>larger</a:t>
            </a:r>
            <a:r>
              <a:rPr lang="en-US" sz="3200" dirty="0"/>
              <a:t> in chronic schizophrenics</a:t>
            </a:r>
          </a:p>
          <a:p>
            <a:pPr lvl="2" algn="just"/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4107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FB2F-ACE8-667A-9421-279A3A35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100"/>
            <a:ext cx="10515600" cy="30062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FECD1-F123-A0EF-0284-E684FC552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4192"/>
            <a:ext cx="10515600" cy="5362771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Family Theories</a:t>
            </a:r>
          </a:p>
          <a:p>
            <a:pPr lvl="1" algn="just"/>
            <a:r>
              <a:rPr lang="en-US" dirty="0"/>
              <a:t>Defect in family interaction / disordered family communication</a:t>
            </a:r>
          </a:p>
          <a:p>
            <a:pPr lvl="1" algn="just"/>
            <a:r>
              <a:rPr lang="en-US" dirty="0"/>
              <a:t>Family’s Emotional Tone is highly critical, hostile or over involved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06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827A-789E-32B3-8C84-9688413E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DD047-9B2A-C0F2-40EC-205D7C31D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1666"/>
            <a:ext cx="10515600" cy="5586608"/>
          </a:xfrm>
        </p:spPr>
        <p:txBody>
          <a:bodyPr>
            <a:normAutofit/>
          </a:bodyPr>
          <a:lstStyle/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Early Warning Signs or early symptoms of schizophrenia </a:t>
            </a:r>
            <a:endParaRPr lang="en-US" sz="2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Also called the “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prodromal phase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arly symptoms of schizophrenia are those that</a:t>
            </a: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happen before a first episode of psychosis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sually occurs during teenage or young adult  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years. 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duration of the prodromal phase can vary; 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 some people may last over 2 years.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605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BC7F4-7F5F-EE78-84DE-420E75F0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047"/>
            <a:ext cx="10515600" cy="41799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8F842-3CF8-AF8D-29A0-1E864D728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6718"/>
            <a:ext cx="10515600" cy="5768235"/>
          </a:xfrm>
        </p:spPr>
        <p:txBody>
          <a:bodyPr>
            <a:normAutofit lnSpcReduction="10000"/>
          </a:bodyPr>
          <a:lstStyle/>
          <a:p>
            <a:pPr marL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Early symptoms can be difficult to detect</a:t>
            </a: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arly signs (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prodromal )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 schizophrenia include: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 A steep drop in grades or job performance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 Trouble thinking clearly or concentrating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 Suspiciousness or uneasiness with others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 A decline in self-care, like not showering for days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Spending more time alone than usual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 Strong, inappropriate emotions e.g. laughing when </a:t>
            </a:r>
          </a:p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someone dies or having no feelings at all.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20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FEE7-0485-071C-2C19-91781EAD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048"/>
            <a:ext cx="10515600" cy="27557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07BA-1D04-138E-A64D-B9E53CE0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When individuals first experience some of the  </a:t>
            </a:r>
          </a:p>
          <a:p>
            <a:pPr marL="0" marR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bizarreness behavior, they look depressed. </a:t>
            </a: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They become much more reclusive or </a:t>
            </a: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solated </a:t>
            </a: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They don't talk as much. </a:t>
            </a: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lot of times they are sleeping in their room. </a:t>
            </a: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They do not share their thoughts with people.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768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3B89-627D-2852-C439-B9B0CA17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432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</a:rPr>
              <a:t>Fundamental Signs and Symptoms of Schizophrenia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116C-D8A7-BEBA-2238-108A6C269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394"/>
            <a:ext cx="10515600" cy="5340479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70C0"/>
                </a:solidFill>
              </a:rPr>
              <a:t>Bleuler’s Four A’s of Schizophrenia</a:t>
            </a:r>
            <a:endParaRPr lang="en-US" dirty="0"/>
          </a:p>
          <a:p>
            <a:r>
              <a:rPr lang="en-US" dirty="0"/>
              <a:t>Eugene Bleuler cited four (4) diagnostic symptoms of </a:t>
            </a:r>
            <a:r>
              <a:rPr lang="en-US" sz="2800" dirty="0">
                <a:latin typeface="+mn-lt"/>
              </a:rPr>
              <a:t>Schizophrenia.</a:t>
            </a:r>
            <a:r>
              <a:rPr lang="en-US" sz="2800" b="1" dirty="0">
                <a:latin typeface="+mn-lt"/>
              </a:rPr>
              <a:t> </a:t>
            </a:r>
          </a:p>
          <a:p>
            <a:r>
              <a:rPr lang="en-US" sz="2800" dirty="0">
                <a:latin typeface="+mn-lt"/>
              </a:rPr>
              <a:t>Commonly known as </a:t>
            </a:r>
            <a:r>
              <a:rPr lang="en-US" dirty="0" err="1"/>
              <a:t>Bleulers</a:t>
            </a:r>
            <a:r>
              <a:rPr lang="en-US" dirty="0"/>
              <a:t> Four A’s symptoms which include: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utistic thinking: thought process in which individual is unable to relate with others or environment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mbivalence: contradictory or opposing emotions. Desires for same person but feels bad about him/her.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ssociative looseness: inability to think logically.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ffective disturbance ;inability to show appropriate emotional response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896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44E2-7F40-F3B6-379C-4E425B00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6541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0000FF"/>
                </a:solidFill>
                <a:latin typeface="+mn-lt"/>
              </a:rPr>
              <a:t>Schneider's first rank symptoms of schizophrenia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F902-6EB6-B73D-711D-2FFC838AB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551"/>
            <a:ext cx="10515600" cy="5265324"/>
          </a:xfrm>
        </p:spPr>
        <p:txBody>
          <a:bodyPr/>
          <a:lstStyle/>
          <a:p>
            <a:pPr marL="571500" indent="-571500" algn="just">
              <a:buAutoNum type="romanLcParenR"/>
            </a:pPr>
            <a:r>
              <a:rPr lang="en-US" dirty="0"/>
              <a:t>Auditory hallucinations</a:t>
            </a:r>
          </a:p>
          <a:p>
            <a:pPr marL="571500" indent="-571500" algn="just">
              <a:buAutoNum type="romanLcParenR"/>
            </a:pPr>
            <a:r>
              <a:rPr lang="en-US" dirty="0"/>
              <a:t>Delusions of control or influence</a:t>
            </a:r>
          </a:p>
          <a:p>
            <a:pPr marL="571500" indent="-571500" algn="just">
              <a:buAutoNum type="romanLcParenR"/>
            </a:pPr>
            <a:r>
              <a:rPr lang="en-US" dirty="0"/>
              <a:t>Thought broadcasting </a:t>
            </a:r>
          </a:p>
          <a:p>
            <a:pPr marL="571500" indent="-571500" algn="just">
              <a:buAutoNum type="romanLcParenR"/>
            </a:pPr>
            <a:r>
              <a:rPr lang="en-US" dirty="0"/>
              <a:t>Thought withdrawal</a:t>
            </a:r>
          </a:p>
          <a:p>
            <a:pPr marL="571500" indent="-571500" algn="just">
              <a:buAutoNum type="romanLcParenR"/>
            </a:pPr>
            <a:r>
              <a:rPr lang="en-US" dirty="0"/>
              <a:t>Thought insertion.</a:t>
            </a:r>
          </a:p>
          <a:p>
            <a:pPr marL="571500" indent="-571500" algn="just">
              <a:buAutoNum type="romanLcParenR"/>
            </a:pPr>
            <a:r>
              <a:rPr lang="en-US" dirty="0"/>
              <a:t>Somatic hallucinations</a:t>
            </a:r>
          </a:p>
          <a:p>
            <a:pPr marL="571500" indent="-571500" algn="just">
              <a:buAutoNum type="romanLcParenR"/>
            </a:pPr>
            <a:r>
              <a:rPr lang="en-US" dirty="0"/>
              <a:t>Somatic passivity: bodily sensations are experienced as imposed on the body by external force.</a:t>
            </a:r>
          </a:p>
          <a:p>
            <a:pPr marL="571500" indent="-571500" algn="just">
              <a:buAutoNum type="romanLcParenR"/>
            </a:pPr>
            <a:r>
              <a:rPr lang="en-US" dirty="0"/>
              <a:t>Made volition or acts: one own acts are experienced as being under control of external force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141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20AA0-852C-EBDB-5E58-5899454F7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2738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0000FF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The Symptoms of Schizophrenia</a:t>
            </a:r>
            <a:br>
              <a:rPr lang="en-US" sz="20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34B1-76E5-9196-AD58-26451EEC0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864"/>
            <a:ext cx="10515600" cy="5210825"/>
          </a:xfrm>
        </p:spPr>
        <p:txBody>
          <a:bodyPr/>
          <a:lstStyle/>
          <a:p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Symptoms of schizophrenia</a:t>
            </a:r>
            <a:r>
              <a:rPr lang="en-US" dirty="0">
                <a:effectLst/>
                <a:ea typeface="Times New Roman" panose="02020603050405020304" pitchFamily="18" charset="0"/>
              </a:rPr>
              <a:t> are divided into two categories: </a:t>
            </a:r>
          </a:p>
          <a:p>
            <a:pPr marL="514350" indent="-514350">
              <a:buAutoNum type="arabicPeriod"/>
            </a:pPr>
            <a:r>
              <a:rPr lang="en-US" sz="2800" b="1" dirty="0">
                <a:effectLst/>
                <a:ea typeface="Times New Roman" panose="02020603050405020304" pitchFamily="18" charset="0"/>
              </a:rPr>
              <a:t>Positive symptoms</a:t>
            </a:r>
            <a:r>
              <a:rPr lang="en-US" sz="2800" dirty="0">
                <a:effectLst/>
                <a:ea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800" dirty="0">
                <a:ea typeface="Times New Roman" panose="02020603050405020304" pitchFamily="18" charset="0"/>
              </a:rPr>
              <a:t>      </a:t>
            </a:r>
            <a:r>
              <a:rPr lang="en-US" sz="2800" dirty="0">
                <a:effectLst/>
                <a:ea typeface="Times New Roman" panose="02020603050405020304" pitchFamily="18" charset="0"/>
              </a:rPr>
              <a:t>Are created or added to a person’s life by the   </a:t>
            </a:r>
          </a:p>
          <a:p>
            <a:pPr marL="0" indent="0">
              <a:buNone/>
            </a:pPr>
            <a:r>
              <a:rPr lang="en-US" sz="2800" dirty="0">
                <a:ea typeface="Times New Roman" panose="02020603050405020304" pitchFamily="18" charset="0"/>
              </a:rPr>
              <a:t>      </a:t>
            </a:r>
            <a:r>
              <a:rPr lang="en-US" sz="2800" dirty="0">
                <a:effectLst/>
                <a:ea typeface="Times New Roman" panose="02020603050405020304" pitchFamily="18" charset="0"/>
              </a:rPr>
              <a:t>disease  e.g.  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hallucinations or delusion.</a:t>
            </a:r>
            <a:endParaRPr lang="en-US" sz="28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ea typeface="Times New Roman" panose="02020603050405020304" pitchFamily="18" charset="0"/>
              </a:rPr>
              <a:t>2.  N</a:t>
            </a:r>
            <a:r>
              <a:rPr lang="en-US" sz="2800" b="1" dirty="0">
                <a:effectLst/>
                <a:ea typeface="Times New Roman" panose="02020603050405020304" pitchFamily="18" charset="0"/>
              </a:rPr>
              <a:t>egative symptoms: </a:t>
            </a:r>
          </a:p>
          <a:p>
            <a:pPr marL="0" indent="0">
              <a:buNone/>
            </a:pPr>
            <a:r>
              <a:rPr lang="en-US" sz="2800" b="1" dirty="0">
                <a:ea typeface="Times New Roman" panose="02020603050405020304" pitchFamily="18" charset="0"/>
              </a:rPr>
              <a:t>      </a:t>
            </a:r>
            <a:r>
              <a:rPr lang="en-US" sz="2800" dirty="0">
                <a:effectLst/>
                <a:ea typeface="Times New Roman" panose="02020603050405020304" pitchFamily="18" charset="0"/>
              </a:rPr>
              <a:t>Are what the disease takes away from person’s life   </a:t>
            </a:r>
          </a:p>
          <a:p>
            <a:pPr marL="0" indent="0">
              <a:buNone/>
            </a:pPr>
            <a:r>
              <a:rPr lang="en-US" sz="2800" dirty="0">
                <a:ea typeface="Times New Roman" panose="02020603050405020304" pitchFamily="18" charset="0"/>
              </a:rPr>
              <a:t>      </a:t>
            </a:r>
            <a:r>
              <a:rPr lang="en-US" sz="2800" dirty="0">
                <a:effectLst/>
                <a:ea typeface="Times New Roman" panose="02020603050405020304" pitchFamily="18" charset="0"/>
              </a:rPr>
              <a:t>e.g. goals, interests, and initiative</a:t>
            </a:r>
            <a:endParaRPr lang="en-US" sz="2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8960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E1A3-9C31-C5FD-E071-E2D4D476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906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chemeClr val="hlink"/>
                </a:solidFill>
                <a:latin typeface="+mn-lt"/>
              </a:rPr>
            </a:br>
            <a:r>
              <a:rPr lang="en-US" sz="4400" b="1" dirty="0">
                <a:solidFill>
                  <a:srgbClr val="0000FF"/>
                </a:solidFill>
                <a:latin typeface="+mn-lt"/>
              </a:rPr>
              <a:t>1. Positive or hard symptoms </a:t>
            </a:r>
            <a:br>
              <a:rPr lang="en-US" sz="4400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54968-5688-7DF7-72A7-02C63DD2D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285"/>
            <a:ext cx="10515600" cy="515259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AutoNum type="arabicPeriod"/>
            </a:pPr>
            <a:r>
              <a:rPr lang="en-US" sz="4000" b="1" dirty="0"/>
              <a:t>Hallucinations, </a:t>
            </a:r>
          </a:p>
          <a:p>
            <a:pPr marL="514350" indent="-514350">
              <a:buAutoNum type="arabicPeriod"/>
            </a:pPr>
            <a:r>
              <a:rPr lang="en-US" sz="4000" b="1" dirty="0"/>
              <a:t>Delusions,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4000" b="1" dirty="0"/>
              <a:t>Disorganized thought and speech,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4000" b="1" dirty="0"/>
              <a:t>Disorganized or abnormal motor behavior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     </a:t>
            </a:r>
          </a:p>
          <a:p>
            <a:pPr marL="0" indent="0">
              <a:buNone/>
            </a:pPr>
            <a:r>
              <a:rPr lang="en-US" sz="4000" dirty="0"/>
              <a:t>     - Ambivalence</a:t>
            </a:r>
          </a:p>
          <a:p>
            <a:pPr marL="0" indent="0">
              <a:buNone/>
            </a:pPr>
            <a:r>
              <a:rPr lang="en-US" sz="4000" dirty="0"/>
              <a:t>     - Associative Looseness</a:t>
            </a:r>
          </a:p>
          <a:p>
            <a:pPr marL="0" indent="0">
              <a:buNone/>
            </a:pPr>
            <a:r>
              <a:rPr lang="en-US" sz="4000" dirty="0"/>
              <a:t>     - Delusions</a:t>
            </a:r>
          </a:p>
          <a:p>
            <a:pPr marL="0" indent="0">
              <a:buNone/>
            </a:pPr>
            <a:r>
              <a:rPr lang="en-US" sz="4000" dirty="0"/>
              <a:t>     - Echopraxia</a:t>
            </a:r>
          </a:p>
          <a:p>
            <a:pPr marL="0" indent="0">
              <a:buNone/>
            </a:pPr>
            <a:r>
              <a:rPr lang="en-US" sz="4000" dirty="0"/>
              <a:t>     - Flight of ideas</a:t>
            </a:r>
          </a:p>
          <a:p>
            <a:pPr marL="0" indent="0">
              <a:buNone/>
            </a:pPr>
            <a:r>
              <a:rPr lang="en-US" sz="4000" dirty="0"/>
              <a:t>     - Hallucinations</a:t>
            </a:r>
          </a:p>
          <a:p>
            <a:pPr marL="0" indent="0">
              <a:buNone/>
            </a:pPr>
            <a:r>
              <a:rPr lang="en-US" sz="4000" dirty="0"/>
              <a:t>     - Ideas of Reference</a:t>
            </a:r>
          </a:p>
          <a:p>
            <a:pPr marL="0" indent="0">
              <a:buNone/>
            </a:pPr>
            <a:r>
              <a:rPr lang="en-US" sz="4000" dirty="0"/>
              <a:t>     - Perseveration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915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2A56-213F-56EA-A481-BCC0485DF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522"/>
            <a:ext cx="10515600" cy="21294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D601A-A99C-9980-A3AB-841AD9883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3878"/>
            <a:ext cx="10515600" cy="5837129"/>
          </a:xfrm>
        </p:spPr>
        <p:txBody>
          <a:bodyPr>
            <a:normAutofit fontScale="92500" lnSpcReduction="20000"/>
          </a:bodyPr>
          <a:lstStyle/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Hallucinations: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These are sensory experiences that are not comprehensible to others but feel perfectly real and vivid to the person experiencing them. </a:t>
            </a:r>
          </a:p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  Auditory hallucinations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:. Are the most common.</a:t>
            </a:r>
          </a:p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-hearing voices or sounds</a:t>
            </a:r>
          </a:p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i) Visual hallucinations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:-seeing unidentifiable images. </a:t>
            </a:r>
          </a:p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iii) Tactile hallucinations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:-sense-of-touch ones. Feeling of bugs </a:t>
            </a:r>
          </a:p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or insects crawling on the skin;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iv) Olfactory hallucination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or scent-related hallucinations. sense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of smell.  </a:t>
            </a:r>
          </a:p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v) G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ustatory hallucinations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:- sense of taste.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6460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2DBE-A314-B1C2-F965-B05FACA5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574"/>
            <a:ext cx="10515600" cy="23799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BE954-0D5B-D266-3392-D6E4FA32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140"/>
            <a:ext cx="10515600" cy="5793286"/>
          </a:xfrm>
        </p:spPr>
        <p:txBody>
          <a:bodyPr>
            <a:normAutofit fontScale="25000" lnSpcReduction="20000"/>
          </a:bodyPr>
          <a:lstStyle/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1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Delusions:</a:t>
            </a:r>
            <a:r>
              <a:rPr lang="en-US" sz="1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Defined as false beliefs or beliefs that conflict with reality, </a:t>
            </a:r>
          </a:p>
          <a:p>
            <a:pPr marL="0" marR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1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Some of the more common Delusions include:</a:t>
            </a:r>
            <a:endParaRPr lang="en-US" sz="1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Delusions of persecution:</a:t>
            </a:r>
            <a:r>
              <a:rPr lang="en-US" sz="1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The belief that someone or something is meant to do physical or emotional harm, e.g.  believing that someone is planning to poison food or to spy on them.</a:t>
            </a:r>
            <a:endParaRPr lang="en-US" sz="1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12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Delusions of grandeur:</a:t>
            </a:r>
            <a:r>
              <a:rPr lang="en-US" sz="112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The belief that one is an important, powerful, or a famous person with special powers.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2322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73B9-EDAC-D973-0643-B582F831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943"/>
            <a:ext cx="10515600" cy="2505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88B9-7E31-E52B-DFB1-5A986A258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614"/>
            <a:ext cx="10515600" cy="5400349"/>
          </a:xfrm>
        </p:spPr>
        <p:txBody>
          <a:bodyPr>
            <a:normAutofit/>
          </a:bodyPr>
          <a:lstStyle/>
          <a:p>
            <a:pPr marL="457200" marR="0" lvl="1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914400" algn="l"/>
              </a:tabLs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Delusions of reference: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914400" algn="l"/>
              </a:tabLst>
            </a:pPr>
            <a:r>
              <a:rPr lang="en-US" sz="2800" dirty="0"/>
              <a:t>Involve the client’s belief that </a:t>
            </a:r>
            <a:r>
              <a:rPr lang="en-US" sz="2800" dirty="0">
                <a:solidFill>
                  <a:schemeClr val="hlink"/>
                </a:solidFill>
              </a:rPr>
              <a:t>television broadcasts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dirty="0">
                <a:solidFill>
                  <a:schemeClr val="hlink"/>
                </a:solidFill>
              </a:rPr>
              <a:t>music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dirty="0"/>
              <a:t>or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chemeClr val="hlink"/>
                </a:solidFill>
              </a:rPr>
              <a:t>newspaper articles</a:t>
            </a:r>
            <a:r>
              <a:rPr lang="en-US" sz="2800" dirty="0">
                <a:solidFill>
                  <a:srgbClr val="FF0000"/>
                </a:solidFill>
              </a:rPr>
              <a:t> have special meaning for him or her</a:t>
            </a:r>
            <a:endParaRPr lang="en-US" sz="2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They belief that something or someone is referring to them. </a:t>
            </a:r>
          </a:p>
          <a:p>
            <a:pPr marR="0" lvl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 instance, one may believe something he read in the newspaper refers to him or his thoughts, </a:t>
            </a:r>
          </a:p>
          <a:p>
            <a:pPr marR="0" lvl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 actor talking in a movie is sending him a personal message through the screen.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9788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C223-421F-6D0A-5B60-3D8127C4F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995"/>
            <a:ext cx="10515600" cy="35072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1DE2-F6A6-160D-CA83-3336AC31F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6510"/>
            <a:ext cx="10515600" cy="5761972"/>
          </a:xfrm>
        </p:spPr>
        <p:txBody>
          <a:bodyPr>
            <a:normAutofit/>
          </a:bodyPr>
          <a:lstStyle/>
          <a:p>
            <a:pPr marL="0" marR="0" lvl="0" indent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Thought insertion: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belief that your thoughts are not your own, rather they were placed there by an outside source.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Thought broadcasting: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belief that your thoughts are being broadcasted.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someone or something can observe or collect your thoughts 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people around you can read your mind.</a:t>
            </a:r>
            <a:endParaRPr lang="en-US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2214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0A92-C891-21A4-2878-5CA9595EC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364"/>
            <a:ext cx="10515600" cy="25052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506B1-6DCD-4982-C963-8A785DCB9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1352"/>
            <a:ext cx="10515600" cy="58621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Thought Disorder:</a:t>
            </a:r>
            <a:endParaRPr lang="en-US" sz="2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Words and phrases are misused, underused, or overused,</a:t>
            </a:r>
          </a:p>
          <a:p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It’s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difficult for another person to understand.</a:t>
            </a: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For example, a person with thought disorder might respond to a question in different ways </a:t>
            </a:r>
          </a:p>
          <a:p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e.g. “</a:t>
            </a: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Where are you from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?” </a:t>
            </a:r>
          </a:p>
          <a:p>
            <a:pPr>
              <a:buFontTx/>
              <a:buChar char="-"/>
            </a:pPr>
            <a:endParaRPr lang="en-US" sz="28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Circumstantiality-gives irrelevant information,    </a:t>
            </a:r>
          </a:p>
          <a:p>
            <a:pPr marL="0" indent="0">
              <a:buNone/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then gives </a:t>
            </a: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he correct response</a:t>
            </a:r>
          </a:p>
          <a:p>
            <a:pPr>
              <a:buFontTx/>
              <a:buChar char="-"/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Tangentiality, irrelevant way by explaining they don’t know their ancestral history. </a:t>
            </a:r>
          </a:p>
          <a:p>
            <a:pPr>
              <a:buFontTx/>
              <a:buChar char="-"/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Derailment : goes out of the topic </a:t>
            </a:r>
          </a:p>
          <a:p>
            <a:pPr>
              <a:buFontTx/>
              <a:buChar char="-"/>
            </a:pPr>
            <a:r>
              <a:rPr lang="en-US" dirty="0">
                <a:ea typeface="Times New Roman" panose="02020603050405020304" pitchFamily="18" charset="0"/>
                <a:cs typeface="Times New Roman" panose="02020603050405020304" pitchFamily="18" charset="0"/>
              </a:rPr>
              <a:t>Fli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ght of ideas: many ideas are presented at the same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1790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B102-9FD7-4EBA-62BF-8081BAE4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69"/>
            <a:ext cx="10515600" cy="27557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04C03-0EF5-97BA-5163-933CDE483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6510"/>
            <a:ext cx="10515600" cy="5774498"/>
          </a:xfrm>
        </p:spPr>
        <p:txBody>
          <a:bodyPr>
            <a:normAutofit fontScale="92500" lnSpcReduction="20000"/>
          </a:bodyPr>
          <a:lstStyle/>
          <a:p>
            <a:pPr marL="0" marR="0" lv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 Disorganized Behavior and Speech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Disorganization can manifest: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 decline in overall daily functioning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Unpredictable or inappropriate emotional responses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Lack of impulse control</a:t>
            </a:r>
            <a:endParaRPr lang="en-US" sz="2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Bizarre behaviors that lack purpose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Routine behaviors such as bathing, dressing, or brushing teeth can be severely impaired or lost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nability to work or interact with others.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Speech can also be affected: Words may becomes mixed-up and confused (“word salad.”)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993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3013-037D-F061-3BD4-5CE68415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DB03-C014-D130-FEA9-4F34A14C9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2736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hlink"/>
                </a:solidFill>
              </a:rPr>
              <a:t>Ambivalence</a:t>
            </a:r>
          </a:p>
          <a:p>
            <a:r>
              <a:rPr lang="en-US" sz="2800" dirty="0"/>
              <a:t>Holding seemingly </a:t>
            </a:r>
            <a:r>
              <a:rPr lang="en-US" sz="2800" dirty="0">
                <a:solidFill>
                  <a:srgbClr val="FF0000"/>
                </a:solidFill>
              </a:rPr>
              <a:t>contradictory beliefs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FF0000"/>
                </a:solidFill>
              </a:rPr>
              <a:t>feelings</a:t>
            </a:r>
            <a:r>
              <a:rPr lang="en-US" sz="2800" dirty="0"/>
              <a:t> about the same person, event or situation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hlink"/>
                </a:solidFill>
              </a:rPr>
              <a:t>Associative looseness</a:t>
            </a:r>
          </a:p>
          <a:p>
            <a:r>
              <a:rPr lang="en-US" sz="2800" dirty="0">
                <a:solidFill>
                  <a:srgbClr val="FF0000"/>
                </a:solidFill>
              </a:rPr>
              <a:t>Fragmented</a:t>
            </a:r>
            <a:r>
              <a:rPr lang="en-US" sz="2800" dirty="0"/>
              <a:t> or </a:t>
            </a:r>
            <a:r>
              <a:rPr lang="en-US" sz="2800" dirty="0">
                <a:solidFill>
                  <a:srgbClr val="FF0000"/>
                </a:solidFill>
              </a:rPr>
              <a:t>poorly related</a:t>
            </a:r>
            <a:r>
              <a:rPr lang="en-US" sz="2800" dirty="0"/>
              <a:t> thoughts and ideas</a:t>
            </a:r>
          </a:p>
          <a:p>
            <a:pPr marL="0" indent="0">
              <a:buNone/>
            </a:pPr>
            <a:endParaRPr lang="en-US" sz="2800" dirty="0">
              <a:solidFill>
                <a:schemeClr val="hlink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hlink"/>
                </a:solidFill>
              </a:rPr>
              <a:t>Echopraxia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</a:rPr>
              <a:t>Imitation</a:t>
            </a:r>
            <a:r>
              <a:rPr lang="en-US" sz="2800" dirty="0"/>
              <a:t> of the </a:t>
            </a:r>
            <a:r>
              <a:rPr lang="en-US" sz="2800" dirty="0">
                <a:solidFill>
                  <a:srgbClr val="FF0000"/>
                </a:solidFill>
              </a:rPr>
              <a:t>movements and gestures</a:t>
            </a:r>
            <a:r>
              <a:rPr lang="en-US" sz="2800" dirty="0"/>
              <a:t> of another person whom the client is observing.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hlink"/>
                </a:solidFill>
              </a:rPr>
              <a:t>Flight of ideas</a:t>
            </a:r>
          </a:p>
          <a:p>
            <a:pPr algn="just"/>
            <a:r>
              <a:rPr lang="en-US" sz="2800" dirty="0"/>
              <a:t>Continuous flow of verbalization in which the person </a:t>
            </a:r>
            <a:r>
              <a:rPr lang="en-US" sz="2800" dirty="0">
                <a:solidFill>
                  <a:srgbClr val="FF0000"/>
                </a:solidFill>
              </a:rPr>
              <a:t>jumps rapidly from one topic to another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5479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75E6-CED5-D550-B71D-8515FFBA6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80229-50FE-48A8-A571-3048409B5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564"/>
            <a:ext cx="10515600" cy="53733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Perseveration</a:t>
            </a:r>
          </a:p>
          <a:p>
            <a:pPr algn="just"/>
            <a:r>
              <a:rPr lang="en-US" dirty="0"/>
              <a:t>Persistent adherence to a single idea or topic; verbal repetition of a sentence, word, or phrase; resisting attempts to change the topic</a:t>
            </a:r>
          </a:p>
          <a:p>
            <a:pPr algn="just"/>
            <a:r>
              <a:rPr lang="en-US" dirty="0"/>
              <a:t>Example:</a:t>
            </a:r>
          </a:p>
          <a:p>
            <a:pPr lvl="1" algn="just"/>
            <a:r>
              <a:rPr lang="en-US" dirty="0"/>
              <a:t>Nurse: “How have you been sleeping lately?”</a:t>
            </a:r>
          </a:p>
          <a:p>
            <a:pPr lvl="1" algn="just"/>
            <a:r>
              <a:rPr lang="en-US" dirty="0"/>
              <a:t>Client: “I think people have been following me.”</a:t>
            </a:r>
          </a:p>
          <a:p>
            <a:pPr lvl="1" algn="just"/>
            <a:r>
              <a:rPr lang="en-US" dirty="0"/>
              <a:t>Nurse: “Where do you live?”</a:t>
            </a:r>
          </a:p>
          <a:p>
            <a:pPr lvl="1" algn="just"/>
            <a:r>
              <a:rPr lang="en-US" dirty="0"/>
              <a:t>Client: “At my place people have been following me.”</a:t>
            </a:r>
          </a:p>
          <a:p>
            <a:pPr lvl="1" algn="just"/>
            <a:r>
              <a:rPr lang="en-US" dirty="0"/>
              <a:t>Nurse: “What do you like to do in your free time?”</a:t>
            </a:r>
          </a:p>
          <a:p>
            <a:pPr lvl="1" algn="just"/>
            <a:r>
              <a:rPr lang="en-US" dirty="0"/>
              <a:t>Client: “Nothing because people are following me.”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4516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070E1-FACE-6277-207C-59D58FC8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673"/>
            <a:ext cx="10515600" cy="19396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2729F-252C-0EC9-CDAD-69C8EE80A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5745"/>
            <a:ext cx="10515600" cy="558121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6. Formal thought disorder</a:t>
            </a:r>
            <a:r>
              <a:rPr lang="en-US" dirty="0"/>
              <a:t>: </a:t>
            </a:r>
          </a:p>
          <a:p>
            <a:pPr algn="just"/>
            <a:r>
              <a:rPr lang="en-US" dirty="0"/>
              <a:t>Individuals have difficulty in expressing their thoughts. </a:t>
            </a:r>
          </a:p>
          <a:p>
            <a:pPr algn="just"/>
            <a:r>
              <a:rPr lang="en-US" dirty="0"/>
              <a:t>Have loosening of associations, word salad or neologism.</a:t>
            </a:r>
          </a:p>
          <a:p>
            <a:pPr marL="0" indent="0" algn="just">
              <a:buNone/>
            </a:pPr>
            <a:r>
              <a:rPr lang="en-US" b="1" dirty="0"/>
              <a:t>7. Excitement or agitation</a:t>
            </a:r>
          </a:p>
          <a:p>
            <a:pPr marL="0" indent="0" algn="just">
              <a:buNone/>
            </a:pPr>
            <a:r>
              <a:rPr lang="en-US" b="1" dirty="0"/>
              <a:t>8. Hostility or aggressive </a:t>
            </a:r>
            <a:r>
              <a:rPr lang="en-US" b="1" dirty="0" err="1"/>
              <a:t>behaviour</a:t>
            </a: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9. Suicidal tendencies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b="1" dirty="0"/>
              <a:t>10. Suspiciousness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8757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1677-91E7-D58B-8C93-2B1FFFB1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8"/>
            <a:ext cx="10515600" cy="445510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  <a:latin typeface="+mn-lt"/>
              </a:rPr>
              <a:t>2. Negative or soft symptoms </a:t>
            </a:r>
            <a:br>
              <a:rPr lang="en-US" sz="4400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F95D-194F-4047-566B-D9CD65C2B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674"/>
            <a:ext cx="10515600" cy="552796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Alogia</a:t>
            </a:r>
          </a:p>
          <a:p>
            <a:pPr algn="just"/>
            <a:r>
              <a:rPr lang="en-US" dirty="0"/>
              <a:t>Anhedonia</a:t>
            </a:r>
          </a:p>
          <a:p>
            <a:pPr algn="just"/>
            <a:r>
              <a:rPr lang="en-US" sz="2800" dirty="0"/>
              <a:t>Associability- social withdrawal or discomfort</a:t>
            </a:r>
          </a:p>
          <a:p>
            <a:pPr algn="just"/>
            <a:r>
              <a:rPr lang="en-US" dirty="0"/>
              <a:t>Apathy</a:t>
            </a:r>
          </a:p>
          <a:p>
            <a:pPr algn="just"/>
            <a:r>
              <a:rPr lang="en-US" dirty="0"/>
              <a:t>Blunted Affect</a:t>
            </a:r>
          </a:p>
          <a:p>
            <a:pPr algn="just"/>
            <a:r>
              <a:rPr lang="en-US" dirty="0"/>
              <a:t>Catatonia</a:t>
            </a:r>
          </a:p>
          <a:p>
            <a:pPr algn="just"/>
            <a:r>
              <a:rPr lang="en-US" dirty="0"/>
              <a:t>Flat Affect</a:t>
            </a:r>
          </a:p>
          <a:p>
            <a:pPr algn="just"/>
            <a:r>
              <a:rPr lang="en-US" dirty="0"/>
              <a:t>Lack of Volition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1197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DF2F-2B06-4942-BF5E-3203667D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676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9F68-B69E-3C6A-51AA-D0024F18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8982"/>
            <a:ext cx="10515600" cy="5633892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Alogia</a:t>
            </a:r>
          </a:p>
          <a:p>
            <a:pPr algn="just"/>
            <a:r>
              <a:rPr lang="en-US" sz="3200" dirty="0"/>
              <a:t>Tendency to </a:t>
            </a:r>
            <a:r>
              <a:rPr lang="en-US" sz="3200" dirty="0">
                <a:solidFill>
                  <a:schemeClr val="hlink"/>
                </a:solidFill>
              </a:rPr>
              <a:t>speak very little</a:t>
            </a:r>
            <a:r>
              <a:rPr lang="en-US" sz="3200" dirty="0"/>
              <a:t> or to </a:t>
            </a:r>
            <a:r>
              <a:rPr lang="en-US" sz="3200" dirty="0">
                <a:solidFill>
                  <a:schemeClr val="hlink"/>
                </a:solidFill>
              </a:rPr>
              <a:t>convey little substance of meaning</a:t>
            </a:r>
            <a:r>
              <a:rPr lang="en-US" sz="3200" dirty="0"/>
              <a:t> (poverty of content)</a:t>
            </a:r>
          </a:p>
          <a:p>
            <a:r>
              <a:rPr lang="en-US" sz="3200" dirty="0">
                <a:solidFill>
                  <a:srgbClr val="FF0000"/>
                </a:solidFill>
              </a:rPr>
              <a:t>Anhedonia</a:t>
            </a:r>
          </a:p>
          <a:p>
            <a:pPr algn="just"/>
            <a:r>
              <a:rPr lang="en-US" sz="3200" dirty="0"/>
              <a:t>Feeling no joy or pleasure from life or any activities or relationships</a:t>
            </a:r>
          </a:p>
          <a:p>
            <a:pPr algn="just"/>
            <a:r>
              <a:rPr lang="en-US" sz="3200" dirty="0">
                <a:solidFill>
                  <a:srgbClr val="FF0000"/>
                </a:solidFill>
              </a:rPr>
              <a:t>Associability</a:t>
            </a:r>
            <a:r>
              <a:rPr lang="en-US" sz="3200" dirty="0"/>
              <a:t> :impairment in social relationships which include little interest in being with other people , poor social skills and few friends</a:t>
            </a:r>
          </a:p>
          <a:p>
            <a:r>
              <a:rPr lang="en-US" sz="3200" dirty="0">
                <a:solidFill>
                  <a:srgbClr val="FF0000"/>
                </a:solidFill>
              </a:rPr>
              <a:t>Apathy</a:t>
            </a:r>
          </a:p>
          <a:p>
            <a:pPr algn="just"/>
            <a:r>
              <a:rPr lang="en-US" sz="3200" dirty="0"/>
              <a:t>Feelings of </a:t>
            </a:r>
            <a:r>
              <a:rPr lang="en-US" sz="3200" dirty="0">
                <a:solidFill>
                  <a:schemeClr val="hlink"/>
                </a:solidFill>
              </a:rPr>
              <a:t>indifference</a:t>
            </a:r>
            <a:r>
              <a:rPr lang="en-US" sz="3200" dirty="0"/>
              <a:t> toward </a:t>
            </a:r>
            <a:r>
              <a:rPr lang="en-US" sz="3200" dirty="0">
                <a:solidFill>
                  <a:schemeClr val="hlink"/>
                </a:solidFill>
              </a:rPr>
              <a:t>people, activities, and events</a:t>
            </a:r>
          </a:p>
          <a:p>
            <a:r>
              <a:rPr lang="en-US" sz="3200" dirty="0">
                <a:solidFill>
                  <a:srgbClr val="FF0000"/>
                </a:solidFill>
              </a:rPr>
              <a:t>Blunted Affect</a:t>
            </a:r>
          </a:p>
          <a:p>
            <a:pPr algn="just"/>
            <a:r>
              <a:rPr lang="en-US" sz="3200" dirty="0"/>
              <a:t>Restricted range of emotional feeling, tone, or mood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0538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CAFA-E690-04A3-1EB0-FEE3B5F4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24938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31B1A-CA87-1C0C-D593-D380A2BA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777345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</a:rPr>
              <a:t>Catatonia</a:t>
            </a:r>
          </a:p>
          <a:p>
            <a:pPr algn="just"/>
            <a:r>
              <a:rPr lang="en-US" sz="3200" dirty="0"/>
              <a:t>Psychologically induced </a:t>
            </a:r>
            <a:r>
              <a:rPr lang="en-US" sz="3200" dirty="0">
                <a:solidFill>
                  <a:schemeClr val="hlink"/>
                </a:solidFill>
              </a:rPr>
              <a:t>immobility </a:t>
            </a:r>
            <a:r>
              <a:rPr lang="en-US" sz="3200" dirty="0"/>
              <a:t>occasionally marked by </a:t>
            </a:r>
            <a:r>
              <a:rPr lang="en-US" sz="3200" dirty="0">
                <a:solidFill>
                  <a:schemeClr val="hlink"/>
                </a:solidFill>
              </a:rPr>
              <a:t>periods of agitation</a:t>
            </a:r>
            <a:r>
              <a:rPr lang="en-US" sz="3200" dirty="0"/>
              <a:t> or </a:t>
            </a:r>
            <a:r>
              <a:rPr lang="en-US" sz="3200" dirty="0">
                <a:solidFill>
                  <a:schemeClr val="hlink"/>
                </a:solidFill>
              </a:rPr>
              <a:t>excitement</a:t>
            </a:r>
            <a:r>
              <a:rPr lang="en-US" sz="3200" dirty="0"/>
              <a:t>; the client </a:t>
            </a:r>
            <a:r>
              <a:rPr lang="en-US" sz="3200" dirty="0">
                <a:solidFill>
                  <a:schemeClr val="hlink"/>
                </a:solidFill>
              </a:rPr>
              <a:t>seems motionless</a:t>
            </a:r>
            <a:r>
              <a:rPr lang="en-US" sz="3200" dirty="0"/>
              <a:t>, as if in a </a:t>
            </a:r>
            <a:r>
              <a:rPr lang="en-US" sz="3200" dirty="0">
                <a:solidFill>
                  <a:srgbClr val="FF0000"/>
                </a:solidFill>
              </a:rPr>
              <a:t>trance</a:t>
            </a:r>
          </a:p>
          <a:p>
            <a:r>
              <a:rPr lang="en-US" sz="3200" dirty="0">
                <a:solidFill>
                  <a:srgbClr val="FF0000"/>
                </a:solidFill>
              </a:rPr>
              <a:t>Flat Affect</a:t>
            </a:r>
          </a:p>
          <a:p>
            <a:r>
              <a:rPr lang="en-US" sz="3200" dirty="0"/>
              <a:t>Absence of any facial expression that would indicate emotions or mood</a:t>
            </a:r>
          </a:p>
          <a:p>
            <a:r>
              <a:rPr lang="en-US" sz="3200" dirty="0">
                <a:solidFill>
                  <a:srgbClr val="FF0000"/>
                </a:solidFill>
              </a:rPr>
              <a:t>Lack of Volition</a:t>
            </a:r>
          </a:p>
          <a:p>
            <a:pPr algn="just"/>
            <a:r>
              <a:rPr lang="en-US" sz="3200" dirty="0"/>
              <a:t>Absence of will, ambition, or drive to take action or accomplish tasks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534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EE3B-37DB-4EAE-5E3E-3A62A147D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1182-9CED-071F-F7FC-53F58772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710"/>
            <a:ext cx="10515600" cy="5703164"/>
          </a:xfrm>
        </p:spPr>
        <p:txBody>
          <a:bodyPr>
            <a:normAutofit fontScale="92500" lnSpcReduction="10000"/>
          </a:bodyPr>
          <a:lstStyle/>
          <a:p>
            <a:pPr algn="just"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Disruptions in emotional responses</a:t>
            </a:r>
          </a:p>
          <a:p>
            <a:pPr lvl="1" algn="just"/>
            <a:r>
              <a:rPr lang="en-US" sz="2800" dirty="0"/>
              <a:t>Restricted or inappropriate expression or emotion</a:t>
            </a:r>
          </a:p>
          <a:p>
            <a:pPr algn="just"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Motor Behavior Changes</a:t>
            </a:r>
          </a:p>
          <a:p>
            <a:pPr lvl="1" algn="just"/>
            <a:r>
              <a:rPr lang="en-US" sz="2800" dirty="0"/>
              <a:t>Disorganized behavior and catatonia (manifested by </a:t>
            </a:r>
            <a:r>
              <a:rPr lang="en-US" sz="2800" dirty="0">
                <a:solidFill>
                  <a:schemeClr val="hlink"/>
                </a:solidFill>
              </a:rPr>
              <a:t>unusual body movement</a:t>
            </a:r>
            <a:r>
              <a:rPr lang="en-US" sz="2800" dirty="0"/>
              <a:t> or </a:t>
            </a:r>
            <a:r>
              <a:rPr lang="en-US" sz="2800" dirty="0">
                <a:solidFill>
                  <a:schemeClr val="hlink"/>
                </a:solidFill>
              </a:rPr>
              <a:t>lack of movement</a:t>
            </a:r>
            <a:r>
              <a:rPr lang="en-US" sz="2800" dirty="0"/>
              <a:t>)</a:t>
            </a:r>
          </a:p>
          <a:p>
            <a:pPr lvl="1" algn="just"/>
            <a:r>
              <a:rPr lang="en-US" sz="2800" dirty="0"/>
              <a:t>Examples:</a:t>
            </a:r>
          </a:p>
          <a:p>
            <a:pPr lvl="2" algn="just">
              <a:buFontTx/>
              <a:buNone/>
            </a:pPr>
            <a:r>
              <a:rPr lang="en-US" sz="2800" dirty="0">
                <a:solidFill>
                  <a:srgbClr val="FF0000"/>
                </a:solidFill>
              </a:rPr>
              <a:t>a) Catatonic Excitement</a:t>
            </a:r>
          </a:p>
          <a:p>
            <a:pPr lvl="3" algn="just"/>
            <a:r>
              <a:rPr lang="en-US" sz="2800" dirty="0"/>
              <a:t>The client moves excitedly but not in response to environmental influences</a:t>
            </a:r>
          </a:p>
          <a:p>
            <a:pPr lvl="2" algn="just">
              <a:buFontTx/>
              <a:buNone/>
            </a:pPr>
            <a:r>
              <a:rPr lang="en-US" sz="2800" dirty="0">
                <a:solidFill>
                  <a:srgbClr val="FF0000"/>
                </a:solidFill>
              </a:rPr>
              <a:t>b) Catatonic Posturing</a:t>
            </a:r>
          </a:p>
          <a:p>
            <a:pPr lvl="3" algn="just"/>
            <a:r>
              <a:rPr lang="en-US" sz="2800" dirty="0"/>
              <a:t>Clients hold bizarre postures for a period of time</a:t>
            </a:r>
          </a:p>
          <a:p>
            <a:pPr lvl="2" algn="just">
              <a:buFontTx/>
              <a:buNone/>
            </a:pPr>
            <a:r>
              <a:rPr lang="en-US" sz="2800" dirty="0">
                <a:solidFill>
                  <a:srgbClr val="FF0000"/>
                </a:solidFill>
              </a:rPr>
              <a:t>c) Stupor</a:t>
            </a:r>
          </a:p>
          <a:p>
            <a:pPr lvl="3" algn="just"/>
            <a:r>
              <a:rPr lang="en-US" sz="2800" dirty="0"/>
              <a:t>Client holds the body still and is unresponsive to the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5742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8F31-65D0-022F-257A-E6A5FED18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818"/>
            <a:ext cx="10515600" cy="22167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87DC-CFE9-CA50-ECB9-BC8D69F7A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709"/>
            <a:ext cx="10515600" cy="5387254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6) Self care deficits</a:t>
            </a:r>
          </a:p>
          <a:p>
            <a:pPr lvl="1" algn="just"/>
            <a:r>
              <a:rPr lang="en-US" dirty="0"/>
              <a:t>They </a:t>
            </a:r>
            <a:r>
              <a:rPr lang="en-US" dirty="0">
                <a:solidFill>
                  <a:schemeClr val="hlink"/>
                </a:solidFill>
              </a:rPr>
              <a:t>neglect to bathe, change clothes or attend to minor grooming tasks</a:t>
            </a:r>
          </a:p>
          <a:p>
            <a:pPr lvl="1" algn="just"/>
            <a:r>
              <a:rPr lang="en-US" dirty="0"/>
              <a:t>Wearing </a:t>
            </a:r>
            <a:r>
              <a:rPr lang="en-US" dirty="0">
                <a:solidFill>
                  <a:schemeClr val="hlink"/>
                </a:solidFill>
              </a:rPr>
              <a:t>clothing </a:t>
            </a:r>
            <a:r>
              <a:rPr lang="en-US" dirty="0"/>
              <a:t>that </a:t>
            </a:r>
            <a:r>
              <a:rPr lang="en-US" dirty="0">
                <a:solidFill>
                  <a:schemeClr val="hlink"/>
                </a:solidFill>
              </a:rPr>
              <a:t>makes them look out of place is also seen</a:t>
            </a:r>
          </a:p>
          <a:p>
            <a:endParaRPr lang="en-US" sz="2800" b="1" dirty="0"/>
          </a:p>
          <a:p>
            <a:pPr marL="0" indent="0">
              <a:buNone/>
            </a:pPr>
            <a:r>
              <a:rPr lang="en-US" b="1"/>
              <a:t>xxxxxxxxxxxxxxxxxxxxxxxxxxxxxxxxxxxxxxxxxxxxxxxxxxxxxxxxxxxxxxxxxxxxxxxxxxxxxxxxxxxxxxxxxxxxxxxxxxxxxxxxxxxxxxxxxxxxxxxxxxxxxx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866955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FB25-B553-A057-F6DE-3ECA6B1A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130"/>
            <a:ext cx="10515600" cy="20188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064AC-3B3D-B703-DC57-5A94DC3BF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766"/>
            <a:ext cx="10515600" cy="5854535"/>
          </a:xfrm>
        </p:spPr>
        <p:txBody>
          <a:bodyPr>
            <a:normAutofit fontScale="77500" lnSpcReduction="20000"/>
          </a:bodyPr>
          <a:lstStyle/>
          <a:p>
            <a:pPr marL="0" marR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100" b="1" kern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Schizophrenia Prognosis</a:t>
            </a:r>
            <a:endParaRPr lang="en-US" sz="4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Factors for poor prognosis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Early-onset of illness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Male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Strong negative symptoms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Family history of schizophrenia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Structural brain abnormalities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Prominent cognitive symptoms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Cigarette smoking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Poor nutrition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Sedentary lifestyle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Inadequate medical care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Poor support system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History of substance abuse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991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798E-B7E7-3B33-21FA-2581E654C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507"/>
            <a:ext cx="10515600" cy="21375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C130-0A51-EC01-B700-4601140D7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5511945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Factors for good prognosis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 family history of schizophrenia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Stable personality and relationships prior to diagnosis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Acute onset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Older age at onset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Prompt treatment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Motivation and initiative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Female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Fewer negative symptoms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Good support system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0489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5125-4C1C-5CA8-4726-3149FB363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006"/>
            <a:ext cx="10515600" cy="9500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 descr="Factors affecting prognosis of schizophrenia">
            <a:extLst>
              <a:ext uri="{FF2B5EF4-FFF2-40B4-BE49-F238E27FC236}">
                <a16:creationId xmlns:a16="http://schemas.microsoft.com/office/drawing/2014/main" id="{DF12C260-DC19-471C-42C1-41C0B9BAD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177" y="403762"/>
            <a:ext cx="7101444" cy="61692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52111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E822-ACEB-69BB-BCE8-8D8C50521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Management of Schizophrenia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3B77-6118-29D9-A2D7-9D0A12CB6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8468"/>
            <a:ext cx="10515600" cy="54441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0000"/>
                </a:solidFill>
              </a:rPr>
              <a:t>Assessment</a:t>
            </a:r>
          </a:p>
          <a:p>
            <a:r>
              <a:rPr lang="en-US" sz="3200" dirty="0"/>
              <a:t>The diagnosis of schizophrenia is clinical, made exclusively after obtaining a full psychiatric history and performing Mental Status Examination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Understand the cardinal clinical features of Schizophrenia</a:t>
            </a:r>
          </a:p>
          <a:p>
            <a:r>
              <a:rPr lang="en-US" sz="3200" dirty="0"/>
              <a:t>They include:</a:t>
            </a:r>
          </a:p>
          <a:p>
            <a:pPr>
              <a:buFontTx/>
              <a:buChar char="-"/>
            </a:pPr>
            <a:r>
              <a:rPr lang="en-US" sz="3200" dirty="0"/>
              <a:t>withdrawal from reality, </a:t>
            </a:r>
          </a:p>
          <a:p>
            <a:pPr>
              <a:buFontTx/>
              <a:buChar char="-"/>
            </a:pPr>
            <a:r>
              <a:rPr lang="en-US" sz="3200" dirty="0"/>
              <a:t>illogical thinking, </a:t>
            </a:r>
          </a:p>
          <a:p>
            <a:pPr>
              <a:buFontTx/>
              <a:buChar char="-"/>
            </a:pPr>
            <a:r>
              <a:rPr lang="en-US" sz="3200" dirty="0"/>
              <a:t>delusions and hallucinations, </a:t>
            </a:r>
          </a:p>
          <a:p>
            <a:pPr>
              <a:buFontTx/>
              <a:buChar char="-"/>
            </a:pPr>
            <a:r>
              <a:rPr lang="en-US" sz="3200" dirty="0"/>
              <a:t>emotional, behavioral disturbances </a:t>
            </a:r>
          </a:p>
          <a:p>
            <a:pPr>
              <a:buFontTx/>
              <a:buChar char="-"/>
            </a:pPr>
            <a:r>
              <a:rPr lang="en-US" sz="3200" dirty="0"/>
              <a:t>intellectual disturbance. 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584944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0A41-CF51-F675-FB41-FF445DE2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286"/>
            <a:ext cx="10515600" cy="23915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05604-825F-EB68-7A01-CAC574147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1858"/>
            <a:ext cx="10515600" cy="5556739"/>
          </a:xfrm>
        </p:spPr>
        <p:txBody>
          <a:bodyPr>
            <a:normAutofit/>
          </a:bodyPr>
          <a:lstStyle/>
          <a:p>
            <a:r>
              <a:rPr lang="en-US" sz="2800" dirty="0"/>
              <a:t>Elicit the main symptoms of Schizophrenia which are  divided into two main categories: </a:t>
            </a:r>
          </a:p>
          <a:p>
            <a:pPr>
              <a:buFontTx/>
              <a:buChar char="-"/>
            </a:pPr>
            <a:r>
              <a:rPr lang="en-US" sz="2800" dirty="0"/>
              <a:t>positive symptoms: </a:t>
            </a:r>
            <a:r>
              <a:rPr lang="en-US" sz="2800" dirty="0">
                <a:solidFill>
                  <a:srgbClr val="FF0000"/>
                </a:solidFill>
              </a:rPr>
              <a:t>hallucinations, delusions, and formal thought disorders</a:t>
            </a:r>
            <a:r>
              <a:rPr lang="en-US" sz="2800" dirty="0"/>
              <a:t>, </a:t>
            </a:r>
          </a:p>
          <a:p>
            <a:pPr>
              <a:buFontTx/>
              <a:buChar char="-"/>
            </a:pPr>
            <a:r>
              <a:rPr lang="en-US" sz="2800" dirty="0"/>
              <a:t>negative symptoms:  </a:t>
            </a:r>
            <a:r>
              <a:rPr lang="en-US" sz="2800" dirty="0">
                <a:solidFill>
                  <a:srgbClr val="FF0000"/>
                </a:solidFill>
              </a:rPr>
              <a:t>anhedonia, poverty of speech, and lack of motivation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943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C59B-AE7B-CEA6-79BA-54B286EC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26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2241-5EE4-AB2F-6FD7-CD7F20201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009"/>
            <a:ext cx="10515600" cy="5135954"/>
          </a:xfrm>
        </p:spPr>
        <p:txBody>
          <a:bodyPr/>
          <a:lstStyle/>
          <a:p>
            <a:r>
              <a:rPr lang="en-US" sz="2800" dirty="0"/>
              <a:t>Elicit the common early warning signs of schizophrenia </a:t>
            </a:r>
          </a:p>
          <a:p>
            <a:r>
              <a:rPr lang="en-US" sz="2800" dirty="0"/>
              <a:t>Understand that  the most common early warning signs of schizophrenia are usually not  detected until adolescence. </a:t>
            </a:r>
          </a:p>
          <a:p>
            <a:r>
              <a:rPr lang="en-US" sz="2800" dirty="0"/>
              <a:t>These signs include: </a:t>
            </a:r>
          </a:p>
          <a:p>
            <a:pPr>
              <a:buFontTx/>
              <a:buChar char="-"/>
            </a:pPr>
            <a:r>
              <a:rPr lang="en-US" dirty="0"/>
              <a:t>depression</a:t>
            </a:r>
            <a:r>
              <a:rPr lang="en-US" sz="2800" dirty="0"/>
              <a:t>, social withdrawal, unable to concentrate,</a:t>
            </a:r>
          </a:p>
          <a:p>
            <a:pPr>
              <a:buFontTx/>
              <a:buChar char="-"/>
            </a:pPr>
            <a:r>
              <a:rPr lang="en-US" sz="2800" dirty="0"/>
              <a:t> hostility or suspiciousness, poor expressions of emotions,</a:t>
            </a:r>
          </a:p>
          <a:p>
            <a:pPr>
              <a:buFontTx/>
              <a:buChar char="-"/>
            </a:pPr>
            <a:r>
              <a:rPr lang="en-US" sz="2800" dirty="0"/>
              <a:t> </a:t>
            </a:r>
            <a:r>
              <a:rPr lang="en-US" dirty="0"/>
              <a:t>insomnia</a:t>
            </a:r>
            <a:r>
              <a:rPr lang="en-US" sz="2800" dirty="0"/>
              <a:t>, lack of personal hygiene, or odd beliefs.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691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CD8E-BE7F-DBF9-3C8A-703BAF60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44E9B-BF5E-68ED-5331-82EFB167E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DSM-5 TR criteria for diagnostic of schizophrenia</a:t>
            </a:r>
          </a:p>
          <a:p>
            <a:r>
              <a:rPr lang="en-US" dirty="0"/>
              <a:t>According to the DSM-5, </a:t>
            </a:r>
            <a:r>
              <a:rPr lang="en-US" dirty="0">
                <a:solidFill>
                  <a:srgbClr val="FF0000"/>
                </a:solidFill>
              </a:rPr>
              <a:t>two or more </a:t>
            </a:r>
            <a:r>
              <a:rPr lang="en-US" dirty="0"/>
              <a:t>of the following symptoms must be present for a significant portion of time during a </a:t>
            </a:r>
            <a:r>
              <a:rPr lang="en-US" dirty="0">
                <a:solidFill>
                  <a:srgbClr val="FF0000"/>
                </a:solidFill>
              </a:rPr>
              <a:t>one-month period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/>
              <a:t>Delusions</a:t>
            </a:r>
          </a:p>
          <a:p>
            <a:pPr marL="514350" indent="-514350">
              <a:buAutoNum type="arabicPeriod"/>
            </a:pPr>
            <a:r>
              <a:rPr lang="en-US" dirty="0"/>
              <a:t>Hallucinations</a:t>
            </a:r>
          </a:p>
          <a:p>
            <a:pPr marL="514350" indent="-514350">
              <a:buAutoNum type="arabicPeriod"/>
            </a:pPr>
            <a:r>
              <a:rPr lang="en-US" dirty="0"/>
              <a:t>Disorganized speech</a:t>
            </a:r>
          </a:p>
          <a:p>
            <a:pPr marL="514350" indent="-514350">
              <a:buAutoNum type="arabicPeriod"/>
            </a:pPr>
            <a:r>
              <a:rPr lang="en-US" dirty="0"/>
              <a:t>Grossly disorganized or catatonic behavior</a:t>
            </a:r>
          </a:p>
          <a:p>
            <a:pPr marL="514350" indent="-514350">
              <a:buAutoNum type="arabicPeriod"/>
            </a:pPr>
            <a:r>
              <a:rPr lang="en-US" dirty="0"/>
              <a:t>Negative symptoms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196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4E56-8454-54B5-C9CB-9FE3E6651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42"/>
            <a:ext cx="10515600" cy="51259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+mn-lt"/>
              </a:rPr>
              <a:t>Management of Schizophrenia</a:t>
            </a:r>
            <a:endParaRPr lang="en-US" sz="3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28A6-5559-3CAD-7931-C4B4F002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806"/>
            <a:ext cx="10515600" cy="5178157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Medical</a:t>
            </a:r>
          </a:p>
          <a:p>
            <a:pPr marL="0" indent="0" algn="just">
              <a:buNone/>
            </a:pPr>
            <a:r>
              <a:rPr lang="en-US" sz="2800" b="1" dirty="0"/>
              <a:t>Acute phase</a:t>
            </a:r>
            <a:r>
              <a:rPr lang="en-US" sz="2800" dirty="0"/>
              <a:t>: </a:t>
            </a:r>
          </a:p>
          <a:p>
            <a:pPr algn="just"/>
            <a:r>
              <a:rPr lang="en-US" sz="2800" dirty="0"/>
              <a:t>Typical antipsychotics e.g. Chlorpromazine (</a:t>
            </a:r>
            <a:r>
              <a:rPr lang="en-US" sz="2800" dirty="0" err="1"/>
              <a:t>largactil</a:t>
            </a:r>
            <a:r>
              <a:rPr lang="en-US" sz="2800" dirty="0"/>
              <a:t>) or haloperidol have most effect on positive symptoms of schizophrenia. </a:t>
            </a:r>
          </a:p>
          <a:p>
            <a:pPr algn="just"/>
            <a:r>
              <a:rPr lang="en-US" sz="2800" dirty="0"/>
              <a:t>Chlorpromazine is more sedating</a:t>
            </a:r>
          </a:p>
          <a:p>
            <a:pPr algn="just"/>
            <a:r>
              <a:rPr lang="en-US" sz="2800" dirty="0"/>
              <a:t>Patients may benefit from augmentation of antipsychotics with benzodiazepines e.g. diazepam and lorazepam.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483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728C-A65A-0637-3A12-5E52BA75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480DB-EBFD-EDE0-AE32-F1EFDBE4D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127"/>
            <a:ext cx="10515600" cy="5331836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Commonly used Convectional antipsychotics drugs are:</a:t>
            </a:r>
          </a:p>
          <a:p>
            <a:pPr algn="just"/>
            <a:r>
              <a:rPr lang="en-US" sz="2800" dirty="0"/>
              <a:t>Chlorpromazine: Oral -300-1500mg/day in divided doses</a:t>
            </a:r>
          </a:p>
          <a:p>
            <a:pPr marL="0" indent="0" algn="just">
              <a:buNone/>
            </a:pPr>
            <a:r>
              <a:rPr lang="en-US" sz="2800" dirty="0"/>
              <a:t>                                  IM -  50-100mg.</a:t>
            </a:r>
          </a:p>
          <a:p>
            <a:pPr algn="just"/>
            <a:r>
              <a:rPr lang="en-US" sz="2800" dirty="0"/>
              <a:t>Fluphenazine decanoate 25-50mg every month.</a:t>
            </a:r>
          </a:p>
          <a:p>
            <a:endParaRPr lang="en-US" sz="2800" dirty="0"/>
          </a:p>
          <a:p>
            <a:r>
              <a:rPr lang="en-US" sz="2800" dirty="0"/>
              <a:t>Haloperidol:        Oral - 5-20mg/ day in divided doses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</a:t>
            </a:r>
            <a:r>
              <a:rPr lang="en-US" sz="2800" dirty="0"/>
              <a:t>IM 50-100mg every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4535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A543-A562-2323-C6BF-9FFA812F3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092"/>
            <a:ext cx="10515600" cy="26323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B1609-5E2E-B596-05A0-20A67484F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9709"/>
            <a:ext cx="10515600" cy="538725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Commonly used atypical antipsychotics are</a:t>
            </a:r>
            <a:r>
              <a:rPr lang="en-US" dirty="0"/>
              <a:t>:</a:t>
            </a:r>
          </a:p>
          <a:p>
            <a:r>
              <a:rPr lang="en-US" dirty="0"/>
              <a:t>Clozapine 25-450mg/day PO</a:t>
            </a:r>
          </a:p>
          <a:p>
            <a:r>
              <a:rPr lang="en-US" dirty="0"/>
              <a:t>Risperidone 2-10mg/day PO</a:t>
            </a:r>
          </a:p>
          <a:p>
            <a:r>
              <a:rPr lang="en-US" dirty="0"/>
              <a:t>Olanzapine 10-20mg/day PO</a:t>
            </a:r>
          </a:p>
          <a:p>
            <a:r>
              <a:rPr lang="en-US" dirty="0"/>
              <a:t>Quetiapine 150-750 mg/day PO</a:t>
            </a:r>
          </a:p>
          <a:p>
            <a:r>
              <a:rPr lang="en-US" dirty="0"/>
              <a:t>Ziprasidone 20-80mg/day PO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NB</a:t>
            </a:r>
          </a:p>
          <a:p>
            <a:r>
              <a:rPr lang="en-US" dirty="0"/>
              <a:t>Clozapine may cause agranulocytosis-potentially fatal blood disorder marked by low white blood cell count and neutrophil depletion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3295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24F1-E6EB-C6F5-9FF3-86FD0350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236"/>
            <a:ext cx="10515600" cy="23552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B733D-1DD7-AA74-F885-8E7E1CA6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2836"/>
            <a:ext cx="10515600" cy="530412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Chronic phase</a:t>
            </a:r>
            <a:r>
              <a:rPr lang="en-US" sz="2800" dirty="0"/>
              <a:t>: </a:t>
            </a:r>
          </a:p>
          <a:p>
            <a:pPr algn="just"/>
            <a:r>
              <a:rPr lang="en-US" sz="2800" dirty="0"/>
              <a:t>Depot antipsychotic injections e.g. </a:t>
            </a:r>
            <a:r>
              <a:rPr lang="en-US" sz="2800" dirty="0" err="1"/>
              <a:t>modecate</a:t>
            </a:r>
            <a:r>
              <a:rPr lang="en-US" sz="2800" dirty="0"/>
              <a:t> (fluphenazine)  may be used in patients with poor compliance</a:t>
            </a:r>
          </a:p>
          <a:p>
            <a:pPr algn="just"/>
            <a:r>
              <a:rPr lang="en-US" sz="2800" dirty="0"/>
              <a:t>Use of newer antipsychotics e.g. Clozapine, Olanzapine ,Risperidone.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Electro convulsive Therapy (ECT) </a:t>
            </a:r>
            <a:r>
              <a:rPr lang="en-US" sz="2800" dirty="0"/>
              <a:t>: </a:t>
            </a:r>
          </a:p>
          <a:p>
            <a:r>
              <a:rPr lang="en-US" sz="2800" dirty="0"/>
              <a:t>Indicated for catatonic schizophrenia and severe depressive symptoms accompanying schizophrenia.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1835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5434-8EB2-16A2-5672-5E6D6AE42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7"/>
            <a:ext cx="10515600" cy="34636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7D6F-6AA6-4655-551B-95C9D9A52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8255"/>
            <a:ext cx="10515600" cy="5248708"/>
          </a:xfrm>
        </p:spPr>
        <p:txBody>
          <a:bodyPr/>
          <a:lstStyle/>
          <a:p>
            <a:pPr algn="just"/>
            <a:r>
              <a:rPr lang="en-US" b="1" dirty="0"/>
              <a:t>Psychotherapy</a:t>
            </a:r>
            <a:r>
              <a:rPr lang="en-US" dirty="0"/>
              <a:t> : counselling and advise to the patient</a:t>
            </a:r>
          </a:p>
          <a:p>
            <a:pPr algn="just"/>
            <a:r>
              <a:rPr lang="en-US" b="1" dirty="0" err="1"/>
              <a:t>Behaviour</a:t>
            </a:r>
            <a:r>
              <a:rPr lang="en-US" b="1" dirty="0"/>
              <a:t> therapy </a:t>
            </a:r>
            <a:r>
              <a:rPr lang="en-US" dirty="0"/>
              <a:t>: patient is taught appropriate </a:t>
            </a:r>
            <a:r>
              <a:rPr lang="en-US" dirty="0" err="1"/>
              <a:t>behaviour</a:t>
            </a:r>
            <a:r>
              <a:rPr lang="en-US" dirty="0"/>
              <a:t> by direct instruction</a:t>
            </a:r>
          </a:p>
          <a:p>
            <a:pPr algn="just"/>
            <a:r>
              <a:rPr lang="en-US" b="1" dirty="0"/>
              <a:t>Rehabilitation</a:t>
            </a:r>
            <a:r>
              <a:rPr lang="en-US" dirty="0"/>
              <a:t> services to provide opportunities to increase skills in living such as vocational rehabilitation.</a:t>
            </a:r>
          </a:p>
          <a:p>
            <a:pPr algn="just"/>
            <a:r>
              <a:rPr lang="en-US" b="1" dirty="0"/>
              <a:t>Outpatient treatment </a:t>
            </a:r>
            <a:r>
              <a:rPr lang="en-US" dirty="0"/>
              <a:t>to provide follow up care, maintenance therapy, social support programs and medical clinics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933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F5CC-FBED-DA09-11FA-743E1D7D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695"/>
            <a:ext cx="10515600" cy="69782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  <a:latin typeface="+mn-lt"/>
              </a:rPr>
              <a:t>Nursing Care and Management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73CA-CEB6-69C1-7343-A8F87D1D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905"/>
            <a:ext cx="10515600" cy="5486399"/>
          </a:xfrm>
        </p:spPr>
        <p:txBody>
          <a:bodyPr>
            <a:normAutofit/>
          </a:bodyPr>
          <a:lstStyle/>
          <a:p>
            <a:r>
              <a:rPr lang="en-US" dirty="0"/>
              <a:t>Nursing care and management for schizophrenia involves: </a:t>
            </a:r>
          </a:p>
          <a:p>
            <a:pPr>
              <a:buFontTx/>
              <a:buChar char="-"/>
            </a:pPr>
            <a:r>
              <a:rPr lang="en-US" dirty="0"/>
              <a:t>recognizing schizophrenia, </a:t>
            </a:r>
          </a:p>
          <a:p>
            <a:pPr>
              <a:buFontTx/>
              <a:buChar char="-"/>
            </a:pPr>
            <a:r>
              <a:rPr lang="en-US" dirty="0"/>
              <a:t>assessing positive and negative symptoms, </a:t>
            </a:r>
          </a:p>
          <a:p>
            <a:pPr>
              <a:buFontTx/>
              <a:buChar char="-"/>
            </a:pPr>
            <a:r>
              <a:rPr lang="en-US" dirty="0"/>
              <a:t>establishing trust and rapport, </a:t>
            </a:r>
          </a:p>
          <a:p>
            <a:pPr>
              <a:buFontTx/>
              <a:buChar char="-"/>
            </a:pPr>
            <a:r>
              <a:rPr lang="en-US" dirty="0"/>
              <a:t>reducing symptoms, enhancing communication, </a:t>
            </a:r>
          </a:p>
          <a:p>
            <a:pPr>
              <a:buFontTx/>
              <a:buChar char="-"/>
            </a:pPr>
            <a:r>
              <a:rPr lang="en-US" dirty="0"/>
              <a:t>maximizing the level of functioning, </a:t>
            </a:r>
          </a:p>
          <a:p>
            <a:pPr>
              <a:buFontTx/>
              <a:buChar char="-"/>
            </a:pPr>
            <a:r>
              <a:rPr lang="en-US" dirty="0"/>
              <a:t>improving social functioning, </a:t>
            </a:r>
          </a:p>
          <a:p>
            <a:pPr>
              <a:buFontTx/>
              <a:buChar char="-"/>
            </a:pPr>
            <a:r>
              <a:rPr lang="en-US" dirty="0"/>
              <a:t>developing coping strategies, </a:t>
            </a:r>
          </a:p>
          <a:p>
            <a:pPr>
              <a:buFontTx/>
              <a:buChar char="-"/>
            </a:pPr>
            <a:r>
              <a:rPr lang="en-US" dirty="0"/>
              <a:t>promoting medication compliance, </a:t>
            </a:r>
          </a:p>
          <a:p>
            <a:pPr>
              <a:buFontTx/>
              <a:buChar char="-"/>
            </a:pPr>
            <a:r>
              <a:rPr lang="en-US" dirty="0"/>
              <a:t>evaluating the support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2600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B289-9E81-28AF-7CA1-CEB504A98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218"/>
            <a:ext cx="10515600" cy="23915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B561F-AAA6-B956-4DC7-F6D6ADF7D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9655"/>
            <a:ext cx="10515600" cy="5417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Nursing Priorities</a:t>
            </a:r>
          </a:p>
          <a:p>
            <a:r>
              <a:rPr lang="en-US" dirty="0"/>
              <a:t>The following are the nursing priorities for patients with schizophrenia: </a:t>
            </a:r>
          </a:p>
          <a:p>
            <a:pPr>
              <a:buFontTx/>
              <a:buChar char="-"/>
            </a:pPr>
            <a:r>
              <a:rPr lang="en-US" dirty="0"/>
              <a:t>Establish therapeutic rapport and trust</a:t>
            </a:r>
          </a:p>
          <a:p>
            <a:pPr>
              <a:buFontTx/>
              <a:buChar char="-"/>
            </a:pPr>
            <a:r>
              <a:rPr lang="en-US" dirty="0"/>
              <a:t>Monitor and manage symptoms</a:t>
            </a:r>
          </a:p>
          <a:p>
            <a:pPr>
              <a:buFontTx/>
              <a:buChar char="-"/>
            </a:pPr>
            <a:r>
              <a:rPr lang="en-US" dirty="0"/>
              <a:t>Administer antipsychotic medications</a:t>
            </a:r>
          </a:p>
          <a:p>
            <a:pPr>
              <a:buFontTx/>
              <a:buChar char="-"/>
            </a:pPr>
            <a:r>
              <a:rPr lang="en-US" dirty="0"/>
              <a:t>Provide education and support</a:t>
            </a:r>
          </a:p>
          <a:p>
            <a:pPr>
              <a:buFontTx/>
              <a:buChar char="-"/>
            </a:pPr>
            <a:r>
              <a:rPr lang="en-US" dirty="0"/>
              <a:t>Assist with daily living skills</a:t>
            </a:r>
          </a:p>
          <a:p>
            <a:pPr>
              <a:buFontTx/>
              <a:buChar char="-"/>
            </a:pPr>
            <a:r>
              <a:rPr lang="en-US" dirty="0"/>
              <a:t>Collaborate with interdisciplinary team</a:t>
            </a:r>
          </a:p>
          <a:p>
            <a:pPr>
              <a:buFontTx/>
              <a:buChar char="-"/>
            </a:pPr>
            <a:r>
              <a:rPr lang="en-US" dirty="0"/>
              <a:t>Ensure a safe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854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6D11-0A8D-6F77-2403-5C0EC15E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490"/>
            <a:ext cx="10515600" cy="2391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4BEE0-024F-D1F1-728E-74472986D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588"/>
            <a:ext cx="10515600" cy="5802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Nursing Assessment</a:t>
            </a:r>
          </a:p>
          <a:p>
            <a:r>
              <a:rPr lang="en-US" b="1" dirty="0"/>
              <a:t>Assess for the following subjective and objective data: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Positive symptoms of schizophrenia: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Delusions – Persistent false beliefs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Hallucinations – Sensory experiences without external stimuli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Disorganized thinking – Incoherent or illogical thought processes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Abnormal motor behavior – Unusual or unpredictable movements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Negative symptoms of schizophrenia: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Reduced emotional expression – Diminished display of emotions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Social withdrawal – Decreased interest in social interactions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Lack of motivation – Decreased drive or initiative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Impaired cognition – Difficulties with attention, memory, and problem-solving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012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939C-422F-A220-9F2C-359FA1CB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354"/>
            <a:ext cx="10515600" cy="21101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D9156-52FB-9C26-DE1A-1DAF5AC5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317"/>
            <a:ext cx="10515600" cy="548764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Nursing Diagnosis</a:t>
            </a:r>
          </a:p>
          <a:p>
            <a:r>
              <a:rPr lang="en-US" dirty="0"/>
              <a:t>Do a thorough assessment, </a:t>
            </a:r>
          </a:p>
          <a:p>
            <a:r>
              <a:rPr lang="en-US" dirty="0"/>
              <a:t>Then formulate a nursing diagnosis </a:t>
            </a:r>
          </a:p>
          <a:p>
            <a:r>
              <a:rPr lang="en-US" dirty="0"/>
              <a:t>To specifically address the challenges associated with schizophrenia </a:t>
            </a:r>
          </a:p>
          <a:p>
            <a:r>
              <a:rPr lang="en-US" dirty="0"/>
              <a:t>Based on the nurse’s clinical judgment and understanding of the patient’s unique health condition.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319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53548-5B18-C3D5-C107-F3A55991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219"/>
            <a:ext cx="10515600" cy="84405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Nursing Interventions and Actions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93546-7788-B687-45D6-D39F88256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5754"/>
            <a:ext cx="10515600" cy="5409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1. Promoting Client Safety</a:t>
            </a:r>
          </a:p>
          <a:p>
            <a:r>
              <a:rPr lang="en-US" dirty="0"/>
              <a:t>Be alert for signs of increasing </a:t>
            </a:r>
            <a:r>
              <a:rPr lang="en-US" dirty="0">
                <a:solidFill>
                  <a:srgbClr val="FF0000"/>
                </a:solidFill>
              </a:rPr>
              <a:t>fear, anxiety, or agitation</a:t>
            </a:r>
          </a:p>
          <a:p>
            <a:r>
              <a:rPr lang="en-US" dirty="0"/>
              <a:t>Assess for the potential of </a:t>
            </a:r>
            <a:r>
              <a:rPr lang="en-US" dirty="0">
                <a:solidFill>
                  <a:srgbClr val="FF0000"/>
                </a:solidFill>
              </a:rPr>
              <a:t>substance abuse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Observe for </a:t>
            </a:r>
            <a:r>
              <a:rPr lang="en-US" dirty="0">
                <a:solidFill>
                  <a:srgbClr val="FF0000"/>
                </a:solidFill>
              </a:rPr>
              <a:t>obsessive-compulsive </a:t>
            </a:r>
            <a:r>
              <a:rPr lang="en-US" dirty="0"/>
              <a:t>symptoms</a:t>
            </a:r>
          </a:p>
          <a:p>
            <a:r>
              <a:rPr lang="en-US" dirty="0"/>
              <a:t>Explore how the </a:t>
            </a:r>
            <a:r>
              <a:rPr lang="en-US" dirty="0">
                <a:solidFill>
                  <a:srgbClr val="FF0000"/>
                </a:solidFill>
              </a:rPr>
              <a:t>hallucinations</a:t>
            </a:r>
            <a:r>
              <a:rPr lang="en-US" dirty="0"/>
              <a:t> are experienced by the client</a:t>
            </a:r>
          </a:p>
          <a:p>
            <a:r>
              <a:rPr lang="en-US" dirty="0"/>
              <a:t>Help the client to identify the needs that might underlie the hallucination. </a:t>
            </a:r>
          </a:p>
          <a:p>
            <a:r>
              <a:rPr lang="en-US" dirty="0"/>
              <a:t>Accept the fact that the voices are real to the client, but explain that you do not hear the voices. </a:t>
            </a:r>
          </a:p>
          <a:p>
            <a:r>
              <a:rPr lang="en-US" dirty="0"/>
              <a:t>Refer to the voices as “your voices” or “voices that you hear”.</a:t>
            </a:r>
          </a:p>
        </p:txBody>
      </p:sp>
    </p:spTree>
    <p:extLst>
      <p:ext uri="{BB962C8B-B14F-4D97-AF65-F5344CB8AC3E}">
        <p14:creationId xmlns:p14="http://schemas.microsoft.com/office/powerpoint/2010/main" val="10908164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B833-F44F-D229-AEA3-FEE5EF89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218"/>
            <a:ext cx="10515600" cy="22508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65382-4D47-9F63-983E-405E8C406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588"/>
            <a:ext cx="10515600" cy="5431375"/>
          </a:xfrm>
        </p:spPr>
        <p:txBody>
          <a:bodyPr/>
          <a:lstStyle/>
          <a:p>
            <a:r>
              <a:rPr lang="en-US" dirty="0"/>
              <a:t>Help the client identify times when the hallucinations are most prevalent and frightening.</a:t>
            </a:r>
          </a:p>
          <a:p>
            <a:r>
              <a:rPr lang="en-US" dirty="0"/>
              <a:t>If voices tell the client to harm themself or others, take necessary environmental precautions.</a:t>
            </a:r>
          </a:p>
          <a:p>
            <a:pPr>
              <a:buFontTx/>
              <a:buChar char="-"/>
            </a:pPr>
            <a:r>
              <a:rPr lang="en-US" dirty="0"/>
              <a:t>Notify others health care team</a:t>
            </a:r>
          </a:p>
          <a:p>
            <a:pPr>
              <a:buFontTx/>
              <a:buChar char="-"/>
            </a:pPr>
            <a:r>
              <a:rPr lang="en-US" dirty="0"/>
              <a:t>If in the hospital, use suicide prevention precautions or </a:t>
            </a:r>
          </a:p>
          <a:p>
            <a:pPr>
              <a:buFontTx/>
              <a:buChar char="-"/>
            </a:pPr>
            <a:r>
              <a:rPr lang="en-US" dirty="0"/>
              <a:t>threats of violence if the client plans to act on commands.</a:t>
            </a:r>
          </a:p>
          <a:p>
            <a:r>
              <a:rPr lang="en-US" dirty="0"/>
              <a:t>If in the community, evaluate the need for hospitalization.</a:t>
            </a:r>
          </a:p>
          <a:p>
            <a:r>
              <a:rPr lang="en-US" dirty="0"/>
              <a:t>Clearly document what the client says.</a:t>
            </a:r>
          </a:p>
        </p:txBody>
      </p:sp>
    </p:spTree>
    <p:extLst>
      <p:ext uri="{BB962C8B-B14F-4D97-AF65-F5344CB8AC3E}">
        <p14:creationId xmlns:p14="http://schemas.microsoft.com/office/powerpoint/2010/main" val="12329910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BC25-952F-1C78-C625-0FC8F0CE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422"/>
            <a:ext cx="10515600" cy="2391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FB7D-8952-6B19-630E-06D99C7CD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9655"/>
            <a:ext cx="10515600" cy="5417308"/>
          </a:xfrm>
        </p:spPr>
        <p:txBody>
          <a:bodyPr>
            <a:normAutofit/>
          </a:bodyPr>
          <a:lstStyle/>
          <a:p>
            <a:r>
              <a:rPr lang="en-US" dirty="0"/>
              <a:t>Stay with clients when they are starting to hallucinate</a:t>
            </a:r>
          </a:p>
          <a:p>
            <a:r>
              <a:rPr lang="en-US" dirty="0"/>
              <a:t>Direct them to tell the “voices they hear” to go away. </a:t>
            </a:r>
          </a:p>
          <a:p>
            <a:r>
              <a:rPr lang="en-US" dirty="0"/>
              <a:t>Decrease environmental stimuli when possible (low noise, minimal activity)</a:t>
            </a:r>
            <a:r>
              <a:rPr lang="en-US" b="1" dirty="0"/>
              <a:t> </a:t>
            </a:r>
          </a:p>
          <a:p>
            <a:r>
              <a:rPr lang="en-US" dirty="0"/>
              <a:t>Intervene with: </a:t>
            </a:r>
          </a:p>
          <a:p>
            <a:pPr>
              <a:buFontTx/>
              <a:buChar char="-"/>
            </a:pPr>
            <a:r>
              <a:rPr lang="en-US" dirty="0"/>
              <a:t>one-on-one communication , </a:t>
            </a:r>
          </a:p>
          <a:p>
            <a:pPr>
              <a:buFontTx/>
              <a:buChar char="-"/>
            </a:pPr>
            <a:r>
              <a:rPr lang="en-US" dirty="0"/>
              <a:t>seclusion, or </a:t>
            </a:r>
          </a:p>
          <a:p>
            <a:pPr>
              <a:buFontTx/>
              <a:buChar char="-"/>
            </a:pPr>
            <a:r>
              <a:rPr lang="en-US" dirty="0"/>
              <a:t>PRN medication</a:t>
            </a:r>
          </a:p>
        </p:txBody>
      </p:sp>
    </p:spTree>
    <p:extLst>
      <p:ext uri="{BB962C8B-B14F-4D97-AF65-F5344CB8AC3E}">
        <p14:creationId xmlns:p14="http://schemas.microsoft.com/office/powerpoint/2010/main" val="36850073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8984-F00D-6719-59CD-42F83EE1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354"/>
            <a:ext cx="10515600" cy="29542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8FC45-8152-C701-0D82-58AB8BD9A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452"/>
            <a:ext cx="10515600" cy="5459511"/>
          </a:xfrm>
        </p:spPr>
        <p:txBody>
          <a:bodyPr/>
          <a:lstStyle/>
          <a:p>
            <a:r>
              <a:rPr lang="en-US" dirty="0"/>
              <a:t>Keep to simple, basic, reality-based topics of conversation.</a:t>
            </a:r>
          </a:p>
          <a:p>
            <a:r>
              <a:rPr lang="en-US" dirty="0"/>
              <a:t>Help the client focus on one idea at a time.</a:t>
            </a:r>
          </a:p>
          <a:p>
            <a:r>
              <a:rPr lang="en-US" dirty="0"/>
              <a:t>Work with the client to find which activities help reduce anxiety and distract the client from hallucinatory material. </a:t>
            </a:r>
          </a:p>
          <a:p>
            <a:r>
              <a:rPr lang="en-US" dirty="0"/>
              <a:t>Practice new skills with the client</a:t>
            </a:r>
          </a:p>
          <a:p>
            <a:r>
              <a:rPr lang="en-US" dirty="0"/>
              <a:t>Engage the client in reality-based activities such as: </a:t>
            </a:r>
          </a:p>
          <a:p>
            <a:pPr>
              <a:buFontTx/>
              <a:buChar char="-"/>
            </a:pPr>
            <a:r>
              <a:rPr lang="en-US" dirty="0"/>
              <a:t>card playing, writing, drawing,</a:t>
            </a:r>
          </a:p>
          <a:p>
            <a:pPr>
              <a:buFontTx/>
              <a:buChar char="-"/>
            </a:pPr>
            <a:r>
              <a:rPr lang="en-US" dirty="0"/>
              <a:t>doing simple arts and crafts, or </a:t>
            </a:r>
          </a:p>
          <a:p>
            <a:pPr>
              <a:buFontTx/>
              <a:buChar char="-"/>
            </a:pPr>
            <a:r>
              <a:rPr lang="en-US" dirty="0"/>
              <a:t>listening to music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146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77E6-A3E9-73D2-14DD-C0D7EFA8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948"/>
            <a:ext cx="10515600" cy="28135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71084-0919-0FB6-C6E1-7AFB07826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588"/>
            <a:ext cx="10515600" cy="5431375"/>
          </a:xfrm>
        </p:spPr>
        <p:txBody>
          <a:bodyPr/>
          <a:lstStyle/>
          <a:p>
            <a:r>
              <a:rPr lang="en-US" dirty="0"/>
              <a:t>Administer medication as indicated e.g. clozapine</a:t>
            </a:r>
          </a:p>
          <a:p>
            <a:r>
              <a:rPr lang="en-US" dirty="0"/>
              <a:t>Remove all dangerous objects in the client’s room</a:t>
            </a:r>
          </a:p>
          <a:p>
            <a:r>
              <a:rPr lang="en-US" dirty="0"/>
              <a:t>Prepare the client for cognitive behavioral therapy (CBT).</a:t>
            </a:r>
          </a:p>
        </p:txBody>
      </p:sp>
    </p:spTree>
    <p:extLst>
      <p:ext uri="{BB962C8B-B14F-4D97-AF65-F5344CB8AC3E}">
        <p14:creationId xmlns:p14="http://schemas.microsoft.com/office/powerpoint/2010/main" val="39159949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EEBD-5E4B-FDC9-4935-89FDF575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354"/>
            <a:ext cx="10515600" cy="104100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+mn-lt"/>
              </a:rPr>
            </a:br>
            <a:r>
              <a:rPr lang="en-US" sz="3600" b="1" dirty="0">
                <a:latin typeface="+mn-lt"/>
              </a:rPr>
              <a:t>2. Establishing Therapeutic Relationships and Promoting Therapeutic Communication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8F0C0-D603-C2E9-776D-E9C3CD353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445"/>
            <a:ext cx="10515600" cy="5162843"/>
          </a:xfrm>
        </p:spPr>
        <p:txBody>
          <a:bodyPr>
            <a:normAutofit/>
          </a:bodyPr>
          <a:lstStyle/>
          <a:p>
            <a:r>
              <a:rPr lang="en-US" dirty="0"/>
              <a:t>Assess if incoherence in speech is chronic or if it is more sudden, as in an exacerbation of symptoms</a:t>
            </a:r>
          </a:p>
          <a:p>
            <a:r>
              <a:rPr lang="en-US"/>
              <a:t>Assess </a:t>
            </a:r>
            <a:r>
              <a:rPr lang="en-US" dirty="0"/>
              <a:t>the extent of the client’s communication impairment</a:t>
            </a:r>
          </a:p>
          <a:p>
            <a:r>
              <a:rPr lang="en-US" dirty="0"/>
              <a:t>Look for themes in what is said, even though spoken words appear incoherent (e.g., fear, sadness, guilt). </a:t>
            </a:r>
          </a:p>
          <a:p>
            <a:r>
              <a:rPr lang="en-US" dirty="0"/>
              <a:t>Keep the voice in a low manner and speak slowly as much as possible.</a:t>
            </a:r>
          </a:p>
          <a:p>
            <a:r>
              <a:rPr lang="en-US" dirty="0"/>
              <a:t>Keep the environment calm, quiet, and as free of stimuli as possible.</a:t>
            </a:r>
          </a:p>
          <a:p>
            <a:r>
              <a:rPr lang="en-US" dirty="0"/>
              <a:t>Plan short, frequent periods with a client throughout the day.</a:t>
            </a:r>
          </a:p>
        </p:txBody>
      </p:sp>
    </p:spTree>
    <p:extLst>
      <p:ext uri="{BB962C8B-B14F-4D97-AF65-F5344CB8AC3E}">
        <p14:creationId xmlns:p14="http://schemas.microsoft.com/office/powerpoint/2010/main" val="39079752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048B-CC99-A95E-835D-4EF9C67A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490"/>
            <a:ext cx="10515600" cy="21101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61028-D841-2760-869C-6B5A2C71E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520"/>
            <a:ext cx="10515600" cy="5445443"/>
          </a:xfrm>
        </p:spPr>
        <p:txBody>
          <a:bodyPr/>
          <a:lstStyle/>
          <a:p>
            <a:r>
              <a:rPr lang="en-US" dirty="0"/>
              <a:t>Use clear or simple words.</a:t>
            </a:r>
          </a:p>
          <a:p>
            <a:r>
              <a:rPr lang="en-US" dirty="0"/>
              <a:t>Use simple, concrete, and literal explanations</a:t>
            </a:r>
          </a:p>
          <a:p>
            <a:r>
              <a:rPr lang="en-US" dirty="0"/>
              <a:t>Focus on and direct the client’s attention to concrete things in the environment.</a:t>
            </a:r>
          </a:p>
          <a:p>
            <a:r>
              <a:rPr lang="en-US" dirty="0"/>
              <a:t>When you do not understand a client, let him know you are having difficulty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3108314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10EA-55F3-093D-884C-C895967A7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627"/>
            <a:ext cx="10515600" cy="19694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B5060-1781-AF49-AA1E-CFD9BC56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2197"/>
            <a:ext cx="10515600" cy="5304766"/>
          </a:xfrm>
        </p:spPr>
        <p:txBody>
          <a:bodyPr>
            <a:normAutofit/>
          </a:bodyPr>
          <a:lstStyle/>
          <a:p>
            <a:r>
              <a:rPr lang="en-US" dirty="0"/>
              <a:t>When the client is ready, introduce strategies that can minimize anxiety and lower voices, and “worrying” thoughts</a:t>
            </a:r>
          </a:p>
          <a:p>
            <a:r>
              <a:rPr lang="en-US" dirty="0"/>
              <a:t>Teach the client to do the following:</a:t>
            </a:r>
          </a:p>
          <a:p>
            <a:pPr>
              <a:buFontTx/>
              <a:buChar char="-"/>
            </a:pPr>
            <a:r>
              <a:rPr lang="en-US" dirty="0"/>
              <a:t>Focus on meaningful activities.</a:t>
            </a:r>
          </a:p>
          <a:p>
            <a:pPr>
              <a:buFontTx/>
              <a:buChar char="-"/>
            </a:pPr>
            <a:r>
              <a:rPr lang="en-US" dirty="0"/>
              <a:t>Learn to replace negative thoughts with constructive thoughts.</a:t>
            </a:r>
          </a:p>
          <a:p>
            <a:pPr>
              <a:buFontTx/>
              <a:buChar char="-"/>
            </a:pPr>
            <a:r>
              <a:rPr lang="en-US" dirty="0"/>
              <a:t>Learn to replace irrational thoughts with rational statements.</a:t>
            </a:r>
          </a:p>
          <a:p>
            <a:pPr>
              <a:buFontTx/>
              <a:buChar char="-"/>
            </a:pPr>
            <a:r>
              <a:rPr lang="en-US" dirty="0"/>
              <a:t>Perform deep breathing exercises.</a:t>
            </a:r>
          </a:p>
          <a:p>
            <a:pPr>
              <a:buFontTx/>
              <a:buChar char="-"/>
            </a:pPr>
            <a:r>
              <a:rPr lang="en-US" dirty="0"/>
              <a:t>Read aloud to self.</a:t>
            </a:r>
          </a:p>
          <a:p>
            <a:pPr>
              <a:buFontTx/>
              <a:buChar char="-"/>
            </a:pPr>
            <a:r>
              <a:rPr lang="en-US" dirty="0"/>
              <a:t>Seek support from staff, family, or other supportive people.</a:t>
            </a:r>
          </a:p>
          <a:p>
            <a:pPr>
              <a:buFontTx/>
              <a:buChar char="-"/>
            </a:pPr>
            <a:r>
              <a:rPr lang="en-US" dirty="0"/>
              <a:t>Use a calming visualization or listen to music.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3560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A4D9-07AD-A76C-A9E3-043DF6CC3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626"/>
            <a:ext cx="10515600" cy="3434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7BE4F-F3E7-0C59-CE04-172DF0487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806"/>
            <a:ext cx="10515600" cy="55215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therapeutic techniques (clarifying feelings when speech and thoughts are disorganized)</a:t>
            </a:r>
          </a:p>
          <a:p>
            <a:r>
              <a:rPr lang="en-US" dirty="0"/>
              <a:t>Establish rapport and build a trusting relationship with the client. </a:t>
            </a:r>
          </a:p>
          <a:p>
            <a:r>
              <a:rPr lang="en-US" dirty="0"/>
              <a:t>Provide positive feedback and appreciation to the client</a:t>
            </a:r>
          </a:p>
          <a:p>
            <a:r>
              <a:rPr lang="en-US" dirty="0"/>
              <a:t>Identify with the client the symptoms he experiences when he begins to feel anxious around others. </a:t>
            </a:r>
          </a:p>
          <a:p>
            <a:r>
              <a:rPr lang="en-US" dirty="0"/>
              <a:t>Keep the client in an environment as free of stimuli (loud noises, crowding) as possible.</a:t>
            </a:r>
          </a:p>
          <a:p>
            <a:r>
              <a:rPr lang="en-US" dirty="0"/>
              <a:t>Avoid touching the client. </a:t>
            </a:r>
          </a:p>
          <a:p>
            <a:r>
              <a:rPr lang="en-US" dirty="0"/>
              <a:t>Ensure that the goals set are realistic;  whether in the hospital or community. </a:t>
            </a:r>
          </a:p>
          <a:p>
            <a:r>
              <a:rPr lang="en-US" dirty="0"/>
              <a:t>Structure activities that work at the client’s pace and activity. 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9189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9897-CC86-72E6-8573-EE1DCBD9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31527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195CE-ECCD-0E1E-AF02-70290F76D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0332"/>
            <a:ext cx="10515600" cy="5449668"/>
          </a:xfrm>
        </p:spPr>
        <p:txBody>
          <a:bodyPr>
            <a:normAutofit/>
          </a:bodyPr>
          <a:lstStyle/>
          <a:p>
            <a:r>
              <a:rPr lang="en-US" dirty="0"/>
              <a:t>Spend frequent, short periods with clients to encourage: </a:t>
            </a:r>
          </a:p>
          <a:p>
            <a:pPr marL="0" indent="0">
              <a:buNone/>
            </a:pPr>
            <a:r>
              <a:rPr lang="en-US" dirty="0"/>
              <a:t>-  therapeutic interactions</a:t>
            </a:r>
          </a:p>
          <a:p>
            <a:pPr>
              <a:buFontTx/>
              <a:buChar char="-"/>
            </a:pPr>
            <a:r>
              <a:rPr lang="en-US" dirty="0"/>
              <a:t>verbal communication </a:t>
            </a:r>
          </a:p>
          <a:p>
            <a:pPr>
              <a:buFontTx/>
              <a:buChar char="-"/>
            </a:pPr>
            <a:r>
              <a:rPr lang="en-US" dirty="0"/>
              <a:t>coherent speech</a:t>
            </a:r>
          </a:p>
          <a:p>
            <a:r>
              <a:rPr lang="en-US" dirty="0"/>
              <a:t>If the client is very paranoid, give solitary or one-on-one activities that require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40607170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539D-02FB-4D62-EC56-966E25B1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254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C4F8A-BF52-703D-AD8F-98DD7286B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5200"/>
            <a:ext cx="10515600" cy="5211763"/>
          </a:xfrm>
        </p:spPr>
        <p:txBody>
          <a:bodyPr/>
          <a:lstStyle/>
          <a:p>
            <a:r>
              <a:rPr lang="en-US" dirty="0"/>
              <a:t>If the client is delusional or hallucinating or difficult in concentrating, provide simple activities (e.g., looking at a picture or doing a painting).</a:t>
            </a:r>
          </a:p>
          <a:p>
            <a:r>
              <a:rPr lang="en-US" dirty="0"/>
              <a:t>If the client is very withdrawn, plan for one-on-one activities.</a:t>
            </a:r>
          </a:p>
          <a:p>
            <a:r>
              <a:rPr lang="en-US" dirty="0"/>
              <a:t>Try to incorporate the strengths and interests of the client into the activities planned.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98081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B617-421C-A5FE-EEB4-7D03E141E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800"/>
            <a:ext cx="10515600" cy="3302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6553C-16B7-1C02-34A5-F55DEEC2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300"/>
            <a:ext cx="10515600" cy="5427663"/>
          </a:xfrm>
        </p:spPr>
        <p:txBody>
          <a:bodyPr>
            <a:normAutofit/>
          </a:bodyPr>
          <a:lstStyle/>
          <a:p>
            <a:r>
              <a:rPr lang="en-US" dirty="0"/>
              <a:t>Teach the client to remove himself briefly when feeling agitated</a:t>
            </a:r>
          </a:p>
          <a:p>
            <a:r>
              <a:rPr lang="en-US" dirty="0"/>
              <a:t>Teach the client on anxiety relieving exercises (e.g., meditations, rhythmic exercise, deep breathing exercise). </a:t>
            </a:r>
          </a:p>
          <a:p>
            <a:r>
              <a:rPr lang="en-US" dirty="0"/>
              <a:t>Give acknowledgment and recognition for:</a:t>
            </a:r>
          </a:p>
          <a:p>
            <a:pPr>
              <a:buFontTx/>
              <a:buChar char="-"/>
            </a:pPr>
            <a:r>
              <a:rPr lang="en-US" dirty="0"/>
              <a:t>positive steps the client takes </a:t>
            </a:r>
          </a:p>
          <a:p>
            <a:pPr>
              <a:buFontTx/>
              <a:buChar char="-"/>
            </a:pPr>
            <a:r>
              <a:rPr lang="en-US" dirty="0"/>
              <a:t>increasing social skills: appropriate distance, maintaining good eye contact, calm behavior, moderate voice tone</a:t>
            </a:r>
          </a:p>
          <a:p>
            <a:pPr>
              <a:buFontTx/>
              <a:buChar char="-"/>
            </a:pPr>
            <a:r>
              <a:rPr lang="en-US" dirty="0"/>
              <a:t>appropriate interactions with others.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2716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4B71-55FB-E56D-F65B-AF271BE7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279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D6C7A-C251-6DD7-2396-F66F63726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3100"/>
            <a:ext cx="10515600" cy="5503863"/>
          </a:xfrm>
        </p:spPr>
        <p:txBody>
          <a:bodyPr/>
          <a:lstStyle/>
          <a:p>
            <a:r>
              <a:rPr lang="en-US" dirty="0"/>
              <a:t>As the client progresses, offer coping skills training. </a:t>
            </a:r>
          </a:p>
          <a:p>
            <a:r>
              <a:rPr lang="en-US" dirty="0"/>
              <a:t>Basically the client: </a:t>
            </a:r>
          </a:p>
          <a:p>
            <a:pPr marL="0" indent="0">
              <a:buNone/>
            </a:pPr>
            <a:r>
              <a:rPr lang="en-US" dirty="0"/>
              <a:t>-  Define the skill to be learned.</a:t>
            </a:r>
          </a:p>
          <a:p>
            <a:pPr>
              <a:buFontTx/>
              <a:buChar char="-"/>
            </a:pPr>
            <a:r>
              <a:rPr lang="en-US" dirty="0"/>
              <a:t>Model the skill.</a:t>
            </a:r>
          </a:p>
          <a:p>
            <a:pPr>
              <a:buFontTx/>
              <a:buChar char="-"/>
            </a:pPr>
            <a:r>
              <a:rPr lang="en-US" dirty="0"/>
              <a:t>Rehearse skills in a safe environment, then in the community.</a:t>
            </a:r>
          </a:p>
          <a:p>
            <a:pPr>
              <a:buFontTx/>
              <a:buChar char="-"/>
            </a:pPr>
            <a:r>
              <a:rPr lang="en-US" dirty="0"/>
              <a:t>Give corrective feedback on the implementation of skills.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15623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CBE7-E661-7947-612A-9BFC6FCEC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490"/>
            <a:ext cx="10515600" cy="21101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4283F-AE0D-838F-3E13-CDEC872A1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3385"/>
            <a:ext cx="10515600" cy="5473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Improving Thought Organization and Reality Orientation </a:t>
            </a:r>
          </a:p>
          <a:p>
            <a:r>
              <a:rPr lang="en-US" dirty="0"/>
              <a:t>Identify feelings related to delusions. </a:t>
            </a:r>
          </a:p>
          <a:p>
            <a:r>
              <a:rPr lang="en-US" dirty="0"/>
              <a:t>For example:</a:t>
            </a:r>
          </a:p>
          <a:p>
            <a:pPr>
              <a:buFontTx/>
              <a:buChar char="-"/>
            </a:pPr>
            <a:r>
              <a:rPr lang="en-US" dirty="0"/>
              <a:t>If a client believes someone is going to harm him; the client is </a:t>
            </a:r>
          </a:p>
          <a:p>
            <a:pPr marL="0" indent="0">
              <a:buNone/>
            </a:pPr>
            <a:r>
              <a:rPr lang="en-US" dirty="0"/>
              <a:t>   experiencing fear.</a:t>
            </a:r>
          </a:p>
          <a:p>
            <a:pPr>
              <a:buFontTx/>
              <a:buChar char="-"/>
            </a:pPr>
            <a:r>
              <a:rPr lang="en-US" dirty="0"/>
              <a:t>If a client believes someone is controlling his thoughts, the client is </a:t>
            </a:r>
          </a:p>
          <a:p>
            <a:pPr marL="0" indent="0">
              <a:buNone/>
            </a:pPr>
            <a:r>
              <a:rPr lang="en-US" dirty="0"/>
              <a:t>   experiencing helplessness.</a:t>
            </a:r>
          </a:p>
          <a:p>
            <a:r>
              <a:rPr lang="en-US" dirty="0"/>
              <a:t>Understand the significance of these beliefs to the client and take appropriate action.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7628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F66F-FFA1-711E-A9F1-2AB49F0D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0"/>
            <a:ext cx="10515600" cy="279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9460-03AA-D35D-C886-76CE8920B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/>
          <a:lstStyle/>
          <a:p>
            <a:r>
              <a:rPr lang="en-US" dirty="0"/>
              <a:t>Try to distract clients from their delusions by engaging in reality-based activities (e.g., card games, simple arts and crafts projects,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dirty="0"/>
              <a:t>Do not touch the client; use gestures carefully.</a:t>
            </a:r>
          </a:p>
          <a:p>
            <a:r>
              <a:rPr lang="en-US" dirty="0"/>
              <a:t>Do not argue with the client’s beliefs or try to convince the client that the delusions are false and unreal.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7470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DEFB-49AE-7F96-0CDE-83D1EE06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1905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CF9A2-076E-7107-CB11-D9AB6A89C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414963"/>
          </a:xfrm>
        </p:spPr>
        <p:txBody>
          <a:bodyPr/>
          <a:lstStyle/>
          <a:p>
            <a:r>
              <a:rPr lang="en-US" dirty="0"/>
              <a:t>Show empathy regarding the client’s feelings; reassure the client of your presence and acceptance.</a:t>
            </a:r>
          </a:p>
          <a:p>
            <a:r>
              <a:rPr lang="en-US" dirty="0"/>
              <a:t>Teach the client coping skills that minimize “worrying” thoughts. </a:t>
            </a:r>
          </a:p>
          <a:p>
            <a:r>
              <a:rPr lang="en-US" dirty="0"/>
              <a:t>Coping skills include:</a:t>
            </a:r>
          </a:p>
          <a:p>
            <a:pPr>
              <a:buFontTx/>
              <a:buChar char="-"/>
            </a:pPr>
            <a:r>
              <a:rPr lang="en-US" dirty="0"/>
              <a:t>Going to a gym</a:t>
            </a:r>
          </a:p>
          <a:p>
            <a:pPr>
              <a:buFontTx/>
              <a:buChar char="-"/>
            </a:pPr>
            <a:r>
              <a:rPr lang="en-US" dirty="0"/>
              <a:t>Singing or listening to a song.</a:t>
            </a:r>
          </a:p>
          <a:p>
            <a:pPr>
              <a:buFontTx/>
              <a:buChar char="-"/>
            </a:pPr>
            <a:r>
              <a:rPr lang="en-US" dirty="0"/>
              <a:t>Talking to a trusted friend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0529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0822-28C9-FA8F-E561-46B6B4E4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150"/>
            <a:ext cx="10515600" cy="44188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92CEC-9CEF-D34E-2AD6-B2E16324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6265"/>
            <a:ext cx="10515600" cy="5290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Promoting Effective Coping Strategies</a:t>
            </a:r>
          </a:p>
          <a:p>
            <a:r>
              <a:rPr lang="en-US" dirty="0"/>
              <a:t>Assess and observe clients regularly for signs of increasing anxiety and hostility.</a:t>
            </a:r>
          </a:p>
          <a:p>
            <a:r>
              <a:rPr lang="en-US" dirty="0"/>
              <a:t>Asses for causes or predisposing factors of the agitation or violence.</a:t>
            </a:r>
          </a:p>
          <a:p>
            <a:r>
              <a:rPr lang="en-US" dirty="0"/>
              <a:t>Note expressions of:</a:t>
            </a:r>
          </a:p>
          <a:p>
            <a:pPr>
              <a:buFontTx/>
              <a:buChar char="-"/>
            </a:pPr>
            <a:r>
              <a:rPr lang="en-US" dirty="0"/>
              <a:t>indecision, dependence on others, </a:t>
            </a:r>
          </a:p>
          <a:p>
            <a:pPr>
              <a:buFontTx/>
              <a:buChar char="-"/>
            </a:pPr>
            <a:r>
              <a:rPr lang="en-US" dirty="0"/>
              <a:t>the inability to manage own activities of daily living.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592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9EB8-932B-E16A-138A-702403E6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1"/>
            <a:ext cx="10515600" cy="2667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B339D-B4B2-8A97-82AF-148A8F031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200"/>
            <a:ext cx="10515600" cy="5338763"/>
          </a:xfrm>
        </p:spPr>
        <p:txBody>
          <a:bodyPr/>
          <a:lstStyle/>
          <a:p>
            <a:r>
              <a:rPr lang="en-US" dirty="0"/>
              <a:t>Assess the presence of positive coping skills and inner strengths.</a:t>
            </a:r>
          </a:p>
          <a:p>
            <a:r>
              <a:rPr lang="en-US" dirty="0"/>
              <a:t>Explain to the client what you are going to do before you do it.</a:t>
            </a:r>
          </a:p>
          <a:p>
            <a:r>
              <a:rPr lang="en-US" dirty="0"/>
              <a:t>Use a non-judgmental, respectful, and neutral approach with the client.</a:t>
            </a:r>
          </a:p>
          <a:p>
            <a:r>
              <a:rPr lang="en-US" dirty="0"/>
              <a:t>Use clear and simple language when communicating with a suspicious client.</a:t>
            </a:r>
          </a:p>
        </p:txBody>
      </p:sp>
    </p:spTree>
    <p:extLst>
      <p:ext uri="{BB962C8B-B14F-4D97-AF65-F5344CB8AC3E}">
        <p14:creationId xmlns:p14="http://schemas.microsoft.com/office/powerpoint/2010/main" val="123341581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08CFA-4A63-93F2-0449-5FC317F1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F73A9-6528-35FB-E2BC-8A923F49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200"/>
            <a:ext cx="10515600" cy="5338763"/>
          </a:xfrm>
        </p:spPr>
        <p:txBody>
          <a:bodyPr>
            <a:normAutofit/>
          </a:bodyPr>
          <a:lstStyle/>
          <a:p>
            <a:r>
              <a:rPr lang="en-US" dirty="0"/>
              <a:t>Set limits by providing fact, using a calm tone. </a:t>
            </a:r>
          </a:p>
          <a:p>
            <a:r>
              <a:rPr lang="en-US" dirty="0"/>
              <a:t>“Giving threatening remarks is unacceptable. We can talk more about the proper ways in dealing with your feelings”.</a:t>
            </a:r>
          </a:p>
          <a:p>
            <a:r>
              <a:rPr lang="en-US" dirty="0"/>
              <a:t>Be honest and consistent with the client regarding expectations and enforcing rules.</a:t>
            </a:r>
          </a:p>
          <a:p>
            <a:r>
              <a:rPr lang="en-US" dirty="0"/>
              <a:t>Maintain a low level of stimuli </a:t>
            </a:r>
          </a:p>
          <a:p>
            <a:r>
              <a:rPr lang="en-US" dirty="0"/>
              <a:t>Enhance a non-threatening environment (avoid groups).</a:t>
            </a:r>
          </a:p>
        </p:txBody>
      </p:sp>
    </p:spTree>
    <p:extLst>
      <p:ext uri="{BB962C8B-B14F-4D97-AF65-F5344CB8AC3E}">
        <p14:creationId xmlns:p14="http://schemas.microsoft.com/office/powerpoint/2010/main" val="10238653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0E1E-2112-6980-C9FE-4E26F3D2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70EE-2D3E-74F0-48E9-C347F4E1D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5200"/>
            <a:ext cx="10515600" cy="5211763"/>
          </a:xfrm>
        </p:spPr>
        <p:txBody>
          <a:bodyPr/>
          <a:lstStyle/>
          <a:p>
            <a:r>
              <a:rPr lang="en-US" dirty="0"/>
              <a:t>Be aware of the client’s tendency to have ideas of reference; </a:t>
            </a:r>
          </a:p>
          <a:p>
            <a:r>
              <a:rPr lang="en-US" dirty="0"/>
              <a:t>Do not do things in front of the client that can be misinterpreted: </a:t>
            </a:r>
            <a:r>
              <a:rPr lang="en-US" dirty="0" err="1"/>
              <a:t>eg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laughing or whispering </a:t>
            </a:r>
          </a:p>
          <a:p>
            <a:pPr>
              <a:buFontTx/>
              <a:buChar char="-"/>
            </a:pPr>
            <a:r>
              <a:rPr lang="en-US" dirty="0"/>
              <a:t>talking quietly when the client can see but not hear what is being said.</a:t>
            </a:r>
            <a:br>
              <a:rPr lang="en-US" b="1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3846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3D76-4644-F669-8FE5-C1784997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2159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2F609-DD98-F5A7-EC15-86C52467C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>
            <a:normAutofit/>
          </a:bodyPr>
          <a:lstStyle/>
          <a:p>
            <a:r>
              <a:rPr lang="en-US" dirty="0"/>
              <a:t>Initially, provide solitary, non-competitive activities that take some concentration. </a:t>
            </a:r>
          </a:p>
          <a:p>
            <a:r>
              <a:rPr lang="en-US" dirty="0"/>
              <a:t>Later a game with one or more clients that takes concentration (e.g., chess checkers, thoughtful card games).</a:t>
            </a:r>
          </a:p>
          <a:p>
            <a:r>
              <a:rPr lang="en-US" dirty="0"/>
              <a:t>Provide verbal/physical limits when the client’s hostile behavior escalates:</a:t>
            </a:r>
            <a:r>
              <a:rPr lang="en-US" i="1" dirty="0"/>
              <a:t> </a:t>
            </a:r>
          </a:p>
          <a:p>
            <a:r>
              <a:rPr lang="en-US" dirty="0"/>
              <a:t>“We cannot allow you to verbally attack someone here. If you can’t hold or control yourself, we are here in order to help you”.</a:t>
            </a:r>
          </a:p>
          <a:p>
            <a:r>
              <a:rPr lang="en-US" dirty="0"/>
              <a:t>Encourage family members or parents to provide emotional support.</a:t>
            </a:r>
          </a:p>
          <a:p>
            <a:r>
              <a:rPr lang="en-US" dirty="0"/>
              <a:t>Establish a therapeutic nurse-client relationship.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7501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5BAB-6F75-0886-23A7-E2B6D6B0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948"/>
            <a:ext cx="10515600" cy="28135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A5D6-DDC1-B92E-DD28-FFF647296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9655"/>
            <a:ext cx="10515600" cy="541730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Initiating Patient Education and Health Teachings</a:t>
            </a:r>
          </a:p>
          <a:p>
            <a:r>
              <a:rPr lang="en-US" dirty="0"/>
              <a:t>Assess the family member’s current level of knowledge about the disease and medications used to treat the disease.</a:t>
            </a:r>
          </a:p>
          <a:p>
            <a:r>
              <a:rPr lang="en-US" dirty="0"/>
              <a:t>Identify the family’s ability to cope (e.g., the experience of loss, caregiver burden, needed support).</a:t>
            </a:r>
          </a:p>
          <a:p>
            <a:r>
              <a:rPr lang="en-US" dirty="0"/>
              <a:t>Assess role expectations of family members and encourage discussion about them.</a:t>
            </a:r>
            <a:br>
              <a:rPr lang="en-US" b="1" dirty="0"/>
            </a:b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7282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B2D7-7E1F-631D-1654-19D79A80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3762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2A0FE-6685-195E-54EA-D09DDEFF4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900"/>
            <a:ext cx="10515600" cy="5326063"/>
          </a:xfrm>
        </p:spPr>
        <p:txBody>
          <a:bodyPr/>
          <a:lstStyle/>
          <a:p>
            <a:r>
              <a:rPr lang="en-US" dirty="0"/>
              <a:t>Note cultural and religious beliefs.</a:t>
            </a:r>
          </a:p>
          <a:p>
            <a:r>
              <a:rPr lang="en-US" dirty="0"/>
              <a:t>Inform the client’s family in clear, simple terms about psychopharmacologic therapy: </a:t>
            </a:r>
          </a:p>
          <a:p>
            <a:pPr>
              <a:buFontTx/>
              <a:buChar char="-"/>
            </a:pPr>
            <a:r>
              <a:rPr lang="en-US" dirty="0"/>
              <a:t>dose, duration, indication, </a:t>
            </a:r>
          </a:p>
          <a:p>
            <a:pPr>
              <a:buFontTx/>
              <a:buChar char="-"/>
            </a:pPr>
            <a:r>
              <a:rPr lang="en-US" dirty="0"/>
              <a:t>side effects, and toxic effects. </a:t>
            </a:r>
          </a:p>
          <a:p>
            <a:r>
              <a:rPr lang="en-US" dirty="0"/>
              <a:t>Written information should be given to the client and family members as well.</a:t>
            </a:r>
          </a:p>
          <a:p>
            <a:r>
              <a:rPr lang="en-US" dirty="0"/>
              <a:t>Teach the client and family the warning symptoms of relapse.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85449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9B33-70D5-FD44-8338-11D53B716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0"/>
            <a:ext cx="10515600" cy="2921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D3A63-01A8-BE0D-34B8-837D30E29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200"/>
            <a:ext cx="10515600" cy="5338763"/>
          </a:xfrm>
        </p:spPr>
        <p:txBody>
          <a:bodyPr>
            <a:normAutofit/>
          </a:bodyPr>
          <a:lstStyle/>
          <a:p>
            <a:r>
              <a:rPr lang="en-US" dirty="0"/>
              <a:t>Provide information on disease and treatment strategies at the family’s level of understanding.</a:t>
            </a:r>
          </a:p>
          <a:p>
            <a:r>
              <a:rPr lang="en-US" dirty="0"/>
              <a:t>Provide an opportunity for the family to discuss feelings related to an ill family member and identify their immediate concerns.</a:t>
            </a:r>
          </a:p>
          <a:p>
            <a:r>
              <a:rPr lang="en-US" dirty="0"/>
              <a:t>Provide information on client and family community resources for the client and family after discharge: </a:t>
            </a:r>
          </a:p>
          <a:p>
            <a:pPr>
              <a:buFontTx/>
              <a:buChar char="-"/>
            </a:pPr>
            <a:r>
              <a:rPr lang="en-US" dirty="0"/>
              <a:t>day hospitals, support groups, </a:t>
            </a:r>
          </a:p>
          <a:p>
            <a:pPr>
              <a:buFontTx/>
              <a:buChar char="-"/>
            </a:pPr>
            <a:r>
              <a:rPr lang="en-US" dirty="0"/>
              <a:t>organizations, psychoeducational programs, </a:t>
            </a:r>
          </a:p>
          <a:p>
            <a:pPr>
              <a:buFontTx/>
              <a:buChar char="-"/>
            </a:pPr>
            <a:r>
              <a:rPr lang="en-US" dirty="0"/>
              <a:t>community respite centers (small homes).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5386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258A-A803-E9FE-ADDA-6D9657ACE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2921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23B28-65AB-9278-83D3-6787AE095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900"/>
            <a:ext cx="10515600" cy="5326063"/>
          </a:xfrm>
        </p:spPr>
        <p:txBody>
          <a:bodyPr/>
          <a:lstStyle/>
          <a:p>
            <a:r>
              <a:rPr lang="en-US" dirty="0"/>
              <a:t>Listen for expressions of helplessness and hopelessness.</a:t>
            </a:r>
          </a:p>
          <a:p>
            <a:r>
              <a:rPr lang="en-US" dirty="0"/>
              <a:t>Provide information about the family intervention.</a:t>
            </a:r>
          </a:p>
          <a:p>
            <a:r>
              <a:rPr lang="en-US" dirty="0"/>
              <a:t>Identify and encourage the use of previously successful coping behaviors.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21016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0EBC-E34C-DBE8-B577-AA23B34C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558"/>
            <a:ext cx="10515600" cy="2532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8B119-8F31-6EB9-7720-8A4C444FE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1858"/>
            <a:ext cx="10515600" cy="53751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6. Administer Medications and Provide Pharmacologic Support</a:t>
            </a:r>
          </a:p>
          <a:p>
            <a:pPr marL="0" indent="0">
              <a:buNone/>
            </a:pPr>
            <a:r>
              <a:rPr lang="en-US" b="1" dirty="0"/>
              <a:t>Typical Antipsychotics: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Chlorpromazine</a:t>
            </a:r>
          </a:p>
          <a:p>
            <a:r>
              <a:rPr lang="en-US" dirty="0"/>
              <a:t>Haloperidol</a:t>
            </a:r>
          </a:p>
          <a:p>
            <a:r>
              <a:rPr lang="en-US" dirty="0"/>
              <a:t>Fluphenazine</a:t>
            </a:r>
          </a:p>
          <a:p>
            <a:pPr marL="0" indent="0">
              <a:buNone/>
            </a:pPr>
            <a:r>
              <a:rPr lang="en-US" b="1" dirty="0"/>
              <a:t>Atypical Antipsychotics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Risperidone</a:t>
            </a:r>
          </a:p>
          <a:p>
            <a:r>
              <a:rPr lang="en-US" dirty="0"/>
              <a:t>Olanzapine </a:t>
            </a:r>
          </a:p>
          <a:p>
            <a:r>
              <a:rPr lang="en-US" dirty="0"/>
              <a:t>Quetiapine</a:t>
            </a:r>
          </a:p>
          <a:p>
            <a:r>
              <a:rPr lang="en-US" dirty="0"/>
              <a:t>Aripiprazole</a:t>
            </a:r>
          </a:p>
          <a:p>
            <a:r>
              <a:rPr lang="en-US" dirty="0"/>
              <a:t>Ziprasidone</a:t>
            </a:r>
          </a:p>
          <a:p>
            <a:r>
              <a:rPr lang="en-US" dirty="0"/>
              <a:t>Clozapine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8193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96A1-C18F-4D95-B5C0-EF794DD0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557"/>
            <a:ext cx="10515600" cy="52050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C224D-7394-657F-56B3-1FB9F1FE9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200"/>
            <a:ext cx="10515600" cy="5084763"/>
          </a:xfrm>
        </p:spPr>
        <p:txBody>
          <a:bodyPr/>
          <a:lstStyle/>
          <a:p>
            <a:r>
              <a:rPr lang="en-US" b="1" dirty="0"/>
              <a:t>Mood stabilizers (e.g., lithium carbonate, valproate)</a:t>
            </a:r>
            <a:br>
              <a:rPr lang="en-US" dirty="0"/>
            </a:br>
            <a:r>
              <a:rPr lang="en-US" dirty="0"/>
              <a:t>- These medications are  used in conjunction with antipsychotics</a:t>
            </a:r>
          </a:p>
          <a:p>
            <a:pPr marL="0" indent="0">
              <a:buNone/>
            </a:pPr>
            <a:r>
              <a:rPr lang="en-US" dirty="0"/>
              <a:t>   - To manage mood symptoms and stabilize mood fluctuations in </a:t>
            </a:r>
          </a:p>
          <a:p>
            <a:pPr marL="0" indent="0">
              <a:buNone/>
            </a:pPr>
            <a:r>
              <a:rPr lang="en-US" dirty="0"/>
              <a:t>     individuals with schizophrenia.</a:t>
            </a:r>
          </a:p>
        </p:txBody>
      </p:sp>
    </p:spTree>
    <p:extLst>
      <p:ext uri="{BB962C8B-B14F-4D97-AF65-F5344CB8AC3E}">
        <p14:creationId xmlns:p14="http://schemas.microsoft.com/office/powerpoint/2010/main" val="117930961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FBAD-9533-E6ED-DDBC-1346B767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2293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+mn-lt"/>
              </a:rPr>
              <a:t>Summary: Nursing care and management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B432-35D3-0856-67FB-5852F2348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1"/>
            <a:ext cx="10515600" cy="501318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Ensure safety of the patient and others. Remove all dangerous objects from surrounding.</a:t>
            </a:r>
          </a:p>
          <a:p>
            <a:pPr algn="just"/>
            <a:r>
              <a:rPr lang="en-US" dirty="0"/>
              <a:t>Protect the patient during acute episodes from absconding and suicide attempts</a:t>
            </a:r>
          </a:p>
          <a:p>
            <a:pPr algn="just"/>
            <a:r>
              <a:rPr lang="en-US" dirty="0"/>
              <a:t>Administer prescribed antipsychotics  and note the progress and side effects</a:t>
            </a:r>
          </a:p>
          <a:p>
            <a:pPr algn="just"/>
            <a:r>
              <a:rPr lang="en-US" dirty="0"/>
              <a:t>Provide less stimulating environment e.g. dim light, less noise and comfortable bed.</a:t>
            </a:r>
          </a:p>
          <a:p>
            <a:pPr algn="just"/>
            <a:r>
              <a:rPr lang="en-US" dirty="0"/>
              <a:t>Approach the patient with calmness, empathy and gentle eye contact.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58194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9075-D357-8108-037D-99540B1B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167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CCAF2-C358-9336-C637-C3C686CB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126"/>
            <a:ext cx="10515600" cy="564774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Observe the patient behavior frequently and note any changes.</a:t>
            </a:r>
          </a:p>
          <a:p>
            <a:pPr algn="just"/>
            <a:r>
              <a:rPr lang="en-US" dirty="0"/>
              <a:t>Provide a structured environment with scheduled routine activities of daily living</a:t>
            </a:r>
          </a:p>
          <a:p>
            <a:pPr algn="just"/>
            <a:r>
              <a:rPr lang="en-US" dirty="0"/>
              <a:t>Apply mechanical restraints safely if there is a justified need. </a:t>
            </a:r>
          </a:p>
          <a:p>
            <a:pPr algn="just"/>
            <a:r>
              <a:rPr lang="en-US" dirty="0"/>
              <a:t>Mechanical restraints applied too tightly may impair circulation.</a:t>
            </a:r>
          </a:p>
          <a:p>
            <a:pPr algn="just"/>
            <a:r>
              <a:rPr lang="en-US" dirty="0"/>
              <a:t>Assess the nature and severity of hallucinations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21534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76C8B-6A9F-2BF3-F790-627F08A6A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56"/>
            <a:ext cx="10515600" cy="26323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FC0E-8241-DFFA-2DAC-A0EAC64C7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726"/>
            <a:ext cx="10515600" cy="5763491"/>
          </a:xfrm>
        </p:spPr>
        <p:txBody>
          <a:bodyPr/>
          <a:lstStyle/>
          <a:p>
            <a:pPr algn="just"/>
            <a:r>
              <a:rPr lang="en-US" dirty="0"/>
              <a:t>Distract the patient from delusions that tend to exacerbate aggressive or potentially violent episodes. </a:t>
            </a:r>
          </a:p>
          <a:p>
            <a:pPr algn="just"/>
            <a:r>
              <a:rPr lang="en-US" dirty="0"/>
              <a:t>Distraction can be done by engaging patient in constructive activities.</a:t>
            </a:r>
          </a:p>
          <a:p>
            <a:pPr algn="just"/>
            <a:r>
              <a:rPr lang="en-US" dirty="0"/>
              <a:t>Encourage the patient to express feelings as much as possible.</a:t>
            </a:r>
          </a:p>
          <a:p>
            <a:pPr algn="just"/>
            <a:r>
              <a:rPr lang="en-US" dirty="0"/>
              <a:t>Provide food and fluid to the patient to meet the physiological needs of the body.</a:t>
            </a:r>
          </a:p>
          <a:p>
            <a:pPr algn="just"/>
            <a:r>
              <a:rPr lang="en-US" dirty="0"/>
              <a:t>Provide assistance with self care activities as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7145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3C9B-FBBD-6943-78A7-BF077E81D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24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7C0D7-2A91-634F-15A1-88E306575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603"/>
            <a:ext cx="10515600" cy="5220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Reference:</a:t>
            </a:r>
          </a:p>
          <a:p>
            <a:r>
              <a:rPr lang="en-US" dirty="0"/>
              <a:t>Paul Martin 2023.. </a:t>
            </a:r>
            <a:r>
              <a:rPr lang="en-US" b="1" dirty="0"/>
              <a:t>6 Schizophrenia Nursing Care Plans. </a:t>
            </a:r>
            <a:r>
              <a:rPr lang="en-US" i="1" dirty="0" err="1"/>
              <a:t>Nurseslabs</a:t>
            </a:r>
            <a:endParaRPr lang="en-US" i="1" dirty="0"/>
          </a:p>
          <a:p>
            <a:r>
              <a:rPr lang="en-US" dirty="0">
                <a:hlinkClick r:id="rId2"/>
              </a:rPr>
              <a:t>https://nurseslabs.com/schizophrenia-nursing-care-plans/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9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2126</TotalTime>
  <Words>6303</Words>
  <Application>Microsoft Office PowerPoint</Application>
  <PresentationFormat>Widescreen</PresentationFormat>
  <Paragraphs>752</Paragraphs>
  <Slides>118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25" baseType="lpstr">
      <vt:lpstr>Arial</vt:lpstr>
      <vt:lpstr>Bahnschrift SemiBold</vt:lpstr>
      <vt:lpstr>Calibri</vt:lpstr>
      <vt:lpstr>Calibri Light</vt:lpstr>
      <vt:lpstr>Symbol</vt:lpstr>
      <vt:lpstr>Times New Roman</vt:lpstr>
      <vt:lpstr>Office Theme</vt:lpstr>
      <vt:lpstr>Schizophrenia Spectrum and other Psychotic Disorders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DSM IV: Schizophrenia Subtypes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Objectives</vt:lpstr>
      <vt:lpstr> SCHIZOPHRENIA </vt:lpstr>
      <vt:lpstr>PowerPoint Presentation</vt:lpstr>
      <vt:lpstr>Pathophysiology</vt:lpstr>
      <vt:lpstr>Theories of Causation of Schizophrenia</vt:lpstr>
      <vt:lpstr>PowerPoint Presentation</vt:lpstr>
      <vt:lpstr>PowerPoint Presentation</vt:lpstr>
      <vt:lpstr>PowerPoint Presentation</vt:lpstr>
      <vt:lpstr>PowerPoint Presentation</vt:lpstr>
      <vt:lpstr>Fundamental Signs and Symptoms of Schizophrenia</vt:lpstr>
      <vt:lpstr>Schneider's first rank symptoms of schizophrenia</vt:lpstr>
      <vt:lpstr>The Symptoms of Schizophrenia </vt:lpstr>
      <vt:lpstr> 1. Positive or hard symptoms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2. Negative or soft symptoms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Management of Schizophrenia</vt:lpstr>
      <vt:lpstr>PowerPoint Presentation</vt:lpstr>
      <vt:lpstr>PowerPoint Presentation</vt:lpstr>
      <vt:lpstr>PowerPoint Presentation</vt:lpstr>
      <vt:lpstr>Management of Schizophrenia</vt:lpstr>
      <vt:lpstr>PowerPoint Presentation</vt:lpstr>
      <vt:lpstr>PowerPoint Presentation</vt:lpstr>
      <vt:lpstr>PowerPoint Presentation</vt:lpstr>
      <vt:lpstr>PowerPoint Presentation</vt:lpstr>
      <vt:lpstr> Nursing Care and Management </vt:lpstr>
      <vt:lpstr>PowerPoint Presentation</vt:lpstr>
      <vt:lpstr>PowerPoint Presentation</vt:lpstr>
      <vt:lpstr>PowerPoint Presentation</vt:lpstr>
      <vt:lpstr> Nursing Interventions and Actions </vt:lpstr>
      <vt:lpstr>PowerPoint Presentation</vt:lpstr>
      <vt:lpstr>PowerPoint Presentation</vt:lpstr>
      <vt:lpstr>PowerPoint Presentation</vt:lpstr>
      <vt:lpstr>PowerPoint Presentation</vt:lpstr>
      <vt:lpstr> 2. Establishing Therapeutic Relationships and Promoting Therapeutic Communication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Summary: Nursing care and management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SCHIZOPHRENIA</dc:title>
  <dc:creator>hp</dc:creator>
  <cp:lastModifiedBy>hp</cp:lastModifiedBy>
  <cp:revision>41</cp:revision>
  <dcterms:created xsi:type="dcterms:W3CDTF">2023-06-13T02:58:55Z</dcterms:created>
  <dcterms:modified xsi:type="dcterms:W3CDTF">2024-01-25T07:39:29Z</dcterms:modified>
</cp:coreProperties>
</file>