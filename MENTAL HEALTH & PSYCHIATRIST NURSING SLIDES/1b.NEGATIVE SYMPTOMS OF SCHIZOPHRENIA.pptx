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11" Type="http://schemas.openxmlformats.org/officeDocument/2006/relationships/slide" Target="slides/slide8.xml"/><Relationship Id="rId22" Type="http://schemas.openxmlformats.org/officeDocument/2006/relationships/slide" Target="slides/slide19.xml"/><Relationship Id="rId10" Type="http://schemas.openxmlformats.org/officeDocument/2006/relationships/slide" Target="slides/slide7.xml"/><Relationship Id="rId21" Type="http://schemas.openxmlformats.org/officeDocument/2006/relationships/slide" Target="slides/slide18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7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9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4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4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8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5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8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4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4B258-C04B-4D39-85C6-F69F9DD8286A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10B60-4BA1-4290-8456-BF4FF2B5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9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NEGATIVE SYMPTOMS OF SCHIZOPHRENIA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35563"/>
          </a:xfrm>
        </p:spPr>
        <p:txBody>
          <a:bodyPr>
            <a:normAutofit fontScale="70000" lnSpcReduction="20000"/>
          </a:bodyPr>
          <a:lstStyle/>
          <a:p>
            <a:pPr>
              <a:buBlip>
                <a:blip r:embed="rId2"/>
              </a:buBlip>
            </a:pPr>
            <a:r>
              <a:rPr lang="en-US" sz="3600" dirty="0"/>
              <a:t>The </a:t>
            </a:r>
            <a:r>
              <a:rPr lang="en-US" sz="3600" b="1" dirty="0"/>
              <a:t>negative symptoms </a:t>
            </a:r>
            <a:r>
              <a:rPr lang="en-US" sz="3600" dirty="0"/>
              <a:t>of schizophrenia are more subtle and are the most damaging to the client’s quality of life.</a:t>
            </a:r>
          </a:p>
          <a:p>
            <a:pPr marL="0" indent="0">
              <a:buNone/>
            </a:pPr>
            <a:r>
              <a:rPr lang="en-US" sz="3600" dirty="0"/>
              <a:t>They are</a:t>
            </a:r>
            <a:r>
              <a:rPr lang="en-US" sz="3600" dirty="0">
                <a:sym typeface="Wingdings" pitchFamily="2" charset="2"/>
              </a:rPr>
              <a:t>:-(5As)</a:t>
            </a:r>
            <a:endParaRPr lang="en-ZA" sz="3600" dirty="0"/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Affective flattening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Alogia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Avolition/apathy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 smtClean="0"/>
              <a:t>Anhedonia/</a:t>
            </a:r>
            <a:r>
              <a:rPr lang="en-ZA" sz="3600" dirty="0" err="1" smtClean="0"/>
              <a:t>associality</a:t>
            </a:r>
            <a:endParaRPr lang="en-ZA" sz="3600" dirty="0"/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Attention deficit</a:t>
            </a:r>
          </a:p>
          <a:p>
            <a:endParaRPr lang="en-US" sz="3600" dirty="0"/>
          </a:p>
          <a:p>
            <a:pPr>
              <a:buBlip>
                <a:blip r:embed="rId2"/>
              </a:buBlip>
            </a:pPr>
            <a:r>
              <a:rPr lang="en-US" sz="3600" dirty="0"/>
              <a:t>The symptoms of schizophrenia usually become apparent during adolescence or early adulthood (15-25 for men, 25-35 for women). </a:t>
            </a:r>
          </a:p>
          <a:p>
            <a:pPr>
              <a:buBlip>
                <a:blip r:embed="rId2"/>
              </a:buBlip>
            </a:pPr>
            <a:r>
              <a:rPr lang="en-US" sz="3600" dirty="0"/>
              <a:t>Paranoid schizophrenia has a later onset.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65125"/>
            <a:ext cx="11455400" cy="6149975"/>
          </a:xfrm>
        </p:spPr>
      </p:pic>
    </p:spTree>
    <p:extLst>
      <p:ext uri="{BB962C8B-B14F-4D97-AF65-F5344CB8AC3E}">
        <p14:creationId xmlns:p14="http://schemas.microsoft.com/office/powerpoint/2010/main" val="242540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AVOLITION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6" y="1460938"/>
            <a:ext cx="9354207" cy="4803228"/>
          </a:xfrm>
        </p:spPr>
      </p:pic>
    </p:spTree>
    <p:extLst>
      <p:ext uri="{BB962C8B-B14F-4D97-AF65-F5344CB8AC3E}">
        <p14:creationId xmlns:p14="http://schemas.microsoft.com/office/powerpoint/2010/main" val="329895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99" y="0"/>
            <a:ext cx="10516518" cy="54927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Algerian" panose="04020705040A02060702" pitchFamily="82" charset="0"/>
              </a:rPr>
              <a:t>AVOLITION</a:t>
            </a:r>
            <a:endParaRPr lang="en-US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83" y="638979"/>
            <a:ext cx="10502900" cy="6318172"/>
          </a:xfrm>
        </p:spPr>
      </p:pic>
    </p:spTree>
    <p:extLst>
      <p:ext uri="{BB962C8B-B14F-4D97-AF65-F5344CB8AC3E}">
        <p14:creationId xmlns:p14="http://schemas.microsoft.com/office/powerpoint/2010/main" val="410284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248" y="-88135"/>
            <a:ext cx="10538552" cy="90338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Algerian" panose="04020705040A02060702" pitchFamily="82" charset="0"/>
              </a:rPr>
              <a:t>AVOLITION CONT…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649995"/>
            <a:ext cx="11531600" cy="5420606"/>
          </a:xfrm>
        </p:spPr>
      </p:pic>
    </p:spTree>
    <p:extLst>
      <p:ext uri="{BB962C8B-B14F-4D97-AF65-F5344CB8AC3E}">
        <p14:creationId xmlns:p14="http://schemas.microsoft.com/office/powerpoint/2010/main" val="9642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7" y="112295"/>
            <a:ext cx="11983453" cy="5759116"/>
          </a:xfrm>
        </p:spPr>
      </p:pic>
    </p:spTree>
    <p:extLst>
      <p:ext uri="{BB962C8B-B14F-4D97-AF65-F5344CB8AC3E}">
        <p14:creationId xmlns:p14="http://schemas.microsoft.com/office/powerpoint/2010/main" val="111744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153"/>
            <a:ext cx="10515599" cy="837281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ANHEDONIA</a:t>
            </a:r>
            <a:endParaRPr lang="en-US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936434"/>
            <a:ext cx="9110030" cy="6346682"/>
          </a:xfrm>
        </p:spPr>
      </p:pic>
    </p:spTree>
    <p:extLst>
      <p:ext uri="{BB962C8B-B14F-4D97-AF65-F5344CB8AC3E}">
        <p14:creationId xmlns:p14="http://schemas.microsoft.com/office/powerpoint/2010/main" val="255389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332" y="110169"/>
            <a:ext cx="10483467" cy="969485"/>
          </a:xfrm>
        </p:spPr>
        <p:txBody>
          <a:bodyPr/>
          <a:lstStyle/>
          <a:p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ANNEHEDONIA cont.…</a:t>
            </a:r>
            <a:endParaRPr lang="en-US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90" y="1079654"/>
            <a:ext cx="10824410" cy="5960123"/>
          </a:xfrm>
        </p:spPr>
      </p:pic>
    </p:spTree>
    <p:extLst>
      <p:ext uri="{BB962C8B-B14F-4D97-AF65-F5344CB8AC3E}">
        <p14:creationId xmlns:p14="http://schemas.microsoft.com/office/powerpoint/2010/main" val="87532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98" y="110169"/>
            <a:ext cx="10571602" cy="980501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lgerian" panose="04020705040A02060702" pitchFamily="82" charset="0"/>
              </a:rPr>
              <a:t>ANNEHEDONIA cont.…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99" y="1013553"/>
            <a:ext cx="11277599" cy="5844447"/>
          </a:xfrm>
        </p:spPr>
      </p:pic>
    </p:spTree>
    <p:extLst>
      <p:ext uri="{BB962C8B-B14F-4D97-AF65-F5344CB8AC3E}">
        <p14:creationId xmlns:p14="http://schemas.microsoft.com/office/powerpoint/2010/main" val="113147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82" y="1"/>
            <a:ext cx="10516518" cy="93643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lgerian" panose="04020705040A02060702" pitchFamily="82" charset="0"/>
              </a:rPr>
              <a:t>ANNEHEDONIA cont.…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2" y="694063"/>
            <a:ext cx="11085094" cy="6163937"/>
          </a:xfrm>
        </p:spPr>
      </p:pic>
    </p:spTree>
    <p:extLst>
      <p:ext uri="{BB962C8B-B14F-4D97-AF65-F5344CB8AC3E}">
        <p14:creationId xmlns:p14="http://schemas.microsoft.com/office/powerpoint/2010/main" val="310348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93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lgerian" panose="04020705040A02060702" pitchFamily="82" charset="0"/>
              </a:rPr>
              <a:t>ANNEHEDONIA cont.…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83046"/>
            <a:ext cx="10190018" cy="5814735"/>
          </a:xfrm>
        </p:spPr>
      </p:pic>
    </p:spTree>
    <p:extLst>
      <p:ext uri="{BB962C8B-B14F-4D97-AF65-F5344CB8AC3E}">
        <p14:creationId xmlns:p14="http://schemas.microsoft.com/office/powerpoint/2010/main" val="303668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118"/>
            <a:ext cx="10515600" cy="881350"/>
          </a:xfrm>
        </p:spPr>
        <p:txBody>
          <a:bodyPr>
            <a:normAutofit/>
          </a:bodyPr>
          <a:lstStyle/>
          <a:p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AFFECTIVE FLATENING</a:t>
            </a:r>
            <a:endParaRPr lang="en-US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09" y="837282"/>
            <a:ext cx="9442938" cy="6020718"/>
          </a:xfrm>
        </p:spPr>
      </p:pic>
    </p:spTree>
    <p:extLst>
      <p:ext uri="{BB962C8B-B14F-4D97-AF65-F5344CB8AC3E}">
        <p14:creationId xmlns:p14="http://schemas.microsoft.com/office/powerpoint/2010/main" val="217179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4"/>
            <a:ext cx="10515600" cy="6492875"/>
          </a:xfrm>
        </p:spPr>
      </p:pic>
    </p:spTree>
    <p:extLst>
      <p:ext uri="{BB962C8B-B14F-4D97-AF65-F5344CB8AC3E}">
        <p14:creationId xmlns:p14="http://schemas.microsoft.com/office/powerpoint/2010/main" val="686114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74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AFFECTIVE FLATENING CONT…</a:t>
            </a:r>
            <a:endParaRPr lang="en-US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02536"/>
            <a:ext cx="10515600" cy="5657161"/>
          </a:xfrm>
        </p:spPr>
      </p:pic>
    </p:spTree>
    <p:extLst>
      <p:ext uri="{BB962C8B-B14F-4D97-AF65-F5344CB8AC3E}">
        <p14:creationId xmlns:p14="http://schemas.microsoft.com/office/powerpoint/2010/main" val="4188579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248" y="1"/>
            <a:ext cx="10538552" cy="55084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Algerian" panose="04020705040A02060702" pitchFamily="82" charset="0"/>
              </a:rPr>
              <a:t>AFFECTIVE FLATENING CONT…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66" y="462709"/>
            <a:ext cx="10664327" cy="6090492"/>
          </a:xfrm>
        </p:spPr>
      </p:pic>
    </p:spTree>
    <p:extLst>
      <p:ext uri="{BB962C8B-B14F-4D97-AF65-F5344CB8AC3E}">
        <p14:creationId xmlns:p14="http://schemas.microsoft.com/office/powerpoint/2010/main" val="387961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187"/>
            <a:ext cx="10515600" cy="947450"/>
          </a:xfrm>
        </p:spPr>
        <p:txBody>
          <a:bodyPr/>
          <a:lstStyle/>
          <a:p>
            <a:r>
              <a:rPr lang="en-US" dirty="0" smtClean="0"/>
              <a:t>   </a:t>
            </a:r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APATHY/ ATTENTION  </a:t>
            </a:r>
            <a:r>
              <a:rPr lang="en-US" dirty="0" smtClean="0">
                <a:solidFill>
                  <a:srgbClr val="C00000"/>
                </a:solidFill>
                <a:latin typeface="Algerian" panose="04020705040A02060702" pitchFamily="82" charset="0"/>
              </a:rPr>
              <a:t>DEFICIT</a:t>
            </a:r>
            <a:endParaRPr lang="en-US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47451"/>
            <a:ext cx="9742715" cy="5910549"/>
          </a:xfrm>
        </p:spPr>
      </p:pic>
    </p:spTree>
    <p:extLst>
      <p:ext uri="{BB962C8B-B14F-4D97-AF65-F5344CB8AC3E}">
        <p14:creationId xmlns:p14="http://schemas.microsoft.com/office/powerpoint/2010/main" val="284534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ATTENTION  DEFICIT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678886" cy="5668055"/>
          </a:xfrm>
        </p:spPr>
      </p:pic>
    </p:spTree>
    <p:extLst>
      <p:ext uri="{BB962C8B-B14F-4D97-AF65-F5344CB8AC3E}">
        <p14:creationId xmlns:p14="http://schemas.microsoft.com/office/powerpoint/2010/main" val="1792792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ALOGIA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06286"/>
            <a:ext cx="9808029" cy="5551714"/>
          </a:xfrm>
        </p:spPr>
      </p:pic>
    </p:spTree>
    <p:extLst>
      <p:ext uri="{BB962C8B-B14F-4D97-AF65-F5344CB8AC3E}">
        <p14:creationId xmlns:p14="http://schemas.microsoft.com/office/powerpoint/2010/main" val="371715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4"/>
            <a:ext cx="10765970" cy="6797675"/>
          </a:xfrm>
        </p:spPr>
      </p:pic>
    </p:spTree>
    <p:extLst>
      <p:ext uri="{BB962C8B-B14F-4D97-AF65-F5344CB8AC3E}">
        <p14:creationId xmlns:p14="http://schemas.microsoft.com/office/powerpoint/2010/main" val="1445605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3" y="365125"/>
            <a:ext cx="10241281" cy="6492874"/>
          </a:xfrm>
        </p:spPr>
      </p:pic>
    </p:spTree>
    <p:extLst>
      <p:ext uri="{BB962C8B-B14F-4D97-AF65-F5344CB8AC3E}">
        <p14:creationId xmlns:p14="http://schemas.microsoft.com/office/powerpoint/2010/main" val="223961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