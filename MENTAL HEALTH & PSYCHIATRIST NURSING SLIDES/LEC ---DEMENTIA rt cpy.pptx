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38"/>
  </p:notesMasterIdLst>
  <p:handoutMasterIdLst>
    <p:handoutMasterId r:id="rId39"/>
  </p:handoutMasterIdLst>
  <p:sldIdLst>
    <p:sldId id="315" r:id="rId2"/>
    <p:sldId id="316" r:id="rId3"/>
    <p:sldId id="318" r:id="rId4"/>
    <p:sldId id="259" r:id="rId5"/>
    <p:sldId id="291" r:id="rId6"/>
    <p:sldId id="324" r:id="rId7"/>
    <p:sldId id="292" r:id="rId8"/>
    <p:sldId id="298" r:id="rId9"/>
    <p:sldId id="261" r:id="rId10"/>
    <p:sldId id="293" r:id="rId11"/>
    <p:sldId id="294" r:id="rId12"/>
    <p:sldId id="296" r:id="rId13"/>
    <p:sldId id="260" r:id="rId14"/>
    <p:sldId id="297" r:id="rId15"/>
    <p:sldId id="319" r:id="rId16"/>
    <p:sldId id="262" r:id="rId17"/>
    <p:sldId id="265" r:id="rId18"/>
    <p:sldId id="302" r:id="rId19"/>
    <p:sldId id="266" r:id="rId20"/>
    <p:sldId id="268" r:id="rId21"/>
    <p:sldId id="263" r:id="rId22"/>
    <p:sldId id="320" r:id="rId23"/>
    <p:sldId id="264" r:id="rId24"/>
    <p:sldId id="269" r:id="rId25"/>
    <p:sldId id="270" r:id="rId26"/>
    <p:sldId id="321" r:id="rId27"/>
    <p:sldId id="283" r:id="rId28"/>
    <p:sldId id="282" r:id="rId29"/>
    <p:sldId id="285" r:id="rId30"/>
    <p:sldId id="286" r:id="rId31"/>
    <p:sldId id="322" r:id="rId32"/>
    <p:sldId id="287" r:id="rId33"/>
    <p:sldId id="288" r:id="rId34"/>
    <p:sldId id="312" r:id="rId35"/>
    <p:sldId id="289" r:id="rId36"/>
    <p:sldId id="323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05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93F11-6530-49A8-B99C-D8AF1E2DC08B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73797-09E5-446E-919F-E1DAFB2B5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331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FE126-9BB3-4BD8-BF91-9FFB88EFCE37}" type="datetimeFigureOut">
              <a:rPr lang="en-US" smtClean="0"/>
              <a:t>2/23/2020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FE589-2846-4518-AD39-3F467ABE4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7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</a:t>
            </a:r>
            <a:r>
              <a:rPr lang="en-US" baseline="0" dirty="0"/>
              <a:t> to recognize that memory decline in itself is not enough to indicate a diagnosis of dementia.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FE589-2846-4518-AD39-3F467ABE47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60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FE589-2846-4518-AD39-3F467ABE47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2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FE589-2846-4518-AD39-3F467ABE47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0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30081F79-37EE-4883-9B4E-BA59823C9EAF}" type="datetime1">
              <a:rPr lang="en-US" altLang="en-US" smtClean="0">
                <a:latin typeface="Times New Roman" pitchFamily="18" charset="0"/>
              </a:rPr>
              <a:pPr/>
              <a:t>2/23/2020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3CBEFA87-5457-44E0-98A3-3D0C8C952306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600">
                <a:ea typeface="ＭＳ Ｐゴシック" pitchFamily="34" charset="-128"/>
              </a:rPr>
              <a:t>Here are  a few examples of the Clock Drawing Test. </a:t>
            </a:r>
          </a:p>
          <a:p>
            <a:endParaRPr lang="en-US" altLang="en-US" sz="1600">
              <a:ea typeface="ＭＳ Ｐゴシック" pitchFamily="34" charset="-128"/>
            </a:endParaRPr>
          </a:p>
          <a:p>
            <a:r>
              <a:rPr lang="en-US" altLang="en-US" sz="1600">
                <a:ea typeface="ＭＳ Ｐゴシック" pitchFamily="34" charset="-128"/>
              </a:rPr>
              <a:t>The clock on the left would be considered abnormal due the assymmetry of the digits on the clock.</a:t>
            </a:r>
          </a:p>
          <a:p>
            <a:endParaRPr lang="en-US" altLang="en-US" sz="1600">
              <a:ea typeface="ＭＳ Ｐゴシック" pitchFamily="34" charset="-128"/>
            </a:endParaRPr>
          </a:p>
          <a:p>
            <a:r>
              <a:rPr lang="en-US" altLang="en-US" sz="1600">
                <a:ea typeface="ＭＳ Ｐゴシック" pitchFamily="34" charset="-128"/>
              </a:rPr>
              <a:t>The one on the right shows a more severe impairment.</a:t>
            </a:r>
          </a:p>
          <a:p>
            <a:endParaRPr lang="en-US" altLang="en-US" sz="1600">
              <a:ea typeface="ＭＳ Ｐゴシック" pitchFamily="34" charset="-128"/>
            </a:endParaRPr>
          </a:p>
          <a:p>
            <a:r>
              <a:rPr lang="en-US" altLang="en-US" sz="1600">
                <a:ea typeface="ＭＳ Ｐゴシック" pitchFamily="34" charset="-128"/>
              </a:rPr>
              <a:t>Neither of these would be considered </a:t>
            </a:r>
            <a:r>
              <a:rPr lang="ja-JP" altLang="en-US" sz="1600">
                <a:ea typeface="ＭＳ Ｐゴシック" pitchFamily="34" charset="-128"/>
              </a:rPr>
              <a:t>“</a:t>
            </a:r>
            <a:r>
              <a:rPr lang="en-US" altLang="ja-JP" sz="1600">
                <a:ea typeface="ＭＳ Ｐゴシック" pitchFamily="34" charset="-128"/>
              </a:rPr>
              <a:t>normal</a:t>
            </a:r>
            <a:r>
              <a:rPr lang="ja-JP" altLang="en-US" sz="1600">
                <a:ea typeface="ＭＳ Ｐゴシック" pitchFamily="34" charset="-128"/>
              </a:rPr>
              <a:t>”</a:t>
            </a:r>
            <a:endParaRPr lang="en-US" alt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unmet psychological need for</a:t>
            </a:r>
            <a:r>
              <a:rPr lang="en-US" baseline="0" dirty="0"/>
              <a:t> increased social contact, environmental exposures to violence,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FE589-2846-4518-AD39-3F467ABE47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53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9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6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0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6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0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5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4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5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00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February 23,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8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February 23,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1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4A8D-38C2-4110-921F-421BB8755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447801"/>
            <a:ext cx="8839200" cy="1523999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C00000"/>
                </a:solidFill>
              </a:rPr>
              <a:t>NEUROCOGNITIVE DISORDERS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D508-864C-4F68-AA7A-4958FAD3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14800"/>
            <a:ext cx="6400800" cy="1523999"/>
          </a:xfrm>
        </p:spPr>
        <p:txBody>
          <a:bodyPr>
            <a:normAutofit/>
          </a:bodyPr>
          <a:lstStyle/>
          <a:p>
            <a:r>
              <a:rPr lang="en-US" sz="3600" b="1" dirty="0"/>
              <a:t>DEMENTIA</a:t>
            </a:r>
          </a:p>
        </p:txBody>
      </p:sp>
    </p:spTree>
    <p:extLst>
      <p:ext uri="{BB962C8B-B14F-4D97-AF65-F5344CB8AC3E}">
        <p14:creationId xmlns:p14="http://schemas.microsoft.com/office/powerpoint/2010/main" val="154922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94B2-0DD9-41D7-A1C2-E6CC72AD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01E4E-0E4D-4707-9381-A88CB635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534400" cy="5303837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+mj-lt"/>
              </a:rPr>
              <a:t>A global impairment of higher cortical functions including memory, capacity to solve problems of daily living, performance of learned perceptuomotor skills, correct use of social skills and control of emotional reactions. </a:t>
            </a:r>
          </a:p>
          <a:p>
            <a:pPr marL="0" indent="0">
              <a:buNone/>
            </a:pPr>
            <a:r>
              <a:rPr lang="en-US" altLang="en-US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latin typeface="+mj-lt"/>
              </a:rPr>
              <a:t>   - No clouding of consciousness. </a:t>
            </a:r>
          </a:p>
          <a:p>
            <a:pPr marL="0" indent="0">
              <a:buNone/>
            </a:pPr>
            <a:r>
              <a:rPr lang="en-US" altLang="en-US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latin typeface="+mj-lt"/>
              </a:rPr>
              <a:t>  - The course is often irreversible and progressive.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54DFA-4B15-4368-ADE3-F570D946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F475-BD2B-42EB-91EF-7CD8C955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b="1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4E70-5A4B-40E0-9B65-064751816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578475"/>
          </a:xfrm>
        </p:spPr>
        <p:txBody>
          <a:bodyPr/>
          <a:lstStyle/>
          <a:p>
            <a:r>
              <a:rPr lang="en-US" dirty="0"/>
              <a:t>Deriving from Latin (</a:t>
            </a:r>
            <a:r>
              <a:rPr lang="en-US" dirty="0" err="1"/>
              <a:t>demens</a:t>
            </a:r>
            <a:r>
              <a:rPr lang="en-US" dirty="0"/>
              <a:t> – mad)</a:t>
            </a:r>
          </a:p>
          <a:p>
            <a:endParaRPr lang="en-US" dirty="0"/>
          </a:p>
          <a:p>
            <a:r>
              <a:rPr lang="en-US" dirty="0"/>
              <a:t>In psychiatry, used to be termed dementia, now called major neurocognitive disorder</a:t>
            </a:r>
          </a:p>
          <a:p>
            <a:endParaRPr lang="en-US" dirty="0"/>
          </a:p>
          <a:p>
            <a:r>
              <a:rPr lang="en-US" dirty="0"/>
              <a:t>“Early onset” – before the age of 60, often familial, more common for Frontotemporal dementia (FTD)</a:t>
            </a:r>
          </a:p>
          <a:p>
            <a:endParaRPr lang="en-US" dirty="0"/>
          </a:p>
          <a:p>
            <a:r>
              <a:rPr lang="en-US" dirty="0"/>
              <a:t>“Late onset” – after the age of 60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866A0-6EB2-4A1C-8897-89E68DF9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9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Diagnosis: DSM-V Criteria for Major Neurocognitive Disorder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267200" cy="5121275"/>
          </a:xfrm>
        </p:spPr>
        <p:txBody>
          <a:bodyPr>
            <a:noAutofit/>
          </a:bodyPr>
          <a:lstStyle/>
          <a:p>
            <a:pPr marL="514350" indent="-514350">
              <a:buAutoNum type="alphaUcPeriod"/>
            </a:pPr>
            <a:r>
              <a:rPr lang="en-US" sz="3600" dirty="0"/>
              <a:t>Evidence of significant cognitive decline from a previous level of performance in one or more cognitive domains*: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76800" y="1624012"/>
            <a:ext cx="4038600" cy="495935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600" dirty="0"/>
              <a:t>Learning and memory</a:t>
            </a:r>
          </a:p>
          <a:p>
            <a:pPr>
              <a:buFontTx/>
              <a:buChar char="-"/>
            </a:pPr>
            <a:r>
              <a:rPr lang="en-US" sz="3600" dirty="0"/>
              <a:t>Complex attention</a:t>
            </a:r>
          </a:p>
          <a:p>
            <a:pPr>
              <a:buFontTx/>
              <a:buChar char="-"/>
            </a:pPr>
            <a:r>
              <a:rPr lang="en-US" sz="3600" dirty="0"/>
              <a:t>Language</a:t>
            </a:r>
          </a:p>
          <a:p>
            <a:pPr>
              <a:buFontTx/>
              <a:buChar char="-"/>
            </a:pPr>
            <a:r>
              <a:rPr lang="en-US" sz="3600" dirty="0">
                <a:solidFill>
                  <a:srgbClr val="C00000"/>
                </a:solidFill>
              </a:rPr>
              <a:t>Perceptual-motor</a:t>
            </a:r>
          </a:p>
          <a:p>
            <a:pPr>
              <a:buFontTx/>
              <a:buChar char="-"/>
            </a:pPr>
            <a:r>
              <a:rPr lang="en-US" sz="3600" dirty="0"/>
              <a:t>Executive function</a:t>
            </a:r>
          </a:p>
          <a:p>
            <a:pPr>
              <a:buFontTx/>
              <a:buChar char="-"/>
            </a:pPr>
            <a:r>
              <a:rPr lang="en-US" sz="3600" dirty="0"/>
              <a:t>Social cognition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2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143000"/>
          </a:xfrm>
        </p:spPr>
        <p:txBody>
          <a:bodyPr>
            <a:noAutofit/>
          </a:bodyPr>
          <a:lstStyle/>
          <a:p>
            <a:r>
              <a:rPr lang="en-US" sz="2800" b="1" dirty="0"/>
              <a:t>DSM-V Criteria for Major Neurocognitive Disorder cont.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417638"/>
            <a:ext cx="8534400" cy="5303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B. </a:t>
            </a:r>
            <a:r>
              <a:rPr lang="en-US" sz="3600" dirty="0"/>
              <a:t>The cognitive deficits interfere with independence in everyday activities.</a:t>
            </a:r>
          </a:p>
          <a:p>
            <a:pPr marL="0" indent="0">
              <a:buNone/>
            </a:pPr>
            <a:r>
              <a:rPr lang="en-US" sz="3600" dirty="0"/>
              <a:t> </a:t>
            </a:r>
          </a:p>
          <a:p>
            <a:pPr marL="0" indent="0">
              <a:buNone/>
            </a:pPr>
            <a:r>
              <a:rPr lang="en-US" sz="3600" dirty="0"/>
              <a:t>At a minimum, assistance should be required with complex instrumental activities of daily living, such as paying bills or managing medications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0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0031-21F4-4824-8CC8-335716BB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DSM-V Criteria for Major Neurocognitive Disorder 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50F8-0A3C-4D41-8C47-21EF4118E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36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C. </a:t>
            </a:r>
            <a:r>
              <a:rPr lang="en-US" sz="3600" dirty="0"/>
              <a:t>The cognitive deficits don’t occur exclusively in the context of a delirium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D. </a:t>
            </a:r>
            <a:r>
              <a:rPr lang="en-US" sz="3600" dirty="0"/>
              <a:t>The cognitive deficits aren’t better explained by another mental disorder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04FFC-7479-470B-B369-1C8A9798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DSM-V Criteria for Major Neurocognitive Disorder cont.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1219200"/>
            <a:ext cx="8534400" cy="5867400"/>
          </a:xfrm>
        </p:spPr>
        <p:txBody>
          <a:bodyPr>
            <a:normAutofit/>
          </a:bodyPr>
          <a:lstStyle/>
          <a:p>
            <a:r>
              <a:rPr lang="en-US" sz="3600" dirty="0"/>
              <a:t>* Evidence of decline is based on: concern of the individual, a knowledgeable informant, or the clinician that there has been a significant decline in cognitive function and a substantial impairment in cognitive performance, preferably documented by standardized neuropsychological testing or in its absence another quantified clinical assessment.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4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Subtypes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/>
              <a:t>“Early onset” – before the age of 60, often familial, more common for </a:t>
            </a:r>
            <a:r>
              <a:rPr lang="en-US" dirty="0" err="1"/>
              <a:t>Frontotemporal</a:t>
            </a:r>
            <a:r>
              <a:rPr lang="en-US" dirty="0"/>
              <a:t> dementia (FTD)</a:t>
            </a:r>
          </a:p>
          <a:p>
            <a:pPr lvl="1"/>
            <a:r>
              <a:rPr lang="en-US" sz="3200" dirty="0"/>
              <a:t>Strong genetic link</a:t>
            </a:r>
          </a:p>
          <a:p>
            <a:pPr lvl="1"/>
            <a:r>
              <a:rPr lang="en-US" sz="3200" dirty="0"/>
              <a:t>Tends to progress more rapidly</a:t>
            </a:r>
          </a:p>
          <a:p>
            <a:pPr lvl="1"/>
            <a:endParaRPr lang="en-US" sz="3200" dirty="0"/>
          </a:p>
          <a:p>
            <a:r>
              <a:rPr lang="en-US" dirty="0"/>
              <a:t>“Late onset” – after the age of 60</a:t>
            </a:r>
          </a:p>
          <a:p>
            <a:pPr lvl="1"/>
            <a:r>
              <a:rPr lang="en-US" sz="3200" dirty="0"/>
              <a:t>Represents majority of cases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6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6525"/>
            <a:ext cx="8385048" cy="12811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Common syndromes encountered in dementia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1752" y="1527047"/>
            <a:ext cx="8613648" cy="519442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1. Memory impairment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2. At least one of the following: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dirty="0" smtClean="0">
                <a:solidFill>
                  <a:srgbClr val="FF0000"/>
                </a:solidFill>
              </a:rPr>
              <a:t>Aphasia-inability to understand or use language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 dirty="0" smtClean="0">
                <a:solidFill>
                  <a:srgbClr val="FF0000"/>
                </a:solidFill>
              </a:rPr>
              <a:t>Apraxia-inability to make purposeful </a:t>
            </a:r>
            <a:r>
              <a:rPr lang="en-US" altLang="en-US" sz="2000" b="1" smtClean="0">
                <a:solidFill>
                  <a:srgbClr val="FF0000"/>
                </a:solidFill>
              </a:rPr>
              <a:t>movt/motor activities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 dirty="0" smtClean="0">
                <a:solidFill>
                  <a:srgbClr val="FF0000"/>
                </a:solidFill>
              </a:rPr>
              <a:t>Agnosia-inability to recognize objects by use of senses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solidFill>
                  <a:srgbClr val="0070C0"/>
                </a:solidFill>
              </a:rPr>
              <a:t>Disturbance in executive functioning</a:t>
            </a:r>
            <a:r>
              <a:rPr lang="en-US" sz="2000" b="1" dirty="0">
                <a:solidFill>
                  <a:srgbClr val="0070C0"/>
                </a:solidFill>
              </a:rPr>
              <a:t>: </a:t>
            </a:r>
            <a:r>
              <a:rPr lang="en-US" sz="2000" dirty="0">
                <a:solidFill>
                  <a:srgbClr val="0070C0"/>
                </a:solidFill>
              </a:rPr>
              <a:t>difficulty with planning, initiating, sequencing, monitoring, or stopping complex behaviors</a:t>
            </a:r>
            <a:endParaRPr lang="en-US" altLang="en-US" sz="2000" b="1" dirty="0">
              <a:solidFill>
                <a:srgbClr val="0070C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b="1" dirty="0">
                <a:solidFill>
                  <a:srgbClr val="00B050"/>
                </a:solidFill>
              </a:rPr>
              <a:t>3. Disturbance in 1 and 2 interferes with daily function or independence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4. </a:t>
            </a:r>
            <a:r>
              <a:rPr lang="en-US" sz="2000" dirty="0"/>
              <a:t>All of the above contribute to loss of  instrumental activities of daily living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2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930275"/>
          </a:xfrm>
        </p:spPr>
        <p:txBody>
          <a:bodyPr>
            <a:normAutofit/>
          </a:bodyPr>
          <a:lstStyle/>
          <a:p>
            <a:r>
              <a:rPr lang="en-US" sz="3600" b="1" dirty="0"/>
              <a:t>Aphasia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654675"/>
          </a:xfrm>
        </p:spPr>
        <p:txBody>
          <a:bodyPr>
            <a:normAutofit/>
          </a:bodyPr>
          <a:lstStyle/>
          <a:p>
            <a:r>
              <a:rPr lang="en-US" b="1" u="sng" dirty="0"/>
              <a:t>Problems with language</a:t>
            </a:r>
            <a:r>
              <a:rPr lang="en-US" dirty="0"/>
              <a:t>, comprehension</a:t>
            </a:r>
          </a:p>
          <a:p>
            <a:r>
              <a:rPr lang="en-US" dirty="0"/>
              <a:t>Initially characterized by fluent aphasia</a:t>
            </a:r>
          </a:p>
          <a:p>
            <a:r>
              <a:rPr lang="en-US" dirty="0"/>
              <a:t>Able to initiate and maintain conversations</a:t>
            </a:r>
          </a:p>
          <a:p>
            <a:endParaRPr lang="en-US" dirty="0"/>
          </a:p>
          <a:p>
            <a:r>
              <a:rPr lang="en-US" dirty="0"/>
              <a:t>Syntax and grammar intact but speech is vague with nonspecific phrases like “the thing”</a:t>
            </a:r>
          </a:p>
          <a:p>
            <a:endParaRPr lang="en-US" dirty="0"/>
          </a:p>
          <a:p>
            <a:r>
              <a:rPr lang="en-US" dirty="0"/>
              <a:t>Later language can be severely </a:t>
            </a:r>
          </a:p>
          <a:p>
            <a:pPr marL="0" indent="0">
              <a:buNone/>
            </a:pPr>
            <a:r>
              <a:rPr lang="en-US" dirty="0"/>
              <a:t>impaired with mutism, echolalia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1" y="4495800"/>
            <a:ext cx="1981200" cy="1981200"/>
          </a:xfrm>
        </p:spPr>
      </p:pic>
    </p:spTree>
    <p:extLst>
      <p:ext uri="{BB962C8B-B14F-4D97-AF65-F5344CB8AC3E}">
        <p14:creationId xmlns:p14="http://schemas.microsoft.com/office/powerpoint/2010/main" val="303130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930275"/>
          </a:xfrm>
        </p:spPr>
        <p:txBody>
          <a:bodyPr/>
          <a:lstStyle/>
          <a:p>
            <a:r>
              <a:rPr lang="en-US" b="1" dirty="0"/>
              <a:t>Apraxia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1459" y="914400"/>
            <a:ext cx="8435341" cy="5211763"/>
          </a:xfrm>
        </p:spPr>
        <p:txBody>
          <a:bodyPr>
            <a:normAutofit/>
          </a:bodyPr>
          <a:lstStyle/>
          <a:p>
            <a:r>
              <a:rPr lang="en-US" sz="3600" dirty="0"/>
              <a:t>Inability to </a:t>
            </a:r>
            <a:r>
              <a:rPr lang="en-US" sz="3600" b="1" u="sng" dirty="0"/>
              <a:t>carry out motor activities </a:t>
            </a:r>
            <a:r>
              <a:rPr lang="en-US" sz="3600" dirty="0"/>
              <a:t>previously able to do despite intact motor function</a:t>
            </a:r>
          </a:p>
          <a:p>
            <a:endParaRPr lang="en-US" sz="3600" dirty="0"/>
          </a:p>
          <a:p>
            <a:r>
              <a:rPr lang="en-US" sz="3600" dirty="0"/>
              <a:t>Contributes to loss of ADLs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818509"/>
            <a:ext cx="3787141" cy="235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5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281113"/>
          </a:xfrm>
        </p:spPr>
        <p:txBody>
          <a:bodyPr/>
          <a:lstStyle/>
          <a:p>
            <a:r>
              <a:rPr lang="en-US" b="1" dirty="0" err="1"/>
              <a:t>Agnosia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/>
              <a:t>The </a:t>
            </a:r>
            <a:r>
              <a:rPr lang="en-US" sz="3600" b="1" u="sng" dirty="0"/>
              <a:t>inability to recognize </a:t>
            </a:r>
            <a:r>
              <a:rPr lang="en-US" sz="3600" dirty="0"/>
              <a:t>or identify objects despite intact sensory function</a:t>
            </a:r>
          </a:p>
          <a:p>
            <a:pPr lvl="1">
              <a:defRPr/>
            </a:pPr>
            <a:r>
              <a:rPr lang="en-US" sz="3600" dirty="0"/>
              <a:t>Typically occurs later in the course of illness</a:t>
            </a:r>
          </a:p>
          <a:p>
            <a:pPr lvl="1">
              <a:defRPr/>
            </a:pPr>
            <a:r>
              <a:rPr lang="en-US" sz="3600" dirty="0"/>
              <a:t>Can be visual or tactile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4034129"/>
            <a:ext cx="2743200" cy="239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5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77875"/>
          </a:xfrm>
        </p:spPr>
        <p:txBody>
          <a:bodyPr>
            <a:normAutofit/>
          </a:bodyPr>
          <a:lstStyle/>
          <a:p>
            <a:r>
              <a:rPr lang="en-US" b="1" dirty="0"/>
              <a:t>ADL and IADL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440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070C0"/>
                </a:solidFill>
              </a:rPr>
              <a:t>Activities of daily living (ADL)</a:t>
            </a:r>
          </a:p>
          <a:p>
            <a:r>
              <a:rPr lang="en-US" sz="3500" dirty="0"/>
              <a:t>Bathing</a:t>
            </a:r>
          </a:p>
          <a:p>
            <a:r>
              <a:rPr lang="en-US" sz="3500" dirty="0"/>
              <a:t>Dressing</a:t>
            </a:r>
          </a:p>
          <a:p>
            <a:r>
              <a:rPr lang="en-US" sz="3500" dirty="0"/>
              <a:t>Grooming</a:t>
            </a:r>
          </a:p>
          <a:p>
            <a:r>
              <a:rPr lang="en-US" sz="3500" dirty="0"/>
              <a:t>Toileting</a:t>
            </a:r>
          </a:p>
          <a:p>
            <a:r>
              <a:rPr lang="en-US" sz="3500" dirty="0"/>
              <a:t>Continence</a:t>
            </a:r>
          </a:p>
          <a:p>
            <a:r>
              <a:rPr lang="en-US" sz="3500" dirty="0"/>
              <a:t>Transferring</a:t>
            </a:r>
            <a:r>
              <a:rPr lang="en-US" dirty="0"/>
              <a:t>	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915988"/>
            <a:ext cx="4038600" cy="5440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Instrumental activities of daily living (IADL)</a:t>
            </a:r>
          </a:p>
          <a:p>
            <a:r>
              <a:rPr lang="en-US" sz="3200" dirty="0"/>
              <a:t>Using a phone</a:t>
            </a:r>
          </a:p>
          <a:p>
            <a:r>
              <a:rPr lang="en-US" sz="3200" dirty="0"/>
              <a:t>Travel</a:t>
            </a:r>
          </a:p>
          <a:p>
            <a:r>
              <a:rPr lang="en-US" sz="3200" dirty="0"/>
              <a:t>Shopping</a:t>
            </a:r>
          </a:p>
          <a:p>
            <a:r>
              <a:rPr lang="en-US" sz="3200" dirty="0"/>
              <a:t>Preparing meals</a:t>
            </a:r>
          </a:p>
          <a:p>
            <a:r>
              <a:rPr lang="en-US" sz="3200" dirty="0"/>
              <a:t>Housework</a:t>
            </a:r>
          </a:p>
          <a:p>
            <a:r>
              <a:rPr lang="en-US" sz="3200" dirty="0"/>
              <a:t>Medication management</a:t>
            </a:r>
          </a:p>
          <a:p>
            <a:r>
              <a:rPr lang="en-US" sz="3200" dirty="0"/>
              <a:t>Money management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r>
              <a:rPr lang="en-US" dirty="0"/>
              <a:t>Cognitive decline AND associated neuropsychiatric symptoms lead to increasing dependence on others and often eventual institutionalization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971800"/>
            <a:ext cx="5656436" cy="317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47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2A63-09FB-450D-9ADF-D6BE1951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E4F5A-66FB-43C3-91CB-438808A2E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Initial Interventions</a:t>
            </a:r>
          </a:p>
          <a:p>
            <a:pPr marL="0" indent="0" algn="ctr">
              <a:buNone/>
            </a:pPr>
            <a:r>
              <a:rPr lang="en-US" b="1" dirty="0"/>
              <a:t>WHEN</a:t>
            </a:r>
          </a:p>
          <a:p>
            <a:pPr marL="0" indent="0" algn="ctr">
              <a:buNone/>
            </a:pPr>
            <a:r>
              <a:rPr lang="en-US" b="1" dirty="0"/>
              <a:t> Someone presents with cognitive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5F92E-1395-4ADB-B44C-07977DBF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99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914400"/>
          </a:xfrm>
        </p:spPr>
        <p:txBody>
          <a:bodyPr>
            <a:normAutofit/>
          </a:bodyPr>
          <a:lstStyle/>
          <a:p>
            <a:r>
              <a:rPr lang="en-US" b="1" dirty="0"/>
              <a:t>The work up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974725"/>
            <a:ext cx="8686800" cy="58070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Thorough history (medical, psychiatric, neurological)</a:t>
            </a:r>
          </a:p>
          <a:p>
            <a:r>
              <a:rPr lang="en-US" dirty="0">
                <a:solidFill>
                  <a:srgbClr val="FF0000"/>
                </a:solidFill>
              </a:rPr>
              <a:t>Get collateral!! Are ADL/IADLs affected?</a:t>
            </a:r>
          </a:p>
          <a:p>
            <a:r>
              <a:rPr lang="en-US" dirty="0"/>
              <a:t>Physical and neurological exam</a:t>
            </a:r>
          </a:p>
          <a:p>
            <a:r>
              <a:rPr lang="en-US" dirty="0"/>
              <a:t>Cognitive testing (screening, then more detailed if needed)</a:t>
            </a:r>
          </a:p>
          <a:p>
            <a:r>
              <a:rPr lang="en-US" dirty="0"/>
              <a:t>Labs and imaging (rule out reversible causes)</a:t>
            </a:r>
          </a:p>
          <a:p>
            <a:r>
              <a:rPr lang="en-US" dirty="0"/>
              <a:t>Consider neuropsychological testing or referral to psychiatry or neurology</a:t>
            </a:r>
          </a:p>
          <a:p>
            <a:r>
              <a:rPr lang="en-US" dirty="0"/>
              <a:t>Determine the etiology/establish the diagnosis</a:t>
            </a:r>
          </a:p>
          <a:p>
            <a:r>
              <a:rPr lang="en-US" dirty="0"/>
              <a:t>Treat! (or refer)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32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Cognitive screening tests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3600" dirty="0"/>
              <a:t>Mini-Mental Status Exam (</a:t>
            </a:r>
            <a:r>
              <a:rPr lang="en-US" sz="3600" b="1" dirty="0"/>
              <a:t>MMSE</a:t>
            </a:r>
            <a:r>
              <a:rPr lang="en-US" sz="3600" dirty="0"/>
              <a:t>) </a:t>
            </a:r>
          </a:p>
          <a:p>
            <a:endParaRPr lang="en-US" sz="3600" b="1" dirty="0"/>
          </a:p>
          <a:p>
            <a:r>
              <a:rPr lang="en-US" sz="3600" b="1" dirty="0"/>
              <a:t>Mini-Cog</a:t>
            </a:r>
            <a:r>
              <a:rPr lang="en-US" sz="3600" dirty="0"/>
              <a:t> – combines clock drawing and three item memory test.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89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082675"/>
          </a:xfrm>
        </p:spPr>
        <p:txBody>
          <a:bodyPr/>
          <a:lstStyle/>
          <a:p>
            <a:r>
              <a:rPr lang="en-US" b="1" dirty="0"/>
              <a:t>Screening test: MMSE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Useful to have at baseline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Can track changes over time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In Alzheimer’s, patients lose 3 points/year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Careful of false positives in those with little education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Careful of false negatives in those with high premorbid intellectual functioning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0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b="1" dirty="0"/>
              <a:t>Screening test: MINI-COG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8154" y="1066800"/>
            <a:ext cx="8883445" cy="565467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Instruct the patient to listen carefully to and remember these 3 words: banana-sunrise-chair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Instruct the patient to draw the face of a clock, after the numbers are placed, ask them to draw the hands of the clock to read “quarter past ten.”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Ask the patient to repeat the 3 previously stated words.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28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609600" y="2286000"/>
          <a:ext cx="36576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" name="Photo Editor Photo" r:id="rId4" imgW="2381582" imgH="1743318" progId="MSPhotoEd.3">
                  <p:embed/>
                </p:oleObj>
              </mc:Choice>
              <mc:Fallback>
                <p:oleObj name="Photo Editor Photo" r:id="rId4" imgW="2381582" imgH="1743318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86000"/>
                        <a:ext cx="36576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4876800" y="2286000"/>
          <a:ext cx="38100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" name="Photo Editor Photo" r:id="rId6" imgW="2381582" imgH="1733333" progId="MSPhotoEd.3">
                  <p:embed/>
                </p:oleObj>
              </mc:Choice>
              <mc:Fallback>
                <p:oleObj name="Photo Editor Photo" r:id="rId6" imgW="2381582" imgH="1733333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286000"/>
                        <a:ext cx="38100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cs typeface="+mj-cs"/>
              </a:rPr>
              <a:t>Clock Drawing Test--abnormal</a:t>
            </a:r>
          </a:p>
        </p:txBody>
      </p:sp>
    </p:spTree>
    <p:extLst>
      <p:ext uri="{BB962C8B-B14F-4D97-AF65-F5344CB8AC3E}">
        <p14:creationId xmlns:p14="http://schemas.microsoft.com/office/powerpoint/2010/main" val="546988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Lab-work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6096000" cy="49831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LFTs</a:t>
            </a:r>
          </a:p>
          <a:p>
            <a:r>
              <a:rPr lang="en-US" sz="3600" dirty="0"/>
              <a:t>B12, Folate</a:t>
            </a:r>
          </a:p>
          <a:p>
            <a:r>
              <a:rPr lang="en-US" sz="3600" dirty="0"/>
              <a:t>HIV</a:t>
            </a:r>
          </a:p>
          <a:p>
            <a:r>
              <a:rPr lang="en-US" sz="3600" dirty="0"/>
              <a:t>…………………………..</a:t>
            </a:r>
          </a:p>
          <a:p>
            <a:r>
              <a:rPr lang="en-US" sz="3600" dirty="0"/>
              <a:t>…………………………..</a:t>
            </a:r>
          </a:p>
          <a:p>
            <a:r>
              <a:rPr lang="en-US" sz="3600" dirty="0"/>
              <a:t>……………………………</a:t>
            </a:r>
          </a:p>
          <a:p>
            <a:r>
              <a:rPr lang="en-US" sz="3600" dirty="0"/>
              <a:t>Others only if clinical suspicion is high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17A392-A846-4936-A5B8-27E6F2757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0400" y="1600200"/>
            <a:ext cx="1676400" cy="45259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939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387C-5ECA-4689-8E4E-26A9003F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1768-76FD-4DAE-B3FF-C2EA7D1AE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600" dirty="0"/>
              <a:t>CT Scan</a:t>
            </a:r>
          </a:p>
          <a:p>
            <a:endParaRPr lang="en-US" sz="3600" dirty="0"/>
          </a:p>
          <a:p>
            <a:r>
              <a:rPr lang="en-US" sz="3600" dirty="0"/>
              <a:t>MRI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00A50-AB57-4272-A93C-19A91A89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54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/>
          </a:bodyPr>
          <a:lstStyle/>
          <a:p>
            <a:r>
              <a:rPr lang="en-US" b="1" dirty="0"/>
              <a:t>“reversible” dementias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7308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Drug toxicity</a:t>
            </a:r>
          </a:p>
          <a:p>
            <a:r>
              <a:rPr lang="en-US" dirty="0"/>
              <a:t>Metabolic disturbance</a:t>
            </a:r>
          </a:p>
          <a:p>
            <a:r>
              <a:rPr lang="en-US" dirty="0"/>
              <a:t>Normal pressure hydrocephalus</a:t>
            </a:r>
          </a:p>
          <a:p>
            <a:r>
              <a:rPr lang="en-US" dirty="0"/>
              <a:t>Mass lesion (tumor, subdural hematoma)</a:t>
            </a:r>
          </a:p>
          <a:p>
            <a:r>
              <a:rPr lang="en-US" dirty="0"/>
              <a:t>Infection (meningitis, syphilis)</a:t>
            </a:r>
          </a:p>
          <a:p>
            <a:r>
              <a:rPr lang="en-US" dirty="0"/>
              <a:t>Collagen-Vascular disease (SLE, </a:t>
            </a:r>
            <a:r>
              <a:rPr lang="en-US" dirty="0" err="1"/>
              <a:t>Sacroid</a:t>
            </a:r>
            <a:r>
              <a:rPr lang="en-US" dirty="0"/>
              <a:t>)</a:t>
            </a:r>
          </a:p>
          <a:p>
            <a:r>
              <a:rPr lang="en-US" dirty="0"/>
              <a:t>Endocrine disorder (thyroid, parathyroid)</a:t>
            </a:r>
          </a:p>
          <a:p>
            <a:r>
              <a:rPr lang="en-US" dirty="0"/>
              <a:t>Nutritional disease (B12, thiamine, folate)</a:t>
            </a:r>
          </a:p>
          <a:p>
            <a:r>
              <a:rPr lang="en-US" dirty="0"/>
              <a:t>Other (COPD, CHF, Liver disease, apnea…)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u="sng" dirty="0"/>
              <a:t>Only 9% are potentially reversible</a:t>
            </a:r>
          </a:p>
          <a:p>
            <a:pPr marL="0" indent="0">
              <a:buNone/>
            </a:pPr>
            <a:r>
              <a:rPr lang="en-US" i="1" u="sng" dirty="0"/>
              <a:t>Only 0.6% actually reverse with treatment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14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Dementia syndromes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143000"/>
            <a:ext cx="8839200" cy="5578475"/>
          </a:xfrm>
        </p:spPr>
        <p:txBody>
          <a:bodyPr>
            <a:normAutofit/>
          </a:bodyPr>
          <a:lstStyle/>
          <a:p>
            <a:r>
              <a:rPr lang="en-US" sz="3600" dirty="0"/>
              <a:t>Alzheimer’s disease</a:t>
            </a:r>
          </a:p>
          <a:p>
            <a:r>
              <a:rPr lang="en-US" sz="3600" dirty="0"/>
              <a:t>Vascular dementia             </a:t>
            </a:r>
            <a:r>
              <a:rPr lang="en-US" sz="3600" dirty="0">
                <a:solidFill>
                  <a:srgbClr val="C00000"/>
                </a:solidFill>
              </a:rPr>
              <a:t>Commonest types</a:t>
            </a:r>
          </a:p>
          <a:p>
            <a:r>
              <a:rPr lang="en-US" sz="3600" dirty="0"/>
              <a:t>Korsakoff’s</a:t>
            </a:r>
          </a:p>
          <a:p>
            <a:endParaRPr lang="en-US" sz="3600" dirty="0"/>
          </a:p>
          <a:p>
            <a:r>
              <a:rPr lang="en-US" sz="3600" dirty="0" err="1"/>
              <a:t>Lewy</a:t>
            </a:r>
            <a:r>
              <a:rPr lang="en-US" sz="3600" dirty="0"/>
              <a:t> body dementia (LBD)</a:t>
            </a:r>
          </a:p>
          <a:p>
            <a:r>
              <a:rPr lang="en-US" sz="3600" dirty="0"/>
              <a:t>Parkinson’s disease dementia (PDD)</a:t>
            </a:r>
          </a:p>
          <a:p>
            <a:r>
              <a:rPr lang="en-US" sz="3600" dirty="0" err="1"/>
              <a:t>Fronto</a:t>
            </a:r>
            <a:r>
              <a:rPr lang="en-US" sz="3600" dirty="0"/>
              <a:t>-temporal dementia (FTD)</a:t>
            </a:r>
          </a:p>
          <a:p>
            <a:r>
              <a:rPr lang="en-US" sz="3600" dirty="0"/>
              <a:t>Mixed pathology</a:t>
            </a:r>
          </a:p>
          <a:p>
            <a:pPr marL="0" indent="0">
              <a:buNone/>
            </a:pPr>
            <a:endParaRPr lang="en-US" sz="3600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7B5A591-C6A9-4666-B9D7-C893AD3DEC9C}"/>
              </a:ext>
            </a:extLst>
          </p:cNvPr>
          <p:cNvSpPr/>
          <p:nvPr/>
        </p:nvSpPr>
        <p:spPr>
          <a:xfrm>
            <a:off x="5029200" y="1371600"/>
            <a:ext cx="307848" cy="1752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81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05600" cy="1066800"/>
          </a:xfrm>
        </p:spPr>
        <p:txBody>
          <a:bodyPr/>
          <a:lstStyle/>
          <a:p>
            <a:r>
              <a:rPr lang="en-US" b="1" dirty="0"/>
              <a:t>Alzheimer’s disease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458200" cy="5745162"/>
          </a:xfrm>
        </p:spPr>
        <p:txBody>
          <a:bodyPr>
            <a:normAutofit/>
          </a:bodyPr>
          <a:lstStyle/>
          <a:p>
            <a:r>
              <a:rPr lang="en-US" sz="3600" dirty="0"/>
              <a:t>Insidious onset, gradual progression, incidence age-related</a:t>
            </a:r>
          </a:p>
          <a:p>
            <a:endParaRPr lang="en-US" sz="3600" dirty="0"/>
          </a:p>
          <a:p>
            <a:r>
              <a:rPr lang="en-US" sz="3600" dirty="0"/>
              <a:t>Short term memory problems on presentation</a:t>
            </a:r>
          </a:p>
          <a:p>
            <a:endParaRPr lang="en-US" sz="3600" dirty="0"/>
          </a:p>
          <a:p>
            <a:r>
              <a:rPr lang="en-US" sz="3600" dirty="0"/>
              <a:t>Most common dementing illness</a:t>
            </a:r>
          </a:p>
          <a:p>
            <a:r>
              <a:rPr lang="en-US" sz="3600" dirty="0"/>
              <a:t>Ultimate diagnosis based on pathology of neurofibrillary tangles and senile plaques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05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D33BA1-F0E1-43C9-888B-277B1BC1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DB174-BB81-4327-B1D5-54FCA289B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3058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8035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C00000"/>
                </a:solidFill>
              </a:rPr>
              <a:t>Treatment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Address cognitive dysfunction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Address neuropsychiatric symptoms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Address the needs of the caregiver and the dyad of patient/caregiver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Consider the environment/living situation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06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Treatment: Cognitive dysfunction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838200"/>
            <a:ext cx="8686800" cy="588327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Acetylcholinesterase inhibitors– use in all stages of AD, earlier is better (but not in mild cognitive impairment)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</a:rPr>
              <a:t>Memantine </a:t>
            </a:r>
            <a:r>
              <a:rPr lang="en-US" dirty="0"/>
              <a:t>– for moderate to severe stages of the disease</a:t>
            </a:r>
          </a:p>
          <a:p>
            <a:pPr>
              <a:lnSpc>
                <a:spcPct val="150000"/>
              </a:lnSpc>
            </a:pPr>
            <a:r>
              <a:rPr lang="en-US" dirty="0"/>
              <a:t>Consider cognitive interventions (stimulation, rehabilitation, training)</a:t>
            </a:r>
          </a:p>
          <a:p>
            <a:pPr>
              <a:lnSpc>
                <a:spcPct val="150000"/>
              </a:lnSpc>
            </a:pPr>
            <a:r>
              <a:rPr lang="en-US" dirty="0"/>
              <a:t>Physical exercise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30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b="1" dirty="0"/>
              <a:t>Neuropsychiatric symptoms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Agitation</a:t>
            </a:r>
          </a:p>
          <a:p>
            <a:r>
              <a:rPr lang="en-US" dirty="0"/>
              <a:t>Aggression</a:t>
            </a:r>
          </a:p>
          <a:p>
            <a:r>
              <a:rPr lang="en-US" dirty="0"/>
              <a:t>Depression</a:t>
            </a:r>
          </a:p>
          <a:p>
            <a:r>
              <a:rPr lang="en-US" dirty="0"/>
              <a:t>Anxiety</a:t>
            </a:r>
          </a:p>
          <a:p>
            <a:r>
              <a:rPr lang="en-US" dirty="0"/>
              <a:t>Psychosis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These symptoms are distressing and disruptive for the patients and their caregivers. </a:t>
            </a:r>
          </a:p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</a:rPr>
              <a:t>Agitation </a:t>
            </a:r>
            <a:r>
              <a:rPr lang="en-US" i="1" dirty="0"/>
              <a:t>and</a:t>
            </a:r>
            <a:r>
              <a:rPr lang="en-US" i="1" dirty="0">
                <a:solidFill>
                  <a:srgbClr val="C00000"/>
                </a:solidFill>
              </a:rPr>
              <a:t> aggression </a:t>
            </a:r>
            <a:r>
              <a:rPr lang="en-US" i="1" dirty="0"/>
              <a:t>are the reasons why patients end up hospitalized/institutionalized. </a:t>
            </a:r>
          </a:p>
          <a:p>
            <a:pPr marL="0" indent="0">
              <a:buNone/>
            </a:pPr>
            <a:r>
              <a:rPr lang="en-US" i="1" dirty="0"/>
              <a:t>Caregiver support and psychoeducation may prevent such outcomes.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248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0826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Treatment of neuropsychiatric symptoms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Nonpharmacological approaches should be tried first!</a:t>
            </a:r>
          </a:p>
          <a:p>
            <a:r>
              <a:rPr lang="en-US" dirty="0"/>
              <a:t>And even before that, psychiatric/medical causes of agitation must be ruled out</a:t>
            </a:r>
          </a:p>
          <a:p>
            <a:r>
              <a:rPr lang="en-US" dirty="0"/>
              <a:t>Identify precipitating/contributing factors to agitation/anxiety</a:t>
            </a:r>
          </a:p>
          <a:p>
            <a:r>
              <a:rPr lang="en-US" dirty="0"/>
              <a:t>Teach caregivers how to do the same and provide them with support</a:t>
            </a:r>
          </a:p>
          <a:p>
            <a:r>
              <a:rPr lang="en-US" dirty="0"/>
              <a:t>Address the unmet needs of the patient</a:t>
            </a:r>
          </a:p>
          <a:p>
            <a:r>
              <a:rPr lang="en-US" dirty="0"/>
              <a:t>Allow the patient to remain as independent as possible when helping them with ADLs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1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3124-E912-411E-A17B-971C567F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Pharmacologic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D981D-5820-49F8-9CFA-064C2C53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/>
          <a:lstStyle/>
          <a:p>
            <a:r>
              <a:rPr lang="en-US" sz="3600" dirty="0"/>
              <a:t>Use medications when nonpharmacological methods failed, or succeeded only partially, or when high risk/violence exist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3AA43-7F13-4DAF-81AB-DC18125B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01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Options for treatment of agitation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295400"/>
            <a:ext cx="8915400" cy="54260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Acetylcholinesterase inhibitors </a:t>
            </a:r>
            <a:r>
              <a:rPr lang="en-US" dirty="0"/>
              <a:t>and memantine – not great when effect needed urgently</a:t>
            </a:r>
          </a:p>
          <a:p>
            <a:r>
              <a:rPr lang="en-US" dirty="0">
                <a:solidFill>
                  <a:srgbClr val="C00000"/>
                </a:solidFill>
              </a:rPr>
              <a:t>Atypical antipsychotics </a:t>
            </a:r>
            <a:r>
              <a:rPr lang="en-US" dirty="0"/>
              <a:t>(modest efficacy)</a:t>
            </a:r>
          </a:p>
          <a:p>
            <a:r>
              <a:rPr lang="en-US" dirty="0">
                <a:solidFill>
                  <a:srgbClr val="C00000"/>
                </a:solidFill>
              </a:rPr>
              <a:t>Antidepressants </a:t>
            </a:r>
            <a:r>
              <a:rPr lang="en-US" dirty="0"/>
              <a:t>– citalopram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Carbamazepine </a:t>
            </a:r>
            <a:r>
              <a:rPr lang="en-US" dirty="0"/>
              <a:t>– (consider numerous side effects and drug interactions)</a:t>
            </a:r>
          </a:p>
          <a:p>
            <a:r>
              <a:rPr lang="en-US" dirty="0">
                <a:solidFill>
                  <a:srgbClr val="C00000"/>
                </a:solidFill>
              </a:rPr>
              <a:t>Propranolol, prazosin </a:t>
            </a:r>
            <a:r>
              <a:rPr lang="en-US" dirty="0"/>
              <a:t>– (consider falls)</a:t>
            </a:r>
          </a:p>
          <a:p>
            <a:r>
              <a:rPr lang="en-US" dirty="0">
                <a:solidFill>
                  <a:srgbClr val="C00000"/>
                </a:solidFill>
              </a:rPr>
              <a:t>Benzodiazepines</a:t>
            </a:r>
            <a:r>
              <a:rPr lang="en-US" dirty="0"/>
              <a:t> – emergent use only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50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763000" cy="838200"/>
          </a:xfrm>
        </p:spPr>
        <p:txBody>
          <a:bodyPr>
            <a:normAutofit/>
          </a:bodyPr>
          <a:lstStyle/>
          <a:p>
            <a:r>
              <a:rPr lang="en-US" b="1" dirty="0"/>
              <a:t>Treatment of depression, psychosis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686800" cy="5883275"/>
          </a:xfrm>
        </p:spPr>
        <p:txBody>
          <a:bodyPr>
            <a:normAutofit/>
          </a:bodyPr>
          <a:lstStyle/>
          <a:p>
            <a:r>
              <a:rPr lang="en-US" dirty="0"/>
              <a:t>Antidepressants for depression in dementia are somewhat controversial. </a:t>
            </a:r>
          </a:p>
          <a:p>
            <a:r>
              <a:rPr lang="en-US" dirty="0"/>
              <a:t>For severe depression/suicidality, consider hospitalization, consider ECT</a:t>
            </a:r>
          </a:p>
          <a:p>
            <a:endParaRPr lang="en-US" dirty="0"/>
          </a:p>
          <a:p>
            <a:r>
              <a:rPr lang="en-US" dirty="0"/>
              <a:t>Treatment of hallucinations/delusions is not always needed – but when it is, start antipsychotics (atypical) slowly and titrate gradually</a:t>
            </a:r>
          </a:p>
          <a:p>
            <a:r>
              <a:rPr lang="en-US" dirty="0"/>
              <a:t>Use quetiapine preferentially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64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Other treatment options for neuropsychiatric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83162"/>
          </a:xfrm>
        </p:spPr>
        <p:txBody>
          <a:bodyPr/>
          <a:lstStyle/>
          <a:p>
            <a:r>
              <a:rPr lang="en-US" dirty="0"/>
              <a:t>Recommend psychotherapy, exercise, pleasurable activities, support groups, memory aids</a:t>
            </a:r>
          </a:p>
          <a:p>
            <a:endParaRPr lang="en-US" dirty="0"/>
          </a:p>
          <a:p>
            <a:r>
              <a:rPr lang="en-US" dirty="0"/>
              <a:t>Minimize changes in caregivers/environment</a:t>
            </a:r>
          </a:p>
          <a:p>
            <a:endParaRPr lang="en-US" dirty="0"/>
          </a:p>
          <a:p>
            <a:r>
              <a:rPr lang="en-US" dirty="0"/>
              <a:t>Music therapy is gaining strength as evidence based intervention for treatment of anxiety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231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2813"/>
          </a:xfrm>
        </p:spPr>
        <p:txBody>
          <a:bodyPr/>
          <a:lstStyle/>
          <a:p>
            <a:r>
              <a:rPr lang="en-US" b="1" i="1" dirty="0">
                <a:solidFill>
                  <a:srgbClr val="C00000"/>
                </a:solidFill>
              </a:rPr>
              <a:t>Summary points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2400" y="1143000"/>
            <a:ext cx="8991600" cy="5578475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It is paramount to diagnose dementia!</a:t>
            </a:r>
          </a:p>
          <a:p>
            <a:r>
              <a:rPr lang="en-US" i="1" dirty="0"/>
              <a:t>Always obtain collateral from caregivers, and provide them with education and support</a:t>
            </a:r>
          </a:p>
          <a:p>
            <a:r>
              <a:rPr lang="en-US" i="1" dirty="0"/>
              <a:t>Evaluation of cognitive function is key</a:t>
            </a:r>
          </a:p>
          <a:p>
            <a:r>
              <a:rPr lang="en-US" i="1" dirty="0"/>
              <a:t>Earlier treatment preserves functioning</a:t>
            </a:r>
          </a:p>
          <a:p>
            <a:r>
              <a:rPr lang="en-US" i="1" dirty="0"/>
              <a:t>Correct diagnosis prevents poor outcomes</a:t>
            </a:r>
          </a:p>
          <a:p>
            <a:r>
              <a:rPr lang="en-US" i="1" dirty="0" err="1"/>
              <a:t>Neuropsych</a:t>
            </a:r>
            <a:r>
              <a:rPr lang="en-US" i="1" dirty="0"/>
              <a:t> </a:t>
            </a:r>
            <a:r>
              <a:rPr lang="en-US" i="1" dirty="0" err="1"/>
              <a:t>sx</a:t>
            </a:r>
            <a:r>
              <a:rPr lang="en-US" i="1" dirty="0"/>
              <a:t> are common and are best addressed with nonpharmacological strategies</a:t>
            </a:r>
          </a:p>
          <a:p>
            <a:r>
              <a:rPr lang="en-US" i="1" dirty="0"/>
              <a:t>Use cognitive enhancing medications whenever possible</a:t>
            </a:r>
          </a:p>
          <a:p>
            <a:r>
              <a:rPr lang="en-US" i="1" dirty="0"/>
              <a:t>Use medications for agitation/</a:t>
            </a:r>
            <a:r>
              <a:rPr lang="en-US" i="1" dirty="0" err="1"/>
              <a:t>neuropsych</a:t>
            </a:r>
            <a:r>
              <a:rPr lang="en-US" i="1" dirty="0"/>
              <a:t> </a:t>
            </a:r>
            <a:r>
              <a:rPr lang="en-US" i="1" dirty="0" err="1"/>
              <a:t>sx</a:t>
            </a:r>
            <a:r>
              <a:rPr lang="en-US" i="1" dirty="0"/>
              <a:t> when unavoidable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19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4BC5-2108-43E3-A1DF-8083A09D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0D91C-4986-47E1-9E33-43E93ADC6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6600" b="1" dirty="0"/>
              <a:t>              THANKS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68E01-4A33-41E7-8A60-5B5D4C6E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65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</TotalTime>
  <Words>1420</Words>
  <Application>Microsoft Office PowerPoint</Application>
  <PresentationFormat>On-screen Show (4:3)</PresentationFormat>
  <Paragraphs>272</Paragraphs>
  <Slides>36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ＭＳ Ｐゴシック</vt:lpstr>
      <vt:lpstr>Arial</vt:lpstr>
      <vt:lpstr>Calibri</vt:lpstr>
      <vt:lpstr>Times New Roman</vt:lpstr>
      <vt:lpstr>Wingdings</vt:lpstr>
      <vt:lpstr>Office Theme</vt:lpstr>
      <vt:lpstr>Photo Editor Photo</vt:lpstr>
      <vt:lpstr>NEUROCOGNITIVE DISORDERS</vt:lpstr>
      <vt:lpstr>Definition</vt:lpstr>
      <vt:lpstr>Terminology</vt:lpstr>
      <vt:lpstr>Diagnosis: DSM-V Criteria for Major Neurocognitive Disorder</vt:lpstr>
      <vt:lpstr>DSM-V Criteria for Major Neurocognitive Disorder cont.</vt:lpstr>
      <vt:lpstr>DSM-V Criteria for Major Neurocognitive Disorder cont.</vt:lpstr>
      <vt:lpstr>DSM-V Criteria for Major Neurocognitive Disorder cont.</vt:lpstr>
      <vt:lpstr>Subtypes</vt:lpstr>
      <vt:lpstr>Common syndromes encountered in dementia</vt:lpstr>
      <vt:lpstr>Aphasia</vt:lpstr>
      <vt:lpstr>Apraxia</vt:lpstr>
      <vt:lpstr>Agnosia</vt:lpstr>
      <vt:lpstr>ADL and IADL</vt:lpstr>
      <vt:lpstr>PowerPoint Presentation</vt:lpstr>
      <vt:lpstr>PowerPoint Presentation</vt:lpstr>
      <vt:lpstr>The work up</vt:lpstr>
      <vt:lpstr>Cognitive screening tests</vt:lpstr>
      <vt:lpstr>Screening test: MMSE</vt:lpstr>
      <vt:lpstr>Screening test: MINI-COG</vt:lpstr>
      <vt:lpstr>Clock Drawing Test--abnormal</vt:lpstr>
      <vt:lpstr>Lab-work</vt:lpstr>
      <vt:lpstr>Imaging</vt:lpstr>
      <vt:lpstr>“reversible” dementias</vt:lpstr>
      <vt:lpstr>Dementia syndromes</vt:lpstr>
      <vt:lpstr>Alzheimer’s disease</vt:lpstr>
      <vt:lpstr>PowerPoint Presentation</vt:lpstr>
      <vt:lpstr>Treatment</vt:lpstr>
      <vt:lpstr>Treatment: Cognitive dysfunction</vt:lpstr>
      <vt:lpstr>Neuropsychiatric symptoms</vt:lpstr>
      <vt:lpstr>Treatment of neuropsychiatric symptoms</vt:lpstr>
      <vt:lpstr>Pharmacologic options</vt:lpstr>
      <vt:lpstr>Options for treatment of agitation </vt:lpstr>
      <vt:lpstr>Treatment of depression, psychosis</vt:lpstr>
      <vt:lpstr>Other treatment options for neuropsychiatric symptoms</vt:lpstr>
      <vt:lpstr>Summary points</vt:lpstr>
      <vt:lpstr>PowerPoint Presentation</vt:lpstr>
    </vt:vector>
  </TitlesOfParts>
  <Company>Veteran Affairs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DEMENTIA: EVALUATION AND TREATMENT</dc:title>
  <dc:creator>Borisovskaya, Anna (Puget Sound)</dc:creator>
  <cp:lastModifiedBy>henry kibithia</cp:lastModifiedBy>
  <cp:revision>99</cp:revision>
  <cp:lastPrinted>2014-06-25T18:13:02Z</cp:lastPrinted>
  <dcterms:created xsi:type="dcterms:W3CDTF">2014-06-24T17:41:38Z</dcterms:created>
  <dcterms:modified xsi:type="dcterms:W3CDTF">2020-02-23T06:30:17Z</dcterms:modified>
</cp:coreProperties>
</file>