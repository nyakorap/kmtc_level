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257" r:id="rId4"/>
    <p:sldId id="258" r:id="rId5"/>
    <p:sldId id="259" r:id="rId6"/>
    <p:sldId id="313" r:id="rId7"/>
    <p:sldId id="260" r:id="rId8"/>
    <p:sldId id="261" r:id="rId9"/>
    <p:sldId id="285" r:id="rId10"/>
    <p:sldId id="262" r:id="rId11"/>
    <p:sldId id="263" r:id="rId12"/>
    <p:sldId id="264" r:id="rId13"/>
    <p:sldId id="265" r:id="rId14"/>
    <p:sldId id="266" r:id="rId15"/>
    <p:sldId id="267" r:id="rId16"/>
    <p:sldId id="286" r:id="rId17"/>
    <p:sldId id="287" r:id="rId18"/>
    <p:sldId id="288" r:id="rId19"/>
    <p:sldId id="289" r:id="rId20"/>
    <p:sldId id="269" r:id="rId21"/>
    <p:sldId id="270" r:id="rId22"/>
    <p:sldId id="271" r:id="rId23"/>
    <p:sldId id="272" r:id="rId24"/>
    <p:sldId id="273" r:id="rId25"/>
    <p:sldId id="301" r:id="rId26"/>
    <p:sldId id="324" r:id="rId27"/>
    <p:sldId id="302" r:id="rId28"/>
    <p:sldId id="303" r:id="rId29"/>
    <p:sldId id="325" r:id="rId30"/>
    <p:sldId id="304" r:id="rId31"/>
    <p:sldId id="305" r:id="rId32"/>
    <p:sldId id="306" r:id="rId33"/>
    <p:sldId id="307" r:id="rId34"/>
    <p:sldId id="326" r:id="rId35"/>
    <p:sldId id="290" r:id="rId36"/>
    <p:sldId id="274" r:id="rId37"/>
    <p:sldId id="315" r:id="rId38"/>
    <p:sldId id="275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276" r:id="rId48"/>
    <p:sldId id="277" r:id="rId49"/>
    <p:sldId id="336" r:id="rId50"/>
    <p:sldId id="337" r:id="rId51"/>
    <p:sldId id="291" r:id="rId52"/>
    <p:sldId id="292" r:id="rId53"/>
    <p:sldId id="297" r:id="rId54"/>
    <p:sldId id="311" r:id="rId55"/>
    <p:sldId id="339" r:id="rId56"/>
    <p:sldId id="340" r:id="rId57"/>
    <p:sldId id="341" r:id="rId58"/>
    <p:sldId id="338" r:id="rId59"/>
    <p:sldId id="312" r:id="rId60"/>
    <p:sldId id="278" r:id="rId61"/>
    <p:sldId id="279" r:id="rId62"/>
    <p:sldId id="282" r:id="rId63"/>
    <p:sldId id="300" r:id="rId64"/>
    <p:sldId id="283" r:id="rId65"/>
    <p:sldId id="28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FF00-BF0C-4B1A-9419-B33CC8953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4D4EB-5CF2-4DD0-871E-B06BFE9F2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F665-5D2E-4E87-BF6D-0E79CFBC2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AF0A3-E2A9-4411-B879-1C1D2C77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E8B7-8BB8-4328-A53E-DAAB0851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6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69C1-1A9F-4FA2-AC1F-E237BD54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FE52E-DA03-4AC8-8F61-E0CB030C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83F6-0251-42C5-91F2-F5AC761A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00AE1-4C3C-42D5-9855-27BED396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A20D7-5B87-4FEA-B548-902247B6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D8AD-BC89-4F40-BBF0-0BBCB317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A163B-F2AC-4C24-A6C4-CE1B60F87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DB087-1BF3-421E-BFD8-451A74B3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3D380-7766-4127-A401-36D8B0B9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AE851-D090-4B8B-B643-4D6CD377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5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FD36-ABD7-4EAD-81AA-275B36F8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9CD27-6FA5-45D3-8041-295C3945D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5F23A-BED8-495A-9797-98589B0C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4CB18-B5D9-4553-8CC5-1AB82E41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43092-1731-4E52-9A84-05AECAD5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65DAB-F860-445C-81F0-D879BE07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5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2B75-6E1E-40A5-8993-A00C174F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F61CB-5C01-4A87-9ED5-12E0D8EF9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A0304-ADAC-41C4-ACAE-C6E80CC5D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D84A5-50AA-43A9-9734-43F636FE3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A9584-6EE2-4DF2-BEAA-FE433A9F9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A0D99-52EB-44FD-9CF9-68D5555F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5BF22-DF4D-4DC6-8041-23B6D1FE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06D14-E7B4-4B40-BF9C-78AA27F6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0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3B84-052D-4EE7-B638-0DC72B73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D7E93-1A4D-4F42-AC9C-9F15BB1A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9482B-B772-4E75-BDF4-04E700B8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6F780-78E5-49E3-8F05-86CDD303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3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8AD4D9-CFBD-4275-BE5F-B740F7A2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684EB-6E9A-4A79-8D1B-44ECE3F3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FDFBF-EBB4-45B4-91DE-D832ACA2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8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1596-F878-4F04-835C-BA21DF7A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9F1D-52DD-40A6-97B3-3BBFA57DA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DD1A-F601-4E40-B96E-11057F04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9516E-F80C-485D-99DE-EE4D7FB0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26CEF-A0B5-4712-ADCE-DD8F0ED6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A13D3-44F5-4DFE-B668-844D6932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2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8476-204B-4B95-AF55-F6DFC323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3F5A2-AC07-47E6-9D31-43A2C2E8B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961D0-C588-4DD2-8D1C-4650634BE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5AFB6-E692-4E20-8099-AA40A732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6495B-BE53-4A47-AEA2-19A9008C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844FF-3C5D-4448-B583-FDD6C0A3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1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B95F-9E7B-46E1-9832-F839D562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DFBFC-64A5-4E35-B56D-3EC5E383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0894F-7E33-4912-86B3-3FE01CBE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83E6E-FD96-4687-9B34-9B52A89A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53863-DA36-45C8-9C8D-09FF108C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3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27113-DE71-475B-B12E-352857F14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43102-5139-417A-81AE-03F88A83C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B1A3-D2AE-4DB0-ADAB-03F7C348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DDB0B-B886-49F3-9010-C97624C1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013BD-6A8A-44BE-B169-FBFE0E56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4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7D437-1901-4CF6-B5F5-2D684DC5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C2B4F-5BEA-4C48-8E08-7E3D9AAEA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BE185-2A78-47E9-9789-094527CB6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97454-667C-425D-952C-B0CDCB0895B5}" type="datetimeFigureOut">
              <a:rPr lang="en-US" smtClean="0"/>
              <a:t>02/07/2024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32B09-DA25-48D6-8843-C86B60925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5AA7-3B97-42DA-A988-00503A750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D4D9E-10D5-4707-9087-1B0576E3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4A48-EF2D-4C3E-8D1E-43ED6BD16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latin typeface="+mn-lt"/>
              </a:rPr>
              <a:t>SUBSTANCE-RELATED </a:t>
            </a:r>
            <a:br>
              <a:rPr lang="en-US" sz="6000" b="1" dirty="0">
                <a:latin typeface="+mn-lt"/>
              </a:rPr>
            </a:br>
            <a:r>
              <a:rPr lang="en-US" sz="6000" b="1" dirty="0">
                <a:latin typeface="+mn-lt"/>
              </a:rPr>
              <a:t>&amp;</a:t>
            </a:r>
            <a:br>
              <a:rPr lang="en-US" sz="6000" b="1" dirty="0">
                <a:latin typeface="+mn-lt"/>
              </a:rPr>
            </a:br>
            <a:r>
              <a:rPr lang="en-US" sz="6000" b="1" dirty="0">
                <a:latin typeface="+mn-lt"/>
              </a:rPr>
              <a:t> ADDICTIVE DISORDERS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AD7F4-ED9D-487B-80BC-5C3D9B17C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4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5EB5-403E-8A6E-F192-820D0652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506"/>
            <a:ext cx="10515600" cy="4435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B01DC-09D9-D5A2-973D-AE8E44767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28"/>
            <a:ext cx="10515600" cy="5462649"/>
          </a:xfrm>
        </p:spPr>
        <p:txBody>
          <a:bodyPr/>
          <a:lstStyle/>
          <a:p>
            <a:pPr>
              <a:buNone/>
            </a:pPr>
            <a:r>
              <a:rPr lang="en-US" b="1" dirty="0"/>
              <a:t>By the end of the lesson, the learner should be able to:-</a:t>
            </a:r>
          </a:p>
          <a:p>
            <a:pPr marL="514350" indent="-514350">
              <a:buAutoNum type="arabicPeriod"/>
            </a:pPr>
            <a:r>
              <a:rPr lang="en-US" sz="2800" dirty="0"/>
              <a:t>Define substance withdrawal, intoxication</a:t>
            </a:r>
          </a:p>
          <a:p>
            <a:pPr marL="514350" indent="-514350">
              <a:buAutoNum type="arabicPeriod"/>
            </a:pPr>
            <a:r>
              <a:rPr lang="en-US" sz="2800" dirty="0"/>
              <a:t>Explain social, economic, and medical effects of substance use </a:t>
            </a:r>
          </a:p>
          <a:p>
            <a:pPr marL="514350" indent="-514350">
              <a:buAutoNum type="arabicPeriod"/>
            </a:pPr>
            <a:r>
              <a:rPr lang="en-US" sz="2800" dirty="0"/>
              <a:t>Describe classes of drugs of abuse and their symptoms: intoxication/withdrawal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/>
              <a:t>Describe the diagnostic criteria(DSM 5) of addictive disorders and substance related disorders,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/>
              <a:t>Describe the management of </a:t>
            </a:r>
            <a:r>
              <a:rPr lang="en-US" sz="2800" dirty="0">
                <a:latin typeface="+mn-lt"/>
              </a:rPr>
              <a:t>Substance-related &amp; addictive disorders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3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652E-9CC0-4D1F-B029-54AD3FA8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56"/>
            <a:ext cx="10515600" cy="2375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B7BE-F48E-4A02-A7CF-7DEB3D12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026"/>
            <a:ext cx="10515600" cy="5226937"/>
          </a:xfrm>
        </p:spPr>
        <p:txBody>
          <a:bodyPr/>
          <a:lstStyle/>
          <a:p>
            <a:pPr lvl="0" latinLnBrk="1"/>
            <a:r>
              <a:rPr lang="zh-CN" altLang="en-US" sz="3200" dirty="0"/>
              <a:t>The Substance-Related Disorders include disorders related to;</a:t>
            </a:r>
          </a:p>
          <a:p>
            <a:pPr lvl="1" fontAlgn="ctr" latinLnBrk="1"/>
            <a:r>
              <a:rPr lang="zh-CN" altLang="en-US" sz="3200" dirty="0"/>
              <a:t>taking of a drug of abuse (including alcohol)</a:t>
            </a:r>
          </a:p>
          <a:p>
            <a:pPr lvl="1" fontAlgn="ctr" latinLnBrk="1"/>
            <a:r>
              <a:rPr lang="zh-CN" altLang="en-US" sz="3200" dirty="0"/>
              <a:t>the side effects of a medication</a:t>
            </a:r>
          </a:p>
          <a:p>
            <a:pPr lvl="1" fontAlgn="ctr" latinLnBrk="1"/>
            <a:r>
              <a:rPr lang="zh-CN" altLang="en-US" sz="3200" dirty="0"/>
              <a:t>toxin exposure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7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CF2E-5A7C-47C6-BC16-95E95C8E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56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4AF1-0880-4297-853F-67C8BF8D0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 fontScale="92500" lnSpcReduction="10000"/>
          </a:bodyPr>
          <a:lstStyle/>
          <a:p>
            <a:pPr lvl="0" latinLnBrk="1"/>
            <a:r>
              <a:rPr lang="en-US" altLang="zh-CN" sz="3200" dirty="0"/>
              <a:t>The substances are grouped into </a:t>
            </a:r>
            <a:r>
              <a:rPr lang="en-US" altLang="zh-CN" sz="3200" b="1" dirty="0"/>
              <a:t>11 classes;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Alcohol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Sedative, hypnotic, or anxiolytic substances.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Cocaine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Amphetamine and related substances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Hallucinogen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Cannabis sativa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Phencyclidine (PCP) and related substances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Inhalant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Nicotine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Opioid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3200" dirty="0"/>
              <a:t>Caffeine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5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E84A-14A4-4DB4-9D1A-24AF8E5F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32"/>
            <a:ext cx="10515600" cy="2256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4482F-66DE-4158-BE18-565E0BD67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6582"/>
            <a:ext cx="10515600" cy="5878286"/>
          </a:xfrm>
        </p:spPr>
        <p:txBody>
          <a:bodyPr>
            <a:normAutofit/>
          </a:bodyPr>
          <a:lstStyle/>
          <a:p>
            <a:pPr lvl="0" latinLnBrk="1"/>
            <a:r>
              <a:rPr lang="en-US" altLang="zh-CN" dirty="0"/>
              <a:t>The Substance-Related Disorders are divided into two groups: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altLang="zh-CN" sz="2800" b="1" dirty="0"/>
              <a:t>Substance Use </a:t>
            </a:r>
            <a:r>
              <a:rPr lang="en-US" sz="2800" dirty="0"/>
              <a:t>Disorders;</a:t>
            </a:r>
          </a:p>
          <a:p>
            <a:pPr lvl="2" fontAlgn="ctr" latinLnBrk="1"/>
            <a:r>
              <a:rPr lang="en-US" sz="2800" dirty="0"/>
              <a:t>Substance Dependence</a:t>
            </a:r>
          </a:p>
          <a:p>
            <a:pPr lvl="2" fontAlgn="ctr" latinLnBrk="1"/>
            <a:r>
              <a:rPr lang="en-US" sz="2800" dirty="0"/>
              <a:t>Substance Abuse</a:t>
            </a:r>
          </a:p>
          <a:p>
            <a:pPr marL="971550" lvl="1" indent="-582930" fontAlgn="ctr" latinLnBrk="1">
              <a:buFontTx/>
              <a:buAutoNum type="arabicPeriod"/>
            </a:pPr>
            <a:r>
              <a:rPr lang="en-US" sz="2800" b="1" dirty="0"/>
              <a:t>Substance-Induced</a:t>
            </a:r>
            <a:r>
              <a:rPr lang="en-US" sz="2800" dirty="0"/>
              <a:t> </a:t>
            </a:r>
            <a:r>
              <a:rPr lang="en-US" sz="2800" b="1" dirty="0"/>
              <a:t>Disorders;</a:t>
            </a:r>
          </a:p>
          <a:p>
            <a:pPr lvl="2" fontAlgn="ctr" latinLnBrk="1"/>
            <a:r>
              <a:rPr lang="en-US" sz="2800" dirty="0"/>
              <a:t>Substance Intoxication</a:t>
            </a:r>
          </a:p>
          <a:p>
            <a:pPr lvl="2" fontAlgn="ctr" latinLnBrk="1"/>
            <a:r>
              <a:rPr lang="en-US" sz="2800" dirty="0"/>
              <a:t>Substance Withdrawal</a:t>
            </a:r>
          </a:p>
          <a:p>
            <a:pPr lvl="2" fontAlgn="ctr" latinLnBrk="1"/>
            <a:r>
              <a:rPr lang="en-US" sz="2800" dirty="0"/>
              <a:t>Substance-Induced Delirium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76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0395-E965-9B46-EBCE-AFE1D8F9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852"/>
            <a:ext cx="10515600" cy="38518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248C-AE5B-3533-74DA-90347114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109"/>
            <a:ext cx="10515600" cy="5234854"/>
          </a:xfrm>
        </p:spPr>
        <p:txBody>
          <a:bodyPr/>
          <a:lstStyle/>
          <a:p>
            <a:pPr lvl="2" fontAlgn="ctr" latinLnBrk="1"/>
            <a:r>
              <a:rPr lang="en-US" sz="2800" dirty="0"/>
              <a:t>Substance-Induced Persisting Dementia</a:t>
            </a:r>
          </a:p>
          <a:p>
            <a:pPr lvl="2" fontAlgn="ctr" latinLnBrk="1"/>
            <a:r>
              <a:rPr lang="zh-CN" altLang="en-US" sz="2800" dirty="0"/>
              <a:t>Substance-Induced Persisting Amnesic Disorder</a:t>
            </a:r>
          </a:p>
          <a:p>
            <a:pPr lvl="2" fontAlgn="ctr" latinLnBrk="1"/>
            <a:r>
              <a:rPr lang="zh-CN" altLang="en-US" sz="2800" dirty="0"/>
              <a:t>Substance-Induced Psychotic Disorder</a:t>
            </a:r>
          </a:p>
          <a:p>
            <a:pPr lvl="2" fontAlgn="ctr" latinLnBrk="1"/>
            <a:r>
              <a:rPr lang="zh-CN" altLang="en-US" sz="2800" dirty="0"/>
              <a:t>Substance-Induced Mood Disorder</a:t>
            </a:r>
          </a:p>
          <a:p>
            <a:pPr lvl="2" fontAlgn="ctr" latinLnBrk="1"/>
            <a:r>
              <a:rPr lang="zh-CN" altLang="en-US" sz="2800" dirty="0"/>
              <a:t>Substance-Induced Anxiety Disorder</a:t>
            </a:r>
          </a:p>
          <a:p>
            <a:pPr lvl="2" fontAlgn="ctr" latinLnBrk="1"/>
            <a:r>
              <a:rPr lang="zh-CN" altLang="en-US" sz="2800" dirty="0"/>
              <a:t>Substance-Induced Sexual Dysfunction</a:t>
            </a:r>
          </a:p>
          <a:p>
            <a:pPr lvl="2" fontAlgn="ctr" latinLnBrk="1"/>
            <a:r>
              <a:rPr lang="zh-CN" altLang="en-US" sz="2800" dirty="0"/>
              <a:t>Substance-Induced Sleep Disorder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7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432A-E1C6-4182-B9C4-BDD0B161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008"/>
            <a:ext cx="10515600" cy="396029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efinitions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F0DE-63C6-4D98-B979-5DA7AE77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506192"/>
          </a:xfrm>
        </p:spPr>
        <p:txBody>
          <a:bodyPr>
            <a:normAutofit/>
          </a:bodyPr>
          <a:lstStyle/>
          <a:p>
            <a:pPr lvl="0" latinLnBrk="1"/>
            <a:r>
              <a:rPr lang="en-US" altLang="zh-CN" b="1" u="sng" dirty="0"/>
              <a:t>Drug</a:t>
            </a:r>
            <a:r>
              <a:rPr lang="en-US" b="1" dirty="0"/>
              <a:t>:</a:t>
            </a:r>
          </a:p>
          <a:p>
            <a:pPr marL="0" lvl="0" indent="0" latinLnBrk="1">
              <a:buNone/>
            </a:pPr>
            <a:r>
              <a:rPr lang="en-US" dirty="0"/>
              <a:t>- refers to any chemical agent that once taken in the body is </a:t>
            </a:r>
          </a:p>
          <a:p>
            <a:pPr marL="0" lvl="0" indent="0" latinLnBrk="1">
              <a:buNone/>
            </a:pPr>
            <a:r>
              <a:rPr lang="en-US" dirty="0"/>
              <a:t>   capable of causing physiological and psychological changes</a:t>
            </a:r>
          </a:p>
          <a:p>
            <a:pPr lvl="0" latinLnBrk="1"/>
            <a:r>
              <a:rPr lang="en-US" b="1" u="sng" dirty="0"/>
              <a:t>Psychoactive substance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a chemical compound that produces emotional, cognitive or </a:t>
            </a:r>
          </a:p>
          <a:p>
            <a:pPr lvl="0" latinLnBrk="1">
              <a:buFontTx/>
              <a:buChar char="-"/>
            </a:pPr>
            <a:r>
              <a:rPr lang="en-US" dirty="0" err="1"/>
              <a:t>behavioural</a:t>
            </a:r>
            <a:r>
              <a:rPr lang="en-US" dirty="0"/>
              <a:t> changes which may be pleasurable or </a:t>
            </a:r>
          </a:p>
          <a:p>
            <a:pPr lvl="0" latinLnBrk="1">
              <a:buFontTx/>
              <a:buChar char="-"/>
            </a:pPr>
            <a:r>
              <a:rPr lang="en-US" dirty="0"/>
              <a:t>desirable to the user, with adverse medical consequences</a:t>
            </a:r>
          </a:p>
          <a:p>
            <a:pPr lvl="0" latinLnBrk="1"/>
            <a:r>
              <a:rPr lang="en-US" b="1" u="sng" dirty="0"/>
              <a:t>Abuse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is a pathological pattern of use of </a:t>
            </a:r>
            <a:r>
              <a:rPr lang="en-US" altLang="zh-CN" sz="2800" dirty="0"/>
              <a:t>substances</a:t>
            </a:r>
            <a:r>
              <a:rPr lang="en-US" altLang="zh-CN" sz="2800" b="1" dirty="0"/>
              <a:t> </a:t>
            </a:r>
          </a:p>
          <a:p>
            <a:pPr lvl="0" latinLnBrk="1">
              <a:buFontTx/>
              <a:buChar char="-"/>
            </a:pPr>
            <a:r>
              <a:rPr lang="en-US" dirty="0"/>
              <a:t>one experiences loss of control and begins to suffer health, social and occupational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5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4F29-5D15-46DC-8841-28E6BC43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24938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EAF9-5804-4CAC-9849-2E8806876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1"/>
            <a:ext cx="10515600" cy="5973288"/>
          </a:xfrm>
        </p:spPr>
        <p:txBody>
          <a:bodyPr>
            <a:normAutofit/>
          </a:bodyPr>
          <a:lstStyle/>
          <a:p>
            <a:pPr lvl="0" latinLnBrk="1"/>
            <a:r>
              <a:rPr lang="en-US" altLang="zh-CN" b="1" u="sng" dirty="0"/>
              <a:t>Tolerance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The need for more of the drug in order to achieve a similar effect  </a:t>
            </a:r>
          </a:p>
          <a:p>
            <a:pPr marL="0" lvl="0" indent="0" latinLnBrk="1">
              <a:buNone/>
            </a:pPr>
            <a:r>
              <a:rPr lang="en-US" dirty="0"/>
              <a:t>   realized   before at a lower dose</a:t>
            </a:r>
          </a:p>
          <a:p>
            <a:pPr lvl="0" latinLnBrk="1"/>
            <a:r>
              <a:rPr lang="en-US" b="1" u="sng" dirty="0"/>
              <a:t>Dependence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Refers to compulsion to take the drug on a continuous basis in order </a:t>
            </a:r>
          </a:p>
          <a:p>
            <a:pPr marL="0" lvl="0" indent="0" latinLnBrk="1">
              <a:buNone/>
            </a:pPr>
            <a:r>
              <a:rPr lang="en-US" dirty="0"/>
              <a:t>  to feel its effects and to further avoid the discomfort of its absence</a:t>
            </a:r>
          </a:p>
          <a:p>
            <a:pPr lvl="0" latinLnBrk="1"/>
            <a:r>
              <a:rPr lang="en-US" b="1" u="sng" dirty="0"/>
              <a:t>Substance intoxication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The development of a reversible substance specific syndrome due to </a:t>
            </a:r>
          </a:p>
          <a:p>
            <a:pPr marL="0" lvl="0" indent="0" latinLnBrk="1">
              <a:buNone/>
            </a:pPr>
            <a:r>
              <a:rPr lang="en-US" dirty="0"/>
              <a:t>   recent ingestion of or exposure to a substance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1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7A5F-6772-561A-03E7-A9468AD2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946"/>
            <a:ext cx="10515600" cy="39009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5D01-2A15-401F-6EC8-042E2C1E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28255"/>
            <a:ext cx="10868891" cy="5248708"/>
          </a:xfrm>
        </p:spPr>
        <p:txBody>
          <a:bodyPr/>
          <a:lstStyle/>
          <a:p>
            <a:pPr lvl="0" latinLnBrk="1"/>
            <a:r>
              <a:rPr lang="en-US" b="1" u="sng" dirty="0"/>
              <a:t>Substance withdrawal</a:t>
            </a:r>
            <a:r>
              <a:rPr lang="en-US" b="1" dirty="0"/>
              <a:t>: </a:t>
            </a:r>
          </a:p>
          <a:p>
            <a:pPr lvl="0" latinLnBrk="1">
              <a:buFontTx/>
              <a:buChar char="-"/>
            </a:pPr>
            <a:r>
              <a:rPr lang="en-US" dirty="0"/>
              <a:t>The development of a substance specific syndrome due to the cessation of or reduction in substance use that has been heavy and prolonged. </a:t>
            </a:r>
          </a:p>
          <a:p>
            <a:pPr lvl="0" latinLnBrk="1">
              <a:buFontTx/>
              <a:buChar char="-"/>
            </a:pPr>
            <a:r>
              <a:rPr lang="en-US" dirty="0"/>
              <a:t>The substance specific syndrome causes clinically significant distress and</a:t>
            </a:r>
          </a:p>
          <a:p>
            <a:pPr marL="0" lvl="0" indent="0" latinLnBrk="1">
              <a:buNone/>
            </a:pPr>
            <a:r>
              <a:rPr lang="en-US" dirty="0"/>
              <a:t>   impaired functioning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4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B350-031C-423A-9656-E0F73E0A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130"/>
            <a:ext cx="10515600" cy="2731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A744-4452-4EEE-BCE7-C939BCCB9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6894"/>
            <a:ext cx="10515600" cy="5783283"/>
          </a:xfrm>
        </p:spPr>
        <p:txBody>
          <a:bodyPr>
            <a:normAutofit/>
          </a:bodyPr>
          <a:lstStyle/>
          <a:p>
            <a:pPr lvl="0" latinLnBrk="1">
              <a:buNone/>
            </a:pPr>
            <a:r>
              <a:rPr lang="en-US" altLang="zh-CN" b="1" u="sng" dirty="0"/>
              <a:t>Impairment and Complications</a:t>
            </a:r>
          </a:p>
          <a:p>
            <a:pPr lvl="0" fontAlgn="ctr" latinLnBrk="1"/>
            <a:r>
              <a:rPr lang="en-US" altLang="zh-CN" b="1" dirty="0"/>
              <a:t>Deterioration in general health</a:t>
            </a:r>
            <a:r>
              <a:rPr lang="en-US" dirty="0"/>
              <a:t>. 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Nutrition inadequacy: Malnutrition may result from improper diet 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i.e. Malabsorption of vitamins Bs due to alcoholism 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General medical conditions e.g. abdominal ulcers, liver cirrhosis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Inadequate personal hygiene. </a:t>
            </a:r>
          </a:p>
          <a:p>
            <a:pPr lvl="0" fontAlgn="ctr" latinLnBrk="1"/>
            <a:r>
              <a:rPr lang="en-US" b="1" dirty="0"/>
              <a:t>Trauma:</a:t>
            </a:r>
            <a:r>
              <a:rPr lang="en-US" dirty="0"/>
              <a:t> related to impaired motor coordination or faulty judgment.</a:t>
            </a:r>
          </a:p>
          <a:p>
            <a:pPr lvl="0" fontAlgn="ctr" latinLnBrk="1"/>
            <a:r>
              <a:rPr lang="en-US" b="1" dirty="0"/>
              <a:t>sudden death: </a:t>
            </a:r>
            <a:r>
              <a:rPr lang="en-US" dirty="0"/>
              <a:t>Stimulant use can result in sudden death from: </a:t>
            </a:r>
          </a:p>
          <a:p>
            <a:pPr lvl="0" fontAlgn="ctr" latinLnBrk="1">
              <a:buFontTx/>
              <a:buChar char="-"/>
            </a:pPr>
            <a:r>
              <a:rPr lang="en-US" i="1" dirty="0"/>
              <a:t>Cardiac arrhythmias, myocardial infarction, </a:t>
            </a:r>
          </a:p>
          <a:p>
            <a:pPr lvl="0" fontAlgn="ctr" latinLnBrk="1">
              <a:buFontTx/>
              <a:buChar char="-"/>
            </a:pPr>
            <a:r>
              <a:rPr lang="en-US" i="1" dirty="0"/>
              <a:t>Cerebrovascular accident, or respiratory arrest.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91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E8BE-25AF-4836-A326-6BB586A4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32"/>
            <a:ext cx="10515600" cy="20188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5F1A-9809-4D52-9298-F702D5E95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6894"/>
            <a:ext cx="10515600" cy="5500069"/>
          </a:xfrm>
        </p:spPr>
        <p:txBody>
          <a:bodyPr/>
          <a:lstStyle/>
          <a:p>
            <a:pPr lvl="0" fontAlgn="ctr" latinLnBrk="1"/>
            <a:r>
              <a:rPr lang="en-US" b="1" dirty="0"/>
              <a:t>Infections: </a:t>
            </a:r>
            <a:r>
              <a:rPr lang="en-US" altLang="zh-CN" dirty="0"/>
              <a:t>The use of </a:t>
            </a:r>
            <a:r>
              <a:rPr lang="en-US" altLang="zh-CN" b="1" dirty="0"/>
              <a:t>contaminated needles </a:t>
            </a:r>
            <a:r>
              <a:rPr lang="en-US" dirty="0"/>
              <a:t>during intravenous </a:t>
            </a:r>
          </a:p>
          <a:p>
            <a:pPr marL="0" lvl="0" indent="0" fontAlgn="ctr" latinLnBrk="1">
              <a:buNone/>
            </a:pPr>
            <a:r>
              <a:rPr lang="en-US" dirty="0"/>
              <a:t>   administration of substances can cause:</a:t>
            </a:r>
            <a:r>
              <a:rPr lang="en-US" i="1" dirty="0"/>
              <a:t> </a:t>
            </a:r>
          </a:p>
          <a:p>
            <a:pPr lvl="0" fontAlgn="ctr" latinLnBrk="1">
              <a:buFontTx/>
              <a:buChar char="-"/>
            </a:pPr>
            <a:r>
              <a:rPr lang="en-US" i="1" dirty="0"/>
              <a:t>HIV infection, hepatitis, tetanus, vasculitis, septicaemia, </a:t>
            </a:r>
          </a:p>
          <a:p>
            <a:pPr lvl="0" fontAlgn="ctr" latinLnBrk="1">
              <a:buFontTx/>
              <a:buChar char="-"/>
            </a:pPr>
            <a:r>
              <a:rPr lang="en-US" i="1" dirty="0"/>
              <a:t>sub acute bacterial endocarditis, embolic phenomena, and malaria.</a:t>
            </a:r>
          </a:p>
          <a:p>
            <a:pPr lvl="0" fontAlgn="ctr" latinLnBrk="1"/>
            <a:r>
              <a:rPr lang="en-US" b="1" dirty="0"/>
              <a:t>Violent or aggressive </a:t>
            </a:r>
            <a:r>
              <a:rPr lang="en-US" b="1" dirty="0" err="1"/>
              <a:t>behaviour</a:t>
            </a:r>
            <a:r>
              <a:rPr lang="en-US" b="1" dirty="0"/>
              <a:t> : </a:t>
            </a:r>
            <a:r>
              <a:rPr lang="en-US" dirty="0"/>
              <a:t>may be manifested by: 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fights or criminal activity, </a:t>
            </a:r>
          </a:p>
          <a:p>
            <a:pPr lvl="0" fontAlgn="ctr" latinLnBrk="1">
              <a:buFontTx/>
              <a:buChar char="-"/>
            </a:pPr>
            <a:r>
              <a:rPr lang="en-US" dirty="0"/>
              <a:t>can result in injury to the person using the substance or to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35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829D-1990-48E8-BE01-AFF8D461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56"/>
            <a:ext cx="10515600" cy="26125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FC4C-A585-46C6-8034-30A63DBDE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6894"/>
            <a:ext cx="10515600" cy="5500069"/>
          </a:xfrm>
        </p:spPr>
        <p:txBody>
          <a:bodyPr/>
          <a:lstStyle/>
          <a:p>
            <a:r>
              <a:rPr lang="en-US" b="1" dirty="0"/>
              <a:t>Adverse effects on the developing </a:t>
            </a:r>
            <a:r>
              <a:rPr lang="en-US" b="1" dirty="0" err="1"/>
              <a:t>foetus</a:t>
            </a:r>
            <a:r>
              <a:rPr lang="en-US" b="1" dirty="0"/>
              <a:t> 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altLang="zh-CN" dirty="0"/>
              <a:t>Most of the substances can </a:t>
            </a:r>
            <a:r>
              <a:rPr lang="en-US" altLang="zh-CN" b="1" dirty="0"/>
              <a:t>cross the placenta barrier</a:t>
            </a:r>
            <a:r>
              <a:rPr lang="en-US" dirty="0"/>
              <a:t>, </a:t>
            </a:r>
          </a:p>
          <a:p>
            <a:pPr>
              <a:buFontTx/>
              <a:buChar char="-"/>
            </a:pPr>
            <a:r>
              <a:rPr lang="en-US" dirty="0"/>
              <a:t>they may have potential </a:t>
            </a:r>
            <a:r>
              <a:rPr lang="en-US" b="1" dirty="0"/>
              <a:t>adverse effects on the developing </a:t>
            </a:r>
            <a:r>
              <a:rPr lang="en-US" b="1" dirty="0" err="1"/>
              <a:t>foetus</a:t>
            </a:r>
            <a:endParaRPr lang="en-US" dirty="0"/>
          </a:p>
          <a:p>
            <a:r>
              <a:rPr lang="en-US" dirty="0"/>
              <a:t>When taken repeatedly in high doses by the mother, a number of substances (e.g., </a:t>
            </a:r>
            <a:r>
              <a:rPr lang="en-US" i="1" dirty="0"/>
              <a:t>cocaine, opioids, alcohol, sedatives, hypnotics, and anxiolytics</a:t>
            </a:r>
            <a:r>
              <a:rPr lang="en-US" dirty="0"/>
              <a:t>) are capable of causing: </a:t>
            </a:r>
          </a:p>
          <a:p>
            <a:pPr>
              <a:buFontTx/>
              <a:buChar char="-"/>
            </a:pPr>
            <a:r>
              <a:rPr lang="en-US" b="1" dirty="0"/>
              <a:t>physiological dependence</a:t>
            </a:r>
            <a:r>
              <a:rPr lang="en-US" dirty="0"/>
              <a:t> in the </a:t>
            </a:r>
            <a:r>
              <a:rPr lang="en-US" b="1" dirty="0" err="1"/>
              <a:t>foetus</a:t>
            </a:r>
            <a:r>
              <a:rPr lang="en-US" b="1" dirty="0"/>
              <a:t> </a:t>
            </a:r>
            <a:r>
              <a:rPr lang="en-US" dirty="0"/>
              <a:t>or</a:t>
            </a:r>
          </a:p>
          <a:p>
            <a:pPr>
              <a:buFontTx/>
              <a:buChar char="-"/>
            </a:pPr>
            <a:r>
              <a:rPr lang="en-US" b="1" dirty="0"/>
              <a:t>withdrawal syndrome</a:t>
            </a:r>
            <a:r>
              <a:rPr lang="en-US" dirty="0"/>
              <a:t> in the</a:t>
            </a:r>
            <a:r>
              <a:rPr lang="en-US" b="1" dirty="0"/>
              <a:t> newborn.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b="1" dirty="0" err="1"/>
              <a:t>Foetal</a:t>
            </a:r>
            <a:r>
              <a:rPr lang="en-US" b="1" dirty="0"/>
              <a:t> alcohol syndrome</a:t>
            </a:r>
            <a:r>
              <a:rPr lang="en-US" dirty="0"/>
              <a:t> in the</a:t>
            </a:r>
            <a:r>
              <a:rPr lang="en-US" b="1" dirty="0"/>
              <a:t> newborn</a:t>
            </a:r>
            <a:r>
              <a:rPr lang="en-US" dirty="0"/>
              <a:t>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19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3119-CCD5-45D4-9623-CDA7001B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1"/>
            <a:ext cx="10515600" cy="581891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+mn-lt"/>
              </a:rPr>
              <a:t>Substance use disorders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E614-6442-4717-90A8-7FEBD018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8779"/>
            <a:ext cx="10813473" cy="5108184"/>
          </a:xfrm>
        </p:spPr>
        <p:txBody>
          <a:bodyPr>
            <a:normAutofit/>
          </a:bodyPr>
          <a:lstStyle/>
          <a:p>
            <a:pPr marL="342900" lvl="1" indent="-342900" latinLnBrk="1"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 dirty="0"/>
              <a:t>Substance use disorders are a group of mental disorders </a:t>
            </a:r>
            <a:endParaRPr lang="en-US" altLang="zh-CN" sz="3200" dirty="0"/>
          </a:p>
          <a:p>
            <a:pPr marL="0" lvl="1" indent="0" latinLnBrk="1">
              <a:buClr>
                <a:schemeClr val="accent2"/>
              </a:buClr>
              <a:buSzPct val="80000"/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manifested by </a:t>
            </a:r>
            <a:endParaRPr lang="en-US" altLang="zh-CN" sz="3200" dirty="0"/>
          </a:p>
          <a:p>
            <a:pPr marL="342900" lvl="1" indent="-342900" latinLnBrk="1">
              <a:buClr>
                <a:schemeClr val="accent2"/>
              </a:buClr>
              <a:buSzPct val="80000"/>
              <a:buFontTx/>
              <a:buChar char="-"/>
            </a:pPr>
            <a:r>
              <a:rPr lang="zh-CN" altLang="en-US" sz="3200" dirty="0"/>
              <a:t>impairments in social and occupational functions, </a:t>
            </a:r>
            <a:endParaRPr lang="en-US" altLang="zh-CN" sz="3200" dirty="0"/>
          </a:p>
          <a:p>
            <a:pPr marL="342900" lvl="1" indent="-342900" latinLnBrk="1">
              <a:buClr>
                <a:schemeClr val="accent2"/>
              </a:buClr>
              <a:buSzPct val="80000"/>
              <a:buFontTx/>
              <a:buChar char="-"/>
            </a:pPr>
            <a:r>
              <a:rPr lang="zh-CN" altLang="en-US" sz="3200" dirty="0"/>
              <a:t>which are related to a regular use of specific substances that </a:t>
            </a:r>
            <a:endParaRPr lang="en-US" altLang="zh-CN" sz="3200" dirty="0"/>
          </a:p>
          <a:p>
            <a:pPr marL="0" lvl="1" indent="0" latinLnBrk="1">
              <a:buClr>
                <a:schemeClr val="accent2"/>
              </a:buClr>
              <a:buSzPct val="80000"/>
              <a:buNone/>
            </a:pPr>
            <a:r>
              <a:rPr lang="en-US" altLang="zh-CN" sz="3200" dirty="0"/>
              <a:t>    </a:t>
            </a:r>
            <a:r>
              <a:rPr lang="zh-CN" altLang="en-US" sz="3200" dirty="0"/>
              <a:t>are intended to alter mood or behaviour.</a:t>
            </a:r>
          </a:p>
          <a:p>
            <a:pPr marL="342900" lvl="1" indent="-342900" latinLnBrk="1"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 dirty="0"/>
              <a:t>Alcohol is one of the commonly used psychoactive substance. </a:t>
            </a:r>
            <a:endParaRPr lang="en-US" altLang="zh-CN" sz="3200" dirty="0"/>
          </a:p>
          <a:p>
            <a:pPr marL="342900" lvl="1" indent="-342900" latinLnBrk="1"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 dirty="0"/>
              <a:t>Alcoholism affects 7.5-10 million people worldwide, </a:t>
            </a:r>
            <a:endParaRPr lang="en-US" altLang="zh-CN" sz="3200" dirty="0"/>
          </a:p>
          <a:p>
            <a:pPr marL="342900" lvl="1" indent="-342900" latinLnBrk="1"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 dirty="0"/>
              <a:t>mainly those in early and middle adulthood. </a:t>
            </a:r>
            <a:endParaRPr lang="en-US" altLang="zh-CN" sz="3200" dirty="0"/>
          </a:p>
          <a:p>
            <a:pPr marL="342900" lvl="1" indent="-342900" latinLnBrk="1"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 dirty="0"/>
              <a:t>Substance abuse is more common in men than in women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56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8DFC-23D3-42DB-93EB-345C2886A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864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Presenting Complaints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DF7A-11E4-4B60-A606-CA28A6C01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034"/>
            <a:ext cx="10633364" cy="5257840"/>
          </a:xfrm>
        </p:spPr>
        <p:txBody>
          <a:bodyPr>
            <a:normAutofit/>
          </a:bodyPr>
          <a:lstStyle/>
          <a:p>
            <a:pPr lvl="0" latinLnBrk="1"/>
            <a:r>
              <a:rPr lang="zh-CN" altLang="en-US" sz="3200" dirty="0"/>
              <a:t>Patients may be depressed, or nervous </a:t>
            </a:r>
            <a:endParaRPr lang="en-US" altLang="zh-CN" sz="3200" dirty="0"/>
          </a:p>
          <a:p>
            <a:pPr lvl="0" latinLnBrk="1"/>
            <a:r>
              <a:rPr lang="en-US" altLang="zh-CN" sz="3200" dirty="0"/>
              <a:t>May</a:t>
            </a:r>
            <a:r>
              <a:rPr lang="zh-CN" altLang="en-US" sz="3200" dirty="0"/>
              <a:t> exhibit signs of</a:t>
            </a:r>
            <a:r>
              <a:rPr lang="en-US" altLang="zh-CN" sz="3200" dirty="0"/>
              <a:t> </a:t>
            </a:r>
            <a:r>
              <a:rPr lang="zh-CN" altLang="en-US" sz="3200" dirty="0"/>
              <a:t>insomnia.</a:t>
            </a:r>
            <a:endParaRPr lang="en-US" altLang="zh-CN" sz="3200" dirty="0"/>
          </a:p>
          <a:p>
            <a:pPr latinLnBrk="1"/>
            <a:r>
              <a:rPr lang="zh-CN" altLang="en-US" sz="3200" dirty="0"/>
              <a:t>They may directly request a prescription for narcotics or other </a:t>
            </a:r>
            <a:endParaRPr lang="en-US" altLang="zh-CN" sz="3200" dirty="0"/>
          </a:p>
          <a:p>
            <a:pPr marL="0" indent="0" latinLnBrk="1">
              <a:buNone/>
            </a:pPr>
            <a:r>
              <a:rPr lang="zh-CN" altLang="en-US" sz="3200" dirty="0"/>
              <a:t>  drugs, </a:t>
            </a:r>
            <a:endParaRPr lang="en-US" altLang="zh-CN" sz="3200" dirty="0"/>
          </a:p>
          <a:p>
            <a:pPr latinLnBrk="1"/>
            <a:r>
              <a:rPr lang="en-US" altLang="zh-CN" sz="3200" dirty="0"/>
              <a:t>May </a:t>
            </a:r>
            <a:r>
              <a:rPr lang="zh-CN" altLang="en-US" sz="3200" dirty="0"/>
              <a:t>request help to </a:t>
            </a:r>
            <a:r>
              <a:rPr lang="en-US" altLang="zh-CN" sz="3200" dirty="0"/>
              <a:t>stop</a:t>
            </a:r>
            <a:r>
              <a:rPr lang="zh-CN" altLang="en-US" sz="3200" dirty="0"/>
              <a:t>, or help in stabilising their drug </a:t>
            </a:r>
            <a:endParaRPr lang="en-US" altLang="zh-CN" sz="3200" dirty="0"/>
          </a:p>
          <a:p>
            <a:pPr mar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use.</a:t>
            </a:r>
          </a:p>
          <a:p>
            <a:pPr lvl="0" latinLnBrk="1"/>
            <a:r>
              <a:rPr lang="zh-CN" altLang="en-US" sz="3200" dirty="0"/>
              <a:t>They may present in a state of intoxication, withdrawal or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physical complications of drug use, for example, abscess or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thrombosis.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97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2993-0021-44F8-A977-FBE4AD1F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008"/>
            <a:ext cx="10515600" cy="2731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CF7B-F9A7-41FF-9DE2-BCDF339EF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519"/>
            <a:ext cx="10515600" cy="5747658"/>
          </a:xfrm>
        </p:spPr>
        <p:txBody>
          <a:bodyPr/>
          <a:lstStyle/>
          <a:p>
            <a:pPr lvl="0" latinLnBrk="1"/>
            <a:r>
              <a:rPr lang="zh-CN" altLang="en-US" sz="3200" dirty="0"/>
              <a:t>They may also present with social or legal consequences of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their drug use, </a:t>
            </a:r>
            <a:r>
              <a:rPr lang="en-US" altLang="zh-CN" sz="3200" dirty="0"/>
              <a:t>e.g. </a:t>
            </a:r>
            <a:r>
              <a:rPr lang="zh-CN" altLang="en-US" sz="3200" dirty="0"/>
              <a:t>debt or prosecution. </a:t>
            </a:r>
          </a:p>
          <a:p>
            <a:pPr lvl="0" latinLnBrk="1"/>
            <a:r>
              <a:rPr lang="zh-CN" altLang="en-US" sz="3200" dirty="0"/>
              <a:t>Occasionally, covert drug use may manifest itself as bizarre,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unexplained behaviour.</a:t>
            </a:r>
          </a:p>
          <a:p>
            <a:pPr lvl="0" latinLnBrk="1"/>
            <a:r>
              <a:rPr lang="en-US" altLang="zh-CN" sz="3200" dirty="0"/>
              <a:t>Signs of drug withdrawal include:</a:t>
            </a:r>
          </a:p>
          <a:p>
            <a:pPr lvl="1" latinLnBrk="1"/>
            <a:r>
              <a:rPr lang="en-US" sz="3200" dirty="0"/>
              <a:t>Opioids lead to nausea, sweating, hallucinations.</a:t>
            </a:r>
          </a:p>
          <a:p>
            <a:pPr lvl="1" latinLnBrk="1"/>
            <a:r>
              <a:rPr lang="en-US" sz="3200" dirty="0"/>
              <a:t>Sedatives lead to anxiety, tremors, hallucinations.</a:t>
            </a:r>
          </a:p>
          <a:p>
            <a:pPr lvl="1" latinLnBrk="1"/>
            <a:r>
              <a:rPr lang="en-US" sz="3200" dirty="0"/>
              <a:t>Stimulants lead to depression, moodiness.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73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74EE-97E2-459E-5D4C-BDAF79EF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553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Substance Use Disorders: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DSM 5 Diagnostic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20785-60B2-F4E4-4D6B-09FFFBA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0681"/>
            <a:ext cx="10515600" cy="4462194"/>
          </a:xfrm>
        </p:spPr>
        <p:txBody>
          <a:bodyPr/>
          <a:lstStyle/>
          <a:p>
            <a:r>
              <a:rPr lang="en-US" sz="3200" dirty="0"/>
              <a:t>There are 11 diagnostic criteria</a:t>
            </a:r>
          </a:p>
          <a:p>
            <a:r>
              <a:rPr lang="en-US" sz="3200" dirty="0"/>
              <a:t>Two (2) or more within a period of 12-months</a:t>
            </a:r>
          </a:p>
          <a:p>
            <a:r>
              <a:rPr lang="en-US" sz="3200" dirty="0"/>
              <a:t>Must include a pattern of use leading to clinically significant impairment or distress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94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9640-B069-F915-E06C-E5124B7B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2"/>
            <a:ext cx="10515600" cy="42751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DSM 5 Diagnostic Criteria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ADE7-4613-74B0-297B-E4A38322B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276"/>
            <a:ext cx="10515600" cy="556659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Substance often taken in larger amounts or over a longer period of time than intended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persistent desire or unsuccessful efforts to cut down or control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great deal of time spent in activities necessary to obtain the substance, use it, or recover from its effects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Craving, or strong desire or urge to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Recurrent use resulting in failure to fulfill major role obligations at work, school, or home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08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03A9-42B5-A293-8F4F-315FEB02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236"/>
            <a:ext cx="10515600" cy="23552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5C548-0FD8-C22B-9E7F-1901B0920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836"/>
            <a:ext cx="10515600" cy="53041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Continued use despite having persistent or recurrent  </a:t>
            </a:r>
          </a:p>
          <a:p>
            <a:pPr marL="0" indent="0">
              <a:buNone/>
            </a:pPr>
            <a:r>
              <a:rPr lang="en-US" dirty="0"/>
              <a:t>     social/interpersonal problems caused or exacerbated by use</a:t>
            </a:r>
          </a:p>
          <a:p>
            <a:pPr marL="0" indent="0">
              <a:buNone/>
            </a:pPr>
            <a:r>
              <a:rPr lang="en-US" dirty="0"/>
              <a:t>7. Important social, occupational, or recreational activities given up or </a:t>
            </a:r>
          </a:p>
          <a:p>
            <a:pPr marL="0" indent="0">
              <a:buNone/>
            </a:pPr>
            <a:r>
              <a:rPr lang="en-US" dirty="0"/>
              <a:t>    reduced because of use</a:t>
            </a:r>
          </a:p>
          <a:p>
            <a:pPr marL="0" indent="0">
              <a:buNone/>
            </a:pPr>
            <a:r>
              <a:rPr lang="en-US" dirty="0"/>
              <a:t>8. Recurrent use in situations which is physically hazardous</a:t>
            </a:r>
          </a:p>
          <a:p>
            <a:pPr marL="0" indent="0">
              <a:buNone/>
            </a:pPr>
            <a:r>
              <a:rPr lang="en-US" dirty="0"/>
              <a:t>9. Use is continued despite knowledge of having a persistent or </a:t>
            </a:r>
          </a:p>
          <a:p>
            <a:pPr marL="0" indent="0">
              <a:buNone/>
            </a:pPr>
            <a:r>
              <a:rPr lang="en-US" dirty="0"/>
              <a:t>     recurrent physical/psychological problem likely to have been caused     </a:t>
            </a:r>
          </a:p>
          <a:p>
            <a:pPr marL="0" indent="0">
              <a:buNone/>
            </a:pPr>
            <a:r>
              <a:rPr lang="en-US" dirty="0"/>
              <a:t>    or exacerbated by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94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D288-5F9C-60BC-08F8-0503F1E3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E8C9-BE16-92EF-C74B-2332EE86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10. Tolerance: the need for markedly increased amounts of substance </a:t>
            </a:r>
          </a:p>
          <a:p>
            <a:pPr marL="0" indent="0">
              <a:buNone/>
            </a:pPr>
            <a:r>
              <a:rPr lang="en-US" dirty="0"/>
              <a:t>      to achieve intoxication or desired effect, or a markedly diminished </a:t>
            </a:r>
          </a:p>
          <a:p>
            <a:pPr marL="0" indent="0">
              <a:buNone/>
            </a:pPr>
            <a:r>
              <a:rPr lang="en-US" dirty="0"/>
              <a:t>      effect with continued use of same amount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11. Withdrawal: a characteristic syndrome, or use to relieve or avoid </a:t>
            </a:r>
          </a:p>
          <a:p>
            <a:pPr marL="0" indent="0">
              <a:buNone/>
            </a:pPr>
            <a:r>
              <a:rPr lang="en-US" dirty="0"/>
              <a:t>       withdrawal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93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0457-CE9C-4BD1-8752-D3A1603E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58"/>
            <a:ext cx="10515600" cy="28500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ACE34-DD28-4160-93C4-F199DF6B6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lvl="0" latinLnBrk="1"/>
            <a:r>
              <a:rPr lang="en-US" altLang="zh-CN" sz="3200" b="1" dirty="0"/>
              <a:t>The diagnosis will be aided by: </a:t>
            </a:r>
          </a:p>
          <a:p>
            <a:pPr lvl="1" latinLnBrk="1"/>
            <a:r>
              <a:rPr lang="en-US" sz="3200" dirty="0"/>
              <a:t>Taking the patient's personal history (especially drug use).</a:t>
            </a:r>
          </a:p>
          <a:p>
            <a:pPr lvl="1" latinLnBrk="1"/>
            <a:r>
              <a:rPr lang="en-US" sz="3200" dirty="0"/>
              <a:t>Examination for needle tracts, complications, e.g. , </a:t>
            </a:r>
          </a:p>
          <a:p>
            <a:pPr marL="457200" lvl="1" indent="0" latinLnBrk="1">
              <a:buNone/>
            </a:pPr>
            <a:r>
              <a:rPr lang="en-US" sz="3200" dirty="0"/>
              <a:t>   thrombosis or viral illness.</a:t>
            </a:r>
          </a:p>
          <a:p>
            <a:pPr lvl="1" latinLnBrk="1"/>
            <a:r>
              <a:rPr lang="en-US" sz="3200" dirty="0"/>
              <a:t>Investigations for </a:t>
            </a:r>
            <a:r>
              <a:rPr lang="en-US" sz="3200" dirty="0" err="1"/>
              <a:t>haemoglobin</a:t>
            </a:r>
            <a:r>
              <a:rPr lang="en-US" sz="3200" dirty="0"/>
              <a:t>, Liver Function Tests (LFTs,urine for drug screen and hepatitis B and 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12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512C-66FC-4DA9-9F18-B8AC4FA9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052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Management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552EC-0383-4505-8400-F2656F0E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246909"/>
            <a:ext cx="11374582" cy="5070764"/>
          </a:xfrm>
        </p:spPr>
        <p:txBody>
          <a:bodyPr/>
          <a:lstStyle/>
          <a:p>
            <a:pPr lvl="0" latinLnBrk="1"/>
            <a:r>
              <a:rPr lang="en-US" altLang="zh-CN" sz="3200" b="1" dirty="0"/>
              <a:t>If the patient is not willing to stop or change drug use:</a:t>
            </a:r>
          </a:p>
          <a:p>
            <a:pPr lvl="1" latinLnBrk="1"/>
            <a:r>
              <a:rPr lang="en-US" sz="3200" dirty="0"/>
              <a:t>Do not reject or blame the patient.</a:t>
            </a:r>
          </a:p>
          <a:p>
            <a:pPr lvl="1" latinLnBrk="1"/>
            <a:r>
              <a:rPr lang="en-US" sz="3200" dirty="0"/>
              <a:t>Advise the patient on harm-reduction strategies, e.g. , on the </a:t>
            </a:r>
          </a:p>
          <a:p>
            <a:pPr marL="457200" lvl="1" indent="0" latinLnBrk="1">
              <a:buNone/>
            </a:pPr>
            <a:r>
              <a:rPr lang="en-US" sz="3200" dirty="0"/>
              <a:t>  dangers of needle sharing by intravenous drug users.</a:t>
            </a:r>
          </a:p>
          <a:p>
            <a:pPr lvl="1" latinLnBrk="1"/>
            <a:r>
              <a:rPr lang="en-US" sz="3200" dirty="0"/>
              <a:t>Point out clearly the medical, psychological and social problems associated with drug use.</a:t>
            </a:r>
          </a:p>
          <a:p>
            <a:pPr lvl="1" latinLnBrk="1"/>
            <a:r>
              <a:rPr lang="en-US" sz="3200" dirty="0"/>
              <a:t>Make a future appointment to reassess health and discuss drug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7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DCBD1-1BDB-4410-ADF2-CB13D75D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884"/>
            <a:ext cx="10515600" cy="4868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1A86B-6E03-4911-BD3D-11F4A89F8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3" y="1068779"/>
            <a:ext cx="11402290" cy="5108184"/>
          </a:xfrm>
        </p:spPr>
        <p:txBody>
          <a:bodyPr/>
          <a:lstStyle/>
          <a:p>
            <a:pPr lvl="0" latinLnBrk="1"/>
            <a:r>
              <a:rPr lang="en-US" altLang="zh-CN" sz="3200" b="1" dirty="0"/>
              <a:t>If the patient is willing to reduce the drug uses but not to quit </a:t>
            </a:r>
          </a:p>
          <a:p>
            <a:pPr marL="0" lvl="0" indent="0" latinLnBrk="1">
              <a:buNone/>
            </a:pPr>
            <a:r>
              <a:rPr lang="en-US" altLang="zh-CN" sz="3200" b="1" dirty="0"/>
              <a:t>  completely:</a:t>
            </a:r>
          </a:p>
          <a:p>
            <a:pPr lvl="1" latinLnBrk="1"/>
            <a:r>
              <a:rPr lang="en-US" sz="3200" dirty="0"/>
              <a:t>Negotiate a clear goal for decreased use, e.g. not more than </a:t>
            </a:r>
          </a:p>
          <a:p>
            <a:pPr marL="457200" lvl="1" indent="0" latinLnBrk="1">
              <a:buNone/>
            </a:pPr>
            <a:r>
              <a:rPr lang="en-US" sz="3200" dirty="0"/>
              <a:t>  one marijuana or cigarette per day.</a:t>
            </a:r>
          </a:p>
          <a:p>
            <a:pPr lvl="1" latinLnBrk="1"/>
            <a:r>
              <a:rPr lang="en-US" sz="3200" dirty="0"/>
              <a:t>Discuss strategies to avoid or cope with high-risk situations.</a:t>
            </a:r>
          </a:p>
          <a:p>
            <a:pPr lvl="1" latinLnBrk="1"/>
            <a:r>
              <a:rPr lang="en-US" sz="3200" dirty="0"/>
              <a:t>Introduce self-monitoring procedures, e.g. a diary of </a:t>
            </a:r>
          </a:p>
          <a:p>
            <a:pPr marL="457200" lvl="1" indent="0" latinLnBrk="1">
              <a:buNone/>
            </a:pPr>
            <a:r>
              <a:rPr lang="en-US" sz="3200" dirty="0"/>
              <a:t>  drug use.</a:t>
            </a:r>
          </a:p>
          <a:p>
            <a:pPr lvl="1" latinLnBrk="1"/>
            <a:r>
              <a:rPr lang="en-US" sz="3200" dirty="0"/>
              <a:t>Consider options for counselling and/or rehabilitation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69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9607-EFD6-43E3-91D8-3BB5550AC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3898-511E-40F9-AD2D-56AB405D6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955964"/>
            <a:ext cx="11596253" cy="5220999"/>
          </a:xfrm>
        </p:spPr>
        <p:txBody>
          <a:bodyPr/>
          <a:lstStyle/>
          <a:p>
            <a:pPr lvl="0" latinLnBrk="1"/>
            <a:r>
              <a:rPr lang="en-US" altLang="zh-CN" sz="3200" b="1" dirty="0"/>
              <a:t>If the patient opts to have a substitute drug:</a:t>
            </a:r>
          </a:p>
          <a:p>
            <a:pPr lvl="1" latinLnBrk="1"/>
            <a:r>
              <a:rPr lang="en-US" sz="3200" dirty="0"/>
              <a:t>Negotiate a clear use of the prescribed substitute drug.</a:t>
            </a:r>
          </a:p>
          <a:p>
            <a:pPr lvl="1" latinLnBrk="1"/>
            <a:r>
              <a:rPr lang="en-US" sz="3200" dirty="0"/>
              <a:t>Discuss ways of avoiding high risk situations, for example social </a:t>
            </a:r>
          </a:p>
          <a:p>
            <a:pPr marL="457200" lvl="1" indent="0" latinLnBrk="1">
              <a:buNone/>
            </a:pPr>
            <a:r>
              <a:rPr lang="en-US" sz="3200" dirty="0"/>
              <a:t>  situations or stressful events.</a:t>
            </a:r>
          </a:p>
          <a:p>
            <a:pPr lvl="1" latinLnBrk="1"/>
            <a:r>
              <a:rPr lang="en-US" sz="3200" dirty="0"/>
              <a:t>Consider withdrawal symptoms and how to avoid or reduce </a:t>
            </a:r>
          </a:p>
          <a:p>
            <a:pPr marL="457200" lvl="1" indent="0" latinLnBrk="1">
              <a:buNone/>
            </a:pPr>
            <a:r>
              <a:rPr lang="en-US" sz="3200" dirty="0"/>
              <a:t>  them. </a:t>
            </a:r>
          </a:p>
          <a:p>
            <a:pPr lvl="1" latinLnBrk="1"/>
            <a:r>
              <a:rPr lang="en-US" sz="3200" dirty="0"/>
              <a:t>Provide information and management of methadone toxicity.</a:t>
            </a:r>
          </a:p>
          <a:p>
            <a:pPr lvl="1" latinLnBrk="1"/>
            <a:r>
              <a:rPr lang="en-US" sz="3200" dirty="0"/>
              <a:t>Consider options for counseling and/or rehabilitation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78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1156-FFC1-48D4-9C44-D5C29522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2078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D185-F8F1-4182-87C5-DF279AAB9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00545"/>
            <a:ext cx="10882745" cy="5276418"/>
          </a:xfrm>
        </p:spPr>
        <p:txBody>
          <a:bodyPr/>
          <a:lstStyle/>
          <a:p>
            <a:pPr lvl="0" latinLnBrk="1"/>
            <a:r>
              <a:rPr lang="en-US" altLang="zh-CN" sz="3200" b="1" dirty="0"/>
              <a:t>For patients willing to stop drug use:</a:t>
            </a:r>
          </a:p>
          <a:p>
            <a:pPr lvl="1" latinLnBrk="1"/>
            <a:r>
              <a:rPr lang="en-US" sz="3200" dirty="0"/>
              <a:t>Set a definite day to quit.</a:t>
            </a:r>
          </a:p>
          <a:p>
            <a:pPr lvl="1" latinLnBrk="1"/>
            <a:r>
              <a:rPr lang="en-US" sz="3200" dirty="0"/>
              <a:t>Consider withdrawal symptoms and how to manage them.</a:t>
            </a:r>
          </a:p>
          <a:p>
            <a:pPr lvl="1" latinLnBrk="1"/>
            <a:r>
              <a:rPr lang="en-US" sz="3200" dirty="0"/>
              <a:t>Discuss strategies of avoiding or coping with high risk </a:t>
            </a:r>
          </a:p>
          <a:p>
            <a:pPr marL="457200" lvl="1" indent="0" latinLnBrk="1">
              <a:buNone/>
            </a:pPr>
            <a:r>
              <a:rPr lang="en-US" sz="3200" dirty="0"/>
              <a:t>   situations.</a:t>
            </a:r>
          </a:p>
          <a:p>
            <a:pPr lvl="1" latinLnBrk="1"/>
            <a:r>
              <a:rPr lang="en-US" sz="3200" dirty="0"/>
              <a:t>Make specific plans to avoid drug use, e.g. how to </a:t>
            </a:r>
          </a:p>
          <a:p>
            <a:pPr marL="457200" lvl="1" indent="0" latinLnBrk="1">
              <a:buNone/>
            </a:pPr>
            <a:r>
              <a:rPr lang="en-US" sz="3200" dirty="0"/>
              <a:t>   respond to friends who still use drugs.</a:t>
            </a:r>
          </a:p>
          <a:p>
            <a:pPr lvl="1" latinLnBrk="1"/>
            <a:r>
              <a:rPr lang="en-US" sz="3200" dirty="0"/>
              <a:t>Identify family or friends who will support stopping drug use</a:t>
            </a:r>
          </a:p>
          <a:p>
            <a:pPr lvl="1" latinLnBrk="1"/>
            <a:r>
              <a:rPr lang="en-US" sz="3200" dirty="0"/>
              <a:t>Consider options for counseling and/or rehabilitation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57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5EF9-997F-C2AF-8726-B46C0BD8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005"/>
            <a:ext cx="10515600" cy="498765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+mn-lt"/>
              </a:rPr>
              <a:t>ALCOHOLISM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6A2F-DC6F-7CEE-1C3C-02CEA4985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906"/>
            <a:ext cx="10515600" cy="51796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Definition</a:t>
            </a:r>
          </a:p>
          <a:p>
            <a:pPr algn="just"/>
            <a:r>
              <a:rPr lang="en-US" dirty="0"/>
              <a:t>A state of</a:t>
            </a:r>
            <a:r>
              <a:rPr lang="en-US" dirty="0">
                <a:solidFill>
                  <a:srgbClr val="FF0000"/>
                </a:solidFill>
              </a:rPr>
              <a:t> physical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psychological dependency </a:t>
            </a:r>
            <a:r>
              <a:rPr lang="en-US" dirty="0"/>
              <a:t>on alcohol. </a:t>
            </a:r>
          </a:p>
          <a:p>
            <a:pPr algn="just"/>
            <a:r>
              <a:rPr lang="en-US" dirty="0"/>
              <a:t>Its manifested by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 individual’s</a:t>
            </a:r>
            <a:r>
              <a:rPr lang="en-US" dirty="0">
                <a:solidFill>
                  <a:srgbClr val="FF0000"/>
                </a:solidFill>
              </a:rPr>
              <a:t> inability to refrain from drinking or to control his consumption of alcohol</a:t>
            </a:r>
          </a:p>
          <a:p>
            <a:pPr algn="just"/>
            <a:r>
              <a:rPr lang="en-US" b="1" dirty="0"/>
              <a:t>World Health Organization definition</a:t>
            </a:r>
          </a:p>
          <a:p>
            <a:pPr lvl="1" algn="just"/>
            <a:r>
              <a:rPr lang="en-US" dirty="0"/>
              <a:t>A chronic disease or a disorder characterized by excessive alcohol intake  and interference in the individual’s health, interpersonal relationship and economic functioning</a:t>
            </a:r>
          </a:p>
          <a:p>
            <a:pPr algn="just"/>
            <a:r>
              <a:rPr lang="en-US" dirty="0"/>
              <a:t>Considered to be present when there is 0.1% or 10 ml for every 1,000 ml of blood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5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F41A-8A6A-8F4D-1AF0-3F8445C4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507"/>
            <a:ext cx="10515600" cy="2018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F4C77-3F37-E5B1-59E0-2DE2B0CE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268"/>
            <a:ext cx="10515600" cy="5979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Alcoholism</a:t>
            </a:r>
          </a:p>
          <a:p>
            <a:r>
              <a:rPr lang="en-US" dirty="0"/>
              <a:t>Alcoholism is a chronic relapsing disease characterized by four main clinical features: </a:t>
            </a:r>
          </a:p>
          <a:p>
            <a:pPr marL="514350" indent="-514350">
              <a:buAutoNum type="arabicPeriod"/>
            </a:pPr>
            <a:r>
              <a:rPr lang="en-US" b="1" dirty="0"/>
              <a:t>Tolerance:-  </a:t>
            </a:r>
            <a:r>
              <a:rPr lang="en-US" dirty="0"/>
              <a:t>a state of adaptation in which more and more alcohol is needed to produce desired effects; </a:t>
            </a:r>
          </a:p>
          <a:p>
            <a:pPr marL="514350" indent="-514350">
              <a:buAutoNum type="arabicPeriod"/>
            </a:pPr>
            <a:r>
              <a:rPr lang="en-US" b="1" dirty="0"/>
              <a:t>Physical dependence:- </a:t>
            </a:r>
            <a:r>
              <a:rPr lang="en-US" dirty="0"/>
              <a:t>The interruption of drinking is characterized by withdrawal syndrome that is relieved by alcohol itself (e.g., morning drinking)</a:t>
            </a:r>
          </a:p>
          <a:p>
            <a:pPr marL="514350" indent="-514350">
              <a:buAutoNum type="arabicPeriod"/>
            </a:pPr>
            <a:r>
              <a:rPr lang="en-US" b="1" dirty="0"/>
              <a:t>Impaired control:- </a:t>
            </a:r>
            <a:r>
              <a:rPr lang="en-US" dirty="0"/>
              <a:t>the alcoholic person cannot regulate total alcohol intake at any drinking occasion once drinking has begun; </a:t>
            </a:r>
          </a:p>
          <a:p>
            <a:pPr marL="514350" indent="-514350">
              <a:buAutoNum type="arabicPeriod"/>
            </a:pPr>
            <a:r>
              <a:rPr lang="en-US" b="1" dirty="0"/>
              <a:t>Dysphoria of abstinence, or ‘‘craving,’’:-  </a:t>
            </a:r>
            <a:r>
              <a:rPr lang="en-US" dirty="0"/>
              <a:t>the most elusive feature of alcoholism, which leads to relapse. </a:t>
            </a:r>
          </a:p>
        </p:txBody>
      </p:sp>
    </p:spTree>
    <p:extLst>
      <p:ext uri="{BB962C8B-B14F-4D97-AF65-F5344CB8AC3E}">
        <p14:creationId xmlns:p14="http://schemas.microsoft.com/office/powerpoint/2010/main" val="2913580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670E-922B-FF09-617F-5367A8DD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1"/>
            <a:ext cx="10515600" cy="455407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Dynamics of Alcoholism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FBCE-4FB9-CDF7-B5D0-92C6C899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28"/>
            <a:ext cx="10515600" cy="5131935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hlink"/>
                </a:solidFill>
              </a:rPr>
              <a:t>Social drinking</a:t>
            </a:r>
            <a:r>
              <a:rPr lang="en-US" dirty="0"/>
              <a:t> may progress to abuse</a:t>
            </a:r>
          </a:p>
          <a:p>
            <a:pPr algn="just"/>
            <a:r>
              <a:rPr lang="en-US" dirty="0"/>
              <a:t>The reliance on </a:t>
            </a:r>
            <a:r>
              <a:rPr lang="en-US" dirty="0">
                <a:solidFill>
                  <a:schemeClr val="hlink"/>
                </a:solidFill>
              </a:rPr>
              <a:t>excessive drinking</a:t>
            </a:r>
            <a:r>
              <a:rPr lang="en-US" dirty="0"/>
              <a:t> as a means of </a:t>
            </a:r>
            <a:r>
              <a:rPr lang="en-US" dirty="0">
                <a:solidFill>
                  <a:schemeClr val="hlink"/>
                </a:solidFill>
              </a:rPr>
              <a:t>dealing with personal tension</a:t>
            </a:r>
            <a:r>
              <a:rPr lang="en-US" dirty="0"/>
              <a:t> and </a:t>
            </a:r>
            <a:r>
              <a:rPr lang="en-US" dirty="0">
                <a:solidFill>
                  <a:schemeClr val="hlink"/>
                </a:solidFill>
              </a:rPr>
              <a:t>discomfort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This clearly suggests that psychological factors play a key role in the development of alcohol abuse. </a:t>
            </a:r>
          </a:p>
          <a:p>
            <a:pPr algn="just"/>
            <a:r>
              <a:rPr lang="en-US" dirty="0"/>
              <a:t>Alcohol being a depressant aids in the </a:t>
            </a:r>
            <a:r>
              <a:rPr lang="en-US" dirty="0">
                <a:solidFill>
                  <a:schemeClr val="hlink"/>
                </a:solidFill>
              </a:rPr>
              <a:t>relaxing of the individual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releases inhibitions</a:t>
            </a:r>
            <a:endParaRPr lang="en-US" dirty="0"/>
          </a:p>
          <a:p>
            <a:pPr algn="just"/>
            <a:r>
              <a:rPr lang="en-US" dirty="0"/>
              <a:t>Following a drinking episode, the alcohol abuser is often overwhelmed</a:t>
            </a:r>
            <a:r>
              <a:rPr lang="en-US" dirty="0">
                <a:solidFill>
                  <a:srgbClr val="FF0000"/>
                </a:solidFill>
              </a:rPr>
              <a:t> with feelings of remorse and guilt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68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EDAC-784D-0E2B-79ED-CC3B74BC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008"/>
            <a:ext cx="10515600" cy="39602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Phases of Progression of Alcoholism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9986-473D-E389-FB43-3990A4E6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658592"/>
          </a:xfrm>
        </p:spPr>
        <p:txBody>
          <a:bodyPr>
            <a:normAutofit lnSpcReduction="10000"/>
          </a:bodyPr>
          <a:lstStyle/>
          <a:p>
            <a:pPr algn="just">
              <a:buFontTx/>
              <a:buNone/>
            </a:pPr>
            <a:r>
              <a:rPr lang="en-US" b="1" dirty="0"/>
              <a:t>1) </a:t>
            </a:r>
            <a:r>
              <a:rPr lang="en-US" b="1" dirty="0">
                <a:solidFill>
                  <a:schemeClr val="hlink"/>
                </a:solidFill>
              </a:rPr>
              <a:t>Pre-alcoholic Phase</a:t>
            </a:r>
          </a:p>
          <a:p>
            <a:pPr lvl="1" algn="just"/>
            <a:r>
              <a:rPr lang="en-US" dirty="0"/>
              <a:t>Starts with </a:t>
            </a:r>
            <a:r>
              <a:rPr lang="en-US" dirty="0">
                <a:solidFill>
                  <a:srgbClr val="FF0000"/>
                </a:solidFill>
              </a:rPr>
              <a:t>social drinking</a:t>
            </a:r>
            <a:r>
              <a:rPr lang="en-US" dirty="0"/>
              <a:t> until </a:t>
            </a:r>
            <a:r>
              <a:rPr lang="en-US" dirty="0">
                <a:solidFill>
                  <a:srgbClr val="FF0000"/>
                </a:solidFill>
              </a:rPr>
              <a:t>tolerance</a:t>
            </a:r>
            <a:r>
              <a:rPr lang="en-US" dirty="0"/>
              <a:t> begins to develop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Relying on alcohol to unwind or relax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Needing a drink to engage in social situations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alcohol to cope with uncomfortable feelings or emotions</a:t>
            </a:r>
          </a:p>
          <a:p>
            <a:pPr lvl="1" algn="just"/>
            <a:endParaRPr lang="en-US" dirty="0"/>
          </a:p>
          <a:p>
            <a:pPr algn="just">
              <a:buFontTx/>
              <a:buNone/>
            </a:pPr>
            <a:r>
              <a:rPr lang="en-US" b="1" dirty="0"/>
              <a:t>2) </a:t>
            </a:r>
            <a:r>
              <a:rPr lang="en-US" b="1" dirty="0">
                <a:solidFill>
                  <a:schemeClr val="hlink"/>
                </a:solidFill>
              </a:rPr>
              <a:t>Prodromal Phase</a:t>
            </a:r>
          </a:p>
          <a:p>
            <a:pPr lvl="1" algn="just"/>
            <a:r>
              <a:rPr lang="en-US" dirty="0"/>
              <a:t>Alcohol becomes a </a:t>
            </a:r>
            <a:r>
              <a:rPr lang="en-US" dirty="0">
                <a:solidFill>
                  <a:srgbClr val="FF0000"/>
                </a:solidFill>
              </a:rPr>
              <a:t>need</a:t>
            </a:r>
            <a:r>
              <a:rPr lang="en-US" dirty="0"/>
              <a:t>; blackouts occur; denial begins to develop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 binge drinking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“Blacking out” (memory loss caused by drinking)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Difficulties controlling the amount of drink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Attempting to cut down or stop drinking but difficult to do so.</a:t>
            </a:r>
          </a:p>
          <a:p>
            <a:pPr lvl="1"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47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BD70-1A53-2331-EBD4-C4891746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56"/>
            <a:ext cx="10515600" cy="2731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EC3A-E5AB-60B2-8DF6-5A1E4B09D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6894"/>
            <a:ext cx="10515600" cy="5842659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b="1" dirty="0"/>
              <a:t>3) </a:t>
            </a:r>
            <a:r>
              <a:rPr lang="en-US" b="1" dirty="0">
                <a:solidFill>
                  <a:schemeClr val="hlink"/>
                </a:solidFill>
              </a:rPr>
              <a:t>Crucial Phase</a:t>
            </a:r>
          </a:p>
          <a:p>
            <a:pPr lvl="1" algn="just"/>
            <a:r>
              <a:rPr lang="en-US" dirty="0"/>
              <a:t>Cardinal symptoms of alcoholism develops (</a:t>
            </a:r>
            <a:r>
              <a:rPr lang="en-US" dirty="0">
                <a:solidFill>
                  <a:srgbClr val="FF0000"/>
                </a:solidFill>
              </a:rPr>
              <a:t>loss of control over drinking increases</a:t>
            </a:r>
            <a:r>
              <a:rPr lang="en-US" dirty="0"/>
              <a:t>)</a:t>
            </a:r>
          </a:p>
          <a:p>
            <a:pPr lvl="1" algn="just"/>
            <a:r>
              <a:rPr lang="en-US" dirty="0"/>
              <a:t>regularly hungover and craving for more alcohol.</a:t>
            </a:r>
          </a:p>
          <a:p>
            <a:pPr lvl="1" algn="just"/>
            <a:r>
              <a:rPr lang="en-US" dirty="0"/>
              <a:t>Tolerance becomes evident </a:t>
            </a:r>
          </a:p>
          <a:p>
            <a:pPr lvl="1" algn="just"/>
            <a:r>
              <a:rPr lang="en-US" dirty="0"/>
              <a:t>Body Changes i.e. facial redness, stomach bloating, shaking, sweating and memory lapses.</a:t>
            </a:r>
          </a:p>
          <a:p>
            <a:pPr algn="just">
              <a:buFontTx/>
              <a:buNone/>
            </a:pPr>
            <a:r>
              <a:rPr lang="en-US" b="1" dirty="0"/>
              <a:t>4) </a:t>
            </a:r>
            <a:r>
              <a:rPr lang="en-US" b="1" dirty="0">
                <a:solidFill>
                  <a:schemeClr val="hlink"/>
                </a:solidFill>
              </a:rPr>
              <a:t>Chronic Phase</a:t>
            </a:r>
          </a:p>
          <a:p>
            <a:pPr lvl="1" algn="just"/>
            <a:r>
              <a:rPr lang="en-US" dirty="0"/>
              <a:t>The person becomes </a:t>
            </a:r>
            <a:r>
              <a:rPr lang="en-US" dirty="0">
                <a:solidFill>
                  <a:srgbClr val="FF0000"/>
                </a:solidFill>
              </a:rPr>
              <a:t>intoxicated all day</a:t>
            </a:r>
          </a:p>
          <a:p>
            <a:pPr lvl="1" algn="just"/>
            <a:r>
              <a:rPr lang="en-US" dirty="0"/>
              <a:t>Paranoia is frequently seen during this phase</a:t>
            </a:r>
          </a:p>
          <a:p>
            <a:pPr lvl="1" algn="just"/>
            <a:r>
              <a:rPr lang="en-US" dirty="0"/>
              <a:t>Liver damage may occur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04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5C95-FA2E-77A9-A0AD-44DA6D14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Etiological Theories of Alcoholism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8EA8-CDF4-37CD-B295-157F0647B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090"/>
            <a:ext cx="10515600" cy="5453783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1) </a:t>
            </a:r>
            <a:r>
              <a:rPr lang="en-US" b="1" dirty="0">
                <a:solidFill>
                  <a:schemeClr val="hlink"/>
                </a:solidFill>
              </a:rPr>
              <a:t>Psychoanalytic Theories</a:t>
            </a:r>
          </a:p>
          <a:p>
            <a:pPr lvl="1"/>
            <a:r>
              <a:rPr lang="en-US" dirty="0"/>
              <a:t>Due to fixation in the oral stage of development</a:t>
            </a:r>
          </a:p>
          <a:p>
            <a:pPr lvl="1"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b="1" dirty="0"/>
              <a:t>2) </a:t>
            </a:r>
            <a:r>
              <a:rPr lang="en-US" b="1" dirty="0">
                <a:solidFill>
                  <a:schemeClr val="hlink"/>
                </a:solidFill>
              </a:rPr>
              <a:t>Learning Theories</a:t>
            </a:r>
          </a:p>
          <a:p>
            <a:pPr lvl="1"/>
            <a:r>
              <a:rPr lang="en-US" dirty="0"/>
              <a:t>Due to a learned behavior</a:t>
            </a:r>
          </a:p>
          <a:p>
            <a:pPr lvl="1"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b="1" dirty="0"/>
              <a:t>3) </a:t>
            </a:r>
            <a:r>
              <a:rPr lang="en-US" b="1" dirty="0">
                <a:solidFill>
                  <a:schemeClr val="hlink"/>
                </a:solidFill>
              </a:rPr>
              <a:t>Biological Theories</a:t>
            </a:r>
          </a:p>
          <a:p>
            <a:pPr lvl="1"/>
            <a:r>
              <a:rPr lang="en-US" dirty="0"/>
              <a:t>Due to inherited traits</a:t>
            </a:r>
          </a:p>
          <a:p>
            <a:pPr lvl="1"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b="1" dirty="0"/>
              <a:t>4) </a:t>
            </a:r>
            <a:r>
              <a:rPr lang="en-US" b="1" dirty="0">
                <a:solidFill>
                  <a:schemeClr val="hlink"/>
                </a:solidFill>
              </a:rPr>
              <a:t>Socio-cultural Theories</a:t>
            </a:r>
          </a:p>
          <a:p>
            <a:pPr lvl="1"/>
            <a:r>
              <a:rPr lang="en-US" dirty="0"/>
              <a:t>Due to effects of mass media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55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466E-DC7F-EC61-8493-06F631CF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</a:rPr>
              <a:t>Manifestations of Different Blood Levels of Alcohol</a:t>
            </a:r>
            <a:endParaRPr lang="en-US" sz="3600" dirty="0">
              <a:latin typeface="+mn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9423B8C-C562-B7D8-8C1D-EF5D6D38E0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040012"/>
              </p:ext>
            </p:extLst>
          </p:nvPr>
        </p:nvGraphicFramePr>
        <p:xfrm>
          <a:off x="838200" y="1876961"/>
          <a:ext cx="10515597" cy="409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764">
                  <a:extLst>
                    <a:ext uri="{9D8B030D-6E8A-4147-A177-3AD203B41FA5}">
                      <a16:colId xmlns:a16="http://schemas.microsoft.com/office/drawing/2014/main" val="170816077"/>
                    </a:ext>
                  </a:extLst>
                </a:gridCol>
                <a:gridCol w="4544291">
                  <a:extLst>
                    <a:ext uri="{9D8B030D-6E8A-4147-A177-3AD203B41FA5}">
                      <a16:colId xmlns:a16="http://schemas.microsoft.com/office/drawing/2014/main" val="3918515953"/>
                    </a:ext>
                  </a:extLst>
                </a:gridCol>
                <a:gridCol w="5091542">
                  <a:extLst>
                    <a:ext uri="{9D8B030D-6E8A-4147-A177-3AD203B41FA5}">
                      <a16:colId xmlns:a16="http://schemas.microsoft.com/office/drawing/2014/main" val="118185500"/>
                    </a:ext>
                  </a:extLst>
                </a:gridCol>
              </a:tblGrid>
              <a:tr h="8783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BLOOD LEVEL</a:t>
                      </a:r>
                      <a:endParaRPr kumimoji="0" 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MANIFESTATION</a:t>
                      </a:r>
                      <a:endParaRPr kumimoji="0" 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3881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0.1% TO 0.2% 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Low coordination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89550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0.2% TO 0.3%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Presence of ataxia, tremors, irritability, stupor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72244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0.3% and above</a:t>
                      </a:r>
                      <a:endParaRPr kumimoji="0" lang="en-US" sz="2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25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Unconsciousness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04401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596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9924-C981-C81E-7B5E-82DFDA88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Effects of Alcohol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536E-21A6-4AD6-63D8-3CFE0D88C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526"/>
            <a:ext cx="10515600" cy="5688281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sedative anesthetic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Alcohol is absorbed in the small intestine;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Approximately 95% is broken down by the liver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The rest is excreted through the lungs, the kidneys and skin.</a:t>
            </a:r>
          </a:p>
          <a:p>
            <a:pPr algn="just"/>
            <a:r>
              <a:rPr lang="en-US" dirty="0"/>
              <a:t>Generally, a person can metabolize </a:t>
            </a:r>
            <a:r>
              <a:rPr lang="en-US" dirty="0">
                <a:solidFill>
                  <a:srgbClr val="FF0000"/>
                </a:solidFill>
              </a:rPr>
              <a:t>10 ml of alcohol or 1 ounce of whiskey every 90 minutes</a:t>
            </a:r>
          </a:p>
          <a:p>
            <a:pPr marL="0" indent="0" algn="just">
              <a:buNone/>
            </a:pPr>
            <a:r>
              <a:rPr lang="en-US" b="1" dirty="0"/>
              <a:t>2. Death: </a:t>
            </a:r>
          </a:p>
          <a:p>
            <a:pPr algn="just"/>
            <a:r>
              <a:rPr lang="en-US" dirty="0"/>
              <a:t>If taken in exceedingly high doses, it can depress respiration and cause death.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53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DCA4-C41C-949F-DFDF-6705BC37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82"/>
            <a:ext cx="10515600" cy="17219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7CD63-2CA4-3BB9-1017-58D5A454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4390"/>
            <a:ext cx="10515600" cy="59495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3. Intoxication: </a:t>
            </a:r>
          </a:p>
          <a:p>
            <a:pPr algn="just"/>
            <a:r>
              <a:rPr lang="en-US" dirty="0"/>
              <a:t>Intoxication occurs when a person’s blood alcohol level is 0.1% or more.</a:t>
            </a:r>
          </a:p>
          <a:p>
            <a:pPr algn="just"/>
            <a:r>
              <a:rPr lang="en-US" dirty="0"/>
              <a:t>Simple </a:t>
            </a:r>
            <a:r>
              <a:rPr lang="en-US" dirty="0">
                <a:solidFill>
                  <a:srgbClr val="FF0000"/>
                </a:solidFill>
              </a:rPr>
              <a:t>intoxication lasts less than 12 hours</a:t>
            </a:r>
            <a:r>
              <a:rPr lang="en-US" dirty="0"/>
              <a:t> and is usually followed by a </a:t>
            </a:r>
            <a:r>
              <a:rPr lang="en-US" dirty="0">
                <a:solidFill>
                  <a:srgbClr val="FF0000"/>
                </a:solidFill>
              </a:rPr>
              <a:t>hangover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b="1" dirty="0"/>
              <a:t>4. Hangover</a:t>
            </a:r>
            <a:r>
              <a:rPr lang="en-US" dirty="0"/>
              <a:t> has unpleasant symptoms i.e.  </a:t>
            </a:r>
          </a:p>
          <a:p>
            <a:pPr algn="just"/>
            <a:r>
              <a:rPr lang="en-US" dirty="0"/>
              <a:t>Nausea, vomiting, gastritis, headache, fatigue, sweating, thirst, vasomotor instability </a:t>
            </a:r>
          </a:p>
          <a:p>
            <a:pPr algn="just"/>
            <a:r>
              <a:rPr lang="en-US" dirty="0"/>
              <a:t>Occurring approximately </a:t>
            </a:r>
            <a:r>
              <a:rPr lang="en-US" dirty="0">
                <a:solidFill>
                  <a:srgbClr val="FF0000"/>
                </a:solidFill>
              </a:rPr>
              <a:t>4 - 6 hours after alcohol ingestion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Hangover is attributed metabolic disorders</a:t>
            </a:r>
          </a:p>
        </p:txBody>
      </p:sp>
    </p:spTree>
    <p:extLst>
      <p:ext uri="{BB962C8B-B14F-4D97-AF65-F5344CB8AC3E}">
        <p14:creationId xmlns:p14="http://schemas.microsoft.com/office/powerpoint/2010/main" val="393368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9A2A-E35A-6171-8015-AE842896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006"/>
            <a:ext cx="10515600" cy="21375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94E0-96D8-3974-E4CB-4CF0B1622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769"/>
            <a:ext cx="10515600" cy="5488194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5. Metabolic disorders:</a:t>
            </a:r>
          </a:p>
          <a:p>
            <a:pPr algn="just"/>
            <a:r>
              <a:rPr lang="en-US" dirty="0"/>
              <a:t>The cause of hangover is uncertain</a:t>
            </a:r>
          </a:p>
          <a:p>
            <a:pPr algn="just"/>
            <a:r>
              <a:rPr lang="en-US" dirty="0"/>
              <a:t>The symptoms are attributed to </a:t>
            </a:r>
            <a:r>
              <a:rPr lang="en-US" dirty="0">
                <a:solidFill>
                  <a:schemeClr val="hlink"/>
                </a:solidFill>
              </a:rPr>
              <a:t>hypoglycemia</a:t>
            </a:r>
            <a:r>
              <a:rPr lang="en-US" dirty="0"/>
              <a:t> and the </a:t>
            </a:r>
            <a:r>
              <a:rPr lang="en-US" dirty="0">
                <a:solidFill>
                  <a:schemeClr val="hlink"/>
                </a:solidFill>
              </a:rPr>
              <a:t>accumulation of lactic acid</a:t>
            </a:r>
            <a:r>
              <a:rPr lang="en-US" dirty="0"/>
              <a:t> and </a:t>
            </a:r>
            <a:r>
              <a:rPr lang="en-US" dirty="0">
                <a:solidFill>
                  <a:schemeClr val="hlink"/>
                </a:solidFill>
              </a:rPr>
              <a:t>acetaldehyde in the blood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b="1" dirty="0"/>
              <a:t>6. Alcoholic hallucinosis</a:t>
            </a:r>
          </a:p>
          <a:p>
            <a:pPr lvl="1" algn="just"/>
            <a:r>
              <a:rPr lang="en-US" dirty="0">
                <a:solidFill>
                  <a:schemeClr val="hlink"/>
                </a:solidFill>
              </a:rPr>
              <a:t>Auditory hallucinations</a:t>
            </a:r>
            <a:r>
              <a:rPr lang="en-US" dirty="0"/>
              <a:t> reported approximately </a:t>
            </a:r>
            <a:r>
              <a:rPr lang="en-US" dirty="0">
                <a:solidFill>
                  <a:schemeClr val="hlink"/>
                </a:solidFill>
              </a:rPr>
              <a:t>48 hours after heavy drinking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03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2E09-902C-F4AB-AB23-67A519E2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3562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Alcohol-Related Disorders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0013-F362-DF15-0299-59E7D01DD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774"/>
            <a:ext cx="10515600" cy="5614102"/>
          </a:xfrm>
        </p:spPr>
        <p:txBody>
          <a:bodyPr>
            <a:normAutofit/>
          </a:bodyPr>
          <a:lstStyle/>
          <a:p>
            <a:r>
              <a:rPr lang="en-US" dirty="0"/>
              <a:t>Prevalence – 12% of males and 4.6% of females 18 and older. </a:t>
            </a:r>
          </a:p>
          <a:p>
            <a:r>
              <a:rPr lang="en-US" dirty="0"/>
              <a:t>Significantly drops after age 65. </a:t>
            </a:r>
          </a:p>
          <a:p>
            <a:r>
              <a:rPr lang="en-US" dirty="0"/>
              <a:t>Can lead to persisting neurocognitive disorders</a:t>
            </a:r>
          </a:p>
          <a:p>
            <a:r>
              <a:rPr lang="en-US" b="1" dirty="0"/>
              <a:t>Alcohol Intoxication</a:t>
            </a:r>
            <a:r>
              <a:rPr lang="en-US" dirty="0"/>
              <a:t> includes 1 or more symptoms of: </a:t>
            </a:r>
          </a:p>
          <a:p>
            <a:pPr lvl="1"/>
            <a:r>
              <a:rPr lang="en-US" sz="2800" dirty="0"/>
              <a:t>slurred speech, </a:t>
            </a:r>
          </a:p>
          <a:p>
            <a:pPr lvl="1"/>
            <a:r>
              <a:rPr lang="en-US" sz="2800" dirty="0"/>
              <a:t>incoordination, </a:t>
            </a:r>
          </a:p>
          <a:p>
            <a:pPr lvl="1"/>
            <a:r>
              <a:rPr lang="en-US" sz="2800" dirty="0"/>
              <a:t>unsteady gait, </a:t>
            </a:r>
          </a:p>
          <a:p>
            <a:pPr lvl="1"/>
            <a:r>
              <a:rPr lang="en-US" sz="2800" dirty="0"/>
              <a:t>nystagmus (involuntary eye movement),</a:t>
            </a:r>
          </a:p>
          <a:p>
            <a:pPr lvl="1"/>
            <a:r>
              <a:rPr lang="en-US" sz="2800" dirty="0"/>
              <a:t>attention impairment </a:t>
            </a:r>
          </a:p>
          <a:p>
            <a:pPr lvl="1"/>
            <a:r>
              <a:rPr lang="en-US" sz="2800" dirty="0"/>
              <a:t>memory impairment, </a:t>
            </a:r>
          </a:p>
          <a:p>
            <a:pPr lvl="1"/>
            <a:r>
              <a:rPr lang="en-US" sz="2800" dirty="0"/>
              <a:t>stupor/coma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51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FBAC-161F-4718-8E16-AFBA807D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2"/>
            <a:ext cx="10515600" cy="4554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Alcohol-Related Disorders 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B25D-AFD2-43C8-BFBB-1980B47F0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444836"/>
          </a:xfrm>
        </p:spPr>
        <p:txBody>
          <a:bodyPr>
            <a:normAutofit/>
          </a:bodyPr>
          <a:lstStyle/>
          <a:p>
            <a:pPr marL="0" lvl="0" indent="0" latinLnBrk="1">
              <a:buNone/>
            </a:pPr>
            <a:r>
              <a:rPr lang="zh-CN" altLang="en-US" sz="3500" b="1" dirty="0">
                <a:solidFill>
                  <a:srgbClr val="0000FF"/>
                </a:solidFill>
              </a:rPr>
              <a:t>Alcohol Abuse</a:t>
            </a:r>
            <a:endParaRPr lang="en-US" altLang="zh-CN" sz="3500" dirty="0">
              <a:solidFill>
                <a:srgbClr val="0000FF"/>
              </a:solidFill>
            </a:endParaRPr>
          </a:p>
          <a:p>
            <a:pPr lvl="0" latinLnBrk="1"/>
            <a:r>
              <a:rPr lang="en-US" altLang="zh-CN" sz="3200" dirty="0"/>
              <a:t>Alcohol misuse is a common substance abuse problem. </a:t>
            </a:r>
          </a:p>
          <a:p>
            <a:pPr lvl="0" latinLnBrk="1"/>
            <a:r>
              <a:rPr lang="en-US" altLang="zh-CN" sz="3200" dirty="0"/>
              <a:t>Patients may present with:</a:t>
            </a:r>
          </a:p>
          <a:p>
            <a:pPr lvl="1" latinLnBrk="1"/>
            <a:r>
              <a:rPr lang="en-US" sz="3200" dirty="0"/>
              <a:t>Depressed mood.</a:t>
            </a:r>
          </a:p>
          <a:p>
            <a:pPr lvl="1" latinLnBrk="1"/>
            <a:r>
              <a:rPr lang="en-US" sz="3200" dirty="0"/>
              <a:t>Nervousness.</a:t>
            </a:r>
          </a:p>
          <a:p>
            <a:pPr lvl="1" latinLnBrk="1"/>
            <a:r>
              <a:rPr lang="en-US" sz="3200" dirty="0"/>
              <a:t>Insomnia.</a:t>
            </a:r>
          </a:p>
          <a:p>
            <a:pPr lvl="1" latinLnBrk="1"/>
            <a:r>
              <a:rPr lang="en-US" sz="3200" dirty="0"/>
              <a:t>Physical complications of alcohol use, e.g., </a:t>
            </a:r>
          </a:p>
          <a:p>
            <a:pPr marL="457200" lvl="1" indent="0" latinLnBrk="1">
              <a:buNone/>
            </a:pPr>
            <a:r>
              <a:rPr lang="en-US" sz="3200" dirty="0"/>
              <a:t>  - gastrointestinal ulceration, </a:t>
            </a:r>
          </a:p>
          <a:p>
            <a:pPr marL="457200" lvl="1" indent="0" latinLnBrk="1">
              <a:buNone/>
            </a:pPr>
            <a:r>
              <a:rPr lang="en-US" sz="3200" dirty="0"/>
              <a:t>  - gastritis, liver disease, and hypertension.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61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DC59-CA1C-DC2E-0271-FF88FF53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34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8D77E-E5FF-BA5E-2C2B-732F5FCA8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652"/>
            <a:ext cx="10515600" cy="5191311"/>
          </a:xfrm>
        </p:spPr>
        <p:txBody>
          <a:bodyPr/>
          <a:lstStyle/>
          <a:p>
            <a:pPr lvl="1" latinLnBrk="1"/>
            <a:r>
              <a:rPr lang="en-US" sz="2800" dirty="0"/>
              <a:t>Accidents or injuries due to alcohol use.</a:t>
            </a:r>
          </a:p>
          <a:p>
            <a:pPr lvl="1" latinLnBrk="1"/>
            <a:r>
              <a:rPr lang="en-US" sz="2800" dirty="0"/>
              <a:t>Poor memory or concentration.</a:t>
            </a:r>
          </a:p>
          <a:p>
            <a:pPr lvl="1" latinLnBrk="1"/>
            <a:r>
              <a:rPr lang="en-US" sz="2800" dirty="0"/>
              <a:t>Evidence of self-neglect.</a:t>
            </a:r>
          </a:p>
          <a:p>
            <a:pPr lvl="1" latinLnBrk="1"/>
            <a:r>
              <a:rPr lang="en-US" sz="2800" dirty="0"/>
              <a:t>Poor compliance to management for depression.</a:t>
            </a:r>
          </a:p>
          <a:p>
            <a:pPr lvl="1" latinLnBrk="1"/>
            <a:r>
              <a:rPr lang="zh-CN" altLang="en-US" sz="2800" dirty="0"/>
              <a:t>The patient may also have experienced legal and social problems </a:t>
            </a:r>
            <a:endParaRPr lang="en-US" altLang="zh-CN" sz="2800" dirty="0"/>
          </a:p>
          <a:p>
            <a:pPr marL="457200" lvl="1" indent="0" latinLnBrk="1"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due to alcohol use, </a:t>
            </a:r>
            <a:r>
              <a:rPr lang="en-US" altLang="zh-CN" sz="2800" dirty="0"/>
              <a:t>e.g. </a:t>
            </a:r>
            <a:r>
              <a:rPr lang="zh-CN" altLang="en-US" sz="2800" dirty="0"/>
              <a:t>, </a:t>
            </a:r>
            <a:endParaRPr lang="en-US" altLang="zh-CN" sz="2800" dirty="0"/>
          </a:p>
          <a:p>
            <a:pPr lvl="1" latinLnBrk="1">
              <a:buFontTx/>
              <a:buChar char="-"/>
            </a:pPr>
            <a:r>
              <a:rPr lang="zh-CN" altLang="en-US" sz="2800" dirty="0"/>
              <a:t>marital problems, domestic violence, child abuse and </a:t>
            </a:r>
            <a:endParaRPr lang="en-US" altLang="zh-CN" sz="2800" dirty="0"/>
          </a:p>
          <a:p>
            <a:pPr lvl="1" latinLnBrk="1">
              <a:buFontTx/>
              <a:buChar char="-"/>
            </a:pPr>
            <a:r>
              <a:rPr lang="zh-CN" altLang="en-US" sz="2800" dirty="0"/>
              <a:t>neglect or missed work. </a:t>
            </a:r>
            <a:endParaRPr lang="en-US" altLang="zh-CN" sz="2800" dirty="0"/>
          </a:p>
          <a:p>
            <a:pPr lvl="1" latinLnBrk="1"/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371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B08B-8BE2-4164-93FA-55E53FD8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42751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8290-8D08-4AD0-B7DC-AB1AE2AD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7418"/>
            <a:ext cx="11021291" cy="5874327"/>
          </a:xfrm>
        </p:spPr>
        <p:txBody>
          <a:bodyPr/>
          <a:lstStyle/>
          <a:p>
            <a:pPr latinLnBrk="1"/>
            <a:r>
              <a:rPr lang="zh-CN" altLang="en-US" dirty="0"/>
              <a:t>The individual may show signs of alcohol withdrawal, which include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endParaRPr lang="en-US" altLang="zh-CN" dirty="0"/>
          </a:p>
          <a:p>
            <a:pPr latinLnBrk="1">
              <a:buFontTx/>
              <a:buChar char="-"/>
            </a:pPr>
            <a:r>
              <a:rPr lang="zh-CN" altLang="en-US" dirty="0"/>
              <a:t>sweating, tremors, morning sickness, </a:t>
            </a:r>
            <a:endParaRPr lang="en-US" altLang="zh-CN" dirty="0"/>
          </a:p>
          <a:p>
            <a:pPr latinLnBrk="1">
              <a:buFontTx/>
              <a:buChar char="-"/>
            </a:pPr>
            <a:r>
              <a:rPr lang="zh-CN" altLang="en-US" dirty="0"/>
              <a:t>hallucinations and seizures.</a:t>
            </a:r>
          </a:p>
          <a:p>
            <a:pPr lvl="0" latinLnBrk="1"/>
            <a:r>
              <a:rPr lang="zh-CN" altLang="en-US" dirty="0"/>
              <a:t>Patients may sometimes deny or are unaware of alcohol problems. </a:t>
            </a:r>
          </a:p>
          <a:p>
            <a:pPr lvl="0" latinLnBrk="1"/>
            <a:r>
              <a:rPr lang="zh-CN" altLang="en-US" dirty="0"/>
              <a:t>Family members may request help before the patient does. </a:t>
            </a:r>
            <a:endParaRPr lang="en-US" altLang="zh-CN" dirty="0"/>
          </a:p>
          <a:p>
            <a:pPr lvl="0" latinLnBrk="1"/>
            <a:r>
              <a:rPr lang="zh-CN" altLang="en-US" dirty="0"/>
              <a:t>The problem may also be identified during a routine health promotion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screening.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5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5D0A-B05B-0496-85C6-4BF62227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51478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+mn-lt"/>
              </a:rPr>
              <a:t>Alcohol Withdrawal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837D-E1CB-0623-8030-6C17B8C87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405"/>
            <a:ext cx="10515600" cy="5343896"/>
          </a:xfrm>
        </p:spPr>
        <p:txBody>
          <a:bodyPr/>
          <a:lstStyle/>
          <a:p>
            <a:r>
              <a:rPr lang="en-US" b="1" dirty="0"/>
              <a:t>Alcohol Withdrawal </a:t>
            </a:r>
            <a:r>
              <a:rPr lang="en-US" dirty="0"/>
              <a:t>includes two (2) or more of following after cessation of or reduction in alcohol use:</a:t>
            </a:r>
          </a:p>
          <a:p>
            <a:pPr lvl="1"/>
            <a:r>
              <a:rPr lang="en-US" sz="2800" dirty="0"/>
              <a:t>Autonomic hyperactivity (sweating or pulse &gt; 100)</a:t>
            </a:r>
          </a:p>
          <a:p>
            <a:pPr lvl="1"/>
            <a:r>
              <a:rPr lang="en-US" sz="2800" dirty="0"/>
              <a:t>Increased hand tremor</a:t>
            </a:r>
          </a:p>
          <a:p>
            <a:pPr lvl="1"/>
            <a:r>
              <a:rPr lang="en-US" sz="2800" dirty="0"/>
              <a:t>Insomnia</a:t>
            </a:r>
          </a:p>
          <a:p>
            <a:pPr lvl="1"/>
            <a:r>
              <a:rPr lang="en-US" sz="2800" dirty="0"/>
              <a:t>Nausea or vomiting</a:t>
            </a:r>
          </a:p>
          <a:p>
            <a:pPr lvl="1"/>
            <a:r>
              <a:rPr lang="en-US" sz="2800" dirty="0"/>
              <a:t>Transient visual, tactile, auditory hallucinations</a:t>
            </a:r>
          </a:p>
          <a:p>
            <a:pPr lvl="1"/>
            <a:r>
              <a:rPr lang="en-US" sz="2800" dirty="0"/>
              <a:t>Psychomotor agitation</a:t>
            </a:r>
          </a:p>
          <a:p>
            <a:pPr lvl="1"/>
            <a:r>
              <a:rPr lang="en-US" sz="2800" dirty="0"/>
              <a:t>Anxiety</a:t>
            </a:r>
          </a:p>
          <a:p>
            <a:pPr lvl="1"/>
            <a:r>
              <a:rPr lang="en-US" sz="2800" dirty="0"/>
              <a:t>Seizures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1829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4DD3-6F3A-A0C0-30ED-71AAF7D2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+mn-lt"/>
              </a:rPr>
              <a:t>Stages of Alcohol Withdrawal Syndrome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5DE7-FEDC-DAF0-37BD-CE9FB49A8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779"/>
            <a:ext cx="10515600" cy="543597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sz="3200" dirty="0"/>
              <a:t>1) </a:t>
            </a:r>
            <a:r>
              <a:rPr lang="en-US" sz="3200" dirty="0">
                <a:solidFill>
                  <a:srgbClr val="FF0000"/>
                </a:solidFill>
              </a:rPr>
              <a:t>Tremulousness</a:t>
            </a:r>
          </a:p>
          <a:p>
            <a:pPr lvl="1" algn="just"/>
            <a:r>
              <a:rPr lang="en-US" sz="3200" dirty="0"/>
              <a:t>Occurs during the </a:t>
            </a:r>
            <a:r>
              <a:rPr lang="en-US" sz="3200" dirty="0">
                <a:solidFill>
                  <a:schemeClr val="hlink"/>
                </a:solidFill>
              </a:rPr>
              <a:t>drinking period up to 2 hours afterward.</a:t>
            </a:r>
          </a:p>
          <a:p>
            <a:pPr lvl="1" algn="just"/>
            <a:r>
              <a:rPr lang="en-US" sz="3200" dirty="0"/>
              <a:t>There is anxiety, agitation and irritability</a:t>
            </a:r>
          </a:p>
          <a:p>
            <a:pPr lvl="1" algn="just"/>
            <a:r>
              <a:rPr lang="en-US" sz="3200" dirty="0"/>
              <a:t>As it progresses, tremors, tachycardia and diaphoresis are exhibited</a:t>
            </a:r>
          </a:p>
          <a:p>
            <a:pPr algn="just">
              <a:buFontTx/>
              <a:buNone/>
            </a:pPr>
            <a:r>
              <a:rPr lang="en-US" sz="3200" dirty="0"/>
              <a:t>2) </a:t>
            </a:r>
            <a:r>
              <a:rPr lang="en-US" sz="3200" dirty="0">
                <a:solidFill>
                  <a:srgbClr val="FF0000"/>
                </a:solidFill>
              </a:rPr>
              <a:t>Hallucinations</a:t>
            </a:r>
          </a:p>
          <a:p>
            <a:pPr lvl="1" algn="just"/>
            <a:r>
              <a:rPr lang="en-US" sz="3200" dirty="0"/>
              <a:t>Begins </a:t>
            </a:r>
            <a:r>
              <a:rPr lang="en-US" sz="3200" dirty="0">
                <a:solidFill>
                  <a:schemeClr val="hlink"/>
                </a:solidFill>
              </a:rPr>
              <a:t>12 – 48 hours after the person stops drinking</a:t>
            </a:r>
          </a:p>
          <a:p>
            <a:pPr lvl="1" algn="just"/>
            <a:r>
              <a:rPr lang="en-US" sz="3200" dirty="0"/>
              <a:t>Gastrointestinal symptoms of nausea, vomiting, diarrhea and anorexia are present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877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A786-80AC-873A-2307-2F406ED6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006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431D-280A-AF00-164A-6EC8BDD9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1"/>
            <a:ext cx="10515600" cy="55950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solidFill>
                  <a:srgbClr val="FF0000"/>
                </a:solidFill>
              </a:rPr>
              <a:t>3. Delirium tremens</a:t>
            </a:r>
          </a:p>
          <a:p>
            <a:pPr lvl="1" algn="just"/>
            <a:r>
              <a:rPr lang="en-US" sz="3200" dirty="0"/>
              <a:t>A condition of severe memory disturbance, agitation, anorexia and hallucinations</a:t>
            </a:r>
          </a:p>
          <a:p>
            <a:pPr lvl="1" algn="just"/>
            <a:r>
              <a:rPr lang="en-US" sz="3200" dirty="0"/>
              <a:t>Begins a </a:t>
            </a:r>
            <a:r>
              <a:rPr lang="en-US" sz="3200" dirty="0">
                <a:solidFill>
                  <a:schemeClr val="hlink"/>
                </a:solidFill>
              </a:rPr>
              <a:t>few days after drinking stops and ends within </a:t>
            </a:r>
          </a:p>
          <a:p>
            <a:pPr marL="457200" lvl="1" indent="0" algn="just">
              <a:buNone/>
            </a:pPr>
            <a:r>
              <a:rPr lang="en-US" sz="3200" dirty="0">
                <a:solidFill>
                  <a:schemeClr val="hlink"/>
                </a:solidFill>
              </a:rPr>
              <a:t>   1 – 5 days</a:t>
            </a:r>
            <a:r>
              <a:rPr lang="en-US" sz="3200" dirty="0"/>
              <a:t> </a:t>
            </a:r>
          </a:p>
          <a:p>
            <a:pPr lvl="1" algn="just"/>
            <a:r>
              <a:rPr lang="en-US" sz="3200" dirty="0"/>
              <a:t>There is elevated temperature, severe diaphoresis, hypertension and tachycardia</a:t>
            </a:r>
          </a:p>
          <a:p>
            <a:pPr lvl="1" algn="just"/>
            <a:r>
              <a:rPr lang="en-US" sz="3200" dirty="0"/>
              <a:t>Behavioral symptoms include </a:t>
            </a:r>
            <a:r>
              <a:rPr lang="en-US" sz="3200" dirty="0">
                <a:solidFill>
                  <a:schemeClr val="hlink"/>
                </a:solidFill>
              </a:rPr>
              <a:t>confusion with disorientation, agitation, tremors, and alterations in sensory perception</a:t>
            </a:r>
            <a:r>
              <a:rPr lang="en-US" dirty="0">
                <a:solidFill>
                  <a:schemeClr val="hlink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32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2EE7-1974-5073-4338-EE8D10CA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57"/>
            <a:ext cx="10515600" cy="23750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52A0E-5D11-B41E-E724-4AFE19CE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268"/>
            <a:ext cx="10515600" cy="55356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00FF"/>
                </a:solidFill>
              </a:rPr>
              <a:t>Delirium Tremens</a:t>
            </a:r>
          </a:p>
          <a:p>
            <a:r>
              <a:rPr lang="en-US" dirty="0"/>
              <a:t>State of withdrawal usually 3-4 days after total cessation manifested by delirium and confusion</a:t>
            </a:r>
          </a:p>
          <a:p>
            <a:r>
              <a:rPr lang="en-US" dirty="0"/>
              <a:t>Clinical features include:</a:t>
            </a:r>
          </a:p>
          <a:p>
            <a:pPr lvl="1"/>
            <a:r>
              <a:rPr lang="en-US" sz="2800" dirty="0"/>
              <a:t>Insomnia, anxiety, fear, restlessness</a:t>
            </a:r>
          </a:p>
          <a:p>
            <a:pPr lvl="1"/>
            <a:r>
              <a:rPr lang="en-US" sz="2800" dirty="0"/>
              <a:t>tremors and convulsions</a:t>
            </a:r>
          </a:p>
          <a:p>
            <a:pPr lvl="1"/>
            <a:r>
              <a:rPr lang="en-US" sz="2800" dirty="0"/>
              <a:t>Clouding of consciousness, disorientation, and confusion</a:t>
            </a:r>
          </a:p>
          <a:p>
            <a:pPr lvl="1"/>
            <a:r>
              <a:rPr lang="en-US" sz="2800" dirty="0"/>
              <a:t>Visual and auditory hallucinations with illusions</a:t>
            </a:r>
          </a:p>
          <a:p>
            <a:pPr lvl="1"/>
            <a:r>
              <a:rPr lang="en-US" sz="2800" dirty="0"/>
              <a:t>Over-activity of the autonomic NS</a:t>
            </a:r>
          </a:p>
          <a:p>
            <a:pPr lvl="1"/>
            <a:r>
              <a:rPr lang="en-US" sz="2800" dirty="0"/>
              <a:t>Delusions, agitation and sleep disturbances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534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3281-8597-A397-B801-8FD6414D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758"/>
            <a:ext cx="10515600" cy="28500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96F1A-21A8-EA47-5A63-78B72DE59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0"/>
            <a:ext cx="10515600" cy="593766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0000FF"/>
                </a:solidFill>
              </a:rPr>
              <a:t>Nutritional Deficiencies </a:t>
            </a:r>
            <a:r>
              <a:rPr lang="en-US" dirty="0"/>
              <a:t>(Thiamine / Vit B1), </a:t>
            </a:r>
          </a:p>
          <a:p>
            <a:r>
              <a:rPr lang="en-US" dirty="0"/>
              <a:t>Leads to </a:t>
            </a:r>
            <a:r>
              <a:rPr lang="en-US" dirty="0" err="1"/>
              <a:t>Wernicke,s</a:t>
            </a:r>
            <a:r>
              <a:rPr lang="en-US" dirty="0"/>
              <a:t> encephalopathy, Korsakoff’s psychosis and alcoholic dementia.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B7F9A0C-ED1C-62ED-5AFB-4A7893332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45" y="2173184"/>
            <a:ext cx="5607604" cy="468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17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4B0B-CD7C-2752-439F-454CC739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79"/>
            <a:ext cx="10515600" cy="16625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9BE14-BFBC-3BC1-F7E3-0D8741CA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888"/>
            <a:ext cx="10515600" cy="56900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</a:rPr>
              <a:t>Wernicke encephalopathy</a:t>
            </a:r>
          </a:p>
          <a:p>
            <a:pPr marL="0" indent="0">
              <a:buNone/>
            </a:pPr>
            <a:r>
              <a:rPr lang="en-US" dirty="0"/>
              <a:t>Symptoms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mental activity that may progress to coma or death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Ataxia, or loss of muscle coordination causing leg tremors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Double vision, drooping eyelid, abnormal eye movements, or other vision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Alcohol withdrawal symptoms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Muscle atrophy or weakness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Diminished reflexes and balance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6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7DD6-B40F-9BA6-E4F6-D8871D09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1"/>
            <a:ext cx="10515600" cy="26125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20B8-AD3C-AF54-4B97-C15462233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88422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</a:rPr>
              <a:t>Korsakoff psychosis</a:t>
            </a:r>
          </a:p>
          <a:p>
            <a:pPr marL="0" indent="0">
              <a:buNone/>
            </a:pPr>
            <a:r>
              <a:rPr lang="en-US" dirty="0"/>
              <a:t>Symptoms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Severe memory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Inability to form new memories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Confusion or making up stories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coordination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Personality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and auditory hallucinations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Being easily frustrated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38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88A1-7A7F-5446-82D6-7A598338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55814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Clinical features of Alcohol Withdrawal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2B25F8-94D4-3AF5-FA03-B987045FF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544639"/>
              </p:ext>
            </p:extLst>
          </p:nvPr>
        </p:nvGraphicFramePr>
        <p:xfrm>
          <a:off x="838200" y="1068779"/>
          <a:ext cx="10515600" cy="5566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223933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10981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94950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414245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1545303"/>
                    </a:ext>
                  </a:extLst>
                </a:gridCol>
              </a:tblGrid>
              <a:tr h="7408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SYNDROME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CAUSE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ONSET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ESSENTIAL FEATURE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OTHER SIGNS AND SYMPTOMS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3384917"/>
                  </a:ext>
                </a:extLst>
              </a:tr>
              <a:tr h="18202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DELIRIUM TREMENS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Faulty metabolism of alcohol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Acute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Delirium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Increased vital signs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Visual and tactile hallucinations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Coarse tremors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951102640"/>
                  </a:ext>
                </a:extLst>
              </a:tr>
              <a:tr h="18202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KORSAKOFF’S PSYCHOSIS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Thiamine and Niacin deficiency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Chronic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Memory Disturbances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Retrograde amnesia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Anterograde amnesia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Confabulation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01506209"/>
                  </a:ext>
                </a:extLst>
              </a:tr>
              <a:tr h="11852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WERNICKES PSYCHOSIS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Thiamine deficiency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Chronic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Confusion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Opthalmoplegia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Ataxia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496298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031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4F1F-A9CD-4522-A6EB-90EFF57C1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884"/>
            <a:ext cx="10515600" cy="486887"/>
          </a:xfrm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Diagnostic Features of Alcohol Abuse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82BF-3C03-426F-9EC1-9BFDC82E9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532"/>
            <a:ext cx="10515600" cy="4989431"/>
          </a:xfrm>
        </p:spPr>
        <p:txBody>
          <a:bodyPr/>
          <a:lstStyle/>
          <a:p>
            <a:r>
              <a:rPr lang="zh-CN" altLang="en-US" dirty="0"/>
              <a:t>Harmful alcohol use refers to the consumption of over 28 units per week for men and over 21 units per week for women. </a:t>
            </a:r>
            <a:endParaRPr lang="en-US" altLang="zh-CN" dirty="0"/>
          </a:p>
          <a:p>
            <a:r>
              <a:rPr lang="zh-CN" altLang="en-US" dirty="0"/>
              <a:t>This can result in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b="1" dirty="0"/>
              <a:t>P</a:t>
            </a:r>
            <a:r>
              <a:rPr lang="zh-CN" altLang="en-US" b="1" dirty="0"/>
              <a:t>hysical harm</a:t>
            </a:r>
            <a:r>
              <a:rPr lang="zh-CN" altLang="en-US" dirty="0"/>
              <a:t>, </a:t>
            </a:r>
            <a:r>
              <a:rPr lang="en-US" altLang="zh-CN" dirty="0"/>
              <a:t>e.g. </a:t>
            </a:r>
            <a:r>
              <a:rPr lang="zh-CN" altLang="en-US" dirty="0"/>
              <a:t>, 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liver disease, gastrointestinal bleeding,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P</a:t>
            </a:r>
            <a:r>
              <a:rPr lang="zh-CN" altLang="en-US" b="1" dirty="0"/>
              <a:t>sychological harm</a:t>
            </a:r>
            <a:r>
              <a:rPr lang="zh-CN" altLang="en-US" dirty="0"/>
              <a:t>, </a:t>
            </a:r>
            <a:r>
              <a:rPr lang="en-US" altLang="zh-CN" dirty="0"/>
              <a:t>e.g. </a:t>
            </a:r>
            <a:r>
              <a:rPr lang="zh-CN" altLang="en-US" dirty="0"/>
              <a:t>, 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depression or anxiety or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S</a:t>
            </a:r>
            <a:r>
              <a:rPr lang="zh-CN" altLang="en-US" b="1" dirty="0"/>
              <a:t>ocial consequences</a:t>
            </a:r>
            <a:r>
              <a:rPr lang="zh-CN" altLang="en-US" dirty="0"/>
              <a:t>, like the loss of a job.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26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B25C-26DA-4884-AEA9-336AEA27B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4CD4E-18F2-42EC-ABB8-6E170463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092"/>
            <a:ext cx="10515600" cy="5137872"/>
          </a:xfrm>
        </p:spPr>
        <p:txBody>
          <a:bodyPr/>
          <a:lstStyle/>
          <a:p>
            <a:pPr lvl="0" latinLnBrk="1"/>
            <a:r>
              <a:rPr lang="en-US" altLang="zh-CN" sz="3200" dirty="0"/>
              <a:t>Alcohol dependence is said to be present when any of the </a:t>
            </a:r>
          </a:p>
          <a:p>
            <a:pPr marL="0" lvl="0" indent="0" latinLnBrk="1">
              <a:buNone/>
            </a:pPr>
            <a:r>
              <a:rPr lang="en-US" altLang="zh-CN" sz="3200" dirty="0"/>
              <a:t>   following factors are present:</a:t>
            </a:r>
          </a:p>
          <a:p>
            <a:pPr lvl="1" latinLnBrk="1"/>
            <a:r>
              <a:rPr lang="en-US" sz="3200" dirty="0"/>
              <a:t>Strong desire or compulsion to use alcohol.</a:t>
            </a:r>
          </a:p>
          <a:p>
            <a:pPr lvl="1" latinLnBrk="1"/>
            <a:r>
              <a:rPr lang="en-US" sz="3200" dirty="0"/>
              <a:t>Difficulty controlling alcohol use.</a:t>
            </a:r>
          </a:p>
          <a:p>
            <a:pPr lvl="1" latinLnBrk="1"/>
            <a:r>
              <a:rPr lang="en-US" sz="3200" dirty="0"/>
              <a:t>Withdrawal symptoms, for example, anxiety, tremors, </a:t>
            </a:r>
            <a:br>
              <a:rPr lang="en-US" sz="3200" dirty="0"/>
            </a:br>
            <a:r>
              <a:rPr lang="en-US" sz="3200" dirty="0"/>
              <a:t>sweating, when drinking is ceased.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35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D3E8-BD02-89D8-6341-4BA7D785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31"/>
            <a:ext cx="10515600" cy="59376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Diagnosis for alcohol use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87BD-6A1F-ED16-B07A-F5321DF2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034"/>
            <a:ext cx="10515600" cy="5397335"/>
          </a:xfrm>
        </p:spPr>
        <p:txBody>
          <a:bodyPr/>
          <a:lstStyle/>
          <a:p>
            <a:r>
              <a:rPr lang="en-US" b="1" dirty="0"/>
              <a:t>CAGE:     </a:t>
            </a:r>
            <a:r>
              <a:rPr lang="en-US" dirty="0"/>
              <a:t>1.</a:t>
            </a:r>
            <a:r>
              <a:rPr lang="en-US" b="1" dirty="0"/>
              <a:t> </a:t>
            </a:r>
            <a:r>
              <a:rPr lang="en-US" sz="2800" dirty="0"/>
              <a:t>Cut Down  2. Annoyed  3. Guilty  4. Eye Opener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endParaRPr lang="en-US" dirty="0"/>
          </a:p>
          <a:p>
            <a:r>
              <a:rPr lang="en-US" dirty="0"/>
              <a:t>This is a simple and effective screening tool that involves asking the following four (4) questions</a:t>
            </a:r>
          </a:p>
          <a:p>
            <a:pPr lvl="1"/>
            <a:r>
              <a:rPr lang="en-US" sz="2800" dirty="0"/>
              <a:t>Has the patient ever tried to </a:t>
            </a:r>
            <a:r>
              <a:rPr lang="en-US" sz="2800" i="1" dirty="0">
                <a:solidFill>
                  <a:srgbClr val="FF0000"/>
                </a:solidFill>
              </a:rPr>
              <a:t>Cut Down </a:t>
            </a:r>
            <a:r>
              <a:rPr lang="en-US" sz="2800" dirty="0"/>
              <a:t>on their drinking?</a:t>
            </a:r>
          </a:p>
          <a:p>
            <a:pPr lvl="1"/>
            <a:r>
              <a:rPr lang="en-US" sz="2800" dirty="0"/>
              <a:t>Do they get </a:t>
            </a:r>
            <a:r>
              <a:rPr lang="en-US" sz="2800" i="1" dirty="0">
                <a:solidFill>
                  <a:srgbClr val="FF0000"/>
                </a:solidFill>
              </a:rPr>
              <a:t>Annoyed</a:t>
            </a:r>
            <a:r>
              <a:rPr lang="en-US" sz="2800" dirty="0"/>
              <a:t> when people talk about their drinking?</a:t>
            </a:r>
          </a:p>
          <a:p>
            <a:pPr lvl="1"/>
            <a:r>
              <a:rPr lang="en-US" sz="2800" dirty="0"/>
              <a:t>Do they ever feel </a:t>
            </a:r>
            <a:r>
              <a:rPr lang="en-US" sz="2800" i="1" dirty="0">
                <a:solidFill>
                  <a:srgbClr val="FF0000"/>
                </a:solidFill>
              </a:rPr>
              <a:t>Guilty</a:t>
            </a:r>
            <a:r>
              <a:rPr lang="en-US" sz="2800" dirty="0"/>
              <a:t> about their drinking?</a:t>
            </a:r>
          </a:p>
          <a:p>
            <a:pPr lvl="1"/>
            <a:r>
              <a:rPr lang="en-US" sz="2800" dirty="0"/>
              <a:t>Do they ever take an </a:t>
            </a:r>
            <a:r>
              <a:rPr lang="en-US" sz="2800" dirty="0">
                <a:solidFill>
                  <a:srgbClr val="FF0000"/>
                </a:solidFill>
              </a:rPr>
              <a:t>Eye Opener </a:t>
            </a:r>
            <a:r>
              <a:rPr lang="en-US" sz="2800" dirty="0"/>
              <a:t>(</a:t>
            </a:r>
            <a:r>
              <a:rPr lang="en-US" sz="2800" i="1" dirty="0"/>
              <a:t>EARLY MORNING) </a:t>
            </a:r>
            <a:r>
              <a:rPr lang="en-US" sz="2800" dirty="0"/>
              <a:t>drink?</a:t>
            </a:r>
          </a:p>
          <a:p>
            <a:r>
              <a:rPr lang="en-US" dirty="0"/>
              <a:t>A positive answer is 2 or more “YES” responses</a:t>
            </a:r>
          </a:p>
        </p:txBody>
      </p:sp>
    </p:spTree>
    <p:extLst>
      <p:ext uri="{BB962C8B-B14F-4D97-AF65-F5344CB8AC3E}">
        <p14:creationId xmlns:p14="http://schemas.microsoft.com/office/powerpoint/2010/main" val="120085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B0F7-3786-CAE0-2294-8F4F704D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504"/>
            <a:ext cx="10515600" cy="76002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Alcoholism screening questions known as CAGE </a:t>
            </a:r>
            <a:endParaRPr lang="en-US" sz="3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C0AB9-9134-1F0B-692F-B43964A42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02526"/>
            <a:ext cx="10515600" cy="5812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974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8735-D785-B999-B282-5275A27A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Management of Alcohol Intoxication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11E9-3191-B1C4-26DA-7514ED86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370656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  <a:cs typeface="Times New Roman" pitchFamily="18" charset="0"/>
              </a:rPr>
              <a:t>Dextrose 10- 50% </a:t>
            </a:r>
            <a:r>
              <a:rPr lang="en-US" dirty="0">
                <a:solidFill>
                  <a:srgbClr val="0000FF"/>
                </a:solidFill>
                <a:cs typeface="Times New Roman" pitchFamily="18" charset="0"/>
              </a:rPr>
              <a:t>can be administered to promote brain metabolism and prevent hypoglycemic crisis.</a:t>
            </a:r>
          </a:p>
          <a:p>
            <a:r>
              <a:rPr lang="en-US" b="1" dirty="0">
                <a:cs typeface="Times New Roman" pitchFamily="18" charset="0"/>
              </a:rPr>
              <a:t>Intubation</a:t>
            </a:r>
          </a:p>
          <a:p>
            <a:r>
              <a:rPr lang="en-US" dirty="0">
                <a:cs typeface="Times New Roman" pitchFamily="18" charset="0"/>
              </a:rPr>
              <a:t>In severe cases - those of severe stupor and coma – </a:t>
            </a:r>
          </a:p>
          <a:p>
            <a:pPr>
              <a:buFontTx/>
              <a:buChar char="-"/>
            </a:pPr>
            <a:r>
              <a:rPr lang="en-US" dirty="0">
                <a:cs typeface="Times New Roman" pitchFamily="18" charset="0"/>
              </a:rPr>
              <a:t>the person should be intubated to support respirations and to protect </a:t>
            </a:r>
          </a:p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   the lungs from filling with vomit/secretions.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523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6449-9B4F-3092-F1A5-898E0BB0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52863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Other management Strategies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825B-BFFD-56AD-6323-79343EFEB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364"/>
            <a:ext cx="10515600" cy="5068599"/>
          </a:xfrm>
        </p:spPr>
        <p:txBody>
          <a:bodyPr/>
          <a:lstStyle/>
          <a:p>
            <a:pPr marL="571500" indent="-571500" algn="just">
              <a:buAutoNum type="romanLcParenBoth"/>
            </a:pPr>
            <a:r>
              <a:rPr lang="en-US" dirty="0"/>
              <a:t>Ensure safety</a:t>
            </a:r>
          </a:p>
          <a:p>
            <a:pPr marL="571500" indent="-571500" algn="just">
              <a:buAutoNum type="romanLcParenBoth"/>
            </a:pPr>
            <a:r>
              <a:rPr lang="en-US" dirty="0"/>
              <a:t>Psychotherapy</a:t>
            </a:r>
          </a:p>
          <a:p>
            <a:pPr marL="571500" indent="-571500" algn="just">
              <a:buAutoNum type="romanLcParenBoth"/>
            </a:pPr>
            <a:r>
              <a:rPr lang="en-US" dirty="0"/>
              <a:t>Rehabilitation</a:t>
            </a:r>
          </a:p>
          <a:p>
            <a:pPr marL="571500" indent="-571500" algn="just">
              <a:buAutoNum type="romanLcParenBoth"/>
            </a:pPr>
            <a:r>
              <a:rPr lang="en-US" dirty="0"/>
              <a:t>Refer to support group e.g. alcohol anonymous</a:t>
            </a:r>
          </a:p>
          <a:p>
            <a:pPr marL="571500" indent="-571500" algn="just">
              <a:buAutoNum type="romanLcParenBoth"/>
            </a:pPr>
            <a:r>
              <a:rPr lang="en-US" dirty="0"/>
              <a:t>Antidote of alcohol- </a:t>
            </a:r>
            <a:r>
              <a:rPr lang="en-US" i="1" dirty="0"/>
              <a:t>Disulfiram</a:t>
            </a:r>
            <a:r>
              <a:rPr lang="en-US" dirty="0"/>
              <a:t>.</a:t>
            </a:r>
          </a:p>
          <a:p>
            <a:pPr marL="571500" indent="-571500" algn="just">
              <a:buAutoNum type="romanLcParenBoth"/>
            </a:pPr>
            <a:r>
              <a:rPr lang="en-US" dirty="0"/>
              <a:t>Pharmacology e.g. Antipsychotic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872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2A9A-F58C-AF7D-4945-7E4E3F18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674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E2826-CA44-213F-873D-67F39F4B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0436"/>
            <a:ext cx="10515600" cy="5456527"/>
          </a:xfrm>
        </p:spPr>
        <p:txBody>
          <a:bodyPr/>
          <a:lstStyle/>
          <a:p>
            <a:r>
              <a:rPr lang="en-US" dirty="0"/>
              <a:t>Other screening tools include:</a:t>
            </a:r>
          </a:p>
          <a:p>
            <a:pPr lvl="1"/>
            <a:r>
              <a:rPr lang="en-US" sz="2800" dirty="0"/>
              <a:t>Short Michigan alcohol screening test (S-MAST)</a:t>
            </a:r>
          </a:p>
          <a:p>
            <a:pPr lvl="1"/>
            <a:r>
              <a:rPr lang="en-US" sz="2800" dirty="0"/>
              <a:t>Laboratory investigations such as blood alcohol concentration (BAC), breath alcohol levels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517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46D1-3F95-CBD8-B973-EB991AB7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458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Pharmacologic Treatment of Alcoholic Patients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A3386-C3FF-FEE6-3607-9FC6C239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56"/>
            <a:ext cx="10515600" cy="541221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  <a:cs typeface="Times New Roman" pitchFamily="18" charset="0"/>
              </a:rPr>
              <a:t>IV fluids</a:t>
            </a:r>
            <a:r>
              <a:rPr lang="en-US" dirty="0">
                <a:solidFill>
                  <a:srgbClr val="0000FF"/>
                </a:solidFill>
                <a:cs typeface="Times New Roman" pitchFamily="18" charset="0"/>
              </a:rPr>
              <a:t> for dehydration </a:t>
            </a:r>
            <a:endParaRPr lang="en-US" b="1" dirty="0">
              <a:solidFill>
                <a:srgbClr val="0000FF"/>
              </a:solidFill>
              <a:cs typeface="Times New Roman" pitchFamily="18" charset="0"/>
            </a:endParaRPr>
          </a:p>
          <a:p>
            <a:pPr algn="just"/>
            <a:r>
              <a:rPr lang="en-US" b="1" dirty="0">
                <a:solidFill>
                  <a:srgbClr val="0000FF"/>
                </a:solidFill>
                <a:cs typeface="Times New Roman" pitchFamily="18" charset="0"/>
              </a:rPr>
              <a:t>B-Complex vitamins </a:t>
            </a:r>
            <a:r>
              <a:rPr lang="en-US" dirty="0">
                <a:solidFill>
                  <a:srgbClr val="0000FF"/>
                </a:solidFill>
                <a:cs typeface="Times New Roman" pitchFamily="18" charset="0"/>
              </a:rPr>
              <a:t>precaution or treatment for vitamin deficiency.</a:t>
            </a:r>
          </a:p>
          <a:p>
            <a:pPr algn="just"/>
            <a:r>
              <a:rPr lang="en-US" dirty="0">
                <a:solidFill>
                  <a:srgbClr val="0000FF"/>
                </a:solidFill>
              </a:rPr>
              <a:t>Vitamin B1 (Thiamine) </a:t>
            </a:r>
            <a:r>
              <a:rPr lang="en-US" dirty="0"/>
              <a:t>is often prescribed to prevent or to treat Wernicke’s syndrome and Korsakoff’s syndrome</a:t>
            </a:r>
          </a:p>
          <a:p>
            <a:pPr algn="just"/>
            <a:r>
              <a:rPr lang="en-US" dirty="0">
                <a:solidFill>
                  <a:srgbClr val="0000FF"/>
                </a:solidFill>
              </a:rPr>
              <a:t>Vitamin B12 (Cyanocobalamin) </a:t>
            </a:r>
            <a:r>
              <a:rPr lang="en-US" dirty="0"/>
              <a:t>and folic acid are often prescribed for clients with nutritional deficiencies</a:t>
            </a:r>
          </a:p>
          <a:p>
            <a:pPr lvl="0" latinLnBrk="1"/>
            <a:r>
              <a:rPr lang="zh-CN" altLang="en-US" dirty="0"/>
              <a:t>Thiamine (150mg per day in divided doses) should be given orally for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one month. </a:t>
            </a:r>
            <a:endParaRPr lang="en-US" altLang="zh-CN" dirty="0"/>
          </a:p>
          <a:p>
            <a:pPr lvl="0" latinLnBrk="1"/>
            <a:r>
              <a:rPr lang="zh-CN" altLang="en-US" dirty="0"/>
              <a:t>Parenteral thiamine is indicated for patients with ataxia, confusion,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memory disturbances, delirium tremens, hypothermia and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hypotension, ophthalmoplegia or unconsciousness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996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F057-FFC2-AE5A-1251-FEA061681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506"/>
            <a:ext cx="10515600" cy="28500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99BB-9E0B-F882-657C-9E7BDD21A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023"/>
            <a:ext cx="10515600" cy="532194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Benzodiazepine (anxiolytic) agent: </a:t>
            </a:r>
            <a:r>
              <a:rPr lang="en-US" dirty="0"/>
              <a:t>Used for Alcohol withdrawal to suppress the symptoms of abstinence. </a:t>
            </a:r>
          </a:p>
          <a:p>
            <a:pPr lvl="1" algn="just"/>
            <a:r>
              <a:rPr lang="en-US" dirty="0"/>
              <a:t>The most commonly used benzodiazepines are lorazepam, chlordiazepoxide and diazepam. </a:t>
            </a:r>
          </a:p>
          <a:p>
            <a:pPr lvl="1" latinLnBrk="1"/>
            <a:r>
              <a:rPr lang="en-US" sz="2800" dirty="0"/>
              <a:t>In such cases, chlordiazepoxide (</a:t>
            </a:r>
            <a:r>
              <a:rPr lang="en-US" sz="2800" dirty="0" err="1"/>
              <a:t>librium</a:t>
            </a:r>
            <a:r>
              <a:rPr lang="en-US" sz="2800" dirty="0"/>
              <a:t>) at 10mg is </a:t>
            </a:r>
          </a:p>
          <a:p>
            <a:pPr marL="457200" lvl="1" indent="0" latinLnBrk="1">
              <a:buNone/>
            </a:pPr>
            <a:r>
              <a:rPr lang="en-US" sz="2800" dirty="0"/>
              <a:t>  recommended. </a:t>
            </a:r>
          </a:p>
          <a:p>
            <a:pPr lvl="1" latinLnBrk="1"/>
            <a:r>
              <a:rPr lang="en-US" sz="2800" dirty="0"/>
              <a:t>The initial dose should be considered against withdrawal </a:t>
            </a:r>
          </a:p>
          <a:p>
            <a:pPr marL="457200" lvl="1" indent="0" latinLnBrk="1">
              <a:buNone/>
            </a:pPr>
            <a:r>
              <a:rPr lang="en-US" sz="2800" dirty="0"/>
              <a:t>  symptoms within a range of 5-40mg four times a day. </a:t>
            </a:r>
          </a:p>
          <a:p>
            <a:pPr lvl="1" latinLnBrk="1"/>
            <a:r>
              <a:rPr lang="en-US" sz="2800" dirty="0"/>
              <a:t>This requires close and skilled supervision.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990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C043-341C-9A32-1C91-B9DEBE5A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3087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5C4F-EE3C-5999-680E-7EB509368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766"/>
            <a:ext cx="10515600" cy="5583197"/>
          </a:xfrm>
        </p:spPr>
        <p:txBody>
          <a:bodyPr/>
          <a:lstStyle/>
          <a:p>
            <a:pPr lvl="0" latinLnBrk="1"/>
            <a:r>
              <a:rPr lang="zh-CN" altLang="en-US" dirty="0"/>
              <a:t>The regimen the dose level and length of treatment will depend on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the severity of alcohol dependence and individual patient factors,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 e.g. </a:t>
            </a:r>
            <a:r>
              <a:rPr lang="zh-CN" altLang="en-US" dirty="0"/>
              <a:t>, weight, sex and liver function. </a:t>
            </a:r>
            <a:endParaRPr lang="en-US" altLang="zh-CN" dirty="0"/>
          </a:p>
          <a:p>
            <a:pPr latinLnBrk="1"/>
            <a:r>
              <a:rPr lang="zh-CN" altLang="en-US" dirty="0"/>
              <a:t>Treatment should be dispensed daily. </a:t>
            </a:r>
            <a:endParaRPr lang="en-US" altLang="zh-CN" dirty="0"/>
          </a:p>
          <a:p>
            <a:pPr latinLnBrk="1"/>
            <a:r>
              <a:rPr lang="en-US" altLang="zh-CN" dirty="0"/>
              <a:t>I</a:t>
            </a:r>
            <a:r>
              <a:rPr lang="zh-CN" altLang="en-US" dirty="0"/>
              <a:t>nvolve a family member to prevent the risk of misuse or overdose.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52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49BA-2DF1-AE49-5FE1-3F75F097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79"/>
            <a:ext cx="10515600" cy="61751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aily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Treatment - Diazepam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4AE2A9-5CE5-7CB0-ADBC-08A665654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313381"/>
              </p:ext>
            </p:extLst>
          </p:nvPr>
        </p:nvGraphicFramePr>
        <p:xfrm>
          <a:off x="838200" y="985652"/>
          <a:ext cx="10515597" cy="4819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93003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300181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8390256"/>
                    </a:ext>
                  </a:extLst>
                </a:gridCol>
              </a:tblGrid>
              <a:tr h="715989">
                <a:tc gridSpan="3"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1" dirty="0">
                          <a:solidFill>
                            <a:srgbClr val="FFFFFF"/>
                          </a:solidFill>
                          <a:ea typeface="Times New Roman" pitchFamily="18" charset="0"/>
                        </a:rPr>
                        <a:t> </a:t>
                      </a: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0113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Day 1 and 2 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20-30mg 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QDS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4647008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Day 3 and 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15mg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QDS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2956261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Day 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10mg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QDS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02303008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Day 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10mg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QDS 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0518625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Day 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10mg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algn="just" eaLnBrk="1" latinLnBrk="1" hangingPunct="1"/>
                      <a:r>
                        <a:rPr lang="zh-CN" altLang="en-US" sz="3200" b="0" dirty="0">
                          <a:solidFill>
                            <a:srgbClr val="000000"/>
                          </a:solidFill>
                          <a:ea typeface="Times New Roman" pitchFamily="18" charset="0"/>
                        </a:rPr>
                        <a:t> QDS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94491276"/>
                  </a:ext>
                </a:extLst>
              </a:tr>
              <a:tr h="5239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350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0155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3C46-4FEA-EE7A-03E4-5238AB6E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80"/>
            <a:ext cx="10515600" cy="17813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A5580-A445-8A57-8BE6-F55F735A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2"/>
            <a:ext cx="10515600" cy="5595072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  <a:cs typeface="Times New Roman" pitchFamily="18" charset="0"/>
              </a:rPr>
              <a:t>Dextrose 10- 50% </a:t>
            </a:r>
            <a:r>
              <a:rPr lang="en-US" dirty="0">
                <a:solidFill>
                  <a:srgbClr val="0000FF"/>
                </a:solidFill>
                <a:cs typeface="Times New Roman" pitchFamily="18" charset="0"/>
              </a:rPr>
              <a:t>can be administered to promote brain metabolism and prevent hypoglycemic crisis.</a:t>
            </a:r>
          </a:p>
          <a:p>
            <a:r>
              <a:rPr lang="en-US" dirty="0">
                <a:solidFill>
                  <a:srgbClr val="0000FF"/>
                </a:solidFill>
              </a:rPr>
              <a:t>Disulfiram (Antabuse) </a:t>
            </a:r>
            <a:r>
              <a:rPr lang="en-US" dirty="0"/>
              <a:t>may be prescribed to help deter clients from drinking.</a:t>
            </a:r>
          </a:p>
          <a:p>
            <a:r>
              <a:rPr lang="en-US" dirty="0"/>
              <a:t>If a client taking disulfiram drinks alcohol, a severe adverse reaction occurs i.e.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- flushing, a throbbing headache, sweating, nausea and vomiting</a:t>
            </a:r>
            <a:r>
              <a:rPr lang="en-US" dirty="0"/>
              <a:t>.</a:t>
            </a:r>
          </a:p>
          <a:p>
            <a:r>
              <a:rPr lang="en-US" dirty="0"/>
              <a:t>In severe cases, severe </a:t>
            </a:r>
            <a:r>
              <a:rPr lang="en-US" dirty="0">
                <a:solidFill>
                  <a:srgbClr val="FF0000"/>
                </a:solidFill>
              </a:rPr>
              <a:t>hypotension, confusion, coma, and even death may result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321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2170-B3E9-0594-8232-6598BD1F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818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52B0-B024-27B8-BFE9-8C4F75D7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709"/>
            <a:ext cx="10515600" cy="538725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client must avoid products that contain alcohol such as: </a:t>
            </a:r>
          </a:p>
          <a:p>
            <a:pPr algn="just"/>
            <a:r>
              <a:rPr lang="en-US" dirty="0"/>
              <a:t>Cough syrup, lotions, mouthwash, perfume, aftershave, vinegar and vanilla and other extracts.</a:t>
            </a:r>
          </a:p>
          <a:p>
            <a:pPr lvl="1" algn="just"/>
            <a:r>
              <a:rPr lang="en-US" sz="2800" dirty="0"/>
              <a:t>The client </a:t>
            </a:r>
            <a:r>
              <a:rPr lang="en-US" sz="2800" dirty="0">
                <a:solidFill>
                  <a:srgbClr val="FF0000"/>
                </a:solidFill>
              </a:rPr>
              <a:t>must read product labels carefully</a:t>
            </a:r>
            <a:r>
              <a:rPr lang="en-US" sz="2800" dirty="0"/>
              <a:t> because any product containing alcohol can produce the symptoms.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494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B66F-95E9-44BD-BEA4-20F5A9BF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313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+mn-lt"/>
              </a:rPr>
              <a:t>General treatment </a:t>
            </a:r>
            <a:r>
              <a:rPr lang="zh-CN" altLang="en-US" b="1" dirty="0">
                <a:latin typeface="+mn-lt"/>
              </a:rPr>
              <a:t>for Alcohol Abuse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E08C-6748-4382-8FBF-8F3E5A71F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618"/>
            <a:ext cx="10515600" cy="4902345"/>
          </a:xfrm>
        </p:spPr>
        <p:txBody>
          <a:bodyPr/>
          <a:lstStyle/>
          <a:p>
            <a:pPr lvl="0" latinLnBrk="1"/>
            <a:r>
              <a:rPr lang="zh-CN" altLang="en-US" dirty="0"/>
              <a:t>For patients with mild withdrawal symptoms, frequent monitoring,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</a:t>
            </a:r>
            <a:r>
              <a:rPr lang="zh-CN" altLang="en-US" dirty="0"/>
              <a:t>support, reassurance, adequate hydration and nutrition are sufficient   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</a:t>
            </a:r>
            <a:r>
              <a:rPr lang="zh-CN" altLang="en-US" dirty="0"/>
              <a:t>treatment without medication.</a:t>
            </a:r>
          </a:p>
          <a:p>
            <a:pPr lvl="0" latinLnBrk="1"/>
            <a:r>
              <a:rPr lang="zh-CN" altLang="en-US" dirty="0"/>
              <a:t>Patients with moderate withdrawal syndrome will also require </a:t>
            </a:r>
            <a:endParaRPr lang="en-US" altLang="zh-CN" dirty="0"/>
          </a:p>
          <a:p>
            <a:pPr marL="0" lvl="0" indent="0" latinLnBrk="1">
              <a:buNone/>
            </a:pPr>
            <a:r>
              <a:rPr lang="en-US" altLang="zh-CN" dirty="0"/>
              <a:t>  </a:t>
            </a:r>
            <a:r>
              <a:rPr lang="zh-CN" altLang="en-US" dirty="0"/>
              <a:t>benzodiazepines. </a:t>
            </a:r>
            <a:endParaRPr lang="en-US" altLang="zh-CN" dirty="0"/>
          </a:p>
          <a:p>
            <a:pPr latinLnBrk="1"/>
            <a:r>
              <a:rPr lang="zh-CN" altLang="en-US" dirty="0"/>
              <a:t>Most can be detoxified as outpatients or at home. </a:t>
            </a:r>
            <a:endParaRPr lang="en-US" altLang="zh-CN" dirty="0"/>
          </a:p>
          <a:p>
            <a:pPr latinLnBrk="1"/>
            <a:r>
              <a:rPr lang="zh-CN" altLang="en-US" dirty="0"/>
              <a:t>Only practitioners with appropriate training and supervision should </a:t>
            </a:r>
            <a:endParaRPr lang="en-US" altLang="zh-CN" dirty="0"/>
          </a:p>
          <a:p>
            <a:pPr marL="0" indent="0" latinLnBrk="1">
              <a:buNone/>
            </a:pPr>
            <a:r>
              <a:rPr lang="en-US" altLang="zh-CN" dirty="0"/>
              <a:t>  </a:t>
            </a:r>
            <a:r>
              <a:rPr lang="zh-CN" altLang="en-US" dirty="0"/>
              <a:t>do community detoxification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84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BB65-6BE4-4069-A34E-E11337C6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520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9732-EB7F-4B31-BF43-F4B05528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2"/>
            <a:ext cx="10515600" cy="5527963"/>
          </a:xfrm>
        </p:spPr>
        <p:txBody>
          <a:bodyPr>
            <a:normAutofit/>
          </a:bodyPr>
          <a:lstStyle/>
          <a:p>
            <a:pPr lvl="0" latinLnBrk="1"/>
            <a:r>
              <a:rPr lang="en-US" altLang="zh-CN" sz="3200" dirty="0"/>
              <a:t>Inpatient detoxification is indicated for: </a:t>
            </a:r>
          </a:p>
          <a:p>
            <a:pPr lvl="1" latinLnBrk="1"/>
            <a:r>
              <a:rPr lang="en-US" sz="3200" dirty="0"/>
              <a:t>Patients at risk of complicated withdrawal syndrome, e.g., with a history of fits or delirium, tremors, very heavy use </a:t>
            </a:r>
          </a:p>
          <a:p>
            <a:pPr marL="457200" lvl="1" indent="0" latinLnBrk="1">
              <a:buNone/>
            </a:pPr>
            <a:r>
              <a:rPr lang="en-US" sz="3200" dirty="0"/>
              <a:t>  and high tolerance. </a:t>
            </a:r>
          </a:p>
          <a:p>
            <a:pPr lvl="1" latinLnBrk="1"/>
            <a:r>
              <a:rPr lang="en-US" sz="3200" dirty="0"/>
              <a:t>Significant polydrug use or severe morbid medical or </a:t>
            </a:r>
          </a:p>
          <a:p>
            <a:pPr marL="457200" lvl="1" indent="0" latinLnBrk="1">
              <a:buNone/>
            </a:pPr>
            <a:r>
              <a:rPr lang="en-US" sz="3200" dirty="0"/>
              <a:t>   psychiatric disorder </a:t>
            </a:r>
          </a:p>
          <a:p>
            <a:pPr lvl="1" latinLnBrk="1"/>
            <a:r>
              <a:rPr lang="en-US" sz="3200" dirty="0"/>
              <a:t>Lack social support or are considered to have a significant suicide risk.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284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91BC-1629-4149-8DAA-BC5681B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7DE3-F7D2-43F9-9DCC-71A9FC4E5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509"/>
            <a:ext cx="10515600" cy="5082454"/>
          </a:xfrm>
        </p:spPr>
        <p:txBody>
          <a:bodyPr/>
          <a:lstStyle/>
          <a:p>
            <a:pPr lvl="0" latinLnBrk="1"/>
            <a:r>
              <a:rPr lang="zh-CN" altLang="en-US" sz="3200" dirty="0"/>
              <a:t>When depression concurs with alcohol misuse,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</a:t>
            </a:r>
            <a:r>
              <a:rPr lang="zh-CN" altLang="en-US" sz="3200" dirty="0"/>
              <a:t>Selective Serotonin Re-uptake Inhibitors (SSRI) may be used</a:t>
            </a:r>
          </a:p>
          <a:p>
            <a:pPr lvl="0" latinLnBrk="1"/>
            <a:r>
              <a:rPr lang="zh-CN" altLang="en-US" sz="3200" dirty="0"/>
              <a:t>Tricyclic antidepressants should be avoided because of </a:t>
            </a:r>
            <a:endParaRPr lang="en-US" altLang="zh-CN" sz="3200" dirty="0"/>
          </a:p>
          <a:p>
            <a:pPr marL="0" lvl="0" indent="0" latinLnBrk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tricyclic-alcohol interactions. </a:t>
            </a:r>
            <a:endParaRPr lang="en-US" altLang="zh-CN" sz="3200" dirty="0"/>
          </a:p>
          <a:p>
            <a:pPr latinLnBrk="1"/>
            <a:r>
              <a:rPr lang="zh-CN" altLang="en-US" sz="3200" dirty="0"/>
              <a:t>For anxiety, benzodiazepines should be avoided because of </a:t>
            </a:r>
            <a:endParaRPr lang="en-US" altLang="zh-CN" sz="3200" dirty="0"/>
          </a:p>
          <a:p>
            <a:pPr marL="0" indent="0" latinLnBrk="1">
              <a:buNone/>
            </a:pPr>
            <a:r>
              <a:rPr lang="en-US" altLang="zh-CN" sz="3200" dirty="0"/>
              <a:t>  </a:t>
            </a:r>
            <a:r>
              <a:rPr lang="zh-CN" altLang="en-US" sz="3200" dirty="0"/>
              <a:t>high potential for abuse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801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0DA9-7B47-4E9A-DB4F-406DD0E5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374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Drugs used for Alcoholic Patients</a:t>
            </a:r>
            <a:endParaRPr lang="en-US" b="1" dirty="0">
              <a:latin typeface="+mn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CB871D-33E6-DD50-E215-0436BE008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172184"/>
              </p:ext>
            </p:extLst>
          </p:nvPr>
        </p:nvGraphicFramePr>
        <p:xfrm>
          <a:off x="415636" y="924299"/>
          <a:ext cx="11305308" cy="6081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187">
                  <a:extLst>
                    <a:ext uri="{9D8B030D-6E8A-4147-A177-3AD203B41FA5}">
                      <a16:colId xmlns:a16="http://schemas.microsoft.com/office/drawing/2014/main" val="3710470882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439694023"/>
                    </a:ext>
                  </a:extLst>
                </a:gridCol>
                <a:gridCol w="2648197">
                  <a:extLst>
                    <a:ext uri="{9D8B030D-6E8A-4147-A177-3AD203B41FA5}">
                      <a16:colId xmlns:a16="http://schemas.microsoft.com/office/drawing/2014/main" val="1921362443"/>
                    </a:ext>
                  </a:extLst>
                </a:gridCol>
                <a:gridCol w="3776352">
                  <a:extLst>
                    <a:ext uri="{9D8B030D-6E8A-4147-A177-3AD203B41FA5}">
                      <a16:colId xmlns:a16="http://schemas.microsoft.com/office/drawing/2014/main" val="813414014"/>
                    </a:ext>
                  </a:extLst>
                </a:gridCol>
              </a:tblGrid>
              <a:tr h="5951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DRUG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USE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DOSAGE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NURSING CONSIDERATIONS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750539737"/>
                  </a:ext>
                </a:extLst>
              </a:tr>
              <a:tr h="606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Lorazepam (Ativan)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Alcohol withdrawal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2 – 4 mg every 2 – 4 hours prn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Monitor vital signs and global assessments for effectiveness; may cause dizziness and drowsiness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934891620"/>
                  </a:ext>
                </a:extLst>
              </a:tr>
              <a:tr h="5429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Chlordiazepoxide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(Librium)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Alcohol withdrawal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50-100 mg, repeat in 2-4 hours if necessary, not to exceed 300 mg/day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Monitor vital signs and global assessments for effectiveness; may cause dizziness and drowsiness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436614116"/>
                  </a:ext>
                </a:extLst>
              </a:tr>
              <a:tr h="7123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Disulfiram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(Antabuse)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Maintain abstinence from alcohol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500 mg/day for 1-2 weeks, then 250 mg/day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Teach client to read labels to avoid products with alcohol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135783866"/>
                  </a:ext>
                </a:extLst>
              </a:tr>
              <a:tr h="700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Thiamine (Vitamin B1)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Prevent or treat Wernicke, Korsakoff syndrome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100 mg/day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Teach client about proper nutrition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371653"/>
                  </a:ext>
                </a:extLst>
              </a:tr>
              <a:tr h="492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Folic Acid (folate)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Treat nutritional deficiencies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1 – 2 mg/day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Teach client about proper nutrition; Urine may be dark yellow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217300740"/>
                  </a:ext>
                </a:extLst>
              </a:tr>
              <a:tr h="5951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Cyanocobalamin (Vitamin B12)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For nutritional deficiencies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25 – 250 mcg/day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Teach client about nutrition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84567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973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D9DE-F0BA-4C42-B45E-6BC04249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54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Mgt of substance related disorders in general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AB1-29AF-42B0-BF3A-01FA334EA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7" y="1399309"/>
            <a:ext cx="11568546" cy="4918364"/>
          </a:xfrm>
        </p:spPr>
        <p:txBody>
          <a:bodyPr>
            <a:normAutofit lnSpcReduction="10000"/>
          </a:bodyPr>
          <a:lstStyle/>
          <a:p>
            <a:pPr marL="0" lvl="0" indent="0" latinLnBrk="1">
              <a:buNone/>
            </a:pPr>
            <a:r>
              <a:rPr lang="en-US" altLang="zh-CN" sz="3200" b="1" dirty="0"/>
              <a:t>Goals:</a:t>
            </a:r>
          </a:p>
          <a:p>
            <a:pPr lvl="0" latinLnBrk="1">
              <a:buFont typeface="Arial" charset="0"/>
              <a:buAutoNum type="arabicPeriod"/>
            </a:pPr>
            <a:r>
              <a:rPr lang="en-US" altLang="zh-CN" sz="3200" b="1" dirty="0"/>
              <a:t>Maximizing patients' motivation for abstinence</a:t>
            </a:r>
            <a:r>
              <a:rPr lang="en-US" altLang="zh-CN" sz="3200" dirty="0"/>
              <a:t> – </a:t>
            </a:r>
          </a:p>
          <a:p>
            <a:pPr latinLnBrk="1"/>
            <a:r>
              <a:rPr lang="en-US" altLang="zh-CN" sz="3200" dirty="0"/>
              <a:t>These include</a:t>
            </a:r>
            <a:r>
              <a:rPr lang="en-US" sz="3200" i="1" dirty="0"/>
              <a:t> </a:t>
            </a:r>
            <a:r>
              <a:rPr lang="en-US" sz="3200" b="1" i="1" dirty="0"/>
              <a:t>lectures, counselling sessions, the use of self-help </a:t>
            </a:r>
          </a:p>
          <a:p>
            <a:pPr marL="0" indent="0" latinLnBrk="1">
              <a:buNone/>
            </a:pPr>
            <a:r>
              <a:rPr lang="en-US" sz="3200" b="1" i="1" dirty="0"/>
              <a:t>  groups, and videotapes </a:t>
            </a:r>
          </a:p>
          <a:p>
            <a:pPr latinLnBrk="1"/>
            <a:r>
              <a:rPr lang="en-US" sz="3200" dirty="0"/>
              <a:t>to educate the individual and his family about the dangers involved with substance use</a:t>
            </a:r>
          </a:p>
          <a:p>
            <a:pPr latinLnBrk="1"/>
            <a:r>
              <a:rPr lang="en-US" sz="3200" dirty="0"/>
              <a:t>the usual clinical course of substance use disorders, </a:t>
            </a:r>
          </a:p>
          <a:p>
            <a:pPr latinLnBrk="1"/>
            <a:r>
              <a:rPr lang="en-US" sz="3200" dirty="0"/>
              <a:t>Emphasize that each person is responsible for his or her own </a:t>
            </a:r>
          </a:p>
          <a:p>
            <a:pPr marL="0" indent="0" latinLnBrk="1">
              <a:buNone/>
            </a:pPr>
            <a:r>
              <a:rPr lang="en-US" sz="3200" dirty="0"/>
              <a:t> 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431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7218-79AC-4A6B-B81A-58135ACC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905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3A39-CD0C-4DF2-87FB-C44954DC5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109"/>
            <a:ext cx="10515600" cy="52348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2. Teaching patients how to rebuild their lives </a:t>
            </a:r>
            <a:r>
              <a:rPr lang="en-US" altLang="zh-CN" sz="3200" i="1" dirty="0"/>
              <a:t>after redirecting the focus of their activities away from the use of substances </a:t>
            </a:r>
            <a:r>
              <a:rPr lang="en-US" sz="3200" dirty="0"/>
              <a:t>– </a:t>
            </a:r>
          </a:p>
          <a:p>
            <a:r>
              <a:rPr lang="en-US" sz="3200" dirty="0"/>
              <a:t>Important elements in developing a substance-free lifestyle</a:t>
            </a:r>
          </a:p>
          <a:p>
            <a:r>
              <a:rPr lang="en-US" sz="3200" dirty="0"/>
              <a:t>helping the person to discover ways of dealing with free time; </a:t>
            </a:r>
          </a:p>
          <a:p>
            <a:r>
              <a:rPr lang="en-US" sz="3200" dirty="0"/>
              <a:t>to develop friendships &amp; independent of the context of drug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7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6326</Words>
  <Application>Microsoft Office PowerPoint</Application>
  <PresentationFormat>Widescreen</PresentationFormat>
  <Paragraphs>536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Calibri</vt:lpstr>
      <vt:lpstr>Calibri Light</vt:lpstr>
      <vt:lpstr>Times New Roman</vt:lpstr>
      <vt:lpstr>Wingdings</vt:lpstr>
      <vt:lpstr>Office Theme</vt:lpstr>
      <vt:lpstr>SUBSTANCE-RELATED  &amp;  ADDICTIVE DISORDERS</vt:lpstr>
      <vt:lpstr>Objectives</vt:lpstr>
      <vt:lpstr>PowerPoint Presentation</vt:lpstr>
      <vt:lpstr>PowerPoint Presentation</vt:lpstr>
      <vt:lpstr>PowerPoint Presentation</vt:lpstr>
      <vt:lpstr>PowerPoint Presentation</vt:lpstr>
      <vt:lpstr>Definitions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Substance use disorders</vt:lpstr>
      <vt:lpstr>Presenting Complaints</vt:lpstr>
      <vt:lpstr>PowerPoint Presentation</vt:lpstr>
      <vt:lpstr>Substance Use Disorders:  DSM 5 Diagnostic Criteria</vt:lpstr>
      <vt:lpstr>DSM 5 Diagnostic Criteria</vt:lpstr>
      <vt:lpstr>PowerPoint Presentation</vt:lpstr>
      <vt:lpstr>PowerPoint Presentation</vt:lpstr>
      <vt:lpstr>PowerPoint Presentation</vt:lpstr>
      <vt:lpstr>Management</vt:lpstr>
      <vt:lpstr>PowerPoint Presentation</vt:lpstr>
      <vt:lpstr>PowerPoint Presentation</vt:lpstr>
      <vt:lpstr>PowerPoint Presentation</vt:lpstr>
      <vt:lpstr>ALCOHOLISM</vt:lpstr>
      <vt:lpstr>PowerPoint Presentation</vt:lpstr>
      <vt:lpstr>Dynamics of Alcoholism</vt:lpstr>
      <vt:lpstr>Phases of Progression of Alcoholism</vt:lpstr>
      <vt:lpstr>PowerPoint Presentation</vt:lpstr>
      <vt:lpstr>Etiological Theories of Alcoholism</vt:lpstr>
      <vt:lpstr>Manifestations of Different Blood Levels of Alcohol</vt:lpstr>
      <vt:lpstr>Effects of Alcohol</vt:lpstr>
      <vt:lpstr>PowerPoint Presentation</vt:lpstr>
      <vt:lpstr>PowerPoint Presentation</vt:lpstr>
      <vt:lpstr>Alcohol-Related Disorders </vt:lpstr>
      <vt:lpstr>Alcohol-Related Disorders </vt:lpstr>
      <vt:lpstr>PowerPoint Presentation</vt:lpstr>
      <vt:lpstr>PowerPoint Presentation</vt:lpstr>
      <vt:lpstr>Alcohol Withdrawal</vt:lpstr>
      <vt:lpstr>Stages of Alcohol Withdrawal Syndrome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features of Alcohol Withdrawal </vt:lpstr>
      <vt:lpstr>Diagnostic Features of Alcohol Abuse</vt:lpstr>
      <vt:lpstr>PowerPoint Presentation</vt:lpstr>
      <vt:lpstr>Diagnosis for alcohol use problems</vt:lpstr>
      <vt:lpstr>Alcoholism screening questions known as CAGE </vt:lpstr>
      <vt:lpstr>Management of Alcohol Intoxication</vt:lpstr>
      <vt:lpstr>Other management Strategies</vt:lpstr>
      <vt:lpstr>PowerPoint Presentation</vt:lpstr>
      <vt:lpstr>Pharmacologic Treatment of Alcoholic Patients</vt:lpstr>
      <vt:lpstr>PowerPoint Presentation</vt:lpstr>
      <vt:lpstr>PowerPoint Presentation</vt:lpstr>
      <vt:lpstr>Daily Treatment - Diazepam</vt:lpstr>
      <vt:lpstr>PowerPoint Presentation</vt:lpstr>
      <vt:lpstr>PowerPoint Presentation</vt:lpstr>
      <vt:lpstr>General treatment for Alcohol Abuse</vt:lpstr>
      <vt:lpstr>PowerPoint Presentation</vt:lpstr>
      <vt:lpstr>PowerPoint Presentation</vt:lpstr>
      <vt:lpstr>Drugs used for Alcoholic Patients</vt:lpstr>
      <vt:lpstr>Mgt of substance related disorders in general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Substance-Related Disorders</dc:title>
  <dc:creator>hp</dc:creator>
  <cp:lastModifiedBy>hp</cp:lastModifiedBy>
  <cp:revision>31</cp:revision>
  <dcterms:created xsi:type="dcterms:W3CDTF">2022-10-02T19:52:53Z</dcterms:created>
  <dcterms:modified xsi:type="dcterms:W3CDTF">2024-02-08T04:36:27Z</dcterms:modified>
</cp:coreProperties>
</file>