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43.xml"/>
  <Override ContentType="application/vnd.openxmlformats-officedocument.presentationml.slide+xml" PartName="/ppt/slides/slide18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42.xml"/>
  <Override ContentType="application/vnd.openxmlformats-officedocument.presentationml.slide+xml" PartName="/ppt/slides/slide17.xml"/>
  <Override ContentType="application/vnd.openxmlformats-officedocument.presentationml.slide+xml" PartName="/ppt/slides/slide50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54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56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46.xml"/>
  <Override ContentType="application/vnd.openxmlformats-officedocument.presentationml.slide+xml" PartName="/ppt/slides/slide38.xml"/>
  <Override ContentType="application/vnd.openxmlformats-officedocument.presentationml.slide+xml" PartName="/ppt/slides/slide55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58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2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7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9" Type="http://schemas.openxmlformats.org/officeDocument/2006/relationships/slide" Target="slides/slide46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20" Type="http://schemas.openxmlformats.org/officeDocument/2006/relationships/slide" Target="slides/slide17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60" Type="http://schemas.openxmlformats.org/officeDocument/2006/relationships/slide" Target="slides/slide57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9" Type="http://schemas.openxmlformats.org/officeDocument/2006/relationships/slide" Target="slides/slide26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11" Type="http://schemas.openxmlformats.org/officeDocument/2006/relationships/slide" Target="slides/slide8.xml"/><Relationship Id="rId55" Type="http://schemas.openxmlformats.org/officeDocument/2006/relationships/slide" Target="slides/slide52.xml"/><Relationship Id="rId10" Type="http://schemas.openxmlformats.org/officeDocument/2006/relationships/slide" Target="slides/slide7.xml"/><Relationship Id="rId54" Type="http://schemas.openxmlformats.org/officeDocument/2006/relationships/slide" Target="slides/slide51.xml"/><Relationship Id="rId13" Type="http://schemas.openxmlformats.org/officeDocument/2006/relationships/slide" Target="slides/slide10.xml"/><Relationship Id="rId57" Type="http://schemas.openxmlformats.org/officeDocument/2006/relationships/slide" Target="slides/slide54.xml"/><Relationship Id="rId12" Type="http://schemas.openxmlformats.org/officeDocument/2006/relationships/slide" Target="slides/slide9.xml"/><Relationship Id="rId56" Type="http://schemas.openxmlformats.org/officeDocument/2006/relationships/slide" Target="slides/slide53.xml"/><Relationship Id="rId15" Type="http://schemas.openxmlformats.org/officeDocument/2006/relationships/slide" Target="slides/slide12.xml"/><Relationship Id="rId59" Type="http://schemas.openxmlformats.org/officeDocument/2006/relationships/slide" Target="slides/slide56.xml"/><Relationship Id="rId14" Type="http://schemas.openxmlformats.org/officeDocument/2006/relationships/slide" Target="slides/slide11.xml"/><Relationship Id="rId58" Type="http://schemas.openxmlformats.org/officeDocument/2006/relationships/slide" Target="slides/slide5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9" Type="http://schemas.openxmlformats.org/officeDocument/2006/relationships/slide" Target="slides/slide16.xml"/><Relationship Id="rId18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B363-DC37-4059-9E0A-99BECBBFF32E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5D0AE-C4F3-408B-8894-02F68741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6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B363-DC37-4059-9E0A-99BECBBFF32E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5D0AE-C4F3-408B-8894-02F68741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09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B363-DC37-4059-9E0A-99BECBBFF32E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5D0AE-C4F3-408B-8894-02F68741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2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B363-DC37-4059-9E0A-99BECBBFF32E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5D0AE-C4F3-408B-8894-02F68741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78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B363-DC37-4059-9E0A-99BECBBFF32E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5D0AE-C4F3-408B-8894-02F68741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04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B363-DC37-4059-9E0A-99BECBBFF32E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5D0AE-C4F3-408B-8894-02F68741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9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B363-DC37-4059-9E0A-99BECBBFF32E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5D0AE-C4F3-408B-8894-02F68741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04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B363-DC37-4059-9E0A-99BECBBFF32E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5D0AE-C4F3-408B-8894-02F68741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531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B363-DC37-4059-9E0A-99BECBBFF32E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5D0AE-C4F3-408B-8894-02F68741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479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B363-DC37-4059-9E0A-99BECBBFF32E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5D0AE-C4F3-408B-8894-02F68741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24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EB363-DC37-4059-9E0A-99BECBBFF32E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5D0AE-C4F3-408B-8894-02F68741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406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EB363-DC37-4059-9E0A-99BECBBFF32E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5D0AE-C4F3-408B-8894-02F68741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87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3133343"/>
          </a:xfrm>
          <a:solidFill>
            <a:srgbClr val="002060"/>
          </a:solidFill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SCHIZOPHRENIA </a:t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>SPECTRUM DISORDERS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133344"/>
            <a:ext cx="12192000" cy="3724656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endParaRPr lang="en-US" b="1" dirty="0" smtClean="0">
              <a:solidFill>
                <a:srgbClr val="00B0F0"/>
              </a:solidFill>
            </a:endParaRPr>
          </a:p>
          <a:p>
            <a:r>
              <a:rPr lang="en-US" sz="4000" b="1" dirty="0">
                <a:solidFill>
                  <a:srgbClr val="00B0F0"/>
                </a:solidFill>
              </a:rPr>
              <a:t>PAUL M. MWOVE</a:t>
            </a:r>
          </a:p>
          <a:p>
            <a:r>
              <a:rPr lang="en-US" sz="4000" b="1" dirty="0">
                <a:solidFill>
                  <a:srgbClr val="00B0F0"/>
                </a:solidFill>
              </a:rPr>
              <a:t>MSCN (UON) /BsCN/KRPN/KRM/KRN. </a:t>
            </a:r>
          </a:p>
          <a:p>
            <a:r>
              <a:rPr lang="en-US" sz="4000" b="1" dirty="0">
                <a:solidFill>
                  <a:srgbClr val="00B0F0"/>
                </a:solidFill>
              </a:rPr>
              <a:t>PSYCHIATRY AND MENTAL HEALTH NURSE SPECIALIST.</a:t>
            </a:r>
          </a:p>
        </p:txBody>
      </p:sp>
    </p:spTree>
    <p:extLst>
      <p:ext uri="{BB962C8B-B14F-4D97-AF65-F5344CB8AC3E}">
        <p14:creationId xmlns:p14="http://schemas.microsoft.com/office/powerpoint/2010/main" val="16313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/>
          <a:lstStyle/>
          <a:p>
            <a:r>
              <a:rPr lang="en-US" b="1" dirty="0" smtClean="0">
                <a:solidFill>
                  <a:srgbClr val="00B0F0"/>
                </a:solidFill>
              </a:rPr>
              <a:t>OUTLINE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14400"/>
            <a:ext cx="8229600" cy="579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1.Introduction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-Definition. </a:t>
            </a:r>
          </a:p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smtClean="0">
                <a:solidFill>
                  <a:prstClr val="black"/>
                </a:solidFill>
              </a:rPr>
              <a:t>             -</a:t>
            </a:r>
            <a:r>
              <a:rPr lang="en-US" dirty="0">
                <a:solidFill>
                  <a:prstClr val="black"/>
                </a:solidFill>
              </a:rPr>
              <a:t>Epidemiology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2.Clinical features of schizophrenia.</a:t>
            </a:r>
          </a:p>
          <a:p>
            <a:pPr marL="0" indent="0">
              <a:buNone/>
            </a:pPr>
            <a:r>
              <a:rPr lang="en-US" dirty="0" smtClean="0"/>
              <a:t>3.Aetiology/Causes of schizophrenia.</a:t>
            </a:r>
          </a:p>
          <a:p>
            <a:pPr marL="0" indent="0">
              <a:buNone/>
            </a:pPr>
            <a:r>
              <a:rPr lang="en-US" dirty="0" smtClean="0"/>
              <a:t>5.Schizophrenia:ICD -10 &amp; DSM 5</a:t>
            </a:r>
          </a:p>
          <a:p>
            <a:pPr marL="0" indent="0">
              <a:buNone/>
            </a:pPr>
            <a:r>
              <a:rPr lang="en-US" dirty="0" smtClean="0"/>
              <a:t>                  -Subtypes of schizophrenia.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-DSM 5 Diagnostic Criteria.</a:t>
            </a:r>
          </a:p>
          <a:p>
            <a:pPr marL="0" indent="0">
              <a:buNone/>
            </a:pPr>
            <a:r>
              <a:rPr lang="en-US" dirty="0" smtClean="0"/>
              <a:t>7.Assessment/Management of Schizophrenia.</a:t>
            </a:r>
          </a:p>
          <a:p>
            <a:pPr marL="0" indent="0">
              <a:buNone/>
            </a:pPr>
            <a:r>
              <a:rPr lang="en-US" dirty="0" smtClean="0"/>
              <a:t>8.Nursing care plan.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923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INTRODUCTION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66801"/>
            <a:ext cx="8229600" cy="5059363"/>
          </a:xfrm>
        </p:spPr>
        <p:txBody>
          <a:bodyPr/>
          <a:lstStyle/>
          <a:p>
            <a:pPr>
              <a:buBlip>
                <a:blip r:embed="rId2"/>
              </a:buBlip>
            </a:pPr>
            <a:r>
              <a:rPr lang="en-US" dirty="0" smtClean="0"/>
              <a:t>Word schizophrenia is derived from Greek  word literally meaning “ split mind” and  was coined by  Eugen Bleurer in 1908.</a:t>
            </a:r>
          </a:p>
          <a:p>
            <a:pPr marL="0" indent="0">
              <a:buNone/>
            </a:pPr>
            <a:r>
              <a:rPr lang="en-US" dirty="0" smtClean="0"/>
              <a:t>            “Schizo” =Split </a:t>
            </a:r>
          </a:p>
          <a:p>
            <a:pPr marL="0" indent="0">
              <a:buNone/>
            </a:pPr>
            <a:r>
              <a:rPr lang="en-US" dirty="0" smtClean="0"/>
              <a:t>               “Phren”  =Mind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Previous term for the illness was </a:t>
            </a:r>
            <a:r>
              <a:rPr lang="en-US" dirty="0" smtClean="0">
                <a:solidFill>
                  <a:srgbClr val="00B0F0"/>
                </a:solidFill>
              </a:rPr>
              <a:t>Dementia Praecox </a:t>
            </a:r>
            <a:r>
              <a:rPr lang="en-US" dirty="0" smtClean="0"/>
              <a:t>popularized by  German psychiatrist Emil kraepelin.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134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Introduction: Schizophrenia cont…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ZA" sz="3900" b="1" dirty="0">
                <a:solidFill>
                  <a:srgbClr val="00B050"/>
                </a:solidFill>
              </a:rPr>
              <a:t>Definition:- </a:t>
            </a:r>
            <a:r>
              <a:rPr lang="en-ZA" dirty="0" smtClean="0"/>
              <a:t>”SPLIT MIND”</a:t>
            </a:r>
          </a:p>
          <a:p>
            <a:pPr>
              <a:buFont typeface="Courier New" pitchFamily="49" charset="0"/>
              <a:buChar char="o"/>
            </a:pPr>
            <a:r>
              <a:rPr lang="en-ZA" dirty="0" smtClean="0"/>
              <a:t>Disorder of the brain producing disturbances in:- reality, thought process and social development (Johnson, 1993); </a:t>
            </a:r>
          </a:p>
          <a:p>
            <a:pPr lvl="0">
              <a:buFont typeface="Courier New" pitchFamily="49" charset="0"/>
              <a:buChar char="o"/>
            </a:pPr>
            <a:r>
              <a:rPr lang="en-ZA" dirty="0" smtClean="0"/>
              <a:t>Persistent, long term mental </a:t>
            </a:r>
            <a:r>
              <a:rPr lang="en-ZA" dirty="0" err="1" smtClean="0"/>
              <a:t>llness</a:t>
            </a:r>
            <a:r>
              <a:rPr lang="en-ZA" dirty="0" smtClean="0"/>
              <a:t> with alternating periods of exacerbation and remission</a:t>
            </a:r>
          </a:p>
          <a:p>
            <a:pPr lvl="0">
              <a:buFont typeface="Courier New" pitchFamily="49" charset="0"/>
              <a:buChar char="o"/>
            </a:pPr>
            <a:r>
              <a:rPr lang="en-ZA" dirty="0" smtClean="0"/>
              <a:t>No single symptom is diagnostic of schizophrenia;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261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15962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Cont.….Introduction.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66800"/>
            <a:ext cx="8229600" cy="5562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The schizophrenias are severe and persistent neurological diseases.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These serious </a:t>
            </a:r>
            <a:r>
              <a:rPr lang="en-US" dirty="0" smtClean="0">
                <a:solidFill>
                  <a:srgbClr val="00B0F0"/>
                </a:solidFill>
              </a:rPr>
              <a:t>disorders affect a person’s:-</a:t>
            </a:r>
          </a:p>
          <a:p>
            <a:pPr lvl="1"/>
            <a:r>
              <a:rPr lang="en-US" b="1" dirty="0" smtClean="0"/>
              <a:t>Perceptions</a:t>
            </a:r>
            <a:r>
              <a:rPr lang="en-US" dirty="0" smtClean="0"/>
              <a:t> (hallucinations, illusions).</a:t>
            </a:r>
          </a:p>
          <a:p>
            <a:pPr lvl="1"/>
            <a:r>
              <a:rPr lang="en-US" b="1" dirty="0" smtClean="0"/>
              <a:t>Thinking</a:t>
            </a:r>
            <a:r>
              <a:rPr lang="en-US" dirty="0" smtClean="0"/>
              <a:t> (delusions, paranoia, disorganized thinking).</a:t>
            </a:r>
          </a:p>
          <a:p>
            <a:pPr lvl="1"/>
            <a:r>
              <a:rPr lang="en-US" b="1" dirty="0" smtClean="0"/>
              <a:t>Language/speech</a:t>
            </a:r>
            <a:r>
              <a:rPr lang="en-US" dirty="0" smtClean="0"/>
              <a:t> (associative looseness, poverty of speech).</a:t>
            </a:r>
          </a:p>
          <a:p>
            <a:pPr lvl="1"/>
            <a:r>
              <a:rPr lang="en-US" b="1" dirty="0" smtClean="0"/>
              <a:t>Emotions (</a:t>
            </a:r>
            <a:r>
              <a:rPr lang="en-US" dirty="0" smtClean="0"/>
              <a:t>apathy, anhedonia, lack of motivation, depression).</a:t>
            </a:r>
          </a:p>
          <a:p>
            <a:pPr lvl="1"/>
            <a:r>
              <a:rPr lang="en-US" b="1" dirty="0" smtClean="0"/>
              <a:t> Social behavior </a:t>
            </a:r>
            <a:r>
              <a:rPr lang="en-US" dirty="0" smtClean="0"/>
              <a:t>(aggressive, bizarre </a:t>
            </a:r>
            <a:r>
              <a:rPr lang="en-US" dirty="0" err="1" smtClean="0"/>
              <a:t>behaviours</a:t>
            </a:r>
            <a:r>
              <a:rPr lang="en-US" dirty="0" smtClean="0"/>
              <a:t> or extreme social withdrawal)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130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/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sz="4900" b="1" dirty="0">
                <a:solidFill>
                  <a:schemeClr val="bg1"/>
                </a:solidFill>
              </a:rPr>
              <a:t>Epidemiology</a:t>
            </a:r>
            <a:r>
              <a:rPr lang="en-US" sz="4900" dirty="0">
                <a:solidFill>
                  <a:schemeClr val="bg1"/>
                </a:solidFill>
              </a:rPr>
              <a:t/>
            </a:r>
            <a:br>
              <a:rPr lang="en-US" sz="4900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219200"/>
            <a:ext cx="8686800" cy="5486400"/>
          </a:xfrm>
        </p:spPr>
        <p:txBody>
          <a:bodyPr>
            <a:noAutofit/>
          </a:bodyPr>
          <a:lstStyle/>
          <a:p>
            <a:pPr>
              <a:buBlip>
                <a:blip r:embed="rId2"/>
              </a:buBlip>
            </a:pPr>
            <a:r>
              <a:rPr lang="en-US" dirty="0" smtClean="0"/>
              <a:t>Life-time prevalence is about 1%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Annual incidence is about 0.2 per 1000.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Incidence varies between nations(natives vs. immigrants), and within cities (urban vs. rural)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Life-time risk is about 40% higher in males than in females.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Peak age of onset is 15 to 24 years in males and 25 to 30 years in females(5 – 10 years later).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Females have a second peak at 55 to 64 years.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32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smtClean="0">
                <a:solidFill>
                  <a:srgbClr val="FF0000"/>
                </a:solidFill>
              </a:rPr>
              <a:t>EPIDEMIOLOGY CONT….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33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b="1" u="sng" dirty="0" smtClean="0"/>
              <a:t>Suicide</a:t>
            </a:r>
            <a:endParaRPr lang="en-ZA" b="1" dirty="0" smtClean="0"/>
          </a:p>
          <a:p>
            <a:pPr lvl="0"/>
            <a:r>
              <a:rPr lang="en-ZA" dirty="0" smtClean="0"/>
              <a:t>Common cause of death in schizophrenia</a:t>
            </a:r>
          </a:p>
          <a:p>
            <a:pPr lvl="0"/>
            <a:r>
              <a:rPr lang="en-ZA" dirty="0" smtClean="0"/>
              <a:t>50% attempt suicide at least once in a lifetime</a:t>
            </a:r>
          </a:p>
          <a:p>
            <a:pPr marL="0" indent="0">
              <a:buNone/>
            </a:pPr>
            <a:r>
              <a:rPr lang="en-ZA" b="1" u="sng" dirty="0" smtClean="0"/>
              <a:t>Co morbid Substance Abuse</a:t>
            </a:r>
            <a:endParaRPr lang="en-ZA" b="1" dirty="0" smtClean="0"/>
          </a:p>
          <a:p>
            <a:pPr lvl="0"/>
            <a:r>
              <a:rPr lang="en-ZA" dirty="0" smtClean="0"/>
              <a:t>Significant</a:t>
            </a:r>
          </a:p>
          <a:p>
            <a:pPr marL="0" indent="0">
              <a:buNone/>
            </a:pPr>
            <a:r>
              <a:rPr lang="en-ZA" b="1" u="sng" dirty="0" smtClean="0"/>
              <a:t>Financial Cost</a:t>
            </a:r>
            <a:endParaRPr lang="en-ZA" b="1" dirty="0" smtClean="0"/>
          </a:p>
          <a:p>
            <a:pPr lvl="0"/>
            <a:r>
              <a:rPr lang="en-ZA" dirty="0" smtClean="0"/>
              <a:t>1% of USA national income goes for the treatment of mental illness (excluding substance abuse). </a:t>
            </a:r>
          </a:p>
          <a:p>
            <a:pPr lvl="0"/>
            <a:r>
              <a:rPr lang="en-ZA" dirty="0" smtClean="0"/>
              <a:t>The majority of this amount is related to direct and indirect costs of schizophrenia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139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/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sz="6700" b="1" dirty="0">
                <a:solidFill>
                  <a:schemeClr val="bg1"/>
                </a:solidFill>
              </a:rPr>
              <a:t>Neuro anatomy. </a:t>
            </a:r>
            <a:r>
              <a:rPr lang="en-US" sz="6700" dirty="0"/>
              <a:t/>
            </a:r>
            <a:br>
              <a:rPr lang="en-US" sz="6700" dirty="0"/>
            </a:br>
            <a:endParaRPr lang="en-US" sz="6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dirty="0"/>
              <a:t>The major brain areas affected in schizophrenia are the limbic structures, the frontal lobes, and the basal ganglia</a:t>
            </a:r>
            <a:r>
              <a:rPr lang="en-US" dirty="0"/>
              <a:t>.</a:t>
            </a:r>
            <a:r>
              <a:rPr lang="en-ZA" b="1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ZA" b="1" dirty="0">
                <a:solidFill>
                  <a:srgbClr val="FF0000"/>
                </a:solidFill>
              </a:rPr>
              <a:t>1).Limbic system:</a:t>
            </a:r>
          </a:p>
          <a:p>
            <a:pPr lvl="0">
              <a:buFont typeface="Wingdings" pitchFamily="2" charset="2"/>
              <a:buChar char="§"/>
            </a:pPr>
            <a:r>
              <a:rPr lang="en-ZA" dirty="0"/>
              <a:t>Hypothesized to be involved in pathophysiological basis of schizophrenia because of its role in </a:t>
            </a:r>
            <a:r>
              <a:rPr lang="en-ZA" b="1" dirty="0"/>
              <a:t>the control of emotions</a:t>
            </a:r>
            <a:r>
              <a:rPr lang="en-ZA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91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1750"/>
            <a:ext cx="9067800" cy="673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779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Neuro </a:t>
            </a:r>
            <a:r>
              <a:rPr lang="en-US" b="1" dirty="0" smtClean="0">
                <a:solidFill>
                  <a:schemeClr val="bg1"/>
                </a:solidFill>
              </a:rPr>
              <a:t>anatomy cont…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b="1" dirty="0" smtClean="0">
                <a:solidFill>
                  <a:srgbClr val="FF0000"/>
                </a:solidFill>
              </a:rPr>
              <a:t>2).Basal ganglia:</a:t>
            </a:r>
          </a:p>
          <a:p>
            <a:pPr>
              <a:buFont typeface="Wingdings" pitchFamily="2" charset="2"/>
              <a:buChar char="§"/>
            </a:pPr>
            <a:r>
              <a:rPr lang="en-ZA" b="1" dirty="0" smtClean="0"/>
              <a:t>Regulates body movement </a:t>
            </a:r>
            <a:r>
              <a:rPr lang="en-ZA" dirty="0" smtClean="0"/>
              <a:t>and integrates  sensory movement.</a:t>
            </a:r>
          </a:p>
          <a:p>
            <a:pPr lvl="0">
              <a:buFont typeface="Wingdings" pitchFamily="2" charset="2"/>
              <a:buChar char="§"/>
            </a:pPr>
            <a:r>
              <a:rPr lang="en-ZA" dirty="0" smtClean="0"/>
              <a:t>Many patients with schizophrenia have odd movements, even in the absence of medication-induced disorders (for example: awkward gait, facial grimace).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537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7159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dirty="0" smtClean="0"/>
              <a:t>BASAL GANGLIA</a:t>
            </a:r>
            <a:endParaRPr lang="en-US" dirty="0"/>
          </a:p>
        </p:txBody>
      </p:sp>
      <p:pic>
        <p:nvPicPr>
          <p:cNvPr id="1843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650" y="1295401"/>
            <a:ext cx="561975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28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15962"/>
          </a:xfrm>
          <a:solidFill>
            <a:schemeClr val="tx1">
              <a:lumMod val="65000"/>
              <a:lumOff val="35000"/>
            </a:schemeClr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Neuro </a:t>
            </a:r>
            <a:r>
              <a:rPr lang="en-US" b="1" dirty="0" smtClean="0">
                <a:solidFill>
                  <a:schemeClr val="bg1"/>
                </a:solidFill>
              </a:rPr>
              <a:t>anatomy 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668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b="1" u="sng" dirty="0" smtClean="0">
                <a:solidFill>
                  <a:srgbClr val="FF0000"/>
                </a:solidFill>
              </a:rPr>
              <a:t>3).Frontal lobe:</a:t>
            </a:r>
          </a:p>
          <a:p>
            <a:pPr>
              <a:buBlip>
                <a:blip r:embed="rId2"/>
              </a:buBlip>
            </a:pPr>
            <a:r>
              <a:rPr lang="en-ZA" dirty="0" smtClean="0"/>
              <a:t> Aids in planning for the future, motivation, control of voluntary motor function, production of speech.</a:t>
            </a:r>
          </a:p>
          <a:p>
            <a:pPr>
              <a:buBlip>
                <a:blip r:embed="rId2"/>
              </a:buBlip>
            </a:pPr>
            <a:r>
              <a:rPr lang="en-ZA" dirty="0" smtClean="0"/>
              <a:t>Plays important part in emotional experience and expression of mood </a:t>
            </a:r>
          </a:p>
          <a:p>
            <a:pPr>
              <a:buBlip>
                <a:blip r:embed="rId2"/>
              </a:buBlip>
            </a:pPr>
            <a:r>
              <a:rPr lang="en-ZA" dirty="0" smtClean="0"/>
              <a:t>Modulates various aspects of thinking, feeling, imagining, decision making.</a:t>
            </a:r>
          </a:p>
          <a:p>
            <a:pPr>
              <a:buBlip>
                <a:blip r:embed="rId2"/>
              </a:buBlip>
            </a:pPr>
            <a:r>
              <a:rPr lang="en-ZA" dirty="0" smtClean="0"/>
              <a:t>Responsible for intellectual functioning with responsibility for judgment, reasoning and abstract thought.</a:t>
            </a:r>
            <a:r>
              <a:rPr lang="en-ZA" b="1" dirty="0" smtClean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endParaRPr lang="en-ZA" dirty="0" smtClean="0"/>
          </a:p>
          <a:p>
            <a:pPr lvl="0"/>
            <a:endParaRPr lang="en-ZA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27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Parts of brain and function.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4" name="Picture 2" descr="C:\Users\user1\Desktop\basic-structure-and-function-of-human-brain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447800"/>
            <a:ext cx="87630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9788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92162"/>
          </a:xfrm>
          <a:solidFill>
            <a:schemeClr val="tx1"/>
          </a:solidFill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Clinical features of schizophrenia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219200"/>
            <a:ext cx="8839200" cy="6400800"/>
          </a:xfrm>
        </p:spPr>
        <p:txBody>
          <a:bodyPr>
            <a:noAutofit/>
          </a:bodyPr>
          <a:lstStyle/>
          <a:p>
            <a:pPr>
              <a:buBlip>
                <a:blip r:embed="rId2"/>
              </a:buBlip>
            </a:pPr>
            <a:r>
              <a:rPr lang="en-US" dirty="0"/>
              <a:t>Schizophrenia is a psychotic disorder.</a:t>
            </a:r>
          </a:p>
          <a:p>
            <a:pPr>
              <a:buBlip>
                <a:blip r:embed="rId2"/>
              </a:buBlip>
            </a:pPr>
            <a:r>
              <a:rPr lang="en-US" dirty="0"/>
              <a:t>A psychotic disorder is a condition in which the patient has experiences/believes that do not have basis in reality.</a:t>
            </a:r>
          </a:p>
          <a:p>
            <a:pPr>
              <a:buBlip>
                <a:blip r:embed="rId2"/>
              </a:buBlip>
            </a:pPr>
            <a:r>
              <a:rPr lang="en-US" dirty="0"/>
              <a:t>The 2 main psychotic features are:-</a:t>
            </a:r>
          </a:p>
          <a:p>
            <a:pPr marL="0" indent="0">
              <a:buNone/>
            </a:pPr>
            <a:r>
              <a:rPr lang="en-US" dirty="0"/>
              <a:t>                                          i):-Hallucinations.</a:t>
            </a:r>
          </a:p>
          <a:p>
            <a:pPr marL="0" indent="0">
              <a:buNone/>
            </a:pPr>
            <a:r>
              <a:rPr lang="en-US" dirty="0"/>
              <a:t>                                          ii):-Delusions.</a:t>
            </a:r>
          </a:p>
          <a:p>
            <a:pPr marL="0" indent="0">
              <a:buNone/>
            </a:pPr>
            <a:r>
              <a:rPr lang="en-US" b="1" u="sng" dirty="0" smtClean="0">
                <a:solidFill>
                  <a:srgbClr val="00B050"/>
                </a:solidFill>
              </a:rPr>
              <a:t>Hallucinations.</a:t>
            </a:r>
          </a:p>
          <a:p>
            <a:pPr>
              <a:buBlip>
                <a:blip r:embed="rId3"/>
              </a:buBlip>
            </a:pPr>
            <a:r>
              <a:rPr lang="en-US" dirty="0"/>
              <a:t>A sensory perception in the absence of a sensory stimulus.</a:t>
            </a:r>
          </a:p>
          <a:p>
            <a:pPr>
              <a:buBlip>
                <a:blip r:embed="rId3"/>
              </a:buBlip>
            </a:pPr>
            <a:r>
              <a:rPr lang="en-US" dirty="0"/>
              <a:t>Can occur in any of the 5 sensory modalities/senses:-Eyes/visual, somatic/tactile, smell/olfactory and taste/gustatory.</a:t>
            </a:r>
          </a:p>
        </p:txBody>
      </p:sp>
    </p:spTree>
    <p:extLst>
      <p:ext uri="{BB962C8B-B14F-4D97-AF65-F5344CB8AC3E}">
        <p14:creationId xmlns:p14="http://schemas.microsoft.com/office/powerpoint/2010/main" val="164454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Clinical features of schizophrenia</a:t>
            </a:r>
            <a:r>
              <a:rPr lang="en-US" dirty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cont.…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816608"/>
            <a:ext cx="8686800" cy="4888992"/>
          </a:xfrm>
        </p:spPr>
        <p:txBody>
          <a:bodyPr>
            <a:normAutofit fontScale="62500" lnSpcReduction="20000"/>
          </a:bodyPr>
          <a:lstStyle/>
          <a:p>
            <a:pPr>
              <a:buBlip>
                <a:blip r:embed="rId2"/>
              </a:buBlip>
            </a:pPr>
            <a:r>
              <a:rPr lang="en-US" sz="4500" dirty="0"/>
              <a:t>Hallucinations can be:-</a:t>
            </a:r>
          </a:p>
          <a:p>
            <a:pPr marL="0" indent="0">
              <a:buNone/>
            </a:pPr>
            <a:r>
              <a:rPr lang="en-US" sz="4500" dirty="0"/>
              <a:t>     2</a:t>
            </a:r>
            <a:r>
              <a:rPr lang="en-US" sz="4500" baseline="30000" dirty="0"/>
              <a:t>nd</a:t>
            </a:r>
            <a:r>
              <a:rPr lang="en-US" sz="4500" dirty="0"/>
              <a:t> person :-Talking directly to the patient  OR</a:t>
            </a:r>
          </a:p>
          <a:p>
            <a:pPr marL="0" indent="0">
              <a:buNone/>
            </a:pPr>
            <a:r>
              <a:rPr lang="en-US" sz="4500" dirty="0"/>
              <a:t>      3</a:t>
            </a:r>
            <a:r>
              <a:rPr lang="en-US" sz="4500" baseline="30000" dirty="0"/>
              <a:t>rd</a:t>
            </a:r>
            <a:r>
              <a:rPr lang="en-US" sz="4500" dirty="0"/>
              <a:t> Person:-Talking about the patient(Running commentally).</a:t>
            </a:r>
          </a:p>
          <a:p>
            <a:pPr marL="0" indent="0">
              <a:buNone/>
            </a:pPr>
            <a:r>
              <a:rPr lang="en-US" sz="4500" b="1" dirty="0">
                <a:solidFill>
                  <a:srgbClr val="00B050"/>
                </a:solidFill>
              </a:rPr>
              <a:t>       </a:t>
            </a:r>
            <a:r>
              <a:rPr lang="en-US" sz="6400" b="1" u="sng" dirty="0">
                <a:solidFill>
                  <a:srgbClr val="00B050"/>
                </a:solidFill>
              </a:rPr>
              <a:t>Delusions.</a:t>
            </a:r>
            <a:endParaRPr lang="en-US" sz="4500" b="1" u="sng" dirty="0">
              <a:solidFill>
                <a:srgbClr val="00B050"/>
              </a:solidFill>
            </a:endParaRPr>
          </a:p>
          <a:p>
            <a:pPr>
              <a:buBlip>
                <a:blip r:embed="rId3"/>
              </a:buBlip>
            </a:pPr>
            <a:r>
              <a:rPr lang="en-US" sz="4000" dirty="0"/>
              <a:t>A delusion is a force, fixed believe  held by the patient with absolute conviction, despite evidence to the contrary, and not shared by others from the patients family or culture or educational level.</a:t>
            </a:r>
          </a:p>
          <a:p>
            <a:pPr>
              <a:buBlip>
                <a:blip r:embed="rId3"/>
              </a:buBlip>
            </a:pPr>
            <a:r>
              <a:rPr lang="en-US" sz="4000" dirty="0"/>
              <a:t>In schizophrenia, delusions normally </a:t>
            </a:r>
            <a:r>
              <a:rPr lang="en-US" sz="4000" dirty="0" smtClean="0"/>
              <a:t>have various themes:-</a:t>
            </a:r>
          </a:p>
          <a:p>
            <a:pPr marL="0" indent="0">
              <a:buNone/>
            </a:pPr>
            <a:r>
              <a:rPr lang="en-US" sz="4000" dirty="0" smtClean="0"/>
              <a:t> </a:t>
            </a:r>
            <a:r>
              <a:rPr lang="en-US" sz="4000" dirty="0" err="1" smtClean="0"/>
              <a:t>i</a:t>
            </a:r>
            <a:r>
              <a:rPr lang="en-US" sz="4000" dirty="0" smtClean="0"/>
              <a:t>):-</a:t>
            </a:r>
            <a:r>
              <a:rPr lang="en-US" sz="4000" b="1" dirty="0" smtClean="0"/>
              <a:t>a </a:t>
            </a:r>
            <a:r>
              <a:rPr lang="en-US" sz="4000" b="1" dirty="0"/>
              <a:t>persecutory theme.</a:t>
            </a:r>
          </a:p>
          <a:p>
            <a:pPr marL="0" indent="0">
              <a:buNone/>
            </a:pPr>
            <a:r>
              <a:rPr lang="en-US" sz="4000" dirty="0"/>
              <a:t>Example:- ”My neighbor is trying to poison me”</a:t>
            </a:r>
          </a:p>
          <a:p>
            <a:pPr marL="0" indent="0">
              <a:buNone/>
            </a:pPr>
            <a:r>
              <a:rPr lang="en-US" sz="4000" dirty="0"/>
              <a:t> </a:t>
            </a:r>
            <a:r>
              <a:rPr lang="en-US" sz="4000" dirty="0" smtClean="0"/>
              <a:t>ii):-</a:t>
            </a:r>
            <a:r>
              <a:rPr lang="en-US" sz="4000" b="1" dirty="0" smtClean="0"/>
              <a:t>grandiose </a:t>
            </a:r>
            <a:r>
              <a:rPr lang="en-US" sz="4000" b="1" dirty="0"/>
              <a:t>theme</a:t>
            </a:r>
            <a:r>
              <a:rPr lang="en-US" sz="4000" dirty="0"/>
              <a:t>. Example:- “I am Jesus</a:t>
            </a:r>
            <a:r>
              <a:rPr lang="en-US" sz="4000" dirty="0" smtClean="0"/>
              <a:t>” etc…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304531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3562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Positive and negative symptoms of schizophrenia.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914400"/>
            <a:ext cx="8763000" cy="5791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u="sng" dirty="0">
                <a:solidFill>
                  <a:srgbClr val="00B050"/>
                </a:solidFill>
              </a:rPr>
              <a:t>Positive symptoms:-</a:t>
            </a:r>
            <a:r>
              <a:rPr lang="en-US" sz="2400" dirty="0"/>
              <a:t>They include:-</a:t>
            </a:r>
            <a:endParaRPr lang="en-US" sz="2400" b="1" u="sng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400" dirty="0"/>
              <a:t>i):-Hallucinations.</a:t>
            </a:r>
          </a:p>
          <a:p>
            <a:pPr marL="0" indent="0">
              <a:buNone/>
            </a:pPr>
            <a:r>
              <a:rPr lang="en-US" sz="2400" dirty="0"/>
              <a:t>ii):-Delusions</a:t>
            </a:r>
          </a:p>
          <a:p>
            <a:pPr marL="0" indent="0">
              <a:buNone/>
            </a:pPr>
            <a:r>
              <a:rPr lang="en-US" sz="2400" dirty="0"/>
              <a:t>iii):-Disorganized speech: </a:t>
            </a:r>
          </a:p>
          <a:p>
            <a:pPr marL="0" indent="0">
              <a:buNone/>
            </a:pPr>
            <a:r>
              <a:rPr lang="en-US" sz="2400" dirty="0"/>
              <a:t>                                               -word salad/neologisms</a:t>
            </a:r>
          </a:p>
          <a:p>
            <a:pPr marL="0" indent="0">
              <a:buNone/>
            </a:pPr>
            <a:r>
              <a:rPr lang="en-US" sz="2400" dirty="0"/>
              <a:t>                                               -monosyllabic speech.</a:t>
            </a:r>
          </a:p>
          <a:p>
            <a:pPr marL="0" indent="0">
              <a:buNone/>
            </a:pPr>
            <a:r>
              <a:rPr lang="en-US" sz="2400" dirty="0"/>
              <a:t>iv):-Disorganized  behavior:-   Bizarre, No purpose behaviors,</a:t>
            </a:r>
          </a:p>
          <a:p>
            <a:pPr marL="0" indent="0">
              <a:buNone/>
            </a:pPr>
            <a:r>
              <a:rPr lang="en-US" sz="2400" dirty="0"/>
              <a:t>                                                     - Mannerisms, tics,</a:t>
            </a:r>
          </a:p>
          <a:p>
            <a:pPr marL="0" indent="0">
              <a:buNone/>
            </a:pPr>
            <a:r>
              <a:rPr lang="en-US" sz="2400" dirty="0"/>
              <a:t>                                                      - negativistic behaviors/stereotypes</a:t>
            </a:r>
          </a:p>
          <a:p>
            <a:pPr marL="0" indent="0">
              <a:buNone/>
            </a:pPr>
            <a:r>
              <a:rPr lang="en-US" sz="2400" dirty="0"/>
              <a:t>                                                       -poor personal hygiene/unkempt</a:t>
            </a:r>
          </a:p>
          <a:p>
            <a:pPr marL="0" indent="0">
              <a:buNone/>
            </a:pPr>
            <a:r>
              <a:rPr lang="en-US" sz="2400" dirty="0"/>
              <a:t>v):-Catatonic   behaviors:-</a:t>
            </a:r>
          </a:p>
          <a:p>
            <a:pPr marL="0" indent="0">
              <a:buNone/>
            </a:pPr>
            <a:r>
              <a:rPr lang="en-US" sz="2400" dirty="0"/>
              <a:t>                                                 -Catatonic excitement</a:t>
            </a:r>
          </a:p>
          <a:p>
            <a:pPr marL="0" indent="0">
              <a:buNone/>
            </a:pPr>
            <a:r>
              <a:rPr lang="en-US" sz="2400" dirty="0"/>
              <a:t>                                                  -Catatonic stupor, waxy  flexibility</a:t>
            </a:r>
          </a:p>
        </p:txBody>
      </p:sp>
    </p:spTree>
    <p:extLst>
      <p:ext uri="{BB962C8B-B14F-4D97-AF65-F5344CB8AC3E}">
        <p14:creationId xmlns:p14="http://schemas.microsoft.com/office/powerpoint/2010/main" val="3342805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NEGATIVE SYMPTOMS OF SCHIZOPHRENIA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90601"/>
            <a:ext cx="8229600" cy="5135563"/>
          </a:xfrm>
        </p:spPr>
        <p:txBody>
          <a:bodyPr>
            <a:normAutofit fontScale="70000" lnSpcReduction="20000"/>
          </a:bodyPr>
          <a:lstStyle/>
          <a:p>
            <a:pPr>
              <a:buBlip>
                <a:blip r:embed="rId2"/>
              </a:buBlip>
            </a:pPr>
            <a:r>
              <a:rPr lang="en-US" sz="3600" dirty="0"/>
              <a:t>The </a:t>
            </a:r>
            <a:r>
              <a:rPr lang="en-US" sz="3600" b="1" dirty="0"/>
              <a:t>negative symptoms </a:t>
            </a:r>
            <a:r>
              <a:rPr lang="en-US" sz="3600" dirty="0"/>
              <a:t>of schizophrenia are more subtle and are the most damaging to the client’s quality of life.</a:t>
            </a:r>
          </a:p>
          <a:p>
            <a:pPr marL="0" indent="0">
              <a:buNone/>
            </a:pPr>
            <a:r>
              <a:rPr lang="en-US" sz="3600" dirty="0"/>
              <a:t>They are</a:t>
            </a:r>
            <a:r>
              <a:rPr lang="en-US" sz="3600" dirty="0">
                <a:sym typeface="Wingdings" pitchFamily="2" charset="2"/>
              </a:rPr>
              <a:t>:-(5As)</a:t>
            </a:r>
            <a:endParaRPr lang="en-ZA" sz="3600" dirty="0"/>
          </a:p>
          <a:p>
            <a:pPr>
              <a:buFont typeface="Courier New" pitchFamily="49" charset="0"/>
              <a:buChar char="o"/>
            </a:pPr>
            <a:r>
              <a:rPr lang="en-ZA" sz="3600" dirty="0"/>
              <a:t>Affective flattening</a:t>
            </a:r>
          </a:p>
          <a:p>
            <a:pPr>
              <a:buFont typeface="Courier New" pitchFamily="49" charset="0"/>
              <a:buChar char="o"/>
            </a:pPr>
            <a:r>
              <a:rPr lang="en-ZA" sz="3600" dirty="0"/>
              <a:t>Alogia</a:t>
            </a:r>
          </a:p>
          <a:p>
            <a:pPr>
              <a:buFont typeface="Courier New" pitchFamily="49" charset="0"/>
              <a:buChar char="o"/>
            </a:pPr>
            <a:r>
              <a:rPr lang="en-ZA" sz="3600" dirty="0"/>
              <a:t>Avolition/apathy</a:t>
            </a:r>
          </a:p>
          <a:p>
            <a:pPr>
              <a:buFont typeface="Courier New" pitchFamily="49" charset="0"/>
              <a:buChar char="o"/>
            </a:pPr>
            <a:r>
              <a:rPr lang="en-ZA" sz="3600" dirty="0" smtClean="0"/>
              <a:t>Anhedonia/</a:t>
            </a:r>
            <a:r>
              <a:rPr lang="en-ZA" sz="3600" dirty="0" err="1" smtClean="0"/>
              <a:t>associality</a:t>
            </a:r>
            <a:endParaRPr lang="en-ZA" sz="3600" dirty="0"/>
          </a:p>
          <a:p>
            <a:pPr>
              <a:buFont typeface="Courier New" pitchFamily="49" charset="0"/>
              <a:buChar char="o"/>
            </a:pPr>
            <a:r>
              <a:rPr lang="en-ZA" sz="3600" dirty="0"/>
              <a:t>Attention deficit</a:t>
            </a:r>
          </a:p>
          <a:p>
            <a:endParaRPr lang="en-US" sz="3600" dirty="0"/>
          </a:p>
          <a:p>
            <a:pPr>
              <a:buBlip>
                <a:blip r:embed="rId2"/>
              </a:buBlip>
            </a:pPr>
            <a:r>
              <a:rPr lang="en-US" sz="3600" dirty="0"/>
              <a:t>The symptoms of schizophrenia usually become apparent during adolescence or early adulthood (15-25 for men, 25-35 for women). </a:t>
            </a:r>
          </a:p>
          <a:p>
            <a:pPr>
              <a:buBlip>
                <a:blip r:embed="rId2"/>
              </a:buBlip>
            </a:pPr>
            <a:r>
              <a:rPr lang="en-US" sz="3600" dirty="0"/>
              <a:t>Paranoid schizophrenia has a later onset. 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35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ZA" sz="2400" b="1" dirty="0">
                <a:solidFill>
                  <a:schemeClr val="bg1"/>
                </a:solidFill>
              </a:rPr>
              <a:t>NEGATIVE SYMPTOMS: (REPRESENT A DEFICIT IN FUNCTIONING).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371600"/>
            <a:ext cx="9144000" cy="5486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ZA" b="1" smtClean="0">
                <a:solidFill>
                  <a:srgbClr val="FF0000"/>
                </a:solidFill>
              </a:rPr>
              <a:t>THE </a:t>
            </a:r>
            <a:r>
              <a:rPr lang="en-ZA" b="1" smtClean="0">
                <a:solidFill>
                  <a:srgbClr val="FF0000"/>
                </a:solidFill>
              </a:rPr>
              <a:t>“5As</a:t>
            </a:r>
            <a:r>
              <a:rPr lang="en-ZA" b="1" dirty="0" smtClean="0">
                <a:solidFill>
                  <a:srgbClr val="FF0000"/>
                </a:solidFill>
              </a:rPr>
              <a:t>” of schizophrenia</a:t>
            </a:r>
          </a:p>
          <a:p>
            <a:pPr marL="0" indent="0">
              <a:buNone/>
            </a:pPr>
            <a:r>
              <a:rPr lang="en-ZA" b="1" dirty="0" smtClean="0"/>
              <a:t>i).Affective flattening: </a:t>
            </a:r>
          </a:p>
          <a:p>
            <a:pPr lvl="0">
              <a:buBlip>
                <a:blip r:embed="rId2"/>
              </a:buBlip>
            </a:pPr>
            <a:r>
              <a:rPr lang="en-ZA" dirty="0"/>
              <a:t>T</a:t>
            </a:r>
            <a:r>
              <a:rPr lang="en-ZA" dirty="0" smtClean="0"/>
              <a:t>he absence or near absence of </a:t>
            </a:r>
            <a:r>
              <a:rPr lang="en-ZA" b="1" dirty="0" smtClean="0"/>
              <a:t>any signs of affective expression.</a:t>
            </a:r>
            <a:r>
              <a:rPr lang="en-ZA" dirty="0" smtClean="0"/>
              <a:t> </a:t>
            </a:r>
          </a:p>
          <a:p>
            <a:pPr lvl="0">
              <a:buBlip>
                <a:blip r:embed="rId2"/>
              </a:buBlip>
            </a:pPr>
            <a:r>
              <a:rPr lang="en-ZA" dirty="0" smtClean="0"/>
              <a:t>(Example: A client maintains the same expressionless tone when told his mother has died as when he attends programs. “OK”)</a:t>
            </a:r>
          </a:p>
          <a:p>
            <a:pPr marL="0" indent="0">
              <a:buNone/>
            </a:pPr>
            <a:r>
              <a:rPr lang="en-ZA" b="1" dirty="0" smtClean="0"/>
              <a:t>ii).Alogia:</a:t>
            </a:r>
            <a:r>
              <a:rPr lang="en-ZA" dirty="0" smtClean="0"/>
              <a:t> </a:t>
            </a:r>
          </a:p>
          <a:p>
            <a:pPr lvl="0">
              <a:buBlip>
                <a:blip r:embed="rId2"/>
              </a:buBlip>
            </a:pPr>
            <a:r>
              <a:rPr lang="en-ZA" dirty="0"/>
              <a:t>B</a:t>
            </a:r>
            <a:r>
              <a:rPr lang="en-ZA" dirty="0" smtClean="0"/>
              <a:t>rief, empty, verbal responses; poverty of speech. (This is thought to be symptomatic of diminished thoughts and is different from refusal to speak.)</a:t>
            </a:r>
          </a:p>
          <a:p>
            <a:pPr lvl="0">
              <a:buBlip>
                <a:blip r:embed="rId2"/>
              </a:buBlip>
            </a:pPr>
            <a:r>
              <a:rPr lang="en-ZA" dirty="0" smtClean="0"/>
              <a:t> E.g. rather than using a series of sentences or several words, the client, when asked about his day, speaks sparsely in a limited manner saying, “Fine”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5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Clinical features of schizophrenia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cont.…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690688"/>
            <a:ext cx="9144000" cy="51673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ZA" b="1" dirty="0" smtClean="0"/>
              <a:t>iii). Avolition:-</a:t>
            </a:r>
          </a:p>
          <a:p>
            <a:pPr lvl="0">
              <a:buFont typeface="Wingdings" pitchFamily="2" charset="2"/>
              <a:buChar char="§"/>
            </a:pPr>
            <a:r>
              <a:rPr lang="en-ZA" dirty="0" smtClean="0"/>
              <a:t> the inability to pursue in </a:t>
            </a:r>
            <a:r>
              <a:rPr lang="en-ZA" b="1" dirty="0" smtClean="0"/>
              <a:t>goal-directed activities </a:t>
            </a:r>
          </a:p>
          <a:p>
            <a:pPr lvl="0">
              <a:buFont typeface="Wingdings" pitchFamily="2" charset="2"/>
              <a:buChar char="§"/>
            </a:pPr>
            <a:r>
              <a:rPr lang="en-ZA" dirty="0" smtClean="0"/>
              <a:t>(E.g. A client does not go to the dining room, even when is very hungry and dinner is being served)</a:t>
            </a:r>
          </a:p>
          <a:p>
            <a:pPr marL="0" indent="0">
              <a:buNone/>
            </a:pPr>
            <a:r>
              <a:rPr lang="en-ZA" b="1" dirty="0" smtClean="0"/>
              <a:t>iv).Anhedonia:</a:t>
            </a:r>
            <a:r>
              <a:rPr lang="en-ZA" dirty="0" smtClean="0"/>
              <a:t> -</a:t>
            </a:r>
          </a:p>
          <a:p>
            <a:pPr lvl="0">
              <a:buFont typeface="Wingdings" pitchFamily="2" charset="2"/>
              <a:buChar char="§"/>
            </a:pPr>
            <a:r>
              <a:rPr lang="en-ZA" dirty="0"/>
              <a:t>T</a:t>
            </a:r>
            <a:r>
              <a:rPr lang="en-ZA" dirty="0" smtClean="0"/>
              <a:t>he inability to experience pleasure </a:t>
            </a:r>
          </a:p>
          <a:p>
            <a:pPr lvl="0">
              <a:buFont typeface="Wingdings" pitchFamily="2" charset="2"/>
              <a:buChar char="§"/>
            </a:pPr>
            <a:r>
              <a:rPr lang="en-ZA" dirty="0" smtClean="0"/>
              <a:t>(E.g. The client apparently derives no pleasure from playing soccer when, prior to getting sick, he used to enjoy it)</a:t>
            </a:r>
          </a:p>
          <a:p>
            <a:pPr marL="0" indent="0">
              <a:buNone/>
            </a:pPr>
            <a:r>
              <a:rPr lang="en-ZA" b="1" dirty="0" smtClean="0"/>
              <a:t>v).Apathy:-</a:t>
            </a:r>
          </a:p>
          <a:p>
            <a:pPr lvl="0">
              <a:buFont typeface="Wingdings" pitchFamily="2" charset="2"/>
              <a:buChar char="§"/>
            </a:pPr>
            <a:r>
              <a:rPr lang="en-ZA" dirty="0" smtClean="0"/>
              <a:t> feelings of indifference towards people, events , activities and learning</a:t>
            </a:r>
          </a:p>
          <a:p>
            <a:endParaRPr lang="en-ZA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823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/>
          </a:solidFill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Etiology/causes of Schizophrenia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Blip>
                <a:blip r:embed="rId2"/>
              </a:buBlip>
            </a:pPr>
            <a:r>
              <a:rPr lang="en-US" dirty="0" smtClean="0"/>
              <a:t>The exact cause of schizophrenia is not known.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However, a combination of different factors are involved in predisposition to schizophrenia:-</a:t>
            </a:r>
          </a:p>
          <a:p>
            <a:pPr marL="0" indent="0">
              <a:buNone/>
            </a:pPr>
            <a:r>
              <a:rPr lang="en-US" dirty="0" smtClean="0"/>
              <a:t>i):-Genetic factors.</a:t>
            </a:r>
          </a:p>
          <a:p>
            <a:pPr marL="0" indent="0">
              <a:buNone/>
            </a:pPr>
            <a:r>
              <a:rPr lang="en-US" dirty="0"/>
              <a:t>i</a:t>
            </a:r>
            <a:r>
              <a:rPr lang="en-US" dirty="0" smtClean="0"/>
              <a:t>i):-Biochemical/other biological factors.</a:t>
            </a:r>
          </a:p>
          <a:p>
            <a:pPr marL="0" indent="0">
              <a:buNone/>
            </a:pPr>
            <a:r>
              <a:rPr lang="en-US" dirty="0"/>
              <a:t>i</a:t>
            </a:r>
            <a:r>
              <a:rPr lang="en-US" dirty="0" smtClean="0"/>
              <a:t>ii):-Psychological factors</a:t>
            </a:r>
          </a:p>
          <a:p>
            <a:pPr marL="0" indent="0">
              <a:buNone/>
            </a:pPr>
            <a:r>
              <a:rPr lang="en-US" dirty="0" smtClean="0"/>
              <a:t>iv):-Environmental/Social factors.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620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Etiology of Schizophrenia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48640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3500" b="1" dirty="0">
                <a:solidFill>
                  <a:srgbClr val="00B050"/>
                </a:solidFill>
              </a:rPr>
              <a:t>1):-Genetic factors</a:t>
            </a:r>
          </a:p>
          <a:p>
            <a:pPr>
              <a:buBlip>
                <a:blip r:embed="rId2"/>
              </a:buBlip>
            </a:pPr>
            <a:r>
              <a:rPr lang="en-US" dirty="0"/>
              <a:t>G</a:t>
            </a:r>
            <a:r>
              <a:rPr lang="en-US" dirty="0" smtClean="0"/>
              <a:t>enetic component in etiology  exists as evidenced by:-</a:t>
            </a:r>
          </a:p>
          <a:p>
            <a:pPr>
              <a:buBlip>
                <a:blip r:embed="rId3"/>
              </a:buBlip>
            </a:pPr>
            <a:r>
              <a:rPr lang="en-US" dirty="0" smtClean="0"/>
              <a:t>Family and twin studies.</a:t>
            </a:r>
          </a:p>
          <a:p>
            <a:pPr marL="0" indent="0">
              <a:buNone/>
            </a:pPr>
            <a:r>
              <a:rPr lang="en-US" b="1" dirty="0" smtClean="0"/>
              <a:t>Linkage studies/GWAS(Genome wide association studies) indicate that:-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No single causative gene has been identified.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Cause is thought to be multiple genes(polygenic) with small individual effects.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Risk genes are shared with other disorders e.g. autism,depression,and bipolar disorders.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53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/>
            </a:r>
            <a:br>
              <a:rPr lang="en-US" b="1" dirty="0" smtClean="0">
                <a:solidFill>
                  <a:srgbClr val="00B050"/>
                </a:solidFill>
              </a:rPr>
            </a:br>
            <a:r>
              <a:rPr lang="en-US" b="1" dirty="0" smtClean="0">
                <a:solidFill>
                  <a:srgbClr val="00B050"/>
                </a:solidFill>
              </a:rPr>
              <a:t>Genetic factors cont…</a:t>
            </a:r>
            <a:r>
              <a:rPr lang="en-US" b="1" dirty="0">
                <a:solidFill>
                  <a:srgbClr val="00B050"/>
                </a:solidFill>
              </a:rPr>
              <a:t/>
            </a:r>
            <a:br>
              <a:rPr lang="en-US" b="1" dirty="0">
                <a:solidFill>
                  <a:srgbClr val="00B05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838200"/>
            <a:ext cx="8229600" cy="5867400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 smtClean="0"/>
              <a:t>Risk of schizophrenia in general population is 1%.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Risk in monozygotic twins is 50%.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Risk in first degree relatives (including dizygotic twins is 10%).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The more the number of affected relatives, the greater the risk.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u="sng" dirty="0" smtClean="0"/>
              <a:t>NB:-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Genetic risk is neither sufficient nor necessary (i.e. one can develop illness without any known family risk/risk genes, AND one may not develop the illness even with a strong genetic link.</a:t>
            </a:r>
          </a:p>
          <a:p>
            <a:pPr lvl="0">
              <a:buFont typeface="Wingdings" pitchFamily="2" charset="2"/>
              <a:buChar char="§"/>
            </a:pPr>
            <a:endParaRPr lang="en-ZA" dirty="0" smtClean="0"/>
          </a:p>
        </p:txBody>
      </p:sp>
    </p:spTree>
    <p:extLst>
      <p:ext uri="{BB962C8B-B14F-4D97-AF65-F5344CB8AC3E}">
        <p14:creationId xmlns:p14="http://schemas.microsoft.com/office/powerpoint/2010/main" val="1453282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Etiology of Schizophrenia 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 </a:t>
            </a:r>
            <a:r>
              <a:rPr lang="en-US" sz="3500" b="1" u="sng" dirty="0">
                <a:solidFill>
                  <a:srgbClr val="00B050"/>
                </a:solidFill>
              </a:rPr>
              <a:t>2):-</a:t>
            </a:r>
            <a:r>
              <a:rPr lang="en-US" sz="3900" b="1" u="sng" dirty="0">
                <a:solidFill>
                  <a:srgbClr val="00B050"/>
                </a:solidFill>
              </a:rPr>
              <a:t>Biochemical/other biological factors/models.</a:t>
            </a:r>
          </a:p>
          <a:p>
            <a:pPr marL="0" indent="0">
              <a:buNone/>
            </a:pPr>
            <a:r>
              <a:rPr lang="en-US" sz="3900" dirty="0"/>
              <a:t>These include:-</a:t>
            </a:r>
          </a:p>
          <a:p>
            <a:pPr marL="0" indent="0">
              <a:buNone/>
            </a:pPr>
            <a:r>
              <a:rPr lang="en-US" sz="3900" dirty="0"/>
              <a:t>a):-Dopamine Hypothesis.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883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304800"/>
            <a:ext cx="8229600" cy="639762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Biochemical factors</a:t>
            </a:r>
            <a:r>
              <a:rPr lang="en-ZA" sz="5400" dirty="0" smtClean="0"/>
              <a:t> </a:t>
            </a:r>
            <a:r>
              <a:rPr lang="en-ZA" b="1" dirty="0">
                <a:solidFill>
                  <a:srgbClr val="00B050"/>
                </a:solidFill>
              </a:rPr>
              <a:t>cont..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14400"/>
            <a:ext cx="8229600" cy="5867400"/>
          </a:xfrm>
          <a:ln>
            <a:solidFill>
              <a:srgbClr val="FFC000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ZA" sz="3800" b="1" dirty="0">
                <a:solidFill>
                  <a:srgbClr val="FF0000"/>
                </a:solidFill>
              </a:rPr>
              <a:t>a):-Dopamine Hypothesis:</a:t>
            </a:r>
          </a:p>
          <a:p>
            <a:pPr>
              <a:buFont typeface="Wingdings" pitchFamily="2" charset="2"/>
              <a:buChar char="§"/>
            </a:pPr>
            <a:r>
              <a:rPr lang="en-ZA" sz="3300" dirty="0"/>
              <a:t>The hypothesis says that schizophrenia results from too much dopaminergic activity in the brain.</a:t>
            </a:r>
          </a:p>
          <a:p>
            <a:pPr>
              <a:buFont typeface="Wingdings" pitchFamily="2" charset="2"/>
              <a:buChar char="§"/>
            </a:pPr>
            <a:r>
              <a:rPr lang="en-ZA" sz="3300" dirty="0"/>
              <a:t>Studies have shown increased dopamine synthesis even during prodromal  periods.</a:t>
            </a:r>
            <a:endParaRPr lang="en-US" sz="3300" dirty="0"/>
          </a:p>
          <a:p>
            <a:pPr>
              <a:buFont typeface="Wingdings" pitchFamily="2" charset="2"/>
              <a:buChar char="§"/>
            </a:pPr>
            <a:r>
              <a:rPr lang="en-US" sz="3300" dirty="0"/>
              <a:t>Dopamine is </a:t>
            </a:r>
            <a:r>
              <a:rPr lang="en-US" sz="3300" dirty="0" smtClean="0"/>
              <a:t>a neurotransmitter </a:t>
            </a:r>
            <a:r>
              <a:rPr lang="en-US" sz="3300" dirty="0"/>
              <a:t>in the </a:t>
            </a:r>
            <a:r>
              <a:rPr lang="en-US" sz="3300" dirty="0" smtClean="0"/>
              <a:t>brain</a:t>
            </a:r>
            <a:r>
              <a:rPr lang="en-US" sz="3300" dirty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sz="3300" dirty="0" smtClean="0"/>
              <a:t>Some </a:t>
            </a:r>
            <a:r>
              <a:rPr lang="en-US" sz="3300" dirty="0"/>
              <a:t>of the main  Neurotransmitters in the brain:-</a:t>
            </a:r>
          </a:p>
          <a:p>
            <a:pPr marL="0" indent="0">
              <a:buNone/>
            </a:pPr>
            <a:r>
              <a:rPr lang="en-US" sz="3300" dirty="0"/>
              <a:t>                   -Norepinephrine</a:t>
            </a:r>
          </a:p>
          <a:p>
            <a:pPr marL="0" indent="0">
              <a:buNone/>
            </a:pPr>
            <a:r>
              <a:rPr lang="en-US" sz="3300" dirty="0"/>
              <a:t>                    -Serotonin</a:t>
            </a:r>
          </a:p>
          <a:p>
            <a:pPr marL="0" indent="0">
              <a:buNone/>
            </a:pPr>
            <a:r>
              <a:rPr lang="en-US" sz="3300" dirty="0"/>
              <a:t>                     -Dopamine.</a:t>
            </a:r>
          </a:p>
          <a:p>
            <a:endParaRPr lang="en-ZA" u="sng" dirty="0" smtClean="0"/>
          </a:p>
        </p:txBody>
      </p:sp>
    </p:spTree>
    <p:extLst>
      <p:ext uri="{BB962C8B-B14F-4D97-AF65-F5344CB8AC3E}">
        <p14:creationId xmlns:p14="http://schemas.microsoft.com/office/powerpoint/2010/main" val="1443625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Neurotransmitters in brain and their functions 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00200"/>
            <a:ext cx="81534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9256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Etiology of Schizophrenia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5504"/>
            <a:ext cx="10515600" cy="516940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0B050"/>
                </a:solidFill>
              </a:rPr>
              <a:t>3</a:t>
            </a:r>
            <a:r>
              <a:rPr lang="en-US" sz="4600" b="1" dirty="0" smtClean="0">
                <a:solidFill>
                  <a:srgbClr val="00B050"/>
                </a:solidFill>
              </a:rPr>
              <a:t>):-</a:t>
            </a:r>
            <a:r>
              <a:rPr lang="en-US" sz="4000" b="1" dirty="0">
                <a:solidFill>
                  <a:srgbClr val="00B050"/>
                </a:solidFill>
              </a:rPr>
              <a:t>ENVIRONMENTAL/SOCIAL  RISK FACTORS.</a:t>
            </a:r>
          </a:p>
          <a:p>
            <a:pPr>
              <a:buBlip>
                <a:blip r:embed="rId2"/>
              </a:buBlip>
            </a:pPr>
            <a:r>
              <a:rPr lang="en-US" sz="3400" dirty="0"/>
              <a:t>Potential psychosocial risk factors include:</a:t>
            </a:r>
          </a:p>
          <a:p>
            <a:pPr marL="0" indent="0">
              <a:buNone/>
            </a:pPr>
            <a:r>
              <a:rPr lang="en-US" sz="3400" b="1" u="sng" dirty="0" err="1" smtClean="0">
                <a:solidFill>
                  <a:srgbClr val="FF0000"/>
                </a:solidFill>
              </a:rPr>
              <a:t>i</a:t>
            </a:r>
            <a:r>
              <a:rPr lang="en-US" sz="3400" b="1" u="sng" dirty="0" smtClean="0">
                <a:solidFill>
                  <a:srgbClr val="FF0000"/>
                </a:solidFill>
              </a:rPr>
              <a:t>).CHILDHOOD </a:t>
            </a:r>
            <a:r>
              <a:rPr lang="en-US" sz="3400" b="1" u="sng" dirty="0">
                <a:solidFill>
                  <a:srgbClr val="FF0000"/>
                </a:solidFill>
              </a:rPr>
              <a:t>ADVERSITY:-</a:t>
            </a:r>
          </a:p>
          <a:p>
            <a:pPr>
              <a:buBlip>
                <a:blip r:embed="rId2"/>
              </a:buBlip>
            </a:pPr>
            <a:r>
              <a:rPr lang="en-US" sz="3400" dirty="0"/>
              <a:t>May take the form of:-</a:t>
            </a:r>
          </a:p>
          <a:p>
            <a:pPr marL="0" indent="0">
              <a:buNone/>
            </a:pPr>
            <a:r>
              <a:rPr lang="en-US" sz="3400" dirty="0"/>
              <a:t>                                   -Emotional abuse</a:t>
            </a:r>
          </a:p>
          <a:p>
            <a:pPr marL="0" indent="0">
              <a:buNone/>
            </a:pPr>
            <a:r>
              <a:rPr lang="en-US" sz="3400" dirty="0"/>
              <a:t>                                    -Physical abuse</a:t>
            </a:r>
          </a:p>
          <a:p>
            <a:pPr marL="0" indent="0">
              <a:buNone/>
            </a:pPr>
            <a:r>
              <a:rPr lang="en-US" sz="3400" dirty="0"/>
              <a:t>                                    -Sexual abuse </a:t>
            </a:r>
          </a:p>
          <a:p>
            <a:pPr marL="0" indent="0">
              <a:buNone/>
            </a:pPr>
            <a:r>
              <a:rPr lang="en-US" sz="3400" dirty="0"/>
              <a:t>                                    -Child neglect</a:t>
            </a:r>
          </a:p>
          <a:p>
            <a:pPr marL="0" indent="0">
              <a:buNone/>
            </a:pPr>
            <a:r>
              <a:rPr lang="en-US" sz="3400" dirty="0"/>
              <a:t>                                    -Death of one or both parents.</a:t>
            </a:r>
          </a:p>
          <a:p>
            <a:pPr>
              <a:buBlip>
                <a:blip r:embed="rId2"/>
              </a:buBlip>
            </a:pPr>
            <a:r>
              <a:rPr lang="en-US" sz="3400" dirty="0"/>
              <a:t>Migration, especially becoming a member of a lower social-economic ethnic minority in an affluent nation/community.</a:t>
            </a:r>
          </a:p>
          <a:p>
            <a:pPr>
              <a:buBlip>
                <a:blip r:embed="rId2"/>
              </a:buBlip>
            </a:pPr>
            <a:r>
              <a:rPr lang="en-US" sz="3400" dirty="0"/>
              <a:t>Any major stressful life events.</a:t>
            </a:r>
          </a:p>
        </p:txBody>
      </p:sp>
    </p:spTree>
    <p:extLst>
      <p:ext uri="{BB962C8B-B14F-4D97-AF65-F5344CB8AC3E}">
        <p14:creationId xmlns:p14="http://schemas.microsoft.com/office/powerpoint/2010/main" val="359068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Etiology of Schizophrenia 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Environmental/Social  risk 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factors cont..</a:t>
            </a:r>
          </a:p>
          <a:p>
            <a:pPr marL="0" indent="0">
              <a:buNone/>
            </a:pPr>
            <a:r>
              <a:rPr lang="en-US" b="1" u="sng" dirty="0" smtClean="0">
                <a:solidFill>
                  <a:srgbClr val="00B050"/>
                </a:solidFill>
              </a:rPr>
              <a:t>ii).ILLICIT SUBSTANCE USE.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Drugs that cause/</a:t>
            </a:r>
            <a:r>
              <a:rPr lang="en-US" dirty="0" err="1" smtClean="0"/>
              <a:t>disturbilize</a:t>
            </a:r>
            <a:r>
              <a:rPr lang="en-US" dirty="0" smtClean="0"/>
              <a:t> dopamine activity(increased or decreased) (cocaine,marijuana,amphetamines etc.) 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can cause psychotic symptoms similar to those in schizophrenia.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Studies show that greater proportion of patients with schizophrenia use illicit drugs than in general population.</a:t>
            </a:r>
          </a:p>
        </p:txBody>
      </p:sp>
    </p:spTree>
    <p:extLst>
      <p:ext uri="{BB962C8B-B14F-4D97-AF65-F5344CB8AC3E}">
        <p14:creationId xmlns:p14="http://schemas.microsoft.com/office/powerpoint/2010/main" val="278027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4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Environmental/Social  risk factors cont..</a:t>
            </a:r>
            <a:br>
              <a:rPr lang="en-US" sz="4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410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>
                <a:solidFill>
                  <a:srgbClr val="00B050"/>
                </a:solidFill>
              </a:rPr>
              <a:t>ILLICIT SUBSTANCE USE CONT…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Although </a:t>
            </a:r>
            <a:r>
              <a:rPr lang="en-US" dirty="0"/>
              <a:t>illicit drugs can cause psychotic </a:t>
            </a:r>
            <a:r>
              <a:rPr lang="en-US" dirty="0" smtClean="0"/>
              <a:t>symptoms, they </a:t>
            </a:r>
            <a:r>
              <a:rPr lang="en-US" dirty="0"/>
              <a:t>are unlikely to “cause” schizophrenia, but in vulnerable indivinduals,they can</a:t>
            </a:r>
            <a:r>
              <a:rPr lang="en-US" dirty="0" smtClean="0"/>
              <a:t>:-</a:t>
            </a:r>
          </a:p>
          <a:p>
            <a:pPr marL="0" indent="0">
              <a:buNone/>
            </a:pPr>
            <a:r>
              <a:rPr lang="en-US" dirty="0" smtClean="0"/>
              <a:t>i):-Bring forward the age of onset of schizophrenia.</a:t>
            </a:r>
          </a:p>
          <a:p>
            <a:pPr marL="0" indent="0">
              <a:buNone/>
            </a:pPr>
            <a:r>
              <a:rPr lang="en-US" dirty="0" smtClean="0"/>
              <a:t>ii):-interfere with effectiveness of anti psychotics.</a:t>
            </a:r>
          </a:p>
          <a:p>
            <a:pPr marL="0" indent="0">
              <a:buNone/>
            </a:pPr>
            <a:r>
              <a:rPr lang="en-US" dirty="0" smtClean="0"/>
              <a:t>iii):-Can increase the frequency of relapses in patients with schizophrenia.</a:t>
            </a:r>
          </a:p>
          <a:p>
            <a:pPr marL="0" indent="0">
              <a:buNone/>
            </a:pPr>
            <a:r>
              <a:rPr lang="en-US" b="1" u="sng" dirty="0" smtClean="0">
                <a:solidFill>
                  <a:srgbClr val="00B050"/>
                </a:solidFill>
              </a:rPr>
              <a:t>iii). </a:t>
            </a:r>
            <a:r>
              <a:rPr lang="en-US" b="1" u="sng" dirty="0">
                <a:solidFill>
                  <a:srgbClr val="00B050"/>
                </a:solidFill>
              </a:rPr>
              <a:t>CHILD UPBRINGING  “SCHIZOPHRENIC MOTHER”</a:t>
            </a:r>
          </a:p>
          <a:p>
            <a:pPr>
              <a:buBlip>
                <a:blip r:embed="rId3"/>
              </a:buBlip>
            </a:pPr>
            <a:r>
              <a:rPr lang="en-US" dirty="0" smtClean="0"/>
              <a:t>According to this theory, a mother can predispose /increase the risk of schizophrenia in her offspring by her attitude towards the offspring.</a:t>
            </a:r>
          </a:p>
          <a:p>
            <a:pPr marL="0" indent="0">
              <a:buNone/>
            </a:pPr>
            <a:r>
              <a:rPr lang="en-US" dirty="0" smtClean="0"/>
              <a:t>E.g.. Being dominant and overprotective ,but also rejecting and insensitive (Maternal dominance). 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18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Environmental/Social 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risk factors cont..</a:t>
            </a:r>
            <a:b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 smtClean="0"/>
              <a:t>Another related theory “Double bind hypothesis "says that schizophrenia can be predisposed when a child is being given contradicting messenges that put him into a “bind", resulting in schizophrenia.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However any person (close carer)with whom the patient lives can cause psychological harm by exhibiting high expressed emotions on the child.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20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DSM 5 Diagnostic criteria for schizophrenia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b="1" u="sng" dirty="0" smtClean="0">
                <a:solidFill>
                  <a:srgbClr val="FF0000"/>
                </a:solidFill>
              </a:rPr>
              <a:t>Characteristic symptoms:-</a:t>
            </a:r>
          </a:p>
          <a:p>
            <a:pPr marL="0" indent="0">
              <a:buNone/>
            </a:pPr>
            <a:r>
              <a:rPr lang="en-US" b="1" u="sng" dirty="0" smtClean="0">
                <a:solidFill>
                  <a:srgbClr val="FF0000"/>
                </a:solidFill>
              </a:rPr>
              <a:t>positive symptoms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solidFill>
                  <a:srgbClr val="00B0F0"/>
                </a:solidFill>
              </a:rPr>
              <a:t>Two (or more)</a:t>
            </a:r>
            <a:r>
              <a:rPr lang="en-US" dirty="0" smtClean="0"/>
              <a:t> of the following, each present for a significant portion of the time during a 1-month period (or less if successfully treated):</a:t>
            </a:r>
          </a:p>
          <a:p>
            <a:pPr marL="514350" indent="-514350">
              <a:buNone/>
            </a:pPr>
            <a:r>
              <a:rPr lang="en-US" dirty="0" smtClean="0"/>
              <a:t>	i):- delusions</a:t>
            </a:r>
          </a:p>
          <a:p>
            <a:pPr marL="514350" indent="-514350">
              <a:buNone/>
            </a:pPr>
            <a:r>
              <a:rPr lang="en-US" dirty="0" smtClean="0"/>
              <a:t>	ii):- hallucinations</a:t>
            </a:r>
          </a:p>
          <a:p>
            <a:pPr marL="514350" indent="-514350">
              <a:buNone/>
            </a:pPr>
            <a:r>
              <a:rPr lang="en-US" dirty="0" smtClean="0"/>
              <a:t>	iii):- disorganized speech/thinking (e.g. frequent derailment or incoherence)</a:t>
            </a:r>
          </a:p>
          <a:p>
            <a:pPr marL="514350" indent="-514350">
              <a:buNone/>
            </a:pPr>
            <a:r>
              <a:rPr lang="en-US" dirty="0" smtClean="0"/>
              <a:t>	iv):- grossly disorganized or catatonic behaviour.(motor activity).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788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219200"/>
            <a:ext cx="9144000" cy="5638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u="sng" dirty="0" smtClean="0">
                <a:solidFill>
                  <a:srgbClr val="FF0000"/>
                </a:solidFill>
              </a:rPr>
              <a:t>2. negative symptoms</a:t>
            </a:r>
            <a:r>
              <a:rPr lang="en-US" dirty="0" smtClean="0"/>
              <a:t>, </a:t>
            </a:r>
            <a:r>
              <a:rPr lang="en-US" dirty="0" err="1" smtClean="0"/>
              <a:t>i.e</a:t>
            </a:r>
            <a:r>
              <a:rPr lang="en-US" dirty="0" smtClean="0"/>
              <a:t> (5As).</a:t>
            </a:r>
          </a:p>
          <a:p>
            <a:pPr>
              <a:buNone/>
            </a:pPr>
            <a:r>
              <a:rPr lang="en-US" dirty="0" smtClean="0"/>
              <a:t> i):-affective flattening, </a:t>
            </a:r>
          </a:p>
          <a:p>
            <a:pPr>
              <a:buNone/>
            </a:pPr>
            <a:r>
              <a:rPr lang="en-US" dirty="0" smtClean="0"/>
              <a:t>ii):-alogia or </a:t>
            </a:r>
          </a:p>
          <a:p>
            <a:pPr>
              <a:buNone/>
            </a:pPr>
            <a:r>
              <a:rPr lang="en-US" dirty="0" smtClean="0"/>
              <a:t>iii):-avolition.</a:t>
            </a:r>
          </a:p>
          <a:p>
            <a:pPr>
              <a:buNone/>
            </a:pPr>
            <a:r>
              <a:rPr lang="en-US" dirty="0" smtClean="0"/>
              <a:t>iv):-annehedonia/</a:t>
            </a:r>
            <a:r>
              <a:rPr lang="en-US" dirty="0" err="1" smtClean="0"/>
              <a:t>associality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v):-Attention deficit.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Note:-</a:t>
            </a:r>
            <a:r>
              <a:rPr lang="en-US" dirty="0" smtClean="0"/>
              <a:t> Only </a:t>
            </a:r>
            <a:r>
              <a:rPr lang="en-US" b="1" dirty="0" smtClean="0"/>
              <a:t>one criterion 1 symptom is required </a:t>
            </a:r>
            <a:r>
              <a:rPr lang="en-US" dirty="0" smtClean="0"/>
              <a:t>if delusions are bizarre e.g. (Persecutory or grandiose delusions) or hallucinations consist of a </a:t>
            </a:r>
            <a:r>
              <a:rPr lang="en-US" b="1" dirty="0" smtClean="0"/>
              <a:t>voice keeping up a running commentary on the person’s behavior</a:t>
            </a:r>
            <a:r>
              <a:rPr lang="en-US" dirty="0" smtClean="0"/>
              <a:t> or thoughts, or two or </a:t>
            </a:r>
            <a:r>
              <a:rPr lang="en-US" b="1" dirty="0" smtClean="0"/>
              <a:t>more voices </a:t>
            </a:r>
            <a:r>
              <a:rPr lang="en-US" dirty="0" smtClean="0"/>
              <a:t>conversing with each other.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34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219200"/>
            <a:ext cx="9144000" cy="5486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2. Social/occupational dysfunction:- </a:t>
            </a:r>
            <a:r>
              <a:rPr lang="en-US" dirty="0" smtClean="0"/>
              <a:t>for a significant portion of the time since the onset of the disturbance, one or more major areas of functioning such as </a:t>
            </a:r>
            <a:r>
              <a:rPr lang="en-US" b="1" dirty="0" smtClean="0"/>
              <a:t>work,  interpersonal relations, or self-care are markedly below the level achieved prior to the onset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                        OR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 when the onset is in childhood or adolescence, failure to achieve expected level of:-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 interpersonal, </a:t>
            </a:r>
            <a:endParaRPr lang="en-US" dirty="0"/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academic, or </a:t>
            </a:r>
            <a:endParaRPr lang="en-US" dirty="0"/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occupational achievement).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2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CONT……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Duration:- </a:t>
            </a:r>
            <a:r>
              <a:rPr lang="en-US" dirty="0" smtClean="0"/>
              <a:t>Continuous signs of the disturbance persist for at least 6months. 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This 6-month period must include at least 1month of symptoms (or less if successfully treated) that meet criterion 1 (i.e., active-phase symptoms) and may include periods of prodromal or residual symptoms.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34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Subtypes </a:t>
            </a:r>
            <a:r>
              <a:rPr lang="en-US" b="1" dirty="0" smtClean="0">
                <a:solidFill>
                  <a:schemeClr val="bg1"/>
                </a:solidFill>
              </a:rPr>
              <a:t>of Schizophrenia (ICD </a:t>
            </a:r>
            <a:r>
              <a:rPr lang="en-US" b="1" dirty="0">
                <a:solidFill>
                  <a:schemeClr val="bg1"/>
                </a:solidFill>
              </a:rPr>
              <a:t>-</a:t>
            </a:r>
            <a:r>
              <a:rPr lang="en-US" b="1" dirty="0" smtClean="0">
                <a:solidFill>
                  <a:schemeClr val="bg1"/>
                </a:solidFill>
              </a:rPr>
              <a:t>10).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u="sng" dirty="0">
                <a:solidFill>
                  <a:srgbClr val="92D050"/>
                </a:solidFill>
              </a:rPr>
              <a:t>1):-Paranoid</a:t>
            </a:r>
          </a:p>
          <a:p>
            <a:pPr>
              <a:buBlip>
                <a:blip r:embed="rId2"/>
              </a:buBlip>
            </a:pPr>
            <a:r>
              <a:rPr lang="en-US" dirty="0"/>
              <a:t>Onset usually in the late 20s to 30s. </a:t>
            </a:r>
            <a:endParaRPr lang="en-US" dirty="0" smtClean="0"/>
          </a:p>
          <a:p>
            <a:pPr>
              <a:buBlip>
                <a:blip r:embed="rId2"/>
              </a:buBlip>
            </a:pPr>
            <a:r>
              <a:rPr lang="en-US" dirty="0" smtClean="0"/>
              <a:t>People </a:t>
            </a:r>
            <a:r>
              <a:rPr lang="en-US" dirty="0"/>
              <a:t>who develop this disorder usually function well before the onset of the disorder (good premorbid functioning</a:t>
            </a:r>
            <a:r>
              <a:rPr lang="en-US" dirty="0" smtClean="0"/>
              <a:t>).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 </a:t>
            </a:r>
            <a:r>
              <a:rPr lang="en-US" dirty="0"/>
              <a:t>Paranoia (any intense and strongly defended irrational suspicion) is the main characteristic and the main defense is projection. </a:t>
            </a:r>
            <a:endParaRPr lang="en-US" dirty="0" smtClean="0"/>
          </a:p>
          <a:p>
            <a:pPr>
              <a:buBlip>
                <a:blip r:embed="rId2"/>
              </a:buBlip>
            </a:pPr>
            <a:r>
              <a:rPr lang="en-US" dirty="0" smtClean="0"/>
              <a:t>Hallucinations</a:t>
            </a:r>
            <a:r>
              <a:rPr lang="en-US" dirty="0"/>
              <a:t>, delusions, and ideas of reference are dominant.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96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92D050"/>
                </a:solidFill>
              </a:rPr>
              <a:t>2):-Disorganized</a:t>
            </a:r>
            <a:r>
              <a:rPr lang="en-US" dirty="0" smtClean="0">
                <a:solidFill>
                  <a:srgbClr val="92D050"/>
                </a:solidFill>
              </a:rPr>
              <a:t> </a:t>
            </a:r>
            <a:r>
              <a:rPr lang="en-US" b="1" dirty="0" smtClean="0">
                <a:solidFill>
                  <a:srgbClr val="92D050"/>
                </a:solidFill>
              </a:rPr>
              <a:t>schizophrenia-(formerly hebephrenic).</a:t>
            </a:r>
            <a:r>
              <a:rPr lang="en-US" b="1" dirty="0" smtClean="0"/>
              <a:t>.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Blip>
                <a:blip r:embed="rId2"/>
              </a:buBlip>
            </a:pPr>
            <a:r>
              <a:rPr lang="en-US" dirty="0" smtClean="0"/>
              <a:t>The most regressed and socially impaired of all the schizophrenias. 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The person has highly disorganized speech and behavior and inappropriate affect. 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Bizarre mannerisms include grimacing along with other oddities of behavior.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16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3):-Catatonic schizophrenia.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600201"/>
            <a:ext cx="8229600" cy="4525963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 smtClean="0"/>
              <a:t>The essential feature is </a:t>
            </a:r>
            <a:r>
              <a:rPr lang="en-US" b="1" dirty="0" smtClean="0"/>
              <a:t>abnormal motor behavior</a:t>
            </a:r>
            <a:r>
              <a:rPr lang="en-US" dirty="0" smtClean="0"/>
              <a:t>. </a:t>
            </a:r>
            <a:endParaRPr lang="en-US" dirty="0"/>
          </a:p>
          <a:p>
            <a:pPr>
              <a:buBlip>
                <a:blip r:embed="rId2"/>
              </a:buBlip>
            </a:pPr>
            <a:r>
              <a:rPr lang="en-US" dirty="0" smtClean="0"/>
              <a:t>Two extreme motor behaviors are seen in catatonia. </a:t>
            </a:r>
          </a:p>
          <a:p>
            <a:pPr lvl="1"/>
            <a:r>
              <a:rPr lang="en-US" dirty="0" smtClean="0"/>
              <a:t>One extreme is </a:t>
            </a:r>
            <a:r>
              <a:rPr lang="en-US" b="1" dirty="0" smtClean="0"/>
              <a:t>psychomotor agitation,</a:t>
            </a:r>
            <a:r>
              <a:rPr lang="en-US" dirty="0" smtClean="0"/>
              <a:t> which can lead to exhaustion. </a:t>
            </a:r>
          </a:p>
          <a:p>
            <a:pPr lvl="1"/>
            <a:r>
              <a:rPr lang="en-US" dirty="0" smtClean="0"/>
              <a:t>The other extreme is </a:t>
            </a:r>
            <a:r>
              <a:rPr lang="en-US" b="1" dirty="0" smtClean="0"/>
              <a:t>psychomotor retardation</a:t>
            </a:r>
            <a:r>
              <a:rPr lang="en-US" dirty="0" smtClean="0"/>
              <a:t> and withdrawal to the point of stupor. 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Onset is usually acute, and prognosis is good with medications and swift interventions. 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Other behaviors may include autism, waxy flexibility and negativism.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58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4):-Undifferentiated (mixed type)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 smtClean="0"/>
              <a:t>Clients experience </a:t>
            </a:r>
            <a:r>
              <a:rPr lang="en-US" b="1" dirty="0" smtClean="0"/>
              <a:t>active hallucinations and delusions, but no one clinical picture dominates </a:t>
            </a:r>
            <a:r>
              <a:rPr lang="en-US" dirty="0" smtClean="0"/>
              <a:t>(e.g. not paranoid, catatonic, or disorganized; rather the clinical picture is one of a mixture of symptoms).</a:t>
            </a:r>
          </a:p>
          <a:p>
            <a:pPr>
              <a:buNone/>
            </a:pPr>
            <a:r>
              <a:rPr lang="en-US" b="1" u="sng" smtClean="0">
                <a:solidFill>
                  <a:srgbClr val="00B050"/>
                </a:solidFill>
              </a:rPr>
              <a:t>Residual schizophrenia.</a:t>
            </a:r>
            <a:endParaRPr lang="en-US" b="1" u="sng" dirty="0" smtClean="0">
              <a:solidFill>
                <a:srgbClr val="00B050"/>
              </a:solidFill>
            </a:endParaRPr>
          </a:p>
          <a:p>
            <a:pPr>
              <a:buBlip>
                <a:blip r:embed="rId3"/>
              </a:buBlip>
            </a:pPr>
            <a:r>
              <a:rPr lang="en-US" dirty="0" smtClean="0"/>
              <a:t>A person who is referred to as having residual schizophrenia </a:t>
            </a:r>
            <a:r>
              <a:rPr lang="en-US" b="1" dirty="0" smtClean="0"/>
              <a:t>no longer has</a:t>
            </a:r>
            <a:r>
              <a:rPr lang="en-US" dirty="0" smtClean="0"/>
              <a:t> </a:t>
            </a:r>
            <a:r>
              <a:rPr lang="en-US" b="1" dirty="0" smtClean="0"/>
              <a:t>active symptoms </a:t>
            </a:r>
            <a:r>
              <a:rPr lang="en-US" dirty="0" smtClean="0"/>
              <a:t>of the disease, such as delusions, hallucinations, or disorganized speech and behaviors.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822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Conti..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However, there is a persistence of some symptoms:-</a:t>
            </a:r>
          </a:p>
          <a:p>
            <a:pPr marL="0" indent="0">
              <a:buNone/>
            </a:pPr>
            <a:r>
              <a:rPr lang="en-US" b="1" dirty="0"/>
              <a:t>F</a:t>
            </a:r>
            <a:r>
              <a:rPr lang="en-US" b="1" dirty="0" smtClean="0"/>
              <a:t>or example:- 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marked social withdrawal;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 impairment in role function (wage earner, student, or homemaker); 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eccentric behavior or odd beliefs; 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poor personal hygiene; 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 lack of interest, energy, initiative and inappropriate affect.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800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/>
          <a:lstStyle/>
          <a:p>
            <a:r>
              <a:rPr lang="en-US" b="1" dirty="0" smtClean="0">
                <a:solidFill>
                  <a:srgbClr val="00B0F0"/>
                </a:solidFill>
              </a:rPr>
              <a:t>Assessment alerts 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Assessing positive symptoms</a:t>
            </a:r>
          </a:p>
          <a:p>
            <a:pPr marL="514350" indent="-514350">
              <a:buAutoNum type="arabicPeriod"/>
            </a:pPr>
            <a:r>
              <a:rPr lang="en-US" dirty="0" smtClean="0"/>
              <a:t>Assess for command hallucinations (e.g.., voices telling the person to harm self or another). If yes: </a:t>
            </a:r>
          </a:p>
          <a:p>
            <a:pPr marL="914400" lvl="1" indent="-514350">
              <a:buFontTx/>
              <a:buChar char="-"/>
            </a:pPr>
            <a:r>
              <a:rPr lang="en-US" dirty="0" smtClean="0"/>
              <a:t>Do you plan to allow the command?</a:t>
            </a:r>
          </a:p>
          <a:p>
            <a:pPr marL="914400" lvl="1" indent="-514350">
              <a:buFontTx/>
              <a:buChar char="-"/>
            </a:pPr>
            <a:r>
              <a:rPr lang="en-US" dirty="0" smtClean="0"/>
              <a:t>Do you believe the voices are real?</a:t>
            </a:r>
          </a:p>
          <a:p>
            <a:pPr marL="514350" indent="-514350">
              <a:buAutoNum type="arabicPeriod"/>
            </a:pPr>
            <a:r>
              <a:rPr lang="en-US" dirty="0" smtClean="0"/>
              <a:t>Assess if the client has fragmented, poorly organized, well-organized, systematized or extensive system of beliefs that are not supported by reality (delusions). If yes.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735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Cont…Assessment </a:t>
            </a:r>
            <a:r>
              <a:rPr lang="en-US" b="1" dirty="0">
                <a:solidFill>
                  <a:srgbClr val="00B050"/>
                </a:solidFill>
              </a:rPr>
              <a:t>alerts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514350">
              <a:buFontTx/>
              <a:buChar char="-"/>
            </a:pPr>
            <a:r>
              <a:rPr lang="en-US" dirty="0" smtClean="0"/>
              <a:t>Assess if delusions have to do with someone trying to harm the client, and if the client is planning to retaliate against a person or organization.</a:t>
            </a:r>
          </a:p>
          <a:p>
            <a:pPr marL="914400" lvl="1" indent="-514350">
              <a:buFontTx/>
              <a:buChar char="-"/>
            </a:pPr>
            <a:r>
              <a:rPr lang="en-US" dirty="0" smtClean="0"/>
              <a:t>Assess if precautions need to be taken.</a:t>
            </a:r>
          </a:p>
          <a:p>
            <a:pPr marL="914400" lvl="1" indent="-796925">
              <a:buNone/>
            </a:pPr>
            <a:r>
              <a:rPr lang="en-US" dirty="0" smtClean="0"/>
              <a:t>3. Assess for pervasive suspiciousness about everyone and their actions, for example: </a:t>
            </a:r>
          </a:p>
          <a:p>
            <a:pPr marL="914400" lvl="1" indent="-796925">
              <a:buNone/>
            </a:pPr>
            <a:r>
              <a:rPr lang="en-US" dirty="0" smtClean="0"/>
              <a:t>	- is on guard, hyper alert, vigilant</a:t>
            </a:r>
          </a:p>
          <a:p>
            <a:pPr marL="914400" lvl="1" indent="-796925">
              <a:buNone/>
            </a:pPr>
            <a:r>
              <a:rPr lang="en-US" dirty="0" smtClean="0"/>
              <a:t>	- blames others for consequences of own behavior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04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Conti..</a:t>
            </a:r>
            <a:r>
              <a:rPr lang="en-US" b="1" dirty="0">
                <a:solidFill>
                  <a:srgbClr val="00B050"/>
                </a:solidFill>
              </a:rPr>
              <a:t> Assessment alerts 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If patient Is hostile, argumentative often threatening verbalizations or violent behavior.</a:t>
            </a:r>
          </a:p>
          <a:p>
            <a:pPr>
              <a:buNone/>
            </a:pPr>
            <a:r>
              <a:rPr lang="en-US" b="1" dirty="0" smtClean="0">
                <a:solidFill>
                  <a:srgbClr val="00B0F0"/>
                </a:solidFill>
              </a:rPr>
              <a:t>Assessing negative symptoms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 Assess for negative symptoms of schizophrenia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 Assess support system:-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 Is family well informed about the disease (e.g., schizophrenia)?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Does family understand the need for medication adherence?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 Is family familiar with family support groups in the community, or where to go for respite and family support?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08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75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B0F0"/>
                </a:solidFill>
              </a:rPr>
              <a:t/>
            </a:r>
            <a:br>
              <a:rPr lang="en-US" b="1" dirty="0" smtClean="0">
                <a:solidFill>
                  <a:srgbClr val="00B0F0"/>
                </a:solidFill>
              </a:rPr>
            </a:br>
            <a:r>
              <a:rPr lang="en-US" b="1" dirty="0" smtClean="0">
                <a:solidFill>
                  <a:srgbClr val="00B0F0"/>
                </a:solidFill>
              </a:rPr>
              <a:t>Assessing for suicide risk.</a:t>
            </a:r>
            <a:r>
              <a:rPr lang="en-US" b="1" dirty="0">
                <a:solidFill>
                  <a:srgbClr val="00B0F0"/>
                </a:solidFill>
              </a:rPr>
              <a:t/>
            </a:r>
            <a:br>
              <a:rPr lang="en-US" b="1" dirty="0">
                <a:solidFill>
                  <a:srgbClr val="00B0F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 smtClean="0"/>
              <a:t>Patients with acute schizophrenia especially males are at increased risk of suicide.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Some suicide risk assessment tools include the following:-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-SADPERSONS Risk assessment tool.</a:t>
            </a:r>
          </a:p>
          <a:p>
            <a:pPr marL="0" indent="0">
              <a:buNone/>
            </a:pPr>
            <a:r>
              <a:rPr lang="en-US" dirty="0" smtClean="0"/>
              <a:t>                        -Beck depression inventory</a:t>
            </a:r>
          </a:p>
          <a:p>
            <a:pPr marL="0" indent="0">
              <a:buNone/>
            </a:pPr>
            <a:r>
              <a:rPr lang="en-US" dirty="0" smtClean="0"/>
              <a:t>                        -NIMS:-National institute of mental illness assessment   tool.</a:t>
            </a:r>
          </a:p>
          <a:p>
            <a:pPr marL="0" indent="0">
              <a:buNone/>
            </a:pPr>
            <a:r>
              <a:rPr lang="en-US" dirty="0" smtClean="0"/>
              <a:t>                         -Beck anxiety assessment tool.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625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Assessing for violence.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Blip>
                <a:blip r:embed="rId2"/>
              </a:buBlip>
            </a:pPr>
            <a:r>
              <a:rPr lang="en-US" dirty="0" smtClean="0"/>
              <a:t>Small proportion of patients (usually young males) may pose risk of violence to others self and others.</a:t>
            </a:r>
          </a:p>
          <a:p>
            <a:pPr marL="0" indent="0">
              <a:buNone/>
            </a:pPr>
            <a:r>
              <a:rPr lang="en-US" dirty="0" smtClean="0"/>
              <a:t>Following Symptoms may indicate an increased risk to violence:-</a:t>
            </a:r>
          </a:p>
          <a:p>
            <a:pPr>
              <a:buBlip>
                <a:blip r:embed="rId3"/>
              </a:buBlip>
            </a:pPr>
            <a:r>
              <a:rPr lang="en-US" dirty="0" smtClean="0"/>
              <a:t>Command hallucinations-ordering patients to harm themselves or others.</a:t>
            </a:r>
          </a:p>
          <a:p>
            <a:pPr>
              <a:buBlip>
                <a:blip r:embed="rId3"/>
              </a:buBlip>
            </a:pPr>
            <a:r>
              <a:rPr lang="en-US" dirty="0" smtClean="0"/>
              <a:t>Delusional believes of being controlled by others.</a:t>
            </a:r>
          </a:p>
          <a:p>
            <a:pPr>
              <a:buBlip>
                <a:blip r:embed="rId3"/>
              </a:buBlip>
            </a:pPr>
            <a:r>
              <a:rPr lang="en-US" dirty="0" smtClean="0"/>
              <a:t>History of violence ,comorbid alcohol/substance misuse, on-compliance with medication,anti social personality, poor insight etc.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B050"/>
                </a:solidFill>
              </a:rPr>
              <a:t>NB:-</a:t>
            </a:r>
          </a:p>
          <a:p>
            <a:pPr marL="0" indent="0">
              <a:buNone/>
            </a:pPr>
            <a:r>
              <a:rPr lang="en-US" dirty="0" smtClean="0"/>
              <a:t>Patients are more likely to be victims of violence rather than perpetrators.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60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001000" cy="792162"/>
          </a:xfrm>
        </p:spPr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INVESTIGATIONS.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54864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US" dirty="0"/>
              <a:t>R</a:t>
            </a:r>
            <a:r>
              <a:rPr lang="en-US" dirty="0" smtClean="0"/>
              <a:t>outine blood tests  done before initiating treatment:-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Complete blood counts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Liver function tests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Urea and electrolytes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glucose tests,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lipid tests.</a:t>
            </a:r>
          </a:p>
          <a:p>
            <a:pPr marL="0" indent="0">
              <a:buNone/>
            </a:pPr>
            <a:r>
              <a:rPr lang="en-US" dirty="0" smtClean="0"/>
              <a:t>2.Baseline ECG.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3.Urine for drug screening.</a:t>
            </a:r>
          </a:p>
          <a:p>
            <a:pPr marL="0" indent="0">
              <a:buNone/>
            </a:pPr>
            <a:r>
              <a:rPr lang="en-US" b="1" u="sng" dirty="0" smtClean="0">
                <a:solidFill>
                  <a:srgbClr val="00B050"/>
                </a:solidFill>
              </a:rPr>
              <a:t>NB:-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Some anti psychotics may increase glucose and lipid levels.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Blood tests and ECG should be done </a:t>
            </a:r>
            <a:r>
              <a:rPr lang="en-US" dirty="0" err="1" smtClean="0"/>
              <a:t>atleast</a:t>
            </a:r>
            <a:r>
              <a:rPr lang="en-US" dirty="0" smtClean="0"/>
              <a:t> once every 1-2 years.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1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MANAGEMENT OF SCHIZOPHRENIA.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5334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b="1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</a:rPr>
              <a:t>TREATMENT GOALS:-</a:t>
            </a:r>
          </a:p>
          <a:p>
            <a:pPr marL="0" indent="0">
              <a:buNone/>
            </a:pPr>
            <a:r>
              <a:rPr lang="en-US" dirty="0" smtClean="0"/>
              <a:t>Successful schizophrenia treatment should have following goals:-</a:t>
            </a:r>
          </a:p>
          <a:p>
            <a:pPr marL="0" indent="0">
              <a:buNone/>
            </a:pPr>
            <a:r>
              <a:rPr lang="en-US" dirty="0" smtClean="0"/>
              <a:t>1.Should aim at building </a:t>
            </a:r>
            <a:r>
              <a:rPr lang="en-US" b="1" dirty="0" smtClean="0"/>
              <a:t>functional capacity on the client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2.Aim at improving the </a:t>
            </a:r>
            <a:r>
              <a:rPr lang="en-US" b="1" dirty="0" smtClean="0"/>
              <a:t>quality of life of the patient.</a:t>
            </a:r>
          </a:p>
          <a:p>
            <a:pPr marL="0" indent="0">
              <a:buNone/>
            </a:pPr>
            <a:r>
              <a:rPr lang="en-US" dirty="0" smtClean="0"/>
              <a:t>3.Lead to </a:t>
            </a:r>
            <a:r>
              <a:rPr lang="en-US" b="1" dirty="0" smtClean="0"/>
              <a:t>subjective well being of the patient.</a:t>
            </a:r>
          </a:p>
          <a:p>
            <a:pPr marL="0" indent="0">
              <a:buNone/>
            </a:pPr>
            <a:r>
              <a:rPr lang="en-US" dirty="0" smtClean="0"/>
              <a:t>4.Aim at building an </a:t>
            </a:r>
            <a:r>
              <a:rPr lang="en-US" b="1" dirty="0" smtClean="0"/>
              <a:t>alliance between therapist and patient for purposes of  increasing adherence.</a:t>
            </a:r>
          </a:p>
          <a:p>
            <a:pPr marL="0" indent="0">
              <a:buNone/>
            </a:pPr>
            <a:r>
              <a:rPr lang="en-US" dirty="0" smtClean="0"/>
              <a:t>5.Should have tolerability-patient should be able to </a:t>
            </a:r>
            <a:r>
              <a:rPr lang="en-US" b="1" dirty="0" smtClean="0"/>
              <a:t>tolerate the treatment regimen.</a:t>
            </a:r>
          </a:p>
          <a:p>
            <a:pPr marL="0" indent="0">
              <a:buNone/>
            </a:pPr>
            <a:r>
              <a:rPr lang="en-US" dirty="0" smtClean="0"/>
              <a:t>6. Should have efficacy:-The ability to produce the </a:t>
            </a:r>
            <a:r>
              <a:rPr lang="en-US" b="1" dirty="0" smtClean="0"/>
              <a:t>desired or intended results.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7554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solidFill>
                  <a:srgbClr val="C00000"/>
                </a:solidFill>
              </a:rPr>
              <a:t>OVERVIEW OF ANTI PSYCHOTIC DRUGS.</a:t>
            </a:r>
            <a:br>
              <a:rPr lang="en-US" b="1" dirty="0" smtClean="0">
                <a:solidFill>
                  <a:srgbClr val="C0000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>
                <a:solidFill>
                  <a:srgbClr val="00B050"/>
                </a:solidFill>
              </a:rPr>
              <a:t>Antipsychotic </a:t>
            </a:r>
            <a:r>
              <a:rPr lang="en-US" b="1" u="sng" dirty="0">
                <a:solidFill>
                  <a:srgbClr val="00B050"/>
                </a:solidFill>
              </a:rPr>
              <a:t>drugs.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Drugs used in treatment of psychotic disorders and psychotic symptoms.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Also known as major tranquilizers,neuroleptics,anti-schizophrenics drugs and D2 –receptor blockers.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Classified into :-</a:t>
            </a:r>
          </a:p>
          <a:p>
            <a:pPr marL="0" indent="0">
              <a:buNone/>
            </a:pPr>
            <a:r>
              <a:rPr lang="en-US" dirty="0"/>
              <a:t>i):-1</a:t>
            </a:r>
            <a:r>
              <a:rPr lang="en-US" baseline="30000" dirty="0"/>
              <a:t>st</a:t>
            </a:r>
            <a:r>
              <a:rPr lang="en-US" dirty="0"/>
              <a:t> generation antipsychotics aka typical/conventional antipsychotics.</a:t>
            </a:r>
          </a:p>
          <a:p>
            <a:pPr marL="0" indent="0">
              <a:buNone/>
            </a:pPr>
            <a:r>
              <a:rPr lang="en-US" dirty="0"/>
              <a:t>ii):-2</a:t>
            </a:r>
            <a:r>
              <a:rPr lang="en-US" baseline="30000" dirty="0"/>
              <a:t>nd</a:t>
            </a:r>
            <a:r>
              <a:rPr lang="en-US" dirty="0"/>
              <a:t> generation antipsychotics aka Atypical anti psychotics.</a:t>
            </a:r>
          </a:p>
        </p:txBody>
      </p:sp>
    </p:spTree>
    <p:extLst>
      <p:ext uri="{BB962C8B-B14F-4D97-AF65-F5344CB8AC3E}">
        <p14:creationId xmlns:p14="http://schemas.microsoft.com/office/powerpoint/2010/main" val="104083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1</a:t>
            </a:r>
            <a:r>
              <a:rPr lang="en-US" b="1" baseline="30000" dirty="0" smtClean="0">
                <a:solidFill>
                  <a:srgbClr val="C00000"/>
                </a:solidFill>
              </a:rPr>
              <a:t>st</a:t>
            </a:r>
            <a:r>
              <a:rPr lang="en-US" b="1" dirty="0" smtClean="0">
                <a:solidFill>
                  <a:srgbClr val="C00000"/>
                </a:solidFill>
              </a:rPr>
              <a:t> generation antipsychotics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Also known as typical/conventional antipsychotics.</a:t>
            </a:r>
          </a:p>
          <a:p>
            <a:pPr marL="0" indent="0">
              <a:buNone/>
            </a:pPr>
            <a:r>
              <a:rPr lang="en-US" dirty="0" smtClean="0"/>
              <a:t>Examples :-</a:t>
            </a:r>
          </a:p>
          <a:p>
            <a:pPr marL="0" indent="0">
              <a:buNone/>
            </a:pPr>
            <a:r>
              <a:rPr lang="en-US" dirty="0" smtClean="0"/>
              <a:t>                     - chlorpromazine(CPZ)</a:t>
            </a:r>
          </a:p>
          <a:p>
            <a:pPr marL="0" indent="0">
              <a:buNone/>
            </a:pPr>
            <a:r>
              <a:rPr lang="en-US" dirty="0" smtClean="0"/>
              <a:t>                      -Haloperidol</a:t>
            </a:r>
          </a:p>
          <a:p>
            <a:pPr marL="0" indent="0">
              <a:buNone/>
            </a:pPr>
            <a:r>
              <a:rPr lang="en-US" dirty="0" smtClean="0"/>
              <a:t>                      -</a:t>
            </a:r>
            <a:r>
              <a:rPr lang="en-US" dirty="0" err="1" smtClean="0"/>
              <a:t>Fluphenazine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-Thioridazine/</a:t>
            </a:r>
            <a:r>
              <a:rPr lang="en-US" dirty="0" err="1" smtClean="0"/>
              <a:t>Melaril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-Flupentixol</a:t>
            </a:r>
          </a:p>
          <a:p>
            <a:pPr marL="0" indent="0">
              <a:buNone/>
            </a:pPr>
            <a:r>
              <a:rPr lang="en-US" dirty="0" smtClean="0"/>
              <a:t>                        -</a:t>
            </a:r>
            <a:r>
              <a:rPr lang="en-US" dirty="0" err="1" smtClean="0"/>
              <a:t>Stelazine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816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2</a:t>
            </a:r>
            <a:r>
              <a:rPr lang="en-US" b="1" baseline="30000" dirty="0" smtClean="0">
                <a:solidFill>
                  <a:srgbClr val="C00000"/>
                </a:solidFill>
              </a:rPr>
              <a:t>nd</a:t>
            </a:r>
            <a:r>
              <a:rPr lang="en-US" b="1" dirty="0" smtClean="0">
                <a:solidFill>
                  <a:srgbClr val="C00000"/>
                </a:solidFill>
              </a:rPr>
              <a:t> generation antipsychotics.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Also known as  Atypical anti psychotics.</a:t>
            </a:r>
          </a:p>
          <a:p>
            <a:pPr marL="0" indent="0">
              <a:buNone/>
            </a:pPr>
            <a:r>
              <a:rPr lang="en-US" dirty="0" smtClean="0"/>
              <a:t>Examples:- (CLOQZAC-acronym)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-Clozapine</a:t>
            </a:r>
          </a:p>
          <a:p>
            <a:pPr marL="0" indent="0">
              <a:buNone/>
            </a:pPr>
            <a:r>
              <a:rPr lang="en-US" dirty="0" smtClean="0"/>
              <a:t>                    -Olanzapine</a:t>
            </a:r>
          </a:p>
          <a:p>
            <a:pPr marL="0" indent="0">
              <a:buNone/>
            </a:pPr>
            <a:r>
              <a:rPr lang="en-US" dirty="0" smtClean="0"/>
              <a:t>                     -</a:t>
            </a:r>
            <a:r>
              <a:rPr lang="en-US" dirty="0" err="1" smtClean="0"/>
              <a:t>Lozepine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-</a:t>
            </a:r>
            <a:r>
              <a:rPr lang="en-US" dirty="0" err="1" smtClean="0"/>
              <a:t>Quitipine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-</a:t>
            </a:r>
            <a:r>
              <a:rPr lang="en-US" dirty="0" err="1" smtClean="0"/>
              <a:t>Ziprasidone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- Risperidone</a:t>
            </a:r>
          </a:p>
          <a:p>
            <a:pPr marL="0" indent="0">
              <a:buNone/>
            </a:pPr>
            <a:r>
              <a:rPr lang="en-US" dirty="0" smtClean="0"/>
              <a:t>                       -</a:t>
            </a:r>
            <a:r>
              <a:rPr lang="en-US" dirty="0" err="1" smtClean="0"/>
              <a:t>Aripiprazole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2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Rationale for using anti psychotics in schizophrenia.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Blip>
                <a:blip r:embed="rId2"/>
              </a:buBlip>
            </a:pPr>
            <a:r>
              <a:rPr lang="en-US" dirty="0" smtClean="0"/>
              <a:t>According to dopamine theory of schizophrenia, schizophrenia is due to excess dopamine in the brain.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So by decreasing the activity of dopamine, schizophrenia can be treated.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Anti psychotics act by blocking post synaptic dopamine receptors in brain, thus preventing dopamine from exerting its action.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44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  <a:solidFill>
            <a:schemeClr val="tx2"/>
          </a:solidFill>
        </p:spPr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Standard medications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0"/>
            <a:ext cx="8229600" cy="5334000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The standard antipsychotic drugs target the more flagrant symptoms of schizophrenia (hallucinations, delusions, suspiciousness, associative looseness). 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These drugs can:-</a:t>
            </a:r>
          </a:p>
          <a:p>
            <a:pPr lvl="1"/>
            <a:r>
              <a:rPr lang="en-US" dirty="0" smtClean="0"/>
              <a:t>Reduce disruptive and violent behaviour</a:t>
            </a:r>
          </a:p>
          <a:p>
            <a:pPr lvl="1"/>
            <a:r>
              <a:rPr lang="en-US" dirty="0" smtClean="0"/>
              <a:t>Increase activity, speech and sociability in withdrawn clients</a:t>
            </a:r>
          </a:p>
          <a:p>
            <a:pPr lvl="1"/>
            <a:r>
              <a:rPr lang="en-US" dirty="0" smtClean="0"/>
              <a:t>Improve self-care</a:t>
            </a:r>
          </a:p>
          <a:p>
            <a:pPr lvl="1"/>
            <a:r>
              <a:rPr lang="en-US" dirty="0" smtClean="0"/>
              <a:t>Improve sleep patterns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2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Conti.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Reduce the disturbing quality of hallucinations and delusions </a:t>
            </a:r>
          </a:p>
          <a:p>
            <a:pPr lvl="1"/>
            <a:r>
              <a:rPr lang="en-US" dirty="0" smtClean="0"/>
              <a:t>Improve thought processes</a:t>
            </a:r>
          </a:p>
          <a:p>
            <a:pPr lvl="1"/>
            <a:r>
              <a:rPr lang="en-US" dirty="0" smtClean="0"/>
              <a:t>Decrease resistance to supportive therapy</a:t>
            </a:r>
          </a:p>
          <a:p>
            <a:pPr lvl="1"/>
            <a:r>
              <a:rPr lang="en-US" dirty="0" smtClean="0"/>
              <a:t>Reduce rate of relapse</a:t>
            </a:r>
          </a:p>
          <a:p>
            <a:pPr lvl="1"/>
            <a:r>
              <a:rPr lang="en-US" dirty="0" smtClean="0"/>
              <a:t>Decrease intensity of paranoid reactions </a:t>
            </a:r>
          </a:p>
          <a:p>
            <a:pPr marL="176213" lvl="1" indent="0">
              <a:buNone/>
            </a:pPr>
            <a:r>
              <a:rPr lang="en-US" dirty="0" smtClean="0"/>
              <a:t>Antipsychotic agents are usually effective 3-6 </a:t>
            </a:r>
            <a:r>
              <a:rPr lang="en-US" dirty="0" err="1" smtClean="0"/>
              <a:t>wks</a:t>
            </a:r>
            <a:r>
              <a:rPr lang="en-US" dirty="0" smtClean="0"/>
              <a:t> after the regimen is started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136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PROGNOSIS.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u="sng" dirty="0">
                <a:solidFill>
                  <a:srgbClr val="00B050"/>
                </a:solidFill>
              </a:rPr>
              <a:t>Good prognostic factors:-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Female gender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Acute onset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Clear precipitating factors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Prominent affective symptoms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Early initiation of treatment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Good occupational adjustments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Stable family factors.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0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Prognosis.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b="1" u="sng" dirty="0">
                <a:solidFill>
                  <a:srgbClr val="00B050"/>
                </a:solidFill>
              </a:rPr>
              <a:t>Rule of thirds:-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1/3 will recover completely.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1/3 will improve over time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1/3 will NOT show any improvement.</a:t>
            </a:r>
          </a:p>
          <a:p>
            <a:pPr marL="0" indent="0">
              <a:buNone/>
            </a:pPr>
            <a:r>
              <a:rPr lang="en-US" sz="3600" b="1" u="sng" dirty="0">
                <a:solidFill>
                  <a:srgbClr val="00B050"/>
                </a:solidFill>
              </a:rPr>
              <a:t>Rule of quarters:-</a:t>
            </a:r>
          </a:p>
          <a:p>
            <a:pPr>
              <a:buBlip>
                <a:blip r:embed="rId3"/>
              </a:buBlip>
            </a:pPr>
            <a:r>
              <a:rPr lang="en-US" dirty="0" smtClean="0"/>
              <a:t>About 25% recover completely and do not need long term treatment.</a:t>
            </a:r>
          </a:p>
          <a:p>
            <a:pPr>
              <a:buBlip>
                <a:blip r:embed="rId3"/>
              </a:buBlip>
            </a:pPr>
            <a:r>
              <a:rPr lang="en-US" dirty="0" smtClean="0"/>
              <a:t>About 25% show good improvement with treatment and are able to function independently.</a:t>
            </a:r>
          </a:p>
          <a:p>
            <a:pPr>
              <a:buBlip>
                <a:blip r:embed="rId3"/>
              </a:buBlip>
            </a:pPr>
            <a:r>
              <a:rPr lang="en-US" dirty="0" smtClean="0"/>
              <a:t>About 25% show good improvement with treatment, but also need a lot of support.</a:t>
            </a:r>
          </a:p>
          <a:p>
            <a:pPr>
              <a:buBlip>
                <a:blip r:embed="rId3"/>
              </a:buBlip>
            </a:pPr>
            <a:r>
              <a:rPr lang="en-US" dirty="0" smtClean="0"/>
              <a:t>Remaining 25% do not show improvement.</a:t>
            </a:r>
          </a:p>
          <a:p>
            <a:pPr marL="0" indent="0">
              <a:buNone/>
            </a:pPr>
            <a:endParaRPr lang="en-US" b="1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561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  <a:solidFill>
            <a:srgbClr val="00B0F0"/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Prognosis.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14400"/>
            <a:ext cx="8229600" cy="563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>
                <a:solidFill>
                  <a:srgbClr val="00B050"/>
                </a:solidFill>
              </a:rPr>
              <a:t>Reasons for early death.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Suicide –about10% commit suicide.</a:t>
            </a:r>
          </a:p>
          <a:p>
            <a:pPr marL="0" indent="0">
              <a:buNone/>
            </a:pPr>
            <a:r>
              <a:rPr lang="en-US" dirty="0" smtClean="0"/>
              <a:t>Mostly male patients in the early course of treatment.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Lifestyle factors:-e.g. smoking, lack of exercises.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Effect of acute symptoms:-Patient may not cooperate with treatment, accidents, violence etc.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Chronic lack of motivation:-patient does not seek help for physical problems.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Discrimination:-By medical professionals (may not be deliberate)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Side effects of medication:-e.g. diabetis,weight gain, raised lipids etc.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112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/>
          <a:lstStyle/>
          <a:p>
            <a:r>
              <a:rPr lang="en-US" b="1" dirty="0" smtClean="0"/>
              <a:t>OTHER PSYCHOTIC DISORDERS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u="sng" dirty="0" smtClean="0">
                <a:solidFill>
                  <a:srgbClr val="92D050"/>
                </a:solidFill>
              </a:rPr>
              <a:t>1):-Schizophreniform disorder</a:t>
            </a:r>
          </a:p>
          <a:p>
            <a:pPr marL="0" indent="0">
              <a:buNone/>
            </a:pPr>
            <a:r>
              <a:rPr lang="en-US" dirty="0" smtClean="0"/>
              <a:t>The essential features of this disorder are exactly those of schizophrenia except that: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The total duration of the illness is </a:t>
            </a:r>
            <a:r>
              <a:rPr lang="en-US" b="1" dirty="0" smtClean="0"/>
              <a:t>at least 1month but less than 6 months.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Impaired social or occupational functioning during some part of the illness is not apparent (although it may appear).</a:t>
            </a:r>
          </a:p>
          <a:p>
            <a:pPr marL="514350" indent="-514350">
              <a:buNone/>
            </a:pPr>
            <a:r>
              <a:rPr lang="en-US" dirty="0" smtClean="0"/>
              <a:t>This disorder may or may not have a good prognosis.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81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u="sng" dirty="0" smtClean="0">
                <a:solidFill>
                  <a:srgbClr val="92D050"/>
                </a:solidFill>
              </a:rPr>
              <a:t>2):-Brief psychotic disorder</a:t>
            </a:r>
            <a:endParaRPr lang="en-US" u="sng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itchFamily="49" charset="0"/>
              <a:buChar char="o"/>
            </a:pPr>
            <a:r>
              <a:rPr lang="en-US" dirty="0" smtClean="0"/>
              <a:t>This is a disorder in which there is a </a:t>
            </a:r>
            <a:r>
              <a:rPr lang="en-US" b="1" dirty="0" smtClean="0"/>
              <a:t>sudden onset of psychotic symptoms </a:t>
            </a:r>
            <a:r>
              <a:rPr lang="en-US" dirty="0" smtClean="0"/>
              <a:t>(delusions, hallucinations, disorganized speech) or grossly disorganized or catatonic behaviour. 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The episode lasts at least </a:t>
            </a:r>
            <a:r>
              <a:rPr lang="en-US" b="1" dirty="0" smtClean="0"/>
              <a:t>1day but less than 1 month, and then the individual returns to his or her premorbid level of functioning. 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Brief psychotic disorders often follow </a:t>
            </a:r>
            <a:r>
              <a:rPr lang="en-US" b="1" dirty="0" smtClean="0"/>
              <a:t>extremely stressful life events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70189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b="1" u="sng" dirty="0" smtClean="0">
                <a:solidFill>
                  <a:srgbClr val="92D050"/>
                </a:solidFill>
              </a:rPr>
              <a:t>3):-Schizoaffective disorder</a:t>
            </a:r>
            <a:endParaRPr lang="en-US" u="sng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 smtClean="0"/>
              <a:t>This disorder is characterized by an uninterrupted  period of illness during which time there is a </a:t>
            </a:r>
            <a:r>
              <a:rPr lang="en-US" b="1" dirty="0" smtClean="0"/>
              <a:t>major depressive, manic or mixed episode</a:t>
            </a:r>
            <a:r>
              <a:rPr lang="en-US" dirty="0" smtClean="0"/>
              <a:t>, 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            </a:t>
            </a:r>
            <a:r>
              <a:rPr lang="en-US" b="1" dirty="0" smtClean="0">
                <a:solidFill>
                  <a:srgbClr val="00B0F0"/>
                </a:solidFill>
              </a:rPr>
              <a:t>concurrent with 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symptoms that meet the criteria for schizophrenia. 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The symptoms </a:t>
            </a:r>
            <a:r>
              <a:rPr lang="en-US" b="1" dirty="0" smtClean="0"/>
              <a:t>must not</a:t>
            </a:r>
            <a:r>
              <a:rPr lang="en-US" dirty="0" smtClean="0"/>
              <a:t> be due to any substance use of abuse or general medical condition.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97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b="1" u="sng" dirty="0" smtClean="0">
                <a:solidFill>
                  <a:srgbClr val="92D050"/>
                </a:solidFill>
              </a:rPr>
              <a:t>4):-Delusional disorder</a:t>
            </a:r>
            <a:endParaRPr lang="en-US" u="sng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Blip>
                <a:blip r:embed="rId2"/>
              </a:buBlip>
            </a:pPr>
            <a:r>
              <a:rPr lang="en-US" dirty="0" smtClean="0"/>
              <a:t>This disorder involves non-bizarre delusions (situations that occur in real life, such as:-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 </a:t>
            </a:r>
            <a:r>
              <a:rPr lang="en-US" dirty="0"/>
              <a:t>B</a:t>
            </a:r>
            <a:r>
              <a:rPr lang="en-US" dirty="0" smtClean="0"/>
              <a:t>eing followed, interfered with etc.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Infected</a:t>
            </a:r>
            <a:r>
              <a:rPr lang="en-US" dirty="0"/>
              <a:t> </a:t>
            </a:r>
            <a:r>
              <a:rPr lang="en-US" dirty="0" smtClean="0"/>
              <a:t>by a spouse or fear to engage in intimate relations.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loved at a distance, by </a:t>
            </a:r>
            <a:r>
              <a:rPr lang="en-US" smtClean="0"/>
              <a:t>important people</a:t>
            </a:r>
          </a:p>
          <a:p>
            <a:pPr>
              <a:buFont typeface="Wingdings" pitchFamily="2" charset="2"/>
              <a:buChar char="ü"/>
            </a:pPr>
            <a:r>
              <a:rPr lang="en-US" smtClean="0"/>
              <a:t> </a:t>
            </a:r>
            <a:r>
              <a:rPr lang="en-US" dirty="0" smtClean="0"/>
              <a:t>deceived by a spouse, or having a disease)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Duration:-</a:t>
            </a:r>
            <a:r>
              <a:rPr lang="en-US" dirty="0"/>
              <a:t> </a:t>
            </a:r>
            <a:r>
              <a:rPr lang="en-US" dirty="0" smtClean="0"/>
              <a:t>at least 1month’s duration. 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The person's ability to function is </a:t>
            </a:r>
            <a:r>
              <a:rPr lang="en-US" b="1" dirty="0" smtClean="0"/>
              <a:t>not markedly impaired</a:t>
            </a:r>
            <a:r>
              <a:rPr lang="en-US" dirty="0" smtClean="0"/>
              <a:t>, nor is the person’s behaviour obviously odd or bizarre.</a:t>
            </a:r>
          </a:p>
          <a:p>
            <a:pPr>
              <a:buBlip>
                <a:blip r:embed="rId2"/>
              </a:buBlip>
            </a:pPr>
            <a:r>
              <a:rPr lang="en-US" dirty="0" smtClean="0"/>
              <a:t>Common types of delusions seen in this disorder are delusions of grandeur, persecution, or jealousy, or somatic or mixed delusions.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129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92D050"/>
                </a:solidFill>
              </a:rPr>
              <a:t>5):-Induced or secondary psychosis </a:t>
            </a:r>
            <a:endParaRPr lang="en-US" u="sng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914144"/>
            <a:ext cx="8229600" cy="4715256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 smtClean="0"/>
              <a:t>Psychosis may be induced by substances (drugs of abuse, alcohol, medications, or toxin exposure) or caused by the physiological consequences of a general medical condition (delirium, neurological conditions, metabolic conditions, hepatic or renal diseases, and many more).</a:t>
            </a:r>
          </a:p>
          <a:p>
            <a:pPr>
              <a:buBlip>
                <a:blip r:embed="rId2"/>
              </a:buBlip>
            </a:pPr>
            <a:r>
              <a:rPr lang="en-US" b="1" dirty="0" smtClean="0"/>
              <a:t>Medical conditions and substances of abuse must always be ruled out before a primary diagnosis of schizophrenia or other psychotic disorder can be made.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41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