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389"/>
  </p:notesMasterIdLst>
  <p:sldIdLst>
    <p:sldId id="256" r:id="rId4"/>
    <p:sldId id="258" r:id="rId5"/>
    <p:sldId id="260" r:id="rId6"/>
    <p:sldId id="257" r:id="rId7"/>
    <p:sldId id="25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417"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9" r:id="rId35"/>
    <p:sldId id="290" r:id="rId36"/>
    <p:sldId id="291"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21" r:id="rId64"/>
    <p:sldId id="322" r:id="rId65"/>
    <p:sldId id="323" r:id="rId66"/>
    <p:sldId id="497" r:id="rId67"/>
    <p:sldId id="498" r:id="rId68"/>
    <p:sldId id="324" r:id="rId69"/>
    <p:sldId id="499"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83" r:id="rId93"/>
    <p:sldId id="500" r:id="rId94"/>
    <p:sldId id="347" r:id="rId95"/>
    <p:sldId id="348" r:id="rId96"/>
    <p:sldId id="349" r:id="rId97"/>
    <p:sldId id="350" r:id="rId98"/>
    <p:sldId id="351" r:id="rId99"/>
    <p:sldId id="352" r:id="rId100"/>
    <p:sldId id="353" r:id="rId101"/>
    <p:sldId id="354" r:id="rId102"/>
    <p:sldId id="356" r:id="rId103"/>
    <p:sldId id="418" r:id="rId104"/>
    <p:sldId id="384" r:id="rId105"/>
    <p:sldId id="355" r:id="rId106"/>
    <p:sldId id="385" r:id="rId107"/>
    <p:sldId id="357" r:id="rId108"/>
    <p:sldId id="358" r:id="rId109"/>
    <p:sldId id="421" r:id="rId110"/>
    <p:sldId id="359" r:id="rId111"/>
    <p:sldId id="360" r:id="rId112"/>
    <p:sldId id="361" r:id="rId113"/>
    <p:sldId id="419" r:id="rId114"/>
    <p:sldId id="362" r:id="rId115"/>
    <p:sldId id="387" r:id="rId116"/>
    <p:sldId id="364" r:id="rId117"/>
    <p:sldId id="365" r:id="rId118"/>
    <p:sldId id="366" r:id="rId119"/>
    <p:sldId id="422" r:id="rId120"/>
    <p:sldId id="420" r:id="rId121"/>
    <p:sldId id="367" r:id="rId122"/>
    <p:sldId id="368" r:id="rId123"/>
    <p:sldId id="369" r:id="rId124"/>
    <p:sldId id="370" r:id="rId125"/>
    <p:sldId id="371" r:id="rId126"/>
    <p:sldId id="372" r:id="rId127"/>
    <p:sldId id="373" r:id="rId128"/>
    <p:sldId id="374" r:id="rId129"/>
    <p:sldId id="375" r:id="rId130"/>
    <p:sldId id="376" r:id="rId131"/>
    <p:sldId id="377" r:id="rId132"/>
    <p:sldId id="378" r:id="rId133"/>
    <p:sldId id="379" r:id="rId134"/>
    <p:sldId id="502" r:id="rId135"/>
    <p:sldId id="380" r:id="rId136"/>
    <p:sldId id="381" r:id="rId137"/>
    <p:sldId id="382" r:id="rId138"/>
    <p:sldId id="388" r:id="rId139"/>
    <p:sldId id="503" r:id="rId140"/>
    <p:sldId id="389" r:id="rId141"/>
    <p:sldId id="390" r:id="rId142"/>
    <p:sldId id="504" r:id="rId143"/>
    <p:sldId id="391" r:id="rId144"/>
    <p:sldId id="392" r:id="rId145"/>
    <p:sldId id="505" r:id="rId146"/>
    <p:sldId id="393" r:id="rId147"/>
    <p:sldId id="394" r:id="rId148"/>
    <p:sldId id="395" r:id="rId149"/>
    <p:sldId id="396" r:id="rId150"/>
    <p:sldId id="397" r:id="rId151"/>
    <p:sldId id="398" r:id="rId152"/>
    <p:sldId id="399" r:id="rId153"/>
    <p:sldId id="400" r:id="rId154"/>
    <p:sldId id="401" r:id="rId155"/>
    <p:sldId id="402" r:id="rId156"/>
    <p:sldId id="403" r:id="rId157"/>
    <p:sldId id="404" r:id="rId158"/>
    <p:sldId id="405" r:id="rId159"/>
    <p:sldId id="406" r:id="rId160"/>
    <p:sldId id="407" r:id="rId161"/>
    <p:sldId id="408" r:id="rId162"/>
    <p:sldId id="409" r:id="rId163"/>
    <p:sldId id="410" r:id="rId164"/>
    <p:sldId id="411" r:id="rId165"/>
    <p:sldId id="412" r:id="rId166"/>
    <p:sldId id="413" r:id="rId167"/>
    <p:sldId id="414" r:id="rId168"/>
    <p:sldId id="415" r:id="rId169"/>
    <p:sldId id="430" r:id="rId170"/>
    <p:sldId id="416" r:id="rId171"/>
    <p:sldId id="423" r:id="rId172"/>
    <p:sldId id="424" r:id="rId173"/>
    <p:sldId id="425" r:id="rId174"/>
    <p:sldId id="426" r:id="rId175"/>
    <p:sldId id="427" r:id="rId176"/>
    <p:sldId id="428" r:id="rId177"/>
    <p:sldId id="429"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9" r:id="rId196"/>
    <p:sldId id="450" r:id="rId197"/>
    <p:sldId id="451" r:id="rId198"/>
    <p:sldId id="452" r:id="rId199"/>
    <p:sldId id="456" r:id="rId200"/>
    <p:sldId id="453" r:id="rId201"/>
    <p:sldId id="454" r:id="rId202"/>
    <p:sldId id="455" r:id="rId203"/>
    <p:sldId id="457" r:id="rId204"/>
    <p:sldId id="651"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486" r:id="rId234"/>
    <p:sldId id="487" r:id="rId235"/>
    <p:sldId id="488" r:id="rId236"/>
    <p:sldId id="489" r:id="rId237"/>
    <p:sldId id="490" r:id="rId238"/>
    <p:sldId id="491" r:id="rId239"/>
    <p:sldId id="492" r:id="rId240"/>
    <p:sldId id="493" r:id="rId241"/>
    <p:sldId id="494" r:id="rId242"/>
    <p:sldId id="506" r:id="rId243"/>
    <p:sldId id="507" r:id="rId244"/>
    <p:sldId id="508" r:id="rId245"/>
    <p:sldId id="509" r:id="rId246"/>
    <p:sldId id="510" r:id="rId247"/>
    <p:sldId id="511" r:id="rId248"/>
    <p:sldId id="512" r:id="rId249"/>
    <p:sldId id="513" r:id="rId250"/>
    <p:sldId id="514" r:id="rId251"/>
    <p:sldId id="515" r:id="rId252"/>
    <p:sldId id="516" r:id="rId253"/>
    <p:sldId id="517" r:id="rId254"/>
    <p:sldId id="518" r:id="rId255"/>
    <p:sldId id="519" r:id="rId256"/>
    <p:sldId id="520" r:id="rId257"/>
    <p:sldId id="521" r:id="rId258"/>
    <p:sldId id="522" r:id="rId259"/>
    <p:sldId id="523" r:id="rId260"/>
    <p:sldId id="524" r:id="rId261"/>
    <p:sldId id="525" r:id="rId262"/>
    <p:sldId id="526" r:id="rId263"/>
    <p:sldId id="527" r:id="rId264"/>
    <p:sldId id="528" r:id="rId265"/>
    <p:sldId id="529" r:id="rId266"/>
    <p:sldId id="530" r:id="rId267"/>
    <p:sldId id="531" r:id="rId268"/>
    <p:sldId id="532" r:id="rId269"/>
    <p:sldId id="533" r:id="rId270"/>
    <p:sldId id="534" r:id="rId271"/>
    <p:sldId id="535" r:id="rId272"/>
    <p:sldId id="536" r:id="rId273"/>
    <p:sldId id="537" r:id="rId274"/>
    <p:sldId id="538" r:id="rId275"/>
    <p:sldId id="539" r:id="rId276"/>
    <p:sldId id="540" r:id="rId277"/>
    <p:sldId id="541" r:id="rId278"/>
    <p:sldId id="542" r:id="rId279"/>
    <p:sldId id="543" r:id="rId280"/>
    <p:sldId id="544" r:id="rId281"/>
    <p:sldId id="545" r:id="rId282"/>
    <p:sldId id="546" r:id="rId283"/>
    <p:sldId id="547" r:id="rId284"/>
    <p:sldId id="548" r:id="rId285"/>
    <p:sldId id="549" r:id="rId286"/>
    <p:sldId id="550" r:id="rId287"/>
    <p:sldId id="551" r:id="rId288"/>
    <p:sldId id="552" r:id="rId289"/>
    <p:sldId id="553" r:id="rId290"/>
    <p:sldId id="554" r:id="rId291"/>
    <p:sldId id="555" r:id="rId292"/>
    <p:sldId id="556" r:id="rId293"/>
    <p:sldId id="557" r:id="rId294"/>
    <p:sldId id="558" r:id="rId295"/>
    <p:sldId id="559" r:id="rId296"/>
    <p:sldId id="560" r:id="rId297"/>
    <p:sldId id="561" r:id="rId298"/>
    <p:sldId id="562" r:id="rId299"/>
    <p:sldId id="563" r:id="rId300"/>
    <p:sldId id="564" r:id="rId301"/>
    <p:sldId id="565" r:id="rId302"/>
    <p:sldId id="566" r:id="rId303"/>
    <p:sldId id="567" r:id="rId304"/>
    <p:sldId id="568" r:id="rId305"/>
    <p:sldId id="569" r:id="rId306"/>
    <p:sldId id="570" r:id="rId307"/>
    <p:sldId id="571" r:id="rId308"/>
    <p:sldId id="572" r:id="rId309"/>
    <p:sldId id="573" r:id="rId310"/>
    <p:sldId id="574" r:id="rId311"/>
    <p:sldId id="575" r:id="rId312"/>
    <p:sldId id="576" r:id="rId313"/>
    <p:sldId id="577" r:id="rId314"/>
    <p:sldId id="578" r:id="rId315"/>
    <p:sldId id="579" r:id="rId316"/>
    <p:sldId id="580" r:id="rId317"/>
    <p:sldId id="581" r:id="rId318"/>
    <p:sldId id="582" r:id="rId319"/>
    <p:sldId id="583" r:id="rId320"/>
    <p:sldId id="584" r:id="rId321"/>
    <p:sldId id="585" r:id="rId322"/>
    <p:sldId id="586" r:id="rId323"/>
    <p:sldId id="587" r:id="rId324"/>
    <p:sldId id="588" r:id="rId325"/>
    <p:sldId id="589" r:id="rId326"/>
    <p:sldId id="590" r:id="rId327"/>
    <p:sldId id="591" r:id="rId328"/>
    <p:sldId id="592" r:id="rId329"/>
    <p:sldId id="593" r:id="rId330"/>
    <p:sldId id="594" r:id="rId331"/>
    <p:sldId id="595" r:id="rId332"/>
    <p:sldId id="596" r:id="rId333"/>
    <p:sldId id="597" r:id="rId334"/>
    <p:sldId id="598" r:id="rId335"/>
    <p:sldId id="599" r:id="rId336"/>
    <p:sldId id="600" r:id="rId337"/>
    <p:sldId id="601" r:id="rId338"/>
    <p:sldId id="602" r:id="rId339"/>
    <p:sldId id="603" r:id="rId340"/>
    <p:sldId id="604" r:id="rId341"/>
    <p:sldId id="605" r:id="rId342"/>
    <p:sldId id="606" r:id="rId343"/>
    <p:sldId id="607" r:id="rId344"/>
    <p:sldId id="608" r:id="rId345"/>
    <p:sldId id="609" r:id="rId346"/>
    <p:sldId id="610" r:id="rId347"/>
    <p:sldId id="611" r:id="rId348"/>
    <p:sldId id="612" r:id="rId349"/>
    <p:sldId id="613" r:id="rId350"/>
    <p:sldId id="614" r:id="rId351"/>
    <p:sldId id="615" r:id="rId352"/>
    <p:sldId id="616" r:id="rId353"/>
    <p:sldId id="617" r:id="rId354"/>
    <p:sldId id="618" r:id="rId355"/>
    <p:sldId id="619" r:id="rId356"/>
    <p:sldId id="620" r:id="rId357"/>
    <p:sldId id="621" r:id="rId358"/>
    <p:sldId id="622" r:id="rId359"/>
    <p:sldId id="623" r:id="rId360"/>
    <p:sldId id="624" r:id="rId361"/>
    <p:sldId id="625" r:id="rId362"/>
    <p:sldId id="626" r:id="rId363"/>
    <p:sldId id="627" r:id="rId364"/>
    <p:sldId id="628" r:id="rId365"/>
    <p:sldId id="629" r:id="rId366"/>
    <p:sldId id="630" r:id="rId367"/>
    <p:sldId id="631" r:id="rId368"/>
    <p:sldId id="632" r:id="rId369"/>
    <p:sldId id="633" r:id="rId370"/>
    <p:sldId id="634" r:id="rId371"/>
    <p:sldId id="635" r:id="rId372"/>
    <p:sldId id="636" r:id="rId373"/>
    <p:sldId id="637" r:id="rId374"/>
    <p:sldId id="638" r:id="rId375"/>
    <p:sldId id="639" r:id="rId376"/>
    <p:sldId id="640" r:id="rId377"/>
    <p:sldId id="641" r:id="rId378"/>
    <p:sldId id="642" r:id="rId379"/>
    <p:sldId id="643" r:id="rId380"/>
    <p:sldId id="644" r:id="rId381"/>
    <p:sldId id="645" r:id="rId382"/>
    <p:sldId id="646" r:id="rId383"/>
    <p:sldId id="647" r:id="rId384"/>
    <p:sldId id="648" r:id="rId385"/>
    <p:sldId id="649" r:id="rId386"/>
    <p:sldId id="650" r:id="rId387"/>
    <p:sldId id="496" r:id="rId3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506" y="-1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99" Type="http://schemas.openxmlformats.org/officeDocument/2006/relationships/slide" Target="slides/slide296.xml"/><Relationship Id="rId21" Type="http://schemas.openxmlformats.org/officeDocument/2006/relationships/slide" Target="slides/slide18.xml"/><Relationship Id="rId63" Type="http://schemas.openxmlformats.org/officeDocument/2006/relationships/slide" Target="slides/slide60.xml"/><Relationship Id="rId159" Type="http://schemas.openxmlformats.org/officeDocument/2006/relationships/slide" Target="slides/slide156.xml"/><Relationship Id="rId324" Type="http://schemas.openxmlformats.org/officeDocument/2006/relationships/slide" Target="slides/slide321.xml"/><Relationship Id="rId366" Type="http://schemas.openxmlformats.org/officeDocument/2006/relationships/slide" Target="slides/slide363.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slide" Target="slides/slide223.xml"/><Relationship Id="rId247" Type="http://schemas.openxmlformats.org/officeDocument/2006/relationships/slide" Target="slides/slide244.xml"/><Relationship Id="rId107" Type="http://schemas.openxmlformats.org/officeDocument/2006/relationships/slide" Target="slides/slide104.xml"/><Relationship Id="rId268" Type="http://schemas.openxmlformats.org/officeDocument/2006/relationships/slide" Target="slides/slide265.xml"/><Relationship Id="rId289" Type="http://schemas.openxmlformats.org/officeDocument/2006/relationships/slide" Target="slides/slide286.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314" Type="http://schemas.openxmlformats.org/officeDocument/2006/relationships/slide" Target="slides/slide311.xml"/><Relationship Id="rId335" Type="http://schemas.openxmlformats.org/officeDocument/2006/relationships/slide" Target="slides/slide332.xml"/><Relationship Id="rId356" Type="http://schemas.openxmlformats.org/officeDocument/2006/relationships/slide" Target="slides/slide353.xml"/><Relationship Id="rId377" Type="http://schemas.openxmlformats.org/officeDocument/2006/relationships/slide" Target="slides/slide374.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37" Type="http://schemas.openxmlformats.org/officeDocument/2006/relationships/slide" Target="slides/slide234.xml"/><Relationship Id="rId258" Type="http://schemas.openxmlformats.org/officeDocument/2006/relationships/slide" Target="slides/slide255.xml"/><Relationship Id="rId279" Type="http://schemas.openxmlformats.org/officeDocument/2006/relationships/slide" Target="slides/slide276.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290" Type="http://schemas.openxmlformats.org/officeDocument/2006/relationships/slide" Target="slides/slide287.xml"/><Relationship Id="rId304" Type="http://schemas.openxmlformats.org/officeDocument/2006/relationships/slide" Target="slides/slide301.xml"/><Relationship Id="rId325" Type="http://schemas.openxmlformats.org/officeDocument/2006/relationships/slide" Target="slides/slide322.xml"/><Relationship Id="rId346" Type="http://schemas.openxmlformats.org/officeDocument/2006/relationships/slide" Target="slides/slide343.xml"/><Relationship Id="rId367" Type="http://schemas.openxmlformats.org/officeDocument/2006/relationships/slide" Target="slides/slide364.xml"/><Relationship Id="rId388" Type="http://schemas.openxmlformats.org/officeDocument/2006/relationships/slide" Target="slides/slide385.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227" Type="http://schemas.openxmlformats.org/officeDocument/2006/relationships/slide" Target="slides/slide224.xml"/><Relationship Id="rId248" Type="http://schemas.openxmlformats.org/officeDocument/2006/relationships/slide" Target="slides/slide245.xml"/><Relationship Id="rId269" Type="http://schemas.openxmlformats.org/officeDocument/2006/relationships/slide" Target="slides/slide266.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280" Type="http://schemas.openxmlformats.org/officeDocument/2006/relationships/slide" Target="slides/slide277.xml"/><Relationship Id="rId315" Type="http://schemas.openxmlformats.org/officeDocument/2006/relationships/slide" Target="slides/slide312.xml"/><Relationship Id="rId336" Type="http://schemas.openxmlformats.org/officeDocument/2006/relationships/slide" Target="slides/slide333.xml"/><Relationship Id="rId357" Type="http://schemas.openxmlformats.org/officeDocument/2006/relationships/slide" Target="slides/slide354.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217" Type="http://schemas.openxmlformats.org/officeDocument/2006/relationships/slide" Target="slides/slide214.xml"/><Relationship Id="rId378" Type="http://schemas.openxmlformats.org/officeDocument/2006/relationships/slide" Target="slides/slide375.xml"/><Relationship Id="rId6" Type="http://schemas.openxmlformats.org/officeDocument/2006/relationships/slide" Target="slides/slide3.xml"/><Relationship Id="rId238" Type="http://schemas.openxmlformats.org/officeDocument/2006/relationships/slide" Target="slides/slide235.xml"/><Relationship Id="rId259" Type="http://schemas.openxmlformats.org/officeDocument/2006/relationships/slide" Target="slides/slide256.xml"/><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slide" Target="slides/slide267.xml"/><Relationship Id="rId291" Type="http://schemas.openxmlformats.org/officeDocument/2006/relationships/slide" Target="slides/slide288.xml"/><Relationship Id="rId305" Type="http://schemas.openxmlformats.org/officeDocument/2006/relationships/slide" Target="slides/slide302.xml"/><Relationship Id="rId326" Type="http://schemas.openxmlformats.org/officeDocument/2006/relationships/slide" Target="slides/slide323.xml"/><Relationship Id="rId347" Type="http://schemas.openxmlformats.org/officeDocument/2006/relationships/slide" Target="slides/slide344.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368" Type="http://schemas.openxmlformats.org/officeDocument/2006/relationships/slide" Target="slides/slide365.xml"/><Relationship Id="rId389" Type="http://schemas.openxmlformats.org/officeDocument/2006/relationships/notesMaster" Target="notesMasters/notesMaster1.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228" Type="http://schemas.openxmlformats.org/officeDocument/2006/relationships/slide" Target="slides/slide225.xml"/><Relationship Id="rId249" Type="http://schemas.openxmlformats.org/officeDocument/2006/relationships/slide" Target="slides/slide246.xml"/><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slide" Target="slides/slide257.xml"/><Relationship Id="rId281" Type="http://schemas.openxmlformats.org/officeDocument/2006/relationships/slide" Target="slides/slide278.xml"/><Relationship Id="rId316" Type="http://schemas.openxmlformats.org/officeDocument/2006/relationships/slide" Target="slides/slide313.xml"/><Relationship Id="rId337" Type="http://schemas.openxmlformats.org/officeDocument/2006/relationships/slide" Target="slides/slide334.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358" Type="http://schemas.openxmlformats.org/officeDocument/2006/relationships/slide" Target="slides/slide355.xml"/><Relationship Id="rId379" Type="http://schemas.openxmlformats.org/officeDocument/2006/relationships/slide" Target="slides/slide376.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18" Type="http://schemas.openxmlformats.org/officeDocument/2006/relationships/slide" Target="slides/slide215.xml"/><Relationship Id="rId239" Type="http://schemas.openxmlformats.org/officeDocument/2006/relationships/slide" Target="slides/slide236.xml"/><Relationship Id="rId390" Type="http://schemas.openxmlformats.org/officeDocument/2006/relationships/presProps" Target="presProps.xml"/><Relationship Id="rId250" Type="http://schemas.openxmlformats.org/officeDocument/2006/relationships/slide" Target="slides/slide247.xml"/><Relationship Id="rId271" Type="http://schemas.openxmlformats.org/officeDocument/2006/relationships/slide" Target="slides/slide268.xml"/><Relationship Id="rId292" Type="http://schemas.openxmlformats.org/officeDocument/2006/relationships/slide" Target="slides/slide289.xml"/><Relationship Id="rId306" Type="http://schemas.openxmlformats.org/officeDocument/2006/relationships/slide" Target="slides/slide303.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327" Type="http://schemas.openxmlformats.org/officeDocument/2006/relationships/slide" Target="slides/slide324.xml"/><Relationship Id="rId348" Type="http://schemas.openxmlformats.org/officeDocument/2006/relationships/slide" Target="slides/slide345.xml"/><Relationship Id="rId369" Type="http://schemas.openxmlformats.org/officeDocument/2006/relationships/slide" Target="slides/slide366.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slide" Target="slides/slide226.xml"/><Relationship Id="rId380" Type="http://schemas.openxmlformats.org/officeDocument/2006/relationships/slide" Target="slides/slide377.xml"/><Relationship Id="rId240" Type="http://schemas.openxmlformats.org/officeDocument/2006/relationships/slide" Target="slides/slide237.xml"/><Relationship Id="rId261" Type="http://schemas.openxmlformats.org/officeDocument/2006/relationships/slide" Target="slides/slide258.xml"/><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282" Type="http://schemas.openxmlformats.org/officeDocument/2006/relationships/slide" Target="slides/slide279.xml"/><Relationship Id="rId317" Type="http://schemas.openxmlformats.org/officeDocument/2006/relationships/slide" Target="slides/slide314.xml"/><Relationship Id="rId338" Type="http://schemas.openxmlformats.org/officeDocument/2006/relationships/slide" Target="slides/slide335.xml"/><Relationship Id="rId359" Type="http://schemas.openxmlformats.org/officeDocument/2006/relationships/slide" Target="slides/slide356.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370" Type="http://schemas.openxmlformats.org/officeDocument/2006/relationships/slide" Target="slides/slide367.xml"/><Relationship Id="rId391" Type="http://schemas.openxmlformats.org/officeDocument/2006/relationships/viewProps" Target="viewProps.xml"/><Relationship Id="rId230" Type="http://schemas.openxmlformats.org/officeDocument/2006/relationships/slide" Target="slides/slide227.xml"/><Relationship Id="rId251" Type="http://schemas.openxmlformats.org/officeDocument/2006/relationships/slide" Target="slides/slide248.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72" Type="http://schemas.openxmlformats.org/officeDocument/2006/relationships/slide" Target="slides/slide269.xml"/><Relationship Id="rId293" Type="http://schemas.openxmlformats.org/officeDocument/2006/relationships/slide" Target="slides/slide290.xml"/><Relationship Id="rId307" Type="http://schemas.openxmlformats.org/officeDocument/2006/relationships/slide" Target="slides/slide304.xml"/><Relationship Id="rId328" Type="http://schemas.openxmlformats.org/officeDocument/2006/relationships/slide" Target="slides/slide325.xml"/><Relationship Id="rId349" Type="http://schemas.openxmlformats.org/officeDocument/2006/relationships/slide" Target="slides/slide346.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95" Type="http://schemas.openxmlformats.org/officeDocument/2006/relationships/slide" Target="slides/slide192.xml"/><Relationship Id="rId209" Type="http://schemas.openxmlformats.org/officeDocument/2006/relationships/slide" Target="slides/slide206.xml"/><Relationship Id="rId360" Type="http://schemas.openxmlformats.org/officeDocument/2006/relationships/slide" Target="slides/slide357.xml"/><Relationship Id="rId381" Type="http://schemas.openxmlformats.org/officeDocument/2006/relationships/slide" Target="slides/slide378.xml"/><Relationship Id="rId220" Type="http://schemas.openxmlformats.org/officeDocument/2006/relationships/slide" Target="slides/slide217.xml"/><Relationship Id="rId241" Type="http://schemas.openxmlformats.org/officeDocument/2006/relationships/slide" Target="slides/slide23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262" Type="http://schemas.openxmlformats.org/officeDocument/2006/relationships/slide" Target="slides/slide259.xml"/><Relationship Id="rId283" Type="http://schemas.openxmlformats.org/officeDocument/2006/relationships/slide" Target="slides/slide280.xml"/><Relationship Id="rId318" Type="http://schemas.openxmlformats.org/officeDocument/2006/relationships/slide" Target="slides/slide315.xml"/><Relationship Id="rId339" Type="http://schemas.openxmlformats.org/officeDocument/2006/relationships/slide" Target="slides/slide336.xml"/><Relationship Id="rId78" Type="http://schemas.openxmlformats.org/officeDocument/2006/relationships/slide" Target="slides/slide75.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64" Type="http://schemas.openxmlformats.org/officeDocument/2006/relationships/slide" Target="slides/slide161.xml"/><Relationship Id="rId185" Type="http://schemas.openxmlformats.org/officeDocument/2006/relationships/slide" Target="slides/slide182.xml"/><Relationship Id="rId350" Type="http://schemas.openxmlformats.org/officeDocument/2006/relationships/slide" Target="slides/slide347.xml"/><Relationship Id="rId371" Type="http://schemas.openxmlformats.org/officeDocument/2006/relationships/slide" Target="slides/slide368.xml"/><Relationship Id="rId9" Type="http://schemas.openxmlformats.org/officeDocument/2006/relationships/slide" Target="slides/slide6.xml"/><Relationship Id="rId210" Type="http://schemas.openxmlformats.org/officeDocument/2006/relationships/slide" Target="slides/slide207.xml"/><Relationship Id="rId392" Type="http://schemas.openxmlformats.org/officeDocument/2006/relationships/theme" Target="theme/theme1.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slide" Target="slides/slide249.xml"/><Relationship Id="rId273" Type="http://schemas.openxmlformats.org/officeDocument/2006/relationships/slide" Target="slides/slide270.xml"/><Relationship Id="rId294" Type="http://schemas.openxmlformats.org/officeDocument/2006/relationships/slide" Target="slides/slide291.xml"/><Relationship Id="rId308" Type="http://schemas.openxmlformats.org/officeDocument/2006/relationships/slide" Target="slides/slide305.xml"/><Relationship Id="rId329" Type="http://schemas.openxmlformats.org/officeDocument/2006/relationships/slide" Target="slides/slide326.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340" Type="http://schemas.openxmlformats.org/officeDocument/2006/relationships/slide" Target="slides/slide337.xml"/><Relationship Id="rId361" Type="http://schemas.openxmlformats.org/officeDocument/2006/relationships/slide" Target="slides/slide358.xml"/><Relationship Id="rId196" Type="http://schemas.openxmlformats.org/officeDocument/2006/relationships/slide" Target="slides/slide193.xml"/><Relationship Id="rId200" Type="http://schemas.openxmlformats.org/officeDocument/2006/relationships/slide" Target="slides/slide197.xml"/><Relationship Id="rId382" Type="http://schemas.openxmlformats.org/officeDocument/2006/relationships/slide" Target="slides/slide379.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slide" Target="slides/slide239.xml"/><Relationship Id="rId263" Type="http://schemas.openxmlformats.org/officeDocument/2006/relationships/slide" Target="slides/slide260.xml"/><Relationship Id="rId284" Type="http://schemas.openxmlformats.org/officeDocument/2006/relationships/slide" Target="slides/slide281.xml"/><Relationship Id="rId319" Type="http://schemas.openxmlformats.org/officeDocument/2006/relationships/slide" Target="slides/slide316.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330" Type="http://schemas.openxmlformats.org/officeDocument/2006/relationships/slide" Target="slides/slide327.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351" Type="http://schemas.openxmlformats.org/officeDocument/2006/relationships/slide" Target="slides/slide348.xml"/><Relationship Id="rId372" Type="http://schemas.openxmlformats.org/officeDocument/2006/relationships/slide" Target="slides/slide369.xml"/><Relationship Id="rId393" Type="http://schemas.openxmlformats.org/officeDocument/2006/relationships/tableStyles" Target="tableStyles.xml"/><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slide" Target="slides/slide250.xml"/><Relationship Id="rId274" Type="http://schemas.openxmlformats.org/officeDocument/2006/relationships/slide" Target="slides/slide271.xml"/><Relationship Id="rId295" Type="http://schemas.openxmlformats.org/officeDocument/2006/relationships/slide" Target="slides/slide292.xml"/><Relationship Id="rId309" Type="http://schemas.openxmlformats.org/officeDocument/2006/relationships/slide" Target="slides/slide306.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320" Type="http://schemas.openxmlformats.org/officeDocument/2006/relationships/slide" Target="slides/slide317.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341" Type="http://schemas.openxmlformats.org/officeDocument/2006/relationships/slide" Target="slides/slide338.xml"/><Relationship Id="rId362" Type="http://schemas.openxmlformats.org/officeDocument/2006/relationships/slide" Target="slides/slide359.xml"/><Relationship Id="rId383" Type="http://schemas.openxmlformats.org/officeDocument/2006/relationships/slide" Target="slides/slide380.xml"/><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slide" Target="slides/slide240.xml"/><Relationship Id="rId264" Type="http://schemas.openxmlformats.org/officeDocument/2006/relationships/slide" Target="slides/slide261.xml"/><Relationship Id="rId285" Type="http://schemas.openxmlformats.org/officeDocument/2006/relationships/slide" Target="slides/slide28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310" Type="http://schemas.openxmlformats.org/officeDocument/2006/relationships/slide" Target="slides/slide307.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331" Type="http://schemas.openxmlformats.org/officeDocument/2006/relationships/slide" Target="slides/slide328.xml"/><Relationship Id="rId352" Type="http://schemas.openxmlformats.org/officeDocument/2006/relationships/slide" Target="slides/slide349.xml"/><Relationship Id="rId373" Type="http://schemas.openxmlformats.org/officeDocument/2006/relationships/slide" Target="slides/slide370.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slide" Target="slides/slide25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slide" Target="slides/slide272.xml"/><Relationship Id="rId296" Type="http://schemas.openxmlformats.org/officeDocument/2006/relationships/slide" Target="slides/slide293.xml"/><Relationship Id="rId300" Type="http://schemas.openxmlformats.org/officeDocument/2006/relationships/slide" Target="slides/slide297.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321" Type="http://schemas.openxmlformats.org/officeDocument/2006/relationships/slide" Target="slides/slide318.xml"/><Relationship Id="rId342" Type="http://schemas.openxmlformats.org/officeDocument/2006/relationships/slide" Target="slides/slide339.xml"/><Relationship Id="rId363" Type="http://schemas.openxmlformats.org/officeDocument/2006/relationships/slide" Target="slides/slide360.xml"/><Relationship Id="rId384" Type="http://schemas.openxmlformats.org/officeDocument/2006/relationships/slide" Target="slides/slide381.xml"/><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slide" Target="slides/slide241.xml"/><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slide" Target="slides/slide262.xml"/><Relationship Id="rId286" Type="http://schemas.openxmlformats.org/officeDocument/2006/relationships/slide" Target="slides/slide283.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311" Type="http://schemas.openxmlformats.org/officeDocument/2006/relationships/slide" Target="slides/slide308.xml"/><Relationship Id="rId332" Type="http://schemas.openxmlformats.org/officeDocument/2006/relationships/slide" Target="slides/slide329.xml"/><Relationship Id="rId353" Type="http://schemas.openxmlformats.org/officeDocument/2006/relationships/slide" Target="slides/slide350.xml"/><Relationship Id="rId374" Type="http://schemas.openxmlformats.org/officeDocument/2006/relationships/slide" Target="slides/slide371.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slide" Target="slides/slide252.xml"/><Relationship Id="rId276" Type="http://schemas.openxmlformats.org/officeDocument/2006/relationships/slide" Target="slides/slide273.xml"/><Relationship Id="rId297" Type="http://schemas.openxmlformats.org/officeDocument/2006/relationships/slide" Target="slides/slide294.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301" Type="http://schemas.openxmlformats.org/officeDocument/2006/relationships/slide" Target="slides/slide298.xml"/><Relationship Id="rId322" Type="http://schemas.openxmlformats.org/officeDocument/2006/relationships/slide" Target="slides/slide319.xml"/><Relationship Id="rId343" Type="http://schemas.openxmlformats.org/officeDocument/2006/relationships/slide" Target="slides/slide340.xml"/><Relationship Id="rId364" Type="http://schemas.openxmlformats.org/officeDocument/2006/relationships/slide" Target="slides/slide361.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385" Type="http://schemas.openxmlformats.org/officeDocument/2006/relationships/slide" Target="slides/slide382.xml"/><Relationship Id="rId19" Type="http://schemas.openxmlformats.org/officeDocument/2006/relationships/slide" Target="slides/slide16.xml"/><Relationship Id="rId224" Type="http://schemas.openxmlformats.org/officeDocument/2006/relationships/slide" Target="slides/slide221.xml"/><Relationship Id="rId245" Type="http://schemas.openxmlformats.org/officeDocument/2006/relationships/slide" Target="slides/slide242.xml"/><Relationship Id="rId266" Type="http://schemas.openxmlformats.org/officeDocument/2006/relationships/slide" Target="slides/slide263.xml"/><Relationship Id="rId287" Type="http://schemas.openxmlformats.org/officeDocument/2006/relationships/slide" Target="slides/slide284.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312" Type="http://schemas.openxmlformats.org/officeDocument/2006/relationships/slide" Target="slides/slide309.xml"/><Relationship Id="rId333" Type="http://schemas.openxmlformats.org/officeDocument/2006/relationships/slide" Target="slides/slide330.xml"/><Relationship Id="rId354" Type="http://schemas.openxmlformats.org/officeDocument/2006/relationships/slide" Target="slides/slide351.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75" Type="http://schemas.openxmlformats.org/officeDocument/2006/relationships/slide" Target="slides/slide372.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slide" Target="slides/slide232.xml"/><Relationship Id="rId256" Type="http://schemas.openxmlformats.org/officeDocument/2006/relationships/slide" Target="slides/slide253.xml"/><Relationship Id="rId277" Type="http://schemas.openxmlformats.org/officeDocument/2006/relationships/slide" Target="slides/slide274.xml"/><Relationship Id="rId298" Type="http://schemas.openxmlformats.org/officeDocument/2006/relationships/slide" Target="slides/slide295.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302" Type="http://schemas.openxmlformats.org/officeDocument/2006/relationships/slide" Target="slides/slide299.xml"/><Relationship Id="rId323" Type="http://schemas.openxmlformats.org/officeDocument/2006/relationships/slide" Target="slides/slide320.xml"/><Relationship Id="rId344" Type="http://schemas.openxmlformats.org/officeDocument/2006/relationships/slide" Target="slides/slide34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179" Type="http://schemas.openxmlformats.org/officeDocument/2006/relationships/slide" Target="slides/slide176.xml"/><Relationship Id="rId365" Type="http://schemas.openxmlformats.org/officeDocument/2006/relationships/slide" Target="slides/slide362.xml"/><Relationship Id="rId386" Type="http://schemas.openxmlformats.org/officeDocument/2006/relationships/slide" Target="slides/slide383.xml"/><Relationship Id="rId190" Type="http://schemas.openxmlformats.org/officeDocument/2006/relationships/slide" Target="slides/slide187.xml"/><Relationship Id="rId204" Type="http://schemas.openxmlformats.org/officeDocument/2006/relationships/slide" Target="slides/slide201.xml"/><Relationship Id="rId225" Type="http://schemas.openxmlformats.org/officeDocument/2006/relationships/slide" Target="slides/slide222.xml"/><Relationship Id="rId246" Type="http://schemas.openxmlformats.org/officeDocument/2006/relationships/slide" Target="slides/slide243.xml"/><Relationship Id="rId267" Type="http://schemas.openxmlformats.org/officeDocument/2006/relationships/slide" Target="slides/slide264.xml"/><Relationship Id="rId288" Type="http://schemas.openxmlformats.org/officeDocument/2006/relationships/slide" Target="slides/slide285.xml"/><Relationship Id="rId106" Type="http://schemas.openxmlformats.org/officeDocument/2006/relationships/slide" Target="slides/slide103.xml"/><Relationship Id="rId127" Type="http://schemas.openxmlformats.org/officeDocument/2006/relationships/slide" Target="slides/slide124.xml"/><Relationship Id="rId313" Type="http://schemas.openxmlformats.org/officeDocument/2006/relationships/slide" Target="slides/slide310.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94" Type="http://schemas.openxmlformats.org/officeDocument/2006/relationships/slide" Target="slides/slide91.xml"/><Relationship Id="rId148" Type="http://schemas.openxmlformats.org/officeDocument/2006/relationships/slide" Target="slides/slide145.xml"/><Relationship Id="rId169" Type="http://schemas.openxmlformats.org/officeDocument/2006/relationships/slide" Target="slides/slide166.xml"/><Relationship Id="rId334" Type="http://schemas.openxmlformats.org/officeDocument/2006/relationships/slide" Target="slides/slide331.xml"/><Relationship Id="rId355" Type="http://schemas.openxmlformats.org/officeDocument/2006/relationships/slide" Target="slides/slide352.xml"/><Relationship Id="rId376" Type="http://schemas.openxmlformats.org/officeDocument/2006/relationships/slide" Target="slides/slide373.xml"/><Relationship Id="rId4" Type="http://schemas.openxmlformats.org/officeDocument/2006/relationships/slide" Target="slides/slide1.xml"/><Relationship Id="rId180" Type="http://schemas.openxmlformats.org/officeDocument/2006/relationships/slide" Target="slides/slide17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slide" Target="slides/slide254.xml"/><Relationship Id="rId278" Type="http://schemas.openxmlformats.org/officeDocument/2006/relationships/slide" Target="slides/slide275.xml"/><Relationship Id="rId303" Type="http://schemas.openxmlformats.org/officeDocument/2006/relationships/slide" Target="slides/slide300.xml"/><Relationship Id="rId42" Type="http://schemas.openxmlformats.org/officeDocument/2006/relationships/slide" Target="slides/slide39.xml"/><Relationship Id="rId84" Type="http://schemas.openxmlformats.org/officeDocument/2006/relationships/slide" Target="slides/slide81.xml"/><Relationship Id="rId138" Type="http://schemas.openxmlformats.org/officeDocument/2006/relationships/slide" Target="slides/slide135.xml"/><Relationship Id="rId345" Type="http://schemas.openxmlformats.org/officeDocument/2006/relationships/slide" Target="slides/slide342.xml"/><Relationship Id="rId387" Type="http://schemas.openxmlformats.org/officeDocument/2006/relationships/slide" Target="slides/slide3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75F078-045F-48FA-9896-677F25013169}" type="datetimeFigureOut">
              <a:rPr lang="en-US" smtClean="0"/>
              <a:t>5/14/2018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E3C5FE-6F51-4E65-A4BE-E6E0A7E6A33E}" type="slidenum">
              <a:rPr lang="en-US" smtClean="0"/>
              <a:t>‹#›</a:t>
            </a:fld>
            <a:endParaRPr lang="en-US"/>
          </a:p>
        </p:txBody>
      </p:sp>
    </p:spTree>
    <p:extLst>
      <p:ext uri="{BB962C8B-B14F-4D97-AF65-F5344CB8AC3E}">
        <p14:creationId xmlns:p14="http://schemas.microsoft.com/office/powerpoint/2010/main" val="180407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7</a:t>
            </a:fld>
            <a:endParaRPr lang="en-US"/>
          </a:p>
        </p:txBody>
      </p:sp>
    </p:spTree>
    <p:extLst>
      <p:ext uri="{BB962C8B-B14F-4D97-AF65-F5344CB8AC3E}">
        <p14:creationId xmlns:p14="http://schemas.microsoft.com/office/powerpoint/2010/main" val="3459457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C539F52-8560-4E2B-92A8-D711CC301168}" type="slidenum">
              <a:rPr lang="en-GB" smtClean="0">
                <a:solidFill>
                  <a:prstClr val="black"/>
                </a:solidFill>
              </a:rPr>
              <a:pPr/>
              <a:t>25</a:t>
            </a:fld>
            <a:endParaRPr lang="en-GB">
              <a:solidFill>
                <a:prstClr val="black"/>
              </a:solidFill>
            </a:endParaRPr>
          </a:p>
        </p:txBody>
      </p:sp>
    </p:spTree>
    <p:extLst>
      <p:ext uri="{BB962C8B-B14F-4D97-AF65-F5344CB8AC3E}">
        <p14:creationId xmlns:p14="http://schemas.microsoft.com/office/powerpoint/2010/main" val="2407599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84</a:t>
            </a:fld>
            <a:endParaRPr lang="en-US"/>
          </a:p>
        </p:txBody>
      </p:sp>
    </p:spTree>
    <p:extLst>
      <p:ext uri="{BB962C8B-B14F-4D97-AF65-F5344CB8AC3E}">
        <p14:creationId xmlns:p14="http://schemas.microsoft.com/office/powerpoint/2010/main" val="2425024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100</a:t>
            </a:fld>
            <a:endParaRPr lang="en-US"/>
          </a:p>
        </p:txBody>
      </p:sp>
    </p:spTree>
    <p:extLst>
      <p:ext uri="{BB962C8B-B14F-4D97-AF65-F5344CB8AC3E}">
        <p14:creationId xmlns:p14="http://schemas.microsoft.com/office/powerpoint/2010/main" val="2249117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103</a:t>
            </a:fld>
            <a:endParaRPr lang="en-US"/>
          </a:p>
        </p:txBody>
      </p:sp>
    </p:spTree>
    <p:extLst>
      <p:ext uri="{BB962C8B-B14F-4D97-AF65-F5344CB8AC3E}">
        <p14:creationId xmlns:p14="http://schemas.microsoft.com/office/powerpoint/2010/main" val="3882385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148</a:t>
            </a:fld>
            <a:endParaRPr lang="en-US"/>
          </a:p>
        </p:txBody>
      </p:sp>
    </p:spTree>
    <p:extLst>
      <p:ext uri="{BB962C8B-B14F-4D97-AF65-F5344CB8AC3E}">
        <p14:creationId xmlns:p14="http://schemas.microsoft.com/office/powerpoint/2010/main" val="2093355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149</a:t>
            </a:fld>
            <a:endParaRPr lang="en-US"/>
          </a:p>
        </p:txBody>
      </p:sp>
    </p:spTree>
    <p:extLst>
      <p:ext uri="{BB962C8B-B14F-4D97-AF65-F5344CB8AC3E}">
        <p14:creationId xmlns:p14="http://schemas.microsoft.com/office/powerpoint/2010/main" val="1587862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166</a:t>
            </a:fld>
            <a:endParaRPr lang="en-US"/>
          </a:p>
        </p:txBody>
      </p:sp>
    </p:spTree>
    <p:extLst>
      <p:ext uri="{BB962C8B-B14F-4D97-AF65-F5344CB8AC3E}">
        <p14:creationId xmlns:p14="http://schemas.microsoft.com/office/powerpoint/2010/main" val="2275994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226</a:t>
            </a:fld>
            <a:endParaRPr lang="en-US"/>
          </a:p>
        </p:txBody>
      </p:sp>
    </p:spTree>
    <p:extLst>
      <p:ext uri="{BB962C8B-B14F-4D97-AF65-F5344CB8AC3E}">
        <p14:creationId xmlns:p14="http://schemas.microsoft.com/office/powerpoint/2010/main" val="4139818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231</a:t>
            </a:fld>
            <a:endParaRPr lang="en-US"/>
          </a:p>
        </p:txBody>
      </p:sp>
    </p:spTree>
    <p:extLst>
      <p:ext uri="{BB962C8B-B14F-4D97-AF65-F5344CB8AC3E}">
        <p14:creationId xmlns:p14="http://schemas.microsoft.com/office/powerpoint/2010/main" val="148879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236</a:t>
            </a:fld>
            <a:endParaRPr lang="en-US"/>
          </a:p>
        </p:txBody>
      </p:sp>
    </p:spTree>
    <p:extLst>
      <p:ext uri="{BB962C8B-B14F-4D97-AF65-F5344CB8AC3E}">
        <p14:creationId xmlns:p14="http://schemas.microsoft.com/office/powerpoint/2010/main" val="1717873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t>239</a:t>
            </a:fld>
            <a:endParaRPr lang="en-US"/>
          </a:p>
        </p:txBody>
      </p:sp>
    </p:spTree>
    <p:extLst>
      <p:ext uri="{BB962C8B-B14F-4D97-AF65-F5344CB8AC3E}">
        <p14:creationId xmlns:p14="http://schemas.microsoft.com/office/powerpoint/2010/main" val="2702972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246</a:t>
            </a:fld>
            <a:endParaRPr lang="en-US">
              <a:solidFill>
                <a:prstClr val="black"/>
              </a:solidFill>
            </a:endParaRPr>
          </a:p>
        </p:txBody>
      </p:sp>
    </p:spTree>
    <p:extLst>
      <p:ext uri="{BB962C8B-B14F-4D97-AF65-F5344CB8AC3E}">
        <p14:creationId xmlns:p14="http://schemas.microsoft.com/office/powerpoint/2010/main" val="3122355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248</a:t>
            </a:fld>
            <a:endParaRPr lang="en-US">
              <a:solidFill>
                <a:prstClr val="black"/>
              </a:solidFill>
            </a:endParaRPr>
          </a:p>
        </p:txBody>
      </p:sp>
    </p:spTree>
    <p:extLst>
      <p:ext uri="{BB962C8B-B14F-4D97-AF65-F5344CB8AC3E}">
        <p14:creationId xmlns:p14="http://schemas.microsoft.com/office/powerpoint/2010/main" val="721823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253</a:t>
            </a:fld>
            <a:endParaRPr lang="en-US">
              <a:solidFill>
                <a:prstClr val="black"/>
              </a:solidFill>
            </a:endParaRPr>
          </a:p>
        </p:txBody>
      </p:sp>
    </p:spTree>
    <p:extLst>
      <p:ext uri="{BB962C8B-B14F-4D97-AF65-F5344CB8AC3E}">
        <p14:creationId xmlns:p14="http://schemas.microsoft.com/office/powerpoint/2010/main" val="2060341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0EF71A0-E497-4643-8138-2FD41BFA8E1A}" type="slidenum">
              <a:rPr lang="en-US" altLang="en-US">
                <a:solidFill>
                  <a:prstClr val="black"/>
                </a:solidFill>
              </a:rPr>
              <a:pPr eaLnBrk="1" hangingPunct="1"/>
              <a:t>282</a:t>
            </a:fld>
            <a:endParaRPr lang="en-US"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48F9123-95F3-4DCF-8C38-1990D4B6F408}" type="slidenum">
              <a:rPr lang="en-US" altLang="en-US">
                <a:solidFill>
                  <a:prstClr val="black"/>
                </a:solidFill>
              </a:rPr>
              <a:pPr eaLnBrk="1" hangingPunct="1"/>
              <a:t>290</a:t>
            </a:fld>
            <a:endParaRPr lang="en-US"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305</a:t>
            </a:fld>
            <a:endParaRPr lang="en-US">
              <a:solidFill>
                <a:prstClr val="black"/>
              </a:solidFill>
            </a:endParaRPr>
          </a:p>
        </p:txBody>
      </p:sp>
    </p:spTree>
    <p:extLst>
      <p:ext uri="{BB962C8B-B14F-4D97-AF65-F5344CB8AC3E}">
        <p14:creationId xmlns:p14="http://schemas.microsoft.com/office/powerpoint/2010/main" val="2863323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332</a:t>
            </a:fld>
            <a:endParaRPr lang="en-US">
              <a:solidFill>
                <a:prstClr val="black"/>
              </a:solidFill>
            </a:endParaRPr>
          </a:p>
        </p:txBody>
      </p:sp>
    </p:spTree>
    <p:extLst>
      <p:ext uri="{BB962C8B-B14F-4D97-AF65-F5344CB8AC3E}">
        <p14:creationId xmlns:p14="http://schemas.microsoft.com/office/powerpoint/2010/main" val="2383863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355</a:t>
            </a:fld>
            <a:endParaRPr lang="en-US">
              <a:solidFill>
                <a:prstClr val="black"/>
              </a:solidFill>
            </a:endParaRPr>
          </a:p>
        </p:txBody>
      </p:sp>
    </p:spTree>
    <p:extLst>
      <p:ext uri="{BB962C8B-B14F-4D97-AF65-F5344CB8AC3E}">
        <p14:creationId xmlns:p14="http://schemas.microsoft.com/office/powerpoint/2010/main" val="1616623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357</a:t>
            </a:fld>
            <a:endParaRPr lang="en-US">
              <a:solidFill>
                <a:prstClr val="black"/>
              </a:solidFill>
            </a:endParaRPr>
          </a:p>
        </p:txBody>
      </p:sp>
    </p:spTree>
    <p:extLst>
      <p:ext uri="{BB962C8B-B14F-4D97-AF65-F5344CB8AC3E}">
        <p14:creationId xmlns:p14="http://schemas.microsoft.com/office/powerpoint/2010/main" val="2546235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E3C5FE-6F51-4E65-A4BE-E6E0A7E6A33E}" type="slidenum">
              <a:rPr lang="en-US" smtClean="0">
                <a:solidFill>
                  <a:prstClr val="black"/>
                </a:solidFill>
              </a:rPr>
              <a:pPr/>
              <a:t>384</a:t>
            </a:fld>
            <a:endParaRPr lang="en-US">
              <a:solidFill>
                <a:prstClr val="black"/>
              </a:solidFill>
            </a:endParaRPr>
          </a:p>
        </p:txBody>
      </p:sp>
    </p:spTree>
    <p:extLst>
      <p:ext uri="{BB962C8B-B14F-4D97-AF65-F5344CB8AC3E}">
        <p14:creationId xmlns:p14="http://schemas.microsoft.com/office/powerpoint/2010/main" val="1891071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t>5/14/2018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133885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t>5/14/2018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89295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07A65C-7997-4DEE-B934-F94796711A3A}" type="datetimeFigureOut">
              <a:rPr lang="en-US" smtClean="0"/>
              <a:t>5/14/2018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274959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07A65C-7997-4DEE-B934-F94796711A3A}" type="datetimeFigureOut">
              <a:rPr lang="en-US" smtClean="0"/>
              <a:t>5/14/2018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2164384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07A65C-7997-4DEE-B934-F94796711A3A}" type="datetimeFigureOut">
              <a:rPr lang="en-US" smtClean="0"/>
              <a:t>5/14/2018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1470197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07A65C-7997-4DEE-B934-F94796711A3A}" type="datetimeFigureOut">
              <a:rPr lang="en-US" smtClean="0"/>
              <a:t>5/14/2018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3336586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7A65C-7997-4DEE-B934-F94796711A3A}" type="datetimeFigureOut">
              <a:rPr lang="en-US" smtClean="0"/>
              <a:t>5/14/2018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2610582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7A65C-7997-4DEE-B934-F94796711A3A}" type="datetimeFigureOut">
              <a:rPr lang="en-US" smtClean="0"/>
              <a:t>5/14/2018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3823053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7A65C-7997-4DEE-B934-F94796711A3A}" type="datetimeFigureOut">
              <a:rPr lang="en-US" smtClean="0"/>
              <a:t>5/14/2018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2068183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t>5/14/2018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3920760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t>5/14/2018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8BD6E-D450-434F-AF75-7B6502193599}" type="slidenum">
              <a:rPr lang="en-US" smtClean="0"/>
              <a:t>‹#›</a:t>
            </a:fld>
            <a:endParaRPr lang="en-US"/>
          </a:p>
        </p:txBody>
      </p:sp>
    </p:spTree>
    <p:extLst>
      <p:ext uri="{BB962C8B-B14F-4D97-AF65-F5344CB8AC3E}">
        <p14:creationId xmlns:p14="http://schemas.microsoft.com/office/powerpoint/2010/main" val="2311798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3852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4918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7165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69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19120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805094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2724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93020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836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670908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116800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14490F2-5F1D-41E4-8746-9C77361A4D89}"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6E5C0C2-64C9-4B5E-B024-A5425AAA360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399368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409AFA8-BDCE-499F-BA0A-94572A275E77}"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2F6FED6-0E79-40A3-A70C-AEF547EE5FA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78997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778D7B1-A38E-43DC-9E71-E144888A1FB5}"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4A99FA1-C979-41E5-8DD3-FAF0DB9DB10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090310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A22BA8FA-36FB-487B-8D71-DD49556824E9}" type="datetimeFigureOut">
              <a:rPr lang="en-US">
                <a:solidFill>
                  <a:prstClr val="black">
                    <a:tint val="75000"/>
                  </a:prstClr>
                </a:solidFill>
              </a:rPr>
              <a:pPr>
                <a:defRPr/>
              </a:pPr>
              <a:t>5/14/2018</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A595CCBF-1B31-45A0-B1CF-05F9B9DC64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39905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9CAD5FE3-5320-45AD-A4D9-9A5FE230F98C}" type="datetimeFigureOut">
              <a:rPr lang="en-US">
                <a:solidFill>
                  <a:prstClr val="black">
                    <a:tint val="75000"/>
                  </a:prstClr>
                </a:solidFill>
              </a:rPr>
              <a:pPr>
                <a:defRPr/>
              </a:pPr>
              <a:t>5/14/2018</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1E02F2D-B09C-4769-A141-0222FCFFA3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5242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A93B366D-0A06-4535-842A-73BEFACF18E7}" type="datetimeFigureOut">
              <a:rPr lang="en-US">
                <a:solidFill>
                  <a:prstClr val="black">
                    <a:tint val="75000"/>
                  </a:prstClr>
                </a:solidFill>
              </a:rPr>
              <a:pPr>
                <a:defRPr/>
              </a:pPr>
              <a:t>5/14/2018</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AE2A1674-AF8D-42E1-B27E-6ABD429255B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37008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33AADBE-BA8C-4729-93B0-346D56178D38}" type="datetimeFigureOut">
              <a:rPr lang="en-US">
                <a:solidFill>
                  <a:prstClr val="black">
                    <a:tint val="75000"/>
                  </a:prstClr>
                </a:solidFill>
              </a:rPr>
              <a:pPr>
                <a:defRPr/>
              </a:pPr>
              <a:t>5/14/2018</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F183E1C-DE88-4E05-A284-DB74E0BA5F7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320193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4EBFFCE-0C8D-4BC9-A203-0740CFE3A42D}" type="datetimeFigureOut">
              <a:rPr lang="en-US">
                <a:solidFill>
                  <a:prstClr val="black">
                    <a:tint val="75000"/>
                  </a:prstClr>
                </a:solidFill>
              </a:rPr>
              <a:pPr>
                <a:defRPr/>
              </a:pPr>
              <a:t>5/14/2018</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A8864336-0F94-446A-A890-A07C3E76FD2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90144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10E32E7-578B-4D35-8948-3EB79DBCC1E6}" type="datetimeFigureOut">
              <a:rPr lang="en-US">
                <a:solidFill>
                  <a:prstClr val="black">
                    <a:tint val="75000"/>
                  </a:prstClr>
                </a:solidFill>
              </a:rPr>
              <a:pPr>
                <a:defRPr/>
              </a:pPr>
              <a:t>5/14/2018</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10250F6E-90C9-4C86-9FE3-BA6604B0E95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630173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B6E6791-8311-4ED8-9D09-5A517C3DC2F2}"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A1D5D66-2465-4CD9-A55B-D90CEF77E19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086948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971ABAA-00C4-4A34-93AC-ABD305660CEE}"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B5D578-3600-4CCB-B81F-EE0F097FE760}"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48942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7A65C-7997-4DEE-B934-F94796711A3A}" type="datetimeFigureOut">
              <a:rPr lang="en-US" smtClean="0"/>
              <a:t>5/14/2018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8BD6E-D450-434F-AF75-7B6502193599}" type="slidenum">
              <a:rPr lang="en-US" smtClean="0"/>
              <a:t>‹#›</a:t>
            </a:fld>
            <a:endParaRPr lang="en-US"/>
          </a:p>
        </p:txBody>
      </p:sp>
    </p:spTree>
    <p:extLst>
      <p:ext uri="{BB962C8B-B14F-4D97-AF65-F5344CB8AC3E}">
        <p14:creationId xmlns:p14="http://schemas.microsoft.com/office/powerpoint/2010/main" val="228486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7A65C-7997-4DEE-B934-F94796711A3A}" type="datetimeFigureOut">
              <a:rPr lang="en-US" smtClean="0">
                <a:solidFill>
                  <a:prstClr val="black">
                    <a:tint val="75000"/>
                  </a:prstClr>
                </a:solidFill>
              </a:rPr>
              <a:pPr/>
              <a:t>5/14/2018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8BD6E-D450-434F-AF75-7B650219359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41102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41A5C0D-C396-49E2-9E0D-899DEFA6D7EB}" type="datetimeFigureOut">
              <a:rPr lang="en-US">
                <a:solidFill>
                  <a:prstClr val="black">
                    <a:tint val="75000"/>
                  </a:prstClr>
                </a:solidFill>
              </a:rPr>
              <a:pPr>
                <a:defRPr/>
              </a:pPr>
              <a:t>5/14/2018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BACB75F2-934D-4FDF-A8B0-30E9250B5D8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136768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ncbi.nlm.nih.gov/pmc/articles/PMC371297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loc.gov/loc/bra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1.xml.rels><?xml version="1.0" encoding="UTF-8" standalone="yes"?>
<Relationships xmlns="http://schemas.openxmlformats.org/package/2006/relationships"><Relationship Id="rId8" Type="http://schemas.openxmlformats.org/officeDocument/2006/relationships/hyperlink" Target="http://www.goodtherapy.org/drugs/serentil-mesoridazine.html" TargetMode="External"/><Relationship Id="rId13" Type="http://schemas.openxmlformats.org/officeDocument/2006/relationships/hyperlink" Target="http://www.goodtherapy.org/drugs/clozaril-clozapine.html" TargetMode="External"/><Relationship Id="rId3" Type="http://schemas.openxmlformats.org/officeDocument/2006/relationships/hyperlink" Target="http://www.goodtherapy.org/drugs/loxitane-loxapine.html" TargetMode="External"/><Relationship Id="rId7" Type="http://schemas.openxmlformats.org/officeDocument/2006/relationships/hyperlink" Target="http://www.goodtherapy.org/drugs/prolixin-fluphenazine.html" TargetMode="External"/><Relationship Id="rId12" Type="http://schemas.openxmlformats.org/officeDocument/2006/relationships/hyperlink" Target="http://www.goodtherapy.org/drugs/abilify-aripiprazole.html" TargetMode="External"/><Relationship Id="rId17" Type="http://schemas.openxmlformats.org/officeDocument/2006/relationships/hyperlink" Target="http://www.goodtherapy.org/drugs/zyprexa-olanzapine.html" TargetMode="External"/><Relationship Id="rId2" Type="http://schemas.openxmlformats.org/officeDocument/2006/relationships/hyperlink" Target="http://www.goodtherapy.org/drugs/haldol-haloperidol.html" TargetMode="External"/><Relationship Id="rId16" Type="http://schemas.openxmlformats.org/officeDocument/2006/relationships/hyperlink" Target="http://www.goodtherapy.org/drugs/seroquel-quetiapine.html" TargetMode="External"/><Relationship Id="rId1" Type="http://schemas.openxmlformats.org/officeDocument/2006/relationships/slideLayout" Target="../slideLayouts/slideLayout13.xml"/><Relationship Id="rId6" Type="http://schemas.openxmlformats.org/officeDocument/2006/relationships/hyperlink" Target="http://www.goodtherapy.org/drugs/navane-thiothixene.html" TargetMode="External"/><Relationship Id="rId11" Type="http://schemas.openxmlformats.org/officeDocument/2006/relationships/hyperlink" Target="http://www.goodtherapy.org/drugs/thorazine-chlorpromazine.html" TargetMode="External"/><Relationship Id="rId5" Type="http://schemas.openxmlformats.org/officeDocument/2006/relationships/hyperlink" Target="http://www.goodtherapy.org/drugs/moban-molindone.html" TargetMode="External"/><Relationship Id="rId15" Type="http://schemas.openxmlformats.org/officeDocument/2006/relationships/hyperlink" Target="http://www.goodtherapy.org/drugs/risperdal-risperidone.html" TargetMode="External"/><Relationship Id="rId10" Type="http://schemas.openxmlformats.org/officeDocument/2006/relationships/hyperlink" Target="http://www.goodtherapy.org/drugs/trilafon-perphenazine.html" TargetMode="External"/><Relationship Id="rId4" Type="http://schemas.openxmlformats.org/officeDocument/2006/relationships/hyperlink" Target="http://www.goodtherapy.org/drugs/mellaril-thioridazine.html" TargetMode="External"/><Relationship Id="rId9" Type="http://schemas.openxmlformats.org/officeDocument/2006/relationships/hyperlink" Target="http://www.goodtherapy.org/drugs/stelazine-trifluoperazine.html" TargetMode="External"/><Relationship Id="rId14" Type="http://schemas.openxmlformats.org/officeDocument/2006/relationships/hyperlink" Target="http://www.goodtherapy.org/drugs/geodon-ziprasidone.html" TargetMode="Externa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4.xml.rels><?xml version="1.0" encoding="UTF-8" standalone="yes"?>
<Relationships xmlns="http://schemas.openxmlformats.org/package/2006/relationships"><Relationship Id="rId3" Type="http://schemas.openxmlformats.org/officeDocument/2006/relationships/hyperlink" Target="http://www.rxlist.com/script/main/art.asp?articlekey=3892" TargetMode="External"/><Relationship Id="rId2" Type="http://schemas.openxmlformats.org/officeDocument/2006/relationships/hyperlink" Target="http://www.rxlist.com/script/main/art.asp?articlekey=25850" TargetMode="External"/><Relationship Id="rId1" Type="http://schemas.openxmlformats.org/officeDocument/2006/relationships/slideLayout" Target="../slideLayouts/slideLayout13.xml"/><Relationship Id="rId5" Type="http://schemas.openxmlformats.org/officeDocument/2006/relationships/hyperlink" Target="http://www.rxlist.com/script/main/art.asp?articlekey=2667" TargetMode="External"/><Relationship Id="rId4" Type="http://schemas.openxmlformats.org/officeDocument/2006/relationships/hyperlink" Target="http://www.rxlist.com/script/main/art.asp?articlekey=2151" TargetMode="External"/></Relationships>
</file>

<file path=ppt/slides/_rels/slide365.xml.rels><?xml version="1.0" encoding="UTF-8" standalone="yes"?>
<Relationships xmlns="http://schemas.openxmlformats.org/package/2006/relationships"><Relationship Id="rId3" Type="http://schemas.openxmlformats.org/officeDocument/2006/relationships/hyperlink" Target="http://www.rxlist.com/script/main/art.asp?articlekey=26099" TargetMode="External"/><Relationship Id="rId2" Type="http://schemas.openxmlformats.org/officeDocument/2006/relationships/hyperlink" Target="http://www.rxlist.com/script/main/art.asp?articlekey=33422" TargetMode="External"/><Relationship Id="rId1" Type="http://schemas.openxmlformats.org/officeDocument/2006/relationships/slideLayout" Target="../slideLayouts/slideLayout13.xml"/><Relationship Id="rId4" Type="http://schemas.openxmlformats.org/officeDocument/2006/relationships/hyperlink" Target="http://www.rxlist.com/script/main/art.asp?articlekey=4510" TargetMode="Externa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PSYCHIATRIC /MENTAL HEALTH </a:t>
            </a:r>
            <a:endParaRPr lang="en-US" dirty="0"/>
          </a:p>
        </p:txBody>
      </p:sp>
      <p:sp>
        <p:nvSpPr>
          <p:cNvPr id="3" name="Subtitle 2"/>
          <p:cNvSpPr>
            <a:spLocks noGrp="1"/>
          </p:cNvSpPr>
          <p:nvPr>
            <p:ph type="subTitle" idx="1"/>
          </p:nvPr>
        </p:nvSpPr>
        <p:spPr/>
        <p:txBody>
          <a:bodyPr/>
          <a:lstStyle/>
          <a:p>
            <a:r>
              <a:rPr lang="en-US" dirty="0" smtClean="0"/>
              <a:t>NYAGA KARANI NYAGA </a:t>
            </a:r>
            <a:endParaRPr lang="en-US" dirty="0"/>
          </a:p>
        </p:txBody>
      </p:sp>
    </p:spTree>
    <p:extLst>
      <p:ext uri="{BB962C8B-B14F-4D97-AF65-F5344CB8AC3E}">
        <p14:creationId xmlns:p14="http://schemas.microsoft.com/office/powerpoint/2010/main" val="20370495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a:t>
            </a:r>
            <a:endParaRPr lang="en-US" dirty="0"/>
          </a:p>
        </p:txBody>
      </p:sp>
      <p:sp>
        <p:nvSpPr>
          <p:cNvPr id="3" name="Content Placeholder 2"/>
          <p:cNvSpPr>
            <a:spLocks noGrp="1"/>
          </p:cNvSpPr>
          <p:nvPr>
            <p:ph idx="1"/>
          </p:nvPr>
        </p:nvSpPr>
        <p:spPr/>
        <p:txBody>
          <a:bodyPr/>
          <a:lstStyle/>
          <a:p>
            <a:r>
              <a:rPr lang="en-US" dirty="0" smtClean="0"/>
              <a:t>By the end of this unit you will be able to: </a:t>
            </a:r>
            <a:endParaRPr lang="en-GB" dirty="0" smtClean="0"/>
          </a:p>
          <a:p>
            <a:pPr lvl="1"/>
            <a:r>
              <a:rPr lang="en-US" dirty="0" smtClean="0"/>
              <a:t>Describe mental health and psychiatric nursing</a:t>
            </a:r>
            <a:endParaRPr lang="en-GB" dirty="0" smtClean="0"/>
          </a:p>
          <a:p>
            <a:pPr lvl="1"/>
            <a:r>
              <a:rPr lang="en-US" dirty="0" smtClean="0"/>
              <a:t>State the admission process for the mentally ill patient</a:t>
            </a:r>
            <a:endParaRPr lang="en-GB" dirty="0" smtClean="0"/>
          </a:p>
          <a:p>
            <a:pPr lvl="1"/>
            <a:r>
              <a:rPr lang="en-US" dirty="0" smtClean="0"/>
              <a:t>Describe the modes of treatment used in psychiatry</a:t>
            </a:r>
            <a:endParaRPr lang="en-GB" dirty="0" smtClean="0"/>
          </a:p>
          <a:p>
            <a:pPr lvl="1"/>
            <a:r>
              <a:rPr lang="en-US" dirty="0" smtClean="0"/>
              <a:t>Recognize and manage common mental health conditions</a:t>
            </a:r>
            <a:endParaRPr lang="en-GB" dirty="0" smtClean="0"/>
          </a:p>
          <a:p>
            <a:pPr lvl="1"/>
            <a:r>
              <a:rPr lang="en-US" dirty="0" smtClean="0"/>
              <a:t>Describe community mental health</a:t>
            </a:r>
            <a:endParaRPr lang="en-US" dirty="0"/>
          </a:p>
        </p:txBody>
      </p:sp>
    </p:spTree>
    <p:extLst>
      <p:ext uri="{BB962C8B-B14F-4D97-AF65-F5344CB8AC3E}">
        <p14:creationId xmlns:p14="http://schemas.microsoft.com/office/powerpoint/2010/main" val="42335800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t>
            </a:r>
            <a:endParaRPr lang="en-US" dirty="0"/>
          </a:p>
        </p:txBody>
      </p:sp>
      <p:sp>
        <p:nvSpPr>
          <p:cNvPr id="3" name="Content Placeholder 2"/>
          <p:cNvSpPr>
            <a:spLocks noGrp="1"/>
          </p:cNvSpPr>
          <p:nvPr>
            <p:ph idx="1"/>
          </p:nvPr>
        </p:nvSpPr>
        <p:spPr/>
        <p:txBody>
          <a:bodyPr/>
          <a:lstStyle/>
          <a:p>
            <a:pPr lvl="0" fontAlgn="base">
              <a:spcAft>
                <a:spcPct val="0"/>
              </a:spcAft>
              <a:buClr>
                <a:srgbClr val="FFFFCC"/>
              </a:buClr>
              <a:buSzPct val="75000"/>
              <a:buFont typeface="Wingdings" pitchFamily="2" charset="2"/>
              <a:buChar char="l"/>
            </a:pPr>
            <a:r>
              <a:rPr lang="en-US" dirty="0" smtClean="0"/>
              <a:t>Mental is defined as “of mind”: </a:t>
            </a:r>
            <a:endParaRPr lang="en-US" dirty="0"/>
          </a:p>
          <a:p>
            <a:pPr lvl="0" fontAlgn="base">
              <a:spcAft>
                <a:spcPct val="0"/>
              </a:spcAft>
              <a:buClr>
                <a:srgbClr val="FFFFCC"/>
              </a:buClr>
              <a:buSzPct val="75000"/>
              <a:buFont typeface="Wingdings" pitchFamily="2" charset="2"/>
              <a:buChar char="l"/>
            </a:pPr>
            <a:r>
              <a:rPr lang="en-US" dirty="0" smtClean="0"/>
              <a:t>mind is defined as “the seat of consciousness, thought and feeling”. </a:t>
            </a:r>
          </a:p>
          <a:p>
            <a:pPr lvl="0" fontAlgn="base">
              <a:spcAft>
                <a:spcPct val="0"/>
              </a:spcAft>
              <a:buClr>
                <a:srgbClr val="FFFFCC"/>
              </a:buClr>
              <a:buSzPct val="75000"/>
              <a:buFont typeface="Wingdings" pitchFamily="2" charset="2"/>
              <a:buChar char="l"/>
            </a:pPr>
            <a:r>
              <a:rPr lang="en-US" dirty="0" smtClean="0"/>
              <a:t>Mental health therefore means “a state of wellbeing of the mind- HEALTHY MIND </a:t>
            </a:r>
          </a:p>
          <a:p>
            <a:pPr lvl="0" fontAlgn="base">
              <a:spcAft>
                <a:spcPct val="0"/>
              </a:spcAft>
              <a:buClr>
                <a:srgbClr val="FFFFCC"/>
              </a:buClr>
              <a:buSzPct val="75000"/>
              <a:buFont typeface="Wingdings" pitchFamily="2" charset="2"/>
              <a:buChar char="l"/>
            </a:pPr>
            <a:endParaRPr lang="en-US" dirty="0"/>
          </a:p>
        </p:txBody>
      </p:sp>
    </p:spTree>
    <p:extLst>
      <p:ext uri="{BB962C8B-B14F-4D97-AF65-F5344CB8AC3E}">
        <p14:creationId xmlns:p14="http://schemas.microsoft.com/office/powerpoint/2010/main" val="27548788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t>
            </a:r>
            <a:endParaRPr lang="en-US" dirty="0"/>
          </a:p>
        </p:txBody>
      </p:sp>
      <p:sp>
        <p:nvSpPr>
          <p:cNvPr id="3" name="Content Placeholder 2"/>
          <p:cNvSpPr>
            <a:spLocks noGrp="1"/>
          </p:cNvSpPr>
          <p:nvPr>
            <p:ph idx="1"/>
          </p:nvPr>
        </p:nvSpPr>
        <p:spPr>
          <a:xfrm>
            <a:off x="457200" y="1295400"/>
            <a:ext cx="8229600" cy="5334000"/>
          </a:xfrm>
        </p:spPr>
        <p:txBody>
          <a:bodyPr>
            <a:normAutofit fontScale="85000" lnSpcReduction="20000"/>
          </a:bodyPr>
          <a:lstStyle/>
          <a:p>
            <a:r>
              <a:rPr lang="en-US" dirty="0" smtClean="0"/>
              <a:t>Psychiatry: </a:t>
            </a:r>
            <a:br>
              <a:rPr lang="en-US" dirty="0" smtClean="0"/>
            </a:br>
            <a:r>
              <a:rPr lang="en-US" dirty="0" smtClean="0"/>
              <a:t>It is a branch of medicine that deals with the diagnosis, treatment and prevention mental illness.</a:t>
            </a:r>
          </a:p>
          <a:p>
            <a:r>
              <a:rPr lang="en-US" dirty="0" smtClean="0"/>
              <a:t/>
            </a:r>
            <a:br>
              <a:rPr lang="en-US" dirty="0" smtClean="0"/>
            </a:br>
            <a:r>
              <a:rPr lang="en-US" dirty="0" smtClean="0"/>
              <a:t>Psychiatric nursing deals with the promotion of mental health, prevention of mental illness, care and rehabilitation of mentally ill individuals both in hospital and community.</a:t>
            </a:r>
          </a:p>
          <a:p>
            <a:r>
              <a:rPr lang="en-US" dirty="0" smtClean="0"/>
              <a:t/>
            </a:r>
            <a:br>
              <a:rPr lang="en-US" dirty="0" smtClean="0"/>
            </a:br>
            <a:r>
              <a:rPr lang="en-US" dirty="0" smtClean="0"/>
              <a:t>Psychiatric Nursing:</a:t>
            </a:r>
            <a:br>
              <a:rPr lang="en-US" dirty="0" smtClean="0"/>
            </a:br>
            <a:r>
              <a:rPr lang="en-US" dirty="0" smtClean="0"/>
              <a:t>It is a specialized area of nursing practice employing theories of human behavior, as a science and the purposeful use of self as an art in the diagnosis and response to actual or potential mental health problems.</a:t>
            </a:r>
            <a:endParaRPr lang="en-US" dirty="0"/>
          </a:p>
        </p:txBody>
      </p:sp>
    </p:spTree>
    <p:extLst>
      <p:ext uri="{BB962C8B-B14F-4D97-AF65-F5344CB8AC3E}">
        <p14:creationId xmlns:p14="http://schemas.microsoft.com/office/powerpoint/2010/main" val="25709848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Hx</a:t>
            </a:r>
            <a:r>
              <a:rPr lang="en-US" dirty="0" smtClean="0"/>
              <a:t> of psychiatry </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r>
              <a:rPr lang="en-US" dirty="0" smtClean="0"/>
              <a:t>Psychiatry got its name as a medical specialty in the early 1800s.  </a:t>
            </a:r>
          </a:p>
          <a:p>
            <a:r>
              <a:rPr lang="en-US" dirty="0" smtClean="0"/>
              <a:t>For the first century of its existence, the field concerned itself with severely disordered individuals confined to asylums or </a:t>
            </a:r>
            <a:r>
              <a:rPr lang="en-US" dirty="0" err="1" smtClean="0"/>
              <a:t>hosps</a:t>
            </a:r>
            <a:r>
              <a:rPr lang="en-US" dirty="0" smtClean="0"/>
              <a:t>.  </a:t>
            </a:r>
          </a:p>
          <a:p>
            <a:r>
              <a:rPr lang="en-US" dirty="0" smtClean="0"/>
              <a:t>These pts generally psychotic, severely depressed or manic, or suffered conditions we would now recognize as medical: dementia, brain tumors, seizures, hypothyroidism, </a:t>
            </a:r>
            <a:r>
              <a:rPr lang="en-US" dirty="0" err="1" smtClean="0"/>
              <a:t>etc</a:t>
            </a:r>
            <a:endParaRPr lang="en-US" dirty="0"/>
          </a:p>
        </p:txBody>
      </p:sp>
    </p:spTree>
    <p:extLst>
      <p:ext uri="{BB962C8B-B14F-4D97-AF65-F5344CB8AC3E}">
        <p14:creationId xmlns:p14="http://schemas.microsoft.com/office/powerpoint/2010/main" val="2050512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Hx</a:t>
            </a:r>
            <a:r>
              <a:rPr lang="en-US" dirty="0" smtClean="0"/>
              <a:t> of psychiatry </a:t>
            </a:r>
            <a:endParaRPr lang="en-US" dirty="0"/>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dirty="0" smtClean="0"/>
              <a:t>much of medicine at the time, treatment was rudimentary, often harsh, and generally ineffective</a:t>
            </a:r>
          </a:p>
          <a:p>
            <a:r>
              <a:rPr lang="en-US" dirty="0" smtClean="0"/>
              <a:t>Arnd 20th century, the neurologist Sigmund Freud published theories on the unconscious roots of some of these less severe disorders,= psycho-neuroses.  </a:t>
            </a:r>
          </a:p>
          <a:p>
            <a:r>
              <a:rPr lang="en-US" dirty="0" smtClean="0"/>
              <a:t>These disorders impaired relationships and work, or produced odd symptoms such as paralysis or mutism that could not be explained medically.</a:t>
            </a:r>
            <a:endParaRPr lang="en-US" dirty="0"/>
          </a:p>
        </p:txBody>
      </p:sp>
    </p:spTree>
    <p:extLst>
      <p:ext uri="{BB962C8B-B14F-4D97-AF65-F5344CB8AC3E}">
        <p14:creationId xmlns:p14="http://schemas.microsoft.com/office/powerpoint/2010/main" val="9503832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Hx</a:t>
            </a:r>
            <a:r>
              <a:rPr lang="en-US" dirty="0" smtClean="0"/>
              <a:t> of psychiatry </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r>
              <a:rPr lang="en-US" dirty="0" smtClean="0"/>
              <a:t>Freud developed psychoanalysis to treat these "neurotic" patients</a:t>
            </a:r>
          </a:p>
          <a:p>
            <a:r>
              <a:rPr lang="en-US" dirty="0" smtClean="0"/>
              <a:t>Psychoanalysis thus became the first treatment for psychiatric outpatients</a:t>
            </a:r>
          </a:p>
          <a:p>
            <a:r>
              <a:rPr lang="en-US" dirty="0" smtClean="0"/>
              <a:t>By the late 1950s and early 1960s, new medications began to change the face of psychiatry.  </a:t>
            </a:r>
          </a:p>
          <a:p>
            <a:r>
              <a:rPr lang="en-US" dirty="0" err="1" smtClean="0"/>
              <a:t>Thorazine</a:t>
            </a:r>
            <a:r>
              <a:rPr lang="en-US" dirty="0" smtClean="0"/>
              <a:t> and other first generation anti-psychotics profoundly improved institutionalized psychotic patients, as did newly developed antidepressants for the severely depressed.  </a:t>
            </a:r>
          </a:p>
          <a:p>
            <a:r>
              <a:rPr lang="en-US" dirty="0" smtClean="0"/>
              <a:t>(The introduction of lithium for mania is more </a:t>
            </a:r>
            <a:r>
              <a:rPr lang="en-US" dirty="0" smtClean="0">
                <a:hlinkClick r:id="rId3"/>
              </a:rPr>
              <a:t>complicated</a:t>
            </a:r>
            <a:r>
              <a:rPr lang="en-US" dirty="0" smtClean="0"/>
              <a:t>; it was only available in the U.S. starting in 1970.)  </a:t>
            </a:r>
          </a:p>
          <a:p>
            <a:endParaRPr lang="en-US" dirty="0"/>
          </a:p>
        </p:txBody>
      </p:sp>
    </p:spTree>
    <p:extLst>
      <p:ext uri="{BB962C8B-B14F-4D97-AF65-F5344CB8AC3E}">
        <p14:creationId xmlns:p14="http://schemas.microsoft.com/office/powerpoint/2010/main" val="15823993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Hx</a:t>
            </a:r>
            <a:r>
              <a:rPr lang="en-US" dirty="0" smtClean="0"/>
              <a:t> of psychiatry </a:t>
            </a:r>
            <a:endParaRPr lang="en-US" dirty="0"/>
          </a:p>
        </p:txBody>
      </p:sp>
      <p:sp>
        <p:nvSpPr>
          <p:cNvPr id="3" name="Content Placeholder 2"/>
          <p:cNvSpPr>
            <a:spLocks noGrp="1"/>
          </p:cNvSpPr>
          <p:nvPr>
            <p:ph idx="1"/>
          </p:nvPr>
        </p:nvSpPr>
        <p:spPr>
          <a:xfrm>
            <a:off x="457200" y="1371600"/>
            <a:ext cx="8229600" cy="5410200"/>
          </a:xfrm>
        </p:spPr>
        <p:txBody>
          <a:bodyPr>
            <a:normAutofit fontScale="92500"/>
          </a:bodyPr>
          <a:lstStyle/>
          <a:p>
            <a:r>
              <a:rPr lang="en-US" dirty="0" smtClean="0"/>
              <a:t>State mental hospitals rapidly emptied as medicated patients returned to the community (the "deinstitutionalization movement").  </a:t>
            </a:r>
          </a:p>
          <a:p>
            <a:r>
              <a:rPr lang="en-US" dirty="0" smtClean="0"/>
              <a:t>Although a well-funded community mental health system never materialized as promised.</a:t>
            </a:r>
          </a:p>
          <a:p>
            <a:r>
              <a:rPr lang="en-US" dirty="0" smtClean="0"/>
              <a:t>psychiatric patients with varying levels of symptoms and dysfunction were now treated as outpatients, with both medication and psychodynamic psychotherapy, i.e., less intensive psychotherapy based on psychoanalytic principles.</a:t>
            </a:r>
            <a:endParaRPr lang="en-US" dirty="0"/>
          </a:p>
        </p:txBody>
      </p:sp>
    </p:spTree>
    <p:extLst>
      <p:ext uri="{BB962C8B-B14F-4D97-AF65-F5344CB8AC3E}">
        <p14:creationId xmlns:p14="http://schemas.microsoft.com/office/powerpoint/2010/main" val="1697950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HX</a:t>
            </a:r>
            <a:endParaRPr lang="en-US" dirty="0"/>
          </a:p>
        </p:txBody>
      </p:sp>
      <p:sp>
        <p:nvSpPr>
          <p:cNvPr id="3" name="Content Placeholder 2"/>
          <p:cNvSpPr>
            <a:spLocks noGrp="1"/>
          </p:cNvSpPr>
          <p:nvPr>
            <p:ph idx="1"/>
          </p:nvPr>
        </p:nvSpPr>
        <p:spPr>
          <a:xfrm>
            <a:off x="457200" y="1447800"/>
            <a:ext cx="8229600" cy="5105400"/>
          </a:xfrm>
        </p:spPr>
        <p:txBody>
          <a:bodyPr>
            <a:normAutofit fontScale="92500"/>
          </a:bodyPr>
          <a:lstStyle/>
          <a:p>
            <a:r>
              <a:rPr lang="en-US" dirty="0" smtClean="0"/>
              <a:t>n 1980, the Diagnostic and Statistical Manual (DSM) of Mental Disorders, published by the American Psychiatric Association, was radically revised</a:t>
            </a:r>
          </a:p>
          <a:p>
            <a:r>
              <a:rPr lang="en-US" dirty="0" smtClean="0"/>
              <a:t>DSM-III was symptom-based and "</a:t>
            </a:r>
            <a:r>
              <a:rPr lang="en-US" dirty="0" err="1" smtClean="0"/>
              <a:t>atheoretical</a:t>
            </a:r>
            <a:r>
              <a:rPr lang="en-US" dirty="0" smtClean="0"/>
              <a:t>," i.e., it described mental disorders without reference to a theory of etiology (cause)</a:t>
            </a:r>
          </a:p>
          <a:p>
            <a:r>
              <a:rPr lang="en-US" dirty="0" smtClean="0"/>
              <a:t>was intended to provide a common language so that biological and psychoanalytic psychiatrists</a:t>
            </a:r>
          </a:p>
          <a:p>
            <a:r>
              <a:rPr lang="en-US" dirty="0" smtClean="0"/>
              <a:t>Search for pharmacological treatment continued  </a:t>
            </a:r>
          </a:p>
          <a:p>
            <a:endParaRPr lang="en-US" dirty="0"/>
          </a:p>
        </p:txBody>
      </p:sp>
    </p:spTree>
    <p:extLst>
      <p:ext uri="{BB962C8B-B14F-4D97-AF65-F5344CB8AC3E}">
        <p14:creationId xmlns:p14="http://schemas.microsoft.com/office/powerpoint/2010/main" val="12038597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HX</a:t>
            </a:r>
            <a:endParaRPr lang="en-US" dirty="0"/>
          </a:p>
        </p:txBody>
      </p:sp>
      <p:sp>
        <p:nvSpPr>
          <p:cNvPr id="3" name="Content Placeholder 2"/>
          <p:cNvSpPr>
            <a:spLocks noGrp="1"/>
          </p:cNvSpPr>
          <p:nvPr>
            <p:ph idx="1"/>
          </p:nvPr>
        </p:nvSpPr>
        <p:spPr>
          <a:xfrm>
            <a:off x="457200" y="1447800"/>
            <a:ext cx="8229600" cy="5334000"/>
          </a:xfrm>
        </p:spPr>
        <p:txBody>
          <a:bodyPr>
            <a:normAutofit lnSpcReduction="10000"/>
          </a:bodyPr>
          <a:lstStyle/>
          <a:p>
            <a:r>
              <a:rPr lang="en-US" dirty="0" smtClean="0"/>
              <a:t>A new class of antidepressants called SSRIs ("selective serotonin reuptake inhibitors") were better tolerated and medically safer than prior antidepressants.</a:t>
            </a:r>
          </a:p>
          <a:p>
            <a:r>
              <a:rPr lang="en-US" dirty="0" smtClean="0"/>
              <a:t>  The first of these, Prozac, was released in 1987. </a:t>
            </a:r>
          </a:p>
          <a:p>
            <a:r>
              <a:rPr lang="en-US" dirty="0" smtClean="0"/>
              <a:t> Shortly thereafter, new anti-psychotics were released: "atypical neuroleptics" such as Risperdal and Zyprexa</a:t>
            </a:r>
          </a:p>
          <a:p>
            <a:r>
              <a:rPr lang="en-US" dirty="0" smtClean="0"/>
              <a:t>Psychiatry was increasingly seen as a mainstream medical specialty</a:t>
            </a:r>
            <a:endParaRPr lang="en-US" dirty="0"/>
          </a:p>
        </p:txBody>
      </p:sp>
    </p:spTree>
    <p:extLst>
      <p:ext uri="{BB962C8B-B14F-4D97-AF65-F5344CB8AC3E}">
        <p14:creationId xmlns:p14="http://schemas.microsoft.com/office/powerpoint/2010/main" val="11484098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HX</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dirty="0" smtClean="0"/>
              <a:t>The National Institute of Mental Health (NIMH) declared the 1990s the </a:t>
            </a:r>
            <a:r>
              <a:rPr lang="en-US" dirty="0" smtClean="0">
                <a:hlinkClick r:id="rId2"/>
              </a:rPr>
              <a:t>Decade of the Brain</a:t>
            </a:r>
            <a:r>
              <a:rPr lang="en-US" dirty="0" smtClean="0"/>
              <a:t> "to enhance public awareness of the benefits to be derived from brain research."  .</a:t>
            </a:r>
          </a:p>
          <a:p>
            <a:r>
              <a:rPr lang="en-US" dirty="0" smtClean="0"/>
              <a:t>DSM-IV was published in 1994, further elaborating criterion-based psychiatric diagnosis.  </a:t>
            </a:r>
          </a:p>
          <a:p>
            <a:r>
              <a:rPr lang="en-US" dirty="0" smtClean="0"/>
              <a:t>Biological psychiatry appeared to have triumphed.</a:t>
            </a:r>
            <a:endParaRPr lang="en-US" dirty="0"/>
          </a:p>
        </p:txBody>
      </p:sp>
    </p:spTree>
    <p:extLst>
      <p:ext uri="{BB962C8B-B14F-4D97-AF65-F5344CB8AC3E}">
        <p14:creationId xmlns:p14="http://schemas.microsoft.com/office/powerpoint/2010/main" val="7000824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HX </a:t>
            </a:r>
            <a:endParaRPr lang="en-US" dirty="0"/>
          </a:p>
        </p:txBody>
      </p:sp>
      <p:sp>
        <p:nvSpPr>
          <p:cNvPr id="3" name="Content Placeholder 2"/>
          <p:cNvSpPr>
            <a:spLocks noGrp="1"/>
          </p:cNvSpPr>
          <p:nvPr>
            <p:ph idx="1"/>
          </p:nvPr>
        </p:nvSpPr>
        <p:spPr/>
        <p:txBody>
          <a:bodyPr/>
          <a:lstStyle/>
          <a:p>
            <a:r>
              <a:rPr lang="en-US" dirty="0" smtClean="0"/>
              <a:t>Meanwhile, clinical psychologists championed the use of cognitive and cognitive-behavioral psychotherapies.</a:t>
            </a:r>
          </a:p>
          <a:p>
            <a:r>
              <a:rPr lang="en-US" dirty="0" smtClean="0"/>
              <a:t> The release of DSM-5 in 2013 garnered much controversy.  </a:t>
            </a:r>
          </a:p>
          <a:p>
            <a:r>
              <a:rPr lang="en-US" dirty="0" smtClean="0"/>
              <a:t>Dr. Allen Frances, chair of the APA task force that oversaw the prior edition, criticized the new effort for its medical/biological bias,</a:t>
            </a:r>
            <a:endParaRPr lang="en-US" dirty="0"/>
          </a:p>
        </p:txBody>
      </p:sp>
    </p:spTree>
    <p:extLst>
      <p:ext uri="{BB962C8B-B14F-4D97-AF65-F5344CB8AC3E}">
        <p14:creationId xmlns:p14="http://schemas.microsoft.com/office/powerpoint/2010/main" val="15552104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09600"/>
          </a:xfrm>
        </p:spPr>
        <p:txBody>
          <a:bodyPr>
            <a:normAutofit fontScale="90000"/>
          </a:bodyPr>
          <a:lstStyle/>
          <a:p>
            <a:r>
              <a:rPr lang="en-US" b="1" dirty="0" smtClean="0"/>
              <a:t>CLASSIFYING </a:t>
            </a:r>
            <a:r>
              <a:rPr lang="en-US" b="1" dirty="0"/>
              <a:t>MENTAL DISORDERS </a:t>
            </a:r>
            <a:endParaRPr lang="en-US" dirty="0"/>
          </a:p>
        </p:txBody>
      </p:sp>
      <p:sp>
        <p:nvSpPr>
          <p:cNvPr id="3" name="Content Placeholder 2"/>
          <p:cNvSpPr>
            <a:spLocks noGrp="1"/>
          </p:cNvSpPr>
          <p:nvPr>
            <p:ph idx="1"/>
          </p:nvPr>
        </p:nvSpPr>
        <p:spPr>
          <a:xfrm>
            <a:off x="457200" y="1143000"/>
            <a:ext cx="8229600" cy="5486400"/>
          </a:xfrm>
        </p:spPr>
        <p:txBody>
          <a:bodyPr>
            <a:normAutofit lnSpcReduction="10000"/>
          </a:bodyPr>
          <a:lstStyle/>
          <a:p>
            <a:pPr marL="514350" indent="-514350">
              <a:buAutoNum type="arabicPeriod"/>
            </a:pPr>
            <a:r>
              <a:rPr lang="en-US" dirty="0" smtClean="0"/>
              <a:t>Chapter </a:t>
            </a:r>
            <a:r>
              <a:rPr lang="en-US" dirty="0"/>
              <a:t>10 of the International Classification of Diseases (ICD-10) produced by the World Health Organization (WHO) </a:t>
            </a:r>
            <a:endParaRPr lang="en-US" dirty="0" smtClean="0"/>
          </a:p>
          <a:p>
            <a:pPr marL="0" indent="0">
              <a:buNone/>
            </a:pPr>
            <a:r>
              <a:rPr lang="en-US" dirty="0" smtClean="0"/>
              <a:t>2. The </a:t>
            </a:r>
            <a:r>
              <a:rPr lang="en-US" dirty="0"/>
              <a:t>Diagnostic and Statistical Manual of Mental </a:t>
            </a:r>
            <a:r>
              <a:rPr lang="en-US" dirty="0" smtClean="0"/>
              <a:t>Disorders developed </a:t>
            </a:r>
            <a:r>
              <a:rPr lang="en-US" dirty="0"/>
              <a:t>by the American Psychiatric Association (APA). </a:t>
            </a:r>
            <a:endParaRPr lang="en-US" dirty="0" smtClean="0"/>
          </a:p>
          <a:p>
            <a:pPr marL="0" indent="0">
              <a:buNone/>
            </a:pPr>
            <a:r>
              <a:rPr lang="en-US" dirty="0"/>
              <a:t>	</a:t>
            </a:r>
            <a:r>
              <a:rPr lang="en-US" dirty="0" smtClean="0"/>
              <a:t>DSM-IV</a:t>
            </a:r>
          </a:p>
          <a:p>
            <a:pPr marL="0" indent="0">
              <a:buNone/>
            </a:pPr>
            <a:r>
              <a:rPr lang="en-US" dirty="0"/>
              <a:t>	</a:t>
            </a:r>
            <a:r>
              <a:rPr lang="en-US" dirty="0" smtClean="0"/>
              <a:t>DSM-V </a:t>
            </a:r>
            <a:endParaRPr lang="en-US" dirty="0"/>
          </a:p>
          <a:p>
            <a:pPr marL="0" indent="0">
              <a:buNone/>
            </a:pPr>
            <a:r>
              <a:rPr lang="en-US" dirty="0" smtClean="0"/>
              <a:t>3. Chinese </a:t>
            </a:r>
            <a:r>
              <a:rPr lang="en-US" dirty="0"/>
              <a:t>Classification of Mental Disorders. </a:t>
            </a:r>
            <a:endParaRPr lang="en-US" dirty="0" smtClean="0"/>
          </a:p>
          <a:p>
            <a:pPr marL="0" indent="0">
              <a:buNone/>
            </a:pPr>
            <a:r>
              <a:rPr lang="en-US" dirty="0" smtClean="0"/>
              <a:t>4. Psychodynamic </a:t>
            </a:r>
            <a:r>
              <a:rPr lang="en-US" dirty="0"/>
              <a:t>Diagnostic Manual used in England. </a:t>
            </a:r>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6943594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ICD – 10 </a:t>
            </a:r>
            <a:endParaRPr lang="en-US" dirty="0"/>
          </a:p>
        </p:txBody>
      </p:sp>
      <p:sp>
        <p:nvSpPr>
          <p:cNvPr id="3" name="Content Placeholder 2"/>
          <p:cNvSpPr>
            <a:spLocks noGrp="1"/>
          </p:cNvSpPr>
          <p:nvPr>
            <p:ph idx="1"/>
          </p:nvPr>
        </p:nvSpPr>
        <p:spPr/>
        <p:txBody>
          <a:bodyPr/>
          <a:lstStyle/>
          <a:p>
            <a:endParaRPr lang="en-US" dirty="0"/>
          </a:p>
          <a:p>
            <a:r>
              <a:rPr lang="en-US" dirty="0"/>
              <a:t> The International Classification of Diseases (ICD) is an international standard diagnostic classification for a wide variety of health conditions. </a:t>
            </a:r>
          </a:p>
          <a:p>
            <a:r>
              <a:rPr lang="en-US" dirty="0"/>
              <a:t>It focuses on "mental and behavioral disorders" and consists of 10 main groups </a:t>
            </a:r>
          </a:p>
        </p:txBody>
      </p:sp>
    </p:spTree>
    <p:extLst>
      <p:ext uri="{BB962C8B-B14F-4D97-AF65-F5344CB8AC3E}">
        <p14:creationId xmlns:p14="http://schemas.microsoft.com/office/powerpoint/2010/main" val="7736928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ICD - 10</a:t>
            </a:r>
            <a:endParaRPr lang="en-US" dirty="0"/>
          </a:p>
        </p:txBody>
      </p:sp>
      <p:sp>
        <p:nvSpPr>
          <p:cNvPr id="3" name="Content Placeholder 2"/>
          <p:cNvSpPr>
            <a:spLocks noGrp="1"/>
          </p:cNvSpPr>
          <p:nvPr>
            <p:ph idx="1"/>
          </p:nvPr>
        </p:nvSpPr>
        <p:spPr>
          <a:xfrm>
            <a:off x="457200" y="990600"/>
            <a:ext cx="8229600" cy="5867400"/>
          </a:xfrm>
        </p:spPr>
        <p:txBody>
          <a:bodyPr>
            <a:normAutofit fontScale="77500" lnSpcReduction="20000"/>
          </a:bodyPr>
          <a:lstStyle/>
          <a:p>
            <a:pPr marL="0" indent="0">
              <a:buNone/>
            </a:pPr>
            <a:endParaRPr lang="en-US" dirty="0"/>
          </a:p>
          <a:p>
            <a:r>
              <a:rPr lang="en-US" dirty="0"/>
              <a:t>F0 Organic, including symptomatic, mental disorders </a:t>
            </a:r>
          </a:p>
          <a:p>
            <a:r>
              <a:rPr lang="en-US" dirty="0" smtClean="0"/>
              <a:t>F1 </a:t>
            </a:r>
            <a:r>
              <a:rPr lang="en-US" dirty="0"/>
              <a:t>Mental and behavioral disorders due to use of psychoactive substances </a:t>
            </a:r>
          </a:p>
          <a:p>
            <a:r>
              <a:rPr lang="en-US" dirty="0" smtClean="0"/>
              <a:t>F2 </a:t>
            </a:r>
            <a:r>
              <a:rPr lang="en-US" dirty="0"/>
              <a:t>Schizophrenia, schizotypal and delusional disorders </a:t>
            </a:r>
          </a:p>
          <a:p>
            <a:r>
              <a:rPr lang="en-US" dirty="0" smtClean="0"/>
              <a:t>F3 </a:t>
            </a:r>
            <a:r>
              <a:rPr lang="en-US" dirty="0"/>
              <a:t>Mood [affective] disorders </a:t>
            </a:r>
          </a:p>
          <a:p>
            <a:r>
              <a:rPr lang="en-US" dirty="0" smtClean="0"/>
              <a:t>F4 </a:t>
            </a:r>
            <a:r>
              <a:rPr lang="en-US" dirty="0"/>
              <a:t>Neurotic, stress-related and somatoform disorders </a:t>
            </a:r>
          </a:p>
          <a:p>
            <a:r>
              <a:rPr lang="en-US" dirty="0" smtClean="0"/>
              <a:t>F5 </a:t>
            </a:r>
            <a:r>
              <a:rPr lang="en-US" dirty="0"/>
              <a:t>Behavioral syndromes associated with physiological disturbances and physical factors </a:t>
            </a:r>
          </a:p>
          <a:p>
            <a:r>
              <a:rPr lang="en-US" dirty="0" smtClean="0"/>
              <a:t>F6 </a:t>
            </a:r>
            <a:r>
              <a:rPr lang="en-US" dirty="0"/>
              <a:t>personality Disorders </a:t>
            </a:r>
          </a:p>
          <a:p>
            <a:r>
              <a:rPr lang="en-US" dirty="0" smtClean="0"/>
              <a:t>F7 </a:t>
            </a:r>
            <a:r>
              <a:rPr lang="en-US" dirty="0"/>
              <a:t>Mental retardation </a:t>
            </a:r>
          </a:p>
          <a:p>
            <a:r>
              <a:rPr lang="en-US" dirty="0" smtClean="0"/>
              <a:t>F8 </a:t>
            </a:r>
            <a:r>
              <a:rPr lang="en-US" dirty="0"/>
              <a:t>Disorders of psychological development </a:t>
            </a:r>
          </a:p>
          <a:p>
            <a:r>
              <a:rPr lang="en-US" dirty="0" smtClean="0"/>
              <a:t>F9 </a:t>
            </a:r>
            <a:r>
              <a:rPr lang="en-US" dirty="0"/>
              <a:t>Behavioral and emotional disorders with onset usually occurring in childhood and adolescence </a:t>
            </a:r>
          </a:p>
          <a:p>
            <a:r>
              <a:rPr lang="en-US" dirty="0" smtClean="0"/>
              <a:t>F10- </a:t>
            </a:r>
            <a:r>
              <a:rPr lang="en-US" dirty="0"/>
              <a:t>a group of “unspecified mental disorders”. </a:t>
            </a:r>
          </a:p>
        </p:txBody>
      </p:sp>
    </p:spTree>
    <p:extLst>
      <p:ext uri="{BB962C8B-B14F-4D97-AF65-F5344CB8AC3E}">
        <p14:creationId xmlns:p14="http://schemas.microsoft.com/office/powerpoint/2010/main" val="40179781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b="1" dirty="0" smtClean="0"/>
              <a:t>DSM </a:t>
            </a:r>
            <a:r>
              <a:rPr lang="en-US" b="1" dirty="0"/>
              <a:t>IV Mental disorders classification </a:t>
            </a:r>
            <a:endParaRPr lang="en-US" dirty="0"/>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endParaRPr lang="en-US" dirty="0"/>
          </a:p>
          <a:p>
            <a:r>
              <a:rPr lang="en-US" dirty="0"/>
              <a:t> Disorders usually first diagnosed in Infancy, Childhood, or Adolescence </a:t>
            </a:r>
          </a:p>
          <a:p>
            <a:r>
              <a:rPr lang="it-IT" dirty="0" smtClean="0"/>
              <a:t>Cognitive </a:t>
            </a:r>
            <a:r>
              <a:rPr lang="it-IT" dirty="0"/>
              <a:t>disorders: Delirium, Dementia, Amnestic </a:t>
            </a:r>
          </a:p>
          <a:p>
            <a:r>
              <a:rPr lang="en-US" dirty="0" smtClean="0"/>
              <a:t>Mental </a:t>
            </a:r>
            <a:r>
              <a:rPr lang="en-US" dirty="0"/>
              <a:t>Disorders due to a General Medical Condition </a:t>
            </a:r>
          </a:p>
          <a:p>
            <a:r>
              <a:rPr lang="en-US" dirty="0" smtClean="0"/>
              <a:t>Substance-Related </a:t>
            </a:r>
            <a:r>
              <a:rPr lang="en-US" dirty="0"/>
              <a:t>Disorders </a:t>
            </a:r>
          </a:p>
          <a:p>
            <a:r>
              <a:rPr lang="en-US" dirty="0" smtClean="0"/>
              <a:t>Psychotic </a:t>
            </a:r>
            <a:r>
              <a:rPr lang="en-US" dirty="0"/>
              <a:t>Disorders: Schizophrenia, </a:t>
            </a:r>
          </a:p>
          <a:p>
            <a:r>
              <a:rPr lang="en-US" dirty="0" smtClean="0"/>
              <a:t>Mood </a:t>
            </a:r>
            <a:r>
              <a:rPr lang="en-US" dirty="0"/>
              <a:t>Disorders </a:t>
            </a:r>
          </a:p>
        </p:txBody>
      </p:sp>
    </p:spTree>
    <p:extLst>
      <p:ext uri="{BB962C8B-B14F-4D97-AF65-F5344CB8AC3E}">
        <p14:creationId xmlns:p14="http://schemas.microsoft.com/office/powerpoint/2010/main" val="37314665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DSM IV Mental disorders classification </a:t>
            </a:r>
            <a:endParaRPr lang="en-US" dirty="0"/>
          </a:p>
        </p:txBody>
      </p:sp>
      <p:sp>
        <p:nvSpPr>
          <p:cNvPr id="3" name="Content Placeholder 2"/>
          <p:cNvSpPr>
            <a:spLocks noGrp="1"/>
          </p:cNvSpPr>
          <p:nvPr>
            <p:ph idx="1"/>
          </p:nvPr>
        </p:nvSpPr>
        <p:spPr>
          <a:xfrm>
            <a:off x="457200" y="1295400"/>
            <a:ext cx="8229600" cy="5562600"/>
          </a:xfrm>
        </p:spPr>
        <p:txBody>
          <a:bodyPr>
            <a:normAutofit fontScale="92500" lnSpcReduction="10000"/>
          </a:bodyPr>
          <a:lstStyle/>
          <a:p>
            <a:r>
              <a:rPr lang="en-US" dirty="0"/>
              <a:t>Anxiety Disorders </a:t>
            </a:r>
          </a:p>
          <a:p>
            <a:r>
              <a:rPr lang="en-US" dirty="0" smtClean="0"/>
              <a:t>Somatoform </a:t>
            </a:r>
            <a:r>
              <a:rPr lang="en-US" dirty="0"/>
              <a:t>Disorders </a:t>
            </a:r>
          </a:p>
          <a:p>
            <a:r>
              <a:rPr lang="en-US" dirty="0" smtClean="0"/>
              <a:t>Factitious </a:t>
            </a:r>
            <a:r>
              <a:rPr lang="en-US" dirty="0"/>
              <a:t>Disorders </a:t>
            </a:r>
          </a:p>
          <a:p>
            <a:r>
              <a:rPr lang="en-US" dirty="0" smtClean="0"/>
              <a:t>Dissociative </a:t>
            </a:r>
            <a:r>
              <a:rPr lang="en-US" dirty="0"/>
              <a:t>disorders </a:t>
            </a:r>
          </a:p>
          <a:p>
            <a:r>
              <a:rPr lang="en-US" dirty="0" smtClean="0"/>
              <a:t>Sexual </a:t>
            </a:r>
            <a:r>
              <a:rPr lang="en-US" dirty="0"/>
              <a:t>and Gender Identity Disorders </a:t>
            </a:r>
          </a:p>
          <a:p>
            <a:r>
              <a:rPr lang="en-US" dirty="0" smtClean="0"/>
              <a:t>Eating </a:t>
            </a:r>
            <a:r>
              <a:rPr lang="en-US" dirty="0"/>
              <a:t>Disorders </a:t>
            </a:r>
          </a:p>
          <a:p>
            <a:r>
              <a:rPr lang="en-US" dirty="0" smtClean="0"/>
              <a:t>Sleep </a:t>
            </a:r>
            <a:r>
              <a:rPr lang="en-US" dirty="0"/>
              <a:t>Disorders </a:t>
            </a:r>
          </a:p>
          <a:p>
            <a:r>
              <a:rPr lang="en-US" dirty="0" smtClean="0"/>
              <a:t>Impulse </a:t>
            </a:r>
            <a:r>
              <a:rPr lang="en-US" dirty="0"/>
              <a:t>and Control Disorders Not Elsewhere Classified </a:t>
            </a:r>
          </a:p>
          <a:p>
            <a:r>
              <a:rPr lang="en-US" dirty="0" smtClean="0"/>
              <a:t>Adjustment </a:t>
            </a:r>
            <a:r>
              <a:rPr lang="en-US" dirty="0"/>
              <a:t>Disorders </a:t>
            </a:r>
          </a:p>
          <a:p>
            <a:r>
              <a:rPr lang="en-US" dirty="0" smtClean="0"/>
              <a:t>Personality </a:t>
            </a:r>
            <a:r>
              <a:rPr lang="en-US" dirty="0"/>
              <a:t>Disorders </a:t>
            </a:r>
          </a:p>
        </p:txBody>
      </p:sp>
    </p:spTree>
    <p:extLst>
      <p:ext uri="{BB962C8B-B14F-4D97-AF65-F5344CB8AC3E}">
        <p14:creationId xmlns:p14="http://schemas.microsoft.com/office/powerpoint/2010/main" val="2092936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DSM – IV </a:t>
            </a:r>
            <a:endParaRPr lang="en-US" dirty="0"/>
          </a:p>
        </p:txBody>
      </p:sp>
      <p:sp>
        <p:nvSpPr>
          <p:cNvPr id="3" name="Content Placeholder 2"/>
          <p:cNvSpPr>
            <a:spLocks noGrp="1"/>
          </p:cNvSpPr>
          <p:nvPr>
            <p:ph idx="1"/>
          </p:nvPr>
        </p:nvSpPr>
        <p:spPr>
          <a:xfrm>
            <a:off x="457200" y="914400"/>
            <a:ext cx="8229600" cy="5867400"/>
          </a:xfrm>
        </p:spPr>
        <p:txBody>
          <a:bodyPr>
            <a:normAutofit fontScale="85000" lnSpcReduction="10000"/>
          </a:bodyPr>
          <a:lstStyle/>
          <a:p>
            <a:r>
              <a:rPr lang="en-US" dirty="0"/>
              <a:t>The DSM-IV-TR (Text Revision, 2000) consists of five axes (domains) on which disorder can be assessed. </a:t>
            </a:r>
          </a:p>
          <a:p>
            <a:pPr marL="0" indent="0">
              <a:buNone/>
            </a:pPr>
            <a:r>
              <a:rPr lang="en-US" dirty="0" smtClean="0"/>
              <a:t>The </a:t>
            </a:r>
            <a:r>
              <a:rPr lang="en-US" dirty="0"/>
              <a:t>five axes are: </a:t>
            </a:r>
          </a:p>
          <a:p>
            <a:r>
              <a:rPr lang="en-US" b="1" dirty="0"/>
              <a:t>Axis I </a:t>
            </a:r>
            <a:r>
              <a:rPr lang="en-US" dirty="0"/>
              <a:t>Clinical Disorders (all mental disorders except Personality Disorders and Mental Retardation) </a:t>
            </a:r>
          </a:p>
          <a:p>
            <a:r>
              <a:rPr lang="en-US" b="1" dirty="0"/>
              <a:t>Axis II </a:t>
            </a:r>
            <a:r>
              <a:rPr lang="en-US" dirty="0"/>
              <a:t>Personality Disorders and Mental Retardation </a:t>
            </a:r>
          </a:p>
          <a:p>
            <a:r>
              <a:rPr lang="en-US" b="1" dirty="0"/>
              <a:t>Axis III </a:t>
            </a:r>
            <a:r>
              <a:rPr lang="en-US" dirty="0"/>
              <a:t>General Medical Conditions (must be connected to a Mental Disorder) </a:t>
            </a:r>
          </a:p>
          <a:p>
            <a:r>
              <a:rPr lang="en-US" b="1" dirty="0"/>
              <a:t>Axis IV </a:t>
            </a:r>
            <a:r>
              <a:rPr lang="en-US" dirty="0"/>
              <a:t>Psychosocial and Environmental Problems (for example limited social support network) </a:t>
            </a:r>
          </a:p>
          <a:p>
            <a:r>
              <a:rPr lang="en-US" b="1" dirty="0"/>
              <a:t>Axis V </a:t>
            </a:r>
            <a:r>
              <a:rPr lang="en-US" dirty="0"/>
              <a:t>Global Assessment of Functioning (Psychological, social and job-related functions are evaluated on a continuum between mental health and extreme mental disorder) </a:t>
            </a:r>
          </a:p>
        </p:txBody>
      </p:sp>
    </p:spTree>
    <p:extLst>
      <p:ext uri="{BB962C8B-B14F-4D97-AF65-F5344CB8AC3E}">
        <p14:creationId xmlns:p14="http://schemas.microsoft.com/office/powerpoint/2010/main" val="6378543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DSM V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458200"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6467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Principles and qualities of psychiatric nursing</a:t>
            </a:r>
            <a:endParaRPr lang="en-GB" dirty="0"/>
          </a:p>
        </p:txBody>
      </p:sp>
      <p:sp>
        <p:nvSpPr>
          <p:cNvPr id="3" name="Content Placeholder 2"/>
          <p:cNvSpPr>
            <a:spLocks noGrp="1"/>
          </p:cNvSpPr>
          <p:nvPr>
            <p:ph idx="1"/>
          </p:nvPr>
        </p:nvSpPr>
        <p:spPr/>
        <p:txBody>
          <a:bodyPr>
            <a:normAutofit/>
          </a:bodyPr>
          <a:lstStyle/>
          <a:p>
            <a:r>
              <a:rPr lang="en-US" b="1" dirty="0" smtClean="0"/>
              <a:t>Respect for the Patient</a:t>
            </a:r>
            <a:r>
              <a:rPr lang="en-US" dirty="0" smtClean="0"/>
              <a:t> </a:t>
            </a:r>
          </a:p>
          <a:p>
            <a:pPr lvl="1"/>
            <a:r>
              <a:rPr lang="en-US" dirty="0" smtClean="0"/>
              <a:t>The therapist should take time to listen to the patient and provide privacy for all conversations. </a:t>
            </a:r>
            <a:endParaRPr lang="en-GB" dirty="0" smtClean="0"/>
          </a:p>
          <a:p>
            <a:pPr lvl="1"/>
            <a:r>
              <a:rPr lang="en-US" dirty="0" smtClean="0"/>
              <a:t>Minimize situations and experiences that might humiliate the patient and be honest in providing information on medicines, privileges, length of management and stays in hospital if indicated.</a:t>
            </a:r>
            <a:endParaRPr lang="en-GB" dirty="0" smtClean="0"/>
          </a:p>
          <a:p>
            <a:endParaRPr lang="en-GB" dirty="0"/>
          </a:p>
        </p:txBody>
      </p:sp>
    </p:spTree>
    <p:extLst>
      <p:ext uri="{BB962C8B-B14F-4D97-AF65-F5344CB8AC3E}">
        <p14:creationId xmlns:p14="http://schemas.microsoft.com/office/powerpoint/2010/main" val="3693246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Ctd</a:t>
            </a:r>
            <a:r>
              <a:rPr lang="en-GB" dirty="0" smtClean="0"/>
              <a:t> </a:t>
            </a:r>
            <a:endParaRPr lang="en-GB" dirty="0"/>
          </a:p>
        </p:txBody>
      </p:sp>
      <p:sp>
        <p:nvSpPr>
          <p:cNvPr id="3" name="Content Placeholder 2"/>
          <p:cNvSpPr>
            <a:spLocks noGrp="1"/>
          </p:cNvSpPr>
          <p:nvPr>
            <p:ph idx="1"/>
          </p:nvPr>
        </p:nvSpPr>
        <p:spPr/>
        <p:txBody>
          <a:bodyPr>
            <a:normAutofit/>
          </a:bodyPr>
          <a:lstStyle/>
          <a:p>
            <a:r>
              <a:rPr lang="en-US" b="1" dirty="0" smtClean="0"/>
              <a:t>Availability</a:t>
            </a:r>
            <a:r>
              <a:rPr lang="en-US" dirty="0" smtClean="0"/>
              <a:t/>
            </a:r>
            <a:br>
              <a:rPr lang="en-US" dirty="0" smtClean="0"/>
            </a:br>
            <a:r>
              <a:rPr lang="en-US" dirty="0" smtClean="0"/>
              <a:t>The nurse must be constantly available to assist the patient to attain their basic needs and alleviate suffering.</a:t>
            </a:r>
            <a:endParaRPr lang="en-GB" dirty="0" smtClean="0"/>
          </a:p>
          <a:p>
            <a:r>
              <a:rPr lang="en-US" b="1" dirty="0" smtClean="0"/>
              <a:t>Spontaneity</a:t>
            </a:r>
            <a:r>
              <a:rPr lang="en-US" dirty="0" smtClean="0"/>
              <a:t/>
            </a:r>
            <a:br>
              <a:rPr lang="en-US" dirty="0" smtClean="0"/>
            </a:br>
            <a:r>
              <a:rPr lang="en-US" dirty="0" smtClean="0"/>
              <a:t>You should avoid being overly formal, instead, you should be comfortable with yourself, be flexible and aware of the therapeutic goals.</a:t>
            </a:r>
            <a:endParaRPr lang="en-GB" dirty="0" smtClean="0"/>
          </a:p>
        </p:txBody>
      </p:sp>
    </p:spTree>
    <p:extLst>
      <p:ext uri="{BB962C8B-B14F-4D97-AF65-F5344CB8AC3E}">
        <p14:creationId xmlns:p14="http://schemas.microsoft.com/office/powerpoint/2010/main" val="3600402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Ctd</a:t>
            </a:r>
            <a:r>
              <a:rPr lang="en-US" dirty="0" smtClean="0"/>
              <a:t>..</a:t>
            </a:r>
            <a:endParaRPr lang="en-US" dirty="0"/>
          </a:p>
        </p:txBody>
      </p:sp>
      <p:sp>
        <p:nvSpPr>
          <p:cNvPr id="3" name="Content Placeholder 2"/>
          <p:cNvSpPr>
            <a:spLocks noGrp="1"/>
          </p:cNvSpPr>
          <p:nvPr>
            <p:ph idx="1"/>
          </p:nvPr>
        </p:nvSpPr>
        <p:spPr/>
        <p:txBody>
          <a:bodyPr/>
          <a:lstStyle/>
          <a:p>
            <a:r>
              <a:rPr lang="en-US" b="1" dirty="0" smtClean="0"/>
              <a:t>Acceptance</a:t>
            </a:r>
            <a:r>
              <a:rPr lang="en-US" dirty="0" smtClean="0"/>
              <a:t/>
            </a:r>
            <a:br>
              <a:rPr lang="en-US" dirty="0" smtClean="0"/>
            </a:br>
            <a:r>
              <a:rPr lang="en-US" dirty="0" smtClean="0"/>
              <a:t>Even if the patient behaves in a way that does not please the nurse, they should be accepted as they are, but taking care not to reinforce their behavior.</a:t>
            </a:r>
            <a:endParaRPr lang="en-GB" dirty="0" smtClean="0"/>
          </a:p>
          <a:p>
            <a:pPr>
              <a:buNone/>
            </a:pPr>
            <a:endParaRPr lang="en-US" dirty="0"/>
          </a:p>
        </p:txBody>
      </p:sp>
    </p:spTree>
    <p:extLst>
      <p:ext uri="{BB962C8B-B14F-4D97-AF65-F5344CB8AC3E}">
        <p14:creationId xmlns:p14="http://schemas.microsoft.com/office/powerpoint/2010/main" val="2366189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Ctd</a:t>
            </a:r>
            <a:r>
              <a:rPr lang="en-GB" dirty="0" smtClean="0"/>
              <a:t> </a:t>
            </a:r>
            <a:endParaRPr lang="en-GB" dirty="0"/>
          </a:p>
        </p:txBody>
      </p:sp>
      <p:sp>
        <p:nvSpPr>
          <p:cNvPr id="3" name="Content Placeholder 2"/>
          <p:cNvSpPr>
            <a:spLocks noGrp="1"/>
          </p:cNvSpPr>
          <p:nvPr>
            <p:ph idx="1"/>
          </p:nvPr>
        </p:nvSpPr>
        <p:spPr/>
        <p:txBody>
          <a:bodyPr>
            <a:normAutofit fontScale="92500"/>
          </a:bodyPr>
          <a:lstStyle/>
          <a:p>
            <a:r>
              <a:rPr lang="en-US" b="1" dirty="0" smtClean="0"/>
              <a:t>Sensitivity</a:t>
            </a:r>
            <a:r>
              <a:rPr lang="en-US" dirty="0" smtClean="0"/>
              <a:t/>
            </a:r>
            <a:br>
              <a:rPr lang="en-US" dirty="0" smtClean="0"/>
            </a:br>
            <a:r>
              <a:rPr lang="en-US" dirty="0" smtClean="0"/>
              <a:t>You should do your best to show genuine interest and concern and be persistent and patient even if no observable improvement is made.</a:t>
            </a:r>
            <a:endParaRPr lang="en-GB" dirty="0" smtClean="0"/>
          </a:p>
          <a:p>
            <a:r>
              <a:rPr lang="en-US" b="1" dirty="0" smtClean="0"/>
              <a:t>Accountability</a:t>
            </a:r>
            <a:r>
              <a:rPr lang="en-US" dirty="0" smtClean="0"/>
              <a:t/>
            </a:r>
            <a:br>
              <a:rPr lang="en-US" dirty="0" smtClean="0"/>
            </a:br>
            <a:r>
              <a:rPr lang="en-US" dirty="0" smtClean="0"/>
              <a:t>Due to patients mental health they are vulnerable so you should be  accountable to the patient, yourself as well as professional colleagues and peers.</a:t>
            </a:r>
            <a:endParaRPr lang="en-GB" dirty="0" smtClean="0"/>
          </a:p>
          <a:p>
            <a:endParaRPr lang="en-GB" dirty="0"/>
          </a:p>
        </p:txBody>
      </p:sp>
    </p:spTree>
    <p:extLst>
      <p:ext uri="{BB962C8B-B14F-4D97-AF65-F5344CB8AC3E}">
        <p14:creationId xmlns:p14="http://schemas.microsoft.com/office/powerpoint/2010/main" val="184315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Ctd</a:t>
            </a:r>
            <a:r>
              <a:rPr lang="en-GB" dirty="0" smtClean="0"/>
              <a:t> </a:t>
            </a:r>
            <a:endParaRPr lang="en-GB" dirty="0"/>
          </a:p>
        </p:txBody>
      </p:sp>
      <p:sp>
        <p:nvSpPr>
          <p:cNvPr id="3" name="Content Placeholder 2"/>
          <p:cNvSpPr>
            <a:spLocks noGrp="1"/>
          </p:cNvSpPr>
          <p:nvPr>
            <p:ph idx="1"/>
          </p:nvPr>
        </p:nvSpPr>
        <p:spPr/>
        <p:txBody>
          <a:bodyPr>
            <a:normAutofit fontScale="85000" lnSpcReduction="20000"/>
          </a:bodyPr>
          <a:lstStyle/>
          <a:p>
            <a:r>
              <a:rPr lang="en-US" b="1" dirty="0" smtClean="0"/>
              <a:t>Empathy</a:t>
            </a:r>
            <a:r>
              <a:rPr lang="en-US" dirty="0" smtClean="0"/>
              <a:t/>
            </a:r>
            <a:br>
              <a:rPr lang="en-US" dirty="0" smtClean="0"/>
            </a:br>
            <a:r>
              <a:rPr lang="en-US" dirty="0" smtClean="0"/>
              <a:t>The nurse should strive to understand the patient’s perspective, and work toward mutually developed goals. The most important function of empathy is that it enables you to give the patient the feeling of being understood and cared about.</a:t>
            </a:r>
            <a:endParaRPr lang="en-GB" dirty="0" smtClean="0"/>
          </a:p>
          <a:p>
            <a:r>
              <a:rPr lang="en-US" b="1" dirty="0" smtClean="0"/>
              <a:t>Self-understanding</a:t>
            </a:r>
            <a:r>
              <a:rPr lang="en-US" dirty="0" smtClean="0"/>
              <a:t/>
            </a:r>
            <a:br>
              <a:rPr lang="en-US" dirty="0" smtClean="0"/>
            </a:br>
            <a:r>
              <a:rPr lang="en-US" dirty="0" smtClean="0"/>
              <a:t>This involves recognition and acceptance of your own behavior and how it affects your relationship with other people. This will inevitably help you, as a therapist, to understand other peoples’ behavior, needs and problems.</a:t>
            </a:r>
            <a:endParaRPr lang="en-GB" dirty="0" smtClean="0"/>
          </a:p>
          <a:p>
            <a:endParaRPr lang="en-GB" dirty="0"/>
          </a:p>
        </p:txBody>
      </p:sp>
    </p:spTree>
    <p:extLst>
      <p:ext uri="{BB962C8B-B14F-4D97-AF65-F5344CB8AC3E}">
        <p14:creationId xmlns:p14="http://schemas.microsoft.com/office/powerpoint/2010/main" val="3401515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Ctd</a:t>
            </a:r>
            <a:r>
              <a:rPr lang="en-GB" dirty="0" smtClean="0"/>
              <a:t> </a:t>
            </a:r>
            <a:endParaRPr lang="en-GB" dirty="0"/>
          </a:p>
        </p:txBody>
      </p:sp>
      <p:sp>
        <p:nvSpPr>
          <p:cNvPr id="3" name="Content Placeholder 2"/>
          <p:cNvSpPr>
            <a:spLocks noGrp="1"/>
          </p:cNvSpPr>
          <p:nvPr>
            <p:ph idx="1"/>
          </p:nvPr>
        </p:nvSpPr>
        <p:spPr/>
        <p:txBody>
          <a:bodyPr>
            <a:normAutofit/>
          </a:bodyPr>
          <a:lstStyle/>
          <a:p>
            <a:r>
              <a:rPr lang="en-US" b="1" dirty="0" smtClean="0"/>
              <a:t>Permissiveness and Firmness</a:t>
            </a:r>
            <a:r>
              <a:rPr lang="en-US" dirty="0" smtClean="0"/>
              <a:t/>
            </a:r>
            <a:br>
              <a:rPr lang="en-US" dirty="0" smtClean="0"/>
            </a:br>
            <a:r>
              <a:rPr lang="en-US" dirty="0" smtClean="0"/>
              <a:t>The therapist is expected to set limits and to be firm in implementing them.</a:t>
            </a:r>
            <a:endParaRPr lang="en-GB" dirty="0" smtClean="0"/>
          </a:p>
          <a:p>
            <a:r>
              <a:rPr lang="en-US" b="1" dirty="0" smtClean="0"/>
              <a:t>Skill in Observation</a:t>
            </a:r>
            <a:r>
              <a:rPr lang="en-US" dirty="0" smtClean="0"/>
              <a:t/>
            </a:r>
            <a:br>
              <a:rPr lang="en-US" dirty="0" smtClean="0"/>
            </a:br>
            <a:r>
              <a:rPr lang="en-US" dirty="0" smtClean="0"/>
              <a:t>It is important for a psychiatric nurse to be alert and observant at all times of the patient’s behavior, attitudes and how they react to staff, relatives and fellow patients.</a:t>
            </a:r>
            <a:endParaRPr lang="en-GB" dirty="0" smtClean="0"/>
          </a:p>
          <a:p>
            <a:endParaRPr lang="en-GB" dirty="0"/>
          </a:p>
        </p:txBody>
      </p:sp>
    </p:spTree>
    <p:extLst>
      <p:ext uri="{BB962C8B-B14F-4D97-AF65-F5344CB8AC3E}">
        <p14:creationId xmlns:p14="http://schemas.microsoft.com/office/powerpoint/2010/main" val="4203905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Legal aspects in mental health </a:t>
            </a:r>
            <a:endParaRPr lang="en-US" dirty="0"/>
          </a:p>
        </p:txBody>
      </p:sp>
      <p:sp>
        <p:nvSpPr>
          <p:cNvPr id="3" name="Content Placeholder 2"/>
          <p:cNvSpPr>
            <a:spLocks noGrp="1"/>
          </p:cNvSpPr>
          <p:nvPr>
            <p:ph idx="1"/>
          </p:nvPr>
        </p:nvSpPr>
        <p:spPr>
          <a:xfrm>
            <a:off x="457200" y="1219200"/>
            <a:ext cx="8229600" cy="5410200"/>
          </a:xfrm>
        </p:spPr>
        <p:txBody>
          <a:bodyPr>
            <a:normAutofit lnSpcReduction="10000"/>
          </a:bodyPr>
          <a:lstStyle/>
          <a:p>
            <a:r>
              <a:rPr lang="en-US" dirty="0"/>
              <a:t>Article 10 on the national values and principles of governance provides for core values that are instrumental in promotion of mental health and provision of mental health services. </a:t>
            </a:r>
            <a:endParaRPr lang="en-US" dirty="0" smtClean="0"/>
          </a:p>
          <a:p>
            <a:r>
              <a:rPr lang="en-US" dirty="0" smtClean="0"/>
              <a:t>These </a:t>
            </a:r>
            <a:r>
              <a:rPr lang="en-US" dirty="0"/>
              <a:t>values and principles include: human dignity, equity, social justice, inclusiveness, equity, human rights, non discrimination and protection of the marginalized, participation of the people good governance and accountability. </a:t>
            </a:r>
          </a:p>
        </p:txBody>
      </p:sp>
    </p:spTree>
    <p:extLst>
      <p:ext uri="{BB962C8B-B14F-4D97-AF65-F5344CB8AC3E}">
        <p14:creationId xmlns:p14="http://schemas.microsoft.com/office/powerpoint/2010/main" val="21793793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Legal aspects </a:t>
            </a:r>
            <a:endParaRPr lang="en-US" dirty="0"/>
          </a:p>
        </p:txBody>
      </p:sp>
      <p:sp>
        <p:nvSpPr>
          <p:cNvPr id="3" name="Content Placeholder 2"/>
          <p:cNvSpPr>
            <a:spLocks noGrp="1"/>
          </p:cNvSpPr>
          <p:nvPr>
            <p:ph idx="1"/>
          </p:nvPr>
        </p:nvSpPr>
        <p:spPr>
          <a:xfrm>
            <a:off x="457200" y="1219200"/>
            <a:ext cx="8229600" cy="5410200"/>
          </a:xfrm>
        </p:spPr>
        <p:txBody>
          <a:bodyPr>
            <a:normAutofit fontScale="85000" lnSpcReduction="20000"/>
          </a:bodyPr>
          <a:lstStyle/>
          <a:p>
            <a:r>
              <a:rPr lang="en-US" dirty="0"/>
              <a:t>Article 10(1) binds the government and any person while enacting laws, interpreting the Constitution and while making or implementing public policy decisions. </a:t>
            </a:r>
            <a:endParaRPr lang="en-US" dirty="0" smtClean="0"/>
          </a:p>
          <a:p>
            <a:r>
              <a:rPr lang="en-US" dirty="0" smtClean="0"/>
              <a:t>Article 27 on equality and freedom from discrimination guarantees the right of persons with mental illness before the law and equal benefit of the law just like any other persons. </a:t>
            </a:r>
          </a:p>
          <a:p>
            <a:r>
              <a:rPr lang="en-US" dirty="0" smtClean="0"/>
              <a:t>Persons with mental illness have the right to fully enjoy all the rights and fundamental freedoms. </a:t>
            </a:r>
          </a:p>
          <a:p>
            <a:r>
              <a:rPr lang="en-US" dirty="0" smtClean="0"/>
              <a:t>The state is further obligated not to discriminate persons with mental disorders because of their health status or disability. </a:t>
            </a:r>
          </a:p>
          <a:p>
            <a:r>
              <a:rPr lang="en-US" dirty="0" smtClean="0"/>
              <a:t>Article 27 therefore calls for review of all policies and laws that may be discriminating persons with mental disorders</a:t>
            </a:r>
            <a:endParaRPr lang="en-US" dirty="0"/>
          </a:p>
        </p:txBody>
      </p:sp>
    </p:spTree>
    <p:extLst>
      <p:ext uri="{BB962C8B-B14F-4D97-AF65-F5344CB8AC3E}">
        <p14:creationId xmlns:p14="http://schemas.microsoft.com/office/powerpoint/2010/main" val="10379446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Legal aspects </a:t>
            </a:r>
            <a:endParaRPr lang="en-US" dirty="0"/>
          </a:p>
        </p:txBody>
      </p:sp>
      <p:sp>
        <p:nvSpPr>
          <p:cNvPr id="3" name="Content Placeholder 2"/>
          <p:cNvSpPr>
            <a:spLocks noGrp="1"/>
          </p:cNvSpPr>
          <p:nvPr>
            <p:ph idx="1"/>
          </p:nvPr>
        </p:nvSpPr>
        <p:spPr>
          <a:xfrm>
            <a:off x="457200" y="1447800"/>
            <a:ext cx="8229600" cy="5181600"/>
          </a:xfrm>
        </p:spPr>
        <p:txBody>
          <a:bodyPr>
            <a:normAutofit fontScale="85000" lnSpcReduction="20000"/>
          </a:bodyPr>
          <a:lstStyle/>
          <a:p>
            <a:r>
              <a:rPr lang="en-US" dirty="0"/>
              <a:t>Article 28 recognizes that even persons with mental disorders have inherent dignity and the right to have that dignity respected and protected. </a:t>
            </a:r>
            <a:endParaRPr lang="en-US" dirty="0" smtClean="0"/>
          </a:p>
          <a:p>
            <a:r>
              <a:rPr lang="en-US" dirty="0" smtClean="0"/>
              <a:t>The </a:t>
            </a:r>
            <a:r>
              <a:rPr lang="en-US" dirty="0"/>
              <a:t>treatment of persons with mental disorders and family, community or health institutions level must therefore observe Article 28 whenever they are dealing with a person with mental illness. </a:t>
            </a:r>
          </a:p>
          <a:p>
            <a:r>
              <a:rPr lang="en-US" dirty="0"/>
              <a:t>Article 29 protects persons with mental disorders from being deprived of their freedom arbitrarily or without just cause for example in relation to forced admission or confinement. </a:t>
            </a:r>
            <a:endParaRPr lang="en-US" dirty="0" smtClean="0"/>
          </a:p>
          <a:p>
            <a:r>
              <a:rPr lang="en-US" dirty="0" smtClean="0"/>
              <a:t>It </a:t>
            </a:r>
            <a:r>
              <a:rPr lang="en-US" dirty="0"/>
              <a:t>also protects them from any form of violence from either public or private sources or from being treated or punished in a cruel, inhuman or degrading manner. </a:t>
            </a:r>
          </a:p>
        </p:txBody>
      </p:sp>
    </p:spTree>
    <p:extLst>
      <p:ext uri="{BB962C8B-B14F-4D97-AF65-F5344CB8AC3E}">
        <p14:creationId xmlns:p14="http://schemas.microsoft.com/office/powerpoint/2010/main" val="3137684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Legal aspects </a:t>
            </a:r>
            <a:endParaRPr lang="en-US" dirty="0"/>
          </a:p>
        </p:txBody>
      </p:sp>
      <p:sp>
        <p:nvSpPr>
          <p:cNvPr id="3" name="Content Placeholder 2"/>
          <p:cNvSpPr>
            <a:spLocks noGrp="1"/>
          </p:cNvSpPr>
          <p:nvPr>
            <p:ph idx="1"/>
          </p:nvPr>
        </p:nvSpPr>
        <p:spPr>
          <a:xfrm>
            <a:off x="457200" y="1447800"/>
            <a:ext cx="8229600" cy="4678363"/>
          </a:xfrm>
        </p:spPr>
        <p:txBody>
          <a:bodyPr/>
          <a:lstStyle/>
          <a:p>
            <a:r>
              <a:rPr lang="en-US" dirty="0" smtClean="0"/>
              <a:t>Article </a:t>
            </a:r>
            <a:r>
              <a:rPr lang="en-US" dirty="0"/>
              <a:t>43, a person with mental disorders has the right to the highest attainable standard of health, which shall include the right to health care services. The highest attainable standard of health must be related to the quality, accessibility, responsiveness, equity and appropriateness of mental health services provided</a:t>
            </a:r>
            <a:r>
              <a:rPr lang="en-US" dirty="0" smtClean="0"/>
              <a:t>.</a:t>
            </a:r>
          </a:p>
          <a:p>
            <a:pPr marL="0" indent="0">
              <a:buNone/>
            </a:pPr>
            <a:r>
              <a:rPr lang="en-US" dirty="0" smtClean="0"/>
              <a:t> </a:t>
            </a:r>
            <a:endParaRPr lang="en-US" dirty="0"/>
          </a:p>
        </p:txBody>
      </p:sp>
    </p:spTree>
    <p:extLst>
      <p:ext uri="{BB962C8B-B14F-4D97-AF65-F5344CB8AC3E}">
        <p14:creationId xmlns:p14="http://schemas.microsoft.com/office/powerpoint/2010/main" val="5401759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Legal aspects </a:t>
            </a:r>
            <a:endParaRPr lang="en-US" dirty="0"/>
          </a:p>
        </p:txBody>
      </p:sp>
      <p:sp>
        <p:nvSpPr>
          <p:cNvPr id="3" name="Content Placeholder 2"/>
          <p:cNvSpPr>
            <a:spLocks noGrp="1"/>
          </p:cNvSpPr>
          <p:nvPr>
            <p:ph idx="1"/>
          </p:nvPr>
        </p:nvSpPr>
        <p:spPr>
          <a:xfrm>
            <a:off x="457200" y="1219200"/>
            <a:ext cx="8229600" cy="5334000"/>
          </a:xfrm>
        </p:spPr>
        <p:txBody>
          <a:bodyPr>
            <a:normAutofit fontScale="92500" lnSpcReduction="20000"/>
          </a:bodyPr>
          <a:lstStyle/>
          <a:p>
            <a:r>
              <a:rPr lang="en-US" dirty="0"/>
              <a:t>Article 21, the state and every state organ is obligated to observe, respect, protect, promote and fulfill the rights and fundamental freedoms of persons with mental disorders. </a:t>
            </a:r>
            <a:endParaRPr lang="en-US" dirty="0" smtClean="0"/>
          </a:p>
          <a:p>
            <a:r>
              <a:rPr lang="en-US" dirty="0" smtClean="0"/>
              <a:t>Specifically</a:t>
            </a:r>
            <a:r>
              <a:rPr lang="en-US" dirty="0"/>
              <a:t>, the state is obligated to take legislative, policy and other measures including setting the standards to achieve the progressive realization of the rights to persons with mental disorders in Article 43</a:t>
            </a:r>
            <a:r>
              <a:rPr lang="en-US" dirty="0" smtClean="0"/>
              <a:t>.</a:t>
            </a:r>
          </a:p>
          <a:p>
            <a:r>
              <a:rPr lang="en-US" dirty="0" smtClean="0"/>
              <a:t> </a:t>
            </a:r>
            <a:r>
              <a:rPr lang="en-US" dirty="0"/>
              <a:t>This policy in line with Article 21 seeks to provide for policy measures and setting of core standards for facilitating persons with mental disorders realize the highest attainable standard of health. </a:t>
            </a:r>
          </a:p>
        </p:txBody>
      </p:sp>
    </p:spTree>
    <p:extLst>
      <p:ext uri="{BB962C8B-B14F-4D97-AF65-F5344CB8AC3E}">
        <p14:creationId xmlns:p14="http://schemas.microsoft.com/office/powerpoint/2010/main" val="8690857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38200"/>
          </a:xfrm>
        </p:spPr>
        <p:txBody>
          <a:bodyPr/>
          <a:lstStyle/>
          <a:p>
            <a:r>
              <a:rPr lang="en-US" dirty="0" smtClean="0"/>
              <a:t>Legal aspects </a:t>
            </a:r>
            <a:endParaRPr lang="en-US" dirty="0"/>
          </a:p>
        </p:txBody>
      </p:sp>
      <p:sp>
        <p:nvSpPr>
          <p:cNvPr id="3" name="Content Placeholder 2"/>
          <p:cNvSpPr>
            <a:spLocks noGrp="1"/>
          </p:cNvSpPr>
          <p:nvPr>
            <p:ph idx="1"/>
          </p:nvPr>
        </p:nvSpPr>
        <p:spPr>
          <a:xfrm>
            <a:off x="457200" y="838200"/>
            <a:ext cx="8382000" cy="6019800"/>
          </a:xfrm>
        </p:spPr>
        <p:txBody>
          <a:bodyPr>
            <a:normAutofit fontScale="85000" lnSpcReduction="10000"/>
          </a:bodyPr>
          <a:lstStyle/>
          <a:p>
            <a:r>
              <a:rPr lang="en-US" dirty="0"/>
              <a:t>In safeguarding the rights of children especially on factors that may negatively affect their mental health, it is the right of every child under Article 53 to be protected from abuse, neglect and harmful cultural practices, all forms of violence, inhuman treatment and punishment, and hazardous or exploitive </a:t>
            </a:r>
            <a:r>
              <a:rPr lang="en-US" dirty="0" smtClean="0"/>
              <a:t>labor. </a:t>
            </a:r>
          </a:p>
          <a:p>
            <a:r>
              <a:rPr lang="en-US" dirty="0"/>
              <a:t>Article 54, persons with mental disorders, which is a form of disability must be treated with dignity and respect and to be addressed or referred to in a manner that is not demeaning. </a:t>
            </a:r>
            <a:endParaRPr lang="en-US" dirty="0" smtClean="0"/>
          </a:p>
          <a:p>
            <a:r>
              <a:rPr lang="en-US" dirty="0" smtClean="0"/>
              <a:t>De-stigmatization </a:t>
            </a:r>
            <a:r>
              <a:rPr lang="en-US" dirty="0"/>
              <a:t>of mental disorders will be anchored on this Article. The state is also obligated to ensure that persons with mental disorders are integrated into society to the extent compatible with their interests </a:t>
            </a:r>
          </a:p>
        </p:txBody>
      </p:sp>
    </p:spTree>
    <p:extLst>
      <p:ext uri="{BB962C8B-B14F-4D97-AF65-F5344CB8AC3E}">
        <p14:creationId xmlns:p14="http://schemas.microsoft.com/office/powerpoint/2010/main" val="17090930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Kenyan Board of Mental Health</a:t>
            </a:r>
            <a:r>
              <a:rPr lang="en-US" dirty="0" smtClean="0"/>
              <a:t> </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92500" lnSpcReduction="10000"/>
          </a:bodyPr>
          <a:lstStyle/>
          <a:p>
            <a:r>
              <a:rPr lang="en-US" dirty="0" smtClean="0"/>
              <a:t>The members include:</a:t>
            </a:r>
            <a:endParaRPr lang="en-GB" dirty="0" smtClean="0"/>
          </a:p>
          <a:p>
            <a:pPr lvl="1"/>
            <a:r>
              <a:rPr lang="en-US" dirty="0" smtClean="0"/>
              <a:t>Chairman-DMS or  DDMS </a:t>
            </a:r>
            <a:endParaRPr lang="en-GB" dirty="0" smtClean="0"/>
          </a:p>
          <a:p>
            <a:pPr lvl="1"/>
            <a:r>
              <a:rPr lang="en-US" dirty="0" smtClean="0"/>
              <a:t>Psychiatrist (medical practitioner)</a:t>
            </a:r>
            <a:endParaRPr lang="en-GB" dirty="0" smtClean="0"/>
          </a:p>
          <a:p>
            <a:pPr lvl="1"/>
            <a:r>
              <a:rPr lang="en-US" dirty="0" smtClean="0"/>
              <a:t>C O with training and experience in mental health care </a:t>
            </a:r>
            <a:endParaRPr lang="en-GB" dirty="0" smtClean="0"/>
          </a:p>
          <a:p>
            <a:pPr lvl="1"/>
            <a:r>
              <a:rPr lang="en-US" dirty="0" smtClean="0"/>
              <a:t>Psychiatric  nurse with experience in mental health care</a:t>
            </a:r>
            <a:endParaRPr lang="en-GB" dirty="0" smtClean="0"/>
          </a:p>
          <a:p>
            <a:pPr lvl="1"/>
            <a:r>
              <a:rPr lang="en-US" dirty="0" smtClean="0"/>
              <a:t>The commissioner of social services or their nominee </a:t>
            </a:r>
            <a:endParaRPr lang="en-GB" dirty="0" smtClean="0"/>
          </a:p>
          <a:p>
            <a:pPr lvl="1"/>
            <a:r>
              <a:rPr lang="en-US" dirty="0" smtClean="0"/>
              <a:t>Director of education or their nominee </a:t>
            </a:r>
            <a:endParaRPr lang="en-GB" dirty="0" smtClean="0"/>
          </a:p>
          <a:p>
            <a:pPr lvl="1"/>
            <a:r>
              <a:rPr lang="en-US" dirty="0" smtClean="0"/>
              <a:t>A representative from each province in Kenya, being resident in the provinces</a:t>
            </a:r>
            <a:endParaRPr lang="en-GB" dirty="0" smtClean="0"/>
          </a:p>
        </p:txBody>
      </p:sp>
    </p:spTree>
    <p:extLst>
      <p:ext uri="{BB962C8B-B14F-4D97-AF65-F5344CB8AC3E}">
        <p14:creationId xmlns:p14="http://schemas.microsoft.com/office/powerpoint/2010/main" val="36066695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The board may co-opt any person whose skills, knowledge or experience may be useful or establish a committee for better function and regulate its own procedure.</a:t>
            </a:r>
            <a:endParaRPr lang="en-GB" dirty="0" smtClean="0"/>
          </a:p>
          <a:p>
            <a:endParaRPr lang="en-US" dirty="0"/>
          </a:p>
        </p:txBody>
      </p:sp>
    </p:spTree>
    <p:extLst>
      <p:ext uri="{BB962C8B-B14F-4D97-AF65-F5344CB8AC3E}">
        <p14:creationId xmlns:p14="http://schemas.microsoft.com/office/powerpoint/2010/main" val="201564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Functions of the board</a:t>
            </a:r>
            <a:endParaRPr lang="en-GB" dirty="0"/>
          </a:p>
        </p:txBody>
      </p:sp>
      <p:sp>
        <p:nvSpPr>
          <p:cNvPr id="3" name="Content Placeholder 2"/>
          <p:cNvSpPr>
            <a:spLocks noGrp="1"/>
          </p:cNvSpPr>
          <p:nvPr>
            <p:ph idx="1"/>
          </p:nvPr>
        </p:nvSpPr>
        <p:spPr>
          <a:xfrm>
            <a:off x="457200" y="1143000"/>
            <a:ext cx="8229600" cy="5334000"/>
          </a:xfrm>
        </p:spPr>
        <p:txBody>
          <a:bodyPr>
            <a:normAutofit lnSpcReduction="10000"/>
          </a:bodyPr>
          <a:lstStyle/>
          <a:p>
            <a:pPr lvl="0"/>
            <a:r>
              <a:rPr lang="en-US" dirty="0" smtClean="0"/>
              <a:t>Coordinate mental health activities in Kenya.</a:t>
            </a:r>
            <a:endParaRPr lang="en-GB" dirty="0" smtClean="0"/>
          </a:p>
          <a:p>
            <a:pPr lvl="0"/>
            <a:r>
              <a:rPr lang="en-US" dirty="0" smtClean="0"/>
              <a:t>Advise the government on the state of mental health and mental health care </a:t>
            </a:r>
            <a:br>
              <a:rPr lang="en-US" dirty="0" smtClean="0"/>
            </a:br>
            <a:r>
              <a:rPr lang="en-US" dirty="0" smtClean="0"/>
              <a:t>facilities in Kenya.</a:t>
            </a:r>
            <a:endParaRPr lang="en-GB" dirty="0" smtClean="0"/>
          </a:p>
          <a:p>
            <a:pPr lvl="0"/>
            <a:r>
              <a:rPr lang="en-US" dirty="0" smtClean="0"/>
              <a:t>Inspect mental health care hospitals to ensure that they meet the prescribed standards.</a:t>
            </a:r>
          </a:p>
          <a:p>
            <a:pPr lvl="0"/>
            <a:r>
              <a:rPr lang="en-US" dirty="0" smtClean="0"/>
              <a:t>Approve the establishment of mental health care hospitals.</a:t>
            </a:r>
            <a:endParaRPr lang="en-GB" dirty="0" smtClean="0"/>
          </a:p>
          <a:p>
            <a:pPr lvl="0"/>
            <a:r>
              <a:rPr lang="en-US" dirty="0" smtClean="0"/>
              <a:t>Assist when necessary in the administration of mental health hospitals.</a:t>
            </a:r>
            <a:endParaRPr lang="en-GB" dirty="0" smtClean="0"/>
          </a:p>
          <a:p>
            <a:endParaRPr lang="en-US" dirty="0" smtClean="0"/>
          </a:p>
          <a:p>
            <a:pPr lvl="0"/>
            <a:endParaRPr lang="en-GB" dirty="0" smtClean="0"/>
          </a:p>
        </p:txBody>
      </p:sp>
    </p:spTree>
    <p:extLst>
      <p:ext uri="{BB962C8B-B14F-4D97-AF65-F5344CB8AC3E}">
        <p14:creationId xmlns:p14="http://schemas.microsoft.com/office/powerpoint/2010/main" val="875278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Ctied</a:t>
            </a:r>
            <a:r>
              <a:rPr lang="en-GB" dirty="0" smtClean="0"/>
              <a:t> </a:t>
            </a:r>
            <a:endParaRPr lang="en-GB" dirty="0"/>
          </a:p>
        </p:txBody>
      </p:sp>
      <p:sp>
        <p:nvSpPr>
          <p:cNvPr id="3" name="Content Placeholder 2"/>
          <p:cNvSpPr>
            <a:spLocks noGrp="1"/>
          </p:cNvSpPr>
          <p:nvPr>
            <p:ph idx="1"/>
          </p:nvPr>
        </p:nvSpPr>
        <p:spPr/>
        <p:txBody>
          <a:bodyPr>
            <a:normAutofit lnSpcReduction="10000"/>
          </a:bodyPr>
          <a:lstStyle/>
          <a:p>
            <a:pPr lvl="0"/>
            <a:r>
              <a:rPr lang="en-US" dirty="0" smtClean="0"/>
              <a:t>Receive and investigate any matters referred to it by a patient or relative of a patient concerning the treatment of the patient at a mental health hospital and, where necessary, to take or recommend to the minister any remedial action.</a:t>
            </a:r>
            <a:endParaRPr lang="en-GB" dirty="0" smtClean="0"/>
          </a:p>
          <a:p>
            <a:pPr lvl="0"/>
            <a:r>
              <a:rPr lang="en-US" dirty="0" smtClean="0"/>
              <a:t>To advise the government on the care of the persons suffering from mental sub-normality without mental disorder.</a:t>
            </a:r>
            <a:endParaRPr lang="en-GB" dirty="0" smtClean="0"/>
          </a:p>
          <a:p>
            <a:endParaRPr lang="en-GB" dirty="0" smtClean="0"/>
          </a:p>
          <a:p>
            <a:endParaRPr lang="en-GB" dirty="0"/>
          </a:p>
        </p:txBody>
      </p:sp>
    </p:spTree>
    <p:extLst>
      <p:ext uri="{BB962C8B-B14F-4D97-AF65-F5344CB8AC3E}">
        <p14:creationId xmlns:p14="http://schemas.microsoft.com/office/powerpoint/2010/main" val="2831029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pPr lvl="0"/>
            <a:r>
              <a:rPr lang="en-US" dirty="0" smtClean="0"/>
              <a:t>To initiate and organize community or family based programs for the care of persons suffering from mental disorder, and to perform such other functions as may be placed upon it by this act or under the law.</a:t>
            </a:r>
            <a:endParaRPr lang="en-GB" dirty="0" smtClean="0"/>
          </a:p>
          <a:p>
            <a:endParaRPr lang="en-US" dirty="0"/>
          </a:p>
        </p:txBody>
      </p:sp>
    </p:spTree>
    <p:extLst>
      <p:ext uri="{BB962C8B-B14F-4D97-AF65-F5344CB8AC3E}">
        <p14:creationId xmlns:p14="http://schemas.microsoft.com/office/powerpoint/2010/main" val="40873912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smtClean="0"/>
              <a:t>Sections of the act</a:t>
            </a:r>
            <a:r>
              <a:rPr lang="en-GB" dirty="0" smtClean="0"/>
              <a:t/>
            </a:r>
            <a:br>
              <a:rPr lang="en-GB" dirty="0" smtClean="0"/>
            </a:br>
            <a:r>
              <a:rPr lang="en-GB" dirty="0" smtClean="0"/>
              <a:t>part v voluntary patients section </a:t>
            </a:r>
            <a:endParaRPr lang="en-GB" dirty="0"/>
          </a:p>
        </p:txBody>
      </p:sp>
      <p:sp>
        <p:nvSpPr>
          <p:cNvPr id="3" name="Content Placeholder 2"/>
          <p:cNvSpPr>
            <a:spLocks noGrp="1"/>
          </p:cNvSpPr>
          <p:nvPr>
            <p:ph idx="1"/>
          </p:nvPr>
        </p:nvSpPr>
        <p:spPr/>
        <p:txBody>
          <a:bodyPr/>
          <a:lstStyle/>
          <a:p>
            <a:r>
              <a:rPr lang="en-US" dirty="0" smtClean="0"/>
              <a:t>Any person who has attained the apparent aged  ≥16 yrs, decrees to voluntarily submit themselves to treatment for mental disorder, and who makes a written application in duplicate in form MOH 613, may be perceived as a voluntary patient into a mental hospital.</a:t>
            </a:r>
          </a:p>
          <a:p>
            <a:r>
              <a:rPr lang="en-US" dirty="0" smtClean="0"/>
              <a:t>If &lt;16yrs the parent or guardian fills in duplicate form MOH 637</a:t>
            </a:r>
            <a:endParaRPr lang="en-GB" dirty="0" smtClean="0"/>
          </a:p>
          <a:p>
            <a:endParaRPr lang="en-GB" dirty="0"/>
          </a:p>
        </p:txBody>
      </p:sp>
    </p:spTree>
    <p:extLst>
      <p:ext uri="{BB962C8B-B14F-4D97-AF65-F5344CB8AC3E}">
        <p14:creationId xmlns:p14="http://schemas.microsoft.com/office/powerpoint/2010/main" val="237092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Part VI - Involuntary Patients  Section 14 </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Involuntary patients are those who are incapable of expressing themselves as willing or unwilling to receive treatment. </a:t>
            </a:r>
          </a:p>
          <a:p>
            <a:r>
              <a:rPr lang="en-US" dirty="0" smtClean="0"/>
              <a:t>Forms MOH 614 should be filled in duplicate by the husband, wife or relative of the patient, indicating the reasons why they are applying for admission and is admitted for a period not exceeding 6months</a:t>
            </a:r>
          </a:p>
          <a:p>
            <a:r>
              <a:rPr lang="en-US" dirty="0" smtClean="0"/>
              <a:t>MOH 615 should be filled by the doctor to prolong the period to up to 12 months stating the reason why s/he thinks the person can benefit</a:t>
            </a:r>
            <a:endParaRPr lang="en-GB" dirty="0" smtClean="0"/>
          </a:p>
          <a:p>
            <a:endParaRPr lang="en-GB" dirty="0"/>
          </a:p>
        </p:txBody>
      </p:sp>
    </p:spTree>
    <p:extLst>
      <p:ext uri="{BB962C8B-B14F-4D97-AF65-F5344CB8AC3E}">
        <p14:creationId xmlns:p14="http://schemas.microsoft.com/office/powerpoint/2010/main" val="11562515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Part VII - Emergency Admissions Section 1b </a:t>
            </a:r>
            <a:r>
              <a:rPr lang="en-US" dirty="0" smtClean="0"/>
              <a:t> </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Police officer or an administrative officer can arrest any person who is found to be dangerous to themselves or others, and take them to a mental hospital for treatment within 24 hours or a reasonable time. </a:t>
            </a:r>
          </a:p>
          <a:p>
            <a:r>
              <a:rPr lang="en-US" dirty="0" smtClean="0"/>
              <a:t>The patient should be reviewed after 72 hours and can be discharged if found to be of sound mind or admitted for treatment as an involuntary patient. </a:t>
            </a:r>
          </a:p>
          <a:p>
            <a:r>
              <a:rPr lang="en-US" dirty="0" smtClean="0"/>
              <a:t>For the purposes of admission, the form MOH 638</a:t>
            </a:r>
            <a:endParaRPr lang="en-GB" dirty="0"/>
          </a:p>
        </p:txBody>
      </p:sp>
    </p:spTree>
    <p:extLst>
      <p:ext uri="{BB962C8B-B14F-4D97-AF65-F5344CB8AC3E}">
        <p14:creationId xmlns:p14="http://schemas.microsoft.com/office/powerpoint/2010/main" val="1606429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t/>
            </a:r>
            <a:br>
              <a:rPr lang="en-US" sz="3200" b="1" dirty="0" smtClean="0"/>
            </a:br>
            <a:r>
              <a:rPr lang="en-US" sz="3200" b="1" dirty="0" smtClean="0"/>
              <a:t>Part VIII - Admission and Discharge of Members of the Armed Forces Section 17 </a:t>
            </a:r>
            <a:r>
              <a:rPr lang="en-GB" sz="3200" dirty="0" smtClean="0"/>
              <a:t/>
            </a:r>
            <a:br>
              <a:rPr lang="en-GB" sz="3200" dirty="0" smtClean="0"/>
            </a:br>
            <a:endParaRPr lang="en-GB" sz="3200" dirty="0"/>
          </a:p>
        </p:txBody>
      </p:sp>
      <p:sp>
        <p:nvSpPr>
          <p:cNvPr id="3" name="Content Placeholder 2"/>
          <p:cNvSpPr>
            <a:spLocks noGrp="1"/>
          </p:cNvSpPr>
          <p:nvPr>
            <p:ph idx="1"/>
          </p:nvPr>
        </p:nvSpPr>
        <p:spPr/>
        <p:txBody>
          <a:bodyPr>
            <a:normAutofit fontScale="92500" lnSpcReduction="20000"/>
          </a:bodyPr>
          <a:lstStyle/>
          <a:p>
            <a:r>
              <a:rPr lang="en-US" dirty="0" smtClean="0"/>
              <a:t>Any member of the armed forces may be admitted into a mental hospital for observation, if a medical officer of the armed forces, by letter addressed to the ‘person in charge’ certifies that:</a:t>
            </a:r>
            <a:endParaRPr lang="en-GB" dirty="0" smtClean="0"/>
          </a:p>
          <a:p>
            <a:pPr lvl="1"/>
            <a:r>
              <a:rPr lang="en-US" dirty="0" smtClean="0"/>
              <a:t>The member of the armed forces has been examined within a period of 48 hours before issuing the letter</a:t>
            </a:r>
            <a:endParaRPr lang="en-GB" dirty="0" smtClean="0"/>
          </a:p>
          <a:p>
            <a:pPr lvl="1"/>
            <a:r>
              <a:rPr lang="en-US" dirty="0" smtClean="0"/>
              <a:t>For reasons recorded in the letter, the member of the armed forces is a proper person to be admitted to a mental hospital for observation and treatment</a:t>
            </a:r>
            <a:endParaRPr lang="en-GB" dirty="0" smtClean="0"/>
          </a:p>
          <a:p>
            <a:r>
              <a:rPr lang="en-US" dirty="0" smtClean="0"/>
              <a:t>He may be admitted under section 17 for an initial period of 28 days from the date of admission</a:t>
            </a:r>
            <a:endParaRPr lang="en-GB" dirty="0"/>
          </a:p>
        </p:txBody>
      </p:sp>
    </p:spTree>
    <p:extLst>
      <p:ext uri="{BB962C8B-B14F-4D97-AF65-F5344CB8AC3E}">
        <p14:creationId xmlns:p14="http://schemas.microsoft.com/office/powerpoint/2010/main" val="4016563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Part XIV – Offences under MHA</a:t>
            </a:r>
            <a:r>
              <a:rPr lang="en-US" dirty="0" smtClean="0"/>
              <a:t> </a:t>
            </a:r>
            <a:r>
              <a:rPr lang="en-GB" dirty="0" smtClean="0"/>
              <a:t/>
            </a:r>
            <a:br>
              <a:rPr lang="en-GB" dirty="0" smtClean="0"/>
            </a:br>
            <a:endParaRPr lang="en-GB" dirty="0"/>
          </a:p>
        </p:txBody>
      </p:sp>
      <p:sp>
        <p:nvSpPr>
          <p:cNvPr id="3" name="Content Placeholder 2"/>
          <p:cNvSpPr>
            <a:spLocks noGrp="1"/>
          </p:cNvSpPr>
          <p:nvPr>
            <p:ph idx="1"/>
          </p:nvPr>
        </p:nvSpPr>
        <p:spPr/>
        <p:txBody>
          <a:bodyPr>
            <a:normAutofit fontScale="85000" lnSpcReduction="10000"/>
          </a:bodyPr>
          <a:lstStyle/>
          <a:p>
            <a:r>
              <a:rPr lang="en-US" b="1" dirty="0" smtClean="0"/>
              <a:t>Section 47:</a:t>
            </a:r>
            <a:r>
              <a:rPr lang="en-US" dirty="0" smtClean="0"/>
              <a:t> It is an offence for a person other than medical practitioner to sign certificates.</a:t>
            </a:r>
            <a:endParaRPr lang="en-GB" dirty="0" smtClean="0"/>
          </a:p>
          <a:p>
            <a:r>
              <a:rPr lang="en-US" b="1" dirty="0" smtClean="0"/>
              <a:t>Section 48:</a:t>
            </a:r>
            <a:r>
              <a:rPr lang="en-US" dirty="0" smtClean="0"/>
              <a:t> Any medical practitioner who knowingly, willfully or recklessly certifies anything in a certificate made under this act, which they know to be untrue</a:t>
            </a:r>
            <a:endParaRPr lang="en-GB" dirty="0" smtClean="0"/>
          </a:p>
          <a:p>
            <a:r>
              <a:rPr lang="en-US" b="1" dirty="0" smtClean="0"/>
              <a:t>Section 49:</a:t>
            </a:r>
            <a:r>
              <a:rPr lang="en-US" dirty="0" smtClean="0"/>
              <a:t> It is an offence for any person to assist the escape of any person suffering from mental disorder</a:t>
            </a:r>
          </a:p>
          <a:p>
            <a:r>
              <a:rPr lang="en-US" b="1" dirty="0" smtClean="0"/>
              <a:t>Section 50:</a:t>
            </a:r>
            <a:r>
              <a:rPr lang="en-US" dirty="0" smtClean="0"/>
              <a:t> It is an offence for any person in charge of or any person employed at a mental hospital to unlawfully permit a patient to leave such a hospital.</a:t>
            </a:r>
            <a:endParaRPr lang="en-GB" dirty="0" smtClean="0"/>
          </a:p>
          <a:p>
            <a:endParaRPr lang="en-GB" dirty="0"/>
          </a:p>
        </p:txBody>
      </p:sp>
    </p:spTree>
    <p:extLst>
      <p:ext uri="{BB962C8B-B14F-4D97-AF65-F5344CB8AC3E}">
        <p14:creationId xmlns:p14="http://schemas.microsoft.com/office/powerpoint/2010/main" val="3625026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Ctied</a:t>
            </a:r>
            <a:r>
              <a:rPr lang="en-GB" dirty="0" smtClean="0"/>
              <a:t> </a:t>
            </a:r>
            <a:endParaRPr lang="en-GB" dirty="0"/>
          </a:p>
        </p:txBody>
      </p:sp>
      <p:sp>
        <p:nvSpPr>
          <p:cNvPr id="3" name="Content Placeholder 2"/>
          <p:cNvSpPr>
            <a:spLocks noGrp="1"/>
          </p:cNvSpPr>
          <p:nvPr>
            <p:ph idx="1"/>
          </p:nvPr>
        </p:nvSpPr>
        <p:spPr/>
        <p:txBody>
          <a:bodyPr>
            <a:normAutofit fontScale="92500"/>
          </a:bodyPr>
          <a:lstStyle/>
          <a:p>
            <a:r>
              <a:rPr lang="en-US" b="1" dirty="0" smtClean="0"/>
              <a:t>Section 51:</a:t>
            </a:r>
            <a:r>
              <a:rPr lang="en-US" dirty="0" smtClean="0"/>
              <a:t> Any person in charge of, or any person employed at a mental hospital that strikes, ill-treats, abuses or willfully neglects any patient in the mental hospital, </a:t>
            </a:r>
            <a:endParaRPr lang="en-GB" dirty="0" smtClean="0"/>
          </a:p>
          <a:p>
            <a:r>
              <a:rPr lang="en-US" b="1" dirty="0" smtClean="0"/>
              <a:t>Section 52:</a:t>
            </a:r>
            <a:r>
              <a:rPr lang="en-US" dirty="0" smtClean="0"/>
              <a:t> Any person who without the consent of a ‘person in charge’ gives, sells or barters any articles or commodities of any kind, to any patient in a mental hospital, whether inside or outside the grounds of the mental hospital</a:t>
            </a:r>
            <a:endParaRPr lang="en-GB" dirty="0" smtClean="0"/>
          </a:p>
        </p:txBody>
      </p:sp>
    </p:spTree>
    <p:extLst>
      <p:ext uri="{BB962C8B-B14F-4D97-AF65-F5344CB8AC3E}">
        <p14:creationId xmlns:p14="http://schemas.microsoft.com/office/powerpoint/2010/main" val="2172796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Role of mental health nurse </a:t>
            </a:r>
            <a:endParaRPr lang="en-US" dirty="0"/>
          </a:p>
        </p:txBody>
      </p:sp>
      <p:sp>
        <p:nvSpPr>
          <p:cNvPr id="3" name="Content Placeholder 2"/>
          <p:cNvSpPr>
            <a:spLocks noGrp="1"/>
          </p:cNvSpPr>
          <p:nvPr>
            <p:ph idx="1"/>
          </p:nvPr>
        </p:nvSpPr>
        <p:spPr>
          <a:xfrm>
            <a:off x="533400" y="1295400"/>
            <a:ext cx="8229600" cy="5135563"/>
          </a:xfrm>
        </p:spPr>
        <p:txBody>
          <a:bodyPr>
            <a:normAutofit fontScale="70000" lnSpcReduction="20000"/>
          </a:bodyPr>
          <a:lstStyle/>
          <a:p>
            <a:r>
              <a:rPr lang="en-US" dirty="0" smtClean="0"/>
              <a:t>Oversee and conduct mental health assessments, diagnose and plan individual case management of psychiatric patients</a:t>
            </a:r>
          </a:p>
          <a:p>
            <a:r>
              <a:rPr lang="en-US" dirty="0" smtClean="0"/>
              <a:t>Conduct individual home-visits on specific demanding cases. </a:t>
            </a:r>
          </a:p>
          <a:p>
            <a:r>
              <a:rPr lang="en-US" dirty="0" smtClean="0"/>
              <a:t>Develop nursing care plans for psychiatric patients admitted into the ward and liaise treatment plans </a:t>
            </a:r>
          </a:p>
          <a:p>
            <a:r>
              <a:rPr lang="en-US" dirty="0" smtClean="0"/>
              <a:t>Participate in developing community networks to support mental health patients in the community. </a:t>
            </a:r>
          </a:p>
          <a:p>
            <a:r>
              <a:rPr lang="en-US" dirty="0" smtClean="0"/>
              <a:t>Provide psychiatric support through use of individual or group counseling and psychotherapy. </a:t>
            </a:r>
          </a:p>
          <a:p>
            <a:r>
              <a:rPr lang="en-US" dirty="0" smtClean="0"/>
              <a:t>Train mental health assistants, Community Health Promoters and other groups exposed to care of persons with mental health disorders </a:t>
            </a:r>
          </a:p>
          <a:p>
            <a:r>
              <a:rPr lang="en-US" dirty="0" smtClean="0"/>
              <a:t>Supervise mental health assistants and ensure that data records for all the patients attended at the clinics are well kept Compile weekly and monthly reports.</a:t>
            </a:r>
          </a:p>
        </p:txBody>
      </p:sp>
    </p:spTree>
    <p:extLst>
      <p:ext uri="{BB962C8B-B14F-4D97-AF65-F5344CB8AC3E}">
        <p14:creationId xmlns:p14="http://schemas.microsoft.com/office/powerpoint/2010/main" val="14407290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600200"/>
          </a:xfrm>
        </p:spPr>
        <p:txBody>
          <a:bodyPr>
            <a:normAutofit fontScale="90000"/>
          </a:bodyPr>
          <a:lstStyle/>
          <a:p>
            <a:r>
              <a:rPr lang="en-US" dirty="0"/>
              <a:t/>
            </a:r>
            <a:br>
              <a:rPr lang="en-US" dirty="0"/>
            </a:br>
            <a:r>
              <a:rPr lang="en-US" dirty="0"/>
              <a:t> </a:t>
            </a:r>
            <a:r>
              <a:rPr lang="en-US" b="1" dirty="0"/>
              <a:t>GENERAL SYMPTOMS OF MENTAL DISORDERS </a:t>
            </a:r>
            <a:endParaRPr lang="en-US" dirty="0"/>
          </a:p>
        </p:txBody>
      </p:sp>
      <p:sp>
        <p:nvSpPr>
          <p:cNvPr id="3" name="Content Placeholder 2"/>
          <p:cNvSpPr>
            <a:spLocks noGrp="1"/>
          </p:cNvSpPr>
          <p:nvPr>
            <p:ph idx="1"/>
          </p:nvPr>
        </p:nvSpPr>
        <p:spPr/>
        <p:txBody>
          <a:bodyPr/>
          <a:lstStyle/>
          <a:p>
            <a:pPr marL="0" indent="0">
              <a:buNone/>
            </a:pPr>
            <a:r>
              <a:rPr lang="en-US" b="1" dirty="0" smtClean="0"/>
              <a:t>1. Thought </a:t>
            </a:r>
            <a:r>
              <a:rPr lang="en-US" b="1" dirty="0"/>
              <a:t>Disorders </a:t>
            </a:r>
            <a:r>
              <a:rPr lang="en-US" b="1" dirty="0" smtClean="0"/>
              <a:t> </a:t>
            </a:r>
            <a:endParaRPr lang="en-US" dirty="0"/>
          </a:p>
          <a:p>
            <a:r>
              <a:rPr lang="en-US" dirty="0"/>
              <a:t> Any disturbance of thinking that affects </a:t>
            </a:r>
            <a:r>
              <a:rPr lang="en-US" b="1" dirty="0"/>
              <a:t>language, communication, thought content, or thought process </a:t>
            </a:r>
            <a:r>
              <a:rPr lang="en-US" dirty="0"/>
              <a:t>determined from the patients speech, writing or inferred from their </a:t>
            </a:r>
            <a:r>
              <a:rPr lang="en-US" dirty="0" smtClean="0"/>
              <a:t>actions</a:t>
            </a:r>
            <a:endParaRPr lang="en-US" dirty="0"/>
          </a:p>
          <a:p>
            <a:r>
              <a:rPr lang="en-US" dirty="0"/>
              <a:t> Disordered thinking may be either; </a:t>
            </a:r>
            <a:r>
              <a:rPr lang="en-US" dirty="0" smtClean="0"/>
              <a:t> </a:t>
            </a:r>
            <a:endParaRPr lang="en-US" b="1" dirty="0"/>
          </a:p>
        </p:txBody>
      </p:sp>
    </p:spTree>
    <p:extLst>
      <p:ext uri="{BB962C8B-B14F-4D97-AF65-F5344CB8AC3E}">
        <p14:creationId xmlns:p14="http://schemas.microsoft.com/office/powerpoint/2010/main" val="299100586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General symptomatology </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10000"/>
          </a:bodyPr>
          <a:lstStyle/>
          <a:p>
            <a:endParaRPr lang="en-US" dirty="0"/>
          </a:p>
          <a:p>
            <a:pPr marL="0" indent="0">
              <a:buNone/>
            </a:pPr>
            <a:r>
              <a:rPr lang="en-US" dirty="0" smtClean="0"/>
              <a:t>A. Disorder </a:t>
            </a:r>
            <a:r>
              <a:rPr lang="en-US" dirty="0"/>
              <a:t>of </a:t>
            </a:r>
            <a:r>
              <a:rPr lang="en-US" b="1" dirty="0"/>
              <a:t>thought content </a:t>
            </a:r>
            <a:r>
              <a:rPr lang="en-US" dirty="0"/>
              <a:t>- reflects the patients belief and interpretation of stimuli; </a:t>
            </a:r>
          </a:p>
          <a:p>
            <a:pPr lvl="1"/>
            <a:r>
              <a:rPr lang="en-US" dirty="0" smtClean="0"/>
              <a:t>Hallucinated </a:t>
            </a:r>
            <a:r>
              <a:rPr lang="en-US" dirty="0"/>
              <a:t>experiences </a:t>
            </a:r>
          </a:p>
          <a:p>
            <a:pPr lvl="1"/>
            <a:r>
              <a:rPr lang="en-US" dirty="0" smtClean="0"/>
              <a:t>Delusions </a:t>
            </a:r>
          </a:p>
          <a:p>
            <a:pPr lvl="1"/>
            <a:r>
              <a:rPr lang="en-US" dirty="0" smtClean="0"/>
              <a:t>Illusions </a:t>
            </a:r>
            <a:endParaRPr lang="en-US" dirty="0"/>
          </a:p>
          <a:p>
            <a:pPr marL="0" indent="0">
              <a:buNone/>
            </a:pPr>
            <a:r>
              <a:rPr lang="en-US" dirty="0" smtClean="0"/>
              <a:t>B. </a:t>
            </a:r>
            <a:r>
              <a:rPr lang="en-US" b="1" dirty="0" smtClean="0"/>
              <a:t>Disorder </a:t>
            </a:r>
            <a:r>
              <a:rPr lang="en-US" b="1" dirty="0"/>
              <a:t>thought form/ process</a:t>
            </a:r>
            <a:r>
              <a:rPr lang="en-US" dirty="0"/>
              <a:t>, characterized by a failure to follow logical rules</a:t>
            </a:r>
            <a:r>
              <a:rPr lang="en-US" b="1" dirty="0"/>
              <a:t>. </a:t>
            </a:r>
            <a:endParaRPr lang="en-US" b="1" dirty="0" smtClean="0"/>
          </a:p>
          <a:p>
            <a:r>
              <a:rPr lang="en-US" dirty="0" smtClean="0"/>
              <a:t>It </a:t>
            </a:r>
            <a:r>
              <a:rPr lang="en-US" dirty="0"/>
              <a:t>has the following features- </a:t>
            </a:r>
            <a:r>
              <a:rPr lang="en-US" b="1" dirty="0"/>
              <a:t>Fusion, Omission and Substitution</a:t>
            </a:r>
            <a:r>
              <a:rPr lang="en-US" dirty="0"/>
              <a:t>. </a:t>
            </a:r>
            <a:endParaRPr lang="en-US" dirty="0" smtClean="0"/>
          </a:p>
          <a:p>
            <a:r>
              <a:rPr lang="en-US" dirty="0" smtClean="0"/>
              <a:t>It </a:t>
            </a:r>
            <a:r>
              <a:rPr lang="en-US" dirty="0"/>
              <a:t>may range from; </a:t>
            </a:r>
          </a:p>
        </p:txBody>
      </p:sp>
    </p:spTree>
    <p:extLst>
      <p:ext uri="{BB962C8B-B14F-4D97-AF65-F5344CB8AC3E}">
        <p14:creationId xmlns:p14="http://schemas.microsoft.com/office/powerpoint/2010/main" val="3476696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dirty="0" smtClean="0"/>
              <a:t>THOUGHT PROCESS </a:t>
            </a:r>
            <a:endParaRPr lang="en-US" dirty="0"/>
          </a:p>
        </p:txBody>
      </p:sp>
      <p:sp>
        <p:nvSpPr>
          <p:cNvPr id="3" name="Content Placeholder 2"/>
          <p:cNvSpPr>
            <a:spLocks noGrp="1"/>
          </p:cNvSpPr>
          <p:nvPr>
            <p:ph idx="1"/>
          </p:nvPr>
        </p:nvSpPr>
        <p:spPr>
          <a:xfrm>
            <a:off x="457200" y="914400"/>
            <a:ext cx="8229600" cy="5715000"/>
          </a:xfrm>
        </p:spPr>
        <p:txBody>
          <a:bodyPr>
            <a:normAutofit fontScale="85000" lnSpcReduction="10000"/>
          </a:bodyPr>
          <a:lstStyle/>
          <a:p>
            <a:pPr marL="0" indent="0">
              <a:buNone/>
            </a:pPr>
            <a:endParaRPr lang="en-US" dirty="0"/>
          </a:p>
          <a:p>
            <a:pPr marL="0" indent="0">
              <a:buNone/>
            </a:pPr>
            <a:r>
              <a:rPr lang="en-US" b="1" dirty="0" smtClean="0"/>
              <a:t>1. Incoherence </a:t>
            </a:r>
            <a:r>
              <a:rPr lang="en-US" b="1" dirty="0"/>
              <a:t>of speech </a:t>
            </a:r>
            <a:r>
              <a:rPr lang="en-US" dirty="0"/>
              <a:t>2° to pressure of thought </a:t>
            </a:r>
            <a:endParaRPr lang="en-US" dirty="0" smtClean="0"/>
          </a:p>
          <a:p>
            <a:pPr marL="0" indent="0">
              <a:buNone/>
            </a:pPr>
            <a:r>
              <a:rPr lang="en-US" b="1" dirty="0" smtClean="0"/>
              <a:t>2. Illogical </a:t>
            </a:r>
            <a:r>
              <a:rPr lang="en-US" b="1" dirty="0"/>
              <a:t>thinking </a:t>
            </a:r>
          </a:p>
          <a:p>
            <a:pPr marL="0" indent="0">
              <a:buNone/>
            </a:pPr>
            <a:r>
              <a:rPr lang="en-US" b="1" dirty="0" smtClean="0"/>
              <a:t>3. Concrete </a:t>
            </a:r>
            <a:r>
              <a:rPr lang="en-US" b="1" dirty="0"/>
              <a:t>thinking </a:t>
            </a:r>
            <a:r>
              <a:rPr lang="en-US" dirty="0"/>
              <a:t>- Thinking characterized by diminished capacity to form abstractions. The subject is unable to think metaphorically or hypothetically. </a:t>
            </a:r>
            <a:endParaRPr lang="en-US" dirty="0" smtClean="0"/>
          </a:p>
          <a:p>
            <a:pPr marL="0" indent="0">
              <a:buNone/>
            </a:pPr>
            <a:r>
              <a:rPr lang="en-US" b="1" dirty="0" smtClean="0"/>
              <a:t>4. Tangentially: </a:t>
            </a:r>
            <a:r>
              <a:rPr lang="en-US" dirty="0"/>
              <a:t>A disturbance of communication in which the subject forgets the central idea or question and </a:t>
            </a:r>
            <a:r>
              <a:rPr lang="en-US" b="1" dirty="0"/>
              <a:t>does not return</a:t>
            </a:r>
            <a:r>
              <a:rPr lang="en-US" dirty="0"/>
              <a:t>. It is related to loosening of associations and speech derailment in that there is a jump from one thought or topic to another. </a:t>
            </a:r>
            <a:endParaRPr lang="en-US" dirty="0" smtClean="0"/>
          </a:p>
          <a:p>
            <a:pPr marL="0" indent="0">
              <a:buNone/>
            </a:pPr>
            <a:r>
              <a:rPr lang="en-US" dirty="0" smtClean="0"/>
              <a:t>Tangential </a:t>
            </a:r>
            <a:r>
              <a:rPr lang="en-US" dirty="0"/>
              <a:t>thinking can be quite coherent as long as it successfully evades the central theme. </a:t>
            </a:r>
          </a:p>
        </p:txBody>
      </p:sp>
    </p:spTree>
    <p:extLst>
      <p:ext uri="{BB962C8B-B14F-4D97-AF65-F5344CB8AC3E}">
        <p14:creationId xmlns:p14="http://schemas.microsoft.com/office/powerpoint/2010/main" val="13231827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THOUGHT PROCESS</a:t>
            </a:r>
            <a:endParaRPr lang="en-US" dirty="0"/>
          </a:p>
        </p:txBody>
      </p:sp>
      <p:sp>
        <p:nvSpPr>
          <p:cNvPr id="3" name="Content Placeholder 2"/>
          <p:cNvSpPr>
            <a:spLocks noGrp="1"/>
          </p:cNvSpPr>
          <p:nvPr>
            <p:ph idx="1"/>
          </p:nvPr>
        </p:nvSpPr>
        <p:spPr>
          <a:xfrm>
            <a:off x="533400" y="914400"/>
            <a:ext cx="8229600" cy="5867400"/>
          </a:xfrm>
        </p:spPr>
        <p:txBody>
          <a:bodyPr>
            <a:normAutofit/>
          </a:bodyPr>
          <a:lstStyle/>
          <a:p>
            <a:pPr marL="0" indent="0">
              <a:buNone/>
            </a:pPr>
            <a:endParaRPr lang="en-US" dirty="0"/>
          </a:p>
          <a:p>
            <a:pPr marL="0" indent="0">
              <a:buNone/>
            </a:pPr>
            <a:r>
              <a:rPr lang="en-US" b="1" dirty="0" smtClean="0"/>
              <a:t>5. Disorganized behavior. </a:t>
            </a:r>
            <a:endParaRPr lang="en-US" b="1" dirty="0"/>
          </a:p>
          <a:p>
            <a:pPr marL="0" indent="0">
              <a:buNone/>
            </a:pPr>
            <a:r>
              <a:rPr lang="en-US" b="1" dirty="0" smtClean="0"/>
              <a:t>6. Blocking</a:t>
            </a:r>
            <a:r>
              <a:rPr lang="en-US" b="1" dirty="0"/>
              <a:t>: </a:t>
            </a:r>
            <a:r>
              <a:rPr lang="en-US" dirty="0"/>
              <a:t>Sudden disruption of thought evidenced by an interruption or momentary disruption of speech. </a:t>
            </a:r>
            <a:endParaRPr lang="en-US" dirty="0" smtClean="0"/>
          </a:p>
          <a:p>
            <a:pPr marL="0" indent="0">
              <a:buNone/>
            </a:pPr>
            <a:r>
              <a:rPr lang="en-US" dirty="0" smtClean="0"/>
              <a:t>It </a:t>
            </a:r>
            <a:r>
              <a:rPr lang="en-US" dirty="0"/>
              <a:t>appears as if the individual is trying to remember what he or she was thinking or saying</a:t>
            </a:r>
            <a:r>
              <a:rPr lang="en-US" dirty="0" smtClean="0"/>
              <a:t>.</a:t>
            </a:r>
          </a:p>
          <a:p>
            <a:pPr marL="0" indent="0">
              <a:buNone/>
            </a:pPr>
            <a:r>
              <a:rPr lang="en-US" dirty="0" smtClean="0"/>
              <a:t> </a:t>
            </a:r>
            <a:r>
              <a:rPr lang="en-US" dirty="0"/>
              <a:t>It may occur in </a:t>
            </a:r>
            <a:r>
              <a:rPr lang="en-US" b="1" dirty="0"/>
              <a:t>schizophrenia</a:t>
            </a:r>
            <a:r>
              <a:rPr lang="en-US" dirty="0"/>
              <a:t>, and lesser degrees are seen in anxiety states such as </a:t>
            </a:r>
            <a:r>
              <a:rPr lang="en-US" b="1" dirty="0"/>
              <a:t>obsessive-compulsive disorders. </a:t>
            </a:r>
            <a:endParaRPr lang="en-US" dirty="0"/>
          </a:p>
        </p:txBody>
      </p:sp>
    </p:spTree>
    <p:extLst>
      <p:ext uri="{BB962C8B-B14F-4D97-AF65-F5344CB8AC3E}">
        <p14:creationId xmlns:p14="http://schemas.microsoft.com/office/powerpoint/2010/main" val="139290322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THOUGHT PROCESS </a:t>
            </a:r>
            <a:endParaRPr lang="en-US" dirty="0"/>
          </a:p>
        </p:txBody>
      </p:sp>
      <p:sp>
        <p:nvSpPr>
          <p:cNvPr id="3" name="Content Placeholder 2"/>
          <p:cNvSpPr>
            <a:spLocks noGrp="1"/>
          </p:cNvSpPr>
          <p:nvPr>
            <p:ph idx="1"/>
          </p:nvPr>
        </p:nvSpPr>
        <p:spPr>
          <a:xfrm>
            <a:off x="457200" y="1447800"/>
            <a:ext cx="8229600" cy="5334000"/>
          </a:xfrm>
        </p:spPr>
        <p:txBody>
          <a:bodyPr>
            <a:normAutofit fontScale="85000" lnSpcReduction="10000"/>
          </a:bodyPr>
          <a:lstStyle/>
          <a:p>
            <a:pPr marL="0" indent="0">
              <a:buNone/>
            </a:pPr>
            <a:r>
              <a:rPr lang="en-US" b="1" dirty="0" smtClean="0"/>
              <a:t>7. Circumstantiality</a:t>
            </a:r>
            <a:r>
              <a:rPr lang="en-US" b="1" dirty="0"/>
              <a:t>: </a:t>
            </a:r>
            <a:r>
              <a:rPr lang="en-US" dirty="0"/>
              <a:t>A disturbance of communication in which the train of associations is interrupted by frequent digressions before the central idea is finally presented. </a:t>
            </a:r>
          </a:p>
          <a:p>
            <a:pPr marL="0" indent="0">
              <a:buNone/>
            </a:pPr>
            <a:r>
              <a:rPr lang="en-US" b="1" dirty="0" smtClean="0"/>
              <a:t>8. Loosening </a:t>
            </a:r>
            <a:r>
              <a:rPr lang="en-US" b="1" dirty="0"/>
              <a:t>of associations: </a:t>
            </a:r>
            <a:r>
              <a:rPr lang="en-US" dirty="0"/>
              <a:t>A disorder of thinking and speech in which ideas shift from one subject to another with remote or no apparent reasons. The speaker is unaware of the incongruity. </a:t>
            </a:r>
            <a:endParaRPr lang="en-US" dirty="0" smtClean="0"/>
          </a:p>
          <a:p>
            <a:pPr marL="0" indent="0">
              <a:buNone/>
            </a:pPr>
            <a:r>
              <a:rPr lang="en-US" dirty="0" smtClean="0"/>
              <a:t>A </a:t>
            </a:r>
            <a:r>
              <a:rPr lang="en-US" dirty="0"/>
              <a:t>classical sign of </a:t>
            </a:r>
            <a:r>
              <a:rPr lang="en-US" b="1" dirty="0"/>
              <a:t>schizophrenia </a:t>
            </a:r>
            <a:r>
              <a:rPr lang="en-US" dirty="0"/>
              <a:t>but may be seen also in </a:t>
            </a:r>
            <a:r>
              <a:rPr lang="en-US" b="1" dirty="0"/>
              <a:t>any psychotic state. </a:t>
            </a:r>
            <a:endParaRPr lang="en-US" dirty="0"/>
          </a:p>
          <a:p>
            <a:pPr marL="0" indent="0">
              <a:buNone/>
            </a:pPr>
            <a:r>
              <a:rPr lang="en-US" b="1" dirty="0" smtClean="0"/>
              <a:t>9. Loss </a:t>
            </a:r>
            <a:r>
              <a:rPr lang="en-US" b="1" dirty="0"/>
              <a:t>of Reality Testing - </a:t>
            </a:r>
            <a:r>
              <a:rPr lang="en-US" dirty="0"/>
              <a:t>Loss of the </a:t>
            </a:r>
            <a:r>
              <a:rPr lang="en-US" b="1" dirty="0"/>
              <a:t>capacity to challenge bizarre perceptions </a:t>
            </a:r>
            <a:endParaRPr lang="en-US" dirty="0"/>
          </a:p>
          <a:p>
            <a:pPr marL="0" indent="0">
              <a:buNone/>
            </a:pPr>
            <a:r>
              <a:rPr lang="en-US" dirty="0"/>
              <a:t>Classically, formal thought disorder is </a:t>
            </a:r>
            <a:r>
              <a:rPr lang="en-US" dirty="0">
                <a:solidFill>
                  <a:srgbClr val="FF0000"/>
                </a:solidFill>
              </a:rPr>
              <a:t>the hallmark of </a:t>
            </a:r>
            <a:r>
              <a:rPr lang="en-US" b="1" dirty="0">
                <a:solidFill>
                  <a:srgbClr val="FF0000"/>
                </a:solidFill>
              </a:rPr>
              <a:t>schizophrenia </a:t>
            </a:r>
            <a:endParaRPr lang="en-US" dirty="0">
              <a:solidFill>
                <a:srgbClr val="FF0000"/>
              </a:solidFill>
            </a:endParaRPr>
          </a:p>
        </p:txBody>
      </p:sp>
    </p:spTree>
    <p:extLst>
      <p:ext uri="{BB962C8B-B14F-4D97-AF65-F5344CB8AC3E}">
        <p14:creationId xmlns:p14="http://schemas.microsoft.com/office/powerpoint/2010/main" val="753327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smtClean="0"/>
              <a:t>MOOD </a:t>
            </a:r>
            <a:endParaRPr lang="en-US" dirty="0"/>
          </a:p>
        </p:txBody>
      </p:sp>
      <p:sp>
        <p:nvSpPr>
          <p:cNvPr id="3" name="Content Placeholder 2"/>
          <p:cNvSpPr>
            <a:spLocks noGrp="1"/>
          </p:cNvSpPr>
          <p:nvPr>
            <p:ph idx="1"/>
          </p:nvPr>
        </p:nvSpPr>
        <p:spPr>
          <a:xfrm>
            <a:off x="304800" y="1066800"/>
            <a:ext cx="8686800" cy="5486400"/>
          </a:xfrm>
        </p:spPr>
        <p:txBody>
          <a:bodyPr>
            <a:normAutofit fontScale="92500"/>
          </a:bodyPr>
          <a:lstStyle/>
          <a:p>
            <a:r>
              <a:rPr lang="en-US" dirty="0"/>
              <a:t>This is the </a:t>
            </a:r>
            <a:r>
              <a:rPr lang="en-US" b="1" dirty="0"/>
              <a:t>subjective </a:t>
            </a:r>
            <a:r>
              <a:rPr lang="en-US" dirty="0"/>
              <a:t>experience of feeling or emotion as </a:t>
            </a:r>
            <a:r>
              <a:rPr lang="en-US" b="1" dirty="0"/>
              <a:t>described by the patient </a:t>
            </a:r>
            <a:r>
              <a:rPr lang="en-US" dirty="0"/>
              <a:t>in the history</a:t>
            </a:r>
            <a:r>
              <a:rPr lang="en-US" dirty="0" smtClean="0"/>
              <a:t>.</a:t>
            </a:r>
          </a:p>
          <a:p>
            <a:r>
              <a:rPr lang="en-US" dirty="0" smtClean="0"/>
              <a:t>A </a:t>
            </a:r>
            <a:r>
              <a:rPr lang="en-US" b="1" dirty="0"/>
              <a:t>pervasive feeling, tone, and internal emotional state </a:t>
            </a:r>
            <a:r>
              <a:rPr lang="en-US" dirty="0"/>
              <a:t>of an individual that colors the perception of the world</a:t>
            </a:r>
            <a:r>
              <a:rPr lang="en-US" dirty="0" smtClean="0"/>
              <a:t>.</a:t>
            </a:r>
          </a:p>
          <a:p>
            <a:r>
              <a:rPr lang="en-US" dirty="0" smtClean="0"/>
              <a:t>Distinct </a:t>
            </a:r>
            <a:r>
              <a:rPr lang="en-US" dirty="0"/>
              <a:t>from </a:t>
            </a:r>
            <a:r>
              <a:rPr lang="en-US" b="1" dirty="0"/>
              <a:t>affect </a:t>
            </a:r>
            <a:r>
              <a:rPr lang="en-US" dirty="0" smtClean="0"/>
              <a:t>, </a:t>
            </a:r>
            <a:r>
              <a:rPr lang="en-US" dirty="0"/>
              <a:t>which is a feeling state </a:t>
            </a:r>
            <a:r>
              <a:rPr lang="en-US" b="1" dirty="0"/>
              <a:t>noted by the examiner </a:t>
            </a:r>
            <a:r>
              <a:rPr lang="en-US" dirty="0"/>
              <a:t>during the mental status examination, which refers to more </a:t>
            </a:r>
            <a:r>
              <a:rPr lang="en-US" b="1" dirty="0"/>
              <a:t>fluctuating changes </a:t>
            </a:r>
            <a:r>
              <a:rPr lang="en-US" dirty="0"/>
              <a:t>in emotional "weather," </a:t>
            </a:r>
            <a:endParaRPr lang="en-US" dirty="0" smtClean="0"/>
          </a:p>
          <a:p>
            <a:r>
              <a:rPr lang="en-US" b="1" dirty="0" smtClean="0"/>
              <a:t>mood </a:t>
            </a:r>
            <a:r>
              <a:rPr lang="en-US" dirty="0"/>
              <a:t>refers to a more </a:t>
            </a:r>
            <a:r>
              <a:rPr lang="en-US" b="1" dirty="0"/>
              <a:t>pervasive and sustained </a:t>
            </a:r>
            <a:r>
              <a:rPr lang="en-US" dirty="0"/>
              <a:t>emotional "climate." </a:t>
            </a:r>
          </a:p>
        </p:txBody>
      </p:sp>
    </p:spTree>
    <p:extLst>
      <p:ext uri="{BB962C8B-B14F-4D97-AF65-F5344CB8AC3E}">
        <p14:creationId xmlns:p14="http://schemas.microsoft.com/office/powerpoint/2010/main" val="424749272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MOOD TYPES </a:t>
            </a:r>
            <a:endParaRPr lang="en-US"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r>
              <a:rPr lang="en-US" b="1" dirty="0"/>
              <a:t>Dysphoric </a:t>
            </a:r>
            <a:r>
              <a:rPr lang="en-US" dirty="0"/>
              <a:t>An unpleasant mood, such as sadness, anxiety, or irritability. </a:t>
            </a:r>
          </a:p>
          <a:p>
            <a:r>
              <a:rPr lang="en-US" b="1" dirty="0" smtClean="0"/>
              <a:t>Elevated </a:t>
            </a:r>
            <a:r>
              <a:rPr lang="en-US" dirty="0"/>
              <a:t>An exaggerated feeling of well-being, or euphoria or elation. A person with elevated mood may describe feeling "high," "ecstatic," "on top of the world," or "up in the clouds." </a:t>
            </a:r>
          </a:p>
          <a:p>
            <a:r>
              <a:rPr lang="en-US" b="1" dirty="0" smtClean="0"/>
              <a:t>Euthymic </a:t>
            </a:r>
            <a:r>
              <a:rPr lang="en-US" dirty="0"/>
              <a:t>Mood in the "normal" range, which implies the absence of depressed or elevated mood. </a:t>
            </a:r>
          </a:p>
          <a:p>
            <a:r>
              <a:rPr lang="en-US" b="1" dirty="0" smtClean="0"/>
              <a:t>Expansive </a:t>
            </a:r>
            <a:r>
              <a:rPr lang="en-US" dirty="0"/>
              <a:t>Lack of restraint in expressing one's feelings, frequently with an overvaluation of one's significance or importance. </a:t>
            </a:r>
          </a:p>
          <a:p>
            <a:r>
              <a:rPr lang="en-US" b="1" dirty="0" smtClean="0"/>
              <a:t>Irritable </a:t>
            </a:r>
            <a:r>
              <a:rPr lang="en-US" dirty="0"/>
              <a:t>Easily annoyed and provoked to anger </a:t>
            </a:r>
          </a:p>
        </p:txBody>
      </p:sp>
    </p:spTree>
    <p:extLst>
      <p:ext uri="{BB962C8B-B14F-4D97-AF65-F5344CB8AC3E}">
        <p14:creationId xmlns:p14="http://schemas.microsoft.com/office/powerpoint/2010/main" val="9067829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AFFECT </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AFFECT; Emotions </a:t>
            </a:r>
            <a:r>
              <a:rPr lang="en-US" dirty="0"/>
              <a:t>or feelings as they are expressed by the patient and </a:t>
            </a:r>
            <a:r>
              <a:rPr lang="en-US" b="1" dirty="0"/>
              <a:t>observable by others</a:t>
            </a:r>
            <a:r>
              <a:rPr lang="en-US" dirty="0"/>
              <a:t>. </a:t>
            </a:r>
            <a:endParaRPr lang="en-US" dirty="0" smtClean="0"/>
          </a:p>
          <a:p>
            <a:r>
              <a:rPr lang="en-US" dirty="0" smtClean="0"/>
              <a:t>Affect </a:t>
            </a:r>
            <a:r>
              <a:rPr lang="en-US" dirty="0"/>
              <a:t>is an </a:t>
            </a:r>
            <a:r>
              <a:rPr lang="en-US" b="1" dirty="0"/>
              <a:t>objective </a:t>
            </a:r>
            <a:r>
              <a:rPr lang="en-US" dirty="0"/>
              <a:t>sign </a:t>
            </a:r>
            <a:r>
              <a:rPr lang="en-US" b="1" dirty="0"/>
              <a:t>observable on mental status examination</a:t>
            </a:r>
            <a:r>
              <a:rPr lang="en-US" dirty="0"/>
              <a:t>--in contrast to </a:t>
            </a:r>
            <a:r>
              <a:rPr lang="en-US" b="1" dirty="0"/>
              <a:t>mood </a:t>
            </a:r>
            <a:r>
              <a:rPr lang="en-US" dirty="0" smtClean="0"/>
              <a:t>, </a:t>
            </a:r>
            <a:r>
              <a:rPr lang="en-US" dirty="0"/>
              <a:t>which is a </a:t>
            </a:r>
            <a:r>
              <a:rPr lang="en-US" b="1" dirty="0"/>
              <a:t>subjective </a:t>
            </a:r>
            <a:r>
              <a:rPr lang="en-US" dirty="0"/>
              <a:t>experience </a:t>
            </a:r>
            <a:r>
              <a:rPr lang="en-US" b="1" dirty="0"/>
              <a:t>reported by the </a:t>
            </a:r>
            <a:r>
              <a:rPr lang="en-US" b="1" dirty="0" smtClean="0"/>
              <a:t>patient</a:t>
            </a:r>
            <a:r>
              <a:rPr lang="en-US" dirty="0"/>
              <a:t>. </a:t>
            </a:r>
            <a:endParaRPr lang="en-US" dirty="0" smtClean="0"/>
          </a:p>
          <a:p>
            <a:r>
              <a:rPr lang="en-US" dirty="0"/>
              <a:t>Affect is characterized in several </a:t>
            </a:r>
            <a:r>
              <a:rPr lang="en-US" dirty="0" smtClean="0"/>
              <a:t>ways:- </a:t>
            </a:r>
            <a:endParaRPr lang="en-US" dirty="0"/>
          </a:p>
        </p:txBody>
      </p:sp>
    </p:spTree>
    <p:extLst>
      <p:ext uri="{BB962C8B-B14F-4D97-AF65-F5344CB8AC3E}">
        <p14:creationId xmlns:p14="http://schemas.microsoft.com/office/powerpoint/2010/main" val="181486416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AFFECT </a:t>
            </a:r>
            <a:endParaRPr lang="en-US" dirty="0"/>
          </a:p>
        </p:txBody>
      </p:sp>
      <p:sp>
        <p:nvSpPr>
          <p:cNvPr id="3" name="Content Placeholder 2"/>
          <p:cNvSpPr>
            <a:spLocks noGrp="1"/>
          </p:cNvSpPr>
          <p:nvPr>
            <p:ph idx="1"/>
          </p:nvPr>
        </p:nvSpPr>
        <p:spPr>
          <a:xfrm>
            <a:off x="457200" y="1143000"/>
            <a:ext cx="8229600" cy="5562600"/>
          </a:xfrm>
        </p:spPr>
        <p:txBody>
          <a:bodyPr>
            <a:normAutofit fontScale="92500" lnSpcReduction="20000"/>
          </a:bodyPr>
          <a:lstStyle/>
          <a:p>
            <a:r>
              <a:rPr lang="en-US" dirty="0"/>
              <a:t>The </a:t>
            </a:r>
            <a:r>
              <a:rPr lang="en-US" b="1" dirty="0"/>
              <a:t>type of emotion </a:t>
            </a:r>
            <a:r>
              <a:rPr lang="en-US" dirty="0"/>
              <a:t>expressed and observed such as anger, sadness, elation, etc. </a:t>
            </a:r>
          </a:p>
          <a:p>
            <a:r>
              <a:rPr lang="en-US" dirty="0" smtClean="0"/>
              <a:t>The </a:t>
            </a:r>
            <a:r>
              <a:rPr lang="en-US" b="1" dirty="0"/>
              <a:t>intensity and the range of emotion </a:t>
            </a:r>
            <a:r>
              <a:rPr lang="en-US" dirty="0"/>
              <a:t>expressed, i.e.; </a:t>
            </a:r>
            <a:endParaRPr lang="en-US" dirty="0" smtClean="0"/>
          </a:p>
          <a:p>
            <a:pPr marL="571500" indent="-571500">
              <a:buFont typeface="+mj-lt"/>
              <a:buAutoNum type="romanLcPeriod"/>
            </a:pPr>
            <a:r>
              <a:rPr lang="en-US" b="1" dirty="0" smtClean="0"/>
              <a:t>	Broad </a:t>
            </a:r>
            <a:r>
              <a:rPr lang="en-US" b="1" dirty="0"/>
              <a:t>affect </a:t>
            </a:r>
            <a:r>
              <a:rPr lang="en-US" dirty="0"/>
              <a:t>is the normal condition in which a full range of feelings is expressed. </a:t>
            </a:r>
          </a:p>
          <a:p>
            <a:pPr marL="571500" indent="-571500">
              <a:buFont typeface="+mj-lt"/>
              <a:buAutoNum type="romanLcPeriod"/>
            </a:pPr>
            <a:r>
              <a:rPr lang="en-US" dirty="0" smtClean="0"/>
              <a:t>	 </a:t>
            </a:r>
            <a:r>
              <a:rPr lang="en-US" dirty="0"/>
              <a:t>In </a:t>
            </a:r>
            <a:r>
              <a:rPr lang="en-US" b="1" dirty="0"/>
              <a:t>constricted affect, </a:t>
            </a:r>
            <a:r>
              <a:rPr lang="en-US" dirty="0"/>
              <a:t>the expression of feelings is clearly reduced but to a lesser degree than in the case of blunted affect. </a:t>
            </a:r>
          </a:p>
          <a:p>
            <a:pPr marL="571500" indent="-571500">
              <a:buFont typeface="+mj-lt"/>
              <a:buAutoNum type="romanLcPeriod"/>
            </a:pPr>
            <a:r>
              <a:rPr lang="en-US" dirty="0"/>
              <a:t>	</a:t>
            </a:r>
            <a:r>
              <a:rPr lang="en-US" dirty="0" smtClean="0"/>
              <a:t>In </a:t>
            </a:r>
            <a:r>
              <a:rPr lang="en-US" b="1" dirty="0"/>
              <a:t>blunted affect, </a:t>
            </a:r>
            <a:r>
              <a:rPr lang="en-US" dirty="0"/>
              <a:t>the expression of feeling is severely reduced. </a:t>
            </a:r>
          </a:p>
          <a:p>
            <a:pPr marL="571500" indent="-571500">
              <a:buFont typeface="+mj-lt"/>
              <a:buAutoNum type="romanLcPeriod"/>
            </a:pPr>
            <a:r>
              <a:rPr lang="en-US" dirty="0"/>
              <a:t>	</a:t>
            </a:r>
            <a:r>
              <a:rPr lang="en-US" dirty="0" smtClean="0"/>
              <a:t>In </a:t>
            </a:r>
            <a:r>
              <a:rPr lang="en-US" b="1" dirty="0"/>
              <a:t>flat affect</a:t>
            </a:r>
            <a:r>
              <a:rPr lang="en-US" dirty="0"/>
              <a:t>, there is no expression of feeling; the face is immobile, and the voice monotonous </a:t>
            </a:r>
          </a:p>
        </p:txBody>
      </p:sp>
    </p:spTree>
    <p:extLst>
      <p:ext uri="{BB962C8B-B14F-4D97-AF65-F5344CB8AC3E}">
        <p14:creationId xmlns:p14="http://schemas.microsoft.com/office/powerpoint/2010/main" val="13988448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AFFECT </a:t>
            </a: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a:t>By its </a:t>
            </a:r>
            <a:r>
              <a:rPr lang="en-US" b="1" dirty="0"/>
              <a:t>appropriateness</a:t>
            </a:r>
            <a:r>
              <a:rPr lang="en-US" dirty="0"/>
              <a:t>; i.e., </a:t>
            </a:r>
            <a:r>
              <a:rPr lang="en-US" b="1" dirty="0"/>
              <a:t>inappropriate affect </a:t>
            </a:r>
            <a:r>
              <a:rPr lang="en-US" dirty="0"/>
              <a:t>is apparent emotion discordant with accompanying thought or speech (e.g., laughing while telling a story most people would find horrifying). </a:t>
            </a:r>
          </a:p>
          <a:p>
            <a:r>
              <a:rPr lang="en-US" dirty="0" smtClean="0"/>
              <a:t>By </a:t>
            </a:r>
            <a:r>
              <a:rPr lang="en-US" dirty="0"/>
              <a:t>c</a:t>
            </a:r>
            <a:r>
              <a:rPr lang="en-US" b="1" dirty="0"/>
              <a:t>onsistency of emotion</a:t>
            </a:r>
            <a:r>
              <a:rPr lang="en-US" dirty="0"/>
              <a:t>; i.e., </a:t>
            </a:r>
            <a:r>
              <a:rPr lang="en-US" b="1" dirty="0"/>
              <a:t>labile affect </a:t>
            </a:r>
            <a:r>
              <a:rPr lang="en-US" dirty="0"/>
              <a:t>shifts rapidly among different emotional states such as crying, laughing, and anger. </a:t>
            </a:r>
          </a:p>
        </p:txBody>
      </p:sp>
    </p:spTree>
    <p:extLst>
      <p:ext uri="{BB962C8B-B14F-4D97-AF65-F5344CB8AC3E}">
        <p14:creationId xmlns:p14="http://schemas.microsoft.com/office/powerpoint/2010/main" val="274574741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Abnormalities of Speech </a:t>
            </a:r>
            <a:endParaRPr lang="en-US" dirty="0"/>
          </a:p>
        </p:txBody>
      </p:sp>
      <p:sp>
        <p:nvSpPr>
          <p:cNvPr id="3" name="Content Placeholder 2"/>
          <p:cNvSpPr>
            <a:spLocks noGrp="1"/>
          </p:cNvSpPr>
          <p:nvPr>
            <p:ph idx="1"/>
          </p:nvPr>
        </p:nvSpPr>
        <p:spPr>
          <a:xfrm>
            <a:off x="457200" y="1066800"/>
            <a:ext cx="8229600" cy="5638800"/>
          </a:xfrm>
        </p:spPr>
        <p:txBody>
          <a:bodyPr>
            <a:normAutofit fontScale="85000" lnSpcReduction="10000"/>
          </a:bodyPr>
          <a:lstStyle/>
          <a:p>
            <a:r>
              <a:rPr lang="en-US" b="1" dirty="0"/>
              <a:t>Pressure of speech </a:t>
            </a:r>
            <a:r>
              <a:rPr lang="en-US" dirty="0"/>
              <a:t>- Speech that is rapid and unstoppable, as if the speaker is driven to keep speaking</a:t>
            </a:r>
            <a:r>
              <a:rPr lang="en-US" dirty="0" smtClean="0"/>
              <a:t>.</a:t>
            </a:r>
          </a:p>
          <a:p>
            <a:pPr marL="0" indent="0">
              <a:buNone/>
            </a:pPr>
            <a:r>
              <a:rPr lang="en-US" dirty="0" smtClean="0"/>
              <a:t> </a:t>
            </a:r>
            <a:r>
              <a:rPr lang="en-US" dirty="0"/>
              <a:t>Speech is often loud and emphatic and hard to interrupt. It can dominate conversations or go on when no one is listening or responding</a:t>
            </a:r>
            <a:r>
              <a:rPr lang="en-US" dirty="0" smtClean="0"/>
              <a:t>.</a:t>
            </a:r>
          </a:p>
          <a:p>
            <a:pPr marL="0" indent="0">
              <a:buNone/>
            </a:pPr>
            <a:r>
              <a:rPr lang="en-US" dirty="0" smtClean="0"/>
              <a:t> </a:t>
            </a:r>
            <a:r>
              <a:rPr lang="en-US" dirty="0"/>
              <a:t>A feature of </a:t>
            </a:r>
            <a:r>
              <a:rPr lang="en-US" b="1" dirty="0"/>
              <a:t>mania </a:t>
            </a:r>
            <a:r>
              <a:rPr lang="en-US" dirty="0"/>
              <a:t>and seen also in other </a:t>
            </a:r>
            <a:r>
              <a:rPr lang="en-US" b="1" dirty="0"/>
              <a:t>psychotic conditions, organic mental disorders, and nonpsychotic conditions associated with stress. </a:t>
            </a:r>
            <a:endParaRPr lang="en-US" dirty="0"/>
          </a:p>
          <a:p>
            <a:r>
              <a:rPr lang="en-US" b="1" dirty="0" smtClean="0"/>
              <a:t>Poverty </a:t>
            </a:r>
            <a:r>
              <a:rPr lang="en-US" b="1" dirty="0"/>
              <a:t>of speech </a:t>
            </a:r>
            <a:r>
              <a:rPr lang="en-US" dirty="0"/>
              <a:t>- Speech that is decreased in amount and nonspontaneous, consisting mainly of brief and unelaborated responses to questions. </a:t>
            </a:r>
          </a:p>
          <a:p>
            <a:r>
              <a:rPr lang="en-US" b="1" dirty="0" smtClean="0"/>
              <a:t>Non-spontaneous </a:t>
            </a:r>
            <a:r>
              <a:rPr lang="en-US" b="1" dirty="0"/>
              <a:t>speech </a:t>
            </a:r>
            <a:r>
              <a:rPr lang="en-US" dirty="0"/>
              <a:t>- Lack of initiation of speech; verbal responses are given only when asked </a:t>
            </a:r>
          </a:p>
        </p:txBody>
      </p:sp>
    </p:spTree>
    <p:extLst>
      <p:ext uri="{BB962C8B-B14F-4D97-AF65-F5344CB8AC3E}">
        <p14:creationId xmlns:p14="http://schemas.microsoft.com/office/powerpoint/2010/main" val="39375497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Abnormalities of Speech </a:t>
            </a:r>
            <a:endParaRPr lang="en-US" dirty="0"/>
          </a:p>
        </p:txBody>
      </p:sp>
      <p:sp>
        <p:nvSpPr>
          <p:cNvPr id="3" name="Content Placeholder 2"/>
          <p:cNvSpPr>
            <a:spLocks noGrp="1"/>
          </p:cNvSpPr>
          <p:nvPr>
            <p:ph idx="1"/>
          </p:nvPr>
        </p:nvSpPr>
        <p:spPr>
          <a:xfrm>
            <a:off x="457200" y="990600"/>
            <a:ext cx="8229600" cy="5562600"/>
          </a:xfrm>
        </p:spPr>
        <p:txBody>
          <a:bodyPr>
            <a:normAutofit lnSpcReduction="10000"/>
          </a:bodyPr>
          <a:lstStyle/>
          <a:p>
            <a:r>
              <a:rPr lang="en-US" b="1" dirty="0"/>
              <a:t>Poverty of content of speech </a:t>
            </a:r>
            <a:r>
              <a:rPr lang="en-US" dirty="0"/>
              <a:t>-Speech that is persistently vague, overly concrete or abstract, repetitive, or stereotyped. </a:t>
            </a:r>
          </a:p>
          <a:p>
            <a:r>
              <a:rPr lang="en-US" b="1" dirty="0" err="1" smtClean="0"/>
              <a:t>Disarrthria</a:t>
            </a:r>
            <a:r>
              <a:rPr lang="en-US" b="1" dirty="0" smtClean="0"/>
              <a:t> </a:t>
            </a:r>
            <a:r>
              <a:rPr lang="en-US" dirty="0"/>
              <a:t>- difficulty in articulation </a:t>
            </a:r>
          </a:p>
          <a:p>
            <a:r>
              <a:rPr lang="en-US" b="1" dirty="0" smtClean="0"/>
              <a:t>Abnormalities </a:t>
            </a:r>
            <a:r>
              <a:rPr lang="en-US" b="1" dirty="0"/>
              <a:t>of Speech </a:t>
            </a:r>
            <a:endParaRPr lang="en-US" dirty="0"/>
          </a:p>
          <a:p>
            <a:r>
              <a:rPr lang="en-US" b="1" dirty="0" smtClean="0"/>
              <a:t>Excessively </a:t>
            </a:r>
            <a:r>
              <a:rPr lang="en-US" b="1" dirty="0"/>
              <a:t>loud or soft speech </a:t>
            </a:r>
            <a:r>
              <a:rPr lang="en-US" dirty="0"/>
              <a:t>- 'bad habits' patients may have - may be rectified by </a:t>
            </a:r>
            <a:r>
              <a:rPr lang="en-US" b="1" dirty="0"/>
              <a:t>token-economy </a:t>
            </a:r>
            <a:endParaRPr lang="en-US" dirty="0"/>
          </a:p>
          <a:p>
            <a:r>
              <a:rPr lang="en-US" b="1" dirty="0" smtClean="0"/>
              <a:t>Jargon </a:t>
            </a:r>
            <a:r>
              <a:rPr lang="en-US" b="1" dirty="0"/>
              <a:t>- </a:t>
            </a:r>
            <a:r>
              <a:rPr lang="en-US" dirty="0"/>
              <a:t>gibberish or babbling speech associated with aphasia, extreme mental retardation, or a severe mental disorder </a:t>
            </a:r>
          </a:p>
        </p:txBody>
      </p:sp>
    </p:spTree>
    <p:extLst>
      <p:ext uri="{BB962C8B-B14F-4D97-AF65-F5344CB8AC3E}">
        <p14:creationId xmlns:p14="http://schemas.microsoft.com/office/powerpoint/2010/main" val="26672157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Abnormalities of Speech </a:t>
            </a:r>
            <a:endParaRPr lang="en-US" dirty="0"/>
          </a:p>
        </p:txBody>
      </p:sp>
      <p:sp>
        <p:nvSpPr>
          <p:cNvPr id="3" name="Content Placeholder 2"/>
          <p:cNvSpPr>
            <a:spLocks noGrp="1"/>
          </p:cNvSpPr>
          <p:nvPr>
            <p:ph idx="1"/>
          </p:nvPr>
        </p:nvSpPr>
        <p:spPr/>
        <p:txBody>
          <a:bodyPr/>
          <a:lstStyle/>
          <a:p>
            <a:r>
              <a:rPr lang="en-US" b="1" dirty="0"/>
              <a:t>Aphasia </a:t>
            </a:r>
            <a:r>
              <a:rPr lang="en-US" dirty="0"/>
              <a:t>- An impairment in the </a:t>
            </a:r>
            <a:r>
              <a:rPr lang="en-US" b="1" dirty="0"/>
              <a:t>understanding or transmission </a:t>
            </a:r>
            <a:r>
              <a:rPr lang="en-US" dirty="0"/>
              <a:t>of ideas by language in any of its forms--reading, writing, or speaking--that is due to injury or disease of the brain centers involved in language </a:t>
            </a:r>
          </a:p>
        </p:txBody>
      </p:sp>
    </p:spTree>
    <p:extLst>
      <p:ext uri="{BB962C8B-B14F-4D97-AF65-F5344CB8AC3E}">
        <p14:creationId xmlns:p14="http://schemas.microsoft.com/office/powerpoint/2010/main" val="187914692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Disorders of Perception </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pPr marL="0" indent="0">
              <a:buNone/>
            </a:pPr>
            <a:r>
              <a:rPr lang="en-US" b="1" dirty="0"/>
              <a:t>Perception </a:t>
            </a:r>
            <a:r>
              <a:rPr lang="en-US" dirty="0"/>
              <a:t>- The mental process of becoming aware of or recognizing an object or idea; primarily </a:t>
            </a:r>
            <a:r>
              <a:rPr lang="en-US" b="1" dirty="0"/>
              <a:t>cognitive </a:t>
            </a:r>
            <a:r>
              <a:rPr lang="en-US" dirty="0"/>
              <a:t>rather than affective or conative, although all three aspects are manifested. </a:t>
            </a:r>
            <a:endParaRPr lang="en-US" dirty="0" smtClean="0"/>
          </a:p>
          <a:p>
            <a:r>
              <a:rPr lang="en-US" b="1" dirty="0"/>
              <a:t>Illusion </a:t>
            </a:r>
            <a:r>
              <a:rPr lang="en-US" dirty="0"/>
              <a:t>- A </a:t>
            </a:r>
            <a:r>
              <a:rPr lang="en-US" b="1" dirty="0"/>
              <a:t>misperception or misinterpretation </a:t>
            </a:r>
            <a:r>
              <a:rPr lang="en-US" dirty="0"/>
              <a:t>of a </a:t>
            </a:r>
            <a:r>
              <a:rPr lang="en-US" b="1" dirty="0"/>
              <a:t>real external stimulus</a:t>
            </a:r>
            <a:r>
              <a:rPr lang="en-US" dirty="0"/>
              <a:t>, such as hearing the rustling of leaves as the sound of voices. </a:t>
            </a:r>
          </a:p>
        </p:txBody>
      </p:sp>
    </p:spTree>
    <p:extLst>
      <p:ext uri="{BB962C8B-B14F-4D97-AF65-F5344CB8AC3E}">
        <p14:creationId xmlns:p14="http://schemas.microsoft.com/office/powerpoint/2010/main" val="295489661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t>Disorders of Perception </a:t>
            </a:r>
            <a:endParaRPr lang="en-US" dirty="0"/>
          </a:p>
        </p:txBody>
      </p:sp>
      <p:sp>
        <p:nvSpPr>
          <p:cNvPr id="3" name="Content Placeholder 2"/>
          <p:cNvSpPr>
            <a:spLocks noGrp="1"/>
          </p:cNvSpPr>
          <p:nvPr>
            <p:ph idx="1"/>
          </p:nvPr>
        </p:nvSpPr>
        <p:spPr>
          <a:xfrm>
            <a:off x="457200" y="1143000"/>
            <a:ext cx="8229600" cy="5486400"/>
          </a:xfrm>
        </p:spPr>
        <p:txBody>
          <a:bodyPr>
            <a:normAutofit fontScale="77500" lnSpcReduction="20000"/>
          </a:bodyPr>
          <a:lstStyle/>
          <a:p>
            <a:r>
              <a:rPr lang="en-US" b="1" dirty="0"/>
              <a:t>Hallucination </a:t>
            </a:r>
            <a:r>
              <a:rPr lang="en-US" dirty="0"/>
              <a:t>- A sensory perception that has the compelling sense of reality of a true perception but that occurs </a:t>
            </a:r>
            <a:r>
              <a:rPr lang="en-US" b="1" dirty="0"/>
              <a:t>without external stimulation </a:t>
            </a:r>
            <a:r>
              <a:rPr lang="en-US" dirty="0"/>
              <a:t>of the relevant sensory organ. </a:t>
            </a:r>
            <a:endParaRPr lang="en-US" dirty="0" smtClean="0"/>
          </a:p>
          <a:p>
            <a:r>
              <a:rPr lang="en-US" dirty="0" smtClean="0"/>
              <a:t>Hallucinations </a:t>
            </a:r>
            <a:r>
              <a:rPr lang="en-US" dirty="0"/>
              <a:t>should be distinguished from illusions, in which an actual external stimulus is misperceived or misinterpreted. </a:t>
            </a:r>
            <a:endParaRPr lang="en-US" dirty="0" smtClean="0"/>
          </a:p>
          <a:p>
            <a:r>
              <a:rPr lang="en-US" dirty="0" smtClean="0"/>
              <a:t>The </a:t>
            </a:r>
            <a:r>
              <a:rPr lang="en-US" dirty="0"/>
              <a:t>person may or may not have insight into the fact that he or she is having a hallucination; may be visual, auditory, olfactory, gustatory, or tactile. </a:t>
            </a:r>
          </a:p>
          <a:p>
            <a:r>
              <a:rPr lang="en-US" dirty="0"/>
              <a:t>The term hallucination is not ordinarily applied to the false perceptions that occur during dreaming, while </a:t>
            </a:r>
            <a:r>
              <a:rPr lang="en-US" b="1" dirty="0"/>
              <a:t>falling asleep (hypnagogic) </a:t>
            </a:r>
            <a:r>
              <a:rPr lang="en-US" dirty="0"/>
              <a:t>(also in narcolepsy), or when </a:t>
            </a:r>
            <a:r>
              <a:rPr lang="en-US" b="1" dirty="0"/>
              <a:t>awakening (hypnopompic)</a:t>
            </a:r>
            <a:r>
              <a:rPr lang="en-US" dirty="0"/>
              <a:t>. </a:t>
            </a:r>
            <a:endParaRPr lang="en-US" dirty="0" smtClean="0"/>
          </a:p>
          <a:p>
            <a:r>
              <a:rPr lang="en-US" dirty="0" smtClean="0"/>
              <a:t>Transient </a:t>
            </a:r>
            <a:r>
              <a:rPr lang="en-US" dirty="0"/>
              <a:t>hallucinatory experiences may occur in people without a mental disorder. </a:t>
            </a:r>
          </a:p>
        </p:txBody>
      </p:sp>
    </p:spTree>
    <p:extLst>
      <p:ext uri="{BB962C8B-B14F-4D97-AF65-F5344CB8AC3E}">
        <p14:creationId xmlns:p14="http://schemas.microsoft.com/office/powerpoint/2010/main" val="41173056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t>Disorders of Perception </a:t>
            </a:r>
            <a:endParaRPr lang="en-US" dirty="0"/>
          </a:p>
        </p:txBody>
      </p:sp>
      <p:sp>
        <p:nvSpPr>
          <p:cNvPr id="3" name="Content Placeholder 2"/>
          <p:cNvSpPr>
            <a:spLocks noGrp="1"/>
          </p:cNvSpPr>
          <p:nvPr>
            <p:ph idx="1"/>
          </p:nvPr>
        </p:nvSpPr>
        <p:spPr>
          <a:xfrm>
            <a:off x="457200" y="914400"/>
            <a:ext cx="8229600" cy="5867400"/>
          </a:xfrm>
        </p:spPr>
        <p:txBody>
          <a:bodyPr>
            <a:normAutofit fontScale="70000" lnSpcReduction="20000"/>
          </a:bodyPr>
          <a:lstStyle/>
          <a:p>
            <a:pPr marL="0" indent="0">
              <a:buNone/>
            </a:pPr>
            <a:endParaRPr lang="en-US" b="1" dirty="0" smtClean="0"/>
          </a:p>
          <a:p>
            <a:pPr marL="0" indent="0">
              <a:buNone/>
            </a:pPr>
            <a:r>
              <a:rPr lang="en-US" b="1" dirty="0" smtClean="0"/>
              <a:t>Types </a:t>
            </a:r>
            <a:r>
              <a:rPr lang="en-US" b="1" dirty="0"/>
              <a:t>of hallucinations </a:t>
            </a:r>
            <a:endParaRPr lang="en-US" b="1" dirty="0" smtClean="0"/>
          </a:p>
          <a:p>
            <a:endParaRPr lang="en-US" dirty="0"/>
          </a:p>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Auditory hallucination: </a:t>
            </a:r>
            <a:r>
              <a:rPr lang="en-US" dirty="0">
                <a:latin typeface="Times New Roman" panose="02020603050405020304" pitchFamily="18" charset="0"/>
                <a:cs typeface="Times New Roman" panose="02020603050405020304" pitchFamily="18" charset="0"/>
              </a:rPr>
              <a:t>Hearing of pleasant or unpleasant voices without stimuli. The person hears the voices that no one else hears and recognizes them.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Visual </a:t>
            </a:r>
            <a:r>
              <a:rPr lang="en-US" b="1" dirty="0">
                <a:latin typeface="Times New Roman" panose="02020603050405020304" pitchFamily="18" charset="0"/>
                <a:cs typeface="Times New Roman" panose="02020603050405020304" pitchFamily="18" charset="0"/>
              </a:rPr>
              <a:t>hallucination</a:t>
            </a:r>
            <a:r>
              <a:rPr lang="en-US" dirty="0">
                <a:latin typeface="Times New Roman" panose="02020603050405020304" pitchFamily="18" charset="0"/>
                <a:cs typeface="Times New Roman" panose="02020603050405020304" pitchFamily="18" charset="0"/>
              </a:rPr>
              <a:t>: seeing pleasant or unpleasant objects without stimuli.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Tactile </a:t>
            </a:r>
            <a:r>
              <a:rPr lang="en-US" b="1" dirty="0">
                <a:latin typeface="Times New Roman" panose="02020603050405020304" pitchFamily="18" charset="0"/>
                <a:cs typeface="Times New Roman" panose="02020603050405020304" pitchFamily="18" charset="0"/>
              </a:rPr>
              <a:t>hallucination</a:t>
            </a:r>
            <a:r>
              <a:rPr lang="en-US" dirty="0">
                <a:latin typeface="Times New Roman" panose="02020603050405020304" pitchFamily="18" charset="0"/>
                <a:cs typeface="Times New Roman" panose="02020603050405020304" pitchFamily="18" charset="0"/>
              </a:rPr>
              <a:t>: feeling being touched without stimuli.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Olfactory </a:t>
            </a:r>
            <a:r>
              <a:rPr lang="en-US" b="1" dirty="0">
                <a:latin typeface="Times New Roman" panose="02020603050405020304" pitchFamily="18" charset="0"/>
                <a:cs typeface="Times New Roman" panose="02020603050405020304" pitchFamily="18" charset="0"/>
              </a:rPr>
              <a:t>hallucination</a:t>
            </a:r>
            <a:r>
              <a:rPr lang="en-US" dirty="0">
                <a:latin typeface="Times New Roman" panose="02020603050405020304" pitchFamily="18" charset="0"/>
                <a:cs typeface="Times New Roman" panose="02020603050405020304" pitchFamily="18" charset="0"/>
              </a:rPr>
              <a:t>: sensing pleasant or unpleasant smells without stimuli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Gustatory </a:t>
            </a:r>
            <a:r>
              <a:rPr lang="en-US" b="1" dirty="0">
                <a:latin typeface="Times New Roman" panose="02020603050405020304" pitchFamily="18" charset="0"/>
                <a:cs typeface="Times New Roman" panose="02020603050405020304" pitchFamily="18" charset="0"/>
              </a:rPr>
              <a:t>hallucination </a:t>
            </a:r>
            <a:r>
              <a:rPr lang="en-US" dirty="0">
                <a:latin typeface="Times New Roman" panose="02020603050405020304" pitchFamily="18" charset="0"/>
                <a:cs typeface="Times New Roman" panose="02020603050405020304" pitchFamily="18" charset="0"/>
              </a:rPr>
              <a:t>sensing pleasant or unpleasant taste without stimuli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Mood </a:t>
            </a:r>
            <a:r>
              <a:rPr lang="en-US" b="1" dirty="0">
                <a:latin typeface="Times New Roman" panose="02020603050405020304" pitchFamily="18" charset="0"/>
                <a:cs typeface="Times New Roman" panose="02020603050405020304" pitchFamily="18" charset="0"/>
              </a:rPr>
              <a:t>congruent hallucination</a:t>
            </a:r>
            <a:r>
              <a:rPr lang="en-US" dirty="0">
                <a:latin typeface="Times New Roman" panose="02020603050405020304" pitchFamily="18" charset="0"/>
                <a:cs typeface="Times New Roman" panose="02020603050405020304" pitchFamily="18" charset="0"/>
              </a:rPr>
              <a:t>: hallucinations that are congruent with the mood e.g. hearing command voices telling a depressed person to commit suicide </a:t>
            </a:r>
          </a:p>
          <a:p>
            <a:pPr>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Mood </a:t>
            </a:r>
            <a:r>
              <a:rPr lang="en-US" b="1" dirty="0">
                <a:latin typeface="Times New Roman" panose="02020603050405020304" pitchFamily="18" charset="0"/>
                <a:cs typeface="Times New Roman" panose="02020603050405020304" pitchFamily="18" charset="0"/>
              </a:rPr>
              <a:t>incongruent hallucination</a:t>
            </a:r>
            <a:r>
              <a:rPr lang="en-US" dirty="0">
                <a:latin typeface="Times New Roman" panose="02020603050405020304" pitchFamily="18" charset="0"/>
                <a:cs typeface="Times New Roman" panose="02020603050405020304" pitchFamily="18" charset="0"/>
              </a:rPr>
              <a:t>: hallucinations that are not congruent with the mood e.g. having pleasant taste without stimuli in a depressed person </a:t>
            </a:r>
          </a:p>
          <a:p>
            <a:endParaRPr lang="en-US" dirty="0"/>
          </a:p>
        </p:txBody>
      </p:sp>
    </p:spTree>
    <p:extLst>
      <p:ext uri="{BB962C8B-B14F-4D97-AF65-F5344CB8AC3E}">
        <p14:creationId xmlns:p14="http://schemas.microsoft.com/office/powerpoint/2010/main" val="3310332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Disorders of Memory </a:t>
            </a:r>
            <a:endParaRPr lang="en-US" dirty="0"/>
          </a:p>
        </p:txBody>
      </p:sp>
      <p:sp>
        <p:nvSpPr>
          <p:cNvPr id="3" name="Content Placeholder 2"/>
          <p:cNvSpPr>
            <a:spLocks noGrp="1"/>
          </p:cNvSpPr>
          <p:nvPr>
            <p:ph idx="1"/>
          </p:nvPr>
        </p:nvSpPr>
        <p:spPr>
          <a:xfrm>
            <a:off x="457200" y="1066800"/>
            <a:ext cx="8382000" cy="5562600"/>
          </a:xfrm>
        </p:spPr>
        <p:txBody>
          <a:bodyPr>
            <a:normAutofit fontScale="92500"/>
          </a:bodyPr>
          <a:lstStyle/>
          <a:p>
            <a:r>
              <a:rPr lang="en-US" b="1" dirty="0"/>
              <a:t>Amnesia </a:t>
            </a:r>
            <a:r>
              <a:rPr lang="en-US" dirty="0"/>
              <a:t>- A disturbance in the memory of information stored in </a:t>
            </a:r>
            <a:r>
              <a:rPr lang="en-US" b="1" dirty="0"/>
              <a:t>long-term memory</a:t>
            </a:r>
            <a:r>
              <a:rPr lang="en-US" dirty="0"/>
              <a:t>, in contrast to short-term memory, manifested by </a:t>
            </a:r>
            <a:r>
              <a:rPr lang="en-US" b="1" dirty="0"/>
              <a:t>total or partial </a:t>
            </a:r>
            <a:r>
              <a:rPr lang="en-US" dirty="0"/>
              <a:t>inability to recall past experiences</a:t>
            </a:r>
            <a:r>
              <a:rPr lang="en-US" dirty="0" smtClean="0"/>
              <a:t>.</a:t>
            </a:r>
          </a:p>
          <a:p>
            <a:pPr marL="0" indent="0">
              <a:buNone/>
            </a:pPr>
            <a:r>
              <a:rPr lang="en-US" dirty="0"/>
              <a:t>Types of amnesia include: </a:t>
            </a:r>
          </a:p>
          <a:p>
            <a:pPr>
              <a:buFont typeface="Wingdings" panose="05000000000000000000" pitchFamily="2" charset="2"/>
              <a:buChar char="Ø"/>
            </a:pPr>
            <a:r>
              <a:rPr lang="en-US" b="1" dirty="0" smtClean="0"/>
              <a:t>	Anterograde </a:t>
            </a:r>
            <a:r>
              <a:rPr lang="en-US" dirty="0"/>
              <a:t>Loss of memory of events that occur after the onset of the etiological condition or agent. </a:t>
            </a:r>
          </a:p>
          <a:p>
            <a:pPr>
              <a:buFont typeface="Wingdings" panose="05000000000000000000" pitchFamily="2" charset="2"/>
              <a:buChar char="Ø"/>
            </a:pPr>
            <a:r>
              <a:rPr lang="en-US" b="1" dirty="0" smtClean="0"/>
              <a:t>	Retrograde </a:t>
            </a:r>
            <a:r>
              <a:rPr lang="en-US" dirty="0"/>
              <a:t>Loss of memory of events that occurred before the onset of the etiological condition or agent. </a:t>
            </a:r>
            <a:r>
              <a:rPr lang="en-US" dirty="0" smtClean="0"/>
              <a:t> </a:t>
            </a:r>
          </a:p>
          <a:p>
            <a:endParaRPr lang="en-US" dirty="0"/>
          </a:p>
        </p:txBody>
      </p:sp>
    </p:spTree>
    <p:extLst>
      <p:ext uri="{BB962C8B-B14F-4D97-AF65-F5344CB8AC3E}">
        <p14:creationId xmlns:p14="http://schemas.microsoft.com/office/powerpoint/2010/main" val="42476929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History Taking </a:t>
            </a:r>
            <a:r>
              <a:rPr lang="en-GB" dirty="0" smtClean="0"/>
              <a:t/>
            </a:r>
            <a:br>
              <a:rPr lang="en-GB" dirty="0" smtClean="0"/>
            </a:br>
            <a:endParaRPr lang="en-GB" dirty="0"/>
          </a:p>
        </p:txBody>
      </p:sp>
      <p:sp>
        <p:nvSpPr>
          <p:cNvPr id="3" name="Content Placeholder 2"/>
          <p:cNvSpPr>
            <a:spLocks noGrp="1"/>
          </p:cNvSpPr>
          <p:nvPr>
            <p:ph idx="1"/>
          </p:nvPr>
        </p:nvSpPr>
        <p:spPr>
          <a:xfrm>
            <a:off x="457200" y="990600"/>
            <a:ext cx="8229600" cy="5486400"/>
          </a:xfrm>
        </p:spPr>
        <p:txBody>
          <a:bodyPr>
            <a:normAutofit fontScale="92500" lnSpcReduction="20000"/>
          </a:bodyPr>
          <a:lstStyle/>
          <a:p>
            <a:r>
              <a:rPr lang="en-US" b="1" dirty="0" smtClean="0"/>
              <a:t>Personal Data:</a:t>
            </a:r>
            <a:r>
              <a:rPr lang="en-US" dirty="0" smtClean="0"/>
              <a:t> age, sex, marital status, occupation, residence and nationality.</a:t>
            </a:r>
          </a:p>
          <a:p>
            <a:r>
              <a:rPr lang="en-US" b="1" dirty="0" smtClean="0"/>
              <a:t>Personal History</a:t>
            </a:r>
            <a:r>
              <a:rPr lang="en-US" dirty="0" smtClean="0"/>
              <a:t>: mode of delivery, milestones in infancy and early childhood, school and their educational performance and about possible incidents of traumatic experience like falling or losing a parent.</a:t>
            </a:r>
          </a:p>
          <a:p>
            <a:r>
              <a:rPr lang="en-US" b="1" dirty="0" smtClean="0"/>
              <a:t>Social History</a:t>
            </a:r>
            <a:r>
              <a:rPr lang="en-US" dirty="0" smtClean="0"/>
              <a:t>: find out about the nature of the patient’s occupation, how they relate to both sexes, whether they are outgoing or not, the number of friends the patient has of both sexes and whether or not the patient is involved in religious activities.</a:t>
            </a:r>
            <a:endParaRPr lang="en-GB" dirty="0" smtClean="0"/>
          </a:p>
          <a:p>
            <a:endParaRPr lang="en-GB" dirty="0" smtClean="0"/>
          </a:p>
          <a:p>
            <a:endParaRPr lang="en-GB" dirty="0" smtClean="0"/>
          </a:p>
          <a:p>
            <a:endParaRPr lang="en-GB" dirty="0"/>
          </a:p>
        </p:txBody>
      </p:sp>
    </p:spTree>
    <p:extLst>
      <p:ext uri="{BB962C8B-B14F-4D97-AF65-F5344CB8AC3E}">
        <p14:creationId xmlns:p14="http://schemas.microsoft.com/office/powerpoint/2010/main" val="25562081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GB" dirty="0" smtClean="0"/>
              <a:t> HX </a:t>
            </a:r>
            <a:r>
              <a:rPr lang="en-GB" dirty="0" err="1" smtClean="0"/>
              <a:t>Ctd</a:t>
            </a:r>
            <a:r>
              <a:rPr lang="en-GB" dirty="0" smtClean="0"/>
              <a:t> </a:t>
            </a:r>
            <a:endParaRPr lang="en-GB" dirty="0"/>
          </a:p>
        </p:txBody>
      </p:sp>
      <p:sp>
        <p:nvSpPr>
          <p:cNvPr id="3" name="Content Placeholder 2"/>
          <p:cNvSpPr>
            <a:spLocks noGrp="1"/>
          </p:cNvSpPr>
          <p:nvPr>
            <p:ph idx="1"/>
          </p:nvPr>
        </p:nvSpPr>
        <p:spPr>
          <a:xfrm>
            <a:off x="457200" y="990600"/>
            <a:ext cx="8229600" cy="5562600"/>
          </a:xfrm>
        </p:spPr>
        <p:txBody>
          <a:bodyPr>
            <a:normAutofit lnSpcReduction="10000"/>
          </a:bodyPr>
          <a:lstStyle/>
          <a:p>
            <a:r>
              <a:rPr lang="en-US" b="1" dirty="0" smtClean="0"/>
              <a:t>Sexual History</a:t>
            </a:r>
            <a:r>
              <a:rPr lang="en-US" dirty="0" smtClean="0"/>
              <a:t>: check the degree of sexual satisfaction with the marriage partner, male or female friend, frequency of sexual relationships and the patient’s attitude </a:t>
            </a:r>
            <a:br>
              <a:rPr lang="en-US" dirty="0" smtClean="0"/>
            </a:br>
            <a:r>
              <a:rPr lang="en-US" dirty="0" smtClean="0"/>
              <a:t>to sex.</a:t>
            </a:r>
          </a:p>
          <a:p>
            <a:r>
              <a:rPr lang="en-US" b="1" dirty="0" smtClean="0"/>
              <a:t>Family History</a:t>
            </a:r>
            <a:r>
              <a:rPr lang="en-US" dirty="0" smtClean="0"/>
              <a:t>: Ask about their parents, brothers and sisters. For each one, find out whether they are married, occupation etc. in an attempt to identify possible family behavioral patterns. If the patient is married, try and find out the sibling line up of the patient’s spouse as well.</a:t>
            </a:r>
            <a:endParaRPr lang="en-GB" dirty="0" smtClean="0"/>
          </a:p>
          <a:p>
            <a:endParaRPr lang="en-GB" dirty="0" smtClean="0"/>
          </a:p>
          <a:p>
            <a:endParaRPr lang="en-GB" dirty="0"/>
          </a:p>
        </p:txBody>
      </p:sp>
    </p:spTree>
    <p:extLst>
      <p:ext uri="{BB962C8B-B14F-4D97-AF65-F5344CB8AC3E}">
        <p14:creationId xmlns:p14="http://schemas.microsoft.com/office/powerpoint/2010/main" val="3570618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GB" dirty="0" smtClean="0"/>
              <a:t>HX  </a:t>
            </a:r>
            <a:endParaRPr lang="en-GB" dirty="0"/>
          </a:p>
        </p:txBody>
      </p:sp>
      <p:sp>
        <p:nvSpPr>
          <p:cNvPr id="3" name="Content Placeholder 2"/>
          <p:cNvSpPr>
            <a:spLocks noGrp="1"/>
          </p:cNvSpPr>
          <p:nvPr>
            <p:ph idx="1"/>
          </p:nvPr>
        </p:nvSpPr>
        <p:spPr>
          <a:xfrm>
            <a:off x="457200" y="990600"/>
            <a:ext cx="8229600" cy="5410200"/>
          </a:xfrm>
        </p:spPr>
        <p:txBody>
          <a:bodyPr>
            <a:normAutofit fontScale="92500" lnSpcReduction="10000"/>
          </a:bodyPr>
          <a:lstStyle/>
          <a:p>
            <a:r>
              <a:rPr lang="en-US" b="1" dirty="0" smtClean="0"/>
              <a:t>Past Medical and Psychiatric History: </a:t>
            </a:r>
            <a:r>
              <a:rPr lang="en-US" dirty="0" smtClean="0"/>
              <a:t>find out about any medical condition the patient has suffered, which may have affected their mental health and if there have been any incidences of the patient being admitted into a mental unit/hospital and the outcome of </a:t>
            </a:r>
            <a:br>
              <a:rPr lang="en-US" dirty="0" smtClean="0"/>
            </a:br>
            <a:r>
              <a:rPr lang="en-US" dirty="0" smtClean="0"/>
              <a:t>the treatment.</a:t>
            </a:r>
            <a:endParaRPr lang="en-GB" dirty="0" smtClean="0"/>
          </a:p>
          <a:p>
            <a:r>
              <a:rPr lang="en-US" b="1" dirty="0" smtClean="0"/>
              <a:t>History of Presenting Illness</a:t>
            </a:r>
            <a:r>
              <a:rPr lang="en-US" dirty="0" smtClean="0"/>
              <a:t>: Ask about the onset of the illness, duration, any allegations that brought them to the mental hospital and the patient’s pre-morbid history, that is, how they presented before they became mentally ill.</a:t>
            </a:r>
            <a:endParaRPr lang="en-GB" dirty="0" smtClean="0"/>
          </a:p>
          <a:p>
            <a:endParaRPr lang="en-GB" dirty="0"/>
          </a:p>
        </p:txBody>
      </p:sp>
    </p:spTree>
    <p:extLst>
      <p:ext uri="{BB962C8B-B14F-4D97-AF65-F5344CB8AC3E}">
        <p14:creationId xmlns:p14="http://schemas.microsoft.com/office/powerpoint/2010/main" val="1901540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MENTAL STATUS ASSESSMENT </a:t>
            </a:r>
          </a:p>
        </p:txBody>
      </p:sp>
      <p:sp>
        <p:nvSpPr>
          <p:cNvPr id="3" name="Content Placeholder 2"/>
          <p:cNvSpPr>
            <a:spLocks noGrp="1"/>
          </p:cNvSpPr>
          <p:nvPr>
            <p:ph idx="1"/>
          </p:nvPr>
        </p:nvSpPr>
        <p:spPr>
          <a:xfrm>
            <a:off x="457200" y="990600"/>
            <a:ext cx="8229600" cy="5135563"/>
          </a:xfrm>
        </p:spPr>
        <p:txBody>
          <a:bodyPr/>
          <a:lstStyle/>
          <a:p>
            <a:r>
              <a:rPr lang="en-US" dirty="0" smtClean="0"/>
              <a:t>1. Personal Information </a:t>
            </a:r>
          </a:p>
          <a:p>
            <a:pPr lvl="1"/>
            <a:r>
              <a:rPr lang="en-US" dirty="0" smtClean="0"/>
              <a:t>Age </a:t>
            </a:r>
          </a:p>
          <a:p>
            <a:pPr lvl="1"/>
            <a:r>
              <a:rPr lang="en-US" dirty="0" smtClean="0"/>
              <a:t>Sex</a:t>
            </a:r>
          </a:p>
          <a:p>
            <a:pPr lvl="1"/>
            <a:r>
              <a:rPr lang="en-US" dirty="0" smtClean="0"/>
              <a:t>Marital status </a:t>
            </a:r>
          </a:p>
          <a:p>
            <a:pPr lvl="1"/>
            <a:r>
              <a:rPr lang="en-US" dirty="0" smtClean="0"/>
              <a:t>Religion</a:t>
            </a:r>
          </a:p>
          <a:p>
            <a:pPr lvl="1"/>
            <a:r>
              <a:rPr lang="en-US" dirty="0" smtClean="0"/>
              <a:t>Race </a:t>
            </a:r>
          </a:p>
          <a:p>
            <a:pPr lvl="1"/>
            <a:r>
              <a:rPr lang="en-US" dirty="0" smtClean="0"/>
              <a:t>Ethnicity </a:t>
            </a:r>
          </a:p>
          <a:p>
            <a:pPr lvl="1"/>
            <a:r>
              <a:rPr lang="en-US" dirty="0" smtClean="0"/>
              <a:t>Employment </a:t>
            </a:r>
          </a:p>
          <a:p>
            <a:pPr lvl="1"/>
            <a:r>
              <a:rPr lang="en-US" dirty="0" smtClean="0"/>
              <a:t>Living arrangements </a:t>
            </a:r>
          </a:p>
        </p:txBody>
      </p:sp>
    </p:spTree>
    <p:extLst>
      <p:ext uri="{BB962C8B-B14F-4D97-AF65-F5344CB8AC3E}">
        <p14:creationId xmlns:p14="http://schemas.microsoft.com/office/powerpoint/2010/main" val="20740728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MENTAL STATUS ASSESSMENT </a:t>
            </a:r>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marL="0" indent="0">
              <a:buNone/>
            </a:pPr>
            <a:r>
              <a:rPr lang="en-US" dirty="0" smtClean="0"/>
              <a:t>2. General Appearance </a:t>
            </a:r>
          </a:p>
          <a:p>
            <a:r>
              <a:rPr lang="en-US" b="1" dirty="0"/>
              <a:t>Appearance in relation to age</a:t>
            </a:r>
            <a:r>
              <a:rPr lang="en-US" dirty="0"/>
              <a:t>-appear to be younger, or older than the chronological age?</a:t>
            </a:r>
          </a:p>
          <a:p>
            <a:r>
              <a:rPr lang="en-US" b="1" dirty="0"/>
              <a:t>Accessibility</a:t>
            </a:r>
            <a:r>
              <a:rPr lang="en-US" dirty="0"/>
              <a:t>; Friendly, co-operative, hostile, alert, confused, eye contact, rapport, indifferent </a:t>
            </a:r>
            <a:r>
              <a:rPr lang="en-US" dirty="0" err="1"/>
              <a:t>etc</a:t>
            </a:r>
            <a:endParaRPr lang="en-US" dirty="0"/>
          </a:p>
          <a:p>
            <a:r>
              <a:rPr lang="en-US" b="1" dirty="0"/>
              <a:t>Body Build</a:t>
            </a:r>
          </a:p>
          <a:p>
            <a:r>
              <a:rPr lang="en-US" b="1" dirty="0"/>
              <a:t>Clothing; </a:t>
            </a:r>
            <a:r>
              <a:rPr lang="en-US" dirty="0"/>
              <a:t>Appropriate to age, season, setting and occasion? Clean, neat, tidy, meticulous, worn, properly worn? Are the colors, worn: bright, dull, drab?</a:t>
            </a:r>
          </a:p>
          <a:p>
            <a:r>
              <a:rPr lang="en-US" b="1" dirty="0"/>
              <a:t>Hygiene and grooming</a:t>
            </a:r>
          </a:p>
          <a:p>
            <a:r>
              <a:rPr lang="en-US" b="1" dirty="0"/>
              <a:t>Odor </a:t>
            </a:r>
            <a:r>
              <a:rPr lang="en-US" dirty="0"/>
              <a:t>; Perspiration, alcohol, stool or vaginal </a:t>
            </a:r>
            <a:r>
              <a:rPr lang="en-US" dirty="0" err="1"/>
              <a:t>odour</a:t>
            </a:r>
            <a:r>
              <a:rPr lang="en-US" dirty="0"/>
              <a:t>? Cologne, shaving lotion?</a:t>
            </a:r>
          </a:p>
          <a:p>
            <a:r>
              <a:rPr lang="en-US" b="1" dirty="0"/>
              <a:t>Posture </a:t>
            </a:r>
          </a:p>
          <a:p>
            <a:r>
              <a:rPr lang="en-US" b="1" dirty="0" smtClean="0"/>
              <a:t>Mannerisms</a:t>
            </a:r>
          </a:p>
          <a:p>
            <a:r>
              <a:rPr lang="en-US" b="1" dirty="0" err="1" smtClean="0"/>
              <a:t>Tatoos</a:t>
            </a:r>
            <a:r>
              <a:rPr lang="en-US" b="1" dirty="0" smtClean="0"/>
              <a:t> /scars </a:t>
            </a:r>
            <a:endParaRPr lang="en-US" b="1" dirty="0"/>
          </a:p>
        </p:txBody>
      </p:sp>
    </p:spTree>
    <p:extLst>
      <p:ext uri="{BB962C8B-B14F-4D97-AF65-F5344CB8AC3E}">
        <p14:creationId xmlns:p14="http://schemas.microsoft.com/office/powerpoint/2010/main" val="1016187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658091"/>
          </a:xfrm>
        </p:spPr>
        <p:txBody>
          <a:bodyPr>
            <a:normAutofit fontScale="90000"/>
          </a:bodyPr>
          <a:lstStyle/>
          <a:p>
            <a:r>
              <a:rPr lang="en-US" dirty="0" smtClean="0"/>
              <a:t>MSE </a:t>
            </a:r>
            <a:endParaRPr lang="en-US" dirty="0"/>
          </a:p>
        </p:txBody>
      </p:sp>
      <p:sp>
        <p:nvSpPr>
          <p:cNvPr id="3" name="Content Placeholder 2"/>
          <p:cNvSpPr>
            <a:spLocks noGrp="1"/>
          </p:cNvSpPr>
          <p:nvPr>
            <p:ph idx="1"/>
          </p:nvPr>
        </p:nvSpPr>
        <p:spPr>
          <a:xfrm>
            <a:off x="457200" y="533400"/>
            <a:ext cx="8229600" cy="6248400"/>
          </a:xfrm>
        </p:spPr>
        <p:txBody>
          <a:bodyPr>
            <a:normAutofit fontScale="92500" lnSpcReduction="20000"/>
          </a:bodyPr>
          <a:lstStyle/>
          <a:p>
            <a:pPr marL="0" indent="0">
              <a:buNone/>
            </a:pPr>
            <a:r>
              <a:rPr lang="en-US" dirty="0" smtClean="0"/>
              <a:t> 3. </a:t>
            </a:r>
            <a:r>
              <a:rPr lang="en-US" b="1" dirty="0"/>
              <a:t>Psychomotor </a:t>
            </a:r>
            <a:r>
              <a:rPr lang="en-US" b="1" dirty="0" smtClean="0"/>
              <a:t>Behavior/</a:t>
            </a:r>
            <a:r>
              <a:rPr lang="en-US" b="1" dirty="0" err="1" smtClean="0"/>
              <a:t>behaviour</a:t>
            </a:r>
            <a:r>
              <a:rPr lang="en-US" b="1" dirty="0" smtClean="0"/>
              <a:t> </a:t>
            </a:r>
          </a:p>
          <a:p>
            <a:pPr marL="0" indent="0">
              <a:buNone/>
            </a:pPr>
            <a:r>
              <a:rPr lang="en-US" dirty="0" smtClean="0"/>
              <a:t>Gait, Handshake, Abnormal movements, Rate </a:t>
            </a:r>
            <a:r>
              <a:rPr lang="en-US" dirty="0"/>
              <a:t>of </a:t>
            </a:r>
            <a:r>
              <a:rPr lang="en-US" dirty="0" smtClean="0"/>
              <a:t>movements, Co-ordination </a:t>
            </a:r>
            <a:r>
              <a:rPr lang="en-US" dirty="0"/>
              <a:t>of </a:t>
            </a:r>
            <a:r>
              <a:rPr lang="en-US" dirty="0" smtClean="0"/>
              <a:t>movements, eye contact </a:t>
            </a:r>
          </a:p>
          <a:p>
            <a:pPr marL="0" indent="0">
              <a:buNone/>
            </a:pPr>
            <a:r>
              <a:rPr lang="en-US" dirty="0"/>
              <a:t>4</a:t>
            </a:r>
            <a:r>
              <a:rPr lang="en-US" dirty="0" smtClean="0"/>
              <a:t>. </a:t>
            </a:r>
            <a:r>
              <a:rPr lang="en-US" b="1" dirty="0"/>
              <a:t>Mood and </a:t>
            </a:r>
            <a:r>
              <a:rPr lang="en-US" b="1" dirty="0" smtClean="0"/>
              <a:t>affect</a:t>
            </a:r>
          </a:p>
          <a:p>
            <a:pPr marL="0" indent="0">
              <a:buNone/>
            </a:pPr>
            <a:r>
              <a:rPr lang="en-US" dirty="0" smtClean="0"/>
              <a:t>Appropriateness/range/stability </a:t>
            </a:r>
            <a:r>
              <a:rPr lang="en-US" dirty="0"/>
              <a:t>of </a:t>
            </a:r>
            <a:r>
              <a:rPr lang="en-US" dirty="0" smtClean="0"/>
              <a:t>affect, </a:t>
            </a:r>
            <a:r>
              <a:rPr lang="en-US" dirty="0"/>
              <a:t>Attitude toward </a:t>
            </a:r>
            <a:r>
              <a:rPr lang="en-US" dirty="0" smtClean="0"/>
              <a:t>nurse, </a:t>
            </a:r>
            <a:r>
              <a:rPr lang="en-US" dirty="0"/>
              <a:t>Specific mood or </a:t>
            </a:r>
            <a:r>
              <a:rPr lang="en-US" dirty="0" smtClean="0"/>
              <a:t>feelings, </a:t>
            </a:r>
            <a:r>
              <a:rPr lang="en-US" dirty="0"/>
              <a:t>Anxiety </a:t>
            </a:r>
            <a:r>
              <a:rPr lang="en-US" dirty="0" smtClean="0"/>
              <a:t>Level</a:t>
            </a:r>
          </a:p>
          <a:p>
            <a:pPr marL="0" indent="0">
              <a:buNone/>
            </a:pPr>
            <a:r>
              <a:rPr lang="en-US" dirty="0"/>
              <a:t>5</a:t>
            </a:r>
            <a:r>
              <a:rPr lang="en-US" dirty="0" smtClean="0"/>
              <a:t>. </a:t>
            </a:r>
            <a:r>
              <a:rPr lang="en-US" b="1" dirty="0" smtClean="0"/>
              <a:t>Speech </a:t>
            </a:r>
          </a:p>
          <a:p>
            <a:pPr marL="0" indent="0">
              <a:buNone/>
            </a:pPr>
            <a:r>
              <a:rPr lang="en-US" dirty="0"/>
              <a:t>Rate </a:t>
            </a:r>
            <a:r>
              <a:rPr lang="en-US" dirty="0" smtClean="0"/>
              <a:t>/flow of speech, intensity of volume, clarity, liveliness </a:t>
            </a:r>
          </a:p>
          <a:p>
            <a:pPr marL="0" indent="0">
              <a:buNone/>
            </a:pPr>
            <a:r>
              <a:rPr lang="en-US" dirty="0"/>
              <a:t>6</a:t>
            </a:r>
            <a:r>
              <a:rPr lang="en-US" b="1" dirty="0" smtClean="0"/>
              <a:t>. Cognition </a:t>
            </a:r>
          </a:p>
          <a:p>
            <a:pPr marL="0" indent="0">
              <a:buNone/>
            </a:pPr>
            <a:r>
              <a:rPr lang="en-US" dirty="0" smtClean="0"/>
              <a:t>Attention(serial 7), concentration, insight to illness, orientation , </a:t>
            </a:r>
            <a:r>
              <a:rPr lang="en-US" dirty="0" err="1" smtClean="0"/>
              <a:t>judgement</a:t>
            </a:r>
            <a:r>
              <a:rPr lang="en-US" dirty="0" smtClean="0"/>
              <a:t>, abstraction (proverbs), insight </a:t>
            </a:r>
          </a:p>
          <a:p>
            <a:pPr marL="0" indent="0">
              <a:buNone/>
            </a:pPr>
            <a:endParaRPr lang="en-US" dirty="0"/>
          </a:p>
        </p:txBody>
      </p:sp>
    </p:spTree>
    <p:extLst>
      <p:ext uri="{BB962C8B-B14F-4D97-AF65-F5344CB8AC3E}">
        <p14:creationId xmlns:p14="http://schemas.microsoft.com/office/powerpoint/2010/main" val="38926673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MSE</a:t>
            </a:r>
            <a:endParaRPr lang="en-US" dirty="0"/>
          </a:p>
        </p:txBody>
      </p:sp>
      <p:sp>
        <p:nvSpPr>
          <p:cNvPr id="3" name="Content Placeholder 2"/>
          <p:cNvSpPr>
            <a:spLocks noGrp="1"/>
          </p:cNvSpPr>
          <p:nvPr>
            <p:ph idx="1"/>
          </p:nvPr>
        </p:nvSpPr>
        <p:spPr/>
        <p:txBody>
          <a:bodyPr/>
          <a:lstStyle/>
          <a:p>
            <a:pPr marL="0" indent="0">
              <a:buNone/>
            </a:pPr>
            <a:r>
              <a:rPr lang="en-US" dirty="0"/>
              <a:t>7</a:t>
            </a:r>
            <a:r>
              <a:rPr lang="en-US" dirty="0" smtClean="0"/>
              <a:t>. THOUGHT</a:t>
            </a:r>
          </a:p>
          <a:p>
            <a:pPr marL="0" indent="0">
              <a:buNone/>
            </a:pPr>
            <a:r>
              <a:rPr lang="en-US" b="1" dirty="0" smtClean="0"/>
              <a:t>Process: </a:t>
            </a:r>
            <a:r>
              <a:rPr lang="en-US" dirty="0" smtClean="0"/>
              <a:t>disorganized, coherent, flight of ideas, neologism, thought blocking, circumstantiality</a:t>
            </a:r>
          </a:p>
          <a:p>
            <a:pPr marL="0" indent="0">
              <a:buNone/>
            </a:pPr>
            <a:r>
              <a:rPr lang="en-US" b="1" dirty="0" smtClean="0"/>
              <a:t>Content: </a:t>
            </a:r>
            <a:r>
              <a:rPr lang="en-US" dirty="0" smtClean="0"/>
              <a:t>delusion, obsession, suicidal thought</a:t>
            </a:r>
          </a:p>
          <a:p>
            <a:pPr marL="0" indent="0">
              <a:buNone/>
            </a:pPr>
            <a:r>
              <a:rPr lang="en-US" dirty="0"/>
              <a:t>8</a:t>
            </a:r>
            <a:r>
              <a:rPr lang="en-US" dirty="0" smtClean="0"/>
              <a:t>. Perception </a:t>
            </a:r>
          </a:p>
          <a:p>
            <a:pPr marL="0" indent="0">
              <a:buNone/>
            </a:pPr>
            <a:r>
              <a:rPr lang="en-US" dirty="0" smtClean="0"/>
              <a:t>Hallucinations </a:t>
            </a:r>
          </a:p>
          <a:p>
            <a:pPr marL="0" indent="0">
              <a:buNone/>
            </a:pPr>
            <a:r>
              <a:rPr lang="en-US" dirty="0" smtClean="0"/>
              <a:t>Illusions   </a:t>
            </a:r>
            <a:endParaRPr lang="en-US" dirty="0"/>
          </a:p>
        </p:txBody>
      </p:sp>
    </p:spTree>
    <p:extLst>
      <p:ext uri="{BB962C8B-B14F-4D97-AF65-F5344CB8AC3E}">
        <p14:creationId xmlns:p14="http://schemas.microsoft.com/office/powerpoint/2010/main" val="26531195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868362"/>
          </a:xfrm>
        </p:spPr>
        <p:txBody>
          <a:bodyPr/>
          <a:lstStyle/>
          <a:p>
            <a:r>
              <a:rPr lang="en-US" dirty="0" smtClean="0"/>
              <a:t>MSE </a:t>
            </a:r>
            <a:endParaRPr lang="en-US" dirty="0"/>
          </a:p>
        </p:txBody>
      </p:sp>
      <p:sp>
        <p:nvSpPr>
          <p:cNvPr id="3" name="Content Placeholder 2"/>
          <p:cNvSpPr>
            <a:spLocks noGrp="1"/>
          </p:cNvSpPr>
          <p:nvPr>
            <p:ph idx="1"/>
          </p:nvPr>
        </p:nvSpPr>
        <p:spPr>
          <a:xfrm>
            <a:off x="457200" y="762000"/>
            <a:ext cx="8229600" cy="5867400"/>
          </a:xfrm>
        </p:spPr>
        <p:txBody>
          <a:bodyPr>
            <a:normAutofit fontScale="70000" lnSpcReduction="20000"/>
          </a:bodyPr>
          <a:lstStyle/>
          <a:p>
            <a:pPr marL="0" indent="0">
              <a:buNone/>
            </a:pPr>
            <a:r>
              <a:rPr lang="en-US" sz="3800" b="1" dirty="0" smtClean="0">
                <a:latin typeface="Times New Roman" panose="02020603050405020304" pitchFamily="18" charset="0"/>
                <a:cs typeface="Times New Roman" panose="02020603050405020304" pitchFamily="18" charset="0"/>
              </a:rPr>
              <a:t>Thought Patterns</a:t>
            </a:r>
          </a:p>
          <a:p>
            <a:pPr marL="0" indent="0">
              <a:buNone/>
            </a:pPr>
            <a:r>
              <a:rPr lang="en-US" sz="3800" b="1" dirty="0" smtClean="0">
                <a:latin typeface="Times New Roman" panose="02020603050405020304" pitchFamily="18" charset="0"/>
                <a:cs typeface="Times New Roman" panose="02020603050405020304" pitchFamily="18" charset="0"/>
              </a:rPr>
              <a:t>clarity </a:t>
            </a:r>
            <a:endParaRPr lang="en-US" sz="3800" b="1" dirty="0">
              <a:latin typeface="Times New Roman" panose="02020603050405020304" pitchFamily="18" charset="0"/>
              <a:cs typeface="Times New Roman" panose="02020603050405020304" pitchFamily="18" charset="0"/>
            </a:endParaRPr>
          </a:p>
          <a:p>
            <a:pPr marL="0" indent="0">
              <a:buNone/>
            </a:pPr>
            <a:r>
              <a:rPr lang="en-US" sz="3800" b="1" dirty="0" smtClean="0">
                <a:latin typeface="Times New Roman" panose="02020603050405020304" pitchFamily="18" charset="0"/>
                <a:cs typeface="Times New Roman" panose="02020603050405020304" pitchFamily="18" charset="0"/>
              </a:rPr>
              <a:t> logic </a:t>
            </a:r>
          </a:p>
          <a:p>
            <a:pPr marL="0" indent="0">
              <a:buNone/>
            </a:pPr>
            <a:r>
              <a:rPr lang="en-US" sz="3800" b="1" dirty="0" smtClean="0">
                <a:latin typeface="Times New Roman" panose="02020603050405020304" pitchFamily="18" charset="0"/>
                <a:cs typeface="Times New Roman" panose="02020603050405020304" pitchFamily="18" charset="0"/>
              </a:rPr>
              <a:t>flow-</a:t>
            </a:r>
            <a:r>
              <a:rPr lang="en-US" sz="3800" dirty="0" smtClean="0">
                <a:latin typeface="Times New Roman" panose="02020603050405020304" pitchFamily="18" charset="0"/>
                <a:cs typeface="Times New Roman" panose="02020603050405020304" pitchFamily="18" charset="0"/>
              </a:rPr>
              <a:t>Excited</a:t>
            </a:r>
            <a:r>
              <a:rPr lang="en-US" sz="3800" dirty="0">
                <a:latin typeface="Times New Roman" panose="02020603050405020304" pitchFamily="18" charset="0"/>
                <a:cs typeface="Times New Roman" panose="02020603050405020304" pitchFamily="18" charset="0"/>
              </a:rPr>
              <a:t>, flight of ideas, </a:t>
            </a:r>
            <a:r>
              <a:rPr lang="en-US" sz="3800" dirty="0" err="1">
                <a:latin typeface="Times New Roman" panose="02020603050405020304" pitchFamily="18" charset="0"/>
                <a:cs typeface="Times New Roman" panose="02020603050405020304" pitchFamily="18" charset="0"/>
              </a:rPr>
              <a:t>tangentiality</a:t>
            </a:r>
            <a:r>
              <a:rPr lang="en-US" sz="3800" dirty="0">
                <a:latin typeface="Times New Roman" panose="02020603050405020304" pitchFamily="18" charset="0"/>
                <a:cs typeface="Times New Roman" panose="02020603050405020304" pitchFamily="18" charset="0"/>
              </a:rPr>
              <a:t>, poverty of thought, </a:t>
            </a:r>
            <a:r>
              <a:rPr lang="en-US" sz="3800" dirty="0" smtClean="0">
                <a:latin typeface="Times New Roman" panose="02020603050405020304" pitchFamily="18" charset="0"/>
                <a:cs typeface="Times New Roman" panose="02020603050405020304" pitchFamily="18" charset="0"/>
              </a:rPr>
              <a:t>word salad</a:t>
            </a:r>
            <a:r>
              <a:rPr lang="en-US" sz="3800" dirty="0">
                <a:latin typeface="Times New Roman" panose="02020603050405020304" pitchFamily="18" charset="0"/>
                <a:cs typeface="Times New Roman" panose="02020603050405020304" pitchFamily="18" charset="0"/>
              </a:rPr>
              <a:t>, clang </a:t>
            </a:r>
            <a:r>
              <a:rPr lang="en-US" sz="3800" dirty="0" smtClean="0">
                <a:latin typeface="Times New Roman" panose="02020603050405020304" pitchFamily="18" charset="0"/>
                <a:cs typeface="Times New Roman" panose="02020603050405020304" pitchFamily="18" charset="0"/>
              </a:rPr>
              <a:t>associations</a:t>
            </a:r>
            <a:r>
              <a:rPr lang="en-US" sz="3800" dirty="0">
                <a:latin typeface="Times New Roman" panose="02020603050405020304" pitchFamily="18" charset="0"/>
                <a:cs typeface="Times New Roman" panose="02020603050405020304" pitchFamily="18" charset="0"/>
              </a:rPr>
              <a:t>, slow, normal or rapid reactions </a:t>
            </a:r>
            <a:r>
              <a:rPr lang="en-US" sz="3800" dirty="0" smtClean="0">
                <a:latin typeface="Times New Roman" panose="02020603050405020304" pitchFamily="18" charset="0"/>
                <a:cs typeface="Times New Roman" panose="02020603050405020304" pitchFamily="18" charset="0"/>
              </a:rPr>
              <a:t>to questions</a:t>
            </a:r>
            <a:r>
              <a:rPr lang="en-US" sz="3800" dirty="0">
                <a:latin typeface="Times New Roman" panose="02020603050405020304" pitchFamily="18" charset="0"/>
                <a:cs typeface="Times New Roman" panose="02020603050405020304" pitchFamily="18" charset="0"/>
              </a:rPr>
              <a:t>, doubting, indecision, loose association, </a:t>
            </a:r>
            <a:r>
              <a:rPr lang="en-US" sz="3800" dirty="0" smtClean="0">
                <a:latin typeface="Times New Roman" panose="02020603050405020304" pitchFamily="18" charset="0"/>
                <a:cs typeface="Times New Roman" panose="02020603050405020304" pitchFamily="18" charset="0"/>
              </a:rPr>
              <a:t>	blocking, perseveration</a:t>
            </a:r>
            <a:r>
              <a:rPr lang="en-US" sz="3800" dirty="0">
                <a:latin typeface="Times New Roman" panose="02020603050405020304" pitchFamily="18" charset="0"/>
                <a:cs typeface="Times New Roman" panose="02020603050405020304" pitchFamily="18" charset="0"/>
              </a:rPr>
              <a:t>, spontaneous, continuity of </a:t>
            </a:r>
            <a:r>
              <a:rPr lang="en-US" sz="3800" dirty="0" smtClean="0">
                <a:latin typeface="Times New Roman" panose="02020603050405020304" pitchFamily="18" charset="0"/>
                <a:cs typeface="Times New Roman" panose="02020603050405020304" pitchFamily="18" charset="0"/>
              </a:rPr>
              <a:t>thought.</a:t>
            </a:r>
          </a:p>
          <a:p>
            <a:pPr lvl="1"/>
            <a:endParaRPr lang="en-US" sz="3800" dirty="0" smtClean="0">
              <a:latin typeface="Times New Roman" panose="02020603050405020304" pitchFamily="18" charset="0"/>
              <a:cs typeface="Times New Roman" panose="02020603050405020304" pitchFamily="18" charset="0"/>
            </a:endParaRPr>
          </a:p>
          <a:p>
            <a:pPr lvl="1"/>
            <a:r>
              <a:rPr lang="en-US" sz="3800" dirty="0" smtClean="0">
                <a:latin typeface="Times New Roman" panose="02020603050405020304" pitchFamily="18" charset="0"/>
                <a:cs typeface="Times New Roman" panose="02020603050405020304" pitchFamily="18" charset="0"/>
              </a:rPr>
              <a:t>Any </a:t>
            </a:r>
            <a:r>
              <a:rPr lang="en-US" sz="3800" dirty="0">
                <a:latin typeface="Times New Roman" panose="02020603050405020304" pitchFamily="18" charset="0"/>
                <a:cs typeface="Times New Roman" panose="02020603050405020304" pitchFamily="18" charset="0"/>
              </a:rPr>
              <a:t>of the following types of disorder noted?</a:t>
            </a:r>
          </a:p>
          <a:p>
            <a:pPr marL="0" indent="0">
              <a:buNone/>
            </a:pPr>
            <a:r>
              <a:rPr lang="en-US" sz="3800" dirty="0">
                <a:latin typeface="Times New Roman" panose="02020603050405020304" pitchFamily="18" charset="0"/>
                <a:cs typeface="Times New Roman" panose="02020603050405020304" pitchFamily="18" charset="0"/>
              </a:rPr>
              <a:t>1) </a:t>
            </a:r>
            <a:r>
              <a:rPr lang="en-US" sz="3800" b="1" dirty="0">
                <a:latin typeface="Times New Roman" panose="02020603050405020304" pitchFamily="18" charset="0"/>
                <a:cs typeface="Times New Roman" panose="02020603050405020304" pitchFamily="18" charset="0"/>
              </a:rPr>
              <a:t>Blocking</a:t>
            </a:r>
            <a:r>
              <a:rPr lang="en-US" sz="3800" dirty="0">
                <a:latin typeface="Times New Roman" panose="02020603050405020304" pitchFamily="18" charset="0"/>
                <a:cs typeface="Times New Roman" panose="02020603050405020304" pitchFamily="18" charset="0"/>
              </a:rPr>
              <a:t> - a sudden interruption of thought or speech.</a:t>
            </a:r>
          </a:p>
          <a:p>
            <a:pPr marL="0" indent="0">
              <a:buNone/>
            </a:pPr>
            <a:r>
              <a:rPr lang="en-US" sz="3800" dirty="0">
                <a:latin typeface="Times New Roman" panose="02020603050405020304" pitchFamily="18" charset="0"/>
                <a:cs typeface="Times New Roman" panose="02020603050405020304" pitchFamily="18" charset="0"/>
              </a:rPr>
              <a:t>2) </a:t>
            </a:r>
            <a:r>
              <a:rPr lang="en-US" sz="3800" b="1" dirty="0">
                <a:latin typeface="Times New Roman" panose="02020603050405020304" pitchFamily="18" charset="0"/>
                <a:cs typeface="Times New Roman" panose="02020603050405020304" pitchFamily="18" charset="0"/>
              </a:rPr>
              <a:t>Mutism</a:t>
            </a:r>
            <a:r>
              <a:rPr lang="en-US" sz="3800" dirty="0">
                <a:latin typeface="Times New Roman" panose="02020603050405020304" pitchFamily="18" charset="0"/>
                <a:cs typeface="Times New Roman" panose="02020603050405020304" pitchFamily="18" charset="0"/>
              </a:rPr>
              <a:t> - refusal to speak.</a:t>
            </a:r>
          </a:p>
          <a:p>
            <a:pPr marL="0" indent="0">
              <a:buNone/>
            </a:pPr>
            <a:r>
              <a:rPr lang="en-US" sz="3800" dirty="0">
                <a:latin typeface="Times New Roman" panose="02020603050405020304" pitchFamily="18" charset="0"/>
                <a:cs typeface="Times New Roman" panose="02020603050405020304" pitchFamily="18" charset="0"/>
              </a:rPr>
              <a:t>3)</a:t>
            </a:r>
            <a:r>
              <a:rPr lang="en-US" sz="3800" b="1" dirty="0">
                <a:latin typeface="Times New Roman" panose="02020603050405020304" pitchFamily="18" charset="0"/>
                <a:cs typeface="Times New Roman" panose="02020603050405020304" pitchFamily="18" charset="0"/>
              </a:rPr>
              <a:t> Echolalia </a:t>
            </a:r>
            <a:r>
              <a:rPr lang="en-US" sz="3800" dirty="0">
                <a:latin typeface="Times New Roman" panose="02020603050405020304" pitchFamily="18" charset="0"/>
                <a:cs typeface="Times New Roman" panose="02020603050405020304" pitchFamily="18" charset="0"/>
              </a:rPr>
              <a:t>- meaningless repetition of the nurse’s words.</a:t>
            </a:r>
          </a:p>
          <a:p>
            <a:pPr marL="0" indent="0">
              <a:buNone/>
            </a:pPr>
            <a:r>
              <a:rPr lang="en-US" sz="3800" dirty="0">
                <a:latin typeface="Times New Roman" panose="02020603050405020304" pitchFamily="18" charset="0"/>
                <a:cs typeface="Times New Roman" panose="02020603050405020304" pitchFamily="18" charset="0"/>
              </a:rPr>
              <a:t>4) </a:t>
            </a:r>
            <a:r>
              <a:rPr lang="en-US" sz="3800" b="1" dirty="0">
                <a:latin typeface="Times New Roman" panose="02020603050405020304" pitchFamily="18" charset="0"/>
                <a:cs typeface="Times New Roman" panose="02020603050405020304" pitchFamily="18" charset="0"/>
              </a:rPr>
              <a:t>Neologisms</a:t>
            </a:r>
            <a:r>
              <a:rPr lang="en-US" sz="3800" dirty="0">
                <a:latin typeface="Times New Roman" panose="02020603050405020304" pitchFamily="18" charset="0"/>
                <a:cs typeface="Times New Roman" panose="02020603050405020304" pitchFamily="18" charset="0"/>
              </a:rPr>
              <a:t> - new words formed to express </a:t>
            </a:r>
            <a:r>
              <a:rPr lang="en-US" sz="3800" dirty="0" smtClean="0">
                <a:latin typeface="Times New Roman" panose="02020603050405020304" pitchFamily="18" charset="0"/>
                <a:cs typeface="Times New Roman" panose="02020603050405020304" pitchFamily="18" charset="0"/>
              </a:rPr>
              <a:t>ideas</a:t>
            </a:r>
          </a:p>
        </p:txBody>
      </p:sp>
    </p:spTree>
    <p:extLst>
      <p:ext uri="{BB962C8B-B14F-4D97-AF65-F5344CB8AC3E}">
        <p14:creationId xmlns:p14="http://schemas.microsoft.com/office/powerpoint/2010/main" val="24015631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MSE </a:t>
            </a:r>
            <a:endParaRPr lang="en-US" dirty="0"/>
          </a:p>
        </p:txBody>
      </p:sp>
      <p:sp>
        <p:nvSpPr>
          <p:cNvPr id="3" name="Content Placeholder 2"/>
          <p:cNvSpPr>
            <a:spLocks noGrp="1"/>
          </p:cNvSpPr>
          <p:nvPr>
            <p:ph idx="1"/>
          </p:nvPr>
        </p:nvSpPr>
        <p:spPr>
          <a:xfrm>
            <a:off x="457200" y="1143000"/>
            <a:ext cx="8229600" cy="5486400"/>
          </a:xfrm>
        </p:spPr>
        <p:txBody>
          <a:bodyPr>
            <a:normAutofit fontScale="85000" lnSpcReduction="10000"/>
          </a:bodyPr>
          <a:lstStyle/>
          <a:p>
            <a:pPr marL="0" indent="0">
              <a:buNone/>
            </a:pPr>
            <a:r>
              <a:rPr lang="en-US" dirty="0">
                <a:latin typeface="Times New Roman" panose="02020603050405020304" pitchFamily="18" charset="0"/>
                <a:cs typeface="Times New Roman" panose="02020603050405020304" pitchFamily="18" charset="0"/>
              </a:rPr>
              <a:t>5) </a:t>
            </a:r>
            <a:r>
              <a:rPr lang="en-US" b="1" dirty="0">
                <a:latin typeface="Times New Roman" panose="02020603050405020304" pitchFamily="18" charset="0"/>
                <a:cs typeface="Times New Roman" panose="02020603050405020304" pitchFamily="18" charset="0"/>
              </a:rPr>
              <a:t>Flight of ideas </a:t>
            </a:r>
            <a:r>
              <a:rPr lang="en-US" dirty="0">
                <a:latin typeface="Times New Roman" panose="02020603050405020304" pitchFamily="18" charset="0"/>
                <a:cs typeface="Times New Roman" panose="02020603050405020304" pitchFamily="18" charset="0"/>
              </a:rPr>
              <a:t>- skipping from one topic to another </a:t>
            </a:r>
            <a:r>
              <a:rPr lang="en-US" dirty="0" smtClean="0">
                <a:latin typeface="Times New Roman" panose="02020603050405020304" pitchFamily="18" charset="0"/>
                <a:cs typeface="Times New Roman" panose="02020603050405020304" pitchFamily="18" charset="0"/>
              </a:rPr>
              <a:t>in fragmented</a:t>
            </a:r>
            <a:r>
              <a:rPr lang="en-US" dirty="0">
                <a:latin typeface="Times New Roman" panose="02020603050405020304" pitchFamily="18" charset="0"/>
                <a:cs typeface="Times New Roman" panose="02020603050405020304" pitchFamily="18" charset="0"/>
              </a:rPr>
              <a:t>, often rapid fashion.</a:t>
            </a:r>
          </a:p>
          <a:p>
            <a:pPr marL="0" indent="0">
              <a:buNone/>
            </a:pPr>
            <a:r>
              <a:rPr lang="en-US" dirty="0">
                <a:latin typeface="Times New Roman" panose="02020603050405020304" pitchFamily="18" charset="0"/>
                <a:cs typeface="Times New Roman" panose="02020603050405020304" pitchFamily="18" charset="0"/>
              </a:rPr>
              <a:t>6) </a:t>
            </a:r>
            <a:r>
              <a:rPr lang="en-US" b="1" dirty="0">
                <a:latin typeface="Times New Roman" panose="02020603050405020304" pitchFamily="18" charset="0"/>
                <a:cs typeface="Times New Roman" panose="02020603050405020304" pitchFamily="18" charset="0"/>
              </a:rPr>
              <a:t>Perseveration</a:t>
            </a:r>
            <a:r>
              <a:rPr lang="en-US" dirty="0">
                <a:latin typeface="Times New Roman" panose="02020603050405020304" pitchFamily="18" charset="0"/>
                <a:cs typeface="Times New Roman" panose="02020603050405020304" pitchFamily="18" charset="0"/>
              </a:rPr>
              <a:t> - involuntary repetition of the answer to </a:t>
            </a:r>
            <a:r>
              <a:rPr lang="en-US" dirty="0" smtClean="0">
                <a:latin typeface="Times New Roman" panose="02020603050405020304" pitchFamily="18" charset="0"/>
                <a:cs typeface="Times New Roman" panose="02020603050405020304" pitchFamily="18" charset="0"/>
              </a:rPr>
              <a:t>a previous </a:t>
            </a:r>
            <a:r>
              <a:rPr lang="en-US" dirty="0">
                <a:latin typeface="Times New Roman" panose="02020603050405020304" pitchFamily="18" charset="0"/>
                <a:cs typeface="Times New Roman" panose="02020603050405020304" pitchFamily="18" charset="0"/>
              </a:rPr>
              <a:t>question in response to a new question.</a:t>
            </a:r>
          </a:p>
          <a:p>
            <a:pPr marL="0" indent="0">
              <a:buNone/>
            </a:pPr>
            <a:r>
              <a:rPr lang="en-US" dirty="0">
                <a:latin typeface="Times New Roman" panose="02020603050405020304" pitchFamily="18" charset="0"/>
                <a:cs typeface="Times New Roman" panose="02020603050405020304" pitchFamily="18" charset="0"/>
              </a:rPr>
              <a:t>7) </a:t>
            </a:r>
            <a:r>
              <a:rPr lang="en-US" b="1" dirty="0">
                <a:latin typeface="Times New Roman" panose="02020603050405020304" pitchFamily="18" charset="0"/>
                <a:cs typeface="Times New Roman" panose="02020603050405020304" pitchFamily="18" charset="0"/>
              </a:rPr>
              <a:t>Word salad </a:t>
            </a:r>
            <a:r>
              <a:rPr lang="en-US" dirty="0">
                <a:latin typeface="Times New Roman" panose="02020603050405020304" pitchFamily="18" charset="0"/>
                <a:cs typeface="Times New Roman" panose="02020603050405020304" pitchFamily="18" charset="0"/>
              </a:rPr>
              <a:t>- a mixture of words and phrases lacking comprehensive meaning or coherence.</a:t>
            </a:r>
          </a:p>
          <a:p>
            <a:pPr marL="0" indent="0">
              <a:buNone/>
            </a:pPr>
            <a:r>
              <a:rPr lang="en-US" dirty="0">
                <a:latin typeface="Times New Roman" panose="02020603050405020304" pitchFamily="18" charset="0"/>
                <a:cs typeface="Times New Roman" panose="02020603050405020304" pitchFamily="18" charset="0"/>
              </a:rPr>
              <a:t>8) </a:t>
            </a:r>
            <a:r>
              <a:rPr lang="en-US" b="1" dirty="0">
                <a:latin typeface="Times New Roman" panose="02020603050405020304" pitchFamily="18" charset="0"/>
                <a:cs typeface="Times New Roman" panose="02020603050405020304" pitchFamily="18" charset="0"/>
              </a:rPr>
              <a:t>Pressure of speech </a:t>
            </a:r>
            <a:r>
              <a:rPr lang="en-US" dirty="0">
                <a:latin typeface="Times New Roman" panose="02020603050405020304" pitchFamily="18" charset="0"/>
                <a:cs typeface="Times New Roman" panose="02020603050405020304" pitchFamily="18" charset="0"/>
              </a:rPr>
              <a:t>- talking quickly and in such a way that interruption is difficult.</a:t>
            </a:r>
          </a:p>
          <a:p>
            <a:pPr marL="0" indent="0">
              <a:buNone/>
            </a:pPr>
            <a:r>
              <a:rPr lang="en-US" dirty="0">
                <a:latin typeface="Times New Roman" panose="02020603050405020304" pitchFamily="18" charset="0"/>
                <a:cs typeface="Times New Roman" panose="02020603050405020304" pitchFamily="18" charset="0"/>
              </a:rPr>
              <a:t>9) </a:t>
            </a:r>
            <a:r>
              <a:rPr lang="en-US" b="1" dirty="0">
                <a:latin typeface="Times New Roman" panose="02020603050405020304" pitchFamily="18" charset="0"/>
                <a:cs typeface="Times New Roman" panose="02020603050405020304" pitchFamily="18" charset="0"/>
              </a:rPr>
              <a:t>Tangential speech </a:t>
            </a:r>
            <a:r>
              <a:rPr lang="en-US" dirty="0">
                <a:latin typeface="Times New Roman" panose="02020603050405020304" pitchFamily="18" charset="0"/>
                <a:cs typeface="Times New Roman" panose="02020603050405020304" pitchFamily="18" charset="0"/>
              </a:rPr>
              <a:t>- train of thought and response that misses the question asked/ person never gets to the point.</a:t>
            </a:r>
          </a:p>
          <a:p>
            <a:pPr marL="0" indent="0">
              <a:buNone/>
            </a:pPr>
            <a:r>
              <a:rPr lang="en-US"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Circumstantiality</a:t>
            </a:r>
            <a:r>
              <a:rPr lang="en-US" dirty="0">
                <a:latin typeface="Times New Roman" panose="02020603050405020304" pitchFamily="18" charset="0"/>
                <a:cs typeface="Times New Roman" panose="02020603050405020304" pitchFamily="18" charset="0"/>
              </a:rPr>
              <a:t> - being incidental and irrelevant in stating details.</a:t>
            </a:r>
            <a:r>
              <a:rPr lang="en-US" b="1" dirty="0">
                <a:latin typeface="Times New Roman" panose="02020603050405020304" pitchFamily="18" charset="0"/>
                <a:cs typeface="Times New Roman" panose="02020603050405020304" pitchFamily="18" charset="0"/>
              </a:rPr>
              <a:t> </a:t>
            </a:r>
            <a:endParaRPr lang="en-US" b="1"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220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smtClean="0"/>
              <a:t>MOOD DISORDERS </a:t>
            </a:r>
            <a:endParaRPr lang="en-US" dirty="0"/>
          </a:p>
        </p:txBody>
      </p:sp>
      <p:sp>
        <p:nvSpPr>
          <p:cNvPr id="3" name="Content Placeholder 2"/>
          <p:cNvSpPr>
            <a:spLocks noGrp="1"/>
          </p:cNvSpPr>
          <p:nvPr>
            <p:ph idx="1"/>
          </p:nvPr>
        </p:nvSpPr>
        <p:spPr>
          <a:xfrm>
            <a:off x="457200" y="1066800"/>
            <a:ext cx="8229600" cy="5562600"/>
          </a:xfrm>
        </p:spPr>
        <p:txBody>
          <a:bodyPr>
            <a:normAutofit lnSpcReduction="10000"/>
          </a:bodyPr>
          <a:lstStyle/>
          <a:p>
            <a:pPr marL="0" indent="0">
              <a:buNone/>
            </a:pPr>
            <a:r>
              <a:rPr lang="en-US" dirty="0" smtClean="0"/>
              <a:t>Emotions- </a:t>
            </a:r>
            <a:r>
              <a:rPr lang="en-US" dirty="0"/>
              <a:t>two main types: </a:t>
            </a:r>
          </a:p>
          <a:p>
            <a:r>
              <a:rPr lang="en-US" b="1" dirty="0"/>
              <a:t>Affect</a:t>
            </a:r>
            <a:r>
              <a:rPr lang="en-US" dirty="0"/>
              <a:t>- short lived emotional response to an idea or an event </a:t>
            </a:r>
          </a:p>
          <a:p>
            <a:r>
              <a:rPr lang="en-US" b="1" dirty="0"/>
              <a:t>Mood</a:t>
            </a:r>
            <a:r>
              <a:rPr lang="en-US" dirty="0"/>
              <a:t>- sustained and pervasive emotional response </a:t>
            </a:r>
            <a:r>
              <a:rPr lang="en-US" dirty="0" smtClean="0"/>
              <a:t>which </a:t>
            </a:r>
            <a:r>
              <a:rPr lang="en-US" dirty="0"/>
              <a:t>colors the whole psychic life </a:t>
            </a:r>
          </a:p>
          <a:p>
            <a:r>
              <a:rPr lang="en-US" dirty="0"/>
              <a:t> Mood disorder is a cluster of signs and symptoms sustained over a period of weeks where there is a marked impairment in functioning and tend to recur. </a:t>
            </a:r>
          </a:p>
          <a:p>
            <a:r>
              <a:rPr lang="en-US" dirty="0"/>
              <a:t>Mood may be normal, depressed, elevated and manic mood. </a:t>
            </a:r>
          </a:p>
        </p:txBody>
      </p:sp>
    </p:spTree>
    <p:extLst>
      <p:ext uri="{BB962C8B-B14F-4D97-AF65-F5344CB8AC3E}">
        <p14:creationId xmlns:p14="http://schemas.microsoft.com/office/powerpoint/2010/main" val="2742341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MOOD DX</a:t>
            </a:r>
            <a:endParaRPr lang="en-US" dirty="0"/>
          </a:p>
        </p:txBody>
      </p:sp>
      <p:sp>
        <p:nvSpPr>
          <p:cNvPr id="3" name="Content Placeholder 2"/>
          <p:cNvSpPr>
            <a:spLocks noGrp="1"/>
          </p:cNvSpPr>
          <p:nvPr>
            <p:ph idx="1"/>
          </p:nvPr>
        </p:nvSpPr>
        <p:spPr>
          <a:xfrm>
            <a:off x="457200" y="990600"/>
            <a:ext cx="8229600" cy="5638800"/>
          </a:xfrm>
        </p:spPr>
        <p:txBody>
          <a:bodyPr>
            <a:normAutofit fontScale="85000" lnSpcReduction="20000"/>
          </a:bodyPr>
          <a:lstStyle/>
          <a:p>
            <a:endParaRPr lang="en-US" dirty="0"/>
          </a:p>
          <a:p>
            <a:r>
              <a:rPr lang="en-US" b="1" dirty="0" smtClean="0"/>
              <a:t>Normal </a:t>
            </a:r>
            <a:r>
              <a:rPr lang="en-US" b="1" dirty="0"/>
              <a:t>mood </a:t>
            </a:r>
            <a:endParaRPr lang="en-US" dirty="0"/>
          </a:p>
          <a:p>
            <a:pPr marL="0" indent="0">
              <a:buNone/>
            </a:pPr>
            <a:r>
              <a:rPr lang="en-US" dirty="0"/>
              <a:t>Normal person experience a wide range of moods but they are in control of their moods and affects</a:t>
            </a:r>
            <a:r>
              <a:rPr lang="en-US" dirty="0" smtClean="0"/>
              <a:t>.</a:t>
            </a:r>
          </a:p>
          <a:p>
            <a:pPr marL="0" indent="0">
              <a:buNone/>
            </a:pPr>
            <a:r>
              <a:rPr lang="en-US" dirty="0" smtClean="0"/>
              <a:t> </a:t>
            </a:r>
            <a:r>
              <a:rPr lang="en-US" dirty="0"/>
              <a:t>In mood disorder the sense of control is lost and there is subjective experience of great distress. </a:t>
            </a:r>
          </a:p>
          <a:p>
            <a:r>
              <a:rPr lang="en-US" b="1" dirty="0"/>
              <a:t>Depression </a:t>
            </a:r>
            <a:endParaRPr lang="en-US" dirty="0"/>
          </a:p>
          <a:p>
            <a:pPr marL="0" indent="0">
              <a:buNone/>
            </a:pPr>
            <a:r>
              <a:rPr lang="en-US" dirty="0"/>
              <a:t>Depressed mood, decreased pleasure (anhedonia), loss of energy and interest, increased fatigue, loss of confidence, low self esteem, inappropriate guilty feelings, and recurrent suicidal ideas, difficult in concentrating, loss of appetite, insomnia, and thought of death. </a:t>
            </a:r>
            <a:endParaRPr lang="en-US" dirty="0" smtClean="0"/>
          </a:p>
          <a:p>
            <a:pPr marL="0" indent="0">
              <a:buNone/>
            </a:pPr>
            <a:r>
              <a:rPr lang="en-US" dirty="0" smtClean="0"/>
              <a:t>There </a:t>
            </a:r>
            <a:r>
              <a:rPr lang="en-US" dirty="0"/>
              <a:t>is impaired interpersonal, social and occupational functioning. </a:t>
            </a:r>
          </a:p>
        </p:txBody>
      </p:sp>
    </p:spTree>
    <p:extLst>
      <p:ext uri="{BB962C8B-B14F-4D97-AF65-F5344CB8AC3E}">
        <p14:creationId xmlns:p14="http://schemas.microsoft.com/office/powerpoint/2010/main" val="4313478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MOOD DX</a:t>
            </a:r>
            <a:endParaRPr lang="en-US" dirty="0"/>
          </a:p>
        </p:txBody>
      </p:sp>
      <p:sp>
        <p:nvSpPr>
          <p:cNvPr id="3" name="Content Placeholder 2"/>
          <p:cNvSpPr>
            <a:spLocks noGrp="1"/>
          </p:cNvSpPr>
          <p:nvPr>
            <p:ph idx="1"/>
          </p:nvPr>
        </p:nvSpPr>
        <p:spPr>
          <a:xfrm>
            <a:off x="457200" y="1219200"/>
            <a:ext cx="8229600" cy="5334000"/>
          </a:xfrm>
        </p:spPr>
        <p:txBody>
          <a:bodyPr>
            <a:normAutofit/>
          </a:bodyPr>
          <a:lstStyle/>
          <a:p>
            <a:endParaRPr lang="en-US" dirty="0"/>
          </a:p>
          <a:p>
            <a:r>
              <a:rPr lang="en-US" dirty="0"/>
              <a:t> </a:t>
            </a:r>
            <a:r>
              <a:rPr lang="en-US" b="1" dirty="0"/>
              <a:t>Elevated mood </a:t>
            </a:r>
            <a:endParaRPr lang="en-US" dirty="0"/>
          </a:p>
          <a:p>
            <a:pPr marL="0" indent="0">
              <a:buNone/>
            </a:pPr>
            <a:r>
              <a:rPr lang="en-US" dirty="0" smtClean="0"/>
              <a:t>Patients </a:t>
            </a:r>
            <a:r>
              <a:rPr lang="en-US" dirty="0"/>
              <a:t>with elevated mood demonstrate expansiveness, flight of ideas, decreased sleep, heightened self esteem and grandiose ideas. </a:t>
            </a:r>
          </a:p>
          <a:p>
            <a:r>
              <a:rPr lang="en-US" b="1" dirty="0"/>
              <a:t>Manic episode </a:t>
            </a:r>
            <a:endParaRPr lang="en-US" dirty="0"/>
          </a:p>
          <a:p>
            <a:pPr marL="0" indent="0">
              <a:buNone/>
            </a:pPr>
            <a:r>
              <a:rPr lang="en-US" dirty="0"/>
              <a:t>Is a period of an abnormally and persistently elevated, expansive or irritable mood for at least one week </a:t>
            </a:r>
          </a:p>
        </p:txBody>
      </p:sp>
    </p:spTree>
    <p:extLst>
      <p:ext uri="{BB962C8B-B14F-4D97-AF65-F5344CB8AC3E}">
        <p14:creationId xmlns:p14="http://schemas.microsoft.com/office/powerpoint/2010/main" val="2074786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fontScale="90000"/>
          </a:bodyPr>
          <a:lstStyle/>
          <a:p>
            <a:r>
              <a:rPr lang="en-US" dirty="0" smtClean="0"/>
              <a:t>MOOD DX</a:t>
            </a:r>
            <a:r>
              <a:rPr lang="en-US" dirty="0"/>
              <a:t/>
            </a:r>
            <a:br>
              <a:rPr lang="en-US" dirty="0"/>
            </a:br>
            <a:r>
              <a:rPr lang="en-US" dirty="0" smtClean="0"/>
              <a:t> </a:t>
            </a:r>
            <a:r>
              <a:rPr lang="en-US" b="1" dirty="0"/>
              <a:t>Types of mood disorders </a:t>
            </a:r>
            <a:endParaRPr lang="en-US" dirty="0"/>
          </a:p>
        </p:txBody>
      </p:sp>
      <p:sp>
        <p:nvSpPr>
          <p:cNvPr id="3" name="Content Placeholder 2"/>
          <p:cNvSpPr>
            <a:spLocks noGrp="1"/>
          </p:cNvSpPr>
          <p:nvPr>
            <p:ph idx="1"/>
          </p:nvPr>
        </p:nvSpPr>
        <p:spPr>
          <a:xfrm>
            <a:off x="457200" y="1371600"/>
            <a:ext cx="8229600" cy="5029200"/>
          </a:xfrm>
        </p:spPr>
        <p:txBody>
          <a:bodyPr>
            <a:normAutofit/>
          </a:bodyPr>
          <a:lstStyle/>
          <a:p>
            <a:endParaRPr lang="en-US" dirty="0"/>
          </a:p>
          <a:p>
            <a:r>
              <a:rPr lang="en-US" b="1" dirty="0" smtClean="0"/>
              <a:t>Depressive </a:t>
            </a:r>
            <a:r>
              <a:rPr lang="en-US" b="1" dirty="0"/>
              <a:t>disorders</a:t>
            </a:r>
            <a:r>
              <a:rPr lang="en-US" dirty="0"/>
              <a:t>: </a:t>
            </a:r>
            <a:endParaRPr lang="en-US" dirty="0" smtClean="0"/>
          </a:p>
          <a:p>
            <a:pPr lvl="1"/>
            <a:r>
              <a:rPr lang="en-US" dirty="0" smtClean="0"/>
              <a:t>unipolar</a:t>
            </a:r>
            <a:r>
              <a:rPr lang="en-US" dirty="0"/>
              <a:t>/ major depressive disorder, </a:t>
            </a:r>
          </a:p>
          <a:p>
            <a:pPr lvl="1"/>
            <a:r>
              <a:rPr lang="en-US" dirty="0" smtClean="0"/>
              <a:t>Dysthymia </a:t>
            </a:r>
            <a:endParaRPr lang="en-US" dirty="0"/>
          </a:p>
          <a:p>
            <a:r>
              <a:rPr lang="en-US" b="1" dirty="0"/>
              <a:t>Bipolar disorders: </a:t>
            </a:r>
            <a:endParaRPr lang="en-US" b="1" dirty="0" smtClean="0"/>
          </a:p>
          <a:p>
            <a:pPr lvl="1"/>
            <a:r>
              <a:rPr lang="en-US" dirty="0" smtClean="0"/>
              <a:t>bipolar </a:t>
            </a:r>
            <a:r>
              <a:rPr lang="en-US" dirty="0"/>
              <a:t>I, </a:t>
            </a:r>
            <a:endParaRPr lang="en-US" dirty="0" smtClean="0"/>
          </a:p>
          <a:p>
            <a:pPr lvl="1"/>
            <a:r>
              <a:rPr lang="en-US" dirty="0" smtClean="0"/>
              <a:t>bipolar </a:t>
            </a:r>
            <a:r>
              <a:rPr lang="en-US" dirty="0"/>
              <a:t>II, </a:t>
            </a:r>
            <a:endParaRPr lang="en-US" dirty="0" smtClean="0"/>
          </a:p>
          <a:p>
            <a:pPr lvl="1"/>
            <a:r>
              <a:rPr lang="en-US" dirty="0" err="1" smtClean="0"/>
              <a:t>cyclothymia</a:t>
            </a:r>
            <a:r>
              <a:rPr lang="en-US" dirty="0" smtClean="0"/>
              <a:t> </a:t>
            </a:r>
            <a:r>
              <a:rPr lang="en-US" dirty="0"/>
              <a:t>and Seasonal affective disorder </a:t>
            </a:r>
          </a:p>
        </p:txBody>
      </p:sp>
    </p:spTree>
    <p:extLst>
      <p:ext uri="{BB962C8B-B14F-4D97-AF65-F5344CB8AC3E}">
        <p14:creationId xmlns:p14="http://schemas.microsoft.com/office/powerpoint/2010/main" val="31417411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417638"/>
          </a:xfrm>
        </p:spPr>
        <p:txBody>
          <a:bodyPr>
            <a:normAutofit fontScale="90000"/>
          </a:bodyPr>
          <a:lstStyle/>
          <a:p>
            <a:r>
              <a:rPr lang="en-US" b="1" dirty="0" smtClean="0"/>
              <a:t/>
            </a:r>
            <a:br>
              <a:rPr lang="en-US" b="1" dirty="0" smtClean="0"/>
            </a:br>
            <a:r>
              <a:rPr lang="en-US" b="1" dirty="0" smtClean="0"/>
              <a:t>MOOD DX</a:t>
            </a:r>
            <a:br>
              <a:rPr lang="en-US" b="1" dirty="0" smtClean="0"/>
            </a:br>
            <a:r>
              <a:rPr lang="en-US" b="1" dirty="0" smtClean="0"/>
              <a:t>Depressive </a:t>
            </a:r>
            <a:r>
              <a:rPr lang="en-US" b="1" dirty="0"/>
              <a:t>disorders</a:t>
            </a:r>
            <a:r>
              <a:rPr lang="en-US" dirty="0"/>
              <a:t>: </a:t>
            </a:r>
            <a:br>
              <a:rPr lang="en-US" dirty="0"/>
            </a:br>
            <a:endParaRPr lang="en-US" dirty="0"/>
          </a:p>
        </p:txBody>
      </p:sp>
      <p:sp>
        <p:nvSpPr>
          <p:cNvPr id="3" name="Content Placeholder 2"/>
          <p:cNvSpPr>
            <a:spLocks noGrp="1"/>
          </p:cNvSpPr>
          <p:nvPr>
            <p:ph idx="1"/>
          </p:nvPr>
        </p:nvSpPr>
        <p:spPr>
          <a:xfrm>
            <a:off x="457200" y="1524000"/>
            <a:ext cx="8229600" cy="5105400"/>
          </a:xfrm>
        </p:spPr>
        <p:txBody>
          <a:bodyPr>
            <a:normAutofit/>
          </a:bodyPr>
          <a:lstStyle/>
          <a:p>
            <a:pPr marL="514350" indent="-514350">
              <a:buAutoNum type="arabicPeriod"/>
            </a:pPr>
            <a:r>
              <a:rPr lang="en-US" b="1" dirty="0" smtClean="0"/>
              <a:t>Unipolar</a:t>
            </a:r>
            <a:r>
              <a:rPr lang="en-US" b="1" dirty="0"/>
              <a:t>/ major </a:t>
            </a:r>
            <a:r>
              <a:rPr lang="en-US" b="1" dirty="0" smtClean="0"/>
              <a:t>depressive </a:t>
            </a:r>
            <a:r>
              <a:rPr lang="en-US" b="1" dirty="0"/>
              <a:t>disorder </a:t>
            </a:r>
            <a:endParaRPr lang="en-US" dirty="0"/>
          </a:p>
          <a:p>
            <a:r>
              <a:rPr lang="en-US" dirty="0"/>
              <a:t> Depression occurring without a history of </a:t>
            </a:r>
            <a:r>
              <a:rPr lang="en-US" dirty="0" smtClean="0"/>
              <a:t>mania, </a:t>
            </a:r>
            <a:r>
              <a:rPr lang="en-US" dirty="0"/>
              <a:t>mixed or hypomanic episode </a:t>
            </a:r>
          </a:p>
          <a:p>
            <a:r>
              <a:rPr lang="en-US" dirty="0"/>
              <a:t>Diagnosis is based on the patient's </a:t>
            </a:r>
            <a:r>
              <a:rPr lang="en-US" dirty="0" smtClean="0"/>
              <a:t>self-reported </a:t>
            </a:r>
            <a:r>
              <a:rPr lang="en-US" dirty="0"/>
              <a:t>experiences and observed </a:t>
            </a:r>
            <a:r>
              <a:rPr lang="en-US" dirty="0" smtClean="0"/>
              <a:t>behavior.</a:t>
            </a:r>
            <a:endParaRPr lang="en-US" dirty="0"/>
          </a:p>
          <a:p>
            <a:r>
              <a:rPr lang="en-US" dirty="0" smtClean="0"/>
              <a:t>The </a:t>
            </a:r>
            <a:r>
              <a:rPr lang="en-US" dirty="0"/>
              <a:t>course varies widely, from a one-off occurrence to a lifelong disorder with recurrent episodes. </a:t>
            </a:r>
            <a:endParaRPr lang="en-US" dirty="0" smtClean="0"/>
          </a:p>
          <a:p>
            <a:r>
              <a:rPr lang="en-US" dirty="0" smtClean="0"/>
              <a:t>MD episode </a:t>
            </a:r>
            <a:r>
              <a:rPr lang="en-US" dirty="0"/>
              <a:t>must last at least 2 weeks</a:t>
            </a:r>
            <a:endParaRPr lang="en-US" dirty="0" smtClean="0"/>
          </a:p>
          <a:p>
            <a:pPr marL="0" indent="0">
              <a:buNone/>
            </a:pPr>
            <a:endParaRPr lang="en-US" dirty="0"/>
          </a:p>
        </p:txBody>
      </p:sp>
    </p:spTree>
    <p:extLst>
      <p:ext uri="{BB962C8B-B14F-4D97-AF65-F5344CB8AC3E}">
        <p14:creationId xmlns:p14="http://schemas.microsoft.com/office/powerpoint/2010/main" val="34928982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
            </a:r>
            <a:br>
              <a:rPr lang="en-US" b="1" dirty="0" smtClean="0"/>
            </a:br>
            <a:r>
              <a:rPr lang="en-US" b="1" dirty="0" smtClean="0"/>
              <a:t>Unipolar</a:t>
            </a:r>
            <a:r>
              <a:rPr lang="en-US" b="1" dirty="0"/>
              <a:t>/ major depressive disorder </a:t>
            </a:r>
            <a:r>
              <a:rPr lang="en-US" dirty="0"/>
              <a:t/>
            </a:r>
            <a:br>
              <a:rPr lang="en-US" dirty="0"/>
            </a:br>
            <a:endParaRPr lang="en-US" dirty="0"/>
          </a:p>
        </p:txBody>
      </p:sp>
      <p:sp>
        <p:nvSpPr>
          <p:cNvPr id="3" name="Content Placeholder 2"/>
          <p:cNvSpPr>
            <a:spLocks noGrp="1"/>
          </p:cNvSpPr>
          <p:nvPr>
            <p:ph idx="1"/>
          </p:nvPr>
        </p:nvSpPr>
        <p:spPr>
          <a:xfrm>
            <a:off x="457200" y="990600"/>
            <a:ext cx="8229600" cy="5135563"/>
          </a:xfrm>
        </p:spPr>
        <p:txBody>
          <a:bodyPr/>
          <a:lstStyle/>
          <a:p>
            <a:pPr marL="0" indent="0">
              <a:buNone/>
            </a:pPr>
            <a:r>
              <a:rPr lang="en-US" dirty="0" err="1" smtClean="0"/>
              <a:t>Pt</a:t>
            </a:r>
            <a:r>
              <a:rPr lang="en-US" dirty="0" smtClean="0"/>
              <a:t> </a:t>
            </a:r>
            <a:r>
              <a:rPr lang="en-US" dirty="0"/>
              <a:t>experience: </a:t>
            </a:r>
          </a:p>
          <a:p>
            <a:pPr>
              <a:buFont typeface="Wingdings" panose="05000000000000000000" pitchFamily="2" charset="2"/>
              <a:buChar char="v"/>
            </a:pPr>
            <a:r>
              <a:rPr lang="en-US" dirty="0" smtClean="0"/>
              <a:t>Changes </a:t>
            </a:r>
            <a:r>
              <a:rPr lang="en-US" dirty="0"/>
              <a:t>in appetite and weight, </a:t>
            </a:r>
          </a:p>
          <a:p>
            <a:pPr>
              <a:buFont typeface="Wingdings" panose="05000000000000000000" pitchFamily="2" charset="2"/>
              <a:buChar char="v"/>
            </a:pPr>
            <a:r>
              <a:rPr lang="en-US" dirty="0" smtClean="0"/>
              <a:t>Changes </a:t>
            </a:r>
            <a:r>
              <a:rPr lang="en-US" dirty="0"/>
              <a:t>in sleep and activity, </a:t>
            </a:r>
          </a:p>
          <a:p>
            <a:pPr>
              <a:buFont typeface="Wingdings" panose="05000000000000000000" pitchFamily="2" charset="2"/>
              <a:buChar char="v"/>
            </a:pPr>
            <a:r>
              <a:rPr lang="en-US" dirty="0" smtClean="0"/>
              <a:t>Lack </a:t>
            </a:r>
            <a:r>
              <a:rPr lang="en-US" dirty="0"/>
              <a:t>of energy and interest </a:t>
            </a:r>
          </a:p>
          <a:p>
            <a:pPr>
              <a:buFont typeface="Wingdings" panose="05000000000000000000" pitchFamily="2" charset="2"/>
              <a:buChar char="v"/>
            </a:pPr>
            <a:r>
              <a:rPr lang="en-US" dirty="0" smtClean="0"/>
              <a:t>Feeling </a:t>
            </a:r>
            <a:r>
              <a:rPr lang="en-US" dirty="0"/>
              <a:t>of guilt </a:t>
            </a:r>
          </a:p>
          <a:p>
            <a:pPr>
              <a:buFont typeface="Wingdings" panose="05000000000000000000" pitchFamily="2" charset="2"/>
              <a:buChar char="v"/>
            </a:pPr>
            <a:r>
              <a:rPr lang="en-US" dirty="0" smtClean="0"/>
              <a:t>Problem </a:t>
            </a:r>
            <a:r>
              <a:rPr lang="en-US" dirty="0"/>
              <a:t>in thinking and making decision, </a:t>
            </a:r>
          </a:p>
          <a:p>
            <a:pPr>
              <a:buFont typeface="Wingdings" panose="05000000000000000000" pitchFamily="2" charset="2"/>
              <a:buChar char="v"/>
            </a:pPr>
            <a:r>
              <a:rPr lang="en-US" dirty="0" smtClean="0"/>
              <a:t>Recurring </a:t>
            </a:r>
            <a:r>
              <a:rPr lang="en-US" dirty="0"/>
              <a:t>thoughts of death or suicide </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5366272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7772399"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3240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endParaRPr lang="en-US" dirty="0"/>
          </a:p>
        </p:txBody>
      </p:sp>
      <p:sp>
        <p:nvSpPr>
          <p:cNvPr id="3" name="Content Placeholder 2"/>
          <p:cNvSpPr>
            <a:spLocks noGrp="1"/>
          </p:cNvSpPr>
          <p:nvPr>
            <p:ph idx="1"/>
          </p:nvPr>
        </p:nvSpPr>
        <p:spPr/>
        <p:txBody>
          <a:bodyPr/>
          <a:lstStyle/>
          <a:p>
            <a:r>
              <a:rPr lang="en-US" dirty="0"/>
              <a:t>The most common time of onset is between the ages of 30 and 40, with a later peak between 50 and 60. </a:t>
            </a:r>
            <a:endParaRPr lang="en-US" dirty="0" smtClean="0"/>
          </a:p>
          <a:p>
            <a:r>
              <a:rPr lang="en-US" dirty="0" smtClean="0"/>
              <a:t>Major </a:t>
            </a:r>
            <a:r>
              <a:rPr lang="en-US" dirty="0"/>
              <a:t>depression appears significantly more often in women than in men.</a:t>
            </a:r>
          </a:p>
        </p:txBody>
      </p:sp>
    </p:spTree>
    <p:extLst>
      <p:ext uri="{BB962C8B-B14F-4D97-AF65-F5344CB8AC3E}">
        <p14:creationId xmlns:p14="http://schemas.microsoft.com/office/powerpoint/2010/main" val="33221639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Unipolar/ major depressive disorder</a:t>
            </a:r>
            <a:br>
              <a:rPr lang="en-US" b="1" dirty="0" smtClean="0"/>
            </a:br>
            <a:r>
              <a:rPr lang="en-US" b="1" dirty="0" smtClean="0"/>
              <a:t>S&amp;S</a:t>
            </a:r>
            <a:endParaRPr lang="en-US" dirty="0"/>
          </a:p>
        </p:txBody>
      </p:sp>
      <p:sp>
        <p:nvSpPr>
          <p:cNvPr id="3" name="Content Placeholder 2"/>
          <p:cNvSpPr>
            <a:spLocks noGrp="1"/>
          </p:cNvSpPr>
          <p:nvPr>
            <p:ph idx="1"/>
          </p:nvPr>
        </p:nvSpPr>
        <p:spPr>
          <a:xfrm>
            <a:off x="457200" y="1447800"/>
            <a:ext cx="8229600" cy="4678363"/>
          </a:xfrm>
        </p:spPr>
        <p:txBody>
          <a:bodyPr>
            <a:normAutofit fontScale="92500" lnSpcReduction="20000"/>
          </a:bodyPr>
          <a:lstStyle/>
          <a:p>
            <a:pPr marL="0" indent="0">
              <a:buNone/>
            </a:pPr>
            <a:r>
              <a:rPr lang="en-US" dirty="0"/>
              <a:t>Major depression is a serious condition that significantly affects a person's work, family and school life, sleeping and eating habits, and general health. </a:t>
            </a:r>
          </a:p>
          <a:p>
            <a:pPr>
              <a:buFont typeface="Wingdings" panose="05000000000000000000" pitchFamily="2" charset="2"/>
              <a:buChar char="Ø"/>
            </a:pPr>
            <a:r>
              <a:rPr lang="en-US" dirty="0" smtClean="0"/>
              <a:t>pervasive </a:t>
            </a:r>
            <a:r>
              <a:rPr lang="en-US" dirty="0"/>
              <a:t>low mood </a:t>
            </a:r>
          </a:p>
          <a:p>
            <a:pPr>
              <a:buFont typeface="Wingdings" panose="05000000000000000000" pitchFamily="2" charset="2"/>
              <a:buChar char="Ø"/>
            </a:pPr>
            <a:r>
              <a:rPr lang="en-US" dirty="0" smtClean="0"/>
              <a:t>Loss </a:t>
            </a:r>
            <a:r>
              <a:rPr lang="en-US" dirty="0"/>
              <a:t>of interest or pleasure in favorite activities. </a:t>
            </a:r>
            <a:endParaRPr lang="en-US" dirty="0" smtClean="0"/>
          </a:p>
          <a:p>
            <a:pPr marL="0" indent="0">
              <a:buNone/>
            </a:pPr>
            <a:r>
              <a:rPr lang="en-US" b="1" dirty="0" smtClean="0"/>
              <a:t>Depressed </a:t>
            </a:r>
            <a:r>
              <a:rPr lang="en-US" b="1" dirty="0"/>
              <a:t>people may be preoccupied with</a:t>
            </a:r>
            <a:r>
              <a:rPr lang="en-US" dirty="0"/>
              <a:t> </a:t>
            </a:r>
            <a:r>
              <a:rPr lang="en-US" dirty="0" smtClean="0"/>
              <a:t>;-</a:t>
            </a:r>
            <a:endParaRPr lang="en-US" dirty="0"/>
          </a:p>
          <a:p>
            <a:pPr>
              <a:buFont typeface="Wingdings" panose="05000000000000000000" pitchFamily="2" charset="2"/>
              <a:buChar char="Ø"/>
            </a:pPr>
            <a:r>
              <a:rPr lang="en-US" dirty="0" smtClean="0"/>
              <a:t>Feelings </a:t>
            </a:r>
            <a:r>
              <a:rPr lang="en-US" dirty="0"/>
              <a:t>of worthlessness, inappropriate guilt, or regret, helplessness or hopelessness. </a:t>
            </a:r>
          </a:p>
          <a:p>
            <a:pPr>
              <a:buFont typeface="Wingdings" panose="05000000000000000000" pitchFamily="2" charset="2"/>
              <a:buChar char="Ø"/>
            </a:pPr>
            <a:r>
              <a:rPr lang="en-US" dirty="0" smtClean="0"/>
              <a:t>poor </a:t>
            </a:r>
            <a:r>
              <a:rPr lang="en-US" dirty="0"/>
              <a:t>concentration and memory, </a:t>
            </a:r>
          </a:p>
          <a:p>
            <a:pPr>
              <a:buFont typeface="Wingdings" panose="05000000000000000000" pitchFamily="2" charset="2"/>
              <a:buChar char="Ø"/>
            </a:pPr>
            <a:r>
              <a:rPr lang="en-US" dirty="0" smtClean="0"/>
              <a:t>withdrawal </a:t>
            </a:r>
            <a:r>
              <a:rPr lang="en-US" dirty="0"/>
              <a:t>from social situations and activities, </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1914362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rmAutofit fontScale="90000"/>
          </a:bodyPr>
          <a:lstStyle/>
          <a:p>
            <a:r>
              <a:rPr lang="en-US" b="1" dirty="0"/>
              <a:t>Unipolar/ major depressive disorder</a:t>
            </a:r>
            <a:br>
              <a:rPr lang="en-US" b="1" dirty="0"/>
            </a:br>
            <a:r>
              <a:rPr lang="en-US" b="1" dirty="0"/>
              <a:t>S&amp;S</a:t>
            </a:r>
            <a:endParaRPr lang="en-US" dirty="0"/>
          </a:p>
        </p:txBody>
      </p:sp>
      <p:sp>
        <p:nvSpPr>
          <p:cNvPr id="3" name="Content Placeholder 2"/>
          <p:cNvSpPr>
            <a:spLocks noGrp="1"/>
          </p:cNvSpPr>
          <p:nvPr>
            <p:ph idx="1"/>
          </p:nvPr>
        </p:nvSpPr>
        <p:spPr>
          <a:xfrm>
            <a:off x="457200" y="1447800"/>
            <a:ext cx="8229600" cy="5105400"/>
          </a:xfrm>
        </p:spPr>
        <p:txBody>
          <a:bodyPr>
            <a:normAutofit fontScale="85000" lnSpcReduction="20000"/>
          </a:bodyPr>
          <a:lstStyle/>
          <a:p>
            <a:endParaRPr lang="en-US" dirty="0"/>
          </a:p>
          <a:p>
            <a:pPr>
              <a:buFont typeface="Wingdings" panose="05000000000000000000" pitchFamily="2" charset="2"/>
              <a:buChar char="Ø"/>
            </a:pPr>
            <a:r>
              <a:rPr lang="en-US" dirty="0"/>
              <a:t>reduced libido (sex drive) </a:t>
            </a:r>
          </a:p>
          <a:p>
            <a:pPr>
              <a:buFont typeface="Wingdings" panose="05000000000000000000" pitchFamily="2" charset="2"/>
              <a:buChar char="Ø"/>
            </a:pPr>
            <a:r>
              <a:rPr lang="en-US" dirty="0" smtClean="0"/>
              <a:t>Thoughts </a:t>
            </a:r>
            <a:r>
              <a:rPr lang="en-US" dirty="0"/>
              <a:t>of death or suicide. </a:t>
            </a:r>
          </a:p>
          <a:p>
            <a:pPr>
              <a:buFont typeface="Wingdings" panose="05000000000000000000" pitchFamily="2" charset="2"/>
              <a:buChar char="Ø"/>
            </a:pPr>
            <a:r>
              <a:rPr lang="en-US" dirty="0" smtClean="0"/>
              <a:t>Insomnia </a:t>
            </a:r>
            <a:r>
              <a:rPr lang="en-US" dirty="0"/>
              <a:t>is common; the typical pattern is one of early morning wakening where the person reports waking up very early and being unable to get back to sleep. </a:t>
            </a:r>
          </a:p>
          <a:p>
            <a:pPr>
              <a:buFont typeface="Wingdings" panose="05000000000000000000" pitchFamily="2" charset="2"/>
              <a:buChar char="Ø"/>
            </a:pPr>
            <a:r>
              <a:rPr lang="en-US" dirty="0" smtClean="0"/>
              <a:t>Hypersomnia</a:t>
            </a:r>
            <a:r>
              <a:rPr lang="en-US" dirty="0"/>
              <a:t>, or oversleeping, is </a:t>
            </a:r>
            <a:r>
              <a:rPr lang="en-US" b="1" dirty="0" smtClean="0"/>
              <a:t>less common</a:t>
            </a:r>
            <a:r>
              <a:rPr lang="en-US" dirty="0" smtClean="0"/>
              <a:t>. </a:t>
            </a:r>
            <a:endParaRPr lang="en-US" dirty="0"/>
          </a:p>
          <a:p>
            <a:pPr>
              <a:buFont typeface="Wingdings" panose="05000000000000000000" pitchFamily="2" charset="2"/>
              <a:buChar char="Ø"/>
            </a:pPr>
            <a:r>
              <a:rPr lang="en-US" dirty="0" smtClean="0"/>
              <a:t>Appetite often ↓, </a:t>
            </a:r>
            <a:r>
              <a:rPr lang="en-US" dirty="0"/>
              <a:t>with resulting </a:t>
            </a:r>
            <a:r>
              <a:rPr lang="en-US" dirty="0" err="1" smtClean="0"/>
              <a:t>wt</a:t>
            </a:r>
            <a:r>
              <a:rPr lang="en-US" dirty="0" smtClean="0"/>
              <a:t> </a:t>
            </a:r>
            <a:r>
              <a:rPr lang="en-US" dirty="0"/>
              <a:t>loss, although increased appetite and weight gain occasionally occur. </a:t>
            </a:r>
          </a:p>
          <a:p>
            <a:pPr>
              <a:buFont typeface="Wingdings" panose="05000000000000000000" pitchFamily="2" charset="2"/>
              <a:buChar char="Ø"/>
            </a:pPr>
            <a:r>
              <a:rPr lang="en-US" dirty="0" smtClean="0"/>
              <a:t>Persistent </a:t>
            </a:r>
            <a:r>
              <a:rPr lang="en-US" dirty="0" err="1" smtClean="0"/>
              <a:t>phy</a:t>
            </a:r>
            <a:r>
              <a:rPr lang="en-US" dirty="0" smtClean="0"/>
              <a:t> symptoms </a:t>
            </a:r>
            <a:r>
              <a:rPr lang="en-US" dirty="0"/>
              <a:t>such as fatigue, headaches, digestive problems, chronic pain, or a feeling of sluggishness. </a:t>
            </a:r>
          </a:p>
          <a:p>
            <a:pPr>
              <a:buFont typeface="Wingdings" panose="05000000000000000000" pitchFamily="2" charset="2"/>
              <a:buChar char="Ø"/>
            </a:pPr>
            <a:r>
              <a:rPr lang="en-US" dirty="0" smtClean="0"/>
              <a:t>Agitated </a:t>
            </a:r>
            <a:r>
              <a:rPr lang="en-US" dirty="0"/>
              <a:t>or slowed down. </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9220809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br>
              <a:rPr lang="en-US" b="1" dirty="0"/>
            </a:br>
            <a:r>
              <a:rPr lang="en-US" b="1" dirty="0"/>
              <a:t>S&amp;S</a:t>
            </a:r>
            <a:endParaRPr lang="en-US" dirty="0"/>
          </a:p>
        </p:txBody>
      </p:sp>
      <p:sp>
        <p:nvSpPr>
          <p:cNvPr id="3" name="Content Placeholder 2"/>
          <p:cNvSpPr>
            <a:spLocks noGrp="1"/>
          </p:cNvSpPr>
          <p:nvPr>
            <p:ph idx="1"/>
          </p:nvPr>
        </p:nvSpPr>
        <p:spPr>
          <a:xfrm>
            <a:off x="457200" y="1295400"/>
            <a:ext cx="8229600" cy="5257800"/>
          </a:xfrm>
        </p:spPr>
        <p:txBody>
          <a:bodyPr>
            <a:normAutofit fontScale="85000" lnSpcReduction="20000"/>
          </a:bodyPr>
          <a:lstStyle/>
          <a:p>
            <a:pPr>
              <a:buFont typeface="Wingdings" panose="05000000000000000000" pitchFamily="2" charset="2"/>
              <a:buChar char="Ø"/>
            </a:pPr>
            <a:r>
              <a:rPr lang="en-US" dirty="0"/>
              <a:t>Older people </a:t>
            </a:r>
            <a:r>
              <a:rPr lang="en-US" dirty="0" smtClean="0"/>
              <a:t>often show </a:t>
            </a:r>
            <a:r>
              <a:rPr lang="en-US" dirty="0"/>
              <a:t>cognitive symptoms such as </a:t>
            </a:r>
            <a:r>
              <a:rPr lang="en-US" dirty="0" smtClean="0"/>
              <a:t>forgetfulness- are more noticeable </a:t>
            </a:r>
            <a:endParaRPr lang="en-US" dirty="0"/>
          </a:p>
          <a:p>
            <a:pPr>
              <a:buFont typeface="Wingdings" panose="05000000000000000000" pitchFamily="2" charset="2"/>
              <a:buChar char="Ø"/>
            </a:pPr>
            <a:r>
              <a:rPr lang="en-US" dirty="0"/>
              <a:t>Slowing of movements. </a:t>
            </a:r>
          </a:p>
          <a:p>
            <a:pPr>
              <a:buFont typeface="Wingdings" panose="05000000000000000000" pitchFamily="2" charset="2"/>
              <a:buChar char="Ø"/>
            </a:pPr>
            <a:r>
              <a:rPr lang="en-US" dirty="0"/>
              <a:t>In severe cases: </a:t>
            </a:r>
            <a:r>
              <a:rPr lang="en-US" b="1" dirty="0"/>
              <a:t>psychotic symptoms </a:t>
            </a:r>
            <a:r>
              <a:rPr lang="en-US" dirty="0"/>
              <a:t>such as delusions or, less commonly, hallucinations, usually of an unpleasant nature. </a:t>
            </a:r>
          </a:p>
          <a:p>
            <a:pPr>
              <a:buFont typeface="Wingdings" panose="05000000000000000000" pitchFamily="2" charset="2"/>
              <a:buChar char="Ø"/>
            </a:pPr>
            <a:r>
              <a:rPr lang="en-US" dirty="0" smtClean="0"/>
              <a:t>In </a:t>
            </a:r>
            <a:r>
              <a:rPr lang="en-US" dirty="0"/>
              <a:t>children or adolescents the mood may be irritable rather than depressed </a:t>
            </a:r>
          </a:p>
          <a:p>
            <a:pPr>
              <a:buFont typeface="Wingdings" panose="05000000000000000000" pitchFamily="2" charset="2"/>
              <a:buChar char="Ø"/>
            </a:pPr>
            <a:r>
              <a:rPr lang="en-US" dirty="0" smtClean="0"/>
              <a:t>Children </a:t>
            </a:r>
            <a:r>
              <a:rPr lang="en-US" dirty="0"/>
              <a:t>will exhibit a loss of interest in school and decline in academic performance </a:t>
            </a:r>
          </a:p>
          <a:p>
            <a:pPr>
              <a:buFont typeface="Wingdings" panose="05000000000000000000" pitchFamily="2" charset="2"/>
              <a:buChar char="Ø"/>
            </a:pPr>
            <a:r>
              <a:rPr lang="en-US" dirty="0" smtClean="0"/>
              <a:t>Teenagers </a:t>
            </a:r>
            <a:r>
              <a:rPr lang="en-US" dirty="0"/>
              <a:t>begin abusing </a:t>
            </a:r>
            <a:r>
              <a:rPr lang="en-US" dirty="0" smtClean="0"/>
              <a:t>drugs/alcohol</a:t>
            </a:r>
            <a:r>
              <a:rPr lang="en-US" dirty="0"/>
              <a:t>, or exhibit disruptive </a:t>
            </a:r>
            <a:r>
              <a:rPr lang="en-US" dirty="0" err="1"/>
              <a:t>behaviour</a:t>
            </a:r>
            <a:r>
              <a:rPr lang="en-US" dirty="0"/>
              <a:t>. </a:t>
            </a:r>
          </a:p>
          <a:p>
            <a:pPr>
              <a:buFont typeface="Wingdings" panose="05000000000000000000" pitchFamily="2" charset="2"/>
              <a:buChar char="Ø"/>
            </a:pPr>
            <a:r>
              <a:rPr lang="en-US" dirty="0" smtClean="0"/>
              <a:t>Thoughts </a:t>
            </a:r>
            <a:r>
              <a:rPr lang="en-US" dirty="0"/>
              <a:t>or attempts of suicide are rare in children with major depression under 12 years of age. </a:t>
            </a:r>
          </a:p>
          <a:p>
            <a:endParaRPr lang="en-US" dirty="0"/>
          </a:p>
        </p:txBody>
      </p:sp>
    </p:spTree>
    <p:extLst>
      <p:ext uri="{BB962C8B-B14F-4D97-AF65-F5344CB8AC3E}">
        <p14:creationId xmlns:p14="http://schemas.microsoft.com/office/powerpoint/2010/main" val="19398038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br>
              <a:rPr lang="en-US" b="1" dirty="0"/>
            </a:br>
            <a:r>
              <a:rPr lang="en-US" b="1" dirty="0" smtClean="0"/>
              <a:t>causes </a:t>
            </a:r>
            <a:endParaRPr lang="en-US" dirty="0"/>
          </a:p>
        </p:txBody>
      </p:sp>
      <p:sp>
        <p:nvSpPr>
          <p:cNvPr id="3" name="Content Placeholder 2"/>
          <p:cNvSpPr>
            <a:spLocks noGrp="1"/>
          </p:cNvSpPr>
          <p:nvPr>
            <p:ph idx="1"/>
          </p:nvPr>
        </p:nvSpPr>
        <p:spPr>
          <a:xfrm>
            <a:off x="457200" y="1524000"/>
            <a:ext cx="8229600" cy="5334000"/>
          </a:xfrm>
        </p:spPr>
        <p:txBody>
          <a:bodyPr>
            <a:normAutofit fontScale="85000" lnSpcReduction="10000"/>
          </a:bodyPr>
          <a:lstStyle/>
          <a:p>
            <a:r>
              <a:rPr lang="en-US" b="1" dirty="0"/>
              <a:t>Psychological </a:t>
            </a:r>
            <a:endParaRPr lang="en-US" dirty="0"/>
          </a:p>
          <a:p>
            <a:pPr marL="0" indent="0">
              <a:buNone/>
            </a:pPr>
            <a:r>
              <a:rPr lang="en-US" dirty="0"/>
              <a:t>Psychological factors include the complex development of personality and how a person has learned to cope with external environmental factors, such as </a:t>
            </a:r>
            <a:r>
              <a:rPr lang="en-US" dirty="0" smtClean="0"/>
              <a:t>;-</a:t>
            </a:r>
          </a:p>
          <a:p>
            <a:r>
              <a:rPr lang="en-US" dirty="0" smtClean="0"/>
              <a:t>stressful </a:t>
            </a:r>
            <a:r>
              <a:rPr lang="en-US" dirty="0"/>
              <a:t>events [death of a parent or loved one, issues with biological </a:t>
            </a:r>
            <a:r>
              <a:rPr lang="en-US" dirty="0" smtClean="0"/>
              <a:t>development</a:t>
            </a:r>
          </a:p>
          <a:p>
            <a:r>
              <a:rPr lang="en-US" dirty="0" smtClean="0"/>
              <a:t>school </a:t>
            </a:r>
            <a:r>
              <a:rPr lang="en-US" dirty="0"/>
              <a:t>related problems, </a:t>
            </a:r>
            <a:endParaRPr lang="en-US" dirty="0" smtClean="0"/>
          </a:p>
          <a:p>
            <a:r>
              <a:rPr lang="en-US" dirty="0" smtClean="0"/>
              <a:t>abandonment </a:t>
            </a:r>
            <a:r>
              <a:rPr lang="en-US" dirty="0"/>
              <a:t>or rejection, </a:t>
            </a:r>
            <a:endParaRPr lang="en-US" dirty="0" smtClean="0"/>
          </a:p>
          <a:p>
            <a:r>
              <a:rPr lang="en-US" dirty="0" smtClean="0"/>
              <a:t>neglect</a:t>
            </a:r>
            <a:r>
              <a:rPr lang="en-US" dirty="0"/>
              <a:t>, </a:t>
            </a:r>
            <a:endParaRPr lang="en-US" dirty="0" smtClean="0"/>
          </a:p>
          <a:p>
            <a:r>
              <a:rPr lang="en-US" dirty="0" smtClean="0"/>
              <a:t>chronic </a:t>
            </a:r>
            <a:r>
              <a:rPr lang="en-US" dirty="0"/>
              <a:t>illness, </a:t>
            </a:r>
            <a:endParaRPr lang="en-US" dirty="0" smtClean="0"/>
          </a:p>
          <a:p>
            <a:r>
              <a:rPr lang="en-US" dirty="0" smtClean="0"/>
              <a:t>and </a:t>
            </a:r>
            <a:r>
              <a:rPr lang="en-US" dirty="0"/>
              <a:t>physical, psychological, or sexual abuse] increase the risk of depression later in life. </a:t>
            </a:r>
          </a:p>
        </p:txBody>
      </p:sp>
    </p:spTree>
    <p:extLst>
      <p:ext uri="{BB962C8B-B14F-4D97-AF65-F5344CB8AC3E}">
        <p14:creationId xmlns:p14="http://schemas.microsoft.com/office/powerpoint/2010/main" val="27573642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br>
              <a:rPr lang="en-US" b="1" dirty="0"/>
            </a:br>
            <a:r>
              <a:rPr lang="en-US" b="1" dirty="0"/>
              <a:t>causes </a:t>
            </a:r>
            <a:endParaRPr lang="en-US" dirty="0"/>
          </a:p>
        </p:txBody>
      </p:sp>
      <p:sp>
        <p:nvSpPr>
          <p:cNvPr id="3" name="Content Placeholder 2"/>
          <p:cNvSpPr>
            <a:spLocks noGrp="1"/>
          </p:cNvSpPr>
          <p:nvPr>
            <p:ph idx="1"/>
          </p:nvPr>
        </p:nvSpPr>
        <p:spPr>
          <a:xfrm>
            <a:off x="457200" y="1371600"/>
            <a:ext cx="8229600" cy="5257800"/>
          </a:xfrm>
        </p:spPr>
        <p:txBody>
          <a:bodyPr>
            <a:normAutofit fontScale="55000" lnSpcReduction="20000"/>
          </a:bodyPr>
          <a:lstStyle/>
          <a:p>
            <a:r>
              <a:rPr lang="en-US" sz="5400" dirty="0"/>
              <a:t>2</a:t>
            </a:r>
            <a:r>
              <a:rPr lang="en-US" sz="5400" b="1" dirty="0"/>
              <a:t>. Biological </a:t>
            </a:r>
          </a:p>
          <a:p>
            <a:pPr marL="0" indent="0">
              <a:buNone/>
            </a:pPr>
            <a:r>
              <a:rPr lang="en-US" sz="5100" dirty="0"/>
              <a:t>This is explained better by the monoamine theory of depression. </a:t>
            </a:r>
          </a:p>
          <a:p>
            <a:pPr marL="0" indent="0">
              <a:buNone/>
            </a:pPr>
            <a:r>
              <a:rPr lang="en-US" sz="5100" dirty="0"/>
              <a:t>This theory postulates that the deficit of certain </a:t>
            </a:r>
            <a:r>
              <a:rPr lang="en-US" sz="5100" dirty="0" smtClean="0"/>
              <a:t>NT </a:t>
            </a:r>
            <a:r>
              <a:rPr lang="en-US" sz="5100" dirty="0"/>
              <a:t>is responsible for the corresponding features of depression:</a:t>
            </a:r>
          </a:p>
          <a:p>
            <a:pPr>
              <a:buFont typeface="Courier New" panose="02070309020205020404" pitchFamily="49" charset="0"/>
              <a:buChar char="o"/>
            </a:pPr>
            <a:r>
              <a:rPr lang="en-US" sz="5100" dirty="0" smtClean="0"/>
              <a:t>↑ </a:t>
            </a:r>
            <a:r>
              <a:rPr lang="en-US" sz="5100" dirty="0"/>
              <a:t>of </a:t>
            </a:r>
            <a:r>
              <a:rPr lang="en-US" sz="5100" dirty="0" smtClean="0"/>
              <a:t>NE </a:t>
            </a:r>
            <a:r>
              <a:rPr lang="en-US" sz="5100" dirty="0"/>
              <a:t>may be related to ↑ alertness and energy as well as anxiety, attention, and interest in life</a:t>
            </a:r>
          </a:p>
          <a:p>
            <a:pPr>
              <a:buFont typeface="Courier New" panose="02070309020205020404" pitchFamily="49" charset="0"/>
              <a:buChar char="o"/>
            </a:pPr>
            <a:r>
              <a:rPr lang="en-US" sz="5100" dirty="0"/>
              <a:t>Lack of serotonin is related to depressed anxiety, obsessions, and compulsions;</a:t>
            </a:r>
          </a:p>
          <a:p>
            <a:pPr>
              <a:buFont typeface="Courier New" panose="02070309020205020404" pitchFamily="49" charset="0"/>
              <a:buChar char="o"/>
            </a:pPr>
            <a:r>
              <a:rPr lang="en-US" sz="5100" dirty="0"/>
              <a:t>Lack of dopamine is related to decreased attention, motivation, pleasure, and reward, as well as reduced interest in life."</a:t>
            </a:r>
          </a:p>
          <a:p>
            <a:endParaRPr lang="en-US" sz="5100" dirty="0"/>
          </a:p>
        </p:txBody>
      </p:sp>
    </p:spTree>
    <p:extLst>
      <p:ext uri="{BB962C8B-B14F-4D97-AF65-F5344CB8AC3E}">
        <p14:creationId xmlns:p14="http://schemas.microsoft.com/office/powerpoint/2010/main" val="12107690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br>
              <a:rPr lang="en-US" b="1" dirty="0"/>
            </a:br>
            <a:r>
              <a:rPr lang="en-US" b="1" dirty="0"/>
              <a:t>causes </a:t>
            </a:r>
            <a:endParaRPr lang="en-US" dirty="0"/>
          </a:p>
        </p:txBody>
      </p:sp>
      <p:sp>
        <p:nvSpPr>
          <p:cNvPr id="3" name="Content Placeholder 2"/>
          <p:cNvSpPr>
            <a:spLocks noGrp="1"/>
          </p:cNvSpPr>
          <p:nvPr>
            <p:ph idx="1"/>
          </p:nvPr>
        </p:nvSpPr>
        <p:spPr/>
        <p:txBody>
          <a:bodyPr/>
          <a:lstStyle/>
          <a:p>
            <a:pPr marL="0" indent="0">
              <a:buNone/>
            </a:pPr>
            <a:r>
              <a:rPr lang="en-US" b="1" dirty="0" smtClean="0"/>
              <a:t>NB </a:t>
            </a:r>
          </a:p>
          <a:p>
            <a:r>
              <a:rPr lang="en-US" dirty="0"/>
              <a:t>The </a:t>
            </a:r>
            <a:r>
              <a:rPr lang="en-US" b="1" dirty="0"/>
              <a:t>anxious and irritable </a:t>
            </a:r>
            <a:r>
              <a:rPr lang="en-US" dirty="0"/>
              <a:t>patients should be treated with </a:t>
            </a:r>
            <a:r>
              <a:rPr lang="en-US" b="1" dirty="0" err="1"/>
              <a:t>SSRIs</a:t>
            </a:r>
            <a:r>
              <a:rPr lang="en-US" b="1" dirty="0"/>
              <a:t> </a:t>
            </a:r>
            <a:r>
              <a:rPr lang="en-US" b="1" dirty="0" smtClean="0"/>
              <a:t>or NE </a:t>
            </a:r>
            <a:r>
              <a:rPr lang="en-US" dirty="0" smtClean="0"/>
              <a:t>reuptake </a:t>
            </a:r>
            <a:r>
              <a:rPr lang="en-US" dirty="0"/>
              <a:t>inhibitors, and the ones with </a:t>
            </a:r>
            <a:r>
              <a:rPr lang="en-US" b="1" dirty="0"/>
              <a:t>the loss of energy and enjoyment</a:t>
            </a:r>
            <a:r>
              <a:rPr lang="en-US" dirty="0"/>
              <a:t> of life—with </a:t>
            </a:r>
            <a:r>
              <a:rPr lang="en-US" b="1" dirty="0" smtClean="0"/>
              <a:t>NE and </a:t>
            </a:r>
            <a:r>
              <a:rPr lang="en-US" b="1" dirty="0"/>
              <a:t>dopamine </a:t>
            </a:r>
            <a:r>
              <a:rPr lang="en-US" dirty="0"/>
              <a:t>enhancing drugs </a:t>
            </a:r>
          </a:p>
        </p:txBody>
      </p:sp>
    </p:spTree>
    <p:extLst>
      <p:ext uri="{BB962C8B-B14F-4D97-AF65-F5344CB8AC3E}">
        <p14:creationId xmlns:p14="http://schemas.microsoft.com/office/powerpoint/2010/main" val="20070139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r>
              <a:rPr lang="en-US" b="1" dirty="0"/>
              <a:t>Unipolar/ major depressive disorder</a:t>
            </a:r>
            <a:br>
              <a:rPr lang="en-US" b="1" dirty="0"/>
            </a:br>
            <a:r>
              <a:rPr lang="en-US" b="1" dirty="0"/>
              <a:t>causes </a:t>
            </a:r>
            <a:endParaRPr lang="en-US" dirty="0"/>
          </a:p>
        </p:txBody>
      </p:sp>
      <p:sp>
        <p:nvSpPr>
          <p:cNvPr id="3" name="Content Placeholder 2"/>
          <p:cNvSpPr>
            <a:spLocks noGrp="1"/>
          </p:cNvSpPr>
          <p:nvPr>
            <p:ph idx="1"/>
          </p:nvPr>
        </p:nvSpPr>
        <p:spPr>
          <a:xfrm>
            <a:off x="457200" y="1856508"/>
            <a:ext cx="8229600" cy="4772892"/>
          </a:xfrm>
        </p:spPr>
        <p:txBody>
          <a:bodyPr/>
          <a:lstStyle/>
          <a:p>
            <a:endParaRPr lang="en-US" dirty="0"/>
          </a:p>
          <a:p>
            <a:pPr marL="0" indent="0">
              <a:buNone/>
            </a:pPr>
            <a:r>
              <a:rPr lang="en-US" dirty="0" smtClean="0"/>
              <a:t>3.Chronic </a:t>
            </a:r>
            <a:r>
              <a:rPr lang="en-US" dirty="0"/>
              <a:t>medical condition- HIV, head injury </a:t>
            </a:r>
          </a:p>
          <a:p>
            <a:pPr marL="0" indent="0">
              <a:buNone/>
            </a:pPr>
            <a:r>
              <a:rPr lang="en-US" dirty="0"/>
              <a:t>4. Psychoactive substance use- cocaine, heroin, alcohol </a:t>
            </a:r>
          </a:p>
          <a:p>
            <a:pPr marL="0" indent="0">
              <a:buNone/>
            </a:pPr>
            <a:r>
              <a:rPr lang="en-US" dirty="0"/>
              <a:t>5. drugs- </a:t>
            </a:r>
            <a:r>
              <a:rPr lang="en-US" dirty="0" err="1"/>
              <a:t>antihypertensives</a:t>
            </a:r>
            <a:r>
              <a:rPr lang="en-US" dirty="0"/>
              <a:t> e.g. reserpine, </a:t>
            </a:r>
            <a:r>
              <a:rPr lang="en-US" dirty="0" err="1"/>
              <a:t>aldolmet</a:t>
            </a:r>
            <a:r>
              <a:rPr lang="en-US" dirty="0"/>
              <a:t> </a:t>
            </a:r>
          </a:p>
          <a:p>
            <a:endParaRPr lang="en-US" dirty="0"/>
          </a:p>
        </p:txBody>
      </p:sp>
    </p:spTree>
    <p:extLst>
      <p:ext uri="{BB962C8B-B14F-4D97-AF65-F5344CB8AC3E}">
        <p14:creationId xmlns:p14="http://schemas.microsoft.com/office/powerpoint/2010/main" val="7966902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r>
              <a:rPr lang="en-US" b="1" dirty="0" smtClean="0"/>
              <a:t/>
            </a:r>
            <a:br>
              <a:rPr lang="en-US" b="1" dirty="0" smtClean="0"/>
            </a:br>
            <a:r>
              <a:rPr lang="en-US" b="1" dirty="0" smtClean="0"/>
              <a:t>SUBTYPES </a:t>
            </a:r>
            <a:endParaRPr lang="en-US" b="1" dirty="0"/>
          </a:p>
        </p:txBody>
      </p:sp>
      <p:sp>
        <p:nvSpPr>
          <p:cNvPr id="3" name="Content Placeholder 2"/>
          <p:cNvSpPr>
            <a:spLocks noGrp="1"/>
          </p:cNvSpPr>
          <p:nvPr>
            <p:ph idx="1"/>
          </p:nvPr>
        </p:nvSpPr>
        <p:spPr/>
        <p:txBody>
          <a:bodyPr>
            <a:normAutofit fontScale="92500" lnSpcReduction="20000"/>
          </a:bodyPr>
          <a:lstStyle/>
          <a:p>
            <a:pPr marL="514350" indent="-514350">
              <a:buAutoNum type="arabicPeriod"/>
            </a:pPr>
            <a:r>
              <a:rPr lang="en-US" b="1" i="1" dirty="0" smtClean="0"/>
              <a:t> </a:t>
            </a:r>
            <a:r>
              <a:rPr lang="en-US" b="1" i="1" dirty="0"/>
              <a:t>typical depression/ Melancholic depression</a:t>
            </a:r>
            <a:endParaRPr lang="en-US" b="1" i="1" dirty="0" smtClean="0"/>
          </a:p>
          <a:p>
            <a:r>
              <a:rPr lang="en-US" dirty="0" smtClean="0"/>
              <a:t>XTERIZED BY </a:t>
            </a:r>
            <a:endParaRPr lang="en-US" dirty="0"/>
          </a:p>
          <a:p>
            <a:pPr>
              <a:buFont typeface="Wingdings" panose="05000000000000000000" pitchFamily="2" charset="2"/>
              <a:buChar char="ü"/>
            </a:pPr>
            <a:r>
              <a:rPr lang="en-US" dirty="0"/>
              <a:t>a loss of pleasure (anhedonia) in most or all activities, </a:t>
            </a:r>
          </a:p>
          <a:p>
            <a:pPr>
              <a:buFont typeface="Wingdings" panose="05000000000000000000" pitchFamily="2" charset="2"/>
              <a:buChar char="ü"/>
            </a:pPr>
            <a:r>
              <a:rPr lang="en-US" dirty="0" smtClean="0"/>
              <a:t> </a:t>
            </a:r>
            <a:r>
              <a:rPr lang="en-US" dirty="0"/>
              <a:t>a failure of reactivity to pleasurable stimuli, </a:t>
            </a:r>
          </a:p>
          <a:p>
            <a:pPr>
              <a:buFont typeface="Wingdings" panose="05000000000000000000" pitchFamily="2" charset="2"/>
              <a:buChar char="ü"/>
            </a:pPr>
            <a:r>
              <a:rPr lang="en-US" dirty="0" smtClean="0"/>
              <a:t>a </a:t>
            </a:r>
            <a:r>
              <a:rPr lang="en-US" dirty="0"/>
              <a:t>quality of depressed mood more pronounced than that of grief or </a:t>
            </a:r>
            <a:r>
              <a:rPr lang="en-US" dirty="0" smtClean="0"/>
              <a:t>loss</a:t>
            </a:r>
            <a:endParaRPr lang="en-US" dirty="0"/>
          </a:p>
          <a:p>
            <a:pPr>
              <a:buFont typeface="Wingdings" panose="05000000000000000000" pitchFamily="2" charset="2"/>
              <a:buChar char="ü"/>
            </a:pPr>
            <a:r>
              <a:rPr lang="en-US" dirty="0" smtClean="0"/>
              <a:t>a </a:t>
            </a:r>
            <a:r>
              <a:rPr lang="en-US" dirty="0"/>
              <a:t>worsening of symptoms in the morning hours, </a:t>
            </a:r>
          </a:p>
          <a:p>
            <a:pPr>
              <a:buFont typeface="Wingdings" panose="05000000000000000000" pitchFamily="2" charset="2"/>
              <a:buChar char="ü"/>
            </a:pPr>
            <a:r>
              <a:rPr lang="en-US" dirty="0" smtClean="0"/>
              <a:t>early </a:t>
            </a:r>
            <a:r>
              <a:rPr lang="en-US" dirty="0"/>
              <a:t>morning waking, psychomotor </a:t>
            </a:r>
            <a:r>
              <a:rPr lang="en-US" dirty="0" smtClean="0"/>
              <a:t>retardation,</a:t>
            </a:r>
          </a:p>
          <a:p>
            <a:pPr>
              <a:buFont typeface="Wingdings" panose="05000000000000000000" pitchFamily="2" charset="2"/>
              <a:buChar char="ü"/>
            </a:pPr>
            <a:r>
              <a:rPr lang="en-US" dirty="0" smtClean="0"/>
              <a:t>Excessive </a:t>
            </a:r>
            <a:r>
              <a:rPr lang="en-US" dirty="0"/>
              <a:t>weight loss or excessive guilt. </a:t>
            </a:r>
          </a:p>
          <a:p>
            <a:pPr>
              <a:buFont typeface="Wingdings" panose="05000000000000000000" pitchFamily="2" charset="2"/>
              <a:buChar char="ü"/>
            </a:pPr>
            <a:endParaRPr lang="en-US" dirty="0"/>
          </a:p>
          <a:p>
            <a:pPr marL="0" indent="0">
              <a:buNone/>
            </a:pPr>
            <a:endParaRPr lang="en-US" dirty="0"/>
          </a:p>
        </p:txBody>
      </p:sp>
    </p:spTree>
    <p:extLst>
      <p:ext uri="{BB962C8B-B14F-4D97-AF65-F5344CB8AC3E}">
        <p14:creationId xmlns:p14="http://schemas.microsoft.com/office/powerpoint/2010/main" val="5520976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rmAutofit fontScale="90000"/>
          </a:bodyPr>
          <a:lstStyle/>
          <a:p>
            <a:r>
              <a:rPr lang="en-US" b="1" dirty="0"/>
              <a:t>Unipolar/ major depressive disorder</a:t>
            </a:r>
            <a:br>
              <a:rPr lang="en-US" b="1" dirty="0"/>
            </a:br>
            <a:r>
              <a:rPr lang="en-US" b="1" dirty="0"/>
              <a:t>SUBTYPES </a:t>
            </a:r>
            <a:endParaRPr lang="en-US" dirty="0"/>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r>
              <a:rPr lang="en-US" b="1" dirty="0" smtClean="0"/>
              <a:t>2. </a:t>
            </a:r>
            <a:r>
              <a:rPr lang="en-US" b="1" i="1" dirty="0" smtClean="0"/>
              <a:t>Atypical </a:t>
            </a:r>
            <a:r>
              <a:rPr lang="en-US" b="1" i="1" dirty="0"/>
              <a:t>depression/ paradoxical depression </a:t>
            </a:r>
            <a:endParaRPr lang="en-US" b="1" i="1" dirty="0" smtClean="0"/>
          </a:p>
          <a:p>
            <a:pPr marL="0" indent="0">
              <a:buNone/>
            </a:pPr>
            <a:r>
              <a:rPr lang="en-US" i="1" dirty="0" smtClean="0"/>
              <a:t>XTERISED BY </a:t>
            </a:r>
            <a:endParaRPr lang="en-US" dirty="0"/>
          </a:p>
          <a:p>
            <a:pPr>
              <a:buFont typeface="Wingdings" panose="05000000000000000000" pitchFamily="2" charset="2"/>
              <a:buChar char="§"/>
            </a:pPr>
            <a:r>
              <a:rPr lang="en-US" dirty="0"/>
              <a:t>mood reactivity (paradoxical anhedonia) and positivity, </a:t>
            </a:r>
          </a:p>
          <a:p>
            <a:pPr>
              <a:buFont typeface="Wingdings" panose="05000000000000000000" pitchFamily="2" charset="2"/>
              <a:buChar char="§"/>
            </a:pPr>
            <a:r>
              <a:rPr lang="en-US" dirty="0" smtClean="0"/>
              <a:t>significant </a:t>
            </a:r>
            <a:r>
              <a:rPr lang="en-US" dirty="0"/>
              <a:t>weight gain </a:t>
            </a:r>
          </a:p>
          <a:p>
            <a:pPr>
              <a:buFont typeface="Wingdings" panose="05000000000000000000" pitchFamily="2" charset="2"/>
              <a:buChar char="§"/>
            </a:pPr>
            <a:r>
              <a:rPr lang="en-US" dirty="0" smtClean="0"/>
              <a:t>increased </a:t>
            </a:r>
            <a:r>
              <a:rPr lang="en-US" dirty="0"/>
              <a:t>appetite, </a:t>
            </a:r>
          </a:p>
          <a:p>
            <a:pPr>
              <a:buFont typeface="Wingdings" panose="05000000000000000000" pitchFamily="2" charset="2"/>
              <a:buChar char="§"/>
            </a:pPr>
            <a:r>
              <a:rPr lang="en-US" dirty="0" smtClean="0"/>
              <a:t>excessive </a:t>
            </a:r>
            <a:r>
              <a:rPr lang="en-US" dirty="0"/>
              <a:t>sleep or somnolence (hypersomnia), </a:t>
            </a:r>
          </a:p>
          <a:p>
            <a:pPr>
              <a:buFont typeface="Wingdings" panose="05000000000000000000" pitchFamily="2" charset="2"/>
              <a:buChar char="§"/>
            </a:pPr>
            <a:r>
              <a:rPr lang="en-US" dirty="0" smtClean="0"/>
              <a:t>a </a:t>
            </a:r>
            <a:r>
              <a:rPr lang="en-US" dirty="0"/>
              <a:t>sensation of heaviness in limbs known as leaden paralysis, </a:t>
            </a:r>
          </a:p>
          <a:p>
            <a:pPr>
              <a:buFont typeface="Wingdings" panose="05000000000000000000" pitchFamily="2" charset="2"/>
              <a:buChar char="§"/>
            </a:pPr>
            <a:r>
              <a:rPr lang="en-US" dirty="0" smtClean="0"/>
              <a:t>significant </a:t>
            </a:r>
            <a:r>
              <a:rPr lang="en-US" dirty="0"/>
              <a:t>social impairment as a consequence of hypersensitivity to perceived interpersonal rejection </a:t>
            </a:r>
          </a:p>
          <a:p>
            <a:pPr marL="0" indent="0">
              <a:buNone/>
            </a:pPr>
            <a:endParaRPr lang="en-US" dirty="0"/>
          </a:p>
        </p:txBody>
      </p:sp>
    </p:spTree>
    <p:extLst>
      <p:ext uri="{BB962C8B-B14F-4D97-AF65-F5344CB8AC3E}">
        <p14:creationId xmlns:p14="http://schemas.microsoft.com/office/powerpoint/2010/main" val="15894074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Unipolar/ major depressive disorder</a:t>
            </a:r>
            <a:br>
              <a:rPr lang="en-US" b="1" dirty="0"/>
            </a:br>
            <a:r>
              <a:rPr lang="en-US" b="1" dirty="0"/>
              <a:t>SUBTYPES </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pPr marL="0" indent="0">
              <a:buNone/>
            </a:pPr>
            <a:r>
              <a:rPr lang="en-US" b="1" i="1" dirty="0" smtClean="0"/>
              <a:t>3. Catatonic </a:t>
            </a:r>
            <a:r>
              <a:rPr lang="en-US" b="1" i="1" dirty="0"/>
              <a:t>depression </a:t>
            </a:r>
            <a:endParaRPr lang="en-US" b="1" dirty="0"/>
          </a:p>
          <a:p>
            <a:r>
              <a:rPr lang="en-US" dirty="0"/>
              <a:t>is a rare and severe form of major depression involving disturbances of motor behavior and other symptoms. </a:t>
            </a:r>
          </a:p>
          <a:p>
            <a:r>
              <a:rPr lang="en-US" dirty="0" smtClean="0"/>
              <a:t>The </a:t>
            </a:r>
            <a:r>
              <a:rPr lang="en-US" dirty="0"/>
              <a:t>person is mute and almost </a:t>
            </a:r>
            <a:r>
              <a:rPr lang="en-US" dirty="0" err="1"/>
              <a:t>stuporose</a:t>
            </a:r>
            <a:r>
              <a:rPr lang="en-US" dirty="0"/>
              <a:t>, </a:t>
            </a:r>
          </a:p>
          <a:p>
            <a:r>
              <a:rPr lang="en-US" dirty="0" smtClean="0"/>
              <a:t>either </a:t>
            </a:r>
            <a:r>
              <a:rPr lang="en-US" dirty="0"/>
              <a:t>immobile or exhibits purposeless or </a:t>
            </a:r>
            <a:r>
              <a:rPr lang="en-US" dirty="0" smtClean="0"/>
              <a:t>Bizarre </a:t>
            </a:r>
            <a:r>
              <a:rPr lang="en-US" dirty="0"/>
              <a:t>movements. </a:t>
            </a:r>
          </a:p>
          <a:p>
            <a:endParaRPr lang="en-US" dirty="0"/>
          </a:p>
        </p:txBody>
      </p:sp>
    </p:spTree>
    <p:extLst>
      <p:ext uri="{BB962C8B-B14F-4D97-AF65-F5344CB8AC3E}">
        <p14:creationId xmlns:p14="http://schemas.microsoft.com/office/powerpoint/2010/main" val="10881211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rmAutofit fontScale="90000"/>
          </a:bodyPr>
          <a:lstStyle/>
          <a:p>
            <a:r>
              <a:rPr lang="en-US" b="1" dirty="0"/>
              <a:t>Unipolar/ major depressive disorder</a:t>
            </a:r>
            <a:br>
              <a:rPr lang="en-US" b="1" dirty="0"/>
            </a:br>
            <a:r>
              <a:rPr lang="en-US" b="1" dirty="0"/>
              <a:t>SUBTYPES </a:t>
            </a:r>
            <a:endParaRPr lang="en-US" dirty="0"/>
          </a:p>
        </p:txBody>
      </p:sp>
      <p:sp>
        <p:nvSpPr>
          <p:cNvPr id="3" name="Content Placeholder 2"/>
          <p:cNvSpPr>
            <a:spLocks noGrp="1"/>
          </p:cNvSpPr>
          <p:nvPr>
            <p:ph idx="1"/>
          </p:nvPr>
        </p:nvSpPr>
        <p:spPr/>
        <p:txBody>
          <a:bodyPr/>
          <a:lstStyle/>
          <a:p>
            <a:pPr marL="0" indent="0">
              <a:buNone/>
            </a:pPr>
            <a:r>
              <a:rPr lang="en-US" b="1" i="1" dirty="0" smtClean="0"/>
              <a:t>4. Postpartum </a:t>
            </a:r>
            <a:r>
              <a:rPr lang="en-US" b="1" i="1" dirty="0"/>
              <a:t>depression</a:t>
            </a:r>
            <a:r>
              <a:rPr lang="en-US" dirty="0"/>
              <a:t>: </a:t>
            </a:r>
            <a:endParaRPr lang="en-US" dirty="0" smtClean="0"/>
          </a:p>
          <a:p>
            <a:pPr marL="0" indent="0">
              <a:buNone/>
            </a:pPr>
            <a:r>
              <a:rPr lang="en-US" dirty="0" smtClean="0"/>
              <a:t>It </a:t>
            </a:r>
            <a:r>
              <a:rPr lang="en-US" dirty="0"/>
              <a:t>is the intense, sustained and sometimes disabling depression experienced by women after delivery</a:t>
            </a:r>
            <a:r>
              <a:rPr lang="en-US" dirty="0" smtClean="0"/>
              <a:t>.</a:t>
            </a:r>
          </a:p>
          <a:p>
            <a:pPr marL="0" indent="0">
              <a:buNone/>
            </a:pPr>
            <a:r>
              <a:rPr lang="en-US" dirty="0" smtClean="0"/>
              <a:t> </a:t>
            </a:r>
            <a:r>
              <a:rPr lang="en-US" dirty="0"/>
              <a:t>Postpartum depression, which has incidence rate of 10–15%, typically sets in within three weeks before labor and lasts as long as three months. </a:t>
            </a:r>
          </a:p>
          <a:p>
            <a:endParaRPr lang="en-US" dirty="0"/>
          </a:p>
        </p:txBody>
      </p:sp>
    </p:spTree>
    <p:extLst>
      <p:ext uri="{BB962C8B-B14F-4D97-AF65-F5344CB8AC3E}">
        <p14:creationId xmlns:p14="http://schemas.microsoft.com/office/powerpoint/2010/main" val="39332996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b="1" dirty="0" smtClean="0"/>
              <a:t>2. Dysthymia</a:t>
            </a:r>
            <a:endParaRPr lang="en-US" dirty="0"/>
          </a:p>
        </p:txBody>
      </p:sp>
      <p:sp>
        <p:nvSpPr>
          <p:cNvPr id="3" name="Content Placeholder 2"/>
          <p:cNvSpPr>
            <a:spLocks noGrp="1"/>
          </p:cNvSpPr>
          <p:nvPr>
            <p:ph idx="1"/>
          </p:nvPr>
        </p:nvSpPr>
        <p:spPr>
          <a:xfrm>
            <a:off x="457200" y="1143000"/>
            <a:ext cx="8229600" cy="5410200"/>
          </a:xfrm>
        </p:spPr>
        <p:txBody>
          <a:bodyPr>
            <a:normAutofit/>
          </a:bodyPr>
          <a:lstStyle/>
          <a:p>
            <a:r>
              <a:rPr lang="en-US" b="1" dirty="0" smtClean="0"/>
              <a:t>Dysthymia- </a:t>
            </a:r>
            <a:r>
              <a:rPr lang="en-US" dirty="0"/>
              <a:t>has symptoms that are less severe than symptoms of major depression. Low grade depression, 2 years persistent low mood </a:t>
            </a:r>
          </a:p>
          <a:p>
            <a:r>
              <a:rPr lang="en-US" i="1" dirty="0"/>
              <a:t>Dysthymia </a:t>
            </a:r>
            <a:r>
              <a:rPr lang="en-US" dirty="0"/>
              <a:t>is a chronic, milder mood disturbance in which a person reports a low mood almost daily over a span of at least two years. The symptoms are not as severe as those for major depression, although people with dysthymia are vulnerable to secondary episodes of major depression </a:t>
            </a:r>
          </a:p>
        </p:txBody>
      </p:sp>
    </p:spTree>
    <p:extLst>
      <p:ext uri="{BB962C8B-B14F-4D97-AF65-F5344CB8AC3E}">
        <p14:creationId xmlns:p14="http://schemas.microsoft.com/office/powerpoint/2010/main" val="33499808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Rx MDD</a:t>
            </a:r>
            <a:endParaRPr lang="en-US" dirty="0"/>
          </a:p>
        </p:txBody>
      </p:sp>
      <p:sp>
        <p:nvSpPr>
          <p:cNvPr id="3" name="Content Placeholder 2"/>
          <p:cNvSpPr>
            <a:spLocks noGrp="1"/>
          </p:cNvSpPr>
          <p:nvPr>
            <p:ph idx="1"/>
          </p:nvPr>
        </p:nvSpPr>
        <p:spPr>
          <a:xfrm>
            <a:off x="457200" y="1219200"/>
            <a:ext cx="8229600" cy="5410200"/>
          </a:xfrm>
        </p:spPr>
        <p:txBody>
          <a:bodyPr>
            <a:normAutofit fontScale="92500" lnSpcReduction="20000"/>
          </a:bodyPr>
          <a:lstStyle/>
          <a:p>
            <a:r>
              <a:rPr lang="en-US" b="1" dirty="0"/>
              <a:t>Tricyclic antidepressants (TCAs</a:t>
            </a:r>
            <a:r>
              <a:rPr lang="en-US" b="1" dirty="0" smtClean="0"/>
              <a:t>).</a:t>
            </a:r>
          </a:p>
          <a:p>
            <a:pPr marL="0" indent="0">
              <a:buNone/>
            </a:pPr>
            <a:r>
              <a:rPr lang="en-US" b="1" dirty="0"/>
              <a:t>-</a:t>
            </a:r>
            <a:r>
              <a:rPr lang="en-US" dirty="0" smtClean="0"/>
              <a:t>amitriptyline </a:t>
            </a:r>
            <a:r>
              <a:rPr lang="en-US" dirty="0"/>
              <a:t>(</a:t>
            </a:r>
            <a:r>
              <a:rPr lang="en-US" i="1" dirty="0"/>
              <a:t>Elavil, </a:t>
            </a:r>
            <a:r>
              <a:rPr lang="en-US" i="1" dirty="0" err="1"/>
              <a:t>Endep</a:t>
            </a:r>
            <a:r>
              <a:rPr lang="en-US" dirty="0"/>
              <a:t>), clomipramine (</a:t>
            </a:r>
            <a:r>
              <a:rPr lang="en-US" i="1" dirty="0" err="1"/>
              <a:t>Anafranil</a:t>
            </a:r>
            <a:r>
              <a:rPr lang="en-US" dirty="0" smtClean="0"/>
              <a:t>),</a:t>
            </a:r>
          </a:p>
          <a:p>
            <a:r>
              <a:rPr lang="en-US" b="1" dirty="0" smtClean="0"/>
              <a:t>Monoamine oxidase </a:t>
            </a:r>
            <a:r>
              <a:rPr lang="en-US" b="1" dirty="0"/>
              <a:t>inhibitors (MAOIs</a:t>
            </a:r>
            <a:r>
              <a:rPr lang="en-US" b="1" dirty="0" smtClean="0"/>
              <a:t>)</a:t>
            </a:r>
          </a:p>
          <a:p>
            <a:pPr marL="0" indent="0">
              <a:buNone/>
            </a:pPr>
            <a:r>
              <a:rPr lang="en-US" dirty="0" smtClean="0"/>
              <a:t>-</a:t>
            </a:r>
            <a:r>
              <a:rPr lang="en-US" dirty="0" err="1" smtClean="0"/>
              <a:t>phenelzine</a:t>
            </a:r>
            <a:r>
              <a:rPr lang="en-US" dirty="0" smtClean="0"/>
              <a:t> </a:t>
            </a:r>
            <a:r>
              <a:rPr lang="en-US" dirty="0"/>
              <a:t>(</a:t>
            </a:r>
            <a:r>
              <a:rPr lang="en-US" i="1" dirty="0" err="1"/>
              <a:t>Nardil</a:t>
            </a:r>
            <a:r>
              <a:rPr lang="en-US" dirty="0"/>
              <a:t>) and tranylcypromine (</a:t>
            </a:r>
            <a:r>
              <a:rPr lang="en-US" i="1" dirty="0" err="1"/>
              <a:t>Parnate</a:t>
            </a:r>
            <a:r>
              <a:rPr lang="en-US" dirty="0" smtClean="0"/>
              <a:t>).</a:t>
            </a:r>
          </a:p>
          <a:p>
            <a:r>
              <a:rPr lang="en-US" b="1" dirty="0"/>
              <a:t>Selective serotonin reuptake inhibitors (SSRIs</a:t>
            </a:r>
            <a:r>
              <a:rPr lang="en-US" b="1" dirty="0" smtClean="0"/>
              <a:t>)</a:t>
            </a:r>
          </a:p>
          <a:p>
            <a:pPr marL="0" indent="0">
              <a:buNone/>
            </a:pPr>
            <a:r>
              <a:rPr lang="en-US" dirty="0" smtClean="0"/>
              <a:t>-fluoxetine </a:t>
            </a:r>
            <a:r>
              <a:rPr lang="en-US" dirty="0"/>
              <a:t>(</a:t>
            </a:r>
            <a:r>
              <a:rPr lang="en-US" i="1" dirty="0"/>
              <a:t>Prozac</a:t>
            </a:r>
            <a:r>
              <a:rPr lang="en-US" dirty="0"/>
              <a:t>), citalopram (</a:t>
            </a:r>
            <a:r>
              <a:rPr lang="en-US" i="1" dirty="0" err="1"/>
              <a:t>Celexa</a:t>
            </a:r>
            <a:r>
              <a:rPr lang="en-US" dirty="0"/>
              <a:t>), fluvoxamine (</a:t>
            </a:r>
            <a:r>
              <a:rPr lang="en-US" i="1" dirty="0" err="1"/>
              <a:t>Luvox</a:t>
            </a:r>
            <a:r>
              <a:rPr lang="en-US" dirty="0" smtClean="0"/>
              <a:t>)</a:t>
            </a:r>
          </a:p>
          <a:p>
            <a:r>
              <a:rPr lang="en-US" b="1" dirty="0"/>
              <a:t>ECT</a:t>
            </a:r>
            <a:r>
              <a:rPr lang="en-US" dirty="0"/>
              <a:t> may be the treatment of choice for patients with severe, unmanageable </a:t>
            </a:r>
            <a:r>
              <a:rPr lang="en-US" dirty="0" smtClean="0"/>
              <a:t>MDD/failed med RX</a:t>
            </a:r>
          </a:p>
          <a:p>
            <a:r>
              <a:rPr lang="en-US" b="1" dirty="0" smtClean="0"/>
              <a:t>CBT </a:t>
            </a:r>
          </a:p>
          <a:p>
            <a:r>
              <a:rPr lang="en-US" b="1" dirty="0" smtClean="0"/>
              <a:t>Individual Psychotherapy </a:t>
            </a:r>
            <a:endParaRPr lang="en-US" b="1" dirty="0"/>
          </a:p>
        </p:txBody>
      </p:sp>
    </p:spTree>
    <p:extLst>
      <p:ext uri="{BB962C8B-B14F-4D97-AF65-F5344CB8AC3E}">
        <p14:creationId xmlns:p14="http://schemas.microsoft.com/office/powerpoint/2010/main" val="16572258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92162"/>
          </a:xfrm>
        </p:spPr>
        <p:txBody>
          <a:bodyPr/>
          <a:lstStyle/>
          <a:p>
            <a:r>
              <a:rPr lang="en-US" dirty="0" err="1" smtClean="0"/>
              <a:t>MDD-NRSG</a:t>
            </a:r>
            <a:r>
              <a:rPr lang="en-US" dirty="0" smtClean="0"/>
              <a:t> DX</a:t>
            </a:r>
            <a:endParaRPr lang="en-US" dirty="0"/>
          </a:p>
        </p:txBody>
      </p:sp>
      <p:sp>
        <p:nvSpPr>
          <p:cNvPr id="3" name="Content Placeholder 2"/>
          <p:cNvSpPr>
            <a:spLocks noGrp="1"/>
          </p:cNvSpPr>
          <p:nvPr>
            <p:ph idx="1"/>
          </p:nvPr>
        </p:nvSpPr>
        <p:spPr>
          <a:xfrm>
            <a:off x="533400" y="1371600"/>
            <a:ext cx="8229600" cy="4983163"/>
          </a:xfrm>
        </p:spPr>
        <p:txBody>
          <a:bodyPr>
            <a:normAutofit fontScale="62500" lnSpcReduction="20000"/>
          </a:bodyPr>
          <a:lstStyle/>
          <a:p>
            <a:pPr>
              <a:buFont typeface="Wingdings" panose="05000000000000000000" pitchFamily="2" charset="2"/>
              <a:buChar char="v"/>
            </a:pPr>
            <a:r>
              <a:rPr lang="en-US" dirty="0" smtClean="0"/>
              <a:t> Risk for self directed violence</a:t>
            </a:r>
          </a:p>
          <a:p>
            <a:pPr>
              <a:buFont typeface="Wingdings" panose="05000000000000000000" pitchFamily="2" charset="2"/>
              <a:buChar char="v"/>
            </a:pPr>
            <a:r>
              <a:rPr lang="en-US" dirty="0" smtClean="0"/>
              <a:t>Risk for self mutilation</a:t>
            </a:r>
          </a:p>
          <a:p>
            <a:pPr>
              <a:buFont typeface="Wingdings" panose="05000000000000000000" pitchFamily="2" charset="2"/>
              <a:buChar char="v"/>
            </a:pPr>
            <a:r>
              <a:rPr lang="en-US" dirty="0" smtClean="0"/>
              <a:t>Risk for suicide R/O </a:t>
            </a:r>
          </a:p>
          <a:p>
            <a:pPr marL="0" indent="0">
              <a:buNone/>
            </a:pPr>
            <a:r>
              <a:rPr lang="en-US" dirty="0" smtClean="0"/>
              <a:t>Previous suicide attempt, putting affairs in order, suicidal ideation </a:t>
            </a:r>
            <a:endParaRPr lang="en-US" dirty="0"/>
          </a:p>
          <a:p>
            <a:pPr>
              <a:buFont typeface="Wingdings" panose="05000000000000000000" pitchFamily="2" charset="2"/>
              <a:buChar char="v"/>
            </a:pPr>
            <a:r>
              <a:rPr lang="en-US" dirty="0" smtClean="0"/>
              <a:t>Disturbed thought process-lack of judgment</a:t>
            </a:r>
          </a:p>
          <a:p>
            <a:pPr>
              <a:buFont typeface="Wingdings" panose="05000000000000000000" pitchFamily="2" charset="2"/>
              <a:buChar char="v"/>
            </a:pPr>
            <a:r>
              <a:rPr lang="en-US" dirty="0" smtClean="0"/>
              <a:t>Ineffective coping-poor problem solving</a:t>
            </a:r>
          </a:p>
          <a:p>
            <a:pPr>
              <a:buFont typeface="Wingdings" panose="05000000000000000000" pitchFamily="2" charset="2"/>
              <a:buChar char="v"/>
            </a:pPr>
            <a:r>
              <a:rPr lang="en-US" dirty="0" smtClean="0"/>
              <a:t>Risk for impaired parenting-verbalizing </a:t>
            </a:r>
          </a:p>
          <a:p>
            <a:pPr>
              <a:buFont typeface="Wingdings" panose="05000000000000000000" pitchFamily="2" charset="2"/>
              <a:buChar char="v"/>
            </a:pPr>
            <a:r>
              <a:rPr lang="en-US" dirty="0" smtClean="0"/>
              <a:t>Ineffective role performance </a:t>
            </a:r>
          </a:p>
          <a:p>
            <a:pPr>
              <a:buFont typeface="Wingdings" panose="05000000000000000000" pitchFamily="2" charset="2"/>
              <a:buChar char="v"/>
            </a:pPr>
            <a:r>
              <a:rPr lang="en-US" dirty="0" smtClean="0"/>
              <a:t>Hopelessness</a:t>
            </a:r>
          </a:p>
          <a:p>
            <a:pPr>
              <a:buFont typeface="Wingdings" panose="05000000000000000000" pitchFamily="2" charset="2"/>
              <a:buChar char="v"/>
            </a:pPr>
            <a:r>
              <a:rPr lang="en-US" dirty="0" smtClean="0"/>
              <a:t>Powerlessness</a:t>
            </a:r>
          </a:p>
          <a:p>
            <a:pPr>
              <a:buFont typeface="Wingdings" panose="05000000000000000000" pitchFamily="2" charset="2"/>
              <a:buChar char="v"/>
            </a:pPr>
            <a:r>
              <a:rPr lang="en-US" dirty="0" smtClean="0"/>
              <a:t>Chronic/situational low self esteem </a:t>
            </a:r>
          </a:p>
          <a:p>
            <a:pPr>
              <a:buFont typeface="Wingdings" panose="05000000000000000000" pitchFamily="2" charset="2"/>
              <a:buChar char="v"/>
            </a:pPr>
            <a:r>
              <a:rPr lang="en-US" dirty="0" smtClean="0"/>
              <a:t>Self care deficit (hygiene/grooming)</a:t>
            </a:r>
          </a:p>
          <a:p>
            <a:pPr>
              <a:buFont typeface="Wingdings" panose="05000000000000000000" pitchFamily="2" charset="2"/>
              <a:buChar char="v"/>
            </a:pPr>
            <a:r>
              <a:rPr lang="en-US" dirty="0" smtClean="0"/>
              <a:t>Imbalanced nutrition </a:t>
            </a:r>
          </a:p>
          <a:p>
            <a:pPr>
              <a:buFont typeface="Wingdings" panose="05000000000000000000" pitchFamily="2" charset="2"/>
              <a:buChar char="v"/>
            </a:pPr>
            <a:r>
              <a:rPr lang="en-US" dirty="0" smtClean="0"/>
              <a:t>Disturbed sleep pattern </a:t>
            </a:r>
          </a:p>
          <a:p>
            <a:pPr>
              <a:buFont typeface="Wingdings" panose="05000000000000000000" pitchFamily="2" charset="2"/>
              <a:buChar char="v"/>
            </a:pPr>
            <a:r>
              <a:rPr lang="en-US" dirty="0" smtClean="0"/>
              <a:t>Sexual dysfunction </a:t>
            </a:r>
            <a:endParaRPr lang="en-US" dirty="0"/>
          </a:p>
        </p:txBody>
      </p:sp>
    </p:spTree>
    <p:extLst>
      <p:ext uri="{BB962C8B-B14F-4D97-AF65-F5344CB8AC3E}">
        <p14:creationId xmlns:p14="http://schemas.microsoft.com/office/powerpoint/2010/main" val="14286921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Bipolar disorders </a:t>
            </a:r>
            <a:r>
              <a:rPr lang="en-US" b="1" dirty="0" smtClean="0"/>
              <a:t/>
            </a:r>
            <a:br>
              <a:rPr lang="en-US" b="1" dirty="0" smtClean="0"/>
            </a:br>
            <a:r>
              <a:rPr lang="en-US" b="1" dirty="0" smtClean="0"/>
              <a:t>manic-depressive disorder</a:t>
            </a:r>
            <a:endParaRPr lang="en-US" b="1" dirty="0"/>
          </a:p>
        </p:txBody>
      </p:sp>
      <p:sp>
        <p:nvSpPr>
          <p:cNvPr id="3" name="Content Placeholder 2"/>
          <p:cNvSpPr>
            <a:spLocks noGrp="1"/>
          </p:cNvSpPr>
          <p:nvPr>
            <p:ph idx="1"/>
          </p:nvPr>
        </p:nvSpPr>
        <p:spPr>
          <a:xfrm>
            <a:off x="457200" y="1447800"/>
            <a:ext cx="8229600" cy="4678363"/>
          </a:xfrm>
        </p:spPr>
        <p:txBody>
          <a:bodyPr/>
          <a:lstStyle/>
          <a:p>
            <a:r>
              <a:rPr lang="en-US" i="1" dirty="0"/>
              <a:t>Bipolar disorder </a:t>
            </a:r>
            <a:r>
              <a:rPr lang="en-US" dirty="0"/>
              <a:t>is a condition in which depressive phases alternate with periods of mania </a:t>
            </a:r>
            <a:r>
              <a:rPr lang="en-US" dirty="0" smtClean="0"/>
              <a:t>or </a:t>
            </a:r>
            <a:r>
              <a:rPr lang="en-US" dirty="0"/>
              <a:t>hypomania. </a:t>
            </a:r>
          </a:p>
          <a:p>
            <a:r>
              <a:rPr lang="en-US" b="1" dirty="0"/>
              <a:t>Clinical features of mania </a:t>
            </a:r>
            <a:endParaRPr lang="en-US" dirty="0"/>
          </a:p>
          <a:p>
            <a:pPr marL="0" indent="0">
              <a:buNone/>
            </a:pPr>
            <a:r>
              <a:rPr lang="en-US" dirty="0"/>
              <a:t>Elevated, expansive/ irritable mood which has 4 stages of mania: </a:t>
            </a:r>
          </a:p>
        </p:txBody>
      </p:sp>
    </p:spTree>
    <p:extLst>
      <p:ext uri="{BB962C8B-B14F-4D97-AF65-F5344CB8AC3E}">
        <p14:creationId xmlns:p14="http://schemas.microsoft.com/office/powerpoint/2010/main" val="21842271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
            </a:r>
            <a:br>
              <a:rPr lang="en-US" dirty="0"/>
            </a:br>
            <a:r>
              <a:rPr lang="en-US" b="1" dirty="0" smtClean="0"/>
              <a:t>stages of mania </a:t>
            </a:r>
            <a:r>
              <a:rPr lang="en-US" dirty="0"/>
              <a:t/>
            </a:r>
            <a:br>
              <a:rPr lang="en-US" dirty="0"/>
            </a:br>
            <a:endParaRPr lang="en-US" dirty="0"/>
          </a:p>
        </p:txBody>
      </p:sp>
      <p:sp>
        <p:nvSpPr>
          <p:cNvPr id="3" name="Content Placeholder 2"/>
          <p:cNvSpPr>
            <a:spLocks noGrp="1"/>
          </p:cNvSpPr>
          <p:nvPr>
            <p:ph idx="1"/>
          </p:nvPr>
        </p:nvSpPr>
        <p:spPr>
          <a:xfrm>
            <a:off x="457200" y="990600"/>
            <a:ext cx="8229600" cy="5791200"/>
          </a:xfrm>
        </p:spPr>
        <p:txBody>
          <a:bodyPr>
            <a:normAutofit fontScale="92500" lnSpcReduction="10000"/>
          </a:bodyPr>
          <a:lstStyle/>
          <a:p>
            <a:pPr marL="0" indent="0">
              <a:buNone/>
            </a:pPr>
            <a:r>
              <a:rPr lang="en-US" b="1" dirty="0"/>
              <a:t>Stage I- hypomania (euphoria):- </a:t>
            </a:r>
            <a:r>
              <a:rPr lang="en-US" dirty="0"/>
              <a:t>mild elevated mood, increased sense of psychological wellbeing and happiness not in keeping with ongoing events </a:t>
            </a:r>
            <a:endParaRPr lang="en-US" dirty="0" smtClean="0"/>
          </a:p>
          <a:p>
            <a:pPr marL="0" indent="0">
              <a:buNone/>
            </a:pPr>
            <a:r>
              <a:rPr lang="en-US" b="1" dirty="0" smtClean="0"/>
              <a:t>Stage </a:t>
            </a:r>
            <a:r>
              <a:rPr lang="en-US" b="1" dirty="0"/>
              <a:t>II- classical mania (elation):- </a:t>
            </a:r>
            <a:r>
              <a:rPr lang="en-US" dirty="0"/>
              <a:t>moderately elevated mood. Increased confidence, enjoyment and increased psychomotor activity. </a:t>
            </a:r>
          </a:p>
          <a:p>
            <a:pPr marL="0" indent="0">
              <a:buNone/>
            </a:pPr>
            <a:r>
              <a:rPr lang="en-US" b="1" dirty="0" smtClean="0"/>
              <a:t>Stage </a:t>
            </a:r>
            <a:r>
              <a:rPr lang="en-US" b="1" dirty="0"/>
              <a:t>III- severe mania (excitation):- </a:t>
            </a:r>
            <a:r>
              <a:rPr lang="en-US" dirty="0"/>
              <a:t>severe elevated mood, intense elation with delusion of grandeur. </a:t>
            </a:r>
          </a:p>
          <a:p>
            <a:pPr marL="0" indent="0">
              <a:buNone/>
            </a:pPr>
            <a:r>
              <a:rPr lang="en-US" b="1" dirty="0" smtClean="0"/>
              <a:t>Stage </a:t>
            </a:r>
            <a:r>
              <a:rPr lang="en-US" b="1" dirty="0"/>
              <a:t>iv- delirious/ </a:t>
            </a:r>
            <a:r>
              <a:rPr lang="en-US" b="1" dirty="0" err="1"/>
              <a:t>stuporous</a:t>
            </a:r>
            <a:r>
              <a:rPr lang="en-US" b="1" dirty="0"/>
              <a:t> mania/ ecstasy:- </a:t>
            </a:r>
            <a:r>
              <a:rPr lang="en-US" dirty="0"/>
              <a:t>very severe elevated mood, intense sense of </a:t>
            </a:r>
            <a:r>
              <a:rPr lang="en-US" dirty="0" smtClean="0"/>
              <a:t>rapture/ “wild excitement” </a:t>
            </a:r>
            <a:endParaRPr lang="en-US" dirty="0"/>
          </a:p>
        </p:txBody>
      </p:sp>
    </p:spTree>
    <p:extLst>
      <p:ext uri="{BB962C8B-B14F-4D97-AF65-F5344CB8AC3E}">
        <p14:creationId xmlns:p14="http://schemas.microsoft.com/office/powerpoint/2010/main" val="14093268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t>Clinical features –mani</a:t>
            </a:r>
            <a:r>
              <a:rPr lang="en-US" b="1" dirty="0"/>
              <a:t>a</a:t>
            </a:r>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r>
              <a:rPr lang="en-US" dirty="0"/>
              <a:t>Psychomotor activity which is increased ranging from over activeness and restlessness to manic excitement (ceaseless activity which is goal oriented). </a:t>
            </a:r>
            <a:endParaRPr lang="en-US" dirty="0" smtClean="0"/>
          </a:p>
          <a:p>
            <a:r>
              <a:rPr lang="en-US" dirty="0" smtClean="0"/>
              <a:t>Rarely </a:t>
            </a:r>
            <a:r>
              <a:rPr lang="en-US" dirty="0"/>
              <a:t>a manic patient can go into a </a:t>
            </a:r>
            <a:r>
              <a:rPr lang="en-US" dirty="0" err="1"/>
              <a:t>stuporous</a:t>
            </a:r>
            <a:r>
              <a:rPr lang="en-US" dirty="0"/>
              <a:t> mania. </a:t>
            </a:r>
          </a:p>
          <a:p>
            <a:r>
              <a:rPr lang="en-US" dirty="0"/>
              <a:t>Speech and thought- more talkative than usual, pressure of the speech and flight of ideas </a:t>
            </a:r>
          </a:p>
          <a:p>
            <a:r>
              <a:rPr lang="en-US" dirty="0"/>
              <a:t>Goal directed activity- an usually alert, trying to do many things at ago, excessive planning thus not able to finish anything. </a:t>
            </a:r>
          </a:p>
          <a:p>
            <a:r>
              <a:rPr lang="en-US" dirty="0"/>
              <a:t>Reduced need to sleep- feels well rested after 3 hours of sleep </a:t>
            </a:r>
          </a:p>
        </p:txBody>
      </p:sp>
    </p:spTree>
    <p:extLst>
      <p:ext uri="{BB962C8B-B14F-4D97-AF65-F5344CB8AC3E}">
        <p14:creationId xmlns:p14="http://schemas.microsoft.com/office/powerpoint/2010/main" val="1221726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smtClean="0"/>
              <a:t>Clinical </a:t>
            </a:r>
            <a:r>
              <a:rPr lang="en-US" b="1" dirty="0"/>
              <a:t>features of Hypomania episode </a:t>
            </a:r>
            <a:r>
              <a:rPr lang="en-US" dirty="0"/>
              <a:t/>
            </a:r>
            <a:br>
              <a:rPr lang="en-US" dirty="0"/>
            </a:br>
            <a:endParaRPr lang="en-US" dirty="0"/>
          </a:p>
        </p:txBody>
      </p:sp>
      <p:sp>
        <p:nvSpPr>
          <p:cNvPr id="3" name="Content Placeholder 2"/>
          <p:cNvSpPr>
            <a:spLocks noGrp="1"/>
          </p:cNvSpPr>
          <p:nvPr>
            <p:ph idx="1"/>
          </p:nvPr>
        </p:nvSpPr>
        <p:spPr>
          <a:xfrm>
            <a:off x="457200" y="1371600"/>
            <a:ext cx="8229600" cy="5257800"/>
          </a:xfrm>
        </p:spPr>
        <p:txBody>
          <a:bodyPr>
            <a:normAutofit/>
          </a:bodyPr>
          <a:lstStyle/>
          <a:p>
            <a:r>
              <a:rPr lang="en-US" dirty="0"/>
              <a:t>It is similar to manic episode though not severe enough to cause impairment in social or occupational functioning and no psychotic features present</a:t>
            </a:r>
            <a:r>
              <a:rPr lang="en-US" dirty="0" smtClean="0"/>
              <a:t>.</a:t>
            </a:r>
          </a:p>
          <a:p>
            <a:r>
              <a:rPr lang="en-US" dirty="0" smtClean="0"/>
              <a:t> </a:t>
            </a:r>
            <a:r>
              <a:rPr lang="en-US" dirty="0"/>
              <a:t>Both mania and hypomania are associated with inflated self esteem, decreased need for sleep, over involvement in pleasurable activities. </a:t>
            </a:r>
            <a:endParaRPr lang="en-US" dirty="0" smtClean="0"/>
          </a:p>
          <a:p>
            <a:r>
              <a:rPr lang="en-US" dirty="0" smtClean="0"/>
              <a:t>Hypomania </a:t>
            </a:r>
            <a:r>
              <a:rPr lang="en-US" dirty="0"/>
              <a:t>does not require hospitalization. </a:t>
            </a:r>
          </a:p>
        </p:txBody>
      </p:sp>
    </p:spTree>
    <p:extLst>
      <p:ext uri="{BB962C8B-B14F-4D97-AF65-F5344CB8AC3E}">
        <p14:creationId xmlns:p14="http://schemas.microsoft.com/office/powerpoint/2010/main" val="3642667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Types of bipolar disorder </a:t>
            </a:r>
            <a:endParaRPr lang="en-US" dirty="0"/>
          </a:p>
        </p:txBody>
      </p:sp>
      <p:sp>
        <p:nvSpPr>
          <p:cNvPr id="3" name="Content Placeholder 2"/>
          <p:cNvSpPr>
            <a:spLocks noGrp="1"/>
          </p:cNvSpPr>
          <p:nvPr>
            <p:ph idx="1"/>
          </p:nvPr>
        </p:nvSpPr>
        <p:spPr>
          <a:xfrm>
            <a:off x="457200" y="1143000"/>
            <a:ext cx="8229600" cy="4983163"/>
          </a:xfrm>
        </p:spPr>
        <p:txBody>
          <a:bodyPr/>
          <a:lstStyle/>
          <a:p>
            <a:r>
              <a:rPr lang="en-US" b="1" dirty="0"/>
              <a:t>Bipolar I </a:t>
            </a:r>
            <a:r>
              <a:rPr lang="en-US" b="1" dirty="0" smtClean="0"/>
              <a:t>disorder</a:t>
            </a:r>
          </a:p>
          <a:p>
            <a:r>
              <a:rPr lang="en-US" dirty="0"/>
              <a:t>Having a clinical course of one or more manic episodes and sometimes of major depressive episodes </a:t>
            </a:r>
          </a:p>
          <a:p>
            <a:r>
              <a:rPr lang="en-US" dirty="0"/>
              <a:t>A mixed episode can occur whereby in a period of at-least one week both manic and major depressive episode occur almost daily. </a:t>
            </a:r>
            <a:endParaRPr lang="en-US" b="1" dirty="0"/>
          </a:p>
        </p:txBody>
      </p:sp>
    </p:spTree>
    <p:extLst>
      <p:ext uri="{BB962C8B-B14F-4D97-AF65-F5344CB8AC3E}">
        <p14:creationId xmlns:p14="http://schemas.microsoft.com/office/powerpoint/2010/main" val="685514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–bipolar disorder </a:t>
            </a:r>
            <a:endParaRPr lang="en-US" dirty="0"/>
          </a:p>
        </p:txBody>
      </p:sp>
      <p:sp>
        <p:nvSpPr>
          <p:cNvPr id="3" name="Content Placeholder 2"/>
          <p:cNvSpPr>
            <a:spLocks noGrp="1"/>
          </p:cNvSpPr>
          <p:nvPr>
            <p:ph idx="1"/>
          </p:nvPr>
        </p:nvSpPr>
        <p:spPr>
          <a:xfrm>
            <a:off x="457200" y="1295400"/>
            <a:ext cx="8229600" cy="4830763"/>
          </a:xfrm>
        </p:spPr>
        <p:txBody>
          <a:bodyPr>
            <a:normAutofit fontScale="92500" lnSpcReduction="20000"/>
          </a:bodyPr>
          <a:lstStyle/>
          <a:p>
            <a:endParaRPr lang="en-US" dirty="0"/>
          </a:p>
          <a:p>
            <a:r>
              <a:rPr lang="en-US" b="1" dirty="0"/>
              <a:t>Bipolar II disorder </a:t>
            </a:r>
            <a:endParaRPr lang="en-US" dirty="0"/>
          </a:p>
          <a:p>
            <a:r>
              <a:rPr lang="en-US" dirty="0"/>
              <a:t>Episode of hypomania (euphoria) rather than mania, </a:t>
            </a:r>
          </a:p>
          <a:p>
            <a:r>
              <a:rPr lang="en-US" dirty="0"/>
              <a:t>The hypomania alternate with major or minor depression </a:t>
            </a:r>
          </a:p>
          <a:p>
            <a:r>
              <a:rPr lang="en-US" dirty="0"/>
              <a:t>Hypomanic episode has duration of at least 4 days and it is similar to manic episode except that it is not severe enough to cause impairment in social and occupational functioning and no psychotic features are present. </a:t>
            </a:r>
          </a:p>
        </p:txBody>
      </p:sp>
    </p:spTree>
    <p:extLst>
      <p:ext uri="{BB962C8B-B14F-4D97-AF65-F5344CB8AC3E}">
        <p14:creationId xmlns:p14="http://schemas.microsoft.com/office/powerpoint/2010/main" val="13472519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bipolar disorder  </a:t>
            </a:r>
            <a:endParaRPr lang="en-US" dirty="0"/>
          </a:p>
        </p:txBody>
      </p:sp>
      <p:sp>
        <p:nvSpPr>
          <p:cNvPr id="3" name="Content Placeholder 2"/>
          <p:cNvSpPr>
            <a:spLocks noGrp="1"/>
          </p:cNvSpPr>
          <p:nvPr>
            <p:ph idx="1"/>
          </p:nvPr>
        </p:nvSpPr>
        <p:spPr/>
        <p:txBody>
          <a:bodyPr/>
          <a:lstStyle/>
          <a:p>
            <a:endParaRPr lang="en-US" dirty="0"/>
          </a:p>
          <a:p>
            <a:r>
              <a:rPr lang="en-US" b="1" dirty="0" err="1" smtClean="0"/>
              <a:t>Cyclothymia</a:t>
            </a:r>
            <a:r>
              <a:rPr lang="en-US" b="1" dirty="0" smtClean="0"/>
              <a:t> </a:t>
            </a:r>
            <a:r>
              <a:rPr lang="en-US" b="1" dirty="0"/>
              <a:t>disorder </a:t>
            </a:r>
            <a:endParaRPr lang="en-US" dirty="0"/>
          </a:p>
          <a:p>
            <a:r>
              <a:rPr lang="en-US" dirty="0"/>
              <a:t>Characterized by at least 2years of frequent occurring hypomania and low grade depression </a:t>
            </a:r>
          </a:p>
          <a:p>
            <a:r>
              <a:rPr lang="en-US" dirty="0"/>
              <a:t>Symptoms are similar to bipolar I but less severe </a:t>
            </a:r>
          </a:p>
        </p:txBody>
      </p:sp>
    </p:spTree>
    <p:extLst>
      <p:ext uri="{BB962C8B-B14F-4D97-AF65-F5344CB8AC3E}">
        <p14:creationId xmlns:p14="http://schemas.microsoft.com/office/powerpoint/2010/main" val="9794319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Management of bipolar disorder </a:t>
            </a:r>
            <a:endParaRPr lang="en-US" dirty="0"/>
          </a:p>
        </p:txBody>
      </p:sp>
      <p:sp>
        <p:nvSpPr>
          <p:cNvPr id="3" name="Content Placeholder 2"/>
          <p:cNvSpPr>
            <a:spLocks noGrp="1"/>
          </p:cNvSpPr>
          <p:nvPr>
            <p:ph idx="1"/>
          </p:nvPr>
        </p:nvSpPr>
        <p:spPr>
          <a:xfrm>
            <a:off x="457200" y="1219200"/>
            <a:ext cx="8229600" cy="5410200"/>
          </a:xfrm>
        </p:spPr>
        <p:txBody>
          <a:bodyPr>
            <a:normAutofit fontScale="92500" lnSpcReduction="10000"/>
          </a:bodyPr>
          <a:lstStyle/>
          <a:p>
            <a:endParaRPr lang="en-US" dirty="0"/>
          </a:p>
          <a:p>
            <a:r>
              <a:rPr lang="en-US" dirty="0"/>
              <a:t>Rule out medical condition by physical examination </a:t>
            </a:r>
          </a:p>
          <a:p>
            <a:r>
              <a:rPr lang="en-US" dirty="0" smtClean="0"/>
              <a:t>In </a:t>
            </a:r>
            <a:r>
              <a:rPr lang="en-US" dirty="0"/>
              <a:t>mania, screen for STD (HIV, Syphilis) </a:t>
            </a:r>
          </a:p>
          <a:p>
            <a:r>
              <a:rPr lang="en-US" dirty="0" smtClean="0"/>
              <a:t>Rule </a:t>
            </a:r>
            <a:r>
              <a:rPr lang="en-US" dirty="0"/>
              <a:t>out endocrine disorders </a:t>
            </a:r>
          </a:p>
          <a:p>
            <a:r>
              <a:rPr lang="en-US" dirty="0" smtClean="0"/>
              <a:t>Drug </a:t>
            </a:r>
            <a:r>
              <a:rPr lang="en-US" dirty="0"/>
              <a:t>history- anti-hypertensive, ARV, amphetamines, analgesics and corticosteroid </a:t>
            </a:r>
          </a:p>
          <a:p>
            <a:r>
              <a:rPr lang="en-US" dirty="0" smtClean="0"/>
              <a:t>Bipolar </a:t>
            </a:r>
            <a:r>
              <a:rPr lang="en-US" dirty="0"/>
              <a:t>disorder - use mood stabilizers, and neuroleptics/ major </a:t>
            </a:r>
            <a:r>
              <a:rPr lang="en-US" dirty="0" err="1"/>
              <a:t>tranguilisers</a:t>
            </a:r>
            <a:r>
              <a:rPr lang="en-US" dirty="0"/>
              <a:t> </a:t>
            </a:r>
          </a:p>
          <a:p>
            <a:r>
              <a:rPr lang="en-US" dirty="0" smtClean="0"/>
              <a:t>Mood </a:t>
            </a:r>
            <a:r>
              <a:rPr lang="en-US" dirty="0"/>
              <a:t>stabilizers- Lithium, Carbamazepine, sodium valproate, and antidepressants </a:t>
            </a:r>
          </a:p>
        </p:txBody>
      </p:sp>
    </p:spTree>
    <p:extLst>
      <p:ext uri="{BB962C8B-B14F-4D97-AF65-F5344CB8AC3E}">
        <p14:creationId xmlns:p14="http://schemas.microsoft.com/office/powerpoint/2010/main" val="15770550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dirty="0" err="1" smtClean="0"/>
              <a:t>Mx</a:t>
            </a:r>
            <a:r>
              <a:rPr lang="en-US" dirty="0" smtClean="0"/>
              <a:t> –Bipolar </a:t>
            </a:r>
            <a:endParaRPr lang="en-US" dirty="0"/>
          </a:p>
        </p:txBody>
      </p:sp>
      <p:sp>
        <p:nvSpPr>
          <p:cNvPr id="3" name="Content Placeholder 2"/>
          <p:cNvSpPr>
            <a:spLocks noGrp="1"/>
          </p:cNvSpPr>
          <p:nvPr>
            <p:ph idx="1"/>
          </p:nvPr>
        </p:nvSpPr>
        <p:spPr>
          <a:xfrm>
            <a:off x="457200" y="762001"/>
            <a:ext cx="8229600" cy="6096000"/>
          </a:xfrm>
        </p:spPr>
        <p:txBody>
          <a:bodyPr>
            <a:normAutofit fontScale="85000" lnSpcReduction="20000"/>
          </a:bodyPr>
          <a:lstStyle/>
          <a:p>
            <a:r>
              <a:rPr lang="en-US" dirty="0"/>
              <a:t>Unipolar depression use antidepressants </a:t>
            </a:r>
            <a:endParaRPr lang="en-US" dirty="0" smtClean="0"/>
          </a:p>
          <a:p>
            <a:pPr>
              <a:buFont typeface="Wingdings" panose="05000000000000000000" pitchFamily="2" charset="2"/>
              <a:buChar char="ü"/>
            </a:pPr>
            <a:r>
              <a:rPr lang="en-US" dirty="0" smtClean="0"/>
              <a:t>Monoamine </a:t>
            </a:r>
            <a:r>
              <a:rPr lang="en-US" dirty="0"/>
              <a:t>oxidase inhibitors e.g. </a:t>
            </a:r>
            <a:endParaRPr lang="en-US" dirty="0" smtClean="0"/>
          </a:p>
          <a:p>
            <a:pPr>
              <a:buFont typeface="Wingdings" panose="05000000000000000000" pitchFamily="2" charset="2"/>
              <a:buChar char="ü"/>
            </a:pPr>
            <a:r>
              <a:rPr lang="en-US" dirty="0" smtClean="0"/>
              <a:t>SSRI </a:t>
            </a:r>
            <a:r>
              <a:rPr lang="en-US" dirty="0"/>
              <a:t>e.g. Fluoxetine, </a:t>
            </a:r>
            <a:r>
              <a:rPr lang="en-US" dirty="0" err="1"/>
              <a:t>setraline</a:t>
            </a:r>
            <a:r>
              <a:rPr lang="en-US" dirty="0"/>
              <a:t> </a:t>
            </a:r>
          </a:p>
          <a:p>
            <a:pPr>
              <a:buFont typeface="Wingdings" panose="05000000000000000000" pitchFamily="2" charset="2"/>
              <a:buChar char="ü"/>
            </a:pPr>
            <a:r>
              <a:rPr lang="en-US" dirty="0" smtClean="0"/>
              <a:t>TCA </a:t>
            </a:r>
            <a:r>
              <a:rPr lang="en-US" dirty="0"/>
              <a:t>e.g. imipramine, </a:t>
            </a:r>
            <a:r>
              <a:rPr lang="en-US" dirty="0" err="1"/>
              <a:t>nortriptiline</a:t>
            </a:r>
            <a:r>
              <a:rPr lang="en-US" dirty="0"/>
              <a:t> </a:t>
            </a:r>
          </a:p>
          <a:p>
            <a:r>
              <a:rPr lang="en-US" dirty="0"/>
              <a:t>Psychosocial therapy </a:t>
            </a:r>
          </a:p>
          <a:p>
            <a:r>
              <a:rPr lang="en-US" dirty="0" smtClean="0"/>
              <a:t>In </a:t>
            </a:r>
            <a:r>
              <a:rPr lang="en-US" dirty="0"/>
              <a:t>manic stage, the patient is hyperactive therefore need sedation </a:t>
            </a:r>
          </a:p>
          <a:p>
            <a:r>
              <a:rPr lang="en-US" dirty="0" smtClean="0"/>
              <a:t>Give </a:t>
            </a:r>
            <a:r>
              <a:rPr lang="en-US" dirty="0"/>
              <a:t>food and fluids </a:t>
            </a:r>
          </a:p>
          <a:p>
            <a:r>
              <a:rPr lang="en-US" dirty="0" smtClean="0"/>
              <a:t>Help </a:t>
            </a:r>
            <a:r>
              <a:rPr lang="en-US" dirty="0"/>
              <a:t>channel the energy to constructive activities </a:t>
            </a:r>
          </a:p>
          <a:p>
            <a:r>
              <a:rPr lang="en-US" dirty="0" smtClean="0"/>
              <a:t>Educate </a:t>
            </a:r>
            <a:r>
              <a:rPr lang="en-US" dirty="0"/>
              <a:t>the relatives on the symptoms </a:t>
            </a:r>
          </a:p>
          <a:p>
            <a:r>
              <a:rPr lang="en-US" dirty="0" smtClean="0"/>
              <a:t>ECT- </a:t>
            </a:r>
            <a:r>
              <a:rPr lang="en-US" dirty="0"/>
              <a:t>used in unresponsive mania to drugs though not first choice, </a:t>
            </a:r>
            <a:endParaRPr lang="en-US" dirty="0" smtClean="0"/>
          </a:p>
          <a:p>
            <a:r>
              <a:rPr lang="en-US" b="1" dirty="0" smtClean="0"/>
              <a:t>NB:</a:t>
            </a:r>
            <a:r>
              <a:rPr lang="en-US" b="1" dirty="0"/>
              <a:t>ECT is used in depression mostly especially in depressive stupor start with ECT then continue with drugs. </a:t>
            </a:r>
          </a:p>
          <a:p>
            <a:pPr marL="0" indent="0">
              <a:buNone/>
            </a:pPr>
            <a:endParaRPr lang="en-US" b="1" dirty="0"/>
          </a:p>
          <a:p>
            <a:endParaRPr lang="en-US" dirty="0"/>
          </a:p>
          <a:p>
            <a:endParaRPr lang="en-US" dirty="0"/>
          </a:p>
          <a:p>
            <a:endParaRPr lang="en-US" dirty="0"/>
          </a:p>
        </p:txBody>
      </p:sp>
    </p:spTree>
    <p:extLst>
      <p:ext uri="{BB962C8B-B14F-4D97-AF65-F5344CB8AC3E}">
        <p14:creationId xmlns:p14="http://schemas.microsoft.com/office/powerpoint/2010/main" val="39151713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SCHIZOPHRENIA </a:t>
            </a:r>
            <a:endParaRPr lang="en-US" dirty="0"/>
          </a:p>
        </p:txBody>
      </p:sp>
      <p:sp>
        <p:nvSpPr>
          <p:cNvPr id="3" name="Content Placeholder 2"/>
          <p:cNvSpPr>
            <a:spLocks noGrp="1"/>
          </p:cNvSpPr>
          <p:nvPr>
            <p:ph idx="1"/>
          </p:nvPr>
        </p:nvSpPr>
        <p:spPr/>
        <p:txBody>
          <a:bodyPr/>
          <a:lstStyle/>
          <a:p>
            <a:r>
              <a:rPr lang="en-US" dirty="0" smtClean="0"/>
              <a:t>SCHIZO –split </a:t>
            </a:r>
          </a:p>
          <a:p>
            <a:r>
              <a:rPr lang="en-US" dirty="0" smtClean="0"/>
              <a:t>PHRENIA – mind </a:t>
            </a:r>
          </a:p>
          <a:p>
            <a:r>
              <a:rPr lang="en-US" dirty="0" smtClean="0"/>
              <a:t>Schizophrenia –split mind </a:t>
            </a:r>
          </a:p>
          <a:p>
            <a:r>
              <a:rPr lang="en-US" dirty="0" smtClean="0"/>
              <a:t>Schizophrenia= syndrome  </a:t>
            </a:r>
            <a:endParaRPr lang="en-US" dirty="0"/>
          </a:p>
        </p:txBody>
      </p:sp>
    </p:spTree>
    <p:extLst>
      <p:ext uri="{BB962C8B-B14F-4D97-AF65-F5344CB8AC3E}">
        <p14:creationId xmlns:p14="http://schemas.microsoft.com/office/powerpoint/2010/main" val="3997142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SCHIZOPHRENIA </a:t>
            </a:r>
            <a:endParaRPr lang="en-US" dirty="0"/>
          </a:p>
        </p:txBody>
      </p:sp>
      <p:sp>
        <p:nvSpPr>
          <p:cNvPr id="3" name="Content Placeholder 2"/>
          <p:cNvSpPr>
            <a:spLocks noGrp="1"/>
          </p:cNvSpPr>
          <p:nvPr>
            <p:ph idx="1"/>
          </p:nvPr>
        </p:nvSpPr>
        <p:spPr>
          <a:xfrm>
            <a:off x="457200" y="1143000"/>
            <a:ext cx="8229600" cy="5486400"/>
          </a:xfrm>
        </p:spPr>
        <p:txBody>
          <a:bodyPr>
            <a:normAutofit/>
          </a:bodyPr>
          <a:lstStyle/>
          <a:p>
            <a:r>
              <a:rPr lang="en-US" dirty="0" smtClean="0"/>
              <a:t>DEF: a </a:t>
            </a:r>
            <a:r>
              <a:rPr lang="en-US" dirty="0"/>
              <a:t>long-term mental </a:t>
            </a:r>
            <a:r>
              <a:rPr lang="en-US" dirty="0" smtClean="0"/>
              <a:t>disorder </a:t>
            </a:r>
            <a:r>
              <a:rPr lang="en-US" dirty="0"/>
              <a:t>involving a breakdown in the relation between thought, emotion, and behavior, leading to faulty perception, inappropriate actions and feelings, withdrawal from reality and personal relationships into fantasy and delusion, and a sense of mental fragmentation</a:t>
            </a:r>
            <a:r>
              <a:rPr lang="en-US" dirty="0" smtClean="0"/>
              <a:t>.</a:t>
            </a:r>
          </a:p>
          <a:p>
            <a:r>
              <a:rPr lang="en-US" dirty="0"/>
              <a:t>DEF: chronic and severe mental disorder that affects how a person thinks, feels, and behaves.</a:t>
            </a:r>
          </a:p>
        </p:txBody>
      </p:sp>
    </p:spTree>
    <p:extLst>
      <p:ext uri="{BB962C8B-B14F-4D97-AF65-F5344CB8AC3E}">
        <p14:creationId xmlns:p14="http://schemas.microsoft.com/office/powerpoint/2010/main" val="23310591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dirty="0" smtClean="0"/>
              <a:t>Schizophrenia </a:t>
            </a:r>
            <a:endParaRPr lang="en-US" dirty="0"/>
          </a:p>
        </p:txBody>
      </p:sp>
      <p:sp>
        <p:nvSpPr>
          <p:cNvPr id="3" name="Content Placeholder 2"/>
          <p:cNvSpPr>
            <a:spLocks noGrp="1"/>
          </p:cNvSpPr>
          <p:nvPr>
            <p:ph idx="1"/>
          </p:nvPr>
        </p:nvSpPr>
        <p:spPr>
          <a:xfrm>
            <a:off x="457200" y="762000"/>
            <a:ext cx="8229600" cy="5867400"/>
          </a:xfrm>
        </p:spPr>
        <p:txBody>
          <a:bodyPr>
            <a:normAutofit fontScale="85000" lnSpcReduction="20000"/>
          </a:bodyPr>
          <a:lstStyle/>
          <a:p>
            <a:pPr marL="0" indent="0">
              <a:buNone/>
            </a:pPr>
            <a:r>
              <a:rPr lang="en-US" dirty="0"/>
              <a:t>The symptoms of schizophrenia fall into three categories: positive, negative, and cognitive</a:t>
            </a:r>
            <a:r>
              <a:rPr lang="en-US" dirty="0" smtClean="0"/>
              <a:t>.</a:t>
            </a:r>
            <a:endParaRPr lang="en-US" u="sng" dirty="0" smtClean="0"/>
          </a:p>
          <a:p>
            <a:pPr marL="0" indent="0">
              <a:buNone/>
            </a:pPr>
            <a:r>
              <a:rPr lang="en-US" u="sng" dirty="0" smtClean="0"/>
              <a:t>Positive symptoms</a:t>
            </a:r>
          </a:p>
          <a:p>
            <a:pPr marL="0" indent="0">
              <a:buNone/>
            </a:pPr>
            <a:r>
              <a:rPr lang="en-US" dirty="0" smtClean="0"/>
              <a:t>“Positive</a:t>
            </a:r>
            <a:r>
              <a:rPr lang="en-US" dirty="0"/>
              <a:t>” symptoms are psychotic behaviors not generally seen in healthy people. People with positive symptoms may “lose touch” with some aspects of reality</a:t>
            </a:r>
            <a:endParaRPr lang="en-US" u="sng" dirty="0" smtClean="0"/>
          </a:p>
          <a:p>
            <a:r>
              <a:rPr lang="en-US" dirty="0" smtClean="0"/>
              <a:t>delusion, hallucinations, thought disorders, they response to antipsychotics better</a:t>
            </a:r>
          </a:p>
          <a:p>
            <a:pPr marL="0" indent="0">
              <a:buNone/>
            </a:pPr>
            <a:r>
              <a:rPr lang="en-US" u="sng" dirty="0" smtClean="0"/>
              <a:t>Negative symptom</a:t>
            </a:r>
            <a:r>
              <a:rPr lang="en-US" dirty="0"/>
              <a:t>s</a:t>
            </a:r>
            <a:endParaRPr lang="en-US" dirty="0" smtClean="0"/>
          </a:p>
          <a:p>
            <a:pPr marL="0" indent="0">
              <a:buNone/>
            </a:pPr>
            <a:r>
              <a:rPr lang="en-US" dirty="0" smtClean="0"/>
              <a:t>“Negative</a:t>
            </a:r>
            <a:r>
              <a:rPr lang="en-US" dirty="0"/>
              <a:t>” symptoms are associated with disruptions to normal emotions and behaviors</a:t>
            </a:r>
            <a:endParaRPr lang="en-US" dirty="0" smtClean="0"/>
          </a:p>
          <a:p>
            <a:r>
              <a:rPr lang="en-US" dirty="0" smtClean="0"/>
              <a:t>affective flattening, speech incoherent, thought block, anhedonia, </a:t>
            </a:r>
            <a:r>
              <a:rPr lang="en-US" dirty="0" err="1" smtClean="0"/>
              <a:t>alogia</a:t>
            </a:r>
            <a:r>
              <a:rPr lang="en-US" dirty="0" smtClean="0"/>
              <a:t>/poverty of speech, poor grooming, lack of motivation, social withdrawal, </a:t>
            </a:r>
            <a:r>
              <a:rPr lang="en-US" dirty="0" err="1" smtClean="0"/>
              <a:t>avolation</a:t>
            </a:r>
            <a:r>
              <a:rPr lang="en-US" dirty="0" smtClean="0"/>
              <a:t> (lack of motivation) </a:t>
            </a:r>
          </a:p>
          <a:p>
            <a:endParaRPr lang="en-US" dirty="0" smtClean="0"/>
          </a:p>
          <a:p>
            <a:endParaRPr lang="en-US" dirty="0"/>
          </a:p>
        </p:txBody>
      </p:sp>
    </p:spTree>
    <p:extLst>
      <p:ext uri="{BB962C8B-B14F-4D97-AF65-F5344CB8AC3E}">
        <p14:creationId xmlns:p14="http://schemas.microsoft.com/office/powerpoint/2010/main" val="18708630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SCHIZOPHRENIA </a:t>
            </a:r>
            <a:endParaRPr lang="en-US" dirty="0"/>
          </a:p>
        </p:txBody>
      </p:sp>
      <p:sp>
        <p:nvSpPr>
          <p:cNvPr id="3" name="Content Placeholder 2"/>
          <p:cNvSpPr>
            <a:spLocks noGrp="1"/>
          </p:cNvSpPr>
          <p:nvPr>
            <p:ph idx="1"/>
          </p:nvPr>
        </p:nvSpPr>
        <p:spPr>
          <a:xfrm>
            <a:off x="457200" y="1143000"/>
            <a:ext cx="8229600" cy="5562600"/>
          </a:xfrm>
        </p:spPr>
        <p:txBody>
          <a:bodyPr>
            <a:normAutofit fontScale="92500" lnSpcReduction="10000"/>
          </a:bodyPr>
          <a:lstStyle/>
          <a:p>
            <a:r>
              <a:rPr lang="en-US" b="1" dirty="0"/>
              <a:t>Cognitive symptoms:</a:t>
            </a:r>
            <a:r>
              <a:rPr lang="en-US" dirty="0"/>
              <a:t> For some patients, the cognitive symptoms of schizophrenia are subtle, but for others, they are more severe and patients may notice changes in their memory or other aspects of thinking. </a:t>
            </a:r>
            <a:endParaRPr lang="en-US" dirty="0" smtClean="0"/>
          </a:p>
          <a:p>
            <a:r>
              <a:rPr lang="en-US" dirty="0" smtClean="0"/>
              <a:t>Symptoms </a:t>
            </a:r>
            <a:r>
              <a:rPr lang="en-US" dirty="0"/>
              <a:t>include:</a:t>
            </a:r>
          </a:p>
          <a:p>
            <a:r>
              <a:rPr lang="en-US" dirty="0"/>
              <a:t>Poor “executive functioning” (the ability to understand information and use it to make decisions)</a:t>
            </a:r>
          </a:p>
          <a:p>
            <a:r>
              <a:rPr lang="en-US" dirty="0"/>
              <a:t>Trouble focusing or paying attention</a:t>
            </a:r>
          </a:p>
          <a:p>
            <a:r>
              <a:rPr lang="en-US" dirty="0"/>
              <a:t>Problems with “working memory” (the ability to use information immediately after learning it)</a:t>
            </a:r>
          </a:p>
          <a:p>
            <a:endParaRPr lang="en-US" dirty="0"/>
          </a:p>
        </p:txBody>
      </p:sp>
    </p:spTree>
    <p:extLst>
      <p:ext uri="{BB962C8B-B14F-4D97-AF65-F5344CB8AC3E}">
        <p14:creationId xmlns:p14="http://schemas.microsoft.com/office/powerpoint/2010/main" val="28628617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t>General symptoms of schizophrenia</a:t>
            </a:r>
            <a:endParaRPr lang="en-US" dirty="0"/>
          </a:p>
        </p:txBody>
      </p:sp>
      <p:sp>
        <p:nvSpPr>
          <p:cNvPr id="3" name="Content Placeholder 2"/>
          <p:cNvSpPr>
            <a:spLocks noGrp="1"/>
          </p:cNvSpPr>
          <p:nvPr>
            <p:ph idx="1"/>
          </p:nvPr>
        </p:nvSpPr>
        <p:spPr>
          <a:xfrm>
            <a:off x="457200" y="1143000"/>
            <a:ext cx="8229600" cy="5715000"/>
          </a:xfrm>
        </p:spPr>
        <p:txBody>
          <a:bodyPr>
            <a:normAutofit fontScale="77500" lnSpcReduction="20000"/>
          </a:bodyPr>
          <a:lstStyle/>
          <a:p>
            <a:pPr lvl="0"/>
            <a:r>
              <a:rPr lang="en-US" dirty="0"/>
              <a:t>Mood changes →patient experience increased anxieties, tension and irritations. With drawn and aloof about important issues, Isolate themselves from others, are confused and alone, unable to harmonize and balance emotions. Pressure of speech and disconnected. </a:t>
            </a:r>
          </a:p>
          <a:p>
            <a:pPr lvl="0"/>
            <a:r>
              <a:rPr lang="en-US" dirty="0"/>
              <a:t>Blunted affect- patient’s emotional expression is flat e.g. loss of a relative but no emotion. </a:t>
            </a:r>
          </a:p>
          <a:p>
            <a:pPr lvl="0"/>
            <a:r>
              <a:rPr lang="en-US" dirty="0"/>
              <a:t>Anhedonia- no pleasure form anything</a:t>
            </a:r>
          </a:p>
          <a:p>
            <a:pPr lvl="0"/>
            <a:r>
              <a:rPr lang="en-US" dirty="0"/>
              <a:t>Mutism and stupor- patient not able to talk or move</a:t>
            </a:r>
          </a:p>
          <a:p>
            <a:pPr lvl="0"/>
            <a:r>
              <a:rPr lang="en-US" dirty="0"/>
              <a:t>delusion- the patient finds every thing strange</a:t>
            </a:r>
          </a:p>
          <a:p>
            <a:pPr lvl="0"/>
            <a:r>
              <a:rPr lang="en-US" dirty="0"/>
              <a:t>Cognitive changes- the patient gradually loses the ability to present a logical relevant series of thoughts. Thought process is fragmented, illogical and with loosely associated elements. </a:t>
            </a:r>
          </a:p>
          <a:p>
            <a:pPr lvl="0"/>
            <a:r>
              <a:rPr lang="en-US" dirty="0"/>
              <a:t>Loss of concentration- looses concentration and focus on ideas, people or objects around him. </a:t>
            </a:r>
          </a:p>
          <a:p>
            <a:endParaRPr lang="en-US" dirty="0"/>
          </a:p>
        </p:txBody>
      </p:sp>
    </p:spTree>
    <p:extLst>
      <p:ext uri="{BB962C8B-B14F-4D97-AF65-F5344CB8AC3E}">
        <p14:creationId xmlns:p14="http://schemas.microsoft.com/office/powerpoint/2010/main" val="74832558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General symptoms of schizophrenia</a:t>
            </a:r>
            <a:endParaRPr lang="en-US" dirty="0"/>
          </a:p>
        </p:txBody>
      </p:sp>
      <p:sp>
        <p:nvSpPr>
          <p:cNvPr id="3" name="Content Placeholder 2"/>
          <p:cNvSpPr>
            <a:spLocks noGrp="1"/>
          </p:cNvSpPr>
          <p:nvPr>
            <p:ph idx="1"/>
          </p:nvPr>
        </p:nvSpPr>
        <p:spPr>
          <a:xfrm>
            <a:off x="457200" y="1295400"/>
            <a:ext cx="8229600" cy="5257800"/>
          </a:xfrm>
        </p:spPr>
        <p:txBody>
          <a:bodyPr>
            <a:normAutofit fontScale="77500" lnSpcReduction="20000"/>
          </a:bodyPr>
          <a:lstStyle/>
          <a:p>
            <a:pPr lvl="0"/>
            <a:r>
              <a:rPr lang="en-US" dirty="0"/>
              <a:t>disturbance in thought form/ process- </a:t>
            </a:r>
          </a:p>
          <a:p>
            <a:pPr lvl="0">
              <a:buFont typeface="Wingdings" panose="05000000000000000000" pitchFamily="2" charset="2"/>
              <a:buChar char="ü"/>
            </a:pPr>
            <a:r>
              <a:rPr lang="en-US" dirty="0"/>
              <a:t>looseness of association- the patient presents ideas </a:t>
            </a:r>
            <a:r>
              <a:rPr lang="en-US" dirty="0" err="1"/>
              <a:t>wq</a:t>
            </a:r>
            <a:r>
              <a:rPr lang="en-US" dirty="0"/>
              <a:t> shift from one subject to another with incoherent speech</a:t>
            </a:r>
          </a:p>
          <a:p>
            <a:pPr lvl="0">
              <a:buFont typeface="Wingdings" panose="05000000000000000000" pitchFamily="2" charset="2"/>
              <a:buChar char="ü"/>
            </a:pPr>
            <a:r>
              <a:rPr lang="en-US" dirty="0"/>
              <a:t>over inclusiveness- patient adds irrelevant materials within normal flow of thought and never return to the main idea</a:t>
            </a:r>
          </a:p>
          <a:p>
            <a:pPr lvl="0">
              <a:buFont typeface="Wingdings" panose="05000000000000000000" pitchFamily="2" charset="2"/>
              <a:buChar char="ü"/>
            </a:pPr>
            <a:r>
              <a:rPr lang="en-US" dirty="0"/>
              <a:t>neologism- coining of new words</a:t>
            </a:r>
          </a:p>
          <a:p>
            <a:pPr lvl="0">
              <a:buFont typeface="Wingdings" panose="05000000000000000000" pitchFamily="2" charset="2"/>
              <a:buChar char="ü"/>
            </a:pPr>
            <a:r>
              <a:rPr lang="en-US" dirty="0"/>
              <a:t>thought block- flow of speech is interrupted by forgetting, then they can return to normal flow</a:t>
            </a:r>
          </a:p>
          <a:p>
            <a:pPr lvl="0">
              <a:buFont typeface="Wingdings" panose="05000000000000000000" pitchFamily="2" charset="2"/>
              <a:buChar char="ü"/>
            </a:pPr>
            <a:r>
              <a:rPr lang="en-US" dirty="0"/>
              <a:t>clanging- the patient rhymes words without caring about the meaning</a:t>
            </a:r>
          </a:p>
          <a:p>
            <a:pPr lvl="0">
              <a:buFont typeface="Wingdings" panose="05000000000000000000" pitchFamily="2" charset="2"/>
              <a:buChar char="ü"/>
            </a:pPr>
            <a:r>
              <a:rPr lang="en-US" dirty="0"/>
              <a:t>echolalia- repeats words and phrases without caring about meaning</a:t>
            </a:r>
          </a:p>
          <a:p>
            <a:pPr lvl="0">
              <a:buFont typeface="Wingdings" panose="05000000000000000000" pitchFamily="2" charset="2"/>
              <a:buChar char="ü"/>
            </a:pPr>
            <a:r>
              <a:rPr lang="en-US" dirty="0"/>
              <a:t>impoverished thought- patient talks but communicates little</a:t>
            </a:r>
          </a:p>
          <a:p>
            <a:endParaRPr lang="en-US" dirty="0"/>
          </a:p>
        </p:txBody>
      </p:sp>
    </p:spTree>
    <p:extLst>
      <p:ext uri="{BB962C8B-B14F-4D97-AF65-F5344CB8AC3E}">
        <p14:creationId xmlns:p14="http://schemas.microsoft.com/office/powerpoint/2010/main" val="17659303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4467135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a:t>General symptoms of schizophrenia</a:t>
            </a:r>
            <a:endParaRPr lang="en-US" dirty="0"/>
          </a:p>
        </p:txBody>
      </p:sp>
      <p:sp>
        <p:nvSpPr>
          <p:cNvPr id="3" name="Content Placeholder 2"/>
          <p:cNvSpPr>
            <a:spLocks noGrp="1"/>
          </p:cNvSpPr>
          <p:nvPr>
            <p:ph idx="1"/>
          </p:nvPr>
        </p:nvSpPr>
        <p:spPr>
          <a:xfrm>
            <a:off x="457200" y="1143000"/>
            <a:ext cx="8229600" cy="5562600"/>
          </a:xfrm>
        </p:spPr>
        <p:txBody>
          <a:bodyPr>
            <a:normAutofit fontScale="77500" lnSpcReduction="20000"/>
          </a:bodyPr>
          <a:lstStyle/>
          <a:p>
            <a:pPr lvl="0"/>
            <a:r>
              <a:rPr lang="en-US" dirty="0"/>
              <a:t>Disturbance in thought content- Exhibited in patient’s delusions- false beliefs (in the acute phase of schizophrenia, they may be disorganized and non systematized). </a:t>
            </a:r>
            <a:endParaRPr lang="en-US" dirty="0" smtClean="0"/>
          </a:p>
          <a:p>
            <a:pPr marL="400050" lvl="1" indent="0">
              <a:buNone/>
            </a:pPr>
            <a:r>
              <a:rPr lang="en-US" dirty="0" smtClean="0"/>
              <a:t>In </a:t>
            </a:r>
            <a:r>
              <a:rPr lang="en-US" dirty="0"/>
              <a:t>paranoid schizophrenia, the delusions are organized with a single theme. </a:t>
            </a:r>
          </a:p>
          <a:p>
            <a:pPr lvl="0">
              <a:buFont typeface="Wingdings" panose="05000000000000000000" pitchFamily="2" charset="2"/>
              <a:buChar char="ü"/>
            </a:pPr>
            <a:r>
              <a:rPr lang="en-US" dirty="0"/>
              <a:t>delusion of grandeur- thought of inflated wealth, special missions exceptional powers</a:t>
            </a:r>
          </a:p>
          <a:p>
            <a:pPr lvl="0">
              <a:buFont typeface="Wingdings" panose="05000000000000000000" pitchFamily="2" charset="2"/>
              <a:buChar char="ü"/>
            </a:pPr>
            <a:r>
              <a:rPr lang="en-US" dirty="0"/>
              <a:t>delusion of reference- patient assigns personal ownership to communication that have no relevance to him </a:t>
            </a:r>
          </a:p>
          <a:p>
            <a:pPr lvl="0">
              <a:buFont typeface="Wingdings" panose="05000000000000000000" pitchFamily="2" charset="2"/>
              <a:buChar char="ü"/>
            </a:pPr>
            <a:r>
              <a:rPr lang="en-US" dirty="0"/>
              <a:t>paranoid delusion- patient beliefs that some force (family, individual) is targeting him for destruction  </a:t>
            </a:r>
          </a:p>
          <a:p>
            <a:pPr lvl="0">
              <a:buFont typeface="Wingdings" panose="05000000000000000000" pitchFamily="2" charset="2"/>
              <a:buChar char="ü"/>
            </a:pPr>
            <a:r>
              <a:rPr lang="en-US" dirty="0"/>
              <a:t>nihilistic delusion- patient beliefs that a part of his body, family, group is destroyed or it is about to be destroyed e.g. my liver is removed</a:t>
            </a:r>
          </a:p>
          <a:p>
            <a:endParaRPr lang="en-US" dirty="0"/>
          </a:p>
        </p:txBody>
      </p:sp>
    </p:spTree>
    <p:extLst>
      <p:ext uri="{BB962C8B-B14F-4D97-AF65-F5344CB8AC3E}">
        <p14:creationId xmlns:p14="http://schemas.microsoft.com/office/powerpoint/2010/main" val="28802069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a:t>General symptoms of schizophrenia</a:t>
            </a:r>
            <a:endParaRPr lang="en-US" dirty="0"/>
          </a:p>
        </p:txBody>
      </p:sp>
      <p:sp>
        <p:nvSpPr>
          <p:cNvPr id="3" name="Content Placeholder 2"/>
          <p:cNvSpPr>
            <a:spLocks noGrp="1"/>
          </p:cNvSpPr>
          <p:nvPr>
            <p:ph idx="1"/>
          </p:nvPr>
        </p:nvSpPr>
        <p:spPr>
          <a:xfrm>
            <a:off x="457200" y="1066800"/>
            <a:ext cx="8229600" cy="5410200"/>
          </a:xfrm>
        </p:spPr>
        <p:txBody>
          <a:bodyPr>
            <a:normAutofit/>
          </a:bodyPr>
          <a:lstStyle/>
          <a:p>
            <a:pPr lvl="0"/>
            <a:r>
              <a:rPr lang="en-US" dirty="0"/>
              <a:t>perceptual changes- </a:t>
            </a:r>
          </a:p>
          <a:p>
            <a:pPr lvl="0">
              <a:buFont typeface="Wingdings" panose="05000000000000000000" pitchFamily="2" charset="2"/>
              <a:buChar char="ü"/>
            </a:pPr>
            <a:r>
              <a:rPr lang="en-US" dirty="0"/>
              <a:t>hallucination- most frequent type of perception disturbance (auditory, visual, olfactory and tactile)</a:t>
            </a:r>
          </a:p>
          <a:p>
            <a:pPr lvl="0">
              <a:buFont typeface="Wingdings" panose="05000000000000000000" pitchFamily="2" charset="2"/>
              <a:buChar char="ü"/>
            </a:pPr>
            <a:r>
              <a:rPr lang="en-US" dirty="0"/>
              <a:t>Illusion- misinterpretation of stimuli in the environment e.g. </a:t>
            </a:r>
            <a:r>
              <a:rPr lang="en-US" dirty="0" err="1"/>
              <a:t>movt</a:t>
            </a:r>
            <a:r>
              <a:rPr lang="en-US" dirty="0"/>
              <a:t> of curtain and the patient thinks it is a spirit entering the room.</a:t>
            </a:r>
          </a:p>
          <a:p>
            <a:pPr lvl="0"/>
            <a:r>
              <a:rPr lang="en-US" dirty="0"/>
              <a:t>Disturbance in motor functioning →catatonic motor disturbance, behavior of rigid posture. </a:t>
            </a:r>
          </a:p>
          <a:p>
            <a:endParaRPr lang="en-US" dirty="0"/>
          </a:p>
          <a:p>
            <a:endParaRPr lang="en-US" dirty="0"/>
          </a:p>
        </p:txBody>
      </p:sp>
    </p:spTree>
    <p:extLst>
      <p:ext uri="{BB962C8B-B14F-4D97-AF65-F5344CB8AC3E}">
        <p14:creationId xmlns:p14="http://schemas.microsoft.com/office/powerpoint/2010/main" val="8244058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Schizophrenia – types </a:t>
            </a:r>
            <a:endParaRPr lang="en-US" dirty="0"/>
          </a:p>
        </p:txBody>
      </p:sp>
      <p:sp>
        <p:nvSpPr>
          <p:cNvPr id="3" name="Content Placeholder 2"/>
          <p:cNvSpPr>
            <a:spLocks noGrp="1"/>
          </p:cNvSpPr>
          <p:nvPr>
            <p:ph idx="1"/>
          </p:nvPr>
        </p:nvSpPr>
        <p:spPr>
          <a:xfrm>
            <a:off x="457200" y="1295400"/>
            <a:ext cx="8229600" cy="5257800"/>
          </a:xfrm>
        </p:spPr>
        <p:txBody>
          <a:bodyPr/>
          <a:lstStyle/>
          <a:p>
            <a:r>
              <a:rPr lang="en-US" u="sng" dirty="0"/>
              <a:t>Types of schizophrenia</a:t>
            </a:r>
            <a:endParaRPr lang="en-US" dirty="0"/>
          </a:p>
          <a:p>
            <a:pPr marL="514350" lvl="0" indent="-514350">
              <a:buFont typeface="+mj-lt"/>
              <a:buAutoNum type="arabicPeriod"/>
            </a:pPr>
            <a:r>
              <a:rPr lang="en-US" dirty="0"/>
              <a:t>catatonic</a:t>
            </a:r>
          </a:p>
          <a:p>
            <a:pPr marL="514350" lvl="0" indent="-514350">
              <a:buFont typeface="+mj-lt"/>
              <a:buAutoNum type="arabicPeriod"/>
            </a:pPr>
            <a:r>
              <a:rPr lang="en-US" dirty="0"/>
              <a:t>disorganized/ hebephrenic schizophrenia</a:t>
            </a:r>
          </a:p>
          <a:p>
            <a:pPr marL="514350" lvl="0" indent="-514350">
              <a:buFont typeface="+mj-lt"/>
              <a:buAutoNum type="arabicPeriod"/>
            </a:pPr>
            <a:r>
              <a:rPr lang="en-US" dirty="0"/>
              <a:t>paranoid schizophrenia</a:t>
            </a:r>
          </a:p>
          <a:p>
            <a:pPr marL="514350" lvl="0" indent="-514350">
              <a:buFont typeface="+mj-lt"/>
              <a:buAutoNum type="arabicPeriod"/>
            </a:pPr>
            <a:r>
              <a:rPr lang="en-US" dirty="0"/>
              <a:t>simple schizophrenia</a:t>
            </a:r>
          </a:p>
          <a:p>
            <a:pPr marL="514350" lvl="0" indent="-514350">
              <a:buFont typeface="+mj-lt"/>
              <a:buAutoNum type="arabicPeriod"/>
            </a:pPr>
            <a:r>
              <a:rPr lang="en-US" dirty="0"/>
              <a:t>residual schizophrenia</a:t>
            </a:r>
          </a:p>
          <a:p>
            <a:pPr marL="514350" lvl="0" indent="-514350">
              <a:buFont typeface="+mj-lt"/>
              <a:buAutoNum type="arabicPeriod"/>
            </a:pPr>
            <a:r>
              <a:rPr lang="en-US" dirty="0"/>
              <a:t>undifferentiated schizophrenia</a:t>
            </a:r>
          </a:p>
          <a:p>
            <a:endParaRPr lang="en-US" dirty="0"/>
          </a:p>
        </p:txBody>
      </p:sp>
    </p:spTree>
    <p:extLst>
      <p:ext uri="{BB962C8B-B14F-4D97-AF65-F5344CB8AC3E}">
        <p14:creationId xmlns:p14="http://schemas.microsoft.com/office/powerpoint/2010/main" val="30080803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Phases </a:t>
            </a:r>
            <a:endParaRPr lang="en-US" dirty="0"/>
          </a:p>
        </p:txBody>
      </p:sp>
      <p:sp>
        <p:nvSpPr>
          <p:cNvPr id="3" name="Content Placeholder 2"/>
          <p:cNvSpPr>
            <a:spLocks noGrp="1"/>
          </p:cNvSpPr>
          <p:nvPr>
            <p:ph idx="1"/>
          </p:nvPr>
        </p:nvSpPr>
        <p:spPr>
          <a:xfrm>
            <a:off x="457200" y="1219200"/>
            <a:ext cx="8229600" cy="5410200"/>
          </a:xfrm>
        </p:spPr>
        <p:txBody>
          <a:bodyPr>
            <a:normAutofit lnSpcReduction="10000"/>
          </a:bodyPr>
          <a:lstStyle/>
          <a:p>
            <a:pPr marL="0" indent="0">
              <a:buNone/>
            </a:pPr>
            <a:r>
              <a:rPr lang="en-US" dirty="0" smtClean="0"/>
              <a:t>1. prodromal phase</a:t>
            </a:r>
          </a:p>
          <a:p>
            <a:r>
              <a:rPr lang="en-US" dirty="0" smtClean="0"/>
              <a:t>Patient is withdrawn </a:t>
            </a:r>
          </a:p>
          <a:p>
            <a:r>
              <a:rPr lang="en-US" dirty="0" smtClean="0"/>
              <a:t>Like in other mental disorders like depression</a:t>
            </a:r>
          </a:p>
          <a:p>
            <a:pPr marL="514350" indent="-514350">
              <a:buAutoNum type="arabicPeriod" startAt="2"/>
            </a:pPr>
            <a:r>
              <a:rPr lang="en-US" dirty="0" smtClean="0"/>
              <a:t>Active phase</a:t>
            </a:r>
          </a:p>
          <a:p>
            <a:r>
              <a:rPr lang="en-US" dirty="0"/>
              <a:t> </a:t>
            </a:r>
            <a:r>
              <a:rPr lang="en-US" dirty="0" smtClean="0"/>
              <a:t>more severe symptoms </a:t>
            </a:r>
          </a:p>
          <a:p>
            <a:pPr marL="0" indent="0">
              <a:buNone/>
            </a:pPr>
            <a:r>
              <a:rPr lang="en-US" dirty="0" smtClean="0"/>
              <a:t>Delusions, illusions, disorganized behavior, catatonia </a:t>
            </a:r>
          </a:p>
          <a:p>
            <a:pPr marL="0" indent="0">
              <a:buNone/>
            </a:pPr>
            <a:r>
              <a:rPr lang="en-US" dirty="0" smtClean="0"/>
              <a:t>3. Residual phase </a:t>
            </a:r>
          </a:p>
          <a:p>
            <a:r>
              <a:rPr lang="en-US" dirty="0" smtClean="0"/>
              <a:t>Cognitive signs like not able to </a:t>
            </a:r>
            <a:r>
              <a:rPr lang="en-US" dirty="0" err="1" smtClean="0"/>
              <a:t>concetrate</a:t>
            </a:r>
            <a:r>
              <a:rPr lang="en-US" dirty="0" smtClean="0"/>
              <a:t> or withdrawal </a:t>
            </a:r>
            <a:endParaRPr lang="en-US" dirty="0"/>
          </a:p>
        </p:txBody>
      </p:sp>
    </p:spTree>
    <p:extLst>
      <p:ext uri="{BB962C8B-B14F-4D97-AF65-F5344CB8AC3E}">
        <p14:creationId xmlns:p14="http://schemas.microsoft.com/office/powerpoint/2010/main" val="24091253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8"/>
            <a:ext cx="8229600" cy="886691"/>
          </a:xfrm>
        </p:spPr>
        <p:txBody>
          <a:bodyPr/>
          <a:lstStyle/>
          <a:p>
            <a:r>
              <a:rPr lang="en-US" dirty="0" smtClean="0"/>
              <a:t>Schizophrenia- types </a:t>
            </a:r>
            <a:endParaRPr lang="en-US" dirty="0"/>
          </a:p>
        </p:txBody>
      </p:sp>
      <p:sp>
        <p:nvSpPr>
          <p:cNvPr id="3" name="Content Placeholder 2"/>
          <p:cNvSpPr>
            <a:spLocks noGrp="1"/>
          </p:cNvSpPr>
          <p:nvPr>
            <p:ph idx="1"/>
          </p:nvPr>
        </p:nvSpPr>
        <p:spPr>
          <a:xfrm>
            <a:off x="457200" y="914400"/>
            <a:ext cx="8229600" cy="5715000"/>
          </a:xfrm>
        </p:spPr>
        <p:txBody>
          <a:bodyPr>
            <a:normAutofit fontScale="77500" lnSpcReduction="20000"/>
          </a:bodyPr>
          <a:lstStyle/>
          <a:p>
            <a:pPr marL="0" indent="0">
              <a:buNone/>
            </a:pPr>
            <a:r>
              <a:rPr lang="en-US" b="1" dirty="0" smtClean="0"/>
              <a:t>1. Catatonic </a:t>
            </a:r>
            <a:r>
              <a:rPr lang="en-US" b="1" dirty="0"/>
              <a:t>schizophrenia </a:t>
            </a:r>
            <a:endParaRPr lang="en-US" dirty="0"/>
          </a:p>
          <a:p>
            <a:r>
              <a:rPr lang="en-US" dirty="0"/>
              <a:t>It is characterized by bizarre motor behavior where patient is either in a stupor or excitement state. </a:t>
            </a:r>
          </a:p>
          <a:p>
            <a:r>
              <a:rPr lang="en-US" b="1" dirty="0"/>
              <a:t>Stupor state- </a:t>
            </a:r>
            <a:r>
              <a:rPr lang="en-US" dirty="0"/>
              <a:t>may exhibit stiff muscle tone, muteness, </a:t>
            </a:r>
            <a:r>
              <a:rPr lang="en-US" dirty="0" err="1"/>
              <a:t>echopraxia</a:t>
            </a:r>
            <a:r>
              <a:rPr lang="en-US" dirty="0"/>
              <a:t>, childlike obedience to directions and disorganization of the personality, preoccupation with self, little interest and participation in the external environment and emotional impoverishment, with a characteristic avoidance of eye contact. </a:t>
            </a:r>
            <a:r>
              <a:rPr lang="en-US" dirty="0" smtClean="0"/>
              <a:t>The </a:t>
            </a:r>
            <a:r>
              <a:rPr lang="en-US" dirty="0"/>
              <a:t>patient need direct care and </a:t>
            </a:r>
            <a:r>
              <a:rPr lang="en-US" dirty="0" smtClean="0"/>
              <a:t>continuous </a:t>
            </a:r>
            <a:r>
              <a:rPr lang="en-US" dirty="0"/>
              <a:t>observation for assistance in the activities of daily living e.g. eating, toileting, grooming and hygiene.</a:t>
            </a:r>
          </a:p>
          <a:p>
            <a:r>
              <a:rPr lang="en-US" b="1" dirty="0"/>
              <a:t>Excitement state</a:t>
            </a:r>
            <a:r>
              <a:rPr lang="en-US" dirty="0"/>
              <a:t>- a patient can move from stupor to excitement. </a:t>
            </a:r>
          </a:p>
          <a:p>
            <a:r>
              <a:rPr lang="en-US" dirty="0"/>
              <a:t>It involves restlessness, bizarre and pressured speech, hallucinations, grimaces, feeling of anger, hostility and rage. May become self destructive or aggressive. Patient require a lot of assistance in self care.  </a:t>
            </a:r>
          </a:p>
          <a:p>
            <a:endParaRPr lang="en-US" dirty="0"/>
          </a:p>
        </p:txBody>
      </p:sp>
    </p:spTree>
    <p:extLst>
      <p:ext uri="{BB962C8B-B14F-4D97-AF65-F5344CB8AC3E}">
        <p14:creationId xmlns:p14="http://schemas.microsoft.com/office/powerpoint/2010/main" val="2248591604"/>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Schizophrenia- types </a:t>
            </a:r>
          </a:p>
        </p:txBody>
      </p:sp>
      <p:sp>
        <p:nvSpPr>
          <p:cNvPr id="3" name="Content Placeholder 2"/>
          <p:cNvSpPr>
            <a:spLocks noGrp="1"/>
          </p:cNvSpPr>
          <p:nvPr>
            <p:ph idx="1"/>
          </p:nvPr>
        </p:nvSpPr>
        <p:spPr>
          <a:xfrm>
            <a:off x="457200" y="914400"/>
            <a:ext cx="8229600" cy="5943600"/>
          </a:xfrm>
        </p:spPr>
        <p:txBody>
          <a:bodyPr>
            <a:normAutofit fontScale="92500" lnSpcReduction="20000"/>
          </a:bodyPr>
          <a:lstStyle/>
          <a:p>
            <a:r>
              <a:rPr lang="en-US" u="sng" dirty="0"/>
              <a:t>Symptoms of catatonic schizophrenia </a:t>
            </a:r>
            <a:endParaRPr lang="en-US" dirty="0"/>
          </a:p>
          <a:p>
            <a:pPr marL="0" indent="0">
              <a:buNone/>
            </a:pPr>
            <a:r>
              <a:rPr lang="en-US" dirty="0"/>
              <a:t>a)  </a:t>
            </a:r>
            <a:r>
              <a:rPr lang="en-US" b="1" dirty="0"/>
              <a:t>Catatonic stupor</a:t>
            </a:r>
            <a:r>
              <a:rPr lang="en-US" dirty="0"/>
              <a:t>- marked decrease in reactivity to the environment and reduction in spontaneous movements and activity i.e. Mutism </a:t>
            </a:r>
          </a:p>
          <a:p>
            <a:pPr marL="0" indent="0">
              <a:buNone/>
            </a:pPr>
            <a:r>
              <a:rPr lang="en-US" dirty="0"/>
              <a:t>b) </a:t>
            </a:r>
            <a:r>
              <a:rPr lang="en-US" b="1" dirty="0"/>
              <a:t>Catatonic negativism</a:t>
            </a:r>
            <a:r>
              <a:rPr lang="en-US" dirty="0"/>
              <a:t>- an apparently motiveless resistance to all instructions or attempts to be moved. </a:t>
            </a:r>
          </a:p>
          <a:p>
            <a:pPr marL="0" indent="0">
              <a:buNone/>
            </a:pPr>
            <a:r>
              <a:rPr lang="en-US" dirty="0"/>
              <a:t>c) </a:t>
            </a:r>
            <a:r>
              <a:rPr lang="en-US" b="1" dirty="0"/>
              <a:t>Catatonic rigidity</a:t>
            </a:r>
            <a:r>
              <a:rPr lang="en-US" dirty="0"/>
              <a:t>- maintenance of a rigid posture against effort to be moved. </a:t>
            </a:r>
          </a:p>
          <a:p>
            <a:pPr marL="0" indent="0">
              <a:buNone/>
            </a:pPr>
            <a:r>
              <a:rPr lang="en-US" dirty="0"/>
              <a:t>d) </a:t>
            </a:r>
            <a:r>
              <a:rPr lang="en-US" b="1" dirty="0"/>
              <a:t>Catatonic excitement</a:t>
            </a:r>
            <a:r>
              <a:rPr lang="en-US" dirty="0"/>
              <a:t>- excited motor activity, apparently purposeless and not influenced by external stimuli</a:t>
            </a:r>
          </a:p>
          <a:p>
            <a:pPr marL="0" indent="0">
              <a:buNone/>
            </a:pPr>
            <a:r>
              <a:rPr lang="en-US" dirty="0"/>
              <a:t>e)  </a:t>
            </a:r>
            <a:r>
              <a:rPr lang="en-US" b="1" dirty="0"/>
              <a:t>Catatonic posturing</a:t>
            </a:r>
            <a:r>
              <a:rPr lang="en-US" dirty="0"/>
              <a:t>- voluntary assumption of inappropriate or bizarre posture. </a:t>
            </a:r>
          </a:p>
          <a:p>
            <a:endParaRPr lang="en-US" dirty="0"/>
          </a:p>
        </p:txBody>
      </p:sp>
    </p:spTree>
    <p:extLst>
      <p:ext uri="{BB962C8B-B14F-4D97-AF65-F5344CB8AC3E}">
        <p14:creationId xmlns:p14="http://schemas.microsoft.com/office/powerpoint/2010/main" val="18872700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Schizophrenia types </a:t>
            </a:r>
            <a:endParaRPr lang="en-US" dirty="0"/>
          </a:p>
        </p:txBody>
      </p:sp>
      <p:sp>
        <p:nvSpPr>
          <p:cNvPr id="3" name="Content Placeholder 2"/>
          <p:cNvSpPr>
            <a:spLocks noGrp="1"/>
          </p:cNvSpPr>
          <p:nvPr>
            <p:ph idx="1"/>
          </p:nvPr>
        </p:nvSpPr>
        <p:spPr>
          <a:xfrm>
            <a:off x="533400" y="990600"/>
            <a:ext cx="8229600" cy="5562600"/>
          </a:xfrm>
        </p:spPr>
        <p:txBody>
          <a:bodyPr>
            <a:normAutofit fontScale="85000" lnSpcReduction="20000"/>
          </a:bodyPr>
          <a:lstStyle/>
          <a:p>
            <a:pPr marL="0" indent="0">
              <a:buNone/>
            </a:pPr>
            <a:r>
              <a:rPr lang="en-US" b="1" dirty="0" smtClean="0"/>
              <a:t>2. Disorganized</a:t>
            </a:r>
            <a:r>
              <a:rPr lang="en-US" b="1" dirty="0"/>
              <a:t>/ hebephrenic </a:t>
            </a:r>
            <a:r>
              <a:rPr lang="en-US" b="1" dirty="0" smtClean="0"/>
              <a:t>schizophrenia</a:t>
            </a:r>
          </a:p>
          <a:p>
            <a:r>
              <a:rPr lang="en-US" dirty="0" smtClean="0"/>
              <a:t>Begins </a:t>
            </a:r>
            <a:r>
              <a:rPr lang="en-US" dirty="0"/>
              <a:t>in adolescence before 20 years of age</a:t>
            </a:r>
            <a:r>
              <a:rPr lang="en-US" dirty="0" smtClean="0"/>
              <a:t>.</a:t>
            </a:r>
          </a:p>
          <a:p>
            <a:r>
              <a:rPr lang="en-US" dirty="0" smtClean="0"/>
              <a:t> </a:t>
            </a:r>
            <a:r>
              <a:rPr lang="en-US" dirty="0"/>
              <a:t>The person regresses to a very primitive behavior, has minimal ability to execute activities of daily living, has no inhibition and has disorganized behavior. </a:t>
            </a:r>
            <a:endParaRPr lang="en-US" dirty="0" smtClean="0"/>
          </a:p>
          <a:p>
            <a:r>
              <a:rPr lang="en-US" dirty="0" smtClean="0"/>
              <a:t>The </a:t>
            </a:r>
            <a:r>
              <a:rPr lang="en-US" dirty="0"/>
              <a:t>patient is </a:t>
            </a:r>
            <a:r>
              <a:rPr lang="en-US" dirty="0" smtClean="0"/>
              <a:t>withdrawn </a:t>
            </a:r>
            <a:r>
              <a:rPr lang="en-US" dirty="0"/>
              <a:t>with sloppy eating habits, may use neologism (own made words) and experience hallucinations. </a:t>
            </a:r>
            <a:endParaRPr lang="en-US" dirty="0" smtClean="0"/>
          </a:p>
          <a:p>
            <a:r>
              <a:rPr lang="en-US" dirty="0" smtClean="0"/>
              <a:t>Patient </a:t>
            </a:r>
            <a:r>
              <a:rPr lang="en-US" dirty="0"/>
              <a:t>may giggle or be silly inappropriately. Instead of having delusions, the patients tend to be disorganized and fragmented in their thinking. </a:t>
            </a:r>
          </a:p>
          <a:p>
            <a:r>
              <a:rPr lang="en-US" b="1" dirty="0"/>
              <a:t>Features</a:t>
            </a:r>
            <a:r>
              <a:rPr lang="en-US" dirty="0"/>
              <a:t>: incoherence of speech, marked loosening of association, grossly disorganized behavior, flat or grossly inappropriate affect and poor grooming </a:t>
            </a:r>
          </a:p>
        </p:txBody>
      </p:sp>
    </p:spTree>
    <p:extLst>
      <p:ext uri="{BB962C8B-B14F-4D97-AF65-F5344CB8AC3E}">
        <p14:creationId xmlns:p14="http://schemas.microsoft.com/office/powerpoint/2010/main" val="229074737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Schizophrenia-types </a:t>
            </a:r>
            <a:endParaRPr lang="en-US" dirty="0"/>
          </a:p>
        </p:txBody>
      </p:sp>
      <p:sp>
        <p:nvSpPr>
          <p:cNvPr id="3" name="Content Placeholder 2"/>
          <p:cNvSpPr>
            <a:spLocks noGrp="1"/>
          </p:cNvSpPr>
          <p:nvPr>
            <p:ph idx="1"/>
          </p:nvPr>
        </p:nvSpPr>
        <p:spPr>
          <a:xfrm>
            <a:off x="457200" y="990600"/>
            <a:ext cx="8229600" cy="5638800"/>
          </a:xfrm>
        </p:spPr>
        <p:txBody>
          <a:bodyPr>
            <a:normAutofit fontScale="92500" lnSpcReduction="20000"/>
          </a:bodyPr>
          <a:lstStyle/>
          <a:p>
            <a:pPr marL="457200" lvl="1" indent="0">
              <a:buNone/>
            </a:pPr>
            <a:r>
              <a:rPr lang="en-US" b="1" dirty="0" smtClean="0"/>
              <a:t>3. Paranoid </a:t>
            </a:r>
            <a:r>
              <a:rPr lang="en-US" b="1" dirty="0"/>
              <a:t>schizophrenia/ intellectual schizophrenia</a:t>
            </a:r>
            <a:endParaRPr lang="en-US" dirty="0"/>
          </a:p>
          <a:p>
            <a:r>
              <a:rPr lang="en-US" dirty="0"/>
              <a:t>Preoccupied with one or more systematized delusions or frequent auditory hallucinations related to a single theme</a:t>
            </a:r>
          </a:p>
          <a:p>
            <a:r>
              <a:rPr lang="en-US" dirty="0"/>
              <a:t>The patient has unfocussed anxiety, anger, argumentative and violent. Onset is later in life and may be more stable with time. Prognosis is better than other types. </a:t>
            </a:r>
          </a:p>
          <a:p>
            <a:r>
              <a:rPr lang="en-US" u="sng" dirty="0"/>
              <a:t>Symptoms</a:t>
            </a:r>
            <a:endParaRPr lang="en-US" dirty="0"/>
          </a:p>
          <a:p>
            <a:r>
              <a:rPr lang="en-US" dirty="0"/>
              <a:t>Coherent speech, no looseness of associations, has appropriate affect, no catatonic behavior.</a:t>
            </a:r>
          </a:p>
          <a:p>
            <a:r>
              <a:rPr lang="en-US" dirty="0"/>
              <a:t>Patient is typically tense, suspicious, guarded, reserved and aggressive. </a:t>
            </a:r>
          </a:p>
          <a:p>
            <a:endParaRPr lang="en-US" dirty="0"/>
          </a:p>
        </p:txBody>
      </p:sp>
    </p:spTree>
    <p:extLst>
      <p:ext uri="{BB962C8B-B14F-4D97-AF65-F5344CB8AC3E}">
        <p14:creationId xmlns:p14="http://schemas.microsoft.com/office/powerpoint/2010/main" val="26589280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Schizophrenia types </a:t>
            </a:r>
            <a:endParaRPr lang="en-US" dirty="0"/>
          </a:p>
        </p:txBody>
      </p:sp>
      <p:sp>
        <p:nvSpPr>
          <p:cNvPr id="3" name="Content Placeholder 2"/>
          <p:cNvSpPr>
            <a:spLocks noGrp="1"/>
          </p:cNvSpPr>
          <p:nvPr>
            <p:ph idx="1"/>
          </p:nvPr>
        </p:nvSpPr>
        <p:spPr>
          <a:xfrm>
            <a:off x="457200" y="914400"/>
            <a:ext cx="8229600" cy="5638800"/>
          </a:xfrm>
        </p:spPr>
        <p:txBody>
          <a:bodyPr>
            <a:normAutofit fontScale="92500" lnSpcReduction="20000"/>
          </a:bodyPr>
          <a:lstStyle/>
          <a:p>
            <a:pPr lvl="1"/>
            <a:r>
              <a:rPr lang="en-US" b="1" dirty="0"/>
              <a:t>Simple schizophrenia</a:t>
            </a:r>
            <a:endParaRPr lang="en-US" dirty="0"/>
          </a:p>
          <a:p>
            <a:r>
              <a:rPr lang="en-US" dirty="0"/>
              <a:t>Progressive deterioration and increasing eccentricity, Develop in the absent of overt psychotic symptoms. </a:t>
            </a:r>
          </a:p>
          <a:p>
            <a:pPr lvl="1"/>
            <a:r>
              <a:rPr lang="en-US" b="1" dirty="0"/>
              <a:t>Residual schizophrenia</a:t>
            </a:r>
            <a:endParaRPr lang="en-US" dirty="0"/>
          </a:p>
          <a:p>
            <a:r>
              <a:rPr lang="en-US" dirty="0"/>
              <a:t>There is inappropriate or flat affect behavior and illogical or magical thinking may persist. The original psychotic symptoms have died away, leaving only apathy and emotional blunting</a:t>
            </a:r>
          </a:p>
          <a:p>
            <a:pPr lvl="1"/>
            <a:r>
              <a:rPr lang="en-US" b="1" dirty="0"/>
              <a:t>Undifferentiated schizophrenia</a:t>
            </a:r>
            <a:endParaRPr lang="en-US" dirty="0"/>
          </a:p>
          <a:p>
            <a:r>
              <a:rPr lang="en-US" dirty="0"/>
              <a:t>Characterized by delusion, hallucinations, incoherence and grossly disorganized behavior that can be classified in other schizophrenic types. </a:t>
            </a:r>
          </a:p>
        </p:txBody>
      </p:sp>
    </p:spTree>
    <p:extLst>
      <p:ext uri="{BB962C8B-B14F-4D97-AF65-F5344CB8AC3E}">
        <p14:creationId xmlns:p14="http://schemas.microsoft.com/office/powerpoint/2010/main" val="29692932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a:t>
            </a:r>
            <a:endParaRPr lang="en-US" dirty="0"/>
          </a:p>
        </p:txBody>
      </p:sp>
      <p:sp>
        <p:nvSpPr>
          <p:cNvPr id="3" name="Content Placeholder 2"/>
          <p:cNvSpPr>
            <a:spLocks noGrp="1"/>
          </p:cNvSpPr>
          <p:nvPr>
            <p:ph idx="1"/>
          </p:nvPr>
        </p:nvSpPr>
        <p:spPr/>
        <p:txBody>
          <a:bodyPr/>
          <a:lstStyle/>
          <a:p>
            <a:r>
              <a:rPr lang="en-US" dirty="0" smtClean="0"/>
              <a:t> Unknown etiology</a:t>
            </a:r>
          </a:p>
          <a:p>
            <a:r>
              <a:rPr lang="en-US" dirty="0" smtClean="0"/>
              <a:t>Genetics </a:t>
            </a:r>
          </a:p>
          <a:p>
            <a:r>
              <a:rPr lang="en-US" dirty="0" smtClean="0"/>
              <a:t>Neural transmitter </a:t>
            </a:r>
          </a:p>
          <a:p>
            <a:r>
              <a:rPr lang="en-US" dirty="0" smtClean="0"/>
              <a:t>Birth complications </a:t>
            </a:r>
          </a:p>
          <a:p>
            <a:r>
              <a:rPr lang="en-US" dirty="0" smtClean="0"/>
              <a:t>Triggered by stress </a:t>
            </a:r>
          </a:p>
          <a:p>
            <a:r>
              <a:rPr lang="en-US" dirty="0" smtClean="0"/>
              <a:t>Drug /substance abuse</a:t>
            </a:r>
            <a:endParaRPr lang="en-US" dirty="0"/>
          </a:p>
        </p:txBody>
      </p:sp>
    </p:spTree>
    <p:extLst>
      <p:ext uri="{BB962C8B-B14F-4D97-AF65-F5344CB8AC3E}">
        <p14:creationId xmlns:p14="http://schemas.microsoft.com/office/powerpoint/2010/main" val="211107469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err="1" smtClean="0"/>
              <a:t>Dx</a:t>
            </a:r>
            <a:r>
              <a:rPr lang="en-US" dirty="0" smtClean="0"/>
              <a:t>-DSM V </a:t>
            </a:r>
            <a:endParaRPr lang="en-US" dirty="0"/>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r>
              <a:rPr lang="en-US" dirty="0" smtClean="0"/>
              <a:t>2 of following symptoms </a:t>
            </a:r>
          </a:p>
          <a:p>
            <a:pPr lvl="1"/>
            <a:r>
              <a:rPr lang="en-US" dirty="0" smtClean="0"/>
              <a:t>Delusions </a:t>
            </a:r>
          </a:p>
          <a:p>
            <a:pPr lvl="1"/>
            <a:r>
              <a:rPr lang="en-US" dirty="0" smtClean="0"/>
              <a:t>Hallucinations</a:t>
            </a:r>
          </a:p>
          <a:p>
            <a:pPr lvl="1"/>
            <a:r>
              <a:rPr lang="en-US" dirty="0" smtClean="0"/>
              <a:t>Disorganized speech </a:t>
            </a:r>
          </a:p>
          <a:p>
            <a:pPr lvl="1"/>
            <a:r>
              <a:rPr lang="en-US" dirty="0" smtClean="0"/>
              <a:t>Disorganized/catatonic </a:t>
            </a:r>
            <a:r>
              <a:rPr lang="en-US" dirty="0" err="1" smtClean="0"/>
              <a:t>behaviour</a:t>
            </a:r>
            <a:r>
              <a:rPr lang="en-US" dirty="0" smtClean="0"/>
              <a:t> </a:t>
            </a:r>
          </a:p>
          <a:p>
            <a:pPr lvl="1"/>
            <a:r>
              <a:rPr lang="en-US" dirty="0" smtClean="0"/>
              <a:t>Negative symptoms </a:t>
            </a:r>
          </a:p>
          <a:p>
            <a:pPr lvl="1">
              <a:buFont typeface="Wingdings" panose="05000000000000000000" pitchFamily="2" charset="2"/>
              <a:buChar char="q"/>
            </a:pPr>
            <a:r>
              <a:rPr lang="en-US" dirty="0" smtClean="0"/>
              <a:t>At least 1 of symptoms being </a:t>
            </a:r>
          </a:p>
          <a:p>
            <a:pPr marL="457200" lvl="1" indent="0">
              <a:buNone/>
            </a:pPr>
            <a:r>
              <a:rPr lang="en-US" dirty="0" smtClean="0"/>
              <a:t>Delusions, Hallucinations, Disorganized </a:t>
            </a:r>
            <a:r>
              <a:rPr lang="en-US" dirty="0"/>
              <a:t>speech </a:t>
            </a:r>
            <a:endParaRPr lang="en-US" dirty="0" smtClean="0"/>
          </a:p>
          <a:p>
            <a:pPr marL="457200" lvl="1" indent="0">
              <a:buNone/>
            </a:pPr>
            <a:r>
              <a:rPr lang="en-US" dirty="0" smtClean="0"/>
              <a:t>Should be ongoing for 6 months , 1month of active phase </a:t>
            </a:r>
          </a:p>
          <a:p>
            <a:pPr lvl="1">
              <a:buFont typeface="Wingdings" panose="05000000000000000000" pitchFamily="2" charset="2"/>
              <a:buChar char="q"/>
            </a:pPr>
            <a:r>
              <a:rPr lang="en-US" dirty="0" smtClean="0"/>
              <a:t>Not associated with other conditions e.g. substance abuse </a:t>
            </a:r>
            <a:endParaRPr lang="en-US" dirty="0"/>
          </a:p>
          <a:p>
            <a:pPr marL="457200" lvl="1" indent="0">
              <a:buNone/>
            </a:pPr>
            <a:endParaRPr lang="en-US" dirty="0" smtClean="0"/>
          </a:p>
        </p:txBody>
      </p:sp>
    </p:spTree>
    <p:extLst>
      <p:ext uri="{BB962C8B-B14F-4D97-AF65-F5344CB8AC3E}">
        <p14:creationId xmlns:p14="http://schemas.microsoft.com/office/powerpoint/2010/main" val="115500333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Nrsg</a:t>
            </a:r>
            <a:r>
              <a:rPr lang="en-US" dirty="0" smtClean="0"/>
              <a:t> -</a:t>
            </a:r>
            <a:r>
              <a:rPr lang="en-US" dirty="0" err="1" smtClean="0"/>
              <a:t>Mx</a:t>
            </a:r>
            <a:endParaRPr lang="en-US" dirty="0"/>
          </a:p>
        </p:txBody>
      </p:sp>
      <p:sp>
        <p:nvSpPr>
          <p:cNvPr id="3" name="Content Placeholder 2"/>
          <p:cNvSpPr>
            <a:spLocks noGrp="1"/>
          </p:cNvSpPr>
          <p:nvPr>
            <p:ph idx="1"/>
          </p:nvPr>
        </p:nvSpPr>
        <p:spPr>
          <a:xfrm>
            <a:off x="457200" y="1066800"/>
            <a:ext cx="8229600" cy="5257800"/>
          </a:xfrm>
        </p:spPr>
        <p:txBody>
          <a:bodyPr>
            <a:normAutofit/>
          </a:bodyPr>
          <a:lstStyle/>
          <a:p>
            <a:r>
              <a:rPr lang="en-US" b="1" dirty="0"/>
              <a:t>Nursing diagnosis related to schizophrenia</a:t>
            </a:r>
            <a:endParaRPr lang="en-US" dirty="0"/>
          </a:p>
          <a:p>
            <a:r>
              <a:rPr lang="en-US" dirty="0"/>
              <a:t>Anxiety</a:t>
            </a:r>
          </a:p>
          <a:p>
            <a:r>
              <a:rPr lang="en-US" dirty="0"/>
              <a:t>Altered thought process</a:t>
            </a:r>
          </a:p>
          <a:p>
            <a:r>
              <a:rPr lang="en-US" dirty="0"/>
              <a:t>Self esteem disturbance</a:t>
            </a:r>
          </a:p>
          <a:p>
            <a:r>
              <a:rPr lang="en-US" dirty="0"/>
              <a:t>Sensory perceptual alteration: visual, auditory, gustatory, tactile and olfactory. </a:t>
            </a:r>
          </a:p>
          <a:p>
            <a:r>
              <a:rPr lang="en-US" dirty="0"/>
              <a:t>Impaired verbal communication </a:t>
            </a:r>
          </a:p>
          <a:p>
            <a:r>
              <a:rPr lang="en-US" dirty="0"/>
              <a:t>Ineffective individual coping</a:t>
            </a:r>
          </a:p>
          <a:p>
            <a:pPr marL="0" indent="0">
              <a:buNone/>
            </a:pPr>
            <a:endParaRPr lang="en-US" dirty="0"/>
          </a:p>
        </p:txBody>
      </p:sp>
    </p:spTree>
    <p:extLst>
      <p:ext uri="{BB962C8B-B14F-4D97-AF65-F5344CB8AC3E}">
        <p14:creationId xmlns:p14="http://schemas.microsoft.com/office/powerpoint/2010/main" val="25885669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a:t>
            </a:r>
            <a:endParaRPr lang="en-US" dirty="0"/>
          </a:p>
        </p:txBody>
      </p:sp>
      <p:sp>
        <p:nvSpPr>
          <p:cNvPr id="3" name="Content Placeholder 2"/>
          <p:cNvSpPr>
            <a:spLocks noGrp="1"/>
          </p:cNvSpPr>
          <p:nvPr>
            <p:ph idx="1"/>
          </p:nvPr>
        </p:nvSpPr>
        <p:spPr/>
        <p:txBody>
          <a:bodyPr/>
          <a:lstStyle/>
          <a:p>
            <a:endParaRPr lang="en-US" b="1" dirty="0" smtClean="0"/>
          </a:p>
          <a:p>
            <a:pPr marL="0" indent="0">
              <a:buNone/>
            </a:pPr>
            <a:r>
              <a:rPr lang="en-US" b="1" dirty="0" err="1" smtClean="0"/>
              <a:t>Mx</a:t>
            </a:r>
            <a:r>
              <a:rPr lang="en-US" b="1" dirty="0" smtClean="0"/>
              <a:t> and therapies </a:t>
            </a:r>
            <a:endParaRPr lang="en-US" b="1" dirty="0"/>
          </a:p>
          <a:p>
            <a:r>
              <a:rPr lang="en-US" b="1" dirty="0" smtClean="0"/>
              <a:t>Antipsychotics</a:t>
            </a:r>
            <a:endParaRPr lang="en-US" b="1" dirty="0"/>
          </a:p>
          <a:p>
            <a:r>
              <a:rPr lang="en-US" b="1" dirty="0"/>
              <a:t>Psychosocial </a:t>
            </a:r>
            <a:r>
              <a:rPr lang="en-US" b="1" dirty="0" smtClean="0"/>
              <a:t>Treatments</a:t>
            </a:r>
          </a:p>
          <a:p>
            <a:r>
              <a:rPr lang="en-US" b="1" dirty="0"/>
              <a:t>ECT for catatonic stupor </a:t>
            </a:r>
          </a:p>
          <a:p>
            <a:endParaRPr lang="en-US" b="1" dirty="0"/>
          </a:p>
          <a:p>
            <a:endParaRPr lang="en-US" dirty="0"/>
          </a:p>
        </p:txBody>
      </p:sp>
    </p:spTree>
    <p:extLst>
      <p:ext uri="{BB962C8B-B14F-4D97-AF65-F5344CB8AC3E}">
        <p14:creationId xmlns:p14="http://schemas.microsoft.com/office/powerpoint/2010/main" val="19726080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Personality disorders </a:t>
            </a:r>
            <a:endParaRPr lang="en-US" dirty="0"/>
          </a:p>
        </p:txBody>
      </p:sp>
      <p:sp>
        <p:nvSpPr>
          <p:cNvPr id="3" name="Content Placeholder 2"/>
          <p:cNvSpPr>
            <a:spLocks noGrp="1"/>
          </p:cNvSpPr>
          <p:nvPr>
            <p:ph idx="1"/>
          </p:nvPr>
        </p:nvSpPr>
        <p:spPr>
          <a:xfrm>
            <a:off x="457200" y="1219200"/>
            <a:ext cx="8229600" cy="5257800"/>
          </a:xfrm>
        </p:spPr>
        <p:txBody>
          <a:bodyPr/>
          <a:lstStyle/>
          <a:p>
            <a:endParaRPr lang="en-US" dirty="0"/>
          </a:p>
          <a:p>
            <a:r>
              <a:rPr lang="en-US" dirty="0"/>
              <a:t> Personality disorders are ways in which personality persistently causes problems for oneself or others. </a:t>
            </a:r>
          </a:p>
          <a:p>
            <a:r>
              <a:rPr lang="en-US" dirty="0"/>
              <a:t>Personality disorders are characterized by chronic patterns of inner experience and behaviors that are inflexible. </a:t>
            </a:r>
          </a:p>
          <a:p>
            <a:r>
              <a:rPr lang="en-US" dirty="0"/>
              <a:t>The person has no insight to the problem </a:t>
            </a:r>
          </a:p>
        </p:txBody>
      </p:sp>
    </p:spTree>
    <p:extLst>
      <p:ext uri="{BB962C8B-B14F-4D97-AF65-F5344CB8AC3E}">
        <p14:creationId xmlns:p14="http://schemas.microsoft.com/office/powerpoint/2010/main" val="353553376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Personality disorders </a:t>
            </a:r>
          </a:p>
        </p:txBody>
      </p:sp>
      <p:sp>
        <p:nvSpPr>
          <p:cNvPr id="3" name="Content Placeholder 2"/>
          <p:cNvSpPr>
            <a:spLocks noGrp="1"/>
          </p:cNvSpPr>
          <p:nvPr>
            <p:ph idx="1"/>
          </p:nvPr>
        </p:nvSpPr>
        <p:spPr/>
        <p:txBody>
          <a:bodyPr>
            <a:normAutofit/>
          </a:bodyPr>
          <a:lstStyle/>
          <a:p>
            <a:r>
              <a:rPr lang="en-GB" dirty="0"/>
              <a:t>According to DSM </a:t>
            </a:r>
            <a:r>
              <a:rPr lang="en-GB" dirty="0" smtClean="0"/>
              <a:t>V </a:t>
            </a:r>
            <a:r>
              <a:rPr lang="en-GB" dirty="0"/>
              <a:t>they are classified as:</a:t>
            </a:r>
          </a:p>
          <a:p>
            <a:pPr lvl="1"/>
            <a:r>
              <a:rPr lang="en-GB" dirty="0"/>
              <a:t>Cluster A: </a:t>
            </a:r>
            <a:r>
              <a:rPr lang="en-GB" dirty="0" smtClean="0"/>
              <a:t>Behaviours </a:t>
            </a:r>
            <a:r>
              <a:rPr lang="en-GB" dirty="0"/>
              <a:t>described as </a:t>
            </a:r>
            <a:r>
              <a:rPr lang="en-GB" b="1" dirty="0"/>
              <a:t>odd or eccentric</a:t>
            </a:r>
          </a:p>
          <a:p>
            <a:pPr lvl="2"/>
            <a:r>
              <a:rPr lang="en-GB" dirty="0"/>
              <a:t> Paranoid personality disorder</a:t>
            </a:r>
          </a:p>
          <a:p>
            <a:pPr lvl="2"/>
            <a:r>
              <a:rPr lang="en-GB" dirty="0"/>
              <a:t>Schizoid personality disorder</a:t>
            </a:r>
          </a:p>
          <a:p>
            <a:pPr lvl="2"/>
            <a:r>
              <a:rPr lang="en-GB" dirty="0"/>
              <a:t> Schizotypal personality disorder</a:t>
            </a:r>
          </a:p>
          <a:p>
            <a:pPr marL="457200" lvl="1" indent="0">
              <a:buNone/>
            </a:pPr>
            <a:endParaRPr lang="en-US" dirty="0"/>
          </a:p>
        </p:txBody>
      </p:sp>
    </p:spTree>
    <p:extLst>
      <p:ext uri="{BB962C8B-B14F-4D97-AF65-F5344CB8AC3E}">
        <p14:creationId xmlns:p14="http://schemas.microsoft.com/office/powerpoint/2010/main" val="19295395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Personality disorders </a:t>
            </a:r>
          </a:p>
        </p:txBody>
      </p:sp>
      <p:sp>
        <p:nvSpPr>
          <p:cNvPr id="3" name="Content Placeholder 2"/>
          <p:cNvSpPr>
            <a:spLocks noGrp="1"/>
          </p:cNvSpPr>
          <p:nvPr>
            <p:ph idx="1"/>
          </p:nvPr>
        </p:nvSpPr>
        <p:spPr/>
        <p:txBody>
          <a:bodyPr/>
          <a:lstStyle/>
          <a:p>
            <a:pPr lvl="1"/>
            <a:r>
              <a:rPr lang="en-GB" dirty="0"/>
              <a:t>Cluster B: </a:t>
            </a:r>
            <a:r>
              <a:rPr lang="en-GB" dirty="0" smtClean="0"/>
              <a:t>Behaviours </a:t>
            </a:r>
            <a:r>
              <a:rPr lang="en-GB" dirty="0"/>
              <a:t>described as </a:t>
            </a:r>
            <a:r>
              <a:rPr lang="en-GB" b="1" dirty="0"/>
              <a:t>dramatic, emotional, or </a:t>
            </a:r>
            <a:r>
              <a:rPr lang="en-GB" b="1" dirty="0" smtClean="0"/>
              <a:t>erratic (unpredictable)</a:t>
            </a:r>
            <a:endParaRPr lang="en-GB" b="1" dirty="0"/>
          </a:p>
          <a:p>
            <a:pPr lvl="2"/>
            <a:r>
              <a:rPr lang="en-GB" dirty="0"/>
              <a:t>Antisocial personality disorder</a:t>
            </a:r>
          </a:p>
          <a:p>
            <a:pPr lvl="2"/>
            <a:r>
              <a:rPr lang="en-GB" dirty="0"/>
              <a:t>Borderline personality disorder</a:t>
            </a:r>
          </a:p>
          <a:p>
            <a:pPr lvl="2"/>
            <a:r>
              <a:rPr lang="en-GB" dirty="0"/>
              <a:t>Histrionic personality disorder</a:t>
            </a:r>
          </a:p>
          <a:p>
            <a:pPr lvl="2"/>
            <a:r>
              <a:rPr lang="en-GB" dirty="0"/>
              <a:t>Narcissistic personality disorder</a:t>
            </a:r>
          </a:p>
          <a:p>
            <a:endParaRPr lang="en-US" dirty="0"/>
          </a:p>
        </p:txBody>
      </p:sp>
    </p:spTree>
    <p:extLst>
      <p:ext uri="{BB962C8B-B14F-4D97-AF65-F5344CB8AC3E}">
        <p14:creationId xmlns:p14="http://schemas.microsoft.com/office/powerpoint/2010/main" val="11914454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Personality disorders</a:t>
            </a:r>
            <a:endParaRPr lang="en-US" dirty="0"/>
          </a:p>
        </p:txBody>
      </p:sp>
      <p:sp>
        <p:nvSpPr>
          <p:cNvPr id="3" name="Content Placeholder 2"/>
          <p:cNvSpPr>
            <a:spLocks noGrp="1"/>
          </p:cNvSpPr>
          <p:nvPr>
            <p:ph idx="1"/>
          </p:nvPr>
        </p:nvSpPr>
        <p:spPr>
          <a:xfrm>
            <a:off x="457200" y="1600200"/>
            <a:ext cx="8229600" cy="4525963"/>
          </a:xfrm>
        </p:spPr>
        <p:txBody>
          <a:bodyPr/>
          <a:lstStyle/>
          <a:p>
            <a:pPr lvl="1"/>
            <a:r>
              <a:rPr lang="en-GB" dirty="0"/>
              <a:t>Cluster C: </a:t>
            </a:r>
            <a:r>
              <a:rPr lang="en-GB" dirty="0" smtClean="0"/>
              <a:t>Behaviours </a:t>
            </a:r>
            <a:r>
              <a:rPr lang="en-GB" dirty="0"/>
              <a:t>described as anxious or fearful</a:t>
            </a:r>
          </a:p>
          <a:p>
            <a:pPr lvl="2"/>
            <a:r>
              <a:rPr lang="en-GB" dirty="0"/>
              <a:t> Avoidant personality disorder</a:t>
            </a:r>
          </a:p>
          <a:p>
            <a:pPr lvl="2"/>
            <a:r>
              <a:rPr lang="en-GB" dirty="0"/>
              <a:t>Dependent personality disorder</a:t>
            </a:r>
          </a:p>
          <a:p>
            <a:pPr lvl="2"/>
            <a:r>
              <a:rPr lang="en-GB" dirty="0"/>
              <a:t>Obsessive-compulsive personality disorder</a:t>
            </a:r>
          </a:p>
          <a:p>
            <a:endParaRPr lang="en-GB" dirty="0"/>
          </a:p>
          <a:p>
            <a:endParaRPr lang="en-US" dirty="0"/>
          </a:p>
        </p:txBody>
      </p:sp>
    </p:spTree>
    <p:extLst>
      <p:ext uri="{BB962C8B-B14F-4D97-AF65-F5344CB8AC3E}">
        <p14:creationId xmlns:p14="http://schemas.microsoft.com/office/powerpoint/2010/main" val="136094144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25562"/>
          </a:xfrm>
        </p:spPr>
        <p:txBody>
          <a:bodyPr>
            <a:normAutofit fontScale="90000"/>
          </a:bodyPr>
          <a:lstStyle/>
          <a:p>
            <a:r>
              <a:rPr lang="en-US" dirty="0"/>
              <a:t/>
            </a:r>
            <a:br>
              <a:rPr lang="en-US" dirty="0"/>
            </a:br>
            <a:r>
              <a:rPr lang="en-US" dirty="0"/>
              <a:t> </a:t>
            </a:r>
            <a:r>
              <a:rPr lang="en-US" b="1" dirty="0"/>
              <a:t>Cluster A - Odd, Eccentric Group (Psychotics) </a:t>
            </a:r>
            <a:endParaRPr lang="en-US" dirty="0"/>
          </a:p>
        </p:txBody>
      </p:sp>
      <p:sp>
        <p:nvSpPr>
          <p:cNvPr id="3" name="Content Placeholder 2"/>
          <p:cNvSpPr>
            <a:spLocks noGrp="1"/>
          </p:cNvSpPr>
          <p:nvPr>
            <p:ph idx="1"/>
          </p:nvPr>
        </p:nvSpPr>
        <p:spPr>
          <a:xfrm>
            <a:off x="457200" y="1676400"/>
            <a:ext cx="8229600" cy="4800600"/>
          </a:xfrm>
        </p:spPr>
        <p:txBody>
          <a:bodyPr>
            <a:normAutofit lnSpcReduction="10000"/>
          </a:bodyPr>
          <a:lstStyle/>
          <a:p>
            <a:pPr marL="0" indent="0">
              <a:buNone/>
            </a:pPr>
            <a:endParaRPr lang="en-US" dirty="0"/>
          </a:p>
          <a:p>
            <a:r>
              <a:rPr lang="en-US" dirty="0"/>
              <a:t> Persons in this cluster are uncomfortable in interpersonal situations, emotionally distant, difficult to engage, and social withdrawal </a:t>
            </a:r>
          </a:p>
          <a:p>
            <a:r>
              <a:rPr lang="en-US" dirty="0"/>
              <a:t>Collectively, this cluster often is referred to as the "</a:t>
            </a:r>
            <a:r>
              <a:rPr lang="en-US" b="1" dirty="0"/>
              <a:t>schizophrenic spectrum cluster</a:t>
            </a:r>
            <a:r>
              <a:rPr lang="en-US" dirty="0"/>
              <a:t>" because of similarities to patients with schizophrenia in terms of </a:t>
            </a:r>
            <a:r>
              <a:rPr lang="en-US" b="1" dirty="0"/>
              <a:t>clinical presentation, management strategies, and response to pharmacotherapy. </a:t>
            </a:r>
            <a:endParaRPr lang="en-US" dirty="0"/>
          </a:p>
        </p:txBody>
      </p:sp>
    </p:spTree>
    <p:extLst>
      <p:ext uri="{BB962C8B-B14F-4D97-AF65-F5344CB8AC3E}">
        <p14:creationId xmlns:p14="http://schemas.microsoft.com/office/powerpoint/2010/main" val="5953210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Paranoid Personality Disorder </a:t>
            </a:r>
            <a:endParaRPr lang="en-US" dirty="0"/>
          </a:p>
        </p:txBody>
      </p:sp>
      <p:sp>
        <p:nvSpPr>
          <p:cNvPr id="3" name="Content Placeholder 2"/>
          <p:cNvSpPr>
            <a:spLocks noGrp="1"/>
          </p:cNvSpPr>
          <p:nvPr>
            <p:ph idx="1"/>
          </p:nvPr>
        </p:nvSpPr>
        <p:spPr/>
        <p:txBody>
          <a:bodyPr/>
          <a:lstStyle/>
          <a:p>
            <a:pPr marL="0" indent="0">
              <a:buNone/>
            </a:pPr>
            <a:r>
              <a:rPr lang="en-US" b="1" dirty="0" smtClean="0"/>
              <a:t>Paranoid </a:t>
            </a:r>
            <a:r>
              <a:rPr lang="en-US" b="1" dirty="0"/>
              <a:t>personality disorder: </a:t>
            </a:r>
            <a:endParaRPr lang="en-US" b="1" dirty="0" smtClean="0"/>
          </a:p>
          <a:p>
            <a:pPr marL="0" indent="0">
              <a:buNone/>
            </a:pPr>
            <a:r>
              <a:rPr lang="en-US" dirty="0" smtClean="0"/>
              <a:t>Pervasive </a:t>
            </a:r>
            <a:r>
              <a:rPr lang="en-US" dirty="0"/>
              <a:t>distrust and suspiciousness of other people.</a:t>
            </a:r>
          </a:p>
          <a:p>
            <a:r>
              <a:rPr lang="en-US" dirty="0" smtClean="0"/>
              <a:t>Heightened </a:t>
            </a:r>
            <a:r>
              <a:rPr lang="en-US" dirty="0"/>
              <a:t>sense of fear and vulnerability </a:t>
            </a:r>
          </a:p>
          <a:p>
            <a:r>
              <a:rPr lang="en-US" dirty="0" smtClean="0"/>
              <a:t>May </a:t>
            </a:r>
            <a:r>
              <a:rPr lang="en-US" dirty="0"/>
              <a:t>harm, arguments, conflict </a:t>
            </a:r>
          </a:p>
          <a:p>
            <a:r>
              <a:rPr lang="en-US" dirty="0" smtClean="0"/>
              <a:t>Pervasive </a:t>
            </a:r>
            <a:r>
              <a:rPr lang="en-US" dirty="0"/>
              <a:t>pattern of mistrust and suspiciousness </a:t>
            </a:r>
          </a:p>
          <a:p>
            <a:r>
              <a:rPr lang="en-US" dirty="0" smtClean="0"/>
              <a:t>Begins </a:t>
            </a:r>
            <a:r>
              <a:rPr lang="en-US" dirty="0"/>
              <a:t>in early adulthood </a:t>
            </a:r>
          </a:p>
          <a:p>
            <a:endParaRPr lang="en-US" dirty="0"/>
          </a:p>
        </p:txBody>
      </p:sp>
    </p:spTree>
    <p:extLst>
      <p:ext uri="{BB962C8B-B14F-4D97-AF65-F5344CB8AC3E}">
        <p14:creationId xmlns:p14="http://schemas.microsoft.com/office/powerpoint/2010/main" val="33652237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Paranoid personality dx </a:t>
            </a:r>
            <a:endParaRPr lang="en-US" dirty="0"/>
          </a:p>
        </p:txBody>
      </p:sp>
      <p:sp>
        <p:nvSpPr>
          <p:cNvPr id="3" name="Content Placeholder 2"/>
          <p:cNvSpPr>
            <a:spLocks noGrp="1"/>
          </p:cNvSpPr>
          <p:nvPr>
            <p:ph idx="1"/>
          </p:nvPr>
        </p:nvSpPr>
        <p:spPr>
          <a:xfrm>
            <a:off x="457200" y="1143000"/>
            <a:ext cx="8229600" cy="5486400"/>
          </a:xfrm>
        </p:spPr>
        <p:txBody>
          <a:bodyPr/>
          <a:lstStyle/>
          <a:p>
            <a:pPr marL="0" indent="0">
              <a:buNone/>
            </a:pPr>
            <a:r>
              <a:rPr lang="en-US" b="1" dirty="0" smtClean="0"/>
              <a:t>SUSPECT</a:t>
            </a:r>
            <a:r>
              <a:rPr lang="en-US" dirty="0" smtClean="0"/>
              <a:t> </a:t>
            </a:r>
            <a:endParaRPr lang="en-US" dirty="0"/>
          </a:p>
          <a:p>
            <a:r>
              <a:rPr lang="en-US" dirty="0" smtClean="0"/>
              <a:t>S</a:t>
            </a:r>
            <a:r>
              <a:rPr lang="en-US" dirty="0"/>
              <a:t>: Spouse fidelity suspected </a:t>
            </a:r>
            <a:endParaRPr lang="en-US" dirty="0" smtClean="0"/>
          </a:p>
          <a:p>
            <a:r>
              <a:rPr lang="en-US" dirty="0" smtClean="0"/>
              <a:t>U</a:t>
            </a:r>
            <a:r>
              <a:rPr lang="en-US" dirty="0"/>
              <a:t>: Unforgiving (bears grudges) </a:t>
            </a:r>
            <a:endParaRPr lang="en-US" dirty="0" smtClean="0"/>
          </a:p>
          <a:p>
            <a:r>
              <a:rPr lang="en-US" dirty="0" smtClean="0"/>
              <a:t>S</a:t>
            </a:r>
            <a:r>
              <a:rPr lang="en-US" dirty="0"/>
              <a:t>: Suspicious of others </a:t>
            </a:r>
            <a:endParaRPr lang="en-US" dirty="0" smtClean="0"/>
          </a:p>
          <a:p>
            <a:r>
              <a:rPr lang="en-US" dirty="0" smtClean="0"/>
              <a:t>P</a:t>
            </a:r>
            <a:r>
              <a:rPr lang="en-US" dirty="0"/>
              <a:t>: Perceives attacks (and reacts quickly) </a:t>
            </a:r>
            <a:endParaRPr lang="en-US" dirty="0" smtClean="0"/>
          </a:p>
          <a:p>
            <a:r>
              <a:rPr lang="en-US" dirty="0" smtClean="0"/>
              <a:t>E</a:t>
            </a:r>
            <a:r>
              <a:rPr lang="en-US" dirty="0"/>
              <a:t>: "Enemy or friend" (suspects associates, friends) </a:t>
            </a:r>
            <a:endParaRPr lang="en-US" dirty="0" smtClean="0"/>
          </a:p>
          <a:p>
            <a:r>
              <a:rPr lang="en-US" dirty="0" smtClean="0"/>
              <a:t>C</a:t>
            </a:r>
            <a:r>
              <a:rPr lang="en-US" dirty="0"/>
              <a:t>: Confiding in others feared </a:t>
            </a:r>
            <a:endParaRPr lang="en-US" dirty="0" smtClean="0"/>
          </a:p>
          <a:p>
            <a:r>
              <a:rPr lang="en-US" dirty="0" smtClean="0"/>
              <a:t>T</a:t>
            </a:r>
            <a:r>
              <a:rPr lang="en-US" dirty="0"/>
              <a:t>: Threats perceived in benign events </a:t>
            </a:r>
          </a:p>
        </p:txBody>
      </p:sp>
    </p:spTree>
    <p:extLst>
      <p:ext uri="{BB962C8B-B14F-4D97-AF65-F5344CB8AC3E}">
        <p14:creationId xmlns:p14="http://schemas.microsoft.com/office/powerpoint/2010/main" val="22159559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a:t>
            </a:r>
            <a:endParaRPr lang="en-US" dirty="0"/>
          </a:p>
        </p:txBody>
      </p:sp>
      <p:sp>
        <p:nvSpPr>
          <p:cNvPr id="3" name="Content Placeholder 2"/>
          <p:cNvSpPr>
            <a:spLocks noGrp="1"/>
          </p:cNvSpPr>
          <p:nvPr>
            <p:ph idx="1"/>
          </p:nvPr>
        </p:nvSpPr>
        <p:spPr/>
        <p:txBody>
          <a:bodyPr/>
          <a:lstStyle/>
          <a:p>
            <a:r>
              <a:rPr lang="en-GB" dirty="0"/>
              <a:t>social skill training, </a:t>
            </a:r>
            <a:endParaRPr lang="en-GB" dirty="0" smtClean="0"/>
          </a:p>
          <a:p>
            <a:r>
              <a:rPr lang="en-GB" dirty="0" smtClean="0"/>
              <a:t>psychotherapy,</a:t>
            </a:r>
          </a:p>
          <a:p>
            <a:r>
              <a:rPr lang="en-GB" dirty="0" smtClean="0"/>
              <a:t> </a:t>
            </a:r>
            <a:r>
              <a:rPr lang="en-GB" dirty="0"/>
              <a:t>anxiolytics, </a:t>
            </a:r>
            <a:endParaRPr lang="en-GB" dirty="0" smtClean="0"/>
          </a:p>
          <a:p>
            <a:r>
              <a:rPr lang="en-GB" dirty="0" smtClean="0"/>
              <a:t>antipsychotics</a:t>
            </a:r>
            <a:endParaRPr lang="en-US" dirty="0"/>
          </a:p>
        </p:txBody>
      </p:sp>
    </p:spTree>
    <p:extLst>
      <p:ext uri="{BB962C8B-B14F-4D97-AF65-F5344CB8AC3E}">
        <p14:creationId xmlns:p14="http://schemas.microsoft.com/office/powerpoint/2010/main" val="341771536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 </a:t>
            </a:r>
            <a:br>
              <a:rPr lang="en-US" dirty="0"/>
            </a:br>
            <a:r>
              <a:rPr lang="en-US" b="1" dirty="0"/>
              <a:t>Schizoid personality disorder </a:t>
            </a:r>
            <a:r>
              <a:rPr lang="en-US" dirty="0"/>
              <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a:bodyPr>
          <a:lstStyle/>
          <a:p>
            <a:r>
              <a:rPr lang="en-US" dirty="0" smtClean="0"/>
              <a:t>Pattern </a:t>
            </a:r>
            <a:r>
              <a:rPr lang="en-US" dirty="0"/>
              <a:t>of </a:t>
            </a:r>
            <a:r>
              <a:rPr lang="en-US" b="1" dirty="0"/>
              <a:t>social detachment</a:t>
            </a:r>
            <a:r>
              <a:rPr lang="en-US" dirty="0"/>
              <a:t> and a </a:t>
            </a:r>
            <a:r>
              <a:rPr lang="en-US" b="1" dirty="0"/>
              <a:t>restricted range of emotional expression</a:t>
            </a:r>
            <a:r>
              <a:rPr lang="en-US" dirty="0"/>
              <a:t>. </a:t>
            </a:r>
            <a:endParaRPr lang="en-US" dirty="0" smtClean="0"/>
          </a:p>
          <a:p>
            <a:r>
              <a:rPr lang="en-US" dirty="0" smtClean="0"/>
              <a:t>For </a:t>
            </a:r>
            <a:r>
              <a:rPr lang="en-US" dirty="0"/>
              <a:t>these reasons, people with this disorder tend to be socially isolated. They don't seem to seek out or enjoy close relationships</a:t>
            </a:r>
            <a:r>
              <a:rPr lang="en-US" dirty="0" smtClean="0"/>
              <a:t>.</a:t>
            </a:r>
          </a:p>
          <a:p>
            <a:r>
              <a:rPr lang="en-US" dirty="0" smtClean="0"/>
              <a:t>Social </a:t>
            </a:r>
            <a:r>
              <a:rPr lang="en-US" dirty="0"/>
              <a:t>detachment, emotional restriction </a:t>
            </a:r>
          </a:p>
          <a:p>
            <a:r>
              <a:rPr lang="en-US" dirty="0" smtClean="0"/>
              <a:t>Anxiety </a:t>
            </a:r>
            <a:r>
              <a:rPr lang="en-US" dirty="0"/>
              <a:t>because of forced contact with </a:t>
            </a:r>
            <a:r>
              <a:rPr lang="en-US" dirty="0" smtClean="0"/>
              <a:t>others</a:t>
            </a:r>
          </a:p>
          <a:p>
            <a:r>
              <a:rPr lang="en-US" dirty="0" smtClean="0"/>
              <a:t>Delay </a:t>
            </a:r>
            <a:r>
              <a:rPr lang="en-US" dirty="0"/>
              <a:t>seeking care, appear </a:t>
            </a:r>
            <a:r>
              <a:rPr lang="en-US" dirty="0" smtClean="0"/>
              <a:t>unappreciative</a:t>
            </a:r>
          </a:p>
          <a:p>
            <a:r>
              <a:rPr lang="en-US" dirty="0" smtClean="0"/>
              <a:t>Restricted </a:t>
            </a:r>
            <a:r>
              <a:rPr lang="en-US" dirty="0"/>
              <a:t>range of emotional expressions </a:t>
            </a:r>
          </a:p>
          <a:p>
            <a:endParaRPr lang="en-US" dirty="0"/>
          </a:p>
        </p:txBody>
      </p:sp>
    </p:spTree>
    <p:extLst>
      <p:ext uri="{BB962C8B-B14F-4D97-AF65-F5344CB8AC3E}">
        <p14:creationId xmlns:p14="http://schemas.microsoft.com/office/powerpoint/2010/main" val="29119669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fontScale="90000"/>
          </a:bodyPr>
          <a:lstStyle/>
          <a:p>
            <a:r>
              <a:rPr lang="en-US" b="1" dirty="0" smtClean="0"/>
              <a:t/>
            </a:r>
            <a:br>
              <a:rPr lang="en-US" b="1" dirty="0" smtClean="0"/>
            </a:br>
            <a:r>
              <a:rPr lang="en-US" b="1" dirty="0" smtClean="0"/>
              <a:t>Schizoid </a:t>
            </a:r>
            <a:r>
              <a:rPr lang="en-US" b="1" dirty="0"/>
              <a:t>personality disorder </a:t>
            </a:r>
            <a:r>
              <a:rPr lang="en-US" dirty="0"/>
              <a:t/>
            </a:r>
            <a:br>
              <a:rPr lang="en-US" dirty="0"/>
            </a:br>
            <a:endParaRPr lang="en-US" dirty="0"/>
          </a:p>
        </p:txBody>
      </p:sp>
      <p:sp>
        <p:nvSpPr>
          <p:cNvPr id="3" name="Content Placeholder 2"/>
          <p:cNvSpPr>
            <a:spLocks noGrp="1"/>
          </p:cNvSpPr>
          <p:nvPr>
            <p:ph idx="1"/>
          </p:nvPr>
        </p:nvSpPr>
        <p:spPr>
          <a:xfrm>
            <a:off x="457200" y="1447800"/>
            <a:ext cx="8229600" cy="4678363"/>
          </a:xfrm>
        </p:spPr>
        <p:txBody>
          <a:bodyPr/>
          <a:lstStyle/>
          <a:p>
            <a:pPr marL="0" indent="0">
              <a:buNone/>
            </a:pPr>
            <a:r>
              <a:rPr lang="en-US" b="1" dirty="0" smtClean="0"/>
              <a:t>DISTANT-LONERS</a:t>
            </a:r>
            <a:r>
              <a:rPr lang="en-US" dirty="0" smtClean="0"/>
              <a:t> </a:t>
            </a:r>
          </a:p>
          <a:p>
            <a:pPr marL="0" indent="0">
              <a:buNone/>
            </a:pPr>
            <a:r>
              <a:rPr lang="en-US" dirty="0" smtClean="0"/>
              <a:t>D: </a:t>
            </a:r>
            <a:r>
              <a:rPr lang="en-US" dirty="0"/>
              <a:t>Detached (or flattened) </a:t>
            </a:r>
            <a:r>
              <a:rPr lang="en-US" dirty="0" smtClean="0"/>
              <a:t>affect</a:t>
            </a:r>
            <a:r>
              <a:rPr lang="en-US" dirty="0"/>
              <a:t/>
            </a:r>
            <a:br>
              <a:rPr lang="en-US" dirty="0"/>
            </a:br>
            <a:r>
              <a:rPr lang="en-US" dirty="0"/>
              <a:t>I: Indifferent to criticism and praise</a:t>
            </a:r>
            <a:br>
              <a:rPr lang="en-US" dirty="0"/>
            </a:br>
            <a:r>
              <a:rPr lang="en-US" dirty="0"/>
              <a:t>S: Sexual experiences of little interest</a:t>
            </a:r>
            <a:br>
              <a:rPr lang="en-US" dirty="0"/>
            </a:br>
            <a:r>
              <a:rPr lang="en-US" dirty="0"/>
              <a:t>T: Tasks (activities) done solitarily</a:t>
            </a:r>
            <a:br>
              <a:rPr lang="en-US" dirty="0"/>
            </a:br>
            <a:r>
              <a:rPr lang="en-US" dirty="0"/>
              <a:t>A: Absence of close friends</a:t>
            </a:r>
            <a:br>
              <a:rPr lang="en-US" dirty="0"/>
            </a:br>
            <a:r>
              <a:rPr lang="en-US" dirty="0"/>
              <a:t>N: Neither desires nor enjoys close relations</a:t>
            </a:r>
          </a:p>
          <a:p>
            <a:pPr marL="0" indent="0">
              <a:buNone/>
            </a:pPr>
            <a:r>
              <a:rPr lang="en-US" dirty="0"/>
              <a:t>T: Takes pleasure in few activities </a:t>
            </a:r>
          </a:p>
        </p:txBody>
      </p:sp>
    </p:spTree>
    <p:extLst>
      <p:ext uri="{BB962C8B-B14F-4D97-AF65-F5344CB8AC3E}">
        <p14:creationId xmlns:p14="http://schemas.microsoft.com/office/powerpoint/2010/main" val="203807113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Schizotypal personality disorder </a:t>
            </a:r>
            <a:endParaRPr lang="en-US" dirty="0"/>
          </a:p>
        </p:txBody>
      </p:sp>
      <p:sp>
        <p:nvSpPr>
          <p:cNvPr id="3" name="Content Placeholder 2"/>
          <p:cNvSpPr>
            <a:spLocks noGrp="1"/>
          </p:cNvSpPr>
          <p:nvPr>
            <p:ph idx="1"/>
          </p:nvPr>
        </p:nvSpPr>
        <p:spPr>
          <a:xfrm>
            <a:off x="457200" y="1219200"/>
            <a:ext cx="8229600" cy="5562600"/>
          </a:xfrm>
        </p:spPr>
        <p:txBody>
          <a:bodyPr>
            <a:normAutofit lnSpcReduction="10000"/>
          </a:bodyPr>
          <a:lstStyle/>
          <a:p>
            <a:pPr marL="0" indent="0">
              <a:buNone/>
            </a:pPr>
            <a:r>
              <a:rPr lang="en-US" dirty="0" smtClean="0"/>
              <a:t>Social </a:t>
            </a:r>
            <a:r>
              <a:rPr lang="en-US" dirty="0"/>
              <a:t>and interpersonal deficits </a:t>
            </a:r>
            <a:endParaRPr lang="en-US" dirty="0" smtClean="0"/>
          </a:p>
          <a:p>
            <a:pPr marL="0" indent="0">
              <a:buNone/>
            </a:pPr>
            <a:r>
              <a:rPr lang="en-US" dirty="0" smtClean="0"/>
              <a:t>Acute discomfort in social setting </a:t>
            </a:r>
          </a:p>
          <a:p>
            <a:pPr marL="0" indent="0">
              <a:buNone/>
            </a:pPr>
            <a:r>
              <a:rPr lang="en-US" dirty="0"/>
              <a:t>end to be socially isolated, reserved, and distant.</a:t>
            </a:r>
          </a:p>
          <a:p>
            <a:pPr marL="0" indent="0">
              <a:buNone/>
            </a:pPr>
            <a:r>
              <a:rPr lang="en-US" dirty="0"/>
              <a:t>Unlike the Schizoid Personality Disorder, they also experience perceptual and cognitive </a:t>
            </a:r>
            <a:r>
              <a:rPr lang="en-US" dirty="0" smtClean="0"/>
              <a:t>distortions </a:t>
            </a:r>
            <a:r>
              <a:rPr lang="en-US" dirty="0"/>
              <a:t>and/or eccentric </a:t>
            </a:r>
            <a:r>
              <a:rPr lang="en-US" dirty="0" smtClean="0"/>
              <a:t>behavior</a:t>
            </a:r>
          </a:p>
          <a:p>
            <a:pPr marL="0" indent="0">
              <a:buNone/>
            </a:pPr>
            <a:r>
              <a:rPr lang="en-US" dirty="0" smtClean="0"/>
              <a:t>Have </a:t>
            </a:r>
            <a:r>
              <a:rPr lang="en-US" dirty="0"/>
              <a:t>odd beliefs, for instance, they may believe they can read other people's thoughts, or that that their own thoughts have been stolen from their heads. </a:t>
            </a:r>
          </a:p>
        </p:txBody>
      </p:sp>
    </p:spTree>
    <p:extLst>
      <p:ext uri="{BB962C8B-B14F-4D97-AF65-F5344CB8AC3E}">
        <p14:creationId xmlns:p14="http://schemas.microsoft.com/office/powerpoint/2010/main" val="228798203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Schizotypal personality disorder </a:t>
            </a:r>
            <a:endParaRPr lang="en-US" dirty="0"/>
          </a:p>
        </p:txBody>
      </p:sp>
      <p:sp>
        <p:nvSpPr>
          <p:cNvPr id="3" name="Content Placeholder 2"/>
          <p:cNvSpPr>
            <a:spLocks noGrp="1"/>
          </p:cNvSpPr>
          <p:nvPr>
            <p:ph idx="1"/>
          </p:nvPr>
        </p:nvSpPr>
        <p:spPr>
          <a:xfrm>
            <a:off x="457200" y="1219200"/>
            <a:ext cx="8229600" cy="5562600"/>
          </a:xfrm>
        </p:spPr>
        <p:txBody>
          <a:bodyPr>
            <a:normAutofit fontScale="92500" lnSpcReduction="20000"/>
          </a:bodyPr>
          <a:lstStyle/>
          <a:p>
            <a:r>
              <a:rPr lang="en-US" b="1" dirty="0" err="1" smtClean="0"/>
              <a:t>MEPECULIAR</a:t>
            </a:r>
            <a:r>
              <a:rPr lang="en-US" b="1" dirty="0" smtClean="0"/>
              <a:t> </a:t>
            </a:r>
            <a:r>
              <a:rPr lang="en-US" b="1" dirty="0"/>
              <a:t>(5 criteria </a:t>
            </a:r>
            <a:endParaRPr lang="en-US" dirty="0"/>
          </a:p>
          <a:p>
            <a:r>
              <a:rPr lang="en-US" dirty="0" smtClean="0"/>
              <a:t>M:Magical </a:t>
            </a:r>
            <a:r>
              <a:rPr lang="en-US" dirty="0"/>
              <a:t>thinking or odd beliefs </a:t>
            </a:r>
            <a:endParaRPr lang="en-US" dirty="0" smtClean="0"/>
          </a:p>
          <a:p>
            <a:r>
              <a:rPr lang="en-US" dirty="0" smtClean="0"/>
              <a:t>E</a:t>
            </a:r>
            <a:r>
              <a:rPr lang="en-US" dirty="0"/>
              <a:t>: Experiences unusual perceptions </a:t>
            </a:r>
          </a:p>
          <a:p>
            <a:r>
              <a:rPr lang="en-US" dirty="0"/>
              <a:t>P: Paranoid ideation </a:t>
            </a:r>
            <a:endParaRPr lang="en-US" dirty="0" smtClean="0"/>
          </a:p>
          <a:p>
            <a:r>
              <a:rPr lang="en-US" dirty="0" smtClean="0"/>
              <a:t>E</a:t>
            </a:r>
            <a:r>
              <a:rPr lang="en-US" dirty="0"/>
              <a:t>: Eccentric behavior or appearance </a:t>
            </a:r>
            <a:endParaRPr lang="en-US" dirty="0" smtClean="0"/>
          </a:p>
          <a:p>
            <a:r>
              <a:rPr lang="en-US" dirty="0" smtClean="0"/>
              <a:t>C</a:t>
            </a:r>
            <a:r>
              <a:rPr lang="en-US" dirty="0"/>
              <a:t>: Constricted (or inappropriate) affect </a:t>
            </a:r>
            <a:endParaRPr lang="en-US" dirty="0" smtClean="0"/>
          </a:p>
          <a:p>
            <a:r>
              <a:rPr lang="en-US" dirty="0" smtClean="0"/>
              <a:t>U</a:t>
            </a:r>
            <a:r>
              <a:rPr lang="en-US" dirty="0"/>
              <a:t>: Unusual (odd) thinking and speech </a:t>
            </a:r>
            <a:endParaRPr lang="en-US" dirty="0" smtClean="0"/>
          </a:p>
          <a:p>
            <a:r>
              <a:rPr lang="en-US" dirty="0" smtClean="0"/>
              <a:t>L</a:t>
            </a:r>
            <a:r>
              <a:rPr lang="en-US" dirty="0"/>
              <a:t>: Lacks close friends </a:t>
            </a:r>
            <a:endParaRPr lang="en-US" dirty="0" smtClean="0"/>
          </a:p>
          <a:p>
            <a:r>
              <a:rPr lang="en-US" dirty="0" smtClean="0"/>
              <a:t>I</a:t>
            </a:r>
            <a:r>
              <a:rPr lang="en-US" dirty="0"/>
              <a:t>: Ideas of reference </a:t>
            </a:r>
            <a:endParaRPr lang="en-US" dirty="0" smtClean="0"/>
          </a:p>
          <a:p>
            <a:r>
              <a:rPr lang="en-US" dirty="0" smtClean="0"/>
              <a:t>A</a:t>
            </a:r>
            <a:r>
              <a:rPr lang="en-US" dirty="0"/>
              <a:t>: Anxiety in social situations </a:t>
            </a:r>
            <a:endParaRPr lang="en-US" dirty="0" smtClean="0"/>
          </a:p>
          <a:p>
            <a:r>
              <a:rPr lang="en-US" dirty="0" smtClean="0"/>
              <a:t>R</a:t>
            </a:r>
            <a:r>
              <a:rPr lang="en-US" dirty="0"/>
              <a:t>: Rule out psychotic disorders and pervasive developmental disorder </a:t>
            </a:r>
            <a:r>
              <a:rPr lang="en-US" dirty="0" smtClean="0"/>
              <a:t>–family </a:t>
            </a:r>
            <a:r>
              <a:rPr lang="en-US" dirty="0" err="1" smtClean="0"/>
              <a:t>hx</a:t>
            </a:r>
            <a:r>
              <a:rPr lang="en-US" dirty="0" smtClean="0"/>
              <a:t> of </a:t>
            </a:r>
            <a:r>
              <a:rPr lang="en-US" dirty="0" err="1" smtClean="0"/>
              <a:t>schizo</a:t>
            </a:r>
            <a:r>
              <a:rPr lang="en-US" dirty="0" smtClean="0"/>
              <a:t> </a:t>
            </a:r>
            <a:endParaRPr lang="en-US" dirty="0"/>
          </a:p>
          <a:p>
            <a:endParaRPr lang="en-US" dirty="0"/>
          </a:p>
        </p:txBody>
      </p:sp>
    </p:spTree>
    <p:extLst>
      <p:ext uri="{BB962C8B-B14F-4D97-AF65-F5344CB8AC3E}">
        <p14:creationId xmlns:p14="http://schemas.microsoft.com/office/powerpoint/2010/main" val="37367468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Cluster B: Dramatic, </a:t>
            </a:r>
            <a:r>
              <a:rPr lang="en-US" sz="3200" b="1" dirty="0" smtClean="0"/>
              <a:t>Erratic/Unpredictable</a:t>
            </a:r>
            <a:br>
              <a:rPr lang="en-US" sz="3200" b="1" dirty="0" smtClean="0"/>
            </a:br>
            <a:r>
              <a:rPr lang="en-US" sz="3200" b="1" dirty="0" smtClean="0"/>
              <a:t>(</a:t>
            </a:r>
            <a:r>
              <a:rPr lang="en-US" sz="3200" b="1" dirty="0"/>
              <a:t>Extraverts) </a:t>
            </a:r>
            <a:endParaRPr lang="en-US" sz="3200" dirty="0"/>
          </a:p>
        </p:txBody>
      </p:sp>
      <p:sp>
        <p:nvSpPr>
          <p:cNvPr id="3" name="Content Placeholder 2"/>
          <p:cNvSpPr>
            <a:spLocks noGrp="1"/>
          </p:cNvSpPr>
          <p:nvPr>
            <p:ph idx="1"/>
          </p:nvPr>
        </p:nvSpPr>
        <p:spPr>
          <a:xfrm>
            <a:off x="457200" y="1371600"/>
            <a:ext cx="8229600" cy="5486400"/>
          </a:xfrm>
        </p:spPr>
        <p:txBody>
          <a:bodyPr>
            <a:normAutofit fontScale="85000" lnSpcReduction="20000"/>
          </a:bodyPr>
          <a:lstStyle/>
          <a:p>
            <a:r>
              <a:rPr lang="en-US" dirty="0"/>
              <a:t>Patients in this cluster can be among the </a:t>
            </a:r>
            <a:r>
              <a:rPr lang="en-US" b="1" dirty="0"/>
              <a:t>most challenging patients </a:t>
            </a:r>
            <a:r>
              <a:rPr lang="en-US" dirty="0"/>
              <a:t>encountered in clinical settings. </a:t>
            </a:r>
          </a:p>
          <a:p>
            <a:r>
              <a:rPr lang="en-US" dirty="0"/>
              <a:t>They can be excessively demanding, manipulative, emotionally unstable, and interpersonally inappropriate. </a:t>
            </a:r>
            <a:endParaRPr lang="en-US" dirty="0" smtClean="0"/>
          </a:p>
          <a:p>
            <a:r>
              <a:rPr lang="en-US" dirty="0"/>
              <a:t>They may attempt to create relationships that </a:t>
            </a:r>
            <a:r>
              <a:rPr lang="en-US" b="1" dirty="0"/>
              <a:t>cross professional boundaries </a:t>
            </a:r>
            <a:r>
              <a:rPr lang="en-US" dirty="0"/>
              <a:t>and to place </a:t>
            </a:r>
            <a:r>
              <a:rPr lang="en-US" b="1" dirty="0"/>
              <a:t>health professional in difficult or compromising positions. </a:t>
            </a:r>
            <a:r>
              <a:rPr lang="en-US" dirty="0"/>
              <a:t>Health professional often experience strong emotional reactions to these patients. </a:t>
            </a:r>
          </a:p>
          <a:p>
            <a:r>
              <a:rPr lang="en-US" dirty="0"/>
              <a:t>When dealing with such patients, health professionals must be keenly aware of the issues of manipulative behavior, professional boundaries, limit setting, and monitoring their own emotional state. </a:t>
            </a:r>
          </a:p>
        </p:txBody>
      </p:sp>
    </p:spTree>
    <p:extLst>
      <p:ext uri="{BB962C8B-B14F-4D97-AF65-F5344CB8AC3E}">
        <p14:creationId xmlns:p14="http://schemas.microsoft.com/office/powerpoint/2010/main" val="171404271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Antisocial personality disorder </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20000"/>
          </a:bodyPr>
          <a:lstStyle/>
          <a:p>
            <a:r>
              <a:rPr lang="en-US" dirty="0" smtClean="0"/>
              <a:t>Pervasive </a:t>
            </a:r>
            <a:r>
              <a:rPr lang="en-US" dirty="0"/>
              <a:t>pattern of disregard for the </a:t>
            </a:r>
            <a:r>
              <a:rPr lang="en-US" b="1" dirty="0"/>
              <a:t>rights of other </a:t>
            </a:r>
            <a:r>
              <a:rPr lang="en-US" dirty="0"/>
              <a:t>people that often manifests as </a:t>
            </a:r>
            <a:r>
              <a:rPr lang="en-US" b="1" dirty="0"/>
              <a:t>hostility and/or aggression</a:t>
            </a:r>
            <a:r>
              <a:rPr lang="en-US" dirty="0"/>
              <a:t>. </a:t>
            </a:r>
            <a:endParaRPr lang="en-US" dirty="0" smtClean="0"/>
          </a:p>
          <a:p>
            <a:r>
              <a:rPr lang="en-US" dirty="0" smtClean="0"/>
              <a:t>Deceit </a:t>
            </a:r>
            <a:r>
              <a:rPr lang="en-US" dirty="0"/>
              <a:t>and manipulation are also central </a:t>
            </a:r>
            <a:r>
              <a:rPr lang="en-US" dirty="0" smtClean="0"/>
              <a:t>features</a:t>
            </a:r>
            <a:endParaRPr lang="en-US" dirty="0"/>
          </a:p>
          <a:p>
            <a:r>
              <a:rPr lang="en-US" dirty="0"/>
              <a:t>hostile-aggressive and deceitful behaviors may first appear during </a:t>
            </a:r>
            <a:r>
              <a:rPr lang="en-US" i="1" dirty="0"/>
              <a:t>childhood</a:t>
            </a:r>
            <a:r>
              <a:rPr lang="en-US" dirty="0" smtClean="0"/>
              <a:t>.</a:t>
            </a:r>
          </a:p>
          <a:p>
            <a:pPr lvl="1"/>
            <a:r>
              <a:rPr lang="en-US" dirty="0"/>
              <a:t>These children may hurt or torment animals or people. </a:t>
            </a:r>
            <a:endParaRPr lang="en-US" dirty="0" smtClean="0"/>
          </a:p>
          <a:p>
            <a:pPr lvl="1"/>
            <a:r>
              <a:rPr lang="en-US" dirty="0" smtClean="0"/>
              <a:t>They </a:t>
            </a:r>
            <a:r>
              <a:rPr lang="en-US" dirty="0"/>
              <a:t>may engage in hostile acts such as bullying or intimidating others. </a:t>
            </a:r>
            <a:endParaRPr lang="en-US" dirty="0" smtClean="0"/>
          </a:p>
          <a:p>
            <a:pPr lvl="1"/>
            <a:r>
              <a:rPr lang="en-US" dirty="0" smtClean="0"/>
              <a:t>They </a:t>
            </a:r>
            <a:r>
              <a:rPr lang="en-US" dirty="0"/>
              <a:t>may have a reckless disregard for property such as setting fires. They often engage in deceit, theft, and other serious violations of standard rules of conduct. </a:t>
            </a:r>
          </a:p>
        </p:txBody>
      </p:sp>
    </p:spTree>
    <p:extLst>
      <p:ext uri="{BB962C8B-B14F-4D97-AF65-F5344CB8AC3E}">
        <p14:creationId xmlns:p14="http://schemas.microsoft.com/office/powerpoint/2010/main" val="87885580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smtClean="0"/>
              <a:t>Anti social PD</a:t>
            </a:r>
            <a:endParaRPr lang="en-US" dirty="0"/>
          </a:p>
        </p:txBody>
      </p:sp>
      <p:sp>
        <p:nvSpPr>
          <p:cNvPr id="3" name="Content Placeholder 2"/>
          <p:cNvSpPr>
            <a:spLocks noGrp="1"/>
          </p:cNvSpPr>
          <p:nvPr>
            <p:ph idx="1"/>
          </p:nvPr>
        </p:nvSpPr>
        <p:spPr>
          <a:xfrm>
            <a:off x="457200" y="1219200"/>
            <a:ext cx="8229600" cy="5334000"/>
          </a:xfrm>
        </p:spPr>
        <p:txBody>
          <a:bodyPr>
            <a:normAutofit/>
          </a:bodyPr>
          <a:lstStyle/>
          <a:p>
            <a:pPr marL="0" indent="0">
              <a:buNone/>
            </a:pPr>
            <a:r>
              <a:rPr lang="en-US" b="1" dirty="0"/>
              <a:t>CORRUPT (3 criteria) </a:t>
            </a:r>
            <a:endParaRPr lang="en-US" dirty="0"/>
          </a:p>
          <a:p>
            <a:r>
              <a:rPr lang="en-US" dirty="0"/>
              <a:t>C: Conformity to law </a:t>
            </a:r>
            <a:r>
              <a:rPr lang="en-US" dirty="0" smtClean="0"/>
              <a:t>lacking</a:t>
            </a:r>
          </a:p>
          <a:p>
            <a:r>
              <a:rPr lang="en-US" dirty="0" smtClean="0"/>
              <a:t>O</a:t>
            </a:r>
            <a:r>
              <a:rPr lang="en-US" dirty="0"/>
              <a:t>: Obligations </a:t>
            </a:r>
            <a:r>
              <a:rPr lang="en-US" dirty="0" smtClean="0"/>
              <a:t>ignored</a:t>
            </a:r>
          </a:p>
          <a:p>
            <a:r>
              <a:rPr lang="en-US" dirty="0" smtClean="0"/>
              <a:t>R</a:t>
            </a:r>
            <a:r>
              <a:rPr lang="en-US" dirty="0"/>
              <a:t>: Reckless disregard for safety of self or </a:t>
            </a:r>
            <a:r>
              <a:rPr lang="en-US" dirty="0" smtClean="0"/>
              <a:t>others</a:t>
            </a:r>
          </a:p>
          <a:p>
            <a:r>
              <a:rPr lang="en-US" dirty="0" smtClean="0"/>
              <a:t>R</a:t>
            </a:r>
            <a:r>
              <a:rPr lang="en-US" dirty="0"/>
              <a:t>: Remorse lacking </a:t>
            </a:r>
            <a:endParaRPr lang="en-US" dirty="0" smtClean="0"/>
          </a:p>
          <a:p>
            <a:r>
              <a:rPr lang="en-US" dirty="0" smtClean="0"/>
              <a:t>U</a:t>
            </a:r>
            <a:r>
              <a:rPr lang="en-US" dirty="0"/>
              <a:t>: Underhanded (deceitful, lies, cons others) </a:t>
            </a:r>
            <a:endParaRPr lang="en-US" dirty="0" smtClean="0"/>
          </a:p>
          <a:p>
            <a:r>
              <a:rPr lang="en-US" dirty="0" smtClean="0"/>
              <a:t>P</a:t>
            </a:r>
            <a:r>
              <a:rPr lang="en-US" dirty="0"/>
              <a:t>: Planning insufficient (impulsive) </a:t>
            </a:r>
            <a:endParaRPr lang="en-US" dirty="0" smtClean="0"/>
          </a:p>
          <a:p>
            <a:r>
              <a:rPr lang="en-US" dirty="0" smtClean="0"/>
              <a:t>T</a:t>
            </a:r>
            <a:r>
              <a:rPr lang="en-US" dirty="0"/>
              <a:t>: Temper (irritable and aggressive) </a:t>
            </a:r>
          </a:p>
        </p:txBody>
      </p:sp>
    </p:spTree>
    <p:extLst>
      <p:ext uri="{BB962C8B-B14F-4D97-AF65-F5344CB8AC3E}">
        <p14:creationId xmlns:p14="http://schemas.microsoft.com/office/powerpoint/2010/main" val="18640298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en-US" b="1" dirty="0"/>
              <a:t>Histrionic personality disorder: </a:t>
            </a:r>
            <a:endParaRPr lang="en-US" dirty="0"/>
          </a:p>
        </p:txBody>
      </p:sp>
      <p:sp>
        <p:nvSpPr>
          <p:cNvPr id="3" name="Content Placeholder 2"/>
          <p:cNvSpPr>
            <a:spLocks noGrp="1"/>
          </p:cNvSpPr>
          <p:nvPr>
            <p:ph idx="1"/>
          </p:nvPr>
        </p:nvSpPr>
        <p:spPr>
          <a:xfrm>
            <a:off x="457200" y="1295400"/>
            <a:ext cx="8229600" cy="5410200"/>
          </a:xfrm>
        </p:spPr>
        <p:txBody>
          <a:bodyPr>
            <a:normAutofit fontScale="92500" lnSpcReduction="10000"/>
          </a:bodyPr>
          <a:lstStyle/>
          <a:p>
            <a:r>
              <a:rPr lang="en-US" dirty="0" smtClean="0"/>
              <a:t>Pattern </a:t>
            </a:r>
            <a:r>
              <a:rPr lang="en-US" dirty="0"/>
              <a:t>of excessive emotionality and attention seeking</a:t>
            </a:r>
            <a:r>
              <a:rPr lang="en-US" dirty="0" smtClean="0"/>
              <a:t>.</a:t>
            </a:r>
          </a:p>
          <a:p>
            <a:r>
              <a:rPr lang="en-US" dirty="0" smtClean="0"/>
              <a:t> </a:t>
            </a:r>
            <a:r>
              <a:rPr lang="en-US" dirty="0"/>
              <a:t>Their lives are full of drama (so-called "drama queens</a:t>
            </a:r>
            <a:r>
              <a:rPr lang="en-US" dirty="0" smtClean="0"/>
              <a:t>").</a:t>
            </a:r>
          </a:p>
          <a:p>
            <a:r>
              <a:rPr lang="en-US" dirty="0" smtClean="0"/>
              <a:t>They </a:t>
            </a:r>
            <a:r>
              <a:rPr lang="en-US" dirty="0"/>
              <a:t>are uncomfortable in situations where they are not the center of </a:t>
            </a:r>
            <a:r>
              <a:rPr lang="en-US" dirty="0" smtClean="0"/>
              <a:t>attention.</a:t>
            </a:r>
          </a:p>
          <a:p>
            <a:r>
              <a:rPr lang="en-US" dirty="0" smtClean="0"/>
              <a:t>Threatened </a:t>
            </a:r>
            <a:r>
              <a:rPr lang="en-US" dirty="0"/>
              <a:t>sense of attractiveness and self-esteem </a:t>
            </a:r>
          </a:p>
          <a:p>
            <a:r>
              <a:rPr lang="en-US" dirty="0" smtClean="0"/>
              <a:t>Overly </a:t>
            </a:r>
            <a:r>
              <a:rPr lang="en-US" dirty="0"/>
              <a:t>dramatic, inability to focus on facts and details, somatization </a:t>
            </a:r>
          </a:p>
          <a:p>
            <a:r>
              <a:rPr lang="en-US" dirty="0" smtClean="0"/>
              <a:t>Excessive </a:t>
            </a:r>
            <a:r>
              <a:rPr lang="en-US" dirty="0"/>
              <a:t>emotionality </a:t>
            </a:r>
          </a:p>
          <a:p>
            <a:endParaRPr lang="en-US" dirty="0"/>
          </a:p>
        </p:txBody>
      </p:sp>
    </p:spTree>
    <p:extLst>
      <p:ext uri="{BB962C8B-B14F-4D97-AF65-F5344CB8AC3E}">
        <p14:creationId xmlns:p14="http://schemas.microsoft.com/office/powerpoint/2010/main" val="72885846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en-US" b="1" dirty="0"/>
              <a:t>Histrionic personality disorder: </a:t>
            </a:r>
            <a:endParaRPr lang="en-US" dirty="0"/>
          </a:p>
        </p:txBody>
      </p:sp>
      <p:sp>
        <p:nvSpPr>
          <p:cNvPr id="3" name="Content Placeholder 2"/>
          <p:cNvSpPr>
            <a:spLocks noGrp="1"/>
          </p:cNvSpPr>
          <p:nvPr>
            <p:ph idx="1"/>
          </p:nvPr>
        </p:nvSpPr>
        <p:spPr>
          <a:xfrm>
            <a:off x="457200" y="1295400"/>
            <a:ext cx="8229600" cy="5410200"/>
          </a:xfrm>
        </p:spPr>
        <p:txBody>
          <a:bodyPr>
            <a:normAutofit fontScale="85000" lnSpcReduction="20000"/>
          </a:bodyPr>
          <a:lstStyle/>
          <a:p>
            <a:r>
              <a:rPr lang="en-US" dirty="0"/>
              <a:t>People with this disorder are often quite </a:t>
            </a:r>
            <a:r>
              <a:rPr lang="en-US" i="1" dirty="0"/>
              <a:t>flirtatious</a:t>
            </a:r>
            <a:r>
              <a:rPr lang="en-US" dirty="0"/>
              <a:t> or </a:t>
            </a:r>
            <a:r>
              <a:rPr lang="en-US" i="1" dirty="0"/>
              <a:t>seductive</a:t>
            </a:r>
            <a:r>
              <a:rPr lang="en-US" dirty="0"/>
              <a:t>, and like to dress in a manner that draws attention to them. </a:t>
            </a:r>
            <a:endParaRPr lang="en-US" dirty="0" smtClean="0"/>
          </a:p>
          <a:p>
            <a:r>
              <a:rPr lang="en-US" dirty="0" smtClean="0"/>
              <a:t>They </a:t>
            </a:r>
            <a:r>
              <a:rPr lang="en-US" dirty="0"/>
              <a:t>can be flamboyant and theatrical, exhibiting an</a:t>
            </a:r>
            <a:r>
              <a:rPr lang="en-US" b="1" dirty="0"/>
              <a:t> exaggerated degree of emotional expression. Yet</a:t>
            </a:r>
            <a:r>
              <a:rPr lang="en-US" dirty="0"/>
              <a:t> </a:t>
            </a:r>
            <a:r>
              <a:rPr lang="en-US" b="1" dirty="0"/>
              <a:t>simultaneously</a:t>
            </a:r>
            <a:r>
              <a:rPr lang="en-US" dirty="0"/>
              <a:t>, </a:t>
            </a:r>
            <a:r>
              <a:rPr lang="en-US" b="1" dirty="0"/>
              <a:t>their emotional expression is vague, shallow, and lacking in detail.</a:t>
            </a:r>
            <a:r>
              <a:rPr lang="en-US" dirty="0"/>
              <a:t> </a:t>
            </a:r>
            <a:endParaRPr lang="en-US" dirty="0" smtClean="0"/>
          </a:p>
          <a:p>
            <a:r>
              <a:rPr lang="en-US" dirty="0" smtClean="0"/>
              <a:t>This </a:t>
            </a:r>
            <a:r>
              <a:rPr lang="en-US" dirty="0"/>
              <a:t>gives them the appearance of being disingenuous and insincere. </a:t>
            </a:r>
            <a:endParaRPr lang="en-US" dirty="0" smtClean="0"/>
          </a:p>
          <a:p>
            <a:r>
              <a:rPr lang="en-US" dirty="0" smtClean="0"/>
              <a:t>the </a:t>
            </a:r>
            <a:r>
              <a:rPr lang="en-US" dirty="0"/>
              <a:t>drama and exaggerated emotional expression often </a:t>
            </a:r>
            <a:r>
              <a:rPr lang="en-US" i="1" dirty="0"/>
              <a:t>embarrasses</a:t>
            </a:r>
            <a:r>
              <a:rPr lang="en-US" dirty="0"/>
              <a:t> </a:t>
            </a:r>
            <a:r>
              <a:rPr lang="en-US" i="1" dirty="0"/>
              <a:t>friends</a:t>
            </a:r>
            <a:r>
              <a:rPr lang="en-US" dirty="0"/>
              <a:t> and </a:t>
            </a:r>
            <a:r>
              <a:rPr lang="en-US" i="1" dirty="0"/>
              <a:t>acquaintances</a:t>
            </a:r>
            <a:r>
              <a:rPr lang="en-US" dirty="0"/>
              <a:t> as they may embrace even casual acquaintances with excessive ardor, or may sob uncontrollably over some minor </a:t>
            </a:r>
            <a:r>
              <a:rPr lang="en-US" dirty="0" smtClean="0"/>
              <a:t>sentimentality</a:t>
            </a:r>
            <a:endParaRPr lang="en-US" dirty="0"/>
          </a:p>
        </p:txBody>
      </p:sp>
    </p:spTree>
    <p:extLst>
      <p:ext uri="{BB962C8B-B14F-4D97-AF65-F5344CB8AC3E}">
        <p14:creationId xmlns:p14="http://schemas.microsoft.com/office/powerpoint/2010/main" val="319388084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Histrionic PD</a:t>
            </a:r>
            <a:endParaRPr lang="en-US" dirty="0"/>
          </a:p>
        </p:txBody>
      </p:sp>
      <p:sp>
        <p:nvSpPr>
          <p:cNvPr id="3" name="Content Placeholder 2"/>
          <p:cNvSpPr>
            <a:spLocks noGrp="1"/>
          </p:cNvSpPr>
          <p:nvPr>
            <p:ph idx="1"/>
          </p:nvPr>
        </p:nvSpPr>
        <p:spPr>
          <a:xfrm>
            <a:off x="457200" y="1143000"/>
            <a:ext cx="8229600" cy="5486400"/>
          </a:xfrm>
        </p:spPr>
        <p:txBody>
          <a:bodyPr>
            <a:normAutofit fontScale="92500" lnSpcReduction="20000"/>
          </a:bodyPr>
          <a:lstStyle/>
          <a:p>
            <a:pPr marL="0" indent="0">
              <a:buNone/>
            </a:pPr>
            <a:r>
              <a:rPr lang="en-US" b="1" dirty="0" smtClean="0"/>
              <a:t>Praise me </a:t>
            </a:r>
          </a:p>
          <a:p>
            <a:pPr marL="0" indent="0">
              <a:buNone/>
            </a:pPr>
            <a:r>
              <a:rPr lang="en-US" dirty="0" smtClean="0"/>
              <a:t>P</a:t>
            </a:r>
            <a:r>
              <a:rPr lang="en-US" dirty="0"/>
              <a:t>: Provocative (or sexually seductive) behavior </a:t>
            </a:r>
            <a:endParaRPr lang="en-US" dirty="0" smtClean="0"/>
          </a:p>
          <a:p>
            <a:pPr marL="0" indent="0">
              <a:buNone/>
            </a:pPr>
            <a:r>
              <a:rPr lang="en-US" dirty="0" smtClean="0"/>
              <a:t>R</a:t>
            </a:r>
            <a:r>
              <a:rPr lang="en-US" dirty="0"/>
              <a:t>: Relationships (considered more intimate than they </a:t>
            </a:r>
            <a:r>
              <a:rPr lang="en-US" dirty="0" smtClean="0"/>
              <a:t>are)</a:t>
            </a:r>
          </a:p>
          <a:p>
            <a:pPr marL="0" indent="0">
              <a:buNone/>
            </a:pPr>
            <a:r>
              <a:rPr lang="en-US" dirty="0" smtClean="0"/>
              <a:t>A</a:t>
            </a:r>
            <a:r>
              <a:rPr lang="en-US" dirty="0"/>
              <a:t>: Attention (uncomfortable when not the center of attention) </a:t>
            </a:r>
          </a:p>
          <a:p>
            <a:pPr marL="0" indent="0">
              <a:buNone/>
            </a:pPr>
            <a:r>
              <a:rPr lang="en-US" dirty="0" smtClean="0"/>
              <a:t>I</a:t>
            </a:r>
            <a:r>
              <a:rPr lang="en-US" dirty="0"/>
              <a:t>: Influenced easily </a:t>
            </a:r>
            <a:endParaRPr lang="en-US" dirty="0" smtClean="0"/>
          </a:p>
          <a:p>
            <a:pPr marL="0" indent="0">
              <a:buNone/>
            </a:pPr>
            <a:r>
              <a:rPr lang="en-US" dirty="0" smtClean="0"/>
              <a:t>S</a:t>
            </a:r>
            <a:r>
              <a:rPr lang="en-US" dirty="0"/>
              <a:t>: Style of speech (impressionistic, lacks detail) </a:t>
            </a:r>
            <a:endParaRPr lang="en-US" dirty="0" smtClean="0"/>
          </a:p>
          <a:p>
            <a:pPr marL="0" indent="0">
              <a:buNone/>
            </a:pPr>
            <a:r>
              <a:rPr lang="en-US" dirty="0" smtClean="0"/>
              <a:t>E</a:t>
            </a:r>
            <a:r>
              <a:rPr lang="en-US" dirty="0"/>
              <a:t>: Emotions (rapidly shifting and shallow) </a:t>
            </a:r>
          </a:p>
          <a:p>
            <a:pPr marL="0" indent="0">
              <a:buNone/>
            </a:pPr>
            <a:r>
              <a:rPr lang="en-US" dirty="0"/>
              <a:t>M: Make up (physical appearance used to draw attention to self) </a:t>
            </a:r>
            <a:endParaRPr lang="en-US" dirty="0" smtClean="0"/>
          </a:p>
          <a:p>
            <a:pPr marL="0" indent="0">
              <a:buNone/>
            </a:pPr>
            <a:r>
              <a:rPr lang="en-US" dirty="0" smtClean="0"/>
              <a:t>E</a:t>
            </a:r>
            <a:r>
              <a:rPr lang="en-US" dirty="0"/>
              <a:t>: Emotions exaggerated (theatrical) </a:t>
            </a:r>
          </a:p>
        </p:txBody>
      </p:sp>
    </p:spTree>
    <p:extLst>
      <p:ext uri="{BB962C8B-B14F-4D97-AF65-F5344CB8AC3E}">
        <p14:creationId xmlns:p14="http://schemas.microsoft.com/office/powerpoint/2010/main" val="311851360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
            </a:r>
            <a:br>
              <a:rPr lang="en-US" b="1" dirty="0" smtClean="0"/>
            </a:br>
            <a:r>
              <a:rPr lang="en-US" b="1" dirty="0" smtClean="0"/>
              <a:t>Narcissistic </a:t>
            </a:r>
            <a:r>
              <a:rPr lang="en-US" b="1" dirty="0"/>
              <a:t>personality disorder: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Have </a:t>
            </a:r>
            <a:r>
              <a:rPr lang="en-US" dirty="0"/>
              <a:t>significant problems with their sense of self-worth stemming from a powerful sense of entitlement. </a:t>
            </a:r>
          </a:p>
          <a:p>
            <a:r>
              <a:rPr lang="en-US" dirty="0" smtClean="0"/>
              <a:t>This </a:t>
            </a:r>
            <a:r>
              <a:rPr lang="en-US" dirty="0"/>
              <a:t>leads them to believe they deserve special treatment, and to assume they have special powers, are uniquely talented, or that they are especially brilliant or </a:t>
            </a:r>
            <a:r>
              <a:rPr lang="en-US" dirty="0" smtClean="0"/>
              <a:t>attractive/stunning beauty. </a:t>
            </a:r>
          </a:p>
          <a:p>
            <a:r>
              <a:rPr lang="en-US" dirty="0" smtClean="0"/>
              <a:t>Their </a:t>
            </a:r>
            <a:r>
              <a:rPr lang="en-US" dirty="0"/>
              <a:t>sense of entitlement can lead them to act in ways that fundamentally disregard and disrespect the worth of those around them.</a:t>
            </a:r>
          </a:p>
        </p:txBody>
      </p:sp>
    </p:spTree>
    <p:extLst>
      <p:ext uri="{BB962C8B-B14F-4D97-AF65-F5344CB8AC3E}">
        <p14:creationId xmlns:p14="http://schemas.microsoft.com/office/powerpoint/2010/main" val="365074417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
            </a:r>
            <a:br>
              <a:rPr lang="en-US" b="1" dirty="0" smtClean="0"/>
            </a:br>
            <a:r>
              <a:rPr lang="en-US" b="1" dirty="0" smtClean="0"/>
              <a:t>Narcissistic </a:t>
            </a:r>
            <a:r>
              <a:rPr lang="en-US" b="1" dirty="0"/>
              <a:t>personality disorder: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Grandiosity</a:t>
            </a:r>
            <a:r>
              <a:rPr lang="en-US" dirty="0"/>
              <a:t>, need for admiration, lack of empathy </a:t>
            </a:r>
          </a:p>
          <a:p>
            <a:r>
              <a:rPr lang="en-US" dirty="0" smtClean="0"/>
              <a:t>Anxiety </a:t>
            </a:r>
            <a:r>
              <a:rPr lang="en-US" dirty="0"/>
              <a:t>caused by doubts of personal adequacy </a:t>
            </a:r>
          </a:p>
          <a:p>
            <a:r>
              <a:rPr lang="en-US" dirty="0" smtClean="0"/>
              <a:t>Demanding</a:t>
            </a:r>
            <a:r>
              <a:rPr lang="en-US" dirty="0"/>
              <a:t>, attitude of entitlement, denial of illness, alternating praise and devaluation of physician </a:t>
            </a:r>
          </a:p>
          <a:p>
            <a:endParaRPr lang="en-US" dirty="0"/>
          </a:p>
        </p:txBody>
      </p:sp>
    </p:spTree>
    <p:extLst>
      <p:ext uri="{BB962C8B-B14F-4D97-AF65-F5344CB8AC3E}">
        <p14:creationId xmlns:p14="http://schemas.microsoft.com/office/powerpoint/2010/main" val="577502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smtClean="0"/>
              <a:t>Narcissistic PD </a:t>
            </a:r>
            <a:endParaRPr lang="en-US" b="1" dirty="0"/>
          </a:p>
        </p:txBody>
      </p:sp>
      <p:sp>
        <p:nvSpPr>
          <p:cNvPr id="3" name="Content Placeholder 2"/>
          <p:cNvSpPr>
            <a:spLocks noGrp="1"/>
          </p:cNvSpPr>
          <p:nvPr>
            <p:ph idx="1"/>
          </p:nvPr>
        </p:nvSpPr>
        <p:spPr>
          <a:xfrm>
            <a:off x="457200" y="1447800"/>
            <a:ext cx="8229600" cy="4678363"/>
          </a:xfrm>
        </p:spPr>
        <p:txBody>
          <a:bodyPr>
            <a:normAutofit fontScale="77500" lnSpcReduction="20000"/>
          </a:bodyPr>
          <a:lstStyle/>
          <a:p>
            <a:pPr marL="0" indent="0">
              <a:buNone/>
            </a:pPr>
            <a:r>
              <a:rPr lang="en-US" b="1" dirty="0" smtClean="0"/>
              <a:t>Special </a:t>
            </a:r>
          </a:p>
          <a:p>
            <a:pPr marL="0" indent="0">
              <a:buNone/>
            </a:pPr>
            <a:r>
              <a:rPr lang="en-US" dirty="0" smtClean="0"/>
              <a:t>S</a:t>
            </a:r>
            <a:r>
              <a:rPr lang="en-US" dirty="0"/>
              <a:t>: Special (believes he or she is special and unique) </a:t>
            </a:r>
            <a:endParaRPr lang="en-US" dirty="0" smtClean="0"/>
          </a:p>
          <a:p>
            <a:pPr marL="0" indent="0">
              <a:buNone/>
            </a:pPr>
            <a:r>
              <a:rPr lang="en-US" dirty="0" smtClean="0"/>
              <a:t>P</a:t>
            </a:r>
            <a:r>
              <a:rPr lang="en-US" dirty="0"/>
              <a:t>: Preoccupied with fantasies (of unlimited success, power, brilliance, beauty, or ideal love</a:t>
            </a:r>
            <a:r>
              <a:rPr lang="en-US" dirty="0" smtClean="0"/>
              <a:t>)</a:t>
            </a:r>
          </a:p>
          <a:p>
            <a:pPr marL="0" indent="0">
              <a:buNone/>
            </a:pPr>
            <a:r>
              <a:rPr lang="en-US" dirty="0" smtClean="0"/>
              <a:t>E</a:t>
            </a:r>
            <a:r>
              <a:rPr lang="en-US" dirty="0"/>
              <a:t>: Entitlement </a:t>
            </a:r>
            <a:endParaRPr lang="en-US" dirty="0" smtClean="0"/>
          </a:p>
          <a:p>
            <a:pPr marL="0" indent="0">
              <a:buNone/>
            </a:pPr>
            <a:r>
              <a:rPr lang="en-US" dirty="0" smtClean="0"/>
              <a:t>C</a:t>
            </a:r>
            <a:r>
              <a:rPr lang="en-US" dirty="0"/>
              <a:t>: Conceited (grandiose sense of self-importance) </a:t>
            </a:r>
            <a:endParaRPr lang="en-US" dirty="0" smtClean="0"/>
          </a:p>
          <a:p>
            <a:pPr marL="0" indent="0">
              <a:buNone/>
            </a:pPr>
            <a:r>
              <a:rPr lang="en-US" dirty="0" smtClean="0"/>
              <a:t>I</a:t>
            </a:r>
            <a:r>
              <a:rPr lang="en-US" dirty="0"/>
              <a:t>: Interpersonal </a:t>
            </a:r>
            <a:r>
              <a:rPr lang="en-US" dirty="0" smtClean="0"/>
              <a:t>exploitation</a:t>
            </a:r>
          </a:p>
          <a:p>
            <a:pPr marL="0" indent="0">
              <a:buNone/>
            </a:pPr>
            <a:r>
              <a:rPr lang="en-US" dirty="0" smtClean="0"/>
              <a:t>A</a:t>
            </a:r>
            <a:r>
              <a:rPr lang="en-US" dirty="0"/>
              <a:t>: Arrogant (haughty) </a:t>
            </a:r>
            <a:endParaRPr lang="en-US" dirty="0" smtClean="0"/>
          </a:p>
          <a:p>
            <a:pPr marL="0" indent="0">
              <a:buNone/>
            </a:pPr>
            <a:r>
              <a:rPr lang="en-US" dirty="0" smtClean="0"/>
              <a:t>L</a:t>
            </a:r>
            <a:r>
              <a:rPr lang="en-US" dirty="0"/>
              <a:t>: Lacks empathy </a:t>
            </a:r>
          </a:p>
          <a:p>
            <a:r>
              <a:rPr lang="en-US" dirty="0"/>
              <a:t>Validate concerns, give attentive and factual responses to questions, and channel patient's skills into dealing with illness. </a:t>
            </a:r>
          </a:p>
        </p:txBody>
      </p:sp>
    </p:spTree>
    <p:extLst>
      <p:ext uri="{BB962C8B-B14F-4D97-AF65-F5344CB8AC3E}">
        <p14:creationId xmlns:p14="http://schemas.microsoft.com/office/powerpoint/2010/main" val="1640088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Borderline personality disorder </a:t>
            </a:r>
            <a:endParaRPr lang="en-US" dirty="0"/>
          </a:p>
        </p:txBody>
      </p:sp>
      <p:sp>
        <p:nvSpPr>
          <p:cNvPr id="3" name="Content Placeholder 2"/>
          <p:cNvSpPr>
            <a:spLocks noGrp="1"/>
          </p:cNvSpPr>
          <p:nvPr>
            <p:ph idx="1"/>
          </p:nvPr>
        </p:nvSpPr>
        <p:spPr>
          <a:xfrm>
            <a:off x="457200" y="1295400"/>
            <a:ext cx="8229600" cy="4830763"/>
          </a:xfrm>
        </p:spPr>
        <p:txBody>
          <a:bodyPr>
            <a:normAutofit fontScale="92500" lnSpcReduction="20000"/>
          </a:bodyPr>
          <a:lstStyle/>
          <a:p>
            <a:endParaRPr lang="en-US" dirty="0"/>
          </a:p>
          <a:p>
            <a:r>
              <a:rPr lang="en-US" dirty="0" smtClean="0"/>
              <a:t>experience </a:t>
            </a:r>
            <a:r>
              <a:rPr lang="en-US" dirty="0"/>
              <a:t>intense and unstable emotions and moods that can shift fairly quickly. </a:t>
            </a:r>
            <a:endParaRPr lang="en-US" dirty="0" smtClean="0"/>
          </a:p>
          <a:p>
            <a:r>
              <a:rPr lang="en-US" dirty="0" smtClean="0"/>
              <a:t>They </a:t>
            </a:r>
            <a:r>
              <a:rPr lang="en-US" dirty="0"/>
              <a:t>generally have a hard time calming down once they have become upset. </a:t>
            </a:r>
            <a:r>
              <a:rPr lang="en-US" dirty="0" smtClean="0"/>
              <a:t>(frequently </a:t>
            </a:r>
            <a:r>
              <a:rPr lang="en-US" dirty="0"/>
              <a:t>have angry outbursts and engage in impulsive behaviors such as substance abuse, risky sexual liaisons, self-injury, overspending, or binge </a:t>
            </a:r>
            <a:r>
              <a:rPr lang="en-US" dirty="0" smtClean="0"/>
              <a:t>eating).</a:t>
            </a:r>
          </a:p>
          <a:p>
            <a:r>
              <a:rPr lang="en-US" dirty="0" smtClean="0"/>
              <a:t> </a:t>
            </a:r>
            <a:r>
              <a:rPr lang="en-US" dirty="0"/>
              <a:t>These behaviors often function to sooth them in the short-term, but harm them in the longer term.</a:t>
            </a:r>
          </a:p>
        </p:txBody>
      </p:sp>
    </p:spTree>
    <p:extLst>
      <p:ext uri="{BB962C8B-B14F-4D97-AF65-F5344CB8AC3E}">
        <p14:creationId xmlns:p14="http://schemas.microsoft.com/office/powerpoint/2010/main" val="100279344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Borderline personality disorder </a:t>
            </a:r>
            <a:endParaRPr lang="en-US"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endParaRPr lang="en-US" dirty="0"/>
          </a:p>
          <a:p>
            <a:r>
              <a:rPr lang="en-US" dirty="0"/>
              <a:t>Instability in interpersonal relationships, </a:t>
            </a:r>
          </a:p>
          <a:p>
            <a:r>
              <a:rPr lang="en-US" dirty="0" smtClean="0"/>
              <a:t>Fear </a:t>
            </a:r>
            <a:r>
              <a:rPr lang="en-US" dirty="0"/>
              <a:t>of rejection and abandonment, self-destructive acts, idealization and devaluation of physician </a:t>
            </a:r>
          </a:p>
          <a:p>
            <a:r>
              <a:rPr lang="en-US" dirty="0" smtClean="0"/>
              <a:t>Avoid </a:t>
            </a:r>
            <a:r>
              <a:rPr lang="en-US" dirty="0"/>
              <a:t>excessive familiarity; schedule regular visits; provide clear, non technical explanations; tolerate angry outbursts, but set limits; maintain awareness of personal feelings; consult psychiatrist. </a:t>
            </a:r>
          </a:p>
          <a:p>
            <a:r>
              <a:rPr lang="en-US" dirty="0"/>
              <a:t>Instability of interpersonal relationships, self-image, and affects </a:t>
            </a:r>
          </a:p>
          <a:p>
            <a:r>
              <a:rPr lang="en-US" dirty="0" smtClean="0"/>
              <a:t>Marked </a:t>
            </a:r>
            <a:r>
              <a:rPr lang="en-US" dirty="0"/>
              <a:t>impulsivity </a:t>
            </a:r>
          </a:p>
          <a:p>
            <a:endParaRPr lang="en-US" dirty="0"/>
          </a:p>
          <a:p>
            <a:endParaRPr lang="en-US" dirty="0"/>
          </a:p>
        </p:txBody>
      </p:sp>
    </p:spTree>
    <p:extLst>
      <p:ext uri="{BB962C8B-B14F-4D97-AF65-F5344CB8AC3E}">
        <p14:creationId xmlns:p14="http://schemas.microsoft.com/office/powerpoint/2010/main" val="24713460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Borderline PD </a:t>
            </a:r>
            <a:endParaRPr lang="en-US" dirty="0"/>
          </a:p>
        </p:txBody>
      </p:sp>
      <p:sp>
        <p:nvSpPr>
          <p:cNvPr id="3" name="Content Placeholder 2"/>
          <p:cNvSpPr>
            <a:spLocks noGrp="1"/>
          </p:cNvSpPr>
          <p:nvPr>
            <p:ph idx="1"/>
          </p:nvPr>
        </p:nvSpPr>
        <p:spPr>
          <a:xfrm>
            <a:off x="457200" y="990600"/>
            <a:ext cx="8229600" cy="5791200"/>
          </a:xfrm>
        </p:spPr>
        <p:txBody>
          <a:bodyPr>
            <a:normAutofit fontScale="92500" lnSpcReduction="20000"/>
          </a:bodyPr>
          <a:lstStyle/>
          <a:p>
            <a:pPr marL="0" indent="0">
              <a:buNone/>
            </a:pPr>
            <a:r>
              <a:rPr lang="en-US" b="1" dirty="0"/>
              <a:t>AM SUICIDE (5 criteria) </a:t>
            </a:r>
            <a:endParaRPr lang="en-US" b="1" dirty="0" smtClean="0"/>
          </a:p>
          <a:p>
            <a:r>
              <a:rPr lang="en-US" dirty="0"/>
              <a:t>A: Abandonment </a:t>
            </a:r>
            <a:endParaRPr lang="en-US" dirty="0" smtClean="0"/>
          </a:p>
          <a:p>
            <a:r>
              <a:rPr lang="en-US" dirty="0" smtClean="0"/>
              <a:t>M</a:t>
            </a:r>
            <a:r>
              <a:rPr lang="en-US" dirty="0"/>
              <a:t>: Mood instability (marked reactivity of mood) </a:t>
            </a:r>
          </a:p>
          <a:p>
            <a:r>
              <a:rPr lang="en-US" dirty="0"/>
              <a:t>S: Suicidal (or self-mutilating) </a:t>
            </a:r>
            <a:r>
              <a:rPr lang="en-US" dirty="0" smtClean="0"/>
              <a:t>behavior</a:t>
            </a:r>
          </a:p>
          <a:p>
            <a:r>
              <a:rPr lang="en-US" dirty="0" smtClean="0"/>
              <a:t>U</a:t>
            </a:r>
            <a:r>
              <a:rPr lang="en-US" dirty="0"/>
              <a:t>: Unstable and intense </a:t>
            </a:r>
            <a:r>
              <a:rPr lang="en-US" dirty="0" smtClean="0"/>
              <a:t>relationships</a:t>
            </a:r>
          </a:p>
          <a:p>
            <a:r>
              <a:rPr lang="en-US" dirty="0" smtClean="0"/>
              <a:t>I</a:t>
            </a:r>
            <a:r>
              <a:rPr lang="en-US" dirty="0"/>
              <a:t>: Impulsivity (in two potentially self-damaging areas) </a:t>
            </a:r>
            <a:endParaRPr lang="en-US" dirty="0" smtClean="0"/>
          </a:p>
          <a:p>
            <a:r>
              <a:rPr lang="en-US" dirty="0" smtClean="0"/>
              <a:t>C</a:t>
            </a:r>
            <a:r>
              <a:rPr lang="en-US" dirty="0"/>
              <a:t>: Control of anger </a:t>
            </a:r>
            <a:endParaRPr lang="en-US" dirty="0" smtClean="0"/>
          </a:p>
          <a:p>
            <a:r>
              <a:rPr lang="en-US" dirty="0" smtClean="0"/>
              <a:t>I</a:t>
            </a:r>
            <a:r>
              <a:rPr lang="en-US" dirty="0"/>
              <a:t>: Identity disturbance </a:t>
            </a:r>
            <a:endParaRPr lang="en-US" dirty="0" smtClean="0"/>
          </a:p>
          <a:p>
            <a:r>
              <a:rPr lang="en-US" dirty="0" smtClean="0"/>
              <a:t>D</a:t>
            </a:r>
            <a:r>
              <a:rPr lang="en-US" dirty="0"/>
              <a:t>: Dissociative (or paranoid) symptoms that are transient and stress-related </a:t>
            </a:r>
            <a:endParaRPr lang="en-US" dirty="0" smtClean="0"/>
          </a:p>
          <a:p>
            <a:r>
              <a:rPr lang="en-US" dirty="0" smtClean="0"/>
              <a:t>E</a:t>
            </a:r>
            <a:r>
              <a:rPr lang="en-US" dirty="0"/>
              <a:t>: Emptiness (chronic feelings of) </a:t>
            </a:r>
          </a:p>
        </p:txBody>
      </p:sp>
    </p:spTree>
    <p:extLst>
      <p:ext uri="{BB962C8B-B14F-4D97-AF65-F5344CB8AC3E}">
        <p14:creationId xmlns:p14="http://schemas.microsoft.com/office/powerpoint/2010/main" val="386797367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Cluster C: Anxious, Fearful Group (Neurotics) </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10000"/>
          </a:bodyPr>
          <a:lstStyle/>
          <a:p>
            <a:r>
              <a:rPr lang="en-US" b="1" dirty="0"/>
              <a:t>Avoidant personality disorder: </a:t>
            </a:r>
            <a:endParaRPr lang="en-US" dirty="0"/>
          </a:p>
          <a:p>
            <a:r>
              <a:rPr lang="en-US" dirty="0" smtClean="0"/>
              <a:t>Social </a:t>
            </a:r>
            <a:r>
              <a:rPr lang="en-US" dirty="0"/>
              <a:t>inhibition </a:t>
            </a:r>
          </a:p>
          <a:p>
            <a:r>
              <a:rPr lang="en-US" dirty="0" smtClean="0"/>
              <a:t>Feelings </a:t>
            </a:r>
            <a:r>
              <a:rPr lang="en-US" dirty="0"/>
              <a:t>of inadequacy </a:t>
            </a:r>
          </a:p>
          <a:p>
            <a:r>
              <a:rPr lang="en-US" dirty="0" smtClean="0"/>
              <a:t>Hypersensitivity </a:t>
            </a:r>
            <a:r>
              <a:rPr lang="en-US" dirty="0"/>
              <a:t>to criticism </a:t>
            </a:r>
            <a:endParaRPr lang="en-US" dirty="0" smtClean="0"/>
          </a:p>
          <a:p>
            <a:r>
              <a:rPr lang="en-US" dirty="0" smtClean="0"/>
              <a:t>People </a:t>
            </a:r>
            <a:r>
              <a:rPr lang="en-US" dirty="0"/>
              <a:t>with this disorder are intensely afraid that others will ridicule them, reject them, or criticize them. </a:t>
            </a:r>
            <a:endParaRPr lang="en-US" dirty="0" smtClean="0"/>
          </a:p>
          <a:p>
            <a:r>
              <a:rPr lang="en-US" dirty="0" smtClean="0"/>
              <a:t>This </a:t>
            </a:r>
            <a:r>
              <a:rPr lang="en-US" dirty="0"/>
              <a:t>leads them to avoid social situations and to avoid interactions with others. </a:t>
            </a:r>
            <a:endParaRPr lang="en-US" dirty="0" smtClean="0"/>
          </a:p>
          <a:p>
            <a:r>
              <a:rPr lang="en-US" dirty="0" smtClean="0"/>
              <a:t>This </a:t>
            </a:r>
            <a:r>
              <a:rPr lang="en-US" dirty="0"/>
              <a:t>further limits their ability to develop social skills. People with Avoidant Personality Disorders often have a very limited social world with a small circle of confidants. Their social life is otherwise rather limited..</a:t>
            </a:r>
          </a:p>
          <a:p>
            <a:endParaRPr lang="en-US" dirty="0"/>
          </a:p>
        </p:txBody>
      </p:sp>
    </p:spTree>
    <p:extLst>
      <p:ext uri="{BB962C8B-B14F-4D97-AF65-F5344CB8AC3E}">
        <p14:creationId xmlns:p14="http://schemas.microsoft.com/office/powerpoint/2010/main" val="35499899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Avoidant PD </a:t>
            </a:r>
            <a:endParaRPr lang="en-US" dirty="0"/>
          </a:p>
        </p:txBody>
      </p:sp>
      <p:sp>
        <p:nvSpPr>
          <p:cNvPr id="3" name="Content Placeholder 2"/>
          <p:cNvSpPr>
            <a:spLocks noGrp="1"/>
          </p:cNvSpPr>
          <p:nvPr>
            <p:ph idx="1"/>
          </p:nvPr>
        </p:nvSpPr>
        <p:spPr>
          <a:xfrm>
            <a:off x="457200" y="1219200"/>
            <a:ext cx="8229600" cy="5486400"/>
          </a:xfrm>
        </p:spPr>
        <p:txBody>
          <a:bodyPr>
            <a:normAutofit fontScale="85000" lnSpcReduction="10000"/>
          </a:bodyPr>
          <a:lstStyle/>
          <a:p>
            <a:r>
              <a:rPr lang="en-US" b="1" dirty="0"/>
              <a:t>CRINGES (4 criteria) </a:t>
            </a:r>
            <a:endParaRPr lang="en-US" dirty="0"/>
          </a:p>
          <a:p>
            <a:r>
              <a:rPr lang="en-US" dirty="0"/>
              <a:t>C: Certainty (of being liked required before willing to get involved with others) </a:t>
            </a:r>
            <a:endParaRPr lang="en-US" dirty="0" smtClean="0"/>
          </a:p>
          <a:p>
            <a:r>
              <a:rPr lang="en-US" dirty="0" smtClean="0"/>
              <a:t>R</a:t>
            </a:r>
            <a:r>
              <a:rPr lang="en-US" dirty="0"/>
              <a:t>: Rejection (or criticism) preoccupies one's thoughts in social situations </a:t>
            </a:r>
            <a:endParaRPr lang="en-US" dirty="0" smtClean="0"/>
          </a:p>
          <a:p>
            <a:r>
              <a:rPr lang="en-US" dirty="0" smtClean="0"/>
              <a:t>I</a:t>
            </a:r>
            <a:r>
              <a:rPr lang="en-US" dirty="0"/>
              <a:t>: Intimate relationships (restraint in intimate relationships due to fear of being shamed) </a:t>
            </a:r>
            <a:endParaRPr lang="en-US" dirty="0" smtClean="0"/>
          </a:p>
          <a:p>
            <a:r>
              <a:rPr lang="en-US" dirty="0" smtClean="0"/>
              <a:t>N</a:t>
            </a:r>
            <a:r>
              <a:rPr lang="en-US" dirty="0"/>
              <a:t>: New interpersonal relationships (is inhibited in</a:t>
            </a:r>
            <a:r>
              <a:rPr lang="en-US" dirty="0" smtClean="0"/>
              <a:t>)</a:t>
            </a:r>
          </a:p>
          <a:p>
            <a:r>
              <a:rPr lang="en-US" dirty="0" smtClean="0"/>
              <a:t>G</a:t>
            </a:r>
            <a:r>
              <a:rPr lang="en-US" dirty="0"/>
              <a:t>: Gets around occupational activity (involving significant interpersonal contact) </a:t>
            </a:r>
            <a:endParaRPr lang="en-US" dirty="0" smtClean="0"/>
          </a:p>
          <a:p>
            <a:r>
              <a:rPr lang="en-US" dirty="0" smtClean="0"/>
              <a:t>E</a:t>
            </a:r>
            <a:r>
              <a:rPr lang="en-US" dirty="0"/>
              <a:t>: Embarrassment (potential) prevents new activity or taking personal risks </a:t>
            </a:r>
            <a:endParaRPr lang="en-US" dirty="0" smtClean="0"/>
          </a:p>
          <a:p>
            <a:r>
              <a:rPr lang="en-US" dirty="0" smtClean="0"/>
              <a:t>S</a:t>
            </a:r>
            <a:r>
              <a:rPr lang="en-US" dirty="0"/>
              <a:t>: Self viewed as unappealing, inept, or inferior </a:t>
            </a:r>
          </a:p>
        </p:txBody>
      </p:sp>
    </p:spTree>
    <p:extLst>
      <p:ext uri="{BB962C8B-B14F-4D97-AF65-F5344CB8AC3E}">
        <p14:creationId xmlns:p14="http://schemas.microsoft.com/office/powerpoint/2010/main" val="363418011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Dependent personality disorder </a:t>
            </a:r>
            <a:endParaRPr lang="en-US" dirty="0"/>
          </a:p>
        </p:txBody>
      </p:sp>
      <p:sp>
        <p:nvSpPr>
          <p:cNvPr id="3" name="Content Placeholder 2"/>
          <p:cNvSpPr>
            <a:spLocks noGrp="1"/>
          </p:cNvSpPr>
          <p:nvPr>
            <p:ph idx="1"/>
          </p:nvPr>
        </p:nvSpPr>
        <p:spPr/>
        <p:txBody>
          <a:bodyPr>
            <a:normAutofit fontScale="92500" lnSpcReduction="20000"/>
          </a:bodyPr>
          <a:lstStyle/>
          <a:p>
            <a:r>
              <a:rPr lang="en-US" dirty="0"/>
              <a:t>strong need to be taken care of by other people. </a:t>
            </a:r>
            <a:endParaRPr lang="en-US" dirty="0" smtClean="0"/>
          </a:p>
          <a:p>
            <a:r>
              <a:rPr lang="en-US" dirty="0" smtClean="0"/>
              <a:t>This </a:t>
            </a:r>
            <a:r>
              <a:rPr lang="en-US" dirty="0"/>
              <a:t>need to be taken care of, and the associated fear of losing the support of others, often leads people with Dependent Personality Disorder to behave in a "clingy" manner; to submit to the desires of other people. </a:t>
            </a:r>
            <a:endParaRPr lang="en-US" dirty="0" smtClean="0"/>
          </a:p>
          <a:p>
            <a:r>
              <a:rPr lang="en-US" dirty="0" smtClean="0"/>
              <a:t>In </a:t>
            </a:r>
            <a:r>
              <a:rPr lang="en-US" dirty="0"/>
              <a:t>order to avoid conflict, they may have great difficulty standing up for themselves</a:t>
            </a:r>
            <a:r>
              <a:rPr lang="en-US" dirty="0" smtClean="0"/>
              <a:t>.</a:t>
            </a:r>
          </a:p>
          <a:p>
            <a:pPr lvl="1"/>
            <a:r>
              <a:rPr lang="en-US" dirty="0" smtClean="0"/>
              <a:t>Excessive </a:t>
            </a:r>
            <a:r>
              <a:rPr lang="en-US" dirty="0"/>
              <a:t>need to be taken care of </a:t>
            </a:r>
          </a:p>
          <a:p>
            <a:pPr lvl="1"/>
            <a:r>
              <a:rPr lang="en-US" dirty="0" smtClean="0"/>
              <a:t>Submissive </a:t>
            </a:r>
            <a:r>
              <a:rPr lang="en-US" dirty="0"/>
              <a:t>behavior </a:t>
            </a:r>
            <a:endParaRPr lang="en-US" dirty="0" smtClean="0"/>
          </a:p>
          <a:p>
            <a:pPr lvl="1"/>
            <a:r>
              <a:rPr lang="en-US" dirty="0" smtClean="0"/>
              <a:t>Fear </a:t>
            </a:r>
            <a:r>
              <a:rPr lang="en-US" dirty="0"/>
              <a:t>of separation </a:t>
            </a:r>
          </a:p>
          <a:p>
            <a:endParaRPr lang="en-US" dirty="0"/>
          </a:p>
        </p:txBody>
      </p:sp>
    </p:spTree>
    <p:extLst>
      <p:ext uri="{BB962C8B-B14F-4D97-AF65-F5344CB8AC3E}">
        <p14:creationId xmlns:p14="http://schemas.microsoft.com/office/powerpoint/2010/main" val="22118675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Dependent PD </a:t>
            </a:r>
            <a:endParaRPr lang="en-US" dirty="0"/>
          </a:p>
        </p:txBody>
      </p:sp>
      <p:sp>
        <p:nvSpPr>
          <p:cNvPr id="3" name="Content Placeholder 2"/>
          <p:cNvSpPr>
            <a:spLocks noGrp="1"/>
          </p:cNvSpPr>
          <p:nvPr>
            <p:ph idx="1"/>
          </p:nvPr>
        </p:nvSpPr>
        <p:spPr>
          <a:xfrm>
            <a:off x="457200" y="990600"/>
            <a:ext cx="8229600" cy="5715000"/>
          </a:xfrm>
        </p:spPr>
        <p:txBody>
          <a:bodyPr>
            <a:normAutofit fontScale="85000" lnSpcReduction="20000"/>
          </a:bodyPr>
          <a:lstStyle/>
          <a:p>
            <a:pPr marL="0" indent="0">
              <a:buNone/>
            </a:pPr>
            <a:r>
              <a:rPr lang="en-US" b="1" dirty="0"/>
              <a:t>RELIANCE (5 criteria) </a:t>
            </a:r>
            <a:endParaRPr lang="en-US" dirty="0"/>
          </a:p>
          <a:p>
            <a:r>
              <a:rPr lang="en-US" dirty="0"/>
              <a:t>R: Reassurance required for decisions </a:t>
            </a:r>
            <a:endParaRPr lang="en-US" dirty="0" smtClean="0"/>
          </a:p>
          <a:p>
            <a:r>
              <a:rPr lang="en-US" dirty="0" smtClean="0"/>
              <a:t>E</a:t>
            </a:r>
            <a:r>
              <a:rPr lang="en-US" dirty="0"/>
              <a:t>: Expressing disagreement difficult (due to fear of loss of support or approval) </a:t>
            </a:r>
            <a:endParaRPr lang="en-US" dirty="0" smtClean="0"/>
          </a:p>
          <a:p>
            <a:r>
              <a:rPr lang="en-US" dirty="0" smtClean="0"/>
              <a:t>L</a:t>
            </a:r>
            <a:r>
              <a:rPr lang="en-US" dirty="0"/>
              <a:t>: Life responsibilities (needs to have these assumed by others) </a:t>
            </a:r>
            <a:endParaRPr lang="en-US" dirty="0" smtClean="0"/>
          </a:p>
          <a:p>
            <a:r>
              <a:rPr lang="en-US" dirty="0" smtClean="0"/>
              <a:t>I</a:t>
            </a:r>
            <a:r>
              <a:rPr lang="en-US" dirty="0"/>
              <a:t>: Initiating projects difficult (due to lack of self-confidence) </a:t>
            </a:r>
            <a:endParaRPr lang="en-US" dirty="0" smtClean="0"/>
          </a:p>
          <a:p>
            <a:r>
              <a:rPr lang="en-US" dirty="0" smtClean="0"/>
              <a:t>A</a:t>
            </a:r>
            <a:r>
              <a:rPr lang="en-US" dirty="0"/>
              <a:t>: Alone (feels helpless and discomfort when alone) </a:t>
            </a:r>
            <a:endParaRPr lang="en-US" dirty="0" smtClean="0"/>
          </a:p>
          <a:p>
            <a:r>
              <a:rPr lang="en-US" dirty="0" smtClean="0"/>
              <a:t>N</a:t>
            </a:r>
            <a:r>
              <a:rPr lang="en-US" dirty="0"/>
              <a:t>: Nurturance (goes to excessive lengths to obtain nurturance and support) </a:t>
            </a:r>
            <a:endParaRPr lang="en-US" dirty="0" smtClean="0"/>
          </a:p>
          <a:p>
            <a:r>
              <a:rPr lang="en-US" dirty="0" smtClean="0"/>
              <a:t>C</a:t>
            </a:r>
            <a:r>
              <a:rPr lang="en-US" dirty="0"/>
              <a:t>: Companionship (another relationship) sought urgently when close relationship </a:t>
            </a:r>
            <a:r>
              <a:rPr lang="en-US" dirty="0" smtClean="0"/>
              <a:t>ends</a:t>
            </a:r>
          </a:p>
          <a:p>
            <a:r>
              <a:rPr lang="en-US" dirty="0" smtClean="0"/>
              <a:t>E</a:t>
            </a:r>
            <a:r>
              <a:rPr lang="en-US" dirty="0"/>
              <a:t>: Exaggerated fears of being left to care for self </a:t>
            </a:r>
          </a:p>
        </p:txBody>
      </p:sp>
    </p:spTree>
    <p:extLst>
      <p:ext uri="{BB962C8B-B14F-4D97-AF65-F5344CB8AC3E}">
        <p14:creationId xmlns:p14="http://schemas.microsoft.com/office/powerpoint/2010/main" val="293904911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Obsessive-compulsive personality disorder: </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Obsessive-compulsive </a:t>
            </a:r>
            <a:r>
              <a:rPr lang="en-US" b="1" dirty="0"/>
              <a:t>personality disorder: </a:t>
            </a:r>
            <a:r>
              <a:rPr lang="en-US" b="1" dirty="0" smtClean="0"/>
              <a:t>.</a:t>
            </a:r>
          </a:p>
          <a:p>
            <a:r>
              <a:rPr lang="en-US" dirty="0" smtClean="0"/>
              <a:t>Preoccupied </a:t>
            </a:r>
            <a:r>
              <a:rPr lang="en-US" dirty="0"/>
              <a:t>with rules, regulations, and orderliness. </a:t>
            </a:r>
            <a:endParaRPr lang="en-US" dirty="0" smtClean="0"/>
          </a:p>
          <a:p>
            <a:r>
              <a:rPr lang="en-US" dirty="0" smtClean="0"/>
              <a:t>This </a:t>
            </a:r>
            <a:r>
              <a:rPr lang="en-US" dirty="0"/>
              <a:t>preoccupation with perfectionism and control is at the expense of flexibility, openness, and </a:t>
            </a:r>
            <a:r>
              <a:rPr lang="en-US" dirty="0" smtClean="0"/>
              <a:t>efficiency.</a:t>
            </a:r>
          </a:p>
          <a:p>
            <a:r>
              <a:rPr lang="en-US" dirty="0" smtClean="0"/>
              <a:t>They </a:t>
            </a:r>
            <a:r>
              <a:rPr lang="en-US" dirty="0"/>
              <a:t>are great makers of lists and schedules, and are often devoted to work to such an extent that they often neglect social </a:t>
            </a:r>
            <a:r>
              <a:rPr lang="en-US" dirty="0" smtClean="0"/>
              <a:t>relationships</a:t>
            </a:r>
          </a:p>
          <a:p>
            <a:pPr lvl="1"/>
            <a:r>
              <a:rPr lang="en-US" dirty="0" smtClean="0"/>
              <a:t>Preoccupation </a:t>
            </a:r>
            <a:r>
              <a:rPr lang="en-US" dirty="0"/>
              <a:t>with orderliness and perfectionism </a:t>
            </a:r>
          </a:p>
          <a:p>
            <a:r>
              <a:rPr lang="en-US" dirty="0" smtClean="0"/>
              <a:t>Mental </a:t>
            </a:r>
            <a:r>
              <a:rPr lang="en-US" dirty="0"/>
              <a:t>and interpersonal control </a:t>
            </a:r>
          </a:p>
          <a:p>
            <a:endParaRPr lang="en-US" dirty="0"/>
          </a:p>
        </p:txBody>
      </p:sp>
    </p:spTree>
    <p:extLst>
      <p:ext uri="{BB962C8B-B14F-4D97-AF65-F5344CB8AC3E}">
        <p14:creationId xmlns:p14="http://schemas.microsoft.com/office/powerpoint/2010/main" val="30891756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944562"/>
          </a:xfrm>
        </p:spPr>
        <p:txBody>
          <a:bodyPr/>
          <a:lstStyle/>
          <a:p>
            <a:r>
              <a:rPr lang="en-US" dirty="0" smtClean="0"/>
              <a:t>OCPD </a:t>
            </a:r>
            <a:endParaRPr lang="en-US" dirty="0"/>
          </a:p>
        </p:txBody>
      </p:sp>
      <p:sp>
        <p:nvSpPr>
          <p:cNvPr id="3" name="Content Placeholder 2"/>
          <p:cNvSpPr>
            <a:spLocks noGrp="1"/>
          </p:cNvSpPr>
          <p:nvPr>
            <p:ph idx="1"/>
          </p:nvPr>
        </p:nvSpPr>
        <p:spPr>
          <a:xfrm>
            <a:off x="457200" y="914400"/>
            <a:ext cx="8229600" cy="5791200"/>
          </a:xfrm>
        </p:spPr>
        <p:txBody>
          <a:bodyPr>
            <a:normAutofit fontScale="85000" lnSpcReduction="20000"/>
          </a:bodyPr>
          <a:lstStyle/>
          <a:p>
            <a:r>
              <a:rPr lang="en-US" b="1" dirty="0"/>
              <a:t>LAW FIRMS (4 criteria) </a:t>
            </a:r>
            <a:endParaRPr lang="en-US" dirty="0"/>
          </a:p>
          <a:p>
            <a:r>
              <a:rPr lang="en-US" dirty="0"/>
              <a:t>L: Loses point of activity (due to preoccupation with detail) </a:t>
            </a:r>
            <a:endParaRPr lang="en-US" dirty="0" smtClean="0"/>
          </a:p>
          <a:p>
            <a:r>
              <a:rPr lang="en-US" dirty="0" smtClean="0"/>
              <a:t>A</a:t>
            </a:r>
            <a:r>
              <a:rPr lang="en-US" dirty="0"/>
              <a:t>: Ability to complete tasks (compromised by perfectionism) </a:t>
            </a:r>
            <a:endParaRPr lang="en-US" dirty="0" smtClean="0"/>
          </a:p>
          <a:p>
            <a:r>
              <a:rPr lang="en-US" dirty="0" smtClean="0"/>
              <a:t>W</a:t>
            </a:r>
            <a:r>
              <a:rPr lang="en-US" dirty="0"/>
              <a:t>: Worthless objects (unable to discard) </a:t>
            </a:r>
          </a:p>
          <a:p>
            <a:r>
              <a:rPr lang="en-US" dirty="0"/>
              <a:t>F: Friendships (and leisure activities) excluded (due to a preoccupation with work) </a:t>
            </a:r>
            <a:endParaRPr lang="en-US" dirty="0" smtClean="0"/>
          </a:p>
          <a:p>
            <a:r>
              <a:rPr lang="en-US" dirty="0" smtClean="0"/>
              <a:t>I</a:t>
            </a:r>
            <a:r>
              <a:rPr lang="en-US" dirty="0"/>
              <a:t>: Inflexible, scrupulous, over conscientious (on ethics, values, or morality, not accounted for by religion or culture) </a:t>
            </a:r>
            <a:endParaRPr lang="en-US" dirty="0" smtClean="0"/>
          </a:p>
          <a:p>
            <a:r>
              <a:rPr lang="en-US" dirty="0" smtClean="0"/>
              <a:t>R</a:t>
            </a:r>
            <a:r>
              <a:rPr lang="en-US" dirty="0"/>
              <a:t>: Reluctant to delegate (unless others submit to exact guidelines) </a:t>
            </a:r>
            <a:endParaRPr lang="en-US" dirty="0" smtClean="0"/>
          </a:p>
          <a:p>
            <a:r>
              <a:rPr lang="en-US" dirty="0" smtClean="0"/>
              <a:t>M</a:t>
            </a:r>
            <a:r>
              <a:rPr lang="en-US" dirty="0"/>
              <a:t>: Miserly (toward self and others) </a:t>
            </a:r>
            <a:endParaRPr lang="en-US" dirty="0" smtClean="0"/>
          </a:p>
          <a:p>
            <a:r>
              <a:rPr lang="en-US" dirty="0" smtClean="0"/>
              <a:t>S</a:t>
            </a:r>
            <a:r>
              <a:rPr lang="en-US" dirty="0"/>
              <a:t>: Stubbornness (and rigidity) </a:t>
            </a:r>
          </a:p>
        </p:txBody>
      </p:sp>
    </p:spTree>
    <p:extLst>
      <p:ext uri="{BB962C8B-B14F-4D97-AF65-F5344CB8AC3E}">
        <p14:creationId xmlns:p14="http://schemas.microsoft.com/office/powerpoint/2010/main" val="82377735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Sexual disorders </a:t>
            </a:r>
            <a:endParaRPr lang="en-US" dirty="0"/>
          </a:p>
        </p:txBody>
      </p:sp>
      <p:sp>
        <p:nvSpPr>
          <p:cNvPr id="3" name="Content Placeholder 2"/>
          <p:cNvSpPr>
            <a:spLocks noGrp="1"/>
          </p:cNvSpPr>
          <p:nvPr>
            <p:ph idx="1"/>
          </p:nvPr>
        </p:nvSpPr>
        <p:spPr>
          <a:xfrm>
            <a:off x="457200" y="1295400"/>
            <a:ext cx="8229600" cy="4830763"/>
          </a:xfrm>
        </p:spPr>
        <p:txBody>
          <a:bodyPr/>
          <a:lstStyle/>
          <a:p>
            <a:pPr marL="0" indent="0">
              <a:buNone/>
            </a:pPr>
            <a:endParaRPr lang="en-US" dirty="0"/>
          </a:p>
          <a:p>
            <a:pPr marL="0" indent="0">
              <a:buNone/>
            </a:pPr>
            <a:r>
              <a:rPr lang="en-US" b="1" dirty="0" smtClean="0"/>
              <a:t>Sexual </a:t>
            </a:r>
            <a:r>
              <a:rPr lang="en-US" b="1" dirty="0"/>
              <a:t>disorders </a:t>
            </a:r>
            <a:endParaRPr lang="en-US" dirty="0"/>
          </a:p>
          <a:p>
            <a:r>
              <a:rPr lang="en-US" dirty="0"/>
              <a:t>Sexual disorders can be classified into 3 main types </a:t>
            </a:r>
          </a:p>
          <a:p>
            <a:pPr marL="0" indent="0">
              <a:buNone/>
            </a:pPr>
            <a:r>
              <a:rPr lang="en-US" dirty="0"/>
              <a:t>a. Gender identity disorders </a:t>
            </a:r>
          </a:p>
          <a:p>
            <a:pPr marL="0" indent="0">
              <a:buNone/>
            </a:pPr>
            <a:r>
              <a:rPr lang="en-US" dirty="0"/>
              <a:t>b. </a:t>
            </a:r>
            <a:r>
              <a:rPr lang="en-US" dirty="0" err="1"/>
              <a:t>Paraphilias</a:t>
            </a:r>
            <a:r>
              <a:rPr lang="en-US" dirty="0"/>
              <a:t> </a:t>
            </a:r>
          </a:p>
          <a:p>
            <a:pPr marL="0" indent="0">
              <a:buNone/>
            </a:pPr>
            <a:r>
              <a:rPr lang="en-US" dirty="0"/>
              <a:t>c. Sexual dysfunctions </a:t>
            </a:r>
          </a:p>
          <a:p>
            <a:endParaRPr lang="en-US" dirty="0"/>
          </a:p>
        </p:txBody>
      </p:sp>
    </p:spTree>
    <p:extLst>
      <p:ext uri="{BB962C8B-B14F-4D97-AF65-F5344CB8AC3E}">
        <p14:creationId xmlns:p14="http://schemas.microsoft.com/office/powerpoint/2010/main" val="38281228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i="1" dirty="0"/>
              <a:t>Gender identity disorders</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10000"/>
          </a:bodyPr>
          <a:lstStyle/>
          <a:p>
            <a:pPr marL="0" indent="0">
              <a:buNone/>
            </a:pPr>
            <a:r>
              <a:rPr lang="en-US" dirty="0" smtClean="0"/>
              <a:t>These </a:t>
            </a:r>
            <a:r>
              <a:rPr lang="en-US" dirty="0"/>
              <a:t>disorders are characterized by disturbances in gender identity [sense of being male or female is disturbed] </a:t>
            </a:r>
            <a:r>
              <a:rPr lang="en-US" dirty="0" smtClean="0"/>
              <a:t> </a:t>
            </a:r>
            <a:endParaRPr lang="en-US" dirty="0"/>
          </a:p>
          <a:p>
            <a:pPr marL="0" indent="0">
              <a:buNone/>
            </a:pPr>
            <a:r>
              <a:rPr lang="en-US" b="1" dirty="0"/>
              <a:t>a) </a:t>
            </a:r>
            <a:r>
              <a:rPr lang="en-US" b="1" dirty="0" err="1"/>
              <a:t>transexualism</a:t>
            </a:r>
            <a:r>
              <a:rPr lang="en-US" b="1" dirty="0"/>
              <a:t> </a:t>
            </a:r>
            <a:endParaRPr lang="en-US" dirty="0"/>
          </a:p>
          <a:p>
            <a:r>
              <a:rPr lang="en-US" dirty="0"/>
              <a:t>It is the severest form of gender identity disorder characterized by: </a:t>
            </a:r>
          </a:p>
          <a:p>
            <a:r>
              <a:rPr lang="en-US" dirty="0" smtClean="0"/>
              <a:t>Normal </a:t>
            </a:r>
            <a:r>
              <a:rPr lang="en-US" dirty="0"/>
              <a:t>anatomic sex </a:t>
            </a:r>
          </a:p>
          <a:p>
            <a:r>
              <a:rPr lang="en-US" dirty="0" smtClean="0"/>
              <a:t>Persistent </a:t>
            </a:r>
            <a:r>
              <a:rPr lang="en-US" dirty="0"/>
              <a:t>and significant sense of discomfort regarding ones anatomic sex </a:t>
            </a:r>
          </a:p>
          <a:p>
            <a:r>
              <a:rPr lang="en-US" dirty="0" smtClean="0"/>
              <a:t>Marked </a:t>
            </a:r>
            <a:r>
              <a:rPr lang="en-US" dirty="0"/>
              <a:t>preoccupation with the wish to get rid of one’s genitals and secondary sexual characteristics </a:t>
            </a:r>
          </a:p>
          <a:p>
            <a:r>
              <a:rPr lang="en-US" dirty="0" smtClean="0"/>
              <a:t>Diagnosis </a:t>
            </a:r>
            <a:r>
              <a:rPr lang="en-US" dirty="0"/>
              <a:t>is made after puberty </a:t>
            </a:r>
          </a:p>
          <a:p>
            <a:pPr marL="0" indent="0">
              <a:buNone/>
            </a:pPr>
            <a:endParaRPr lang="en-US" dirty="0"/>
          </a:p>
        </p:txBody>
      </p:sp>
    </p:spTree>
    <p:extLst>
      <p:ext uri="{BB962C8B-B14F-4D97-AF65-F5344CB8AC3E}">
        <p14:creationId xmlns:p14="http://schemas.microsoft.com/office/powerpoint/2010/main" val="342863007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i="1" dirty="0"/>
              <a:t>Gender identity disorders</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b="1" dirty="0" smtClean="0"/>
              <a:t>b</a:t>
            </a:r>
            <a:r>
              <a:rPr lang="en-US" b="1" dirty="0"/>
              <a:t>) dual role </a:t>
            </a:r>
            <a:r>
              <a:rPr lang="en-US" b="1" dirty="0" err="1"/>
              <a:t>transvestism</a:t>
            </a:r>
            <a:r>
              <a:rPr lang="en-US" b="1" dirty="0"/>
              <a:t> </a:t>
            </a:r>
            <a:endParaRPr lang="en-US" dirty="0"/>
          </a:p>
          <a:p>
            <a:r>
              <a:rPr lang="en-US" dirty="0"/>
              <a:t>Characterized by wearing of clothes of the opposite sex in order to enjoy the temporally experience of membership of the opposite sex but without any desire for a more permanent sex change. </a:t>
            </a:r>
          </a:p>
          <a:p>
            <a:r>
              <a:rPr lang="en-US" dirty="0"/>
              <a:t>No sexual excitement accompanies the cross dressing </a:t>
            </a:r>
          </a:p>
        </p:txBody>
      </p:sp>
    </p:spTree>
    <p:extLst>
      <p:ext uri="{BB962C8B-B14F-4D97-AF65-F5344CB8AC3E}">
        <p14:creationId xmlns:p14="http://schemas.microsoft.com/office/powerpoint/2010/main" val="15521251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Gender identity disorders</a:t>
            </a:r>
            <a:endParaRPr lang="en-US" dirty="0"/>
          </a:p>
        </p:txBody>
      </p:sp>
      <p:sp>
        <p:nvSpPr>
          <p:cNvPr id="3" name="Content Placeholder 2"/>
          <p:cNvSpPr>
            <a:spLocks noGrp="1"/>
          </p:cNvSpPr>
          <p:nvPr>
            <p:ph idx="1"/>
          </p:nvPr>
        </p:nvSpPr>
        <p:spPr/>
        <p:txBody>
          <a:bodyPr/>
          <a:lstStyle/>
          <a:p>
            <a:pPr marL="0" indent="0">
              <a:buNone/>
            </a:pPr>
            <a:r>
              <a:rPr lang="en-US" b="1" dirty="0" smtClean="0"/>
              <a:t>c</a:t>
            </a:r>
            <a:r>
              <a:rPr lang="en-US" b="1" dirty="0"/>
              <a:t>) gender identity disorder of childhood </a:t>
            </a:r>
            <a:endParaRPr lang="en-US" dirty="0"/>
          </a:p>
          <a:p>
            <a:r>
              <a:rPr lang="en-US" dirty="0" smtClean="0"/>
              <a:t>early </a:t>
            </a:r>
            <a:r>
              <a:rPr lang="en-US" dirty="0"/>
              <a:t>age of onset 2-4 years </a:t>
            </a:r>
          </a:p>
          <a:p>
            <a:r>
              <a:rPr lang="en-US" dirty="0" smtClean="0"/>
              <a:t>persistent </a:t>
            </a:r>
            <a:r>
              <a:rPr lang="en-US" dirty="0"/>
              <a:t>and significant desire to be of opposite gender </a:t>
            </a:r>
          </a:p>
          <a:p>
            <a:r>
              <a:rPr lang="en-US" dirty="0" smtClean="0"/>
              <a:t>involvement </a:t>
            </a:r>
            <a:r>
              <a:rPr lang="en-US" dirty="0"/>
              <a:t>in childhood games of opposite gender </a:t>
            </a:r>
          </a:p>
          <a:p>
            <a:endParaRPr lang="en-US" dirty="0"/>
          </a:p>
        </p:txBody>
      </p:sp>
    </p:spTree>
    <p:extLst>
      <p:ext uri="{BB962C8B-B14F-4D97-AF65-F5344CB8AC3E}">
        <p14:creationId xmlns:p14="http://schemas.microsoft.com/office/powerpoint/2010/main" val="28399171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1371600"/>
          </a:xfrm>
        </p:spPr>
        <p:txBody>
          <a:bodyPr/>
          <a:lstStyle/>
          <a:p>
            <a:r>
              <a:rPr lang="en-US" b="1" i="1" dirty="0"/>
              <a:t>Gender identity disorders</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marL="0" indent="0">
              <a:buNone/>
            </a:pPr>
            <a:r>
              <a:rPr lang="en-US" b="1" dirty="0" smtClean="0"/>
              <a:t>d</a:t>
            </a:r>
            <a:r>
              <a:rPr lang="en-US" b="1" dirty="0"/>
              <a:t>) intersexuality </a:t>
            </a:r>
            <a:endParaRPr lang="en-US" dirty="0"/>
          </a:p>
          <a:p>
            <a:r>
              <a:rPr lang="en-US" dirty="0"/>
              <a:t>The patient have gross anatomical or physical aspects o the other sex in:- </a:t>
            </a:r>
          </a:p>
          <a:p>
            <a:r>
              <a:rPr lang="en-US" dirty="0" smtClean="0"/>
              <a:t>external </a:t>
            </a:r>
            <a:r>
              <a:rPr lang="en-US" dirty="0"/>
              <a:t>genitalia e.g. pseudo hermaphrodites </a:t>
            </a:r>
          </a:p>
          <a:p>
            <a:r>
              <a:rPr lang="en-US" dirty="0" smtClean="0"/>
              <a:t>gonads </a:t>
            </a:r>
            <a:r>
              <a:rPr lang="en-US" dirty="0"/>
              <a:t>e.g. </a:t>
            </a:r>
            <a:r>
              <a:rPr lang="en-US" dirty="0" err="1"/>
              <a:t>Ovatestes</a:t>
            </a:r>
            <a:r>
              <a:rPr lang="en-US" dirty="0"/>
              <a:t> </a:t>
            </a:r>
          </a:p>
          <a:p>
            <a:r>
              <a:rPr lang="en-US" dirty="0"/>
              <a:t>internal sex organs e.g. true hermaphrodites </a:t>
            </a:r>
          </a:p>
          <a:p>
            <a:r>
              <a:rPr lang="en-US" dirty="0" smtClean="0"/>
              <a:t>hormonal </a:t>
            </a:r>
            <a:r>
              <a:rPr lang="en-US" dirty="0"/>
              <a:t>disturbance e.g. testicular feminization syndrome, congenital adrenal hypoplasia </a:t>
            </a:r>
          </a:p>
          <a:p>
            <a:endParaRPr lang="en-US" dirty="0"/>
          </a:p>
          <a:p>
            <a:endParaRPr lang="en-US" dirty="0"/>
          </a:p>
        </p:txBody>
      </p:sp>
    </p:spTree>
    <p:extLst>
      <p:ext uri="{BB962C8B-B14F-4D97-AF65-F5344CB8AC3E}">
        <p14:creationId xmlns:p14="http://schemas.microsoft.com/office/powerpoint/2010/main" val="64788162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Paraphilias</a:t>
            </a:r>
            <a:r>
              <a:rPr lang="en-US" b="1" dirty="0"/>
              <a:t> – sexual deviation perversion </a:t>
            </a:r>
            <a:endParaRPr lang="en-US" dirty="0"/>
          </a:p>
        </p:txBody>
      </p:sp>
      <p:sp>
        <p:nvSpPr>
          <p:cNvPr id="3" name="Content Placeholder 2"/>
          <p:cNvSpPr>
            <a:spLocks noGrp="1"/>
          </p:cNvSpPr>
          <p:nvPr>
            <p:ph idx="1"/>
          </p:nvPr>
        </p:nvSpPr>
        <p:spPr/>
        <p:txBody>
          <a:bodyPr/>
          <a:lstStyle/>
          <a:p>
            <a:r>
              <a:rPr lang="en-US" dirty="0"/>
              <a:t>Are disorders of sexual preferences in which sexual arousal occur persistently and significantly in response to object that are not part of normal sexual arousal. </a:t>
            </a:r>
          </a:p>
        </p:txBody>
      </p:sp>
    </p:spTree>
    <p:extLst>
      <p:ext uri="{BB962C8B-B14F-4D97-AF65-F5344CB8AC3E}">
        <p14:creationId xmlns:p14="http://schemas.microsoft.com/office/powerpoint/2010/main" val="92455540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Paraphilia - Types </a:t>
            </a:r>
            <a:endParaRPr lang="en-US" dirty="0"/>
          </a:p>
        </p:txBody>
      </p:sp>
      <p:sp>
        <p:nvSpPr>
          <p:cNvPr id="3" name="Content Placeholder 2"/>
          <p:cNvSpPr>
            <a:spLocks noGrp="1"/>
          </p:cNvSpPr>
          <p:nvPr>
            <p:ph idx="1"/>
          </p:nvPr>
        </p:nvSpPr>
        <p:spPr>
          <a:xfrm>
            <a:off x="457200" y="1066800"/>
            <a:ext cx="8229600" cy="5638800"/>
          </a:xfrm>
        </p:spPr>
        <p:txBody>
          <a:bodyPr>
            <a:normAutofit fontScale="85000" lnSpcReduction="20000"/>
          </a:bodyPr>
          <a:lstStyle/>
          <a:p>
            <a:pPr marL="0" indent="0">
              <a:buNone/>
            </a:pPr>
            <a:r>
              <a:rPr lang="en-US" b="1" dirty="0" smtClean="0"/>
              <a:t> </a:t>
            </a:r>
            <a:r>
              <a:rPr lang="en-US" b="1" dirty="0"/>
              <a:t>fetishism </a:t>
            </a:r>
          </a:p>
          <a:p>
            <a:r>
              <a:rPr lang="en-US" sz="2900" dirty="0">
                <a:latin typeface="Times New Roman" panose="02020603050405020304" pitchFamily="18" charset="0"/>
                <a:cs typeface="Times New Roman" panose="02020603050405020304" pitchFamily="18" charset="0"/>
              </a:rPr>
              <a:t>The sexual arousal occur using a non-living object, which is usually associated with the human body like shoes, </a:t>
            </a:r>
            <a:r>
              <a:rPr lang="en-US" sz="2900" dirty="0" err="1">
                <a:latin typeface="Times New Roman" panose="02020603050405020304" pitchFamily="18" charset="0"/>
                <a:cs typeface="Times New Roman" panose="02020603050405020304" pitchFamily="18" charset="0"/>
              </a:rPr>
              <a:t>underwears</a:t>
            </a:r>
            <a:r>
              <a:rPr lang="en-US" sz="2900" dirty="0">
                <a:latin typeface="Times New Roman" panose="02020603050405020304" pitchFamily="18" charset="0"/>
                <a:cs typeface="Times New Roman" panose="02020603050405020304" pitchFamily="18" charset="0"/>
              </a:rPr>
              <a:t>, stockings </a:t>
            </a:r>
          </a:p>
          <a:p>
            <a:pPr marL="0" indent="0">
              <a:buNone/>
            </a:pPr>
            <a:r>
              <a:rPr lang="en-US" sz="2900" b="1" dirty="0" smtClean="0">
                <a:latin typeface="Times New Roman" panose="02020603050405020304" pitchFamily="18" charset="0"/>
                <a:cs typeface="Times New Roman" panose="02020603050405020304" pitchFamily="18" charset="0"/>
              </a:rPr>
              <a:t>fetishistic </a:t>
            </a:r>
            <a:r>
              <a:rPr lang="en-US" sz="2900" b="1" dirty="0" err="1">
                <a:latin typeface="Times New Roman" panose="02020603050405020304" pitchFamily="18" charset="0"/>
                <a:cs typeface="Times New Roman" panose="02020603050405020304" pitchFamily="18" charset="0"/>
              </a:rPr>
              <a:t>transvestism</a:t>
            </a:r>
            <a:r>
              <a:rPr lang="en-US" sz="2900" b="1" dirty="0">
                <a:latin typeface="Times New Roman" panose="02020603050405020304" pitchFamily="18" charset="0"/>
                <a:cs typeface="Times New Roman" panose="02020603050405020304" pitchFamily="18" charset="0"/>
              </a:rPr>
              <a:t> </a:t>
            </a:r>
            <a:endParaRPr lang="en-US"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The sexual arousal occur due to wearing/ fantasies of </a:t>
            </a:r>
            <a:r>
              <a:rPr lang="en-US" sz="2900" dirty="0" err="1">
                <a:latin typeface="Times New Roman" panose="02020603050405020304" pitchFamily="18" charset="0"/>
                <a:cs typeface="Times New Roman" panose="02020603050405020304" pitchFamily="18" charset="0"/>
              </a:rPr>
              <a:t>clothings</a:t>
            </a:r>
            <a:r>
              <a:rPr lang="en-US" sz="2900" dirty="0">
                <a:latin typeface="Times New Roman" panose="02020603050405020304" pitchFamily="18" charset="0"/>
                <a:cs typeface="Times New Roman" panose="02020603050405020304" pitchFamily="18" charset="0"/>
              </a:rPr>
              <a:t> of opposite sex [cross dressing] </a:t>
            </a:r>
          </a:p>
          <a:p>
            <a:pPr marL="0" indent="0">
              <a:buNone/>
            </a:pPr>
            <a:r>
              <a:rPr lang="en-US" sz="2900" b="1" dirty="0" smtClean="0">
                <a:latin typeface="Times New Roman" panose="02020603050405020304" pitchFamily="18" charset="0"/>
                <a:cs typeface="Times New Roman" panose="02020603050405020304" pitchFamily="18" charset="0"/>
              </a:rPr>
              <a:t>sexual </a:t>
            </a:r>
            <a:r>
              <a:rPr lang="en-US" sz="2900" b="1" dirty="0">
                <a:latin typeface="Times New Roman" panose="02020603050405020304" pitchFamily="18" charset="0"/>
                <a:cs typeface="Times New Roman" panose="02020603050405020304" pitchFamily="18" charset="0"/>
              </a:rPr>
              <a:t>sadism </a:t>
            </a:r>
            <a:endParaRPr lang="en-US"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The sexual arousals occur by physical or psychological humiliation, suffering or injury of the sexual partner. Common in males </a:t>
            </a:r>
            <a:endParaRPr lang="en-US" sz="2900" b="1" dirty="0" smtClean="0">
              <a:latin typeface="Times New Roman" panose="02020603050405020304" pitchFamily="18" charset="0"/>
              <a:cs typeface="Times New Roman" panose="02020603050405020304" pitchFamily="18" charset="0"/>
            </a:endParaRPr>
          </a:p>
          <a:p>
            <a:pPr marL="0" indent="0">
              <a:buNone/>
            </a:pPr>
            <a:r>
              <a:rPr lang="en-US" sz="2900" b="1" dirty="0" smtClean="0">
                <a:latin typeface="Times New Roman" panose="02020603050405020304" pitchFamily="18" charset="0"/>
                <a:cs typeface="Times New Roman" panose="02020603050405020304" pitchFamily="18" charset="0"/>
              </a:rPr>
              <a:t>sexual </a:t>
            </a:r>
            <a:r>
              <a:rPr lang="en-US" sz="2900" b="1" dirty="0">
                <a:latin typeface="Times New Roman" panose="02020603050405020304" pitchFamily="18" charset="0"/>
                <a:cs typeface="Times New Roman" panose="02020603050405020304" pitchFamily="18" charset="0"/>
              </a:rPr>
              <a:t>masochism </a:t>
            </a:r>
            <a:endParaRPr lang="en-US"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Occur when the person is sexually aroused by experiencing physical or psychological humiliation, suffering or injury from a sexual partner. Common in females </a:t>
            </a:r>
          </a:p>
        </p:txBody>
      </p:sp>
    </p:spTree>
    <p:extLst>
      <p:ext uri="{BB962C8B-B14F-4D97-AF65-F5344CB8AC3E}">
        <p14:creationId xmlns:p14="http://schemas.microsoft.com/office/powerpoint/2010/main" val="315486710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smtClean="0"/>
              <a:t>Paraphilia-types</a:t>
            </a:r>
            <a:r>
              <a:rPr lang="en-US" dirty="0" smtClean="0"/>
              <a:t> </a:t>
            </a:r>
            <a:endParaRPr lang="en-US" dirty="0"/>
          </a:p>
        </p:txBody>
      </p:sp>
      <p:sp>
        <p:nvSpPr>
          <p:cNvPr id="3" name="Content Placeholder 2"/>
          <p:cNvSpPr>
            <a:spLocks noGrp="1"/>
          </p:cNvSpPr>
          <p:nvPr>
            <p:ph idx="1"/>
          </p:nvPr>
        </p:nvSpPr>
        <p:spPr>
          <a:xfrm>
            <a:off x="457200" y="533400"/>
            <a:ext cx="8229600" cy="5943600"/>
          </a:xfrm>
        </p:spPr>
        <p:txBody>
          <a:bodyPr>
            <a:normAutofit fontScale="70000" lnSpcReduction="20000"/>
          </a:bodyPr>
          <a:lstStyle/>
          <a:p>
            <a:endParaRPr lang="en-US" dirty="0"/>
          </a:p>
          <a:p>
            <a:pPr marL="0" indent="0">
              <a:buNone/>
            </a:pPr>
            <a:r>
              <a:rPr lang="en-US" b="1" dirty="0"/>
              <a:t>exhibitionism </a:t>
            </a:r>
          </a:p>
          <a:p>
            <a:r>
              <a:rPr lang="en-US" dirty="0"/>
              <a:t>The sexual arousal occurs by exposure of one’s genitalia to an unsuspecting stranger </a:t>
            </a:r>
          </a:p>
          <a:p>
            <a:pPr marL="0" indent="0">
              <a:buNone/>
            </a:pPr>
            <a:r>
              <a:rPr lang="en-US" b="1" dirty="0" smtClean="0"/>
              <a:t>voyeurism </a:t>
            </a:r>
            <a:endParaRPr lang="en-US" dirty="0" smtClean="0"/>
          </a:p>
          <a:p>
            <a:r>
              <a:rPr lang="en-US" dirty="0" smtClean="0"/>
              <a:t>The </a:t>
            </a:r>
            <a:r>
              <a:rPr lang="en-US" dirty="0"/>
              <a:t>sexual arousal occurs by observing unsuspecting persons of opposite sex naked or engaged in sexual activities. Common in males </a:t>
            </a:r>
          </a:p>
          <a:p>
            <a:pPr marL="0" indent="0">
              <a:buNone/>
            </a:pPr>
            <a:r>
              <a:rPr lang="en-US" b="1" dirty="0" err="1" smtClean="0"/>
              <a:t>frotteurism</a:t>
            </a:r>
            <a:r>
              <a:rPr lang="en-US" b="1" dirty="0" smtClean="0"/>
              <a:t> </a:t>
            </a:r>
            <a:endParaRPr lang="en-US" dirty="0"/>
          </a:p>
          <a:p>
            <a:r>
              <a:rPr lang="en-US" dirty="0"/>
              <a:t>The sexual arousal occurs when one rubs against an unsuspecting person usually of opposite sex. This is employed in crowded buses </a:t>
            </a:r>
          </a:p>
          <a:p>
            <a:pPr marL="0" indent="0">
              <a:buNone/>
            </a:pPr>
            <a:r>
              <a:rPr lang="en-US" b="1" dirty="0" smtClean="0"/>
              <a:t>pedophilia</a:t>
            </a:r>
            <a:r>
              <a:rPr lang="en-US" dirty="0" smtClean="0"/>
              <a:t> </a:t>
            </a:r>
            <a:endParaRPr lang="en-US" dirty="0"/>
          </a:p>
          <a:p>
            <a:r>
              <a:rPr lang="en-US" dirty="0"/>
              <a:t>This occurs when an adult age more that 16 years older than a minor of at least 5 years difference is involved in sexual activity. Common in incest. </a:t>
            </a:r>
            <a:endParaRPr lang="en-US" dirty="0" smtClean="0"/>
          </a:p>
          <a:p>
            <a:r>
              <a:rPr lang="en-US" b="1" dirty="0" err="1" smtClean="0"/>
              <a:t>Zoophilia</a:t>
            </a:r>
            <a:r>
              <a:rPr lang="en-US" b="1" dirty="0" smtClean="0"/>
              <a:t> /</a:t>
            </a:r>
            <a:r>
              <a:rPr lang="en-US" b="1" dirty="0" err="1" smtClean="0"/>
              <a:t>beastiality</a:t>
            </a:r>
            <a:r>
              <a:rPr lang="en-US" b="1" dirty="0" smtClean="0"/>
              <a:t> </a:t>
            </a:r>
          </a:p>
          <a:p>
            <a:r>
              <a:rPr lang="en-US" dirty="0"/>
              <a:t>Persistent involvement in sexual activity with animals </a:t>
            </a:r>
            <a:endParaRPr lang="en-US" b="1" dirty="0"/>
          </a:p>
        </p:txBody>
      </p:sp>
    </p:spTree>
    <p:extLst>
      <p:ext uri="{BB962C8B-B14F-4D97-AF65-F5344CB8AC3E}">
        <p14:creationId xmlns:p14="http://schemas.microsoft.com/office/powerpoint/2010/main" val="421686072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SEXUAL DYSFUNCTION </a:t>
            </a:r>
            <a:endParaRPr lang="en-US" dirty="0"/>
          </a:p>
        </p:txBody>
      </p:sp>
      <p:sp>
        <p:nvSpPr>
          <p:cNvPr id="3" name="Content Placeholder 2"/>
          <p:cNvSpPr>
            <a:spLocks noGrp="1"/>
          </p:cNvSpPr>
          <p:nvPr>
            <p:ph idx="1"/>
          </p:nvPr>
        </p:nvSpPr>
        <p:spPr>
          <a:xfrm>
            <a:off x="457200" y="990600"/>
            <a:ext cx="8229600" cy="5638800"/>
          </a:xfrm>
        </p:spPr>
        <p:txBody>
          <a:bodyPr>
            <a:normAutofit fontScale="92500" lnSpcReduction="10000"/>
          </a:bodyPr>
          <a:lstStyle/>
          <a:p>
            <a:r>
              <a:rPr lang="en-US" dirty="0"/>
              <a:t>Sexual dysfunction refers to a difficulty experienced by an individual or a couple during any stage of a normal sexual activity, including desire, arousal or orgasm. </a:t>
            </a:r>
          </a:p>
          <a:p>
            <a:pPr marL="0" indent="0">
              <a:buNone/>
            </a:pPr>
            <a:r>
              <a:rPr lang="en-US" b="1" dirty="0" smtClean="0"/>
              <a:t>Categories </a:t>
            </a:r>
          </a:p>
          <a:p>
            <a:pPr marL="0" indent="0">
              <a:buNone/>
            </a:pPr>
            <a:r>
              <a:rPr lang="en-US" dirty="0" smtClean="0"/>
              <a:t>Sexual dysfunction disorders may be classified into four categories: </a:t>
            </a:r>
          </a:p>
          <a:p>
            <a:pPr marL="514350" indent="-514350">
              <a:buAutoNum type="arabicPeriod"/>
            </a:pPr>
            <a:r>
              <a:rPr lang="en-US" dirty="0" smtClean="0"/>
              <a:t>sexual </a:t>
            </a:r>
            <a:r>
              <a:rPr lang="en-US" dirty="0"/>
              <a:t>desire </a:t>
            </a:r>
            <a:r>
              <a:rPr lang="en-US" dirty="0" smtClean="0"/>
              <a:t>disorders</a:t>
            </a:r>
          </a:p>
          <a:p>
            <a:pPr marL="514350" indent="-514350">
              <a:buAutoNum type="arabicPeriod"/>
            </a:pPr>
            <a:r>
              <a:rPr lang="en-US" dirty="0" smtClean="0"/>
              <a:t>arousal disorders</a:t>
            </a:r>
          </a:p>
          <a:p>
            <a:pPr marL="514350" indent="-514350">
              <a:buAutoNum type="arabicPeriod"/>
            </a:pPr>
            <a:r>
              <a:rPr lang="en-US" dirty="0" smtClean="0"/>
              <a:t>orgasm disorders</a:t>
            </a:r>
          </a:p>
          <a:p>
            <a:pPr marL="514350" indent="-514350">
              <a:buAutoNum type="arabicPeriod"/>
            </a:pPr>
            <a:r>
              <a:rPr lang="en-US" dirty="0" smtClean="0"/>
              <a:t>pain </a:t>
            </a:r>
            <a:r>
              <a:rPr lang="en-US" dirty="0"/>
              <a:t>disorders </a:t>
            </a:r>
          </a:p>
        </p:txBody>
      </p:sp>
    </p:spTree>
    <p:extLst>
      <p:ext uri="{BB962C8B-B14F-4D97-AF65-F5344CB8AC3E}">
        <p14:creationId xmlns:p14="http://schemas.microsoft.com/office/powerpoint/2010/main" val="45465042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Sexual desire disorders/ decreased libido </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r>
              <a:rPr lang="en-US" dirty="0"/>
              <a:t>Sexual desire disorders are characterized by absence for some period of time of sexual desire sexual activity. The condition may have started after a period of normal sexual functioning or sexual desire. </a:t>
            </a:r>
          </a:p>
          <a:p>
            <a:pPr marL="0" indent="0">
              <a:buNone/>
            </a:pPr>
            <a:r>
              <a:rPr lang="en-US" b="1" dirty="0"/>
              <a:t>Causes </a:t>
            </a:r>
            <a:endParaRPr lang="en-US" dirty="0"/>
          </a:p>
          <a:p>
            <a:pPr marL="571500" indent="-571500">
              <a:buFont typeface="+mj-lt"/>
              <a:buAutoNum type="romanLcPeriod"/>
            </a:pPr>
            <a:r>
              <a:rPr lang="en-US" dirty="0" smtClean="0"/>
              <a:t>Decrease </a:t>
            </a:r>
            <a:r>
              <a:rPr lang="en-US" dirty="0"/>
              <a:t>in the production of normal estrogen in women or testosterone in men. </a:t>
            </a:r>
          </a:p>
          <a:p>
            <a:pPr marL="571500" indent="-571500">
              <a:buFont typeface="+mj-lt"/>
              <a:buAutoNum type="romanLcPeriod"/>
            </a:pPr>
            <a:r>
              <a:rPr lang="en-US" dirty="0" smtClean="0"/>
              <a:t>Fatigue </a:t>
            </a:r>
            <a:endParaRPr lang="en-US" dirty="0"/>
          </a:p>
          <a:p>
            <a:pPr marL="571500" indent="-571500">
              <a:buFont typeface="+mj-lt"/>
              <a:buAutoNum type="romanLcPeriod"/>
            </a:pPr>
            <a:r>
              <a:rPr lang="en-US" dirty="0" smtClean="0"/>
              <a:t>Pregnancy </a:t>
            </a:r>
            <a:endParaRPr lang="en-US" dirty="0"/>
          </a:p>
          <a:p>
            <a:pPr marL="571500" indent="-571500">
              <a:buFont typeface="+mj-lt"/>
              <a:buAutoNum type="romanLcPeriod"/>
            </a:pPr>
            <a:r>
              <a:rPr lang="en-US" dirty="0" smtClean="0"/>
              <a:t>Medications </a:t>
            </a:r>
            <a:r>
              <a:rPr lang="en-US" dirty="0"/>
              <a:t>(such as the SSRI) </a:t>
            </a:r>
          </a:p>
          <a:p>
            <a:pPr marL="571500" indent="-571500">
              <a:buFont typeface="+mj-lt"/>
              <a:buAutoNum type="romanLcPeriod"/>
            </a:pPr>
            <a:r>
              <a:rPr lang="en-US" dirty="0" smtClean="0"/>
              <a:t>Depression </a:t>
            </a:r>
            <a:r>
              <a:rPr lang="en-US" dirty="0"/>
              <a:t>and anxiety. </a:t>
            </a:r>
          </a:p>
          <a:p>
            <a:pPr marL="571500" indent="-571500">
              <a:buFont typeface="+mj-lt"/>
              <a:buAutoNum type="romanLcPeriod"/>
            </a:pPr>
            <a:endParaRPr lang="en-US" dirty="0"/>
          </a:p>
        </p:txBody>
      </p:sp>
    </p:spTree>
    <p:extLst>
      <p:ext uri="{BB962C8B-B14F-4D97-AF65-F5344CB8AC3E}">
        <p14:creationId xmlns:p14="http://schemas.microsoft.com/office/powerpoint/2010/main" val="306368580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Sexual excitement disorders </a:t>
            </a:r>
            <a:endParaRPr lang="en-US" dirty="0"/>
          </a:p>
        </p:txBody>
      </p:sp>
      <p:sp>
        <p:nvSpPr>
          <p:cNvPr id="3" name="Content Placeholder 2"/>
          <p:cNvSpPr>
            <a:spLocks noGrp="1"/>
          </p:cNvSpPr>
          <p:nvPr>
            <p:ph idx="1"/>
          </p:nvPr>
        </p:nvSpPr>
        <p:spPr>
          <a:xfrm>
            <a:off x="457200" y="1295400"/>
            <a:ext cx="8229600" cy="5334000"/>
          </a:xfrm>
        </p:spPr>
        <p:txBody>
          <a:bodyPr>
            <a:normAutofit/>
          </a:bodyPr>
          <a:lstStyle/>
          <a:p>
            <a:pPr marL="0" indent="0">
              <a:buNone/>
            </a:pPr>
            <a:endParaRPr lang="en-US" dirty="0"/>
          </a:p>
          <a:p>
            <a:r>
              <a:rPr lang="en-US" dirty="0"/>
              <a:t>An avoidance of, sexual contact with a partner. </a:t>
            </a:r>
          </a:p>
          <a:p>
            <a:pPr marL="0" indent="0">
              <a:buNone/>
            </a:pPr>
            <a:r>
              <a:rPr lang="en-US" dirty="0"/>
              <a:t>- a lack of sexual excitement and pleasure in sexual activity. </a:t>
            </a:r>
          </a:p>
          <a:p>
            <a:pPr marL="0" indent="0">
              <a:buNone/>
            </a:pPr>
            <a:r>
              <a:rPr lang="en-US" dirty="0"/>
              <a:t>- Premature ejaculation </a:t>
            </a:r>
          </a:p>
          <a:p>
            <a:r>
              <a:rPr lang="en-US" b="1" dirty="0"/>
              <a:t>Causes </a:t>
            </a:r>
            <a:endParaRPr lang="en-US" dirty="0"/>
          </a:p>
          <a:p>
            <a:pPr marL="514350" indent="-514350">
              <a:buFont typeface="+mj-lt"/>
              <a:buAutoNum type="arabicPeriod"/>
            </a:pPr>
            <a:r>
              <a:rPr lang="en-US" dirty="0" smtClean="0"/>
              <a:t>Chronic </a:t>
            </a:r>
            <a:r>
              <a:rPr lang="en-US" dirty="0"/>
              <a:t>sexually transmitted disease </a:t>
            </a:r>
          </a:p>
          <a:p>
            <a:pPr marL="514350" indent="-514350">
              <a:buFont typeface="+mj-lt"/>
              <a:buAutoNum type="arabicPeriod"/>
            </a:pPr>
            <a:r>
              <a:rPr lang="en-US" dirty="0" smtClean="0"/>
              <a:t>The </a:t>
            </a:r>
            <a:r>
              <a:rPr lang="en-US" dirty="0"/>
              <a:t>nature of the relationship between the partners. </a:t>
            </a:r>
          </a:p>
          <a:p>
            <a:endParaRPr lang="en-US" dirty="0"/>
          </a:p>
        </p:txBody>
      </p:sp>
    </p:spTree>
    <p:extLst>
      <p:ext uri="{BB962C8B-B14F-4D97-AF65-F5344CB8AC3E}">
        <p14:creationId xmlns:p14="http://schemas.microsoft.com/office/powerpoint/2010/main" val="329814769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Erectile dysfunction/ impotence </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Erectile dysfunction/ impotence </a:t>
            </a:r>
            <a:endParaRPr lang="en-US" dirty="0"/>
          </a:p>
          <a:p>
            <a:r>
              <a:rPr lang="en-US" dirty="0"/>
              <a:t>It is a sexual dysfunction characterized by the inability to develop and maintain an erection of the penis. </a:t>
            </a:r>
          </a:p>
        </p:txBody>
      </p:sp>
    </p:spTree>
    <p:extLst>
      <p:ext uri="{BB962C8B-B14F-4D97-AF65-F5344CB8AC3E}">
        <p14:creationId xmlns:p14="http://schemas.microsoft.com/office/powerpoint/2010/main" val="296426771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
            </a:r>
            <a:br>
              <a:rPr lang="en-US" b="1" dirty="0" smtClean="0"/>
            </a:br>
            <a:r>
              <a:rPr lang="en-US" b="1" dirty="0" smtClean="0"/>
              <a:t>Causes </a:t>
            </a:r>
            <a:r>
              <a:rPr lang="en-US" dirty="0"/>
              <a:t/>
            </a:r>
            <a:br>
              <a:rPr lang="en-US" dirty="0"/>
            </a:br>
            <a:endParaRPr lang="en-US" dirty="0"/>
          </a:p>
        </p:txBody>
      </p:sp>
      <p:sp>
        <p:nvSpPr>
          <p:cNvPr id="3" name="Content Placeholder 2"/>
          <p:cNvSpPr>
            <a:spLocks noGrp="1"/>
          </p:cNvSpPr>
          <p:nvPr>
            <p:ph idx="1"/>
          </p:nvPr>
        </p:nvSpPr>
        <p:spPr>
          <a:xfrm>
            <a:off x="457200" y="838200"/>
            <a:ext cx="8229600" cy="6019800"/>
          </a:xfrm>
        </p:spPr>
        <p:txBody>
          <a:bodyPr>
            <a:normAutofit fontScale="85000" lnSpcReduction="10000"/>
          </a:bodyPr>
          <a:lstStyle/>
          <a:p>
            <a:r>
              <a:rPr lang="en-US" dirty="0" smtClean="0"/>
              <a:t>Repeated </a:t>
            </a:r>
            <a:r>
              <a:rPr lang="en-US" b="1" dirty="0"/>
              <a:t>Priapism </a:t>
            </a:r>
            <a:r>
              <a:rPr lang="en-US" dirty="0"/>
              <a:t>(painful erection that occurs for several hours and occurs in the absence of sexual stimulation. This condition develops when blood gets trapped in the penis and is unable to drain out) </a:t>
            </a:r>
          </a:p>
          <a:p>
            <a:r>
              <a:rPr lang="en-US" dirty="0" smtClean="0"/>
              <a:t>Psychological </a:t>
            </a:r>
            <a:r>
              <a:rPr lang="en-US" dirty="0"/>
              <a:t>impotence </a:t>
            </a:r>
          </a:p>
          <a:p>
            <a:r>
              <a:rPr lang="en-US" dirty="0" smtClean="0"/>
              <a:t>Medical </a:t>
            </a:r>
            <a:r>
              <a:rPr lang="en-US" dirty="0"/>
              <a:t>conditions which decreases blood flow to the tissue in the penis. E.g. diabetes, peripheral vascular disease, hypertension and smokers </a:t>
            </a:r>
          </a:p>
          <a:p>
            <a:r>
              <a:rPr lang="en-US" dirty="0" smtClean="0"/>
              <a:t>Drugs </a:t>
            </a:r>
            <a:r>
              <a:rPr lang="en-US" dirty="0"/>
              <a:t>are also a cause of erectile dysfunction. E.g. drugs that lower blood pressure, antipsychotics, antidepressants, sedatives, narcotics, antacids or alcohol cause sexual functions and loss of libido. </a:t>
            </a:r>
          </a:p>
          <a:p>
            <a:r>
              <a:rPr lang="en-US" dirty="0" smtClean="0"/>
              <a:t>Physical </a:t>
            </a:r>
            <a:r>
              <a:rPr lang="en-US" dirty="0"/>
              <a:t>damage to the organs. </a:t>
            </a:r>
          </a:p>
        </p:txBody>
      </p:sp>
    </p:spTree>
    <p:extLst>
      <p:ext uri="{BB962C8B-B14F-4D97-AF65-F5344CB8AC3E}">
        <p14:creationId xmlns:p14="http://schemas.microsoft.com/office/powerpoint/2010/main" val="32315494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Treatment </a:t>
            </a:r>
            <a:endParaRPr lang="en-US" dirty="0"/>
          </a:p>
        </p:txBody>
      </p:sp>
      <p:sp>
        <p:nvSpPr>
          <p:cNvPr id="3" name="Content Placeholder 2"/>
          <p:cNvSpPr>
            <a:spLocks noGrp="1"/>
          </p:cNvSpPr>
          <p:nvPr>
            <p:ph idx="1"/>
          </p:nvPr>
        </p:nvSpPr>
        <p:spPr/>
        <p:txBody>
          <a:bodyPr/>
          <a:lstStyle/>
          <a:p>
            <a:r>
              <a:rPr lang="en-US" dirty="0" smtClean="0"/>
              <a:t>- </a:t>
            </a:r>
            <a:r>
              <a:rPr lang="en-US" dirty="0"/>
              <a:t>Psychotherapy </a:t>
            </a:r>
          </a:p>
          <a:p>
            <a:r>
              <a:rPr lang="en-US" dirty="0"/>
              <a:t>- Viagra (sildenafil) </a:t>
            </a:r>
          </a:p>
          <a:p>
            <a:endParaRPr lang="en-US" dirty="0"/>
          </a:p>
        </p:txBody>
      </p:sp>
    </p:spTree>
    <p:extLst>
      <p:ext uri="{BB962C8B-B14F-4D97-AF65-F5344CB8AC3E}">
        <p14:creationId xmlns:p14="http://schemas.microsoft.com/office/powerpoint/2010/main" val="37382716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Sexual disorders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Orgasm </a:t>
            </a:r>
            <a:r>
              <a:rPr lang="en-US" b="1" dirty="0"/>
              <a:t>disorders </a:t>
            </a:r>
            <a:endParaRPr lang="en-US" dirty="0"/>
          </a:p>
          <a:p>
            <a:pPr marL="0" indent="0">
              <a:buNone/>
            </a:pPr>
            <a:r>
              <a:rPr lang="en-US" dirty="0"/>
              <a:t>Orgasm disorders are </a:t>
            </a:r>
            <a:r>
              <a:rPr lang="en-US" b="1" dirty="0"/>
              <a:t>persistent delays </a:t>
            </a:r>
            <a:r>
              <a:rPr lang="en-US" dirty="0"/>
              <a:t>or </a:t>
            </a:r>
            <a:r>
              <a:rPr lang="en-US" b="1" dirty="0"/>
              <a:t>absence of orgasm </a:t>
            </a:r>
            <a:r>
              <a:rPr lang="en-US" dirty="0"/>
              <a:t>following a normal sexual </a:t>
            </a:r>
            <a:r>
              <a:rPr lang="en-US" b="1" dirty="0"/>
              <a:t>excitement phase</a:t>
            </a:r>
            <a:r>
              <a:rPr lang="en-US" dirty="0"/>
              <a:t>. The disorder can have physical, psychological, or pharmacological origins. </a:t>
            </a:r>
          </a:p>
          <a:p>
            <a:r>
              <a:rPr lang="en-US" b="1" dirty="0" smtClean="0"/>
              <a:t>Sexual </a:t>
            </a:r>
            <a:r>
              <a:rPr lang="en-US" b="1" dirty="0"/>
              <a:t>pain disorders/dyspareunia </a:t>
            </a:r>
            <a:endParaRPr lang="en-US" dirty="0"/>
          </a:p>
          <a:p>
            <a:pPr marL="0" indent="0">
              <a:buNone/>
            </a:pPr>
            <a:r>
              <a:rPr lang="en-US" dirty="0"/>
              <a:t>Sexual pain disorders affect women </a:t>
            </a:r>
          </a:p>
          <a:p>
            <a:pPr marL="0" indent="0">
              <a:buNone/>
            </a:pPr>
            <a:r>
              <a:rPr lang="en-US" dirty="0"/>
              <a:t>Dyspareunia may be caused by insufficient lubrication (vaginal dryness) or vaginismus in women. </a:t>
            </a:r>
          </a:p>
        </p:txBody>
      </p:sp>
    </p:spTree>
    <p:extLst>
      <p:ext uri="{BB962C8B-B14F-4D97-AF65-F5344CB8AC3E}">
        <p14:creationId xmlns:p14="http://schemas.microsoft.com/office/powerpoint/2010/main" val="216104630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Treatment of sexual disorders </a:t>
            </a:r>
            <a:endParaRPr lang="en-US"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endParaRPr lang="en-US" dirty="0"/>
          </a:p>
          <a:p>
            <a:pPr marL="0" indent="0">
              <a:buNone/>
            </a:pPr>
            <a:r>
              <a:rPr lang="en-US" b="1" dirty="0" smtClean="0"/>
              <a:t>1. Psychotherapy </a:t>
            </a:r>
            <a:endParaRPr lang="en-US" dirty="0"/>
          </a:p>
          <a:p>
            <a:pPr marL="0" indent="0">
              <a:buNone/>
            </a:pPr>
            <a:r>
              <a:rPr lang="en-US" dirty="0"/>
              <a:t>This is of help if the individual is psychologically ready and has good ego strength </a:t>
            </a:r>
          </a:p>
          <a:p>
            <a:pPr marL="0" indent="0">
              <a:buNone/>
            </a:pPr>
            <a:r>
              <a:rPr lang="en-US" b="1" dirty="0"/>
              <a:t>2. Behavior therapy: </a:t>
            </a:r>
            <a:r>
              <a:rPr lang="en-US" dirty="0"/>
              <a:t>aversion therapy is the treatment of choice in severe, distressing paraphilia </a:t>
            </a:r>
            <a:endParaRPr lang="en-US" dirty="0" smtClean="0"/>
          </a:p>
          <a:p>
            <a:pPr marL="0" indent="0">
              <a:buNone/>
            </a:pPr>
            <a:r>
              <a:rPr lang="en-US" b="1" dirty="0" smtClean="0"/>
              <a:t>3</a:t>
            </a:r>
            <a:r>
              <a:rPr lang="en-US" b="1" dirty="0"/>
              <a:t>. Drug therapy: </a:t>
            </a:r>
            <a:endParaRPr lang="en-US" dirty="0"/>
          </a:p>
          <a:p>
            <a:pPr marL="0" indent="0">
              <a:buNone/>
            </a:pPr>
            <a:r>
              <a:rPr lang="en-US" dirty="0"/>
              <a:t>- </a:t>
            </a:r>
            <a:r>
              <a:rPr lang="en-US" dirty="0" err="1"/>
              <a:t>antipsyhotics</a:t>
            </a:r>
            <a:r>
              <a:rPr lang="en-US" dirty="0"/>
              <a:t> e.g. </a:t>
            </a:r>
            <a:r>
              <a:rPr lang="en-US" dirty="0" err="1"/>
              <a:t>Benperidol</a:t>
            </a:r>
            <a:r>
              <a:rPr lang="en-US" dirty="0"/>
              <a:t> are used for severe or dangerous aggression associated with </a:t>
            </a:r>
            <a:r>
              <a:rPr lang="en-US" dirty="0" err="1"/>
              <a:t>paraphilias</a:t>
            </a:r>
            <a:r>
              <a:rPr lang="en-US" dirty="0"/>
              <a:t> </a:t>
            </a:r>
          </a:p>
          <a:p>
            <a:pPr marL="0" indent="0">
              <a:buNone/>
            </a:pPr>
            <a:r>
              <a:rPr lang="it-IT" dirty="0"/>
              <a:t>anti androgens e.g. cyproterone acetate </a:t>
            </a:r>
          </a:p>
          <a:p>
            <a:pPr marL="0" indent="0">
              <a:buNone/>
            </a:pPr>
            <a:r>
              <a:rPr lang="en-US" dirty="0"/>
              <a:t>4. </a:t>
            </a:r>
            <a:r>
              <a:rPr lang="en-US" b="1" dirty="0"/>
              <a:t>other treatments: </a:t>
            </a:r>
            <a:r>
              <a:rPr lang="en-US" dirty="0"/>
              <a:t>castration, psychosurgery [</a:t>
            </a:r>
            <a:r>
              <a:rPr lang="en-US" dirty="0" err="1"/>
              <a:t>amygdalotomy</a:t>
            </a:r>
            <a:r>
              <a:rPr lang="en-US" dirty="0"/>
              <a:t>] used in dangerous, aggressive sexual behavior </a:t>
            </a:r>
          </a:p>
          <a:p>
            <a:endParaRPr lang="en-US" dirty="0"/>
          </a:p>
        </p:txBody>
      </p:sp>
    </p:spTree>
    <p:extLst>
      <p:ext uri="{BB962C8B-B14F-4D97-AF65-F5344CB8AC3E}">
        <p14:creationId xmlns:p14="http://schemas.microsoft.com/office/powerpoint/2010/main" val="255141583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a:p>
            <a:pPr marL="0" indent="0" algn="ctr">
              <a:buNone/>
            </a:pPr>
            <a:r>
              <a:rPr lang="en-US" b="1" dirty="0"/>
              <a:t>CHILDHOOD MENTAL DISORDERS </a:t>
            </a:r>
            <a:endParaRPr lang="en-US" dirty="0"/>
          </a:p>
        </p:txBody>
      </p:sp>
    </p:spTree>
    <p:extLst>
      <p:ext uri="{BB962C8B-B14F-4D97-AF65-F5344CB8AC3E}">
        <p14:creationId xmlns:p14="http://schemas.microsoft.com/office/powerpoint/2010/main" val="9146244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85800"/>
          </a:xfrm>
        </p:spPr>
        <p:txBody>
          <a:bodyPr>
            <a:normAutofit fontScale="90000"/>
          </a:bodyPr>
          <a:lstStyle/>
          <a:p>
            <a:r>
              <a:rPr lang="en-US" b="1" dirty="0" smtClean="0"/>
              <a:t>1. MENTAL RETARDATION </a:t>
            </a:r>
            <a:endParaRPr lang="en-US" dirty="0"/>
          </a:p>
        </p:txBody>
      </p:sp>
      <p:sp>
        <p:nvSpPr>
          <p:cNvPr id="3" name="Content Placeholder 2"/>
          <p:cNvSpPr>
            <a:spLocks noGrp="1"/>
          </p:cNvSpPr>
          <p:nvPr>
            <p:ph idx="1"/>
          </p:nvPr>
        </p:nvSpPr>
        <p:spPr>
          <a:xfrm>
            <a:off x="457200" y="1447800"/>
            <a:ext cx="8229600" cy="4678363"/>
          </a:xfrm>
        </p:spPr>
        <p:txBody>
          <a:bodyPr>
            <a:normAutofit fontScale="92500" lnSpcReduction="10000"/>
          </a:bodyPr>
          <a:lstStyle/>
          <a:p>
            <a:pPr marL="0" indent="0">
              <a:buNone/>
            </a:pPr>
            <a:endParaRPr lang="en-US" dirty="0"/>
          </a:p>
          <a:p>
            <a:r>
              <a:rPr lang="en-US" b="1" dirty="0"/>
              <a:t>Mental Retardation </a:t>
            </a:r>
          </a:p>
          <a:p>
            <a:r>
              <a:rPr lang="en-US" dirty="0" smtClean="0"/>
              <a:t>This </a:t>
            </a:r>
            <a:r>
              <a:rPr lang="en-US" dirty="0"/>
              <a:t>is a process in the brain characterized by limitation in intellectual and adaptive function before 18 years of age. </a:t>
            </a:r>
          </a:p>
          <a:p>
            <a:r>
              <a:rPr lang="en-US" dirty="0"/>
              <a:t>General intellectual functioning of IQ of &lt; 70 [mild, moderate, severe, profound mental retardation]. </a:t>
            </a:r>
          </a:p>
          <a:p>
            <a:r>
              <a:rPr lang="en-US" dirty="0"/>
              <a:t>Peak of diagnosis is ages 10-14 years and its 1.5 times more in men </a:t>
            </a:r>
          </a:p>
        </p:txBody>
      </p:sp>
    </p:spTree>
    <p:extLst>
      <p:ext uri="{BB962C8B-B14F-4D97-AF65-F5344CB8AC3E}">
        <p14:creationId xmlns:p14="http://schemas.microsoft.com/office/powerpoint/2010/main" val="122472482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smtClean="0"/>
              <a:t> </a:t>
            </a:r>
            <a:r>
              <a:rPr lang="en-US" b="1" dirty="0"/>
              <a:t>Mild Mental retardation (IQ70 -50) </a:t>
            </a:r>
            <a:endParaRPr lang="en-US" dirty="0"/>
          </a:p>
        </p:txBody>
      </p:sp>
      <p:sp>
        <p:nvSpPr>
          <p:cNvPr id="3" name="Content Placeholder 2"/>
          <p:cNvSpPr>
            <a:spLocks noGrp="1"/>
          </p:cNvSpPr>
          <p:nvPr>
            <p:ph idx="1"/>
          </p:nvPr>
        </p:nvSpPr>
        <p:spPr>
          <a:xfrm>
            <a:off x="457200" y="1295400"/>
            <a:ext cx="8229600" cy="5181600"/>
          </a:xfrm>
        </p:spPr>
        <p:txBody>
          <a:bodyPr>
            <a:normAutofit/>
          </a:bodyPr>
          <a:lstStyle/>
          <a:p>
            <a:pPr marL="0" indent="0">
              <a:buNone/>
            </a:pPr>
            <a:endParaRPr lang="en-US" dirty="0"/>
          </a:p>
          <a:p>
            <a:r>
              <a:rPr lang="en-US" dirty="0"/>
              <a:t>Are educable. Constitute 85% of retarded persons. </a:t>
            </a:r>
          </a:p>
          <a:p>
            <a:r>
              <a:rPr lang="en-US" dirty="0" smtClean="0"/>
              <a:t>Usually </a:t>
            </a:r>
            <a:r>
              <a:rPr lang="en-US" dirty="0"/>
              <a:t>impairment of sensorimotor areas </a:t>
            </a:r>
          </a:p>
          <a:p>
            <a:r>
              <a:rPr lang="en-US" dirty="0" smtClean="0"/>
              <a:t>Often </a:t>
            </a:r>
            <a:r>
              <a:rPr lang="en-US" dirty="0"/>
              <a:t>not distinguishable from normal until late age. </a:t>
            </a:r>
          </a:p>
          <a:p>
            <a:r>
              <a:rPr lang="en-US" dirty="0" smtClean="0"/>
              <a:t>Acquire </a:t>
            </a:r>
            <a:r>
              <a:rPr lang="en-US" dirty="0"/>
              <a:t>academic skills up to 6th grade level. </a:t>
            </a:r>
          </a:p>
          <a:p>
            <a:r>
              <a:rPr lang="en-US" dirty="0" smtClean="0"/>
              <a:t>Achieve </a:t>
            </a:r>
            <a:r>
              <a:rPr lang="en-US" dirty="0"/>
              <a:t>social and vocational skills for minimum self support </a:t>
            </a:r>
          </a:p>
          <a:p>
            <a:endParaRPr lang="en-US" dirty="0"/>
          </a:p>
        </p:txBody>
      </p:sp>
    </p:spTree>
    <p:extLst>
      <p:ext uri="{BB962C8B-B14F-4D97-AF65-F5344CB8AC3E}">
        <p14:creationId xmlns:p14="http://schemas.microsoft.com/office/powerpoint/2010/main" val="158875061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b="1" dirty="0" smtClean="0"/>
              <a:t>Moderate MR (1Q </a:t>
            </a:r>
            <a:r>
              <a:rPr lang="en-US" b="1" dirty="0"/>
              <a:t>50 -35) </a:t>
            </a:r>
            <a:endParaRPr lang="en-US" dirty="0"/>
          </a:p>
        </p:txBody>
      </p:sp>
      <p:sp>
        <p:nvSpPr>
          <p:cNvPr id="3" name="Content Placeholder 2"/>
          <p:cNvSpPr>
            <a:spLocks noGrp="1"/>
          </p:cNvSpPr>
          <p:nvPr>
            <p:ph idx="1"/>
          </p:nvPr>
        </p:nvSpPr>
        <p:spPr>
          <a:xfrm>
            <a:off x="457200" y="1143000"/>
            <a:ext cx="8229600" cy="4983163"/>
          </a:xfrm>
        </p:spPr>
        <p:txBody>
          <a:bodyPr/>
          <a:lstStyle/>
          <a:p>
            <a:pPr marL="0" indent="0">
              <a:buNone/>
            </a:pPr>
            <a:endParaRPr lang="en-US" dirty="0"/>
          </a:p>
          <a:p>
            <a:r>
              <a:rPr lang="en-US" dirty="0"/>
              <a:t>Are trainable. Constitute pop 10% of retarded persons. </a:t>
            </a:r>
          </a:p>
          <a:p>
            <a:r>
              <a:rPr lang="en-US" dirty="0" smtClean="0"/>
              <a:t>Can </a:t>
            </a:r>
            <a:r>
              <a:rPr lang="en-US" dirty="0"/>
              <a:t>talk or learn to communicate during pre-school years. </a:t>
            </a:r>
          </a:p>
          <a:p>
            <a:r>
              <a:rPr lang="en-US" dirty="0" smtClean="0"/>
              <a:t>Need </a:t>
            </a:r>
            <a:r>
              <a:rPr lang="en-US" dirty="0"/>
              <a:t>moderate supervision to take care of themselves. </a:t>
            </a:r>
          </a:p>
          <a:p>
            <a:r>
              <a:rPr lang="en-US" dirty="0" smtClean="0"/>
              <a:t>Unlikely </a:t>
            </a:r>
            <a:r>
              <a:rPr lang="en-US" dirty="0"/>
              <a:t>to go beyond 2nd grade level. </a:t>
            </a:r>
          </a:p>
          <a:p>
            <a:endParaRPr lang="en-US" dirty="0"/>
          </a:p>
        </p:txBody>
      </p:sp>
    </p:spTree>
    <p:extLst>
      <p:ext uri="{BB962C8B-B14F-4D97-AF65-F5344CB8AC3E}">
        <p14:creationId xmlns:p14="http://schemas.microsoft.com/office/powerpoint/2010/main" val="316732138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smtClean="0"/>
              <a:t>Severe </a:t>
            </a:r>
            <a:r>
              <a:rPr lang="en-US" b="1" dirty="0"/>
              <a:t>mental retardation (IQ 35-20) </a:t>
            </a:r>
            <a:endParaRPr lang="en-US" dirty="0"/>
          </a:p>
        </p:txBody>
      </p:sp>
      <p:sp>
        <p:nvSpPr>
          <p:cNvPr id="3" name="Content Placeholder 2"/>
          <p:cNvSpPr>
            <a:spLocks noGrp="1"/>
          </p:cNvSpPr>
          <p:nvPr>
            <p:ph idx="1"/>
          </p:nvPr>
        </p:nvSpPr>
        <p:spPr>
          <a:xfrm>
            <a:off x="457200" y="1295400"/>
            <a:ext cx="8229600" cy="4830763"/>
          </a:xfrm>
        </p:spPr>
        <p:txBody>
          <a:bodyPr/>
          <a:lstStyle/>
          <a:p>
            <a:pPr marL="0" indent="0">
              <a:buNone/>
            </a:pPr>
            <a:endParaRPr lang="en-US" dirty="0"/>
          </a:p>
          <a:p>
            <a:r>
              <a:rPr lang="en-US" dirty="0"/>
              <a:t>Constitute 3 -4% of retarded persons. </a:t>
            </a:r>
          </a:p>
          <a:p>
            <a:r>
              <a:rPr lang="en-US" dirty="0" smtClean="0"/>
              <a:t>Poor </a:t>
            </a:r>
            <a:r>
              <a:rPr lang="en-US" dirty="0"/>
              <a:t>motor skills development, little or no speech in pre-school though may learn to talk in school age. </a:t>
            </a:r>
          </a:p>
          <a:p>
            <a:r>
              <a:rPr lang="en-US" dirty="0" smtClean="0"/>
              <a:t>Can </a:t>
            </a:r>
            <a:r>
              <a:rPr lang="en-US" dirty="0"/>
              <a:t>be trained in elementary hygiene skills. </a:t>
            </a:r>
          </a:p>
          <a:p>
            <a:endParaRPr lang="en-US" dirty="0"/>
          </a:p>
        </p:txBody>
      </p:sp>
    </p:spTree>
    <p:extLst>
      <p:ext uri="{BB962C8B-B14F-4D97-AF65-F5344CB8AC3E}">
        <p14:creationId xmlns:p14="http://schemas.microsoft.com/office/powerpoint/2010/main" val="288337262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b="1" dirty="0" smtClean="0"/>
              <a:t>Profound MR(IQ </a:t>
            </a:r>
            <a:r>
              <a:rPr lang="en-US" b="1" dirty="0"/>
              <a:t>below 20) </a:t>
            </a:r>
            <a:endParaRPr lang="en-US" dirty="0"/>
          </a:p>
        </p:txBody>
      </p:sp>
      <p:sp>
        <p:nvSpPr>
          <p:cNvPr id="3" name="Content Placeholder 2"/>
          <p:cNvSpPr>
            <a:spLocks noGrp="1"/>
          </p:cNvSpPr>
          <p:nvPr>
            <p:ph idx="1"/>
          </p:nvPr>
        </p:nvSpPr>
        <p:spPr>
          <a:xfrm>
            <a:off x="457200" y="1295400"/>
            <a:ext cx="8229600" cy="4830763"/>
          </a:xfrm>
        </p:spPr>
        <p:txBody>
          <a:bodyPr>
            <a:normAutofit/>
          </a:bodyPr>
          <a:lstStyle/>
          <a:p>
            <a:pPr marL="0" indent="0">
              <a:buNone/>
            </a:pPr>
            <a:endParaRPr lang="en-US" dirty="0"/>
          </a:p>
          <a:p>
            <a:r>
              <a:rPr lang="en-US" dirty="0"/>
              <a:t>1 -2% of retarded persons. </a:t>
            </a:r>
          </a:p>
          <a:p>
            <a:r>
              <a:rPr lang="en-US" dirty="0" smtClean="0"/>
              <a:t>Have </a:t>
            </a:r>
            <a:r>
              <a:rPr lang="en-US" dirty="0"/>
              <a:t>minimal capacity for sensory motor function. </a:t>
            </a:r>
          </a:p>
          <a:p>
            <a:r>
              <a:rPr lang="en-US" dirty="0" smtClean="0"/>
              <a:t>Require </a:t>
            </a:r>
            <a:r>
              <a:rPr lang="en-US" dirty="0"/>
              <a:t>care giver and supervision. </a:t>
            </a:r>
          </a:p>
          <a:p>
            <a:r>
              <a:rPr lang="en-US" dirty="0" smtClean="0"/>
              <a:t>Motor </a:t>
            </a:r>
            <a:r>
              <a:rPr lang="en-US" dirty="0"/>
              <a:t>development, self care and communication skills need appropriate training. </a:t>
            </a:r>
          </a:p>
          <a:p>
            <a:endParaRPr lang="en-US" dirty="0"/>
          </a:p>
        </p:txBody>
      </p:sp>
    </p:spTree>
    <p:extLst>
      <p:ext uri="{BB962C8B-B14F-4D97-AF65-F5344CB8AC3E}">
        <p14:creationId xmlns:p14="http://schemas.microsoft.com/office/powerpoint/2010/main" val="373979700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Etiology-MR</a:t>
            </a:r>
            <a:endParaRPr lang="en-US" b="1" dirty="0"/>
          </a:p>
        </p:txBody>
      </p:sp>
      <p:sp>
        <p:nvSpPr>
          <p:cNvPr id="3" name="Content Placeholder 2"/>
          <p:cNvSpPr>
            <a:spLocks noGrp="1"/>
          </p:cNvSpPr>
          <p:nvPr>
            <p:ph idx="1"/>
          </p:nvPr>
        </p:nvSpPr>
        <p:spPr>
          <a:xfrm>
            <a:off x="457200" y="1295400"/>
            <a:ext cx="8229600" cy="4830763"/>
          </a:xfrm>
        </p:spPr>
        <p:txBody>
          <a:bodyPr>
            <a:normAutofit/>
          </a:bodyPr>
          <a:lstStyle/>
          <a:p>
            <a:endParaRPr lang="en-US" dirty="0"/>
          </a:p>
          <a:p>
            <a:r>
              <a:rPr lang="en-US" b="1" dirty="0"/>
              <a:t>Genetic Factors</a:t>
            </a:r>
            <a:r>
              <a:rPr lang="en-US" dirty="0"/>
              <a:t>: Down synchrony </a:t>
            </a:r>
            <a:r>
              <a:rPr lang="en-US" dirty="0" err="1"/>
              <a:t>Rett’s</a:t>
            </a:r>
            <a:r>
              <a:rPr lang="en-US" dirty="0"/>
              <a:t> disorder, </a:t>
            </a:r>
            <a:r>
              <a:rPr lang="en-US" dirty="0" err="1"/>
              <a:t>frangile</a:t>
            </a:r>
            <a:r>
              <a:rPr lang="en-US" dirty="0"/>
              <a:t> and syndrome. </a:t>
            </a:r>
          </a:p>
          <a:p>
            <a:r>
              <a:rPr lang="en-US" b="1" dirty="0" smtClean="0"/>
              <a:t>Acquired </a:t>
            </a:r>
            <a:r>
              <a:rPr lang="en-US" b="1" dirty="0"/>
              <a:t>and development factors</a:t>
            </a:r>
            <a:r>
              <a:rPr lang="en-US" dirty="0"/>
              <a:t>: Fetal alcohol syndrome, Acquired childhood disorders, Aids, Rubella, prenatal exposure, complication of pregnancy, infection, Head </a:t>
            </a:r>
            <a:r>
              <a:rPr lang="en-US" dirty="0" err="1"/>
              <a:t>Trauma.poor</a:t>
            </a:r>
            <a:r>
              <a:rPr lang="en-US" dirty="0"/>
              <a:t> nutrition, poor nurturance, inappropriate stimulation. </a:t>
            </a:r>
          </a:p>
          <a:p>
            <a:endParaRPr lang="en-US" dirty="0"/>
          </a:p>
        </p:txBody>
      </p:sp>
    </p:spTree>
    <p:extLst>
      <p:ext uri="{BB962C8B-B14F-4D97-AF65-F5344CB8AC3E}">
        <p14:creationId xmlns:p14="http://schemas.microsoft.com/office/powerpoint/2010/main" val="145443535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Treatment</a:t>
            </a:r>
            <a:r>
              <a:rPr lang="en-US" dirty="0" smtClean="0"/>
              <a:t> </a:t>
            </a:r>
            <a:endParaRPr lang="en-US" dirty="0"/>
          </a:p>
        </p:txBody>
      </p:sp>
      <p:sp>
        <p:nvSpPr>
          <p:cNvPr id="3" name="Content Placeholder 2"/>
          <p:cNvSpPr>
            <a:spLocks noGrp="1"/>
          </p:cNvSpPr>
          <p:nvPr>
            <p:ph idx="1"/>
          </p:nvPr>
        </p:nvSpPr>
        <p:spPr>
          <a:xfrm>
            <a:off x="457200" y="1143000"/>
            <a:ext cx="8229600" cy="5410200"/>
          </a:xfrm>
        </p:spPr>
        <p:txBody>
          <a:bodyPr>
            <a:normAutofit fontScale="92500" lnSpcReduction="20000"/>
          </a:bodyPr>
          <a:lstStyle/>
          <a:p>
            <a:endParaRPr lang="en-US" dirty="0"/>
          </a:p>
          <a:p>
            <a:r>
              <a:rPr lang="en-US" dirty="0"/>
              <a:t>Primary prevention-education to increase general public knowledge of mental </a:t>
            </a:r>
            <a:r>
              <a:rPr lang="en-US" dirty="0" err="1"/>
              <a:t>retardness</a:t>
            </a:r>
            <a:r>
              <a:rPr lang="en-US" dirty="0"/>
              <a:t> and to provide optimal maternal and child health care. </a:t>
            </a:r>
          </a:p>
          <a:p>
            <a:r>
              <a:rPr lang="en-US" dirty="0" smtClean="0"/>
              <a:t>Secondary </a:t>
            </a:r>
            <a:r>
              <a:rPr lang="en-US" dirty="0"/>
              <a:t>and tertiary prevention-Treatment disorders associated with retardation. Take care of disabled people with retardation. </a:t>
            </a:r>
          </a:p>
          <a:p>
            <a:r>
              <a:rPr lang="en-US" dirty="0" smtClean="0"/>
              <a:t>Behavioral, </a:t>
            </a:r>
            <a:r>
              <a:rPr lang="en-US" dirty="0"/>
              <a:t>cognitive and psychodynamic Therapy. </a:t>
            </a:r>
          </a:p>
          <a:p>
            <a:r>
              <a:rPr lang="en-US" dirty="0" smtClean="0"/>
              <a:t>Family </a:t>
            </a:r>
            <a:r>
              <a:rPr lang="en-US" dirty="0"/>
              <a:t>education and organize education for the child. </a:t>
            </a:r>
          </a:p>
          <a:p>
            <a:r>
              <a:rPr lang="en-US" dirty="0" smtClean="0"/>
              <a:t>Pharmacology </a:t>
            </a:r>
            <a:r>
              <a:rPr lang="en-US" dirty="0"/>
              <a:t>and social intervention </a:t>
            </a:r>
          </a:p>
          <a:p>
            <a:endParaRPr lang="en-US" dirty="0"/>
          </a:p>
        </p:txBody>
      </p:sp>
    </p:spTree>
    <p:extLst>
      <p:ext uri="{BB962C8B-B14F-4D97-AF65-F5344CB8AC3E}">
        <p14:creationId xmlns:p14="http://schemas.microsoft.com/office/powerpoint/2010/main" val="7588214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Learning </a:t>
            </a:r>
            <a:r>
              <a:rPr lang="en-US" b="1" dirty="0"/>
              <a:t>Skills Disorder </a:t>
            </a:r>
            <a:endParaRPr lang="en-US" dirty="0"/>
          </a:p>
        </p:txBody>
      </p:sp>
      <p:sp>
        <p:nvSpPr>
          <p:cNvPr id="3" name="Content Placeholder 2"/>
          <p:cNvSpPr>
            <a:spLocks noGrp="1"/>
          </p:cNvSpPr>
          <p:nvPr>
            <p:ph idx="1"/>
          </p:nvPr>
        </p:nvSpPr>
        <p:spPr>
          <a:xfrm>
            <a:off x="457200" y="1371600"/>
            <a:ext cx="8229600" cy="5181600"/>
          </a:xfrm>
        </p:spPr>
        <p:txBody>
          <a:bodyPr>
            <a:normAutofit fontScale="92500"/>
          </a:bodyPr>
          <a:lstStyle/>
          <a:p>
            <a:r>
              <a:rPr lang="en-US" dirty="0"/>
              <a:t>Inability to acquire expected skills to writing, speaking, listening, reading, reasoning or </a:t>
            </a:r>
            <a:r>
              <a:rPr lang="en-US" dirty="0" err="1"/>
              <a:t>maths</a:t>
            </a:r>
            <a:r>
              <a:rPr lang="en-US" dirty="0"/>
              <a:t> compared to children of the same age and IQ. </a:t>
            </a:r>
          </a:p>
          <a:p>
            <a:r>
              <a:rPr lang="en-US" b="1" dirty="0"/>
              <a:t>Characteristics </a:t>
            </a:r>
            <a:endParaRPr lang="en-US" dirty="0"/>
          </a:p>
          <a:p>
            <a:r>
              <a:rPr lang="en-US" dirty="0" smtClean="0"/>
              <a:t>Reading </a:t>
            </a:r>
            <a:r>
              <a:rPr lang="en-US" dirty="0"/>
              <a:t>problems-poor sounding of words. </a:t>
            </a:r>
          </a:p>
          <a:p>
            <a:r>
              <a:rPr lang="en-US" dirty="0" smtClean="0"/>
              <a:t>Mathematics </a:t>
            </a:r>
            <a:r>
              <a:rPr lang="en-US" dirty="0"/>
              <a:t>disorder-poor in </a:t>
            </a:r>
            <a:r>
              <a:rPr lang="en-US" dirty="0" err="1"/>
              <a:t>maths</a:t>
            </a:r>
            <a:r>
              <a:rPr lang="en-US" dirty="0"/>
              <a:t> performance. </a:t>
            </a:r>
          </a:p>
          <a:p>
            <a:r>
              <a:rPr lang="en-US" dirty="0" smtClean="0"/>
              <a:t>Disorder </a:t>
            </a:r>
            <a:r>
              <a:rPr lang="en-US" dirty="0"/>
              <a:t>of written expression-poor sentence construction and poor punctuation. </a:t>
            </a:r>
          </a:p>
          <a:p>
            <a:r>
              <a:rPr lang="en-US" dirty="0" smtClean="0"/>
              <a:t>Learning </a:t>
            </a:r>
            <a:r>
              <a:rPr lang="en-US" dirty="0"/>
              <a:t>problem e.g. spelling skills deficit. </a:t>
            </a:r>
          </a:p>
          <a:p>
            <a:endParaRPr lang="en-US" dirty="0"/>
          </a:p>
        </p:txBody>
      </p:sp>
    </p:spTree>
    <p:extLst>
      <p:ext uri="{BB962C8B-B14F-4D97-AF65-F5344CB8AC3E}">
        <p14:creationId xmlns:p14="http://schemas.microsoft.com/office/powerpoint/2010/main" val="182886042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a:t>PERVASIVE DEVELOPMENTAL DISORDERS (DSM IV) </a:t>
            </a:r>
            <a:r>
              <a:rPr lang="en-US" dirty="0"/>
              <a:t/>
            </a:r>
            <a:br>
              <a:rPr lang="en-US" dirty="0"/>
            </a:br>
            <a:endParaRPr lang="en-US" dirty="0"/>
          </a:p>
        </p:txBody>
      </p:sp>
      <p:sp>
        <p:nvSpPr>
          <p:cNvPr id="3" name="Content Placeholder 2"/>
          <p:cNvSpPr>
            <a:spLocks noGrp="1"/>
          </p:cNvSpPr>
          <p:nvPr>
            <p:ph idx="1"/>
          </p:nvPr>
        </p:nvSpPr>
        <p:spPr>
          <a:xfrm>
            <a:off x="457200" y="1600200"/>
            <a:ext cx="8229600" cy="4724400"/>
          </a:xfrm>
        </p:spPr>
        <p:txBody>
          <a:bodyPr/>
          <a:lstStyle/>
          <a:p>
            <a:r>
              <a:rPr lang="en-US" dirty="0"/>
              <a:t>These are early onset conditions characterized by delay and deviance in the development of social, communication and behavior skills. </a:t>
            </a:r>
          </a:p>
          <a:p>
            <a:r>
              <a:rPr lang="en-US" b="1" dirty="0"/>
              <a:t>Include</a:t>
            </a:r>
            <a:r>
              <a:rPr lang="en-US" dirty="0"/>
              <a:t>: </a:t>
            </a:r>
            <a:endParaRPr lang="en-US" dirty="0" smtClean="0"/>
          </a:p>
          <a:p>
            <a:r>
              <a:rPr lang="en-US" dirty="0" smtClean="0"/>
              <a:t>Autistic </a:t>
            </a:r>
            <a:r>
              <a:rPr lang="en-US" dirty="0"/>
              <a:t>disorder, </a:t>
            </a:r>
            <a:endParaRPr lang="en-US" dirty="0" smtClean="0"/>
          </a:p>
          <a:p>
            <a:r>
              <a:rPr lang="en-US" dirty="0" err="1" smtClean="0"/>
              <a:t>Rett’s</a:t>
            </a:r>
            <a:r>
              <a:rPr lang="en-US" dirty="0" smtClean="0"/>
              <a:t> </a:t>
            </a:r>
            <a:r>
              <a:rPr lang="en-US" dirty="0"/>
              <a:t>disorder, </a:t>
            </a:r>
            <a:endParaRPr lang="en-US" dirty="0" smtClean="0"/>
          </a:p>
          <a:p>
            <a:r>
              <a:rPr lang="en-US" dirty="0" smtClean="0"/>
              <a:t>childhood </a:t>
            </a:r>
            <a:r>
              <a:rPr lang="en-US" dirty="0"/>
              <a:t>disintegrative disorder, </a:t>
            </a:r>
            <a:endParaRPr lang="en-US" dirty="0" smtClean="0"/>
          </a:p>
          <a:p>
            <a:r>
              <a:rPr lang="en-US" dirty="0" smtClean="0"/>
              <a:t>Asperger’s </a:t>
            </a:r>
            <a:r>
              <a:rPr lang="en-US" dirty="0"/>
              <a:t>disorder </a:t>
            </a:r>
          </a:p>
        </p:txBody>
      </p:sp>
    </p:spTree>
    <p:extLst>
      <p:ext uri="{BB962C8B-B14F-4D97-AF65-F5344CB8AC3E}">
        <p14:creationId xmlns:p14="http://schemas.microsoft.com/office/powerpoint/2010/main" val="334529720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AUTISTIC DISORDER </a:t>
            </a:r>
            <a:endParaRPr lang="en-US" dirty="0"/>
          </a:p>
        </p:txBody>
      </p:sp>
      <p:sp>
        <p:nvSpPr>
          <p:cNvPr id="3" name="Content Placeholder 2"/>
          <p:cNvSpPr>
            <a:spLocks noGrp="1"/>
          </p:cNvSpPr>
          <p:nvPr>
            <p:ph idx="1"/>
          </p:nvPr>
        </p:nvSpPr>
        <p:spPr>
          <a:xfrm>
            <a:off x="457200" y="1143000"/>
            <a:ext cx="8229600" cy="5638800"/>
          </a:xfrm>
        </p:spPr>
        <p:txBody>
          <a:bodyPr>
            <a:normAutofit fontScale="85000" lnSpcReduction="20000"/>
          </a:bodyPr>
          <a:lstStyle/>
          <a:p>
            <a:r>
              <a:rPr lang="en-US" dirty="0"/>
              <a:t>There is marked and sustained impairment in social interaction, deviance in communication and restricted or stereotyped pattern of behavior and interest. Abnormalities are evident by Age 3 </a:t>
            </a:r>
            <a:r>
              <a:rPr lang="en-US" dirty="0" smtClean="0"/>
              <a:t>years</a:t>
            </a:r>
            <a:r>
              <a:rPr lang="en-US" dirty="0"/>
              <a:t>. </a:t>
            </a:r>
            <a:endParaRPr lang="en-US" dirty="0" smtClean="0"/>
          </a:p>
          <a:p>
            <a:pPr marL="0" indent="0">
              <a:buNone/>
            </a:pPr>
            <a:r>
              <a:rPr lang="en-US" b="1" dirty="0"/>
              <a:t>Diagnosis and Clinical Features </a:t>
            </a:r>
            <a:endParaRPr lang="en-US" dirty="0"/>
          </a:p>
          <a:p>
            <a:r>
              <a:rPr lang="en-US" dirty="0" smtClean="0"/>
              <a:t>Marked </a:t>
            </a:r>
            <a:r>
              <a:rPr lang="en-US" dirty="0"/>
              <a:t>impairment in use of multiple non verbal </a:t>
            </a:r>
            <a:r>
              <a:rPr lang="en-US" dirty="0" err="1"/>
              <a:t>behaviour</a:t>
            </a:r>
            <a:r>
              <a:rPr lang="en-US" dirty="0"/>
              <a:t> e.g. eye to eye gaze, facial expression, body postures and gestures to regulate social interaction. </a:t>
            </a:r>
          </a:p>
          <a:p>
            <a:r>
              <a:rPr lang="en-US" dirty="0" smtClean="0"/>
              <a:t>Failure </a:t>
            </a:r>
            <a:r>
              <a:rPr lang="en-US" dirty="0"/>
              <a:t>to develop peer relationships appropriate to developmental level. </a:t>
            </a:r>
          </a:p>
          <a:p>
            <a:r>
              <a:rPr lang="en-US" dirty="0" smtClean="0"/>
              <a:t>A </a:t>
            </a:r>
            <a:r>
              <a:rPr lang="en-US" dirty="0"/>
              <a:t>lack of spontaneous seeking to share enjoyment, interest or achievement with other people (e.g. lack of shoeing or pointing out objects of interest) </a:t>
            </a:r>
          </a:p>
          <a:p>
            <a:r>
              <a:rPr lang="en-US" dirty="0" smtClean="0"/>
              <a:t>Lack </a:t>
            </a:r>
            <a:r>
              <a:rPr lang="en-US" dirty="0"/>
              <a:t>of social or emotional reciprocity </a:t>
            </a:r>
          </a:p>
          <a:p>
            <a:endParaRPr lang="en-US" dirty="0"/>
          </a:p>
        </p:txBody>
      </p:sp>
    </p:spTree>
    <p:extLst>
      <p:ext uri="{BB962C8B-B14F-4D97-AF65-F5344CB8AC3E}">
        <p14:creationId xmlns:p14="http://schemas.microsoft.com/office/powerpoint/2010/main" val="337343977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AUTISTIC DX-RX </a:t>
            </a:r>
            <a:endParaRPr lang="en-US" dirty="0"/>
          </a:p>
        </p:txBody>
      </p:sp>
      <p:sp>
        <p:nvSpPr>
          <p:cNvPr id="3" name="Content Placeholder 2"/>
          <p:cNvSpPr>
            <a:spLocks noGrp="1"/>
          </p:cNvSpPr>
          <p:nvPr>
            <p:ph idx="1"/>
          </p:nvPr>
        </p:nvSpPr>
        <p:spPr>
          <a:xfrm>
            <a:off x="457200" y="1295400"/>
            <a:ext cx="8229600" cy="5257800"/>
          </a:xfrm>
        </p:spPr>
        <p:txBody>
          <a:bodyPr>
            <a:normAutofit/>
          </a:bodyPr>
          <a:lstStyle/>
          <a:p>
            <a:r>
              <a:rPr lang="en-US" dirty="0"/>
              <a:t>The goal is to reduce disruptive </a:t>
            </a:r>
            <a:r>
              <a:rPr lang="en-US" dirty="0" err="1"/>
              <a:t>behaviour</a:t>
            </a:r>
            <a:r>
              <a:rPr lang="en-US" dirty="0"/>
              <a:t> and to promote learning, language, communication and self help skills. </a:t>
            </a:r>
          </a:p>
          <a:p>
            <a:r>
              <a:rPr lang="en-US" dirty="0" smtClean="0"/>
              <a:t>Educational </a:t>
            </a:r>
            <a:r>
              <a:rPr lang="en-US" dirty="0"/>
              <a:t>therapy </a:t>
            </a:r>
          </a:p>
          <a:p>
            <a:r>
              <a:rPr lang="en-US" dirty="0" err="1" smtClean="0"/>
              <a:t>Behaviour</a:t>
            </a:r>
            <a:r>
              <a:rPr lang="en-US" dirty="0" smtClean="0"/>
              <a:t> </a:t>
            </a:r>
            <a:r>
              <a:rPr lang="en-US" dirty="0"/>
              <a:t>Therapy </a:t>
            </a:r>
          </a:p>
          <a:p>
            <a:r>
              <a:rPr lang="en-US" dirty="0" smtClean="0"/>
              <a:t>Psychotherapy </a:t>
            </a:r>
            <a:endParaRPr lang="en-US" dirty="0"/>
          </a:p>
          <a:p>
            <a:r>
              <a:rPr lang="en-US" dirty="0" err="1" smtClean="0"/>
              <a:t>Psychoplasmacology-psychotropics</a:t>
            </a:r>
            <a:r>
              <a:rPr lang="en-US" dirty="0" smtClean="0"/>
              <a:t> </a:t>
            </a:r>
            <a:r>
              <a:rPr lang="en-US" dirty="0"/>
              <a:t>e.g. </a:t>
            </a:r>
          </a:p>
          <a:p>
            <a:pPr marL="800100" lvl="2" indent="0">
              <a:buNone/>
            </a:pPr>
            <a:r>
              <a:rPr lang="en-US" dirty="0"/>
              <a:t>-SSRI e.g. </a:t>
            </a:r>
            <a:r>
              <a:rPr lang="en-US" dirty="0" err="1"/>
              <a:t>flioxetine</a:t>
            </a:r>
            <a:r>
              <a:rPr lang="en-US" dirty="0"/>
              <a:t>. </a:t>
            </a:r>
          </a:p>
          <a:p>
            <a:pPr marL="800100" lvl="2" indent="0">
              <a:buNone/>
            </a:pPr>
            <a:r>
              <a:rPr lang="en-US" dirty="0"/>
              <a:t>-Clonidine </a:t>
            </a:r>
          </a:p>
          <a:p>
            <a:pPr marL="800100" lvl="2" indent="0">
              <a:buNone/>
            </a:pPr>
            <a:r>
              <a:rPr lang="en-US" dirty="0"/>
              <a:t>-Naltrexone </a:t>
            </a:r>
          </a:p>
        </p:txBody>
      </p:sp>
    </p:spTree>
    <p:extLst>
      <p:ext uri="{BB962C8B-B14F-4D97-AF65-F5344CB8AC3E}">
        <p14:creationId xmlns:p14="http://schemas.microsoft.com/office/powerpoint/2010/main" val="317159969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smtClean="0"/>
              <a:t>RETT’S DISORDER </a:t>
            </a:r>
            <a:endParaRPr lang="en-US" dirty="0"/>
          </a:p>
        </p:txBody>
      </p:sp>
      <p:sp>
        <p:nvSpPr>
          <p:cNvPr id="3" name="Content Placeholder 2"/>
          <p:cNvSpPr>
            <a:spLocks noGrp="1"/>
          </p:cNvSpPr>
          <p:nvPr>
            <p:ph idx="1"/>
          </p:nvPr>
        </p:nvSpPr>
        <p:spPr>
          <a:xfrm>
            <a:off x="457200" y="1295400"/>
            <a:ext cx="8229600" cy="5181600"/>
          </a:xfrm>
        </p:spPr>
        <p:txBody>
          <a:bodyPr/>
          <a:lstStyle/>
          <a:p>
            <a:r>
              <a:rPr lang="en-US" dirty="0"/>
              <a:t>A progressive condition that develops after 5 months of Normal development with normal head circumference at birth and early development milestones. it is a hereditary condition. </a:t>
            </a:r>
          </a:p>
          <a:p>
            <a:r>
              <a:rPr lang="en-US" dirty="0" err="1"/>
              <a:t>Rett’s</a:t>
            </a:r>
            <a:r>
              <a:rPr lang="en-US" dirty="0"/>
              <a:t> disorder is a progressive neurodegenerative condition; Adult patients may be non ambulatory because of motor problems and scoliosis. </a:t>
            </a:r>
          </a:p>
        </p:txBody>
      </p:sp>
    </p:spTree>
    <p:extLst>
      <p:ext uri="{BB962C8B-B14F-4D97-AF65-F5344CB8AC3E}">
        <p14:creationId xmlns:p14="http://schemas.microsoft.com/office/powerpoint/2010/main" val="334177460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t>DSM IV </a:t>
            </a:r>
            <a:r>
              <a:rPr lang="en-US" b="1" dirty="0" smtClean="0"/>
              <a:t>DX </a:t>
            </a:r>
            <a:r>
              <a:rPr lang="en-US" b="1" dirty="0"/>
              <a:t>criteria for </a:t>
            </a:r>
            <a:r>
              <a:rPr lang="en-US" b="1" dirty="0" err="1"/>
              <a:t>Rett’s</a:t>
            </a:r>
            <a:r>
              <a:rPr lang="en-US" b="1" dirty="0"/>
              <a:t> Disorder </a:t>
            </a:r>
            <a:endParaRPr lang="en-US" dirty="0"/>
          </a:p>
        </p:txBody>
      </p:sp>
      <p:sp>
        <p:nvSpPr>
          <p:cNvPr id="3" name="Content Placeholder 2"/>
          <p:cNvSpPr>
            <a:spLocks noGrp="1"/>
          </p:cNvSpPr>
          <p:nvPr>
            <p:ph idx="1"/>
          </p:nvPr>
        </p:nvSpPr>
        <p:spPr>
          <a:xfrm>
            <a:off x="457200" y="990600"/>
            <a:ext cx="8229600" cy="5715000"/>
          </a:xfrm>
        </p:spPr>
        <p:txBody>
          <a:bodyPr>
            <a:normAutofit fontScale="77500" lnSpcReduction="20000"/>
          </a:bodyPr>
          <a:lstStyle/>
          <a:p>
            <a:pPr marL="0" indent="0">
              <a:buNone/>
            </a:pPr>
            <a:r>
              <a:rPr lang="en-US" b="1" dirty="0"/>
              <a:t>A –Apparently normal prenatal and perinatal development </a:t>
            </a:r>
            <a:endParaRPr lang="en-US" dirty="0"/>
          </a:p>
          <a:p>
            <a:r>
              <a:rPr lang="en-US" dirty="0" smtClean="0"/>
              <a:t>Normal </a:t>
            </a:r>
            <a:r>
              <a:rPr lang="en-US" dirty="0"/>
              <a:t>psychomotor development through the first 5 months. </a:t>
            </a:r>
          </a:p>
          <a:p>
            <a:r>
              <a:rPr lang="en-US" dirty="0" smtClean="0"/>
              <a:t>Normal </a:t>
            </a:r>
            <a:r>
              <a:rPr lang="en-US" dirty="0"/>
              <a:t>head circumference at birth</a:t>
            </a:r>
            <a:r>
              <a:rPr lang="en-US" dirty="0" smtClean="0"/>
              <a:t>.</a:t>
            </a:r>
          </a:p>
          <a:p>
            <a:pPr marL="0" indent="0">
              <a:buNone/>
            </a:pPr>
            <a:r>
              <a:rPr lang="en-US" b="1" dirty="0"/>
              <a:t>B. →Onset of: </a:t>
            </a:r>
            <a:endParaRPr lang="en-US" dirty="0"/>
          </a:p>
          <a:p>
            <a:r>
              <a:rPr lang="en-US" dirty="0" smtClean="0"/>
              <a:t>Deceleration </a:t>
            </a:r>
            <a:r>
              <a:rPr lang="en-US" dirty="0"/>
              <a:t>of head-growth between ages 51/2 →4 years. </a:t>
            </a:r>
          </a:p>
          <a:p>
            <a:r>
              <a:rPr lang="en-US" dirty="0" smtClean="0"/>
              <a:t>Loss </a:t>
            </a:r>
            <a:r>
              <a:rPr lang="en-US" dirty="0"/>
              <a:t>of previously acquired purposeful hand skills between ages 5/12 -21/2 years with subsequent development of stereotyped hand movement (e.g. hand wringing or hand washing). </a:t>
            </a:r>
          </a:p>
          <a:p>
            <a:r>
              <a:rPr lang="en-US" dirty="0" smtClean="0"/>
              <a:t>Loss </a:t>
            </a:r>
            <a:r>
              <a:rPr lang="en-US" dirty="0"/>
              <a:t>of social engagement early in the course (although often social interaction develop later). </a:t>
            </a:r>
          </a:p>
          <a:p>
            <a:r>
              <a:rPr lang="en-US" dirty="0" smtClean="0"/>
              <a:t>Appearance </a:t>
            </a:r>
            <a:r>
              <a:rPr lang="en-US" dirty="0"/>
              <a:t>of poorly coordinated gait or trunk movement. </a:t>
            </a:r>
          </a:p>
          <a:p>
            <a:r>
              <a:rPr lang="en-US" dirty="0" smtClean="0"/>
              <a:t>Severely </a:t>
            </a:r>
            <a:r>
              <a:rPr lang="en-US" dirty="0"/>
              <a:t>impaired expressive and receptive language development with severe psychomotor retardation and scoliosis. </a:t>
            </a:r>
          </a:p>
          <a:p>
            <a:pPr marL="0" indent="0">
              <a:buNone/>
            </a:pPr>
            <a:endParaRPr lang="en-US" dirty="0"/>
          </a:p>
        </p:txBody>
      </p:sp>
    </p:spTree>
    <p:extLst>
      <p:ext uri="{BB962C8B-B14F-4D97-AF65-F5344CB8AC3E}">
        <p14:creationId xmlns:p14="http://schemas.microsoft.com/office/powerpoint/2010/main" val="282357005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RETTS DX –RX </a:t>
            </a:r>
            <a:endParaRPr lang="en-US" dirty="0"/>
          </a:p>
        </p:txBody>
      </p:sp>
      <p:sp>
        <p:nvSpPr>
          <p:cNvPr id="3" name="Content Placeholder 2"/>
          <p:cNvSpPr>
            <a:spLocks noGrp="1"/>
          </p:cNvSpPr>
          <p:nvPr>
            <p:ph idx="1"/>
          </p:nvPr>
        </p:nvSpPr>
        <p:spPr>
          <a:xfrm>
            <a:off x="457200" y="1295400"/>
            <a:ext cx="8229600" cy="4830763"/>
          </a:xfrm>
        </p:spPr>
        <p:txBody>
          <a:bodyPr/>
          <a:lstStyle/>
          <a:p>
            <a:endParaRPr lang="en-US" dirty="0"/>
          </a:p>
          <a:p>
            <a:r>
              <a:rPr lang="en-US" dirty="0"/>
              <a:t>No specific Treatment. </a:t>
            </a:r>
          </a:p>
          <a:p>
            <a:r>
              <a:rPr lang="en-US" dirty="0" smtClean="0"/>
              <a:t>Require </a:t>
            </a:r>
            <a:r>
              <a:rPr lang="en-US" dirty="0"/>
              <a:t>special education, </a:t>
            </a:r>
            <a:r>
              <a:rPr lang="en-US" dirty="0" err="1"/>
              <a:t>behaviour</a:t>
            </a:r>
            <a:r>
              <a:rPr lang="en-US" dirty="0"/>
              <a:t> modification, physical and respiratory therapies. </a:t>
            </a:r>
          </a:p>
          <a:p>
            <a:r>
              <a:rPr lang="en-US" dirty="0" smtClean="0"/>
              <a:t>No </a:t>
            </a:r>
            <a:r>
              <a:rPr lang="en-US" dirty="0"/>
              <a:t>specific pharmacological Treatment. </a:t>
            </a:r>
          </a:p>
          <a:p>
            <a:pPr marL="0" indent="0">
              <a:buNone/>
            </a:pPr>
            <a:endParaRPr lang="en-US" dirty="0"/>
          </a:p>
          <a:p>
            <a:endParaRPr lang="en-US" dirty="0"/>
          </a:p>
        </p:txBody>
      </p:sp>
    </p:spTree>
    <p:extLst>
      <p:ext uri="{BB962C8B-B14F-4D97-AF65-F5344CB8AC3E}">
        <p14:creationId xmlns:p14="http://schemas.microsoft.com/office/powerpoint/2010/main" val="318188851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ADHD </a:t>
            </a:r>
            <a:endParaRPr lang="en-US" dirty="0"/>
          </a:p>
        </p:txBody>
      </p:sp>
      <p:sp>
        <p:nvSpPr>
          <p:cNvPr id="3" name="Content Placeholder 2"/>
          <p:cNvSpPr>
            <a:spLocks noGrp="1"/>
          </p:cNvSpPr>
          <p:nvPr>
            <p:ph idx="1"/>
          </p:nvPr>
        </p:nvSpPr>
        <p:spPr>
          <a:xfrm>
            <a:off x="457200" y="990600"/>
            <a:ext cx="8229600" cy="5638800"/>
          </a:xfrm>
        </p:spPr>
        <p:txBody>
          <a:bodyPr>
            <a:normAutofit/>
          </a:bodyPr>
          <a:lstStyle/>
          <a:p>
            <a:r>
              <a:rPr lang="en-US" dirty="0"/>
              <a:t>Consists of a persistent pattern of inattention and or Hyperactive Impulsive Behavior that is more severe than expected of children at a similar age and level of development before age 7 years but start as early as 3 years old </a:t>
            </a:r>
          </a:p>
          <a:p>
            <a:r>
              <a:rPr lang="en-US" dirty="0"/>
              <a:t>Diagnosis mostly is made when the </a:t>
            </a:r>
            <a:r>
              <a:rPr lang="en-US" dirty="0" err="1"/>
              <a:t>behaviour</a:t>
            </a:r>
            <a:r>
              <a:rPr lang="en-US" dirty="0"/>
              <a:t> cause problem in school and other places</a:t>
            </a:r>
            <a:r>
              <a:rPr lang="en-US" dirty="0" smtClean="0"/>
              <a:t>.</a:t>
            </a:r>
          </a:p>
          <a:p>
            <a:r>
              <a:rPr lang="en-US" dirty="0" smtClean="0"/>
              <a:t> </a:t>
            </a:r>
            <a:r>
              <a:rPr lang="en-US" dirty="0"/>
              <a:t>It interferes with developmentally appropriate functioning socially, academically and in extracurricular activities. </a:t>
            </a:r>
          </a:p>
        </p:txBody>
      </p:sp>
    </p:spTree>
    <p:extLst>
      <p:ext uri="{BB962C8B-B14F-4D97-AF65-F5344CB8AC3E}">
        <p14:creationId xmlns:p14="http://schemas.microsoft.com/office/powerpoint/2010/main" val="158141672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ADHD – ETIOLOGY </a:t>
            </a:r>
            <a:endParaRPr lang="en-US" dirty="0"/>
          </a:p>
        </p:txBody>
      </p:sp>
      <p:sp>
        <p:nvSpPr>
          <p:cNvPr id="3" name="Content Placeholder 2"/>
          <p:cNvSpPr>
            <a:spLocks noGrp="1"/>
          </p:cNvSpPr>
          <p:nvPr>
            <p:ph idx="1"/>
          </p:nvPr>
        </p:nvSpPr>
        <p:spPr/>
        <p:txBody>
          <a:bodyPr>
            <a:normAutofit lnSpcReduction="10000"/>
          </a:bodyPr>
          <a:lstStyle/>
          <a:p>
            <a:r>
              <a:rPr lang="en-US" dirty="0"/>
              <a:t>Parents of these children have high incidence of </a:t>
            </a:r>
            <a:r>
              <a:rPr lang="en-US" dirty="0" err="1"/>
              <a:t>hyperkinesis</a:t>
            </a:r>
            <a:r>
              <a:rPr lang="en-US" dirty="0"/>
              <a:t>, sociopathy alcohol use disorder, and conversion disorder </a:t>
            </a:r>
          </a:p>
          <a:p>
            <a:r>
              <a:rPr lang="en-US" dirty="0"/>
              <a:t>Cause is unknown but could be prenatal toxic exposures, pre-maturity and prenatal mechanical insult to the </a:t>
            </a:r>
            <a:r>
              <a:rPr lang="en-US" b="1" dirty="0"/>
              <a:t>fetal nervous system. </a:t>
            </a:r>
            <a:endParaRPr lang="en-US" dirty="0"/>
          </a:p>
          <a:p>
            <a:r>
              <a:rPr lang="en-US" dirty="0"/>
              <a:t>Others-genetic factors, brain damage, neurochemical factors, </a:t>
            </a:r>
            <a:r>
              <a:rPr lang="en-US" dirty="0" err="1"/>
              <a:t>neurophsyiological</a:t>
            </a:r>
            <a:r>
              <a:rPr lang="en-US" dirty="0"/>
              <a:t> factors, psychosocial factors. </a:t>
            </a:r>
          </a:p>
        </p:txBody>
      </p:sp>
    </p:spTree>
    <p:extLst>
      <p:ext uri="{BB962C8B-B14F-4D97-AF65-F5344CB8AC3E}">
        <p14:creationId xmlns:p14="http://schemas.microsoft.com/office/powerpoint/2010/main" val="304366792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DX </a:t>
            </a:r>
            <a:endParaRPr lang="en-US" dirty="0"/>
          </a:p>
        </p:txBody>
      </p:sp>
      <p:sp>
        <p:nvSpPr>
          <p:cNvPr id="3" name="Content Placeholder 2"/>
          <p:cNvSpPr>
            <a:spLocks noGrp="1"/>
          </p:cNvSpPr>
          <p:nvPr>
            <p:ph idx="1"/>
          </p:nvPr>
        </p:nvSpPr>
        <p:spPr/>
        <p:txBody>
          <a:bodyPr/>
          <a:lstStyle/>
          <a:p>
            <a:endParaRPr lang="en-US" dirty="0"/>
          </a:p>
          <a:p>
            <a:r>
              <a:rPr lang="en-US" dirty="0"/>
              <a:t>Hyperactivity/Impulsivity or attention that cause impairment. </a:t>
            </a:r>
          </a:p>
          <a:p>
            <a:r>
              <a:rPr lang="en-US" dirty="0" smtClean="0"/>
              <a:t>Short </a:t>
            </a:r>
            <a:r>
              <a:rPr lang="en-US" dirty="0"/>
              <a:t>attention span </a:t>
            </a:r>
          </a:p>
          <a:p>
            <a:r>
              <a:rPr lang="en-US" dirty="0" smtClean="0"/>
              <a:t>Easily </a:t>
            </a:r>
            <a:r>
              <a:rPr lang="en-US" dirty="0"/>
              <a:t>distractibility. </a:t>
            </a:r>
          </a:p>
          <a:p>
            <a:r>
              <a:rPr lang="en-US" dirty="0" smtClean="0"/>
              <a:t>Emotional </a:t>
            </a:r>
            <a:r>
              <a:rPr lang="en-US" dirty="0"/>
              <a:t>lability of affect </a:t>
            </a:r>
          </a:p>
          <a:p>
            <a:r>
              <a:rPr lang="en-US" dirty="0" smtClean="0"/>
              <a:t>Explosive </a:t>
            </a:r>
            <a:r>
              <a:rPr lang="en-US" dirty="0"/>
              <a:t>and irritable mood. </a:t>
            </a:r>
          </a:p>
          <a:p>
            <a:endParaRPr lang="en-US" dirty="0"/>
          </a:p>
        </p:txBody>
      </p:sp>
    </p:spTree>
    <p:extLst>
      <p:ext uri="{BB962C8B-B14F-4D97-AF65-F5344CB8AC3E}">
        <p14:creationId xmlns:p14="http://schemas.microsoft.com/office/powerpoint/2010/main" val="246410564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b="1" dirty="0"/>
              <a:t>Clinical Features on Order of </a:t>
            </a:r>
            <a:r>
              <a:rPr lang="en-US" b="1" dirty="0" err="1" smtClean="0"/>
              <a:t>Fx</a:t>
            </a:r>
            <a:r>
              <a:rPr lang="en-US" b="1" dirty="0" smtClean="0"/>
              <a:t> </a:t>
            </a:r>
            <a:endParaRPr lang="en-US" dirty="0"/>
          </a:p>
        </p:txBody>
      </p:sp>
      <p:sp>
        <p:nvSpPr>
          <p:cNvPr id="3" name="Content Placeholder 2"/>
          <p:cNvSpPr>
            <a:spLocks noGrp="1"/>
          </p:cNvSpPr>
          <p:nvPr>
            <p:ph idx="1"/>
          </p:nvPr>
        </p:nvSpPr>
        <p:spPr>
          <a:xfrm>
            <a:off x="457200" y="990600"/>
            <a:ext cx="8229600" cy="5638800"/>
          </a:xfrm>
        </p:spPr>
        <p:txBody>
          <a:bodyPr>
            <a:normAutofit fontScale="85000" lnSpcReduction="20000"/>
          </a:bodyPr>
          <a:lstStyle/>
          <a:p>
            <a:r>
              <a:rPr lang="en-US" dirty="0"/>
              <a:t>Hyperactivity, </a:t>
            </a:r>
            <a:endParaRPr lang="en-US" dirty="0" smtClean="0"/>
          </a:p>
          <a:p>
            <a:r>
              <a:rPr lang="en-US" dirty="0" smtClean="0"/>
              <a:t>perceptual </a:t>
            </a:r>
            <a:r>
              <a:rPr lang="en-US" dirty="0"/>
              <a:t>motor impairment</a:t>
            </a:r>
            <a:r>
              <a:rPr lang="en-US" dirty="0" smtClean="0"/>
              <a:t>,</a:t>
            </a:r>
          </a:p>
          <a:p>
            <a:r>
              <a:rPr lang="en-US" dirty="0" smtClean="0"/>
              <a:t>emotional </a:t>
            </a:r>
            <a:r>
              <a:rPr lang="en-US" dirty="0"/>
              <a:t>lability</a:t>
            </a:r>
            <a:r>
              <a:rPr lang="en-US" dirty="0" smtClean="0"/>
              <a:t>,</a:t>
            </a:r>
          </a:p>
          <a:p>
            <a:r>
              <a:rPr lang="en-US" dirty="0" smtClean="0"/>
              <a:t>general </a:t>
            </a:r>
            <a:r>
              <a:rPr lang="en-US" dirty="0"/>
              <a:t>coordination deficiency, </a:t>
            </a:r>
            <a:endParaRPr lang="en-US" dirty="0" smtClean="0"/>
          </a:p>
          <a:p>
            <a:r>
              <a:rPr lang="en-US" dirty="0" smtClean="0"/>
              <a:t>attention </a:t>
            </a:r>
            <a:r>
              <a:rPr lang="en-US" dirty="0"/>
              <a:t>deficit (short attention span, easily distracted, perseveration, failure to finish tasks, inattention, poor concentration), </a:t>
            </a:r>
            <a:endParaRPr lang="en-US" dirty="0" smtClean="0"/>
          </a:p>
          <a:p>
            <a:r>
              <a:rPr lang="en-US" dirty="0" smtClean="0"/>
              <a:t>Impulsivity </a:t>
            </a:r>
            <a:r>
              <a:rPr lang="en-US" dirty="0"/>
              <a:t>(action before thought, abrupt shift in activity, lack of organization, jumping up in class), </a:t>
            </a:r>
            <a:endParaRPr lang="en-US" dirty="0" smtClean="0"/>
          </a:p>
          <a:p>
            <a:r>
              <a:rPr lang="en-US" dirty="0" smtClean="0"/>
              <a:t>memory </a:t>
            </a:r>
            <a:r>
              <a:rPr lang="en-US" dirty="0"/>
              <a:t>and thinking deficits, </a:t>
            </a:r>
            <a:endParaRPr lang="en-US" dirty="0" smtClean="0"/>
          </a:p>
          <a:p>
            <a:r>
              <a:rPr lang="en-US" dirty="0" smtClean="0"/>
              <a:t>specific </a:t>
            </a:r>
            <a:r>
              <a:rPr lang="en-US" dirty="0"/>
              <a:t>disabilities, </a:t>
            </a:r>
            <a:endParaRPr lang="en-US" dirty="0" smtClean="0"/>
          </a:p>
          <a:p>
            <a:r>
              <a:rPr lang="en-US" dirty="0" smtClean="0"/>
              <a:t>speech </a:t>
            </a:r>
            <a:r>
              <a:rPr lang="en-US" dirty="0"/>
              <a:t>and hearing deficits, </a:t>
            </a:r>
            <a:endParaRPr lang="en-US" dirty="0" smtClean="0"/>
          </a:p>
          <a:p>
            <a:r>
              <a:rPr lang="en-US" dirty="0" smtClean="0"/>
              <a:t>and </a:t>
            </a:r>
            <a:r>
              <a:rPr lang="en-US" dirty="0"/>
              <a:t>equivocal neurological signs and EEG irregularities. </a:t>
            </a:r>
          </a:p>
        </p:txBody>
      </p:sp>
    </p:spTree>
    <p:extLst>
      <p:ext uri="{BB962C8B-B14F-4D97-AF65-F5344CB8AC3E}">
        <p14:creationId xmlns:p14="http://schemas.microsoft.com/office/powerpoint/2010/main" val="342476788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Rx </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b="1" dirty="0"/>
              <a:t>CNS stimulants i.e. </a:t>
            </a:r>
          </a:p>
          <a:p>
            <a:pPr marL="0" indent="0">
              <a:buNone/>
            </a:pPr>
            <a:r>
              <a:rPr lang="en-US" dirty="0" smtClean="0"/>
              <a:t>	(</a:t>
            </a:r>
            <a:r>
              <a:rPr lang="en-US" dirty="0"/>
              <a:t>a) methylphenidate (</a:t>
            </a:r>
            <a:r>
              <a:rPr lang="en-US" dirty="0" err="1"/>
              <a:t>Ritalia</a:t>
            </a:r>
            <a:r>
              <a:rPr lang="en-US" dirty="0"/>
              <a:t>, Ritalin SR, </a:t>
            </a:r>
            <a:r>
              <a:rPr lang="en-US" dirty="0" smtClean="0"/>
              <a:t>	</a:t>
            </a:r>
            <a:r>
              <a:rPr lang="en-US" dirty="0" err="1" smtClean="0"/>
              <a:t>Concerta</a:t>
            </a:r>
            <a:r>
              <a:rPr lang="en-US" dirty="0"/>
              <a:t>, metadata CD, metadata ER.) </a:t>
            </a:r>
          </a:p>
          <a:p>
            <a:pPr marL="0" indent="0">
              <a:buNone/>
            </a:pPr>
            <a:r>
              <a:rPr lang="en-US" dirty="0" smtClean="0"/>
              <a:t>	(</a:t>
            </a:r>
            <a:r>
              <a:rPr lang="en-US" dirty="0"/>
              <a:t>b) amphetamine (Dexedrine, Dexedrine </a:t>
            </a:r>
            <a:r>
              <a:rPr lang="en-US" dirty="0" smtClean="0"/>
              <a:t>	</a:t>
            </a:r>
            <a:r>
              <a:rPr lang="en-US" dirty="0" err="1" smtClean="0"/>
              <a:t>spansule</a:t>
            </a:r>
            <a:r>
              <a:rPr lang="en-US" dirty="0"/>
              <a:t>. </a:t>
            </a:r>
          </a:p>
          <a:p>
            <a:r>
              <a:rPr lang="en-US" b="1" dirty="0"/>
              <a:t>Psychosocial Intervention </a:t>
            </a:r>
            <a:endParaRPr lang="en-US" dirty="0"/>
          </a:p>
          <a:p>
            <a:pPr marL="0" indent="0">
              <a:buNone/>
            </a:pPr>
            <a:r>
              <a:rPr lang="en-US" dirty="0"/>
              <a:t>	</a:t>
            </a:r>
            <a:r>
              <a:rPr lang="en-US" dirty="0" smtClean="0"/>
              <a:t>Social </a:t>
            </a:r>
            <a:r>
              <a:rPr lang="en-US" dirty="0"/>
              <a:t>skills groups. </a:t>
            </a:r>
          </a:p>
          <a:p>
            <a:pPr marL="0" indent="0">
              <a:buNone/>
            </a:pPr>
            <a:r>
              <a:rPr lang="en-US" dirty="0"/>
              <a:t>	</a:t>
            </a:r>
            <a:r>
              <a:rPr lang="en-US" dirty="0" smtClean="0"/>
              <a:t>Parent </a:t>
            </a:r>
            <a:r>
              <a:rPr lang="en-US" dirty="0"/>
              <a:t>training </a:t>
            </a:r>
          </a:p>
          <a:p>
            <a:pPr marL="0" indent="0">
              <a:buNone/>
            </a:pPr>
            <a:r>
              <a:rPr lang="en-US" dirty="0"/>
              <a:t>	</a:t>
            </a:r>
            <a:r>
              <a:rPr lang="en-US" dirty="0" err="1" smtClean="0"/>
              <a:t>Behavioural</a:t>
            </a:r>
            <a:r>
              <a:rPr lang="en-US" dirty="0" smtClean="0"/>
              <a:t> </a:t>
            </a:r>
            <a:r>
              <a:rPr lang="en-US" dirty="0"/>
              <a:t>interventions at school and </a:t>
            </a:r>
            <a:r>
              <a:rPr lang="en-US" dirty="0" smtClean="0"/>
              <a:t>	home</a:t>
            </a:r>
            <a:r>
              <a:rPr lang="en-US" dirty="0"/>
              <a:t>. </a:t>
            </a:r>
          </a:p>
          <a:p>
            <a:endParaRPr lang="en-US" dirty="0"/>
          </a:p>
        </p:txBody>
      </p:sp>
    </p:spTree>
    <p:extLst>
      <p:ext uri="{BB962C8B-B14F-4D97-AF65-F5344CB8AC3E}">
        <p14:creationId xmlns:p14="http://schemas.microsoft.com/office/powerpoint/2010/main" val="55964088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a:t>DISRUPTIVE BEHAVIOUR DISORDER </a:t>
            </a:r>
            <a:endParaRPr lang="en-US" dirty="0"/>
          </a:p>
        </p:txBody>
      </p:sp>
      <p:sp>
        <p:nvSpPr>
          <p:cNvPr id="3" name="Content Placeholder 2"/>
          <p:cNvSpPr>
            <a:spLocks noGrp="1"/>
          </p:cNvSpPr>
          <p:nvPr>
            <p:ph idx="1"/>
          </p:nvPr>
        </p:nvSpPr>
        <p:spPr>
          <a:xfrm>
            <a:off x="457200" y="1219200"/>
            <a:ext cx="8229600" cy="4906963"/>
          </a:xfrm>
        </p:spPr>
        <p:txBody>
          <a:bodyPr/>
          <a:lstStyle/>
          <a:p>
            <a:endParaRPr lang="en-US" dirty="0" smtClean="0"/>
          </a:p>
          <a:p>
            <a:endParaRPr lang="en-US" dirty="0"/>
          </a:p>
          <a:p>
            <a:r>
              <a:rPr lang="en-US" dirty="0" smtClean="0"/>
              <a:t>Types</a:t>
            </a:r>
            <a:r>
              <a:rPr lang="en-US" dirty="0"/>
              <a:t>: </a:t>
            </a:r>
          </a:p>
          <a:p>
            <a:pPr marL="0" indent="0">
              <a:buNone/>
            </a:pPr>
            <a:r>
              <a:rPr lang="en-US" dirty="0" smtClean="0"/>
              <a:t>	(</a:t>
            </a:r>
            <a:r>
              <a:rPr lang="en-US" dirty="0"/>
              <a:t>a) Oppositional defiant disorder. </a:t>
            </a:r>
          </a:p>
          <a:p>
            <a:pPr marL="0" indent="0">
              <a:buNone/>
            </a:pPr>
            <a:r>
              <a:rPr lang="en-US" dirty="0" smtClean="0"/>
              <a:t>	(</a:t>
            </a:r>
            <a:r>
              <a:rPr lang="en-US" dirty="0"/>
              <a:t>b) Conduct disorder </a:t>
            </a:r>
          </a:p>
          <a:p>
            <a:endParaRPr lang="en-US" dirty="0"/>
          </a:p>
        </p:txBody>
      </p:sp>
    </p:spTree>
    <p:extLst>
      <p:ext uri="{BB962C8B-B14F-4D97-AF65-F5344CB8AC3E}">
        <p14:creationId xmlns:p14="http://schemas.microsoft.com/office/powerpoint/2010/main" val="323546099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dirty="0" smtClean="0"/>
              <a:t/>
            </a:r>
            <a:br>
              <a:rPr lang="en-US" dirty="0" smtClean="0"/>
            </a:br>
            <a:r>
              <a:rPr lang="en-US" dirty="0" smtClean="0"/>
              <a:t>OPPOSITIONAL DEFIANT DISORDER. </a:t>
            </a:r>
            <a:r>
              <a:rPr lang="en-US" dirty="0"/>
              <a:t/>
            </a:r>
            <a:br>
              <a:rPr lang="en-US" dirty="0"/>
            </a:br>
            <a:endParaRPr lang="en-US" dirty="0"/>
          </a:p>
        </p:txBody>
      </p:sp>
      <p:sp>
        <p:nvSpPr>
          <p:cNvPr id="3" name="Content Placeholder 2"/>
          <p:cNvSpPr>
            <a:spLocks noGrp="1"/>
          </p:cNvSpPr>
          <p:nvPr>
            <p:ph idx="1"/>
          </p:nvPr>
        </p:nvSpPr>
        <p:spPr>
          <a:xfrm>
            <a:off x="457200" y="1295400"/>
            <a:ext cx="8229600" cy="5410200"/>
          </a:xfrm>
        </p:spPr>
        <p:txBody>
          <a:bodyPr>
            <a:normAutofit fontScale="85000" lnSpcReduction="20000"/>
          </a:bodyPr>
          <a:lstStyle/>
          <a:p>
            <a:r>
              <a:rPr lang="en-US" dirty="0"/>
              <a:t>A child’s temper outbursts, active refusal to comply with rules, and annoying </a:t>
            </a:r>
            <a:r>
              <a:rPr lang="en-US" dirty="0" err="1"/>
              <a:t>behaviours</a:t>
            </a:r>
            <a:r>
              <a:rPr lang="en-US" dirty="0"/>
              <a:t> exceed the expectations for these </a:t>
            </a:r>
            <a:r>
              <a:rPr lang="en-US" dirty="0" err="1"/>
              <a:t>behaviour</a:t>
            </a:r>
            <a:r>
              <a:rPr lang="en-US" dirty="0"/>
              <a:t> </a:t>
            </a:r>
            <a:r>
              <a:rPr lang="en-US" dirty="0" err="1"/>
              <a:t>compaired</a:t>
            </a:r>
            <a:r>
              <a:rPr lang="en-US" dirty="0"/>
              <a:t> with others of the same age. </a:t>
            </a:r>
          </a:p>
          <a:p>
            <a:r>
              <a:rPr lang="en-US" dirty="0"/>
              <a:t>The disorder is an enduring pattern of negativistic, hostile, and defiant </a:t>
            </a:r>
            <a:r>
              <a:rPr lang="en-US" dirty="0" err="1"/>
              <a:t>behaviour</a:t>
            </a:r>
            <a:r>
              <a:rPr lang="en-US" dirty="0"/>
              <a:t> in the absence of serious violations of social norms or of the rights of others. </a:t>
            </a:r>
          </a:p>
          <a:p>
            <a:pPr marL="0" indent="0">
              <a:buNone/>
            </a:pPr>
            <a:r>
              <a:rPr lang="en-US" dirty="0" smtClean="0"/>
              <a:t>	-</a:t>
            </a:r>
            <a:r>
              <a:rPr lang="en-US" dirty="0"/>
              <a:t>Can begin at 3 years but diagnosis at 8 years of </a:t>
            </a:r>
            <a:r>
              <a:rPr lang="en-US" dirty="0" smtClean="0"/>
              <a:t>	age</a:t>
            </a:r>
            <a:r>
              <a:rPr lang="en-US" dirty="0"/>
              <a:t>. </a:t>
            </a:r>
          </a:p>
          <a:p>
            <a:pPr marL="0" indent="0">
              <a:buNone/>
            </a:pPr>
            <a:r>
              <a:rPr lang="en-US" dirty="0" smtClean="0"/>
              <a:t>	-</a:t>
            </a:r>
            <a:r>
              <a:rPr lang="en-US" dirty="0"/>
              <a:t>More in boys than in girls. </a:t>
            </a:r>
          </a:p>
          <a:p>
            <a:r>
              <a:rPr lang="en-US" dirty="0"/>
              <a:t>Pathology begins when the developmental phase persists abnormally, or authority figures overreact. </a:t>
            </a:r>
          </a:p>
          <a:p>
            <a:r>
              <a:rPr lang="en-US" dirty="0"/>
              <a:t>There is unresolved conflict expressed with all authority figures. </a:t>
            </a:r>
          </a:p>
        </p:txBody>
      </p:sp>
    </p:spTree>
    <p:extLst>
      <p:ext uri="{BB962C8B-B14F-4D97-AF65-F5344CB8AC3E}">
        <p14:creationId xmlns:p14="http://schemas.microsoft.com/office/powerpoint/2010/main" val="395895445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Diagnosis and clinical features </a:t>
            </a:r>
            <a:endParaRPr lang="en-US" dirty="0"/>
          </a:p>
        </p:txBody>
      </p:sp>
      <p:sp>
        <p:nvSpPr>
          <p:cNvPr id="3" name="Content Placeholder 2"/>
          <p:cNvSpPr>
            <a:spLocks noGrp="1"/>
          </p:cNvSpPr>
          <p:nvPr>
            <p:ph idx="1"/>
          </p:nvPr>
        </p:nvSpPr>
        <p:spPr/>
        <p:txBody>
          <a:bodyPr/>
          <a:lstStyle/>
          <a:p>
            <a:endParaRPr lang="en-US" dirty="0"/>
          </a:p>
          <a:p>
            <a:r>
              <a:rPr lang="en-US" dirty="0"/>
              <a:t>Children often argue with adults, lose their temper and are angry, resentful and easily annoyed by others. </a:t>
            </a:r>
          </a:p>
          <a:p>
            <a:pPr marL="0" indent="0">
              <a:buNone/>
            </a:pPr>
            <a:r>
              <a:rPr lang="en-US" dirty="0" smtClean="0"/>
              <a:t>	- </a:t>
            </a:r>
            <a:r>
              <a:rPr lang="en-US" dirty="0"/>
              <a:t>Actively defy adults’ requests or rules and </a:t>
            </a:r>
            <a:r>
              <a:rPr lang="en-US" dirty="0" smtClean="0"/>
              <a:t>	deliberately </a:t>
            </a:r>
            <a:r>
              <a:rPr lang="en-US" dirty="0"/>
              <a:t>annoy other people. </a:t>
            </a:r>
          </a:p>
          <a:p>
            <a:pPr marL="0" indent="0">
              <a:buNone/>
            </a:pPr>
            <a:r>
              <a:rPr lang="en-US" dirty="0" smtClean="0"/>
              <a:t>	- </a:t>
            </a:r>
            <a:r>
              <a:rPr lang="en-US" dirty="0"/>
              <a:t>Blame others for their own mistakes and </a:t>
            </a:r>
            <a:r>
              <a:rPr lang="en-US" dirty="0" smtClean="0"/>
              <a:t>	behavior</a:t>
            </a:r>
            <a:r>
              <a:rPr lang="en-US" dirty="0"/>
              <a:t>. </a:t>
            </a:r>
          </a:p>
          <a:p>
            <a:endParaRPr lang="en-US" dirty="0"/>
          </a:p>
        </p:txBody>
      </p:sp>
    </p:spTree>
    <p:extLst>
      <p:ext uri="{BB962C8B-B14F-4D97-AF65-F5344CB8AC3E}">
        <p14:creationId xmlns:p14="http://schemas.microsoft.com/office/powerpoint/2010/main" val="70945968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lstStyle/>
          <a:p>
            <a:r>
              <a:rPr lang="en-US" dirty="0" smtClean="0"/>
              <a:t>Rx</a:t>
            </a:r>
            <a:endParaRPr lang="en-US" dirty="0"/>
          </a:p>
        </p:txBody>
      </p:sp>
      <p:sp>
        <p:nvSpPr>
          <p:cNvPr id="3" name="Content Placeholder 2"/>
          <p:cNvSpPr>
            <a:spLocks noGrp="1"/>
          </p:cNvSpPr>
          <p:nvPr>
            <p:ph idx="1"/>
          </p:nvPr>
        </p:nvSpPr>
        <p:spPr>
          <a:xfrm>
            <a:off x="457200" y="1066800"/>
            <a:ext cx="8229600" cy="5059363"/>
          </a:xfrm>
        </p:spPr>
        <p:txBody>
          <a:bodyPr/>
          <a:lstStyle/>
          <a:p>
            <a:endParaRPr lang="en-US" dirty="0" smtClean="0"/>
          </a:p>
          <a:p>
            <a:endParaRPr lang="en-US" dirty="0"/>
          </a:p>
          <a:p>
            <a:endParaRPr lang="en-US" dirty="0"/>
          </a:p>
          <a:p>
            <a:r>
              <a:rPr lang="en-US" dirty="0"/>
              <a:t>Family intervention/Direct training for the parent and assessment of family interaction </a:t>
            </a:r>
          </a:p>
          <a:p>
            <a:r>
              <a:rPr lang="en-US" dirty="0" smtClean="0"/>
              <a:t> </a:t>
            </a:r>
            <a:r>
              <a:rPr lang="en-US" dirty="0"/>
              <a:t>Individual psychotherapy </a:t>
            </a:r>
          </a:p>
          <a:p>
            <a:endParaRPr lang="en-US" dirty="0"/>
          </a:p>
        </p:txBody>
      </p:sp>
    </p:spTree>
    <p:extLst>
      <p:ext uri="{BB962C8B-B14F-4D97-AF65-F5344CB8AC3E}">
        <p14:creationId xmlns:p14="http://schemas.microsoft.com/office/powerpoint/2010/main" val="22782194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CONDUCT DISORDER </a:t>
            </a:r>
            <a:endParaRPr lang="en-US" dirty="0"/>
          </a:p>
        </p:txBody>
      </p:sp>
      <p:sp>
        <p:nvSpPr>
          <p:cNvPr id="3" name="Content Placeholder 2"/>
          <p:cNvSpPr>
            <a:spLocks noGrp="1"/>
          </p:cNvSpPr>
          <p:nvPr>
            <p:ph idx="1"/>
          </p:nvPr>
        </p:nvSpPr>
        <p:spPr>
          <a:xfrm>
            <a:off x="457200" y="1219200"/>
            <a:ext cx="8229600" cy="4906963"/>
          </a:xfrm>
        </p:spPr>
        <p:txBody>
          <a:bodyPr/>
          <a:lstStyle/>
          <a:p>
            <a:r>
              <a:rPr lang="en-US" dirty="0"/>
              <a:t>An enduring set of </a:t>
            </a:r>
            <a:r>
              <a:rPr lang="en-US" dirty="0" err="1"/>
              <a:t>behaviours</a:t>
            </a:r>
            <a:r>
              <a:rPr lang="en-US" dirty="0"/>
              <a:t> that evolve over time. </a:t>
            </a:r>
          </a:p>
          <a:p>
            <a:r>
              <a:rPr lang="en-US" dirty="0"/>
              <a:t>Characterized by aggression and violation of the rights of others. </a:t>
            </a:r>
          </a:p>
          <a:p>
            <a:r>
              <a:rPr lang="en-US" dirty="0"/>
              <a:t>Associated with ADHD, depression, learning, low socio and economic level, harsh, punitive parenting, family disorder, lack of appropriate parental supervision, lack of social competence </a:t>
            </a:r>
          </a:p>
        </p:txBody>
      </p:sp>
    </p:spTree>
    <p:extLst>
      <p:ext uri="{BB962C8B-B14F-4D97-AF65-F5344CB8AC3E}">
        <p14:creationId xmlns:p14="http://schemas.microsoft.com/office/powerpoint/2010/main" val="313681946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 </a:t>
            </a:r>
            <a:endParaRPr lang="en-US"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marL="0" indent="0">
              <a:buNone/>
            </a:pPr>
            <a:endParaRPr lang="en-US" dirty="0"/>
          </a:p>
          <a:p>
            <a:r>
              <a:rPr lang="en-US" dirty="0"/>
              <a:t>Bullying, threatening and intimidating others. </a:t>
            </a:r>
          </a:p>
          <a:p>
            <a:r>
              <a:rPr lang="en-US" dirty="0" smtClean="0"/>
              <a:t>Staying </a:t>
            </a:r>
            <a:r>
              <a:rPr lang="en-US" dirty="0"/>
              <a:t>out at night despite parental prohibition. </a:t>
            </a:r>
          </a:p>
          <a:p>
            <a:r>
              <a:rPr lang="en-US" dirty="0" smtClean="0"/>
              <a:t>Beginning </a:t>
            </a:r>
            <a:r>
              <a:rPr lang="en-US" dirty="0"/>
              <a:t>before age 13 years. </a:t>
            </a:r>
          </a:p>
          <a:p>
            <a:r>
              <a:rPr lang="en-US" dirty="0" smtClean="0"/>
              <a:t>Aggression </a:t>
            </a:r>
            <a:r>
              <a:rPr lang="en-US" dirty="0"/>
              <a:t>to people and animals. </a:t>
            </a:r>
          </a:p>
          <a:p>
            <a:r>
              <a:rPr lang="en-US" dirty="0" smtClean="0"/>
              <a:t>Destruction </a:t>
            </a:r>
            <a:r>
              <a:rPr lang="en-US" dirty="0"/>
              <a:t>of property. </a:t>
            </a:r>
          </a:p>
          <a:p>
            <a:r>
              <a:rPr lang="en-US" dirty="0" smtClean="0"/>
              <a:t>Deceitfulness </a:t>
            </a:r>
            <a:r>
              <a:rPr lang="en-US" dirty="0"/>
              <a:t>or theft. </a:t>
            </a:r>
          </a:p>
          <a:p>
            <a:r>
              <a:rPr lang="en-US" dirty="0" smtClean="0"/>
              <a:t>Serious </a:t>
            </a:r>
            <a:r>
              <a:rPr lang="en-US" dirty="0"/>
              <a:t>violation of rules </a:t>
            </a:r>
          </a:p>
          <a:p>
            <a:endParaRPr lang="en-US" dirty="0"/>
          </a:p>
        </p:txBody>
      </p:sp>
    </p:spTree>
    <p:extLst>
      <p:ext uri="{BB962C8B-B14F-4D97-AF65-F5344CB8AC3E}">
        <p14:creationId xmlns:p14="http://schemas.microsoft.com/office/powerpoint/2010/main" val="384203230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ORGANIC DISORDERS/ COGNITIVE DISORDERS </a:t>
            </a:r>
            <a:endParaRPr lang="en-US" dirty="0"/>
          </a:p>
        </p:txBody>
      </p:sp>
      <p:sp>
        <p:nvSpPr>
          <p:cNvPr id="3" name="Content Placeholder 2"/>
          <p:cNvSpPr>
            <a:spLocks noGrp="1"/>
          </p:cNvSpPr>
          <p:nvPr>
            <p:ph idx="1"/>
          </p:nvPr>
        </p:nvSpPr>
        <p:spPr>
          <a:xfrm>
            <a:off x="457200" y="1828800"/>
            <a:ext cx="8229600" cy="4297363"/>
          </a:xfrm>
        </p:spPr>
        <p:txBody>
          <a:bodyPr/>
          <a:lstStyle/>
          <a:p>
            <a:endParaRPr lang="en-US" dirty="0" smtClean="0"/>
          </a:p>
          <a:p>
            <a:endParaRPr lang="en-US" dirty="0"/>
          </a:p>
          <a:p>
            <a:r>
              <a:rPr lang="en-US" dirty="0" smtClean="0"/>
              <a:t>Delirium</a:t>
            </a:r>
            <a:r>
              <a:rPr lang="en-US" dirty="0"/>
              <a:t>, </a:t>
            </a:r>
            <a:endParaRPr lang="en-US" dirty="0" smtClean="0"/>
          </a:p>
          <a:p>
            <a:r>
              <a:rPr lang="en-US" dirty="0" smtClean="0"/>
              <a:t>dementia </a:t>
            </a:r>
          </a:p>
          <a:p>
            <a:r>
              <a:rPr lang="en-US" dirty="0" smtClean="0"/>
              <a:t>amnestic </a:t>
            </a:r>
            <a:r>
              <a:rPr lang="en-US" dirty="0"/>
              <a:t>mental disorders </a:t>
            </a:r>
          </a:p>
        </p:txBody>
      </p:sp>
    </p:spTree>
    <p:extLst>
      <p:ext uri="{BB962C8B-B14F-4D97-AF65-F5344CB8AC3E}">
        <p14:creationId xmlns:p14="http://schemas.microsoft.com/office/powerpoint/2010/main" val="148280006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Delirium / </a:t>
            </a:r>
            <a:r>
              <a:rPr lang="en-US" b="1" dirty="0" err="1"/>
              <a:t>Confusional</a:t>
            </a:r>
            <a:r>
              <a:rPr lang="en-US" b="1" dirty="0"/>
              <a:t> State </a:t>
            </a:r>
            <a:endParaRPr lang="en-US" dirty="0"/>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r>
              <a:rPr lang="en-US" dirty="0" smtClean="0"/>
              <a:t>A.K.A;-toxic </a:t>
            </a:r>
            <a:r>
              <a:rPr lang="en-US" dirty="0"/>
              <a:t>psychosis, acute confusion, acute brain failure, acute organic reaction, acute brain syndrome, cerebral insufficiency, encephalopathy</a:t>
            </a:r>
            <a:r>
              <a:rPr lang="en-US" dirty="0" smtClean="0"/>
              <a:t>, </a:t>
            </a:r>
            <a:r>
              <a:rPr lang="en-US" dirty="0"/>
              <a:t>post operative psychosis </a:t>
            </a:r>
            <a:endParaRPr lang="en-US" dirty="0" smtClean="0"/>
          </a:p>
          <a:p>
            <a:r>
              <a:rPr lang="en-US" dirty="0"/>
              <a:t>Delirium is a symptom of cognitive impairment, perceptual abnormalities (Hallucinations and illusion), and disturbance in behavior (agitation, sleep wake cycle and emotions disturbance). </a:t>
            </a:r>
          </a:p>
          <a:p>
            <a:r>
              <a:rPr lang="en-US" dirty="0"/>
              <a:t>It is marked by short-term confusion and changes in cognition (orientation, memory and language). </a:t>
            </a:r>
            <a:endParaRPr lang="en-US" dirty="0" smtClean="0"/>
          </a:p>
          <a:p>
            <a:r>
              <a:rPr lang="en-US" dirty="0" smtClean="0"/>
              <a:t>Always secondary to medical dx/toxicity </a:t>
            </a:r>
            <a:endParaRPr lang="en-US" dirty="0"/>
          </a:p>
          <a:p>
            <a:r>
              <a:rPr lang="en-US" dirty="0"/>
              <a:t>It is an etiologically non-specific syndrome characterized by concurrent disturbance of consciousness and attention, perception, cognition, behavior, emotion and sleep wake cycle. It’s transient and fluctuating. </a:t>
            </a:r>
          </a:p>
        </p:txBody>
      </p:sp>
    </p:spTree>
    <p:extLst>
      <p:ext uri="{BB962C8B-B14F-4D97-AF65-F5344CB8AC3E}">
        <p14:creationId xmlns:p14="http://schemas.microsoft.com/office/powerpoint/2010/main" val="150779337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a:t>Presentation and essential features </a:t>
            </a:r>
            <a:endParaRPr lang="en-US" dirty="0"/>
          </a:p>
        </p:txBody>
      </p:sp>
      <p:sp>
        <p:nvSpPr>
          <p:cNvPr id="3" name="Content Placeholder 2"/>
          <p:cNvSpPr>
            <a:spLocks noGrp="1"/>
          </p:cNvSpPr>
          <p:nvPr>
            <p:ph idx="1"/>
          </p:nvPr>
        </p:nvSpPr>
        <p:spPr>
          <a:xfrm>
            <a:off x="457200" y="914400"/>
            <a:ext cx="8229600" cy="5791200"/>
          </a:xfrm>
        </p:spPr>
        <p:txBody>
          <a:bodyPr>
            <a:normAutofit fontScale="77500" lnSpcReduction="20000"/>
          </a:bodyPr>
          <a:lstStyle/>
          <a:p>
            <a:r>
              <a:rPr lang="en-US" dirty="0"/>
              <a:t>Short-lived (hours to days </a:t>
            </a:r>
          </a:p>
          <a:p>
            <a:r>
              <a:rPr lang="en-US" dirty="0"/>
              <a:t>S/s worse at night (darkness cause visual misperception and behavior change). </a:t>
            </a:r>
          </a:p>
          <a:p>
            <a:r>
              <a:rPr lang="en-US" dirty="0"/>
              <a:t>Cognitive impairment (disorientation, loss of memory, language disturbance) </a:t>
            </a:r>
          </a:p>
          <a:p>
            <a:r>
              <a:rPr lang="en-US" dirty="0"/>
              <a:t>Hypoactive, acute withdrawal symptom from toxins. </a:t>
            </a:r>
          </a:p>
          <a:p>
            <a:r>
              <a:rPr lang="en-US" dirty="0"/>
              <a:t>The symptom fluctuates which differentiate delirium from other psychiatric conditions that tend to be more chronic and permanent. </a:t>
            </a:r>
          </a:p>
          <a:p>
            <a:r>
              <a:rPr lang="en-US" dirty="0"/>
              <a:t>Clouded consciousness e.g. decreased level of consciousness. </a:t>
            </a:r>
          </a:p>
          <a:p>
            <a:r>
              <a:rPr lang="en-US" dirty="0"/>
              <a:t>Altered attention i.e. diminished ability to focus, sustain or shift attention. </a:t>
            </a:r>
          </a:p>
          <a:p>
            <a:r>
              <a:rPr lang="en-US" dirty="0"/>
              <a:t>Impaired other areas of cognitive functions hence disorientation (especially to time and place) and decreased memory</a:t>
            </a:r>
            <a:r>
              <a:rPr lang="en-US" dirty="0" smtClean="0"/>
              <a:t>. </a:t>
            </a:r>
            <a:endParaRPr lang="en-US" dirty="0"/>
          </a:p>
          <a:p>
            <a:endParaRPr lang="en-US" dirty="0"/>
          </a:p>
        </p:txBody>
      </p:sp>
    </p:spTree>
    <p:extLst>
      <p:ext uri="{BB962C8B-B14F-4D97-AF65-F5344CB8AC3E}">
        <p14:creationId xmlns:p14="http://schemas.microsoft.com/office/powerpoint/2010/main" val="120613398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FEATURES CTD </a:t>
            </a:r>
            <a:endParaRPr lang="en-US" dirty="0"/>
          </a:p>
        </p:txBody>
      </p:sp>
      <p:sp>
        <p:nvSpPr>
          <p:cNvPr id="3" name="Content Placeholder 2"/>
          <p:cNvSpPr>
            <a:spLocks noGrp="1"/>
          </p:cNvSpPr>
          <p:nvPr>
            <p:ph idx="1"/>
          </p:nvPr>
        </p:nvSpPr>
        <p:spPr>
          <a:xfrm>
            <a:off x="457200" y="1066800"/>
            <a:ext cx="8229600" cy="5562600"/>
          </a:xfrm>
        </p:spPr>
        <p:txBody>
          <a:bodyPr>
            <a:normAutofit fontScale="85000" lnSpcReduction="20000"/>
          </a:bodyPr>
          <a:lstStyle/>
          <a:p>
            <a:endParaRPr lang="en-US" dirty="0"/>
          </a:p>
          <a:p>
            <a:r>
              <a:rPr lang="en-US" dirty="0"/>
              <a:t>Unpredictable fluctuations in severity sometimes worse at night (sun-downing) </a:t>
            </a:r>
          </a:p>
          <a:p>
            <a:r>
              <a:rPr lang="en-US" dirty="0" smtClean="0"/>
              <a:t>Variability </a:t>
            </a:r>
            <a:r>
              <a:rPr lang="en-US" dirty="0"/>
              <a:t>in alertness and awareness of the environment </a:t>
            </a:r>
          </a:p>
          <a:p>
            <a:r>
              <a:rPr lang="en-US" dirty="0" smtClean="0"/>
              <a:t>Disturbance </a:t>
            </a:r>
            <a:r>
              <a:rPr lang="en-US" dirty="0"/>
              <a:t>of sleep-wake cycle, affect perception and psychomotor performance. Ability to focus and sustain attention. </a:t>
            </a:r>
          </a:p>
          <a:p>
            <a:r>
              <a:rPr lang="en-US" dirty="0" smtClean="0"/>
              <a:t>Abnormalities </a:t>
            </a:r>
            <a:r>
              <a:rPr lang="en-US" dirty="0"/>
              <a:t>of emotions ranging from apathy to anxious agitation and fear. </a:t>
            </a:r>
          </a:p>
          <a:p>
            <a:r>
              <a:rPr lang="en-US" dirty="0" smtClean="0"/>
              <a:t>Marked </a:t>
            </a:r>
            <a:r>
              <a:rPr lang="en-US" dirty="0"/>
              <a:t>abnormalities of attention accompanied by generalized cognitive impairment offering orientation, memory and planning skills, dense amnesia. </a:t>
            </a:r>
          </a:p>
          <a:p>
            <a:r>
              <a:rPr lang="en-US" dirty="0" smtClean="0"/>
              <a:t>Perceptual </a:t>
            </a:r>
            <a:r>
              <a:rPr lang="en-US" dirty="0"/>
              <a:t>disturbance like hallucination, illusion, perceptual distortion (</a:t>
            </a:r>
            <a:r>
              <a:rPr lang="en-US" dirty="0" err="1"/>
              <a:t>micorsia</a:t>
            </a:r>
            <a:r>
              <a:rPr lang="en-US" dirty="0"/>
              <a:t>) </a:t>
            </a:r>
          </a:p>
          <a:p>
            <a:endParaRPr lang="en-US" dirty="0"/>
          </a:p>
        </p:txBody>
      </p:sp>
    </p:spTree>
    <p:extLst>
      <p:ext uri="{BB962C8B-B14F-4D97-AF65-F5344CB8AC3E}">
        <p14:creationId xmlns:p14="http://schemas.microsoft.com/office/powerpoint/2010/main" val="77117549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RISK FACTORS- DELIRIUM </a:t>
            </a:r>
            <a:endParaRPr lang="en-US" dirty="0"/>
          </a:p>
        </p:txBody>
      </p:sp>
      <p:sp>
        <p:nvSpPr>
          <p:cNvPr id="3" name="Content Placeholder 2"/>
          <p:cNvSpPr>
            <a:spLocks noGrp="1"/>
          </p:cNvSpPr>
          <p:nvPr>
            <p:ph idx="1"/>
          </p:nvPr>
        </p:nvSpPr>
        <p:spPr>
          <a:xfrm>
            <a:off x="457200" y="914400"/>
            <a:ext cx="8229600" cy="5867400"/>
          </a:xfrm>
        </p:spPr>
        <p:txBody>
          <a:bodyPr>
            <a:normAutofit fontScale="92500" lnSpcReduction="20000"/>
          </a:bodyPr>
          <a:lstStyle/>
          <a:p>
            <a:endParaRPr lang="en-US" dirty="0"/>
          </a:p>
          <a:p>
            <a:r>
              <a:rPr lang="en-US" dirty="0"/>
              <a:t>Patient factors: Age, preexisting cognitive deficit, severe comorbidity, previous episode of delirium, personality before illness. </a:t>
            </a:r>
          </a:p>
          <a:p>
            <a:r>
              <a:rPr lang="en-US" dirty="0" err="1" smtClean="0"/>
              <a:t>Peri</a:t>
            </a:r>
            <a:r>
              <a:rPr lang="en-US" dirty="0" smtClean="0"/>
              <a:t> </a:t>
            </a:r>
            <a:r>
              <a:rPr lang="en-US" dirty="0"/>
              <a:t>operative: Course of post op period, type of operation, duration of operation of op. </a:t>
            </a:r>
          </a:p>
          <a:p>
            <a:r>
              <a:rPr lang="en-US" dirty="0" smtClean="0"/>
              <a:t>Specific </a:t>
            </a:r>
            <a:r>
              <a:rPr lang="en-US" dirty="0"/>
              <a:t>condition: Burns, AIDS, fracture, hypoxemia, organ insufficiency, infection, metabolic disturbance (dehydration, serum albumin conc.) </a:t>
            </a:r>
          </a:p>
          <a:p>
            <a:r>
              <a:rPr lang="en-US" dirty="0" smtClean="0"/>
              <a:t>Pharmacological </a:t>
            </a:r>
            <a:r>
              <a:rPr lang="en-US" dirty="0"/>
              <a:t>factors: Extremes in sensory experience, (hypothermia) deficit in vision or hearing, social isolation, Novel environ, immobility and decreased activity, stress. </a:t>
            </a:r>
          </a:p>
          <a:p>
            <a:endParaRPr lang="en-US" dirty="0"/>
          </a:p>
        </p:txBody>
      </p:sp>
    </p:spTree>
    <p:extLst>
      <p:ext uri="{BB962C8B-B14F-4D97-AF65-F5344CB8AC3E}">
        <p14:creationId xmlns:p14="http://schemas.microsoft.com/office/powerpoint/2010/main" val="132250641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ETIOLOGY </a:t>
            </a:r>
            <a:endParaRPr lang="en-US" dirty="0"/>
          </a:p>
        </p:txBody>
      </p:sp>
      <p:sp>
        <p:nvSpPr>
          <p:cNvPr id="3" name="Content Placeholder 2"/>
          <p:cNvSpPr>
            <a:spLocks noGrp="1"/>
          </p:cNvSpPr>
          <p:nvPr>
            <p:ph idx="1"/>
          </p:nvPr>
        </p:nvSpPr>
        <p:spPr>
          <a:xfrm>
            <a:off x="457200" y="1447800"/>
            <a:ext cx="8229600" cy="5181600"/>
          </a:xfrm>
        </p:spPr>
        <p:txBody>
          <a:bodyPr>
            <a:normAutofit fontScale="85000" lnSpcReduction="10000"/>
          </a:bodyPr>
          <a:lstStyle/>
          <a:p>
            <a:r>
              <a:rPr lang="sv-SE" b="1" dirty="0" smtClean="0"/>
              <a:t>I </a:t>
            </a:r>
            <a:r>
              <a:rPr lang="sv-SE" dirty="0" smtClean="0"/>
              <a:t>Infections </a:t>
            </a:r>
            <a:r>
              <a:rPr lang="sv-SE" dirty="0"/>
              <a:t>(malaria, typhoid, meningitis, </a:t>
            </a:r>
            <a:r>
              <a:rPr lang="en-US" dirty="0" smtClean="0"/>
              <a:t>Encephalitis</a:t>
            </a:r>
            <a:r>
              <a:rPr lang="en-US" dirty="0"/>
              <a:t>, AIDS etc.) </a:t>
            </a:r>
          </a:p>
          <a:p>
            <a:r>
              <a:rPr lang="en-US" b="1" dirty="0"/>
              <a:t>W </a:t>
            </a:r>
            <a:r>
              <a:rPr lang="en-US" dirty="0"/>
              <a:t>- Withdrawal (Alcohol, sedatives) </a:t>
            </a:r>
          </a:p>
          <a:p>
            <a:r>
              <a:rPr lang="en-US" b="1" dirty="0"/>
              <a:t>A- </a:t>
            </a:r>
            <a:r>
              <a:rPr lang="en-US" dirty="0"/>
              <a:t>Acute metabolic conditions (hypoglycemia, hepatic) renal failures </a:t>
            </a:r>
          </a:p>
          <a:p>
            <a:r>
              <a:rPr lang="en-US" b="1" dirty="0"/>
              <a:t>T</a:t>
            </a:r>
            <a:r>
              <a:rPr lang="en-US" dirty="0"/>
              <a:t>- Trauma (head, injury, burns) </a:t>
            </a:r>
          </a:p>
          <a:p>
            <a:r>
              <a:rPr lang="en-US" b="1" dirty="0"/>
              <a:t>C</a:t>
            </a:r>
            <a:r>
              <a:rPr lang="en-US" dirty="0"/>
              <a:t>- CNS pathology (space occupying lesions, epilepsy) Central nervous system disorders, Tumors and subdural </a:t>
            </a:r>
            <a:r>
              <a:rPr lang="en-US" dirty="0" err="1"/>
              <a:t>haematoma</a:t>
            </a:r>
            <a:r>
              <a:rPr lang="en-US" dirty="0"/>
              <a:t>, cerebral abscess, Degenerative diseases, vascular diseases; subarachnoid hemorrhage; thrombosis; embolism </a:t>
            </a:r>
          </a:p>
          <a:p>
            <a:r>
              <a:rPr lang="en-US" b="1" dirty="0"/>
              <a:t>H</a:t>
            </a:r>
            <a:r>
              <a:rPr lang="en-US" dirty="0"/>
              <a:t>- </a:t>
            </a:r>
            <a:r>
              <a:rPr lang="en-US" dirty="0" err="1"/>
              <a:t>Hypoxin</a:t>
            </a:r>
            <a:r>
              <a:rPr lang="en-US" dirty="0"/>
              <a:t> ( of lungs and heart)</a:t>
            </a:r>
          </a:p>
        </p:txBody>
      </p:sp>
    </p:spTree>
    <p:extLst>
      <p:ext uri="{BB962C8B-B14F-4D97-AF65-F5344CB8AC3E}">
        <p14:creationId xmlns:p14="http://schemas.microsoft.com/office/powerpoint/2010/main" val="348273015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ETIOLOGY </a:t>
            </a:r>
            <a:endParaRPr lang="en-US" dirty="0"/>
          </a:p>
        </p:txBody>
      </p:sp>
      <p:sp>
        <p:nvSpPr>
          <p:cNvPr id="3" name="Content Placeholder 2"/>
          <p:cNvSpPr>
            <a:spLocks noGrp="1"/>
          </p:cNvSpPr>
          <p:nvPr>
            <p:ph idx="1"/>
          </p:nvPr>
        </p:nvSpPr>
        <p:spPr>
          <a:xfrm>
            <a:off x="457200" y="1066800"/>
            <a:ext cx="8229600" cy="5059363"/>
          </a:xfrm>
        </p:spPr>
        <p:txBody>
          <a:bodyPr>
            <a:normAutofit fontScale="92500"/>
          </a:bodyPr>
          <a:lstStyle/>
          <a:p>
            <a:r>
              <a:rPr lang="en-US" b="1" dirty="0"/>
              <a:t>D</a:t>
            </a:r>
            <a:r>
              <a:rPr lang="en-US" dirty="0"/>
              <a:t>- Deficiency (Thiamine deficiency, B12 deficiency, Niacin deficiency, Anemia) </a:t>
            </a:r>
          </a:p>
          <a:p>
            <a:r>
              <a:rPr lang="en-US" b="1" dirty="0"/>
              <a:t>E</a:t>
            </a:r>
            <a:r>
              <a:rPr lang="en-US" dirty="0"/>
              <a:t>- Endocrine (Hyper/hypothyroidism, Hyper/hypoglycemia, Parathyroid disease, Cushing’s disease, Addison’s disease) </a:t>
            </a:r>
          </a:p>
          <a:p>
            <a:r>
              <a:rPr lang="en-US" b="1" dirty="0"/>
              <a:t>A- </a:t>
            </a:r>
            <a:r>
              <a:rPr lang="en-US" dirty="0"/>
              <a:t>Acute vascular conditions (acute ischemic attacks, shock) </a:t>
            </a:r>
          </a:p>
          <a:p>
            <a:r>
              <a:rPr lang="en-US" b="1" dirty="0"/>
              <a:t>T- </a:t>
            </a:r>
            <a:r>
              <a:rPr lang="en-US" dirty="0"/>
              <a:t>Toxins or Drug intoxication (anticholinergics, hypnotics), Alcohol, Carbon monoxide poisoning. </a:t>
            </a:r>
          </a:p>
          <a:p>
            <a:r>
              <a:rPr lang="en-US" b="1" dirty="0"/>
              <a:t>H- </a:t>
            </a:r>
            <a:r>
              <a:rPr lang="en-US" dirty="0"/>
              <a:t>Heavy metals: lead, arsenic, mercury</a:t>
            </a:r>
          </a:p>
        </p:txBody>
      </p:sp>
    </p:spTree>
    <p:extLst>
      <p:ext uri="{BB962C8B-B14F-4D97-AF65-F5344CB8AC3E}">
        <p14:creationId xmlns:p14="http://schemas.microsoft.com/office/powerpoint/2010/main" val="132763432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5"/>
            <a:ext cx="8229600" cy="715962"/>
          </a:xfrm>
        </p:spPr>
        <p:txBody>
          <a:bodyPr>
            <a:normAutofit fontScale="90000"/>
          </a:bodyPr>
          <a:lstStyle/>
          <a:p>
            <a:r>
              <a:rPr lang="en-US" b="1" dirty="0"/>
              <a:t>Pathology</a:t>
            </a:r>
            <a:endParaRPr lang="en-US" dirty="0"/>
          </a:p>
        </p:txBody>
      </p:sp>
      <p:sp>
        <p:nvSpPr>
          <p:cNvPr id="3" name="Content Placeholder 2"/>
          <p:cNvSpPr>
            <a:spLocks noGrp="1"/>
          </p:cNvSpPr>
          <p:nvPr>
            <p:ph idx="1"/>
          </p:nvPr>
        </p:nvSpPr>
        <p:spPr>
          <a:xfrm>
            <a:off x="457200" y="762000"/>
            <a:ext cx="8229600" cy="5943600"/>
          </a:xfrm>
        </p:spPr>
        <p:txBody>
          <a:bodyPr>
            <a:normAutofit fontScale="92500" lnSpcReduction="20000"/>
          </a:bodyPr>
          <a:lstStyle/>
          <a:p>
            <a:pPr marL="0" indent="0">
              <a:buNone/>
            </a:pPr>
            <a:r>
              <a:rPr lang="en-US" dirty="0"/>
              <a:t>Underlying cause is lack of oxygen, glucose, Amino acid, vitamin deficiency, synthesis and blockage of neuro-transmitters, accumulation of toxin to false transmitters, impaired cerebral blood flow, permeability of the Blood Brain Barrier and damage to cell membrane</a:t>
            </a:r>
            <a:r>
              <a:rPr lang="en-US" dirty="0" smtClean="0"/>
              <a:t>.</a:t>
            </a:r>
          </a:p>
          <a:p>
            <a:pPr marL="0" indent="0">
              <a:buNone/>
            </a:pPr>
            <a:r>
              <a:rPr lang="en-US" b="1" dirty="0"/>
              <a:t>Drugs in anti-cholinergic activity </a:t>
            </a:r>
            <a:r>
              <a:rPr lang="en-US" dirty="0"/>
              <a:t>e.g. </a:t>
            </a:r>
          </a:p>
          <a:p>
            <a:r>
              <a:rPr lang="en-US" dirty="0" smtClean="0"/>
              <a:t>TCA </a:t>
            </a:r>
            <a:r>
              <a:rPr lang="en-US" dirty="0"/>
              <a:t>are particularly likely to cause delirium. Others →</a:t>
            </a:r>
            <a:r>
              <a:rPr lang="en-US" dirty="0" err="1"/>
              <a:t>theophyllin</a:t>
            </a:r>
            <a:r>
              <a:rPr lang="en-US" dirty="0"/>
              <a:t>, </a:t>
            </a:r>
            <a:r>
              <a:rPr lang="en-US" dirty="0" err="1"/>
              <a:t>degoxin</a:t>
            </a:r>
            <a:r>
              <a:rPr lang="en-US" dirty="0"/>
              <a:t>, benzodiazepines and narcotic analgesics. </a:t>
            </a:r>
          </a:p>
          <a:p>
            <a:r>
              <a:rPr lang="en-US" dirty="0" smtClean="0"/>
              <a:t>Withdrawal </a:t>
            </a:r>
            <a:r>
              <a:rPr lang="en-US" dirty="0"/>
              <a:t>from alcohol to sedative hypnotics. </a:t>
            </a:r>
            <a:endParaRPr lang="en-US" dirty="0" smtClean="0"/>
          </a:p>
          <a:p>
            <a:r>
              <a:rPr lang="en-US" dirty="0" smtClean="0"/>
              <a:t>In </a:t>
            </a:r>
            <a:r>
              <a:rPr lang="en-US" dirty="0"/>
              <a:t>delirium tremors mostly caused by alcohol withdrawal, anxiety and autonomic hyperactivity are prominent. </a:t>
            </a:r>
          </a:p>
          <a:p>
            <a:pPr marL="0" indent="0">
              <a:buNone/>
            </a:pPr>
            <a:endParaRPr lang="en-US" dirty="0"/>
          </a:p>
        </p:txBody>
      </p:sp>
    </p:spTree>
    <p:extLst>
      <p:ext uri="{BB962C8B-B14F-4D97-AF65-F5344CB8AC3E}">
        <p14:creationId xmlns:p14="http://schemas.microsoft.com/office/powerpoint/2010/main" val="161242888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Test/Investigations/DX </a:t>
            </a:r>
            <a:endParaRPr lang="en-US" dirty="0"/>
          </a:p>
        </p:txBody>
      </p:sp>
      <p:sp>
        <p:nvSpPr>
          <p:cNvPr id="3" name="Content Placeholder 2"/>
          <p:cNvSpPr>
            <a:spLocks noGrp="1"/>
          </p:cNvSpPr>
          <p:nvPr>
            <p:ph idx="1"/>
          </p:nvPr>
        </p:nvSpPr>
        <p:spPr>
          <a:xfrm>
            <a:off x="457200" y="1219200"/>
            <a:ext cx="8229600" cy="4906963"/>
          </a:xfrm>
        </p:spPr>
        <p:txBody>
          <a:bodyPr/>
          <a:lstStyle/>
          <a:p>
            <a:endParaRPr lang="en-US" dirty="0"/>
          </a:p>
          <a:p>
            <a:r>
              <a:rPr lang="en-US" dirty="0"/>
              <a:t>EEG (electro-encephalogram) </a:t>
            </a:r>
          </a:p>
          <a:p>
            <a:r>
              <a:rPr lang="en-US" dirty="0" smtClean="0"/>
              <a:t>Neurotransmitter </a:t>
            </a:r>
            <a:r>
              <a:rPr lang="en-US" dirty="0"/>
              <a:t>study </a:t>
            </a:r>
          </a:p>
          <a:p>
            <a:r>
              <a:rPr lang="en-US" dirty="0" smtClean="0"/>
              <a:t>Brain </a:t>
            </a:r>
            <a:r>
              <a:rPr lang="en-US" dirty="0"/>
              <a:t>imaging, CT scan </a:t>
            </a:r>
          </a:p>
          <a:p>
            <a:r>
              <a:rPr lang="en-US" dirty="0" smtClean="0"/>
              <a:t>Biochemical </a:t>
            </a:r>
            <a:r>
              <a:rPr lang="en-US" dirty="0"/>
              <a:t>level show reduced Ach activities. </a:t>
            </a:r>
          </a:p>
          <a:p>
            <a:endParaRPr lang="en-US" dirty="0"/>
          </a:p>
        </p:txBody>
      </p:sp>
    </p:spTree>
    <p:extLst>
      <p:ext uri="{BB962C8B-B14F-4D97-AF65-F5344CB8AC3E}">
        <p14:creationId xmlns:p14="http://schemas.microsoft.com/office/powerpoint/2010/main" val="354057514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Nursing care </a:t>
            </a:r>
            <a:endParaRPr lang="en-US" dirty="0"/>
          </a:p>
        </p:txBody>
      </p:sp>
      <p:sp>
        <p:nvSpPr>
          <p:cNvPr id="3" name="Content Placeholder 2"/>
          <p:cNvSpPr>
            <a:spLocks noGrp="1"/>
          </p:cNvSpPr>
          <p:nvPr>
            <p:ph idx="1"/>
          </p:nvPr>
        </p:nvSpPr>
        <p:spPr>
          <a:xfrm>
            <a:off x="457200" y="1295400"/>
            <a:ext cx="8229600" cy="4983163"/>
          </a:xfrm>
        </p:spPr>
        <p:txBody>
          <a:bodyPr>
            <a:normAutofit lnSpcReduction="10000"/>
          </a:bodyPr>
          <a:lstStyle/>
          <a:p>
            <a:r>
              <a:rPr lang="en-US" dirty="0" smtClean="0"/>
              <a:t>Risk for injury-unsteady gait</a:t>
            </a:r>
          </a:p>
          <a:p>
            <a:r>
              <a:rPr lang="en-US" dirty="0" smtClean="0"/>
              <a:t>Disturbed sleep pattern </a:t>
            </a:r>
          </a:p>
          <a:p>
            <a:r>
              <a:rPr lang="en-US" dirty="0" smtClean="0"/>
              <a:t>Acute confusion</a:t>
            </a:r>
          </a:p>
          <a:p>
            <a:r>
              <a:rPr lang="en-US" dirty="0" smtClean="0"/>
              <a:t>Self care deficit </a:t>
            </a:r>
          </a:p>
          <a:p>
            <a:r>
              <a:rPr lang="en-US" dirty="0" smtClean="0"/>
              <a:t>impaired memory chronic confusion </a:t>
            </a:r>
          </a:p>
          <a:p>
            <a:r>
              <a:rPr lang="en-US" dirty="0" smtClean="0"/>
              <a:t>Impaired verbal communication </a:t>
            </a:r>
          </a:p>
          <a:p>
            <a:r>
              <a:rPr lang="en-US" dirty="0" smtClean="0"/>
              <a:t>Hopelessness</a:t>
            </a:r>
          </a:p>
          <a:p>
            <a:r>
              <a:rPr lang="en-US" dirty="0" smtClean="0"/>
              <a:t>Situational low self-esteem</a:t>
            </a:r>
          </a:p>
          <a:p>
            <a:r>
              <a:rPr lang="en-US" dirty="0" smtClean="0"/>
              <a:t>Disabled family coping  </a:t>
            </a:r>
            <a:endParaRPr lang="en-US" dirty="0"/>
          </a:p>
        </p:txBody>
      </p:sp>
    </p:spTree>
    <p:extLst>
      <p:ext uri="{BB962C8B-B14F-4D97-AF65-F5344CB8AC3E}">
        <p14:creationId xmlns:p14="http://schemas.microsoft.com/office/powerpoint/2010/main" val="57175142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smtClean="0"/>
              <a:t>MX/RX </a:t>
            </a:r>
            <a:endParaRPr lang="en-US" dirty="0"/>
          </a:p>
        </p:txBody>
      </p:sp>
      <p:sp>
        <p:nvSpPr>
          <p:cNvPr id="3" name="Content Placeholder 2"/>
          <p:cNvSpPr>
            <a:spLocks noGrp="1"/>
          </p:cNvSpPr>
          <p:nvPr>
            <p:ph idx="1"/>
          </p:nvPr>
        </p:nvSpPr>
        <p:spPr>
          <a:xfrm>
            <a:off x="457200" y="838200"/>
            <a:ext cx="8229600" cy="5867399"/>
          </a:xfrm>
        </p:spPr>
        <p:txBody>
          <a:bodyPr>
            <a:normAutofit fontScale="92500" lnSpcReduction="10000"/>
          </a:bodyPr>
          <a:lstStyle/>
          <a:p>
            <a:r>
              <a:rPr lang="en-US" dirty="0" smtClean="0"/>
              <a:t>Collect </a:t>
            </a:r>
            <a:r>
              <a:rPr lang="en-US" dirty="0"/>
              <a:t>adequate data :- mode of onset, precipitating factors. </a:t>
            </a:r>
          </a:p>
          <a:p>
            <a:r>
              <a:rPr lang="en-US" dirty="0" smtClean="0"/>
              <a:t>Determine </a:t>
            </a:r>
            <a:r>
              <a:rPr lang="en-US" dirty="0"/>
              <a:t>Physical cause </a:t>
            </a:r>
          </a:p>
          <a:p>
            <a:r>
              <a:rPr lang="en-US" dirty="0" smtClean="0"/>
              <a:t>Investigations </a:t>
            </a:r>
            <a:r>
              <a:rPr lang="en-US" dirty="0"/>
              <a:t>are divided by physical examination finding, e.g. </a:t>
            </a:r>
          </a:p>
          <a:p>
            <a:pPr marL="1257300" lvl="3" indent="0">
              <a:buNone/>
            </a:pPr>
            <a:r>
              <a:rPr lang="en-US" dirty="0" smtClean="0"/>
              <a:t>Dehydration </a:t>
            </a:r>
            <a:r>
              <a:rPr lang="en-US" dirty="0"/>
              <a:t>→check blood sugar. </a:t>
            </a:r>
          </a:p>
          <a:p>
            <a:pPr marL="1257300" lvl="3" indent="0">
              <a:buNone/>
            </a:pPr>
            <a:r>
              <a:rPr lang="en-US" dirty="0" smtClean="0"/>
              <a:t>Wasted</a:t>
            </a:r>
            <a:r>
              <a:rPr lang="en-US" dirty="0"/>
              <a:t>→ check for infection like HIV. </a:t>
            </a:r>
          </a:p>
          <a:p>
            <a:pPr marL="1257300" lvl="3" indent="0">
              <a:buNone/>
            </a:pPr>
            <a:r>
              <a:rPr lang="en-US" dirty="0" smtClean="0"/>
              <a:t>Jaundiced </a:t>
            </a:r>
            <a:r>
              <a:rPr lang="en-US" dirty="0"/>
              <a:t>→check for hepatic conditions. </a:t>
            </a:r>
          </a:p>
          <a:p>
            <a:r>
              <a:rPr lang="en-US" dirty="0"/>
              <a:t>Treat the underlying cause. </a:t>
            </a:r>
            <a:endParaRPr lang="en-US" dirty="0" smtClean="0"/>
          </a:p>
          <a:p>
            <a:r>
              <a:rPr lang="en-US" dirty="0" smtClean="0"/>
              <a:t>The </a:t>
            </a:r>
            <a:r>
              <a:rPr lang="en-US" dirty="0"/>
              <a:t>two major symptoms that may require pharmacological treatment are psychosis (agitation) and insomnia. </a:t>
            </a:r>
          </a:p>
          <a:p>
            <a:r>
              <a:rPr lang="en-US" dirty="0" smtClean="0"/>
              <a:t>Psychosis </a:t>
            </a:r>
            <a:r>
              <a:rPr lang="en-US" dirty="0"/>
              <a:t>treat with haloperidol </a:t>
            </a:r>
            <a:r>
              <a:rPr lang="en-US" dirty="0" smtClean="0"/>
              <a:t>5-50mg PO/IM </a:t>
            </a:r>
            <a:endParaRPr lang="en-US" dirty="0"/>
          </a:p>
          <a:p>
            <a:pPr marL="1257300" lvl="3" indent="0">
              <a:buNone/>
            </a:pPr>
            <a:endParaRPr lang="en-US" dirty="0" smtClean="0"/>
          </a:p>
          <a:p>
            <a:pPr marL="1257300" lvl="3" indent="0">
              <a:buNone/>
            </a:pPr>
            <a:endParaRPr lang="en-US" dirty="0"/>
          </a:p>
          <a:p>
            <a:pPr marL="1257300" lvl="3" indent="0">
              <a:buNone/>
            </a:pPr>
            <a:endParaRPr lang="en-US" dirty="0" smtClean="0"/>
          </a:p>
          <a:p>
            <a:pPr marL="1257300" lvl="3" indent="0">
              <a:buNone/>
            </a:pPr>
            <a:endParaRPr lang="en-US" dirty="0"/>
          </a:p>
          <a:p>
            <a:pPr marL="1257300" lvl="3" indent="0">
              <a:buNone/>
            </a:pPr>
            <a:endParaRPr lang="en-US" dirty="0" smtClean="0"/>
          </a:p>
          <a:p>
            <a:pPr marL="1257300" lvl="3" indent="0">
              <a:buNone/>
            </a:pPr>
            <a:endParaRPr lang="en-US" dirty="0"/>
          </a:p>
          <a:p>
            <a:pPr lvl="3"/>
            <a:endParaRPr lang="en-US" dirty="0"/>
          </a:p>
        </p:txBody>
      </p:sp>
    </p:spTree>
    <p:extLst>
      <p:ext uri="{BB962C8B-B14F-4D97-AF65-F5344CB8AC3E}">
        <p14:creationId xmlns:p14="http://schemas.microsoft.com/office/powerpoint/2010/main" val="142574009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MX /RX </a:t>
            </a:r>
            <a:endParaRPr lang="en-US" dirty="0"/>
          </a:p>
        </p:txBody>
      </p:sp>
      <p:sp>
        <p:nvSpPr>
          <p:cNvPr id="3" name="Content Placeholder 2"/>
          <p:cNvSpPr>
            <a:spLocks noGrp="1"/>
          </p:cNvSpPr>
          <p:nvPr>
            <p:ph idx="1"/>
          </p:nvPr>
        </p:nvSpPr>
        <p:spPr>
          <a:xfrm>
            <a:off x="457200" y="990600"/>
            <a:ext cx="8229600" cy="5715000"/>
          </a:xfrm>
        </p:spPr>
        <p:txBody>
          <a:bodyPr>
            <a:normAutofit fontScale="92500" lnSpcReduction="20000"/>
          </a:bodyPr>
          <a:lstStyle/>
          <a:p>
            <a:endParaRPr lang="en-US" dirty="0"/>
          </a:p>
          <a:p>
            <a:r>
              <a:rPr lang="en-US" b="1" dirty="0"/>
              <a:t>P.O </a:t>
            </a:r>
            <a:r>
              <a:rPr lang="en-US" dirty="0"/>
              <a:t>haloperidol 10-20mg repeats according to response. Haloperidol is highly used as it causes less hypotensive effects, less sedation. </a:t>
            </a:r>
          </a:p>
          <a:p>
            <a:r>
              <a:rPr lang="en-US" b="1" dirty="0" smtClean="0"/>
              <a:t>IM</a:t>
            </a:r>
            <a:r>
              <a:rPr lang="en-US" b="1" dirty="0"/>
              <a:t>: </a:t>
            </a:r>
            <a:r>
              <a:rPr lang="en-US" dirty="0"/>
              <a:t>2-10mg per day repeated in an hour if the patient remains, agitated then follow with P.O after patient cools down. </a:t>
            </a:r>
          </a:p>
          <a:p>
            <a:r>
              <a:rPr lang="en-US" dirty="0" smtClean="0"/>
              <a:t>Insomnia </a:t>
            </a:r>
            <a:r>
              <a:rPr lang="en-US" dirty="0"/>
              <a:t>treat with </a:t>
            </a:r>
            <a:r>
              <a:rPr lang="en-US" dirty="0" err="1"/>
              <a:t>Benzochazepines</a:t>
            </a:r>
            <a:r>
              <a:rPr lang="en-US" dirty="0"/>
              <a:t> with short t½. </a:t>
            </a:r>
            <a:r>
              <a:rPr lang="en-US" dirty="0" err="1"/>
              <a:t>Benzochazepines</a:t>
            </a:r>
            <a:r>
              <a:rPr lang="en-US" dirty="0"/>
              <a:t> are used in alcohol delirium tremens to cause sedation. In cases which are not secondary to alcohol, </a:t>
            </a:r>
            <a:r>
              <a:rPr lang="en-US" dirty="0" err="1"/>
              <a:t>Benzodicizepines</a:t>
            </a:r>
            <a:r>
              <a:rPr lang="en-US" dirty="0"/>
              <a:t> worsen the symptom thus use </a:t>
            </a:r>
            <a:r>
              <a:rPr lang="en-US" dirty="0" err="1"/>
              <a:t>haloperi</a:t>
            </a:r>
            <a:r>
              <a:rPr lang="en-US" dirty="0"/>
              <a:t>. </a:t>
            </a:r>
          </a:p>
          <a:p>
            <a:r>
              <a:rPr lang="en-US" dirty="0" smtClean="0"/>
              <a:t>Nursed </a:t>
            </a:r>
            <a:r>
              <a:rPr lang="en-US" dirty="0"/>
              <a:t>in quiet room to reduce disorientation, well lit room, minimal disturbance </a:t>
            </a:r>
          </a:p>
          <a:p>
            <a:endParaRPr lang="en-US" dirty="0"/>
          </a:p>
        </p:txBody>
      </p:sp>
    </p:spTree>
    <p:extLst>
      <p:ext uri="{BB962C8B-B14F-4D97-AF65-F5344CB8AC3E}">
        <p14:creationId xmlns:p14="http://schemas.microsoft.com/office/powerpoint/2010/main" val="274661662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MX /RX</a:t>
            </a:r>
            <a:endParaRPr lang="en-US" dirty="0"/>
          </a:p>
        </p:txBody>
      </p:sp>
      <p:sp>
        <p:nvSpPr>
          <p:cNvPr id="3" name="Content Placeholder 2"/>
          <p:cNvSpPr>
            <a:spLocks noGrp="1"/>
          </p:cNvSpPr>
          <p:nvPr>
            <p:ph idx="1"/>
          </p:nvPr>
        </p:nvSpPr>
        <p:spPr>
          <a:xfrm>
            <a:off x="457200" y="838200"/>
            <a:ext cx="8229600" cy="5791200"/>
          </a:xfrm>
        </p:spPr>
        <p:txBody>
          <a:bodyPr>
            <a:normAutofit fontScale="77500" lnSpcReduction="20000"/>
          </a:bodyPr>
          <a:lstStyle/>
          <a:p>
            <a:endParaRPr lang="en-US" dirty="0"/>
          </a:p>
          <a:p>
            <a:r>
              <a:rPr lang="en-US" dirty="0"/>
              <a:t>Monitor the progress and report adequately on: </a:t>
            </a:r>
          </a:p>
          <a:p>
            <a:r>
              <a:rPr lang="en-US" dirty="0"/>
              <a:t>- Delirium assessing scale 0-10 </a:t>
            </a:r>
          </a:p>
          <a:p>
            <a:r>
              <a:rPr lang="en-US" dirty="0"/>
              <a:t>- Delirium rating scale </a:t>
            </a:r>
          </a:p>
          <a:p>
            <a:r>
              <a:rPr lang="en-US" dirty="0" smtClean="0"/>
              <a:t>The </a:t>
            </a:r>
            <a:r>
              <a:rPr lang="en-US" dirty="0"/>
              <a:t>other important goal of treatment is to provide physical, sensory and environmental support. </a:t>
            </a:r>
          </a:p>
          <a:p>
            <a:r>
              <a:rPr lang="en-US" dirty="0" smtClean="0"/>
              <a:t>Physical </a:t>
            </a:r>
            <a:r>
              <a:rPr lang="en-US" dirty="0"/>
              <a:t>support→ prevents accidents in </a:t>
            </a:r>
            <a:r>
              <a:rPr lang="en-US" dirty="0" err="1"/>
              <a:t>deliriuos</a:t>
            </a:r>
            <a:r>
              <a:rPr lang="en-US" dirty="0"/>
              <a:t> patient. </a:t>
            </a:r>
          </a:p>
          <a:p>
            <a:r>
              <a:rPr lang="en-US" dirty="0" smtClean="0"/>
              <a:t>Provide </a:t>
            </a:r>
            <a:r>
              <a:rPr lang="en-US" dirty="0"/>
              <a:t>adequate sensory stimulation. Too low or high stimulation disorientate them. Provide a friend or relative in their room, give familiar pictures, a clock, calendar for time orientation and regular orientation to person place and time to make the patient comfortable. </a:t>
            </a:r>
          </a:p>
          <a:p>
            <a:r>
              <a:rPr lang="en-US" dirty="0" smtClean="0"/>
              <a:t>If </a:t>
            </a:r>
            <a:r>
              <a:rPr lang="en-US" dirty="0"/>
              <a:t>delirium is due to severe pain, give analgesics (</a:t>
            </a:r>
            <a:r>
              <a:rPr lang="en-US" dirty="0" err="1"/>
              <a:t>opiods</a:t>
            </a:r>
            <a:r>
              <a:rPr lang="en-US" dirty="0"/>
              <a:t> for both analgesic and sedation. </a:t>
            </a:r>
          </a:p>
          <a:p>
            <a:endParaRPr lang="en-US" dirty="0"/>
          </a:p>
        </p:txBody>
      </p:sp>
    </p:spTree>
    <p:extLst>
      <p:ext uri="{BB962C8B-B14F-4D97-AF65-F5344CB8AC3E}">
        <p14:creationId xmlns:p14="http://schemas.microsoft.com/office/powerpoint/2010/main" val="56341924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Delirium </a:t>
            </a:r>
            <a:endParaRPr lang="en-US" dirty="0"/>
          </a:p>
        </p:txBody>
      </p:sp>
      <p:sp>
        <p:nvSpPr>
          <p:cNvPr id="3" name="Content Placeholder 2"/>
          <p:cNvSpPr>
            <a:spLocks noGrp="1"/>
          </p:cNvSpPr>
          <p:nvPr>
            <p:ph idx="1"/>
          </p:nvPr>
        </p:nvSpPr>
        <p:spPr/>
        <p:txBody>
          <a:bodyPr/>
          <a:lstStyle/>
          <a:p>
            <a:r>
              <a:rPr lang="en-US" dirty="0" smtClean="0"/>
              <a:t>1</a:t>
            </a:r>
            <a:r>
              <a:rPr lang="en-US" dirty="0"/>
              <a:t>. Hyper alert-hyperactive delirium </a:t>
            </a:r>
          </a:p>
          <a:p>
            <a:r>
              <a:rPr lang="nb-NO" dirty="0"/>
              <a:t>2.. Hypo alert-hypo active delirium </a:t>
            </a:r>
          </a:p>
          <a:p>
            <a:r>
              <a:rPr lang="en-US" dirty="0"/>
              <a:t>3. Mixed Hype delirium</a:t>
            </a:r>
          </a:p>
        </p:txBody>
      </p:sp>
    </p:spTree>
    <p:extLst>
      <p:ext uri="{BB962C8B-B14F-4D97-AF65-F5344CB8AC3E}">
        <p14:creationId xmlns:p14="http://schemas.microsoft.com/office/powerpoint/2010/main" val="243471794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a:xfrm>
            <a:off x="457200" y="1600200"/>
            <a:ext cx="8229600" cy="5029200"/>
          </a:xfrm>
        </p:spPr>
        <p:txBody>
          <a:bodyPr/>
          <a:lstStyle/>
          <a:p>
            <a:r>
              <a:rPr lang="en-US" b="1" dirty="0"/>
              <a:t>Hyper alert Hyperactive type </a:t>
            </a:r>
            <a:endParaRPr lang="en-US" dirty="0"/>
          </a:p>
          <a:p>
            <a:r>
              <a:rPr lang="en-US" dirty="0" smtClean="0"/>
              <a:t>Identification </a:t>
            </a:r>
            <a:r>
              <a:rPr lang="en-US" dirty="0"/>
              <a:t>is straight forward. </a:t>
            </a:r>
          </a:p>
          <a:p>
            <a:r>
              <a:rPr lang="en-US" dirty="0" smtClean="0"/>
              <a:t>More </a:t>
            </a:r>
            <a:r>
              <a:rPr lang="en-US" dirty="0"/>
              <a:t>often accompanied by psychotic symptom (</a:t>
            </a:r>
            <a:r>
              <a:rPr lang="en-US" dirty="0" err="1"/>
              <a:t>halucination</a:t>
            </a:r>
            <a:r>
              <a:rPr lang="en-US" dirty="0"/>
              <a:t> and delusion), agitation and disorientation. </a:t>
            </a:r>
          </a:p>
          <a:p>
            <a:r>
              <a:rPr lang="en-US" dirty="0" smtClean="0"/>
              <a:t>Treatment </a:t>
            </a:r>
            <a:r>
              <a:rPr lang="en-US" dirty="0"/>
              <a:t>→ </a:t>
            </a:r>
            <a:r>
              <a:rPr lang="en-US" dirty="0" err="1"/>
              <a:t>halopendol</a:t>
            </a:r>
            <a:r>
              <a:rPr lang="en-US" dirty="0"/>
              <a:t> 5-50mg per day </a:t>
            </a:r>
          </a:p>
          <a:p>
            <a:endParaRPr lang="en-US" dirty="0"/>
          </a:p>
        </p:txBody>
      </p:sp>
    </p:spTree>
    <p:extLst>
      <p:ext uri="{BB962C8B-B14F-4D97-AF65-F5344CB8AC3E}">
        <p14:creationId xmlns:p14="http://schemas.microsoft.com/office/powerpoint/2010/main" val="326446291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a:xfrm>
            <a:off x="457200" y="1143000"/>
            <a:ext cx="8229600" cy="5715000"/>
          </a:xfrm>
        </p:spPr>
        <p:txBody>
          <a:bodyPr>
            <a:normAutofit fontScale="92500" lnSpcReduction="20000"/>
          </a:bodyPr>
          <a:lstStyle/>
          <a:p>
            <a:r>
              <a:rPr lang="en-US" b="1" dirty="0"/>
              <a:t>Hypo alert Hypoactive type </a:t>
            </a:r>
            <a:endParaRPr lang="en-US" dirty="0"/>
          </a:p>
          <a:p>
            <a:r>
              <a:rPr lang="en-US" dirty="0" smtClean="0"/>
              <a:t>Causes </a:t>
            </a:r>
            <a:r>
              <a:rPr lang="en-US" dirty="0"/>
              <a:t>more problems and its sometimes misdiagnosed as depression. </a:t>
            </a:r>
          </a:p>
          <a:p>
            <a:r>
              <a:rPr lang="en-US" dirty="0" smtClean="0"/>
              <a:t>Characterized </a:t>
            </a:r>
            <a:r>
              <a:rPr lang="en-US" dirty="0"/>
              <a:t>by confusion, sedation and fever psychotic s/s (hallucination and delusion). </a:t>
            </a:r>
          </a:p>
          <a:p>
            <a:r>
              <a:rPr lang="en-US" dirty="0" smtClean="0"/>
              <a:t>In </a:t>
            </a:r>
            <a:r>
              <a:rPr lang="en-US" dirty="0"/>
              <a:t>and out of coma </a:t>
            </a:r>
          </a:p>
          <a:p>
            <a:r>
              <a:rPr lang="en-US" b="1" dirty="0"/>
              <a:t>Treatment: </a:t>
            </a:r>
            <a:r>
              <a:rPr lang="en-US" dirty="0"/>
              <a:t>haloperidol 5-50mg per day. </a:t>
            </a:r>
          </a:p>
          <a:p>
            <a:r>
              <a:rPr lang="en-US" dirty="0"/>
              <a:t>General 10 →30% of patients have the disorder but it is high among; </a:t>
            </a:r>
          </a:p>
          <a:p>
            <a:r>
              <a:rPr lang="en-US" dirty="0"/>
              <a:t>1. Elderly and children if they have slight systemic disturbances. </a:t>
            </a:r>
          </a:p>
          <a:p>
            <a:r>
              <a:rPr lang="en-US" dirty="0"/>
              <a:t>2. Alcoholics →delirium tremens </a:t>
            </a:r>
          </a:p>
          <a:p>
            <a:r>
              <a:rPr lang="fr-FR" dirty="0"/>
              <a:t>3. 1CU patients, </a:t>
            </a:r>
            <a:r>
              <a:rPr lang="fr-FR" dirty="0" err="1"/>
              <a:t>burns</a:t>
            </a:r>
            <a:r>
              <a:rPr lang="fr-FR" dirty="0"/>
              <a:t> patients </a:t>
            </a:r>
          </a:p>
          <a:p>
            <a:endParaRPr lang="en-US" dirty="0"/>
          </a:p>
        </p:txBody>
      </p:sp>
    </p:spTree>
    <p:extLst>
      <p:ext uri="{BB962C8B-B14F-4D97-AF65-F5344CB8AC3E}">
        <p14:creationId xmlns:p14="http://schemas.microsoft.com/office/powerpoint/2010/main" val="401311449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PROGNOSIS </a:t>
            </a:r>
            <a:endParaRPr lang="en-US" dirty="0"/>
          </a:p>
        </p:txBody>
      </p:sp>
      <p:sp>
        <p:nvSpPr>
          <p:cNvPr id="3" name="Content Placeholder 2"/>
          <p:cNvSpPr>
            <a:spLocks noGrp="1"/>
          </p:cNvSpPr>
          <p:nvPr>
            <p:ph idx="1"/>
          </p:nvPr>
        </p:nvSpPr>
        <p:spPr>
          <a:xfrm>
            <a:off x="457200" y="914400"/>
            <a:ext cx="8229600" cy="5211763"/>
          </a:xfrm>
        </p:spPr>
        <p:txBody>
          <a:bodyPr/>
          <a:lstStyle/>
          <a:p>
            <a:pPr marL="0" indent="0">
              <a:buNone/>
            </a:pPr>
            <a:r>
              <a:rPr lang="en-US" dirty="0"/>
              <a:t>progress to </a:t>
            </a:r>
            <a:endParaRPr lang="en-US" dirty="0" smtClean="0"/>
          </a:p>
          <a:p>
            <a:r>
              <a:rPr lang="en-US" dirty="0" smtClean="0"/>
              <a:t>stupor</a:t>
            </a:r>
            <a:r>
              <a:rPr lang="en-US" dirty="0"/>
              <a:t>, </a:t>
            </a:r>
            <a:endParaRPr lang="en-US" dirty="0" smtClean="0"/>
          </a:p>
          <a:p>
            <a:r>
              <a:rPr lang="en-US" dirty="0" smtClean="0"/>
              <a:t>coma,</a:t>
            </a:r>
          </a:p>
          <a:p>
            <a:r>
              <a:rPr lang="en-US" dirty="0" smtClean="0"/>
              <a:t> </a:t>
            </a:r>
            <a:r>
              <a:rPr lang="en-US" dirty="0"/>
              <a:t>seizures, </a:t>
            </a:r>
            <a:endParaRPr lang="en-US" dirty="0" smtClean="0"/>
          </a:p>
          <a:p>
            <a:r>
              <a:rPr lang="en-US" dirty="0" smtClean="0"/>
              <a:t>Dementia</a:t>
            </a:r>
          </a:p>
          <a:p>
            <a:r>
              <a:rPr lang="en-US" dirty="0" smtClean="0"/>
              <a:t>death </a:t>
            </a:r>
          </a:p>
          <a:p>
            <a:pPr marL="0" indent="0">
              <a:buNone/>
            </a:pPr>
            <a:r>
              <a:rPr lang="en-US" dirty="0" smtClean="0"/>
              <a:t>depending </a:t>
            </a:r>
            <a:r>
              <a:rPr lang="en-US" dirty="0"/>
              <a:t>on the cause and management </a:t>
            </a:r>
          </a:p>
        </p:txBody>
      </p:sp>
    </p:spTree>
    <p:extLst>
      <p:ext uri="{BB962C8B-B14F-4D97-AF65-F5344CB8AC3E}">
        <p14:creationId xmlns:p14="http://schemas.microsoft.com/office/powerpoint/2010/main" val="222012358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DEMENTIA </a:t>
            </a:r>
            <a:endParaRPr lang="en-US" dirty="0"/>
          </a:p>
        </p:txBody>
      </p:sp>
      <p:sp>
        <p:nvSpPr>
          <p:cNvPr id="3" name="Content Placeholder 2"/>
          <p:cNvSpPr>
            <a:spLocks noGrp="1"/>
          </p:cNvSpPr>
          <p:nvPr>
            <p:ph idx="1"/>
          </p:nvPr>
        </p:nvSpPr>
        <p:spPr>
          <a:xfrm>
            <a:off x="457200" y="1219200"/>
            <a:ext cx="8229600" cy="5486400"/>
          </a:xfrm>
        </p:spPr>
        <p:txBody>
          <a:bodyPr>
            <a:normAutofit fontScale="92500" lnSpcReduction="20000"/>
          </a:bodyPr>
          <a:lstStyle/>
          <a:p>
            <a:r>
              <a:rPr lang="en-US" dirty="0" smtClean="0"/>
              <a:t>Dementia </a:t>
            </a:r>
            <a:r>
              <a:rPr lang="en-US" dirty="0"/>
              <a:t>is a decrease in cognition in the setting of a well stable consciousness. </a:t>
            </a:r>
          </a:p>
          <a:p>
            <a:r>
              <a:rPr lang="en-US" dirty="0" smtClean="0"/>
              <a:t>It </a:t>
            </a:r>
            <a:r>
              <a:rPr lang="en-US" dirty="0"/>
              <a:t>is a syndrome. There is disturbance in memory, intellect, personality change, cognitive impairment(amnesia) , apraxia (difficult in complex task) </a:t>
            </a:r>
          </a:p>
          <a:p>
            <a:r>
              <a:rPr lang="en-US" dirty="0"/>
              <a:t>Topographic disorientation </a:t>
            </a:r>
          </a:p>
          <a:p>
            <a:pPr marL="457200" lvl="1" indent="0">
              <a:buNone/>
            </a:pPr>
            <a:r>
              <a:rPr lang="en-US" dirty="0" smtClean="0"/>
              <a:t>	- </a:t>
            </a:r>
            <a:r>
              <a:rPr lang="en-US" dirty="0"/>
              <a:t>wondering aimlessly </a:t>
            </a:r>
          </a:p>
          <a:p>
            <a:pPr marL="0" indent="0">
              <a:buNone/>
            </a:pPr>
            <a:r>
              <a:rPr lang="en-US" dirty="0" smtClean="0"/>
              <a:t>	- </a:t>
            </a:r>
            <a:r>
              <a:rPr lang="en-US" dirty="0"/>
              <a:t>forget route </a:t>
            </a:r>
          </a:p>
          <a:p>
            <a:pPr marL="0" indent="0">
              <a:buNone/>
            </a:pPr>
            <a:r>
              <a:rPr lang="en-US" dirty="0" smtClean="0"/>
              <a:t>	- </a:t>
            </a:r>
            <a:r>
              <a:rPr lang="en-US" dirty="0"/>
              <a:t>locating bathroom/bedroom </a:t>
            </a:r>
          </a:p>
          <a:p>
            <a:r>
              <a:rPr lang="en-US" dirty="0" smtClean="0"/>
              <a:t>Disturbed </a:t>
            </a:r>
            <a:r>
              <a:rPr lang="en-US" dirty="0"/>
              <a:t>attention </a:t>
            </a:r>
          </a:p>
          <a:p>
            <a:r>
              <a:rPr lang="en-US" dirty="0" smtClean="0"/>
              <a:t>Marked </a:t>
            </a:r>
            <a:r>
              <a:rPr lang="en-US" dirty="0"/>
              <a:t>by severe impairment in memory, judgment, orientation and language. </a:t>
            </a:r>
          </a:p>
          <a:p>
            <a:endParaRPr lang="en-US" dirty="0"/>
          </a:p>
          <a:p>
            <a:endParaRPr lang="en-US" dirty="0"/>
          </a:p>
        </p:txBody>
      </p:sp>
    </p:spTree>
    <p:extLst>
      <p:ext uri="{BB962C8B-B14F-4D97-AF65-F5344CB8AC3E}">
        <p14:creationId xmlns:p14="http://schemas.microsoft.com/office/powerpoint/2010/main" val="356230191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smtClean="0"/>
              <a:t>dementia affects </a:t>
            </a:r>
            <a:endParaRPr lang="en-US" b="1" dirty="0"/>
          </a:p>
        </p:txBody>
      </p:sp>
      <p:sp>
        <p:nvSpPr>
          <p:cNvPr id="3" name="Content Placeholder 2"/>
          <p:cNvSpPr>
            <a:spLocks noGrp="1"/>
          </p:cNvSpPr>
          <p:nvPr>
            <p:ph idx="1"/>
          </p:nvPr>
        </p:nvSpPr>
        <p:spPr>
          <a:xfrm>
            <a:off x="457200" y="990600"/>
            <a:ext cx="8229600" cy="5562600"/>
          </a:xfrm>
        </p:spPr>
        <p:txBody>
          <a:bodyPr/>
          <a:lstStyle/>
          <a:p>
            <a:endParaRPr lang="en-US" dirty="0"/>
          </a:p>
          <a:p>
            <a:pPr marL="0" indent="0">
              <a:buNone/>
            </a:pPr>
            <a:r>
              <a:rPr lang="en-US" dirty="0" smtClean="0"/>
              <a:t>1. Cognition </a:t>
            </a:r>
            <a:r>
              <a:rPr lang="en-US" dirty="0"/>
              <a:t>→general intelligence, learning, </a:t>
            </a:r>
            <a:r>
              <a:rPr lang="en-US" dirty="0" smtClean="0"/>
              <a:t>	language</a:t>
            </a:r>
            <a:r>
              <a:rPr lang="en-US" dirty="0"/>
              <a:t>, memory, orientation, attention, </a:t>
            </a:r>
            <a:r>
              <a:rPr lang="en-US" dirty="0" smtClean="0"/>
              <a:t>	concentration</a:t>
            </a:r>
            <a:r>
              <a:rPr lang="en-US" dirty="0"/>
              <a:t>, problem solving, </a:t>
            </a:r>
            <a:r>
              <a:rPr lang="en-US" dirty="0" smtClean="0"/>
              <a:t>	perception</a:t>
            </a:r>
            <a:r>
              <a:rPr lang="en-US" dirty="0"/>
              <a:t>, judgment, social abilities. </a:t>
            </a:r>
          </a:p>
          <a:p>
            <a:pPr marL="0" indent="0">
              <a:buNone/>
            </a:pPr>
            <a:r>
              <a:rPr lang="en-US" dirty="0"/>
              <a:t>2. Person’s personality change. </a:t>
            </a:r>
          </a:p>
          <a:p>
            <a:pPr marL="0" indent="0">
              <a:buNone/>
            </a:pPr>
            <a:r>
              <a:rPr lang="en-US" dirty="0"/>
              <a:t>3. Impairs social and occupational functioning. </a:t>
            </a:r>
          </a:p>
          <a:p>
            <a:endParaRPr lang="en-US" dirty="0"/>
          </a:p>
        </p:txBody>
      </p:sp>
    </p:spTree>
    <p:extLst>
      <p:ext uri="{BB962C8B-B14F-4D97-AF65-F5344CB8AC3E}">
        <p14:creationId xmlns:p14="http://schemas.microsoft.com/office/powerpoint/2010/main" val="108985636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dementia</a:t>
            </a:r>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20000"/>
          </a:bodyPr>
          <a:lstStyle/>
          <a:p>
            <a:endParaRPr lang="en-US" dirty="0"/>
          </a:p>
          <a:p>
            <a:r>
              <a:rPr lang="en-US" dirty="0"/>
              <a:t>Dementia is an irreversible decline of mental functions produced by organic brain disease like neuro-syphilis, vitamin deficiencies (Thiamine B1), brain tumors, hypothyroidism. </a:t>
            </a:r>
          </a:p>
          <a:p>
            <a:r>
              <a:rPr lang="en-US" dirty="0" smtClean="0"/>
              <a:t>There </a:t>
            </a:r>
            <a:r>
              <a:rPr lang="en-US" dirty="0"/>
              <a:t>is impaired short and long term memory association with Impaired abstract thinking, judgment, and disturbance of higher cortical functions or personality change. </a:t>
            </a:r>
          </a:p>
          <a:p>
            <a:r>
              <a:rPr lang="en-US" dirty="0" smtClean="0"/>
              <a:t>The </a:t>
            </a:r>
            <a:r>
              <a:rPr lang="en-US" dirty="0"/>
              <a:t>disturbance interferes with work or social activities. </a:t>
            </a:r>
          </a:p>
          <a:p>
            <a:r>
              <a:rPr lang="en-US" dirty="0" smtClean="0"/>
              <a:t>Age </a:t>
            </a:r>
            <a:r>
              <a:rPr lang="en-US" dirty="0"/>
              <a:t>at onset →elderly &gt;60years but depends on etiology. </a:t>
            </a:r>
          </a:p>
          <a:p>
            <a:endParaRPr lang="en-US" dirty="0"/>
          </a:p>
        </p:txBody>
      </p:sp>
    </p:spTree>
    <p:extLst>
      <p:ext uri="{BB962C8B-B14F-4D97-AF65-F5344CB8AC3E}">
        <p14:creationId xmlns:p14="http://schemas.microsoft.com/office/powerpoint/2010/main" val="264119415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Presentation (s/s) </a:t>
            </a:r>
            <a:endParaRPr lang="en-US" dirty="0"/>
          </a:p>
        </p:txBody>
      </p:sp>
      <p:sp>
        <p:nvSpPr>
          <p:cNvPr id="3" name="Content Placeholder 2"/>
          <p:cNvSpPr>
            <a:spLocks noGrp="1"/>
          </p:cNvSpPr>
          <p:nvPr>
            <p:ph idx="1"/>
          </p:nvPr>
        </p:nvSpPr>
        <p:spPr>
          <a:xfrm>
            <a:off x="457200" y="1219200"/>
            <a:ext cx="8229600" cy="5410200"/>
          </a:xfrm>
        </p:spPr>
        <p:txBody>
          <a:bodyPr/>
          <a:lstStyle/>
          <a:p>
            <a:endParaRPr lang="en-US" dirty="0"/>
          </a:p>
          <a:p>
            <a:r>
              <a:rPr lang="en-US" dirty="0"/>
              <a:t>Misplacing things, difficulties in recalling relative’s names. </a:t>
            </a:r>
          </a:p>
          <a:p>
            <a:r>
              <a:rPr lang="en-US" dirty="0" smtClean="0"/>
              <a:t>Onset </a:t>
            </a:r>
            <a:r>
              <a:rPr lang="en-US" dirty="0"/>
              <a:t>→ insidious </a:t>
            </a:r>
          </a:p>
          <a:p>
            <a:r>
              <a:rPr lang="en-US" dirty="0" smtClean="0"/>
              <a:t>Altered </a:t>
            </a:r>
            <a:r>
              <a:rPr lang="en-US" dirty="0"/>
              <a:t>sleep (sleep daytime and awake at night) </a:t>
            </a:r>
          </a:p>
          <a:p>
            <a:r>
              <a:rPr lang="en-US" dirty="0" smtClean="0"/>
              <a:t>Eating </a:t>
            </a:r>
            <a:r>
              <a:rPr lang="en-US" dirty="0"/>
              <a:t>disturbance </a:t>
            </a:r>
          </a:p>
          <a:p>
            <a:r>
              <a:rPr lang="en-US" dirty="0" smtClean="0"/>
              <a:t>Entirely </a:t>
            </a:r>
            <a:r>
              <a:rPr lang="en-US" dirty="0"/>
              <a:t>depend on others in severe cases. </a:t>
            </a:r>
          </a:p>
          <a:p>
            <a:endParaRPr lang="en-US" dirty="0"/>
          </a:p>
        </p:txBody>
      </p:sp>
    </p:spTree>
    <p:extLst>
      <p:ext uri="{BB962C8B-B14F-4D97-AF65-F5344CB8AC3E}">
        <p14:creationId xmlns:p14="http://schemas.microsoft.com/office/powerpoint/2010/main" val="219502016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Differential diagnosis </a:t>
            </a:r>
            <a:endParaRPr lang="en-US" dirty="0"/>
          </a:p>
        </p:txBody>
      </p:sp>
      <p:sp>
        <p:nvSpPr>
          <p:cNvPr id="3" name="Content Placeholder 2"/>
          <p:cNvSpPr>
            <a:spLocks noGrp="1"/>
          </p:cNvSpPr>
          <p:nvPr>
            <p:ph idx="1"/>
          </p:nvPr>
        </p:nvSpPr>
        <p:spPr/>
        <p:txBody>
          <a:bodyPr/>
          <a:lstStyle/>
          <a:p>
            <a:pPr marL="0" indent="0">
              <a:buNone/>
            </a:pPr>
            <a:r>
              <a:rPr lang="en-US" dirty="0"/>
              <a:t>Initial stages: </a:t>
            </a:r>
          </a:p>
          <a:p>
            <a:r>
              <a:rPr lang="en-US" dirty="0" smtClean="0"/>
              <a:t>depression </a:t>
            </a:r>
            <a:r>
              <a:rPr lang="en-US" dirty="0"/>
              <a:t>(</a:t>
            </a:r>
            <a:r>
              <a:rPr lang="en-US" dirty="0" err="1"/>
              <a:t>pseudodementia</a:t>
            </a:r>
            <a:r>
              <a:rPr lang="en-US" dirty="0"/>
              <a:t>) </a:t>
            </a:r>
          </a:p>
          <a:p>
            <a:r>
              <a:rPr lang="en-US" dirty="0" smtClean="0"/>
              <a:t>delirium </a:t>
            </a:r>
            <a:endParaRPr lang="en-US" dirty="0"/>
          </a:p>
          <a:p>
            <a:r>
              <a:rPr lang="en-US" dirty="0" smtClean="0"/>
              <a:t>psychosis </a:t>
            </a:r>
            <a:r>
              <a:rPr lang="en-US" dirty="0"/>
              <a:t>(schizophrenia) </a:t>
            </a:r>
          </a:p>
          <a:p>
            <a:r>
              <a:rPr lang="en-US" dirty="0" smtClean="0"/>
              <a:t>organic </a:t>
            </a:r>
            <a:r>
              <a:rPr lang="en-US" dirty="0"/>
              <a:t>conditions (hypothyroidism) </a:t>
            </a:r>
          </a:p>
          <a:p>
            <a:endParaRPr lang="en-US" dirty="0"/>
          </a:p>
        </p:txBody>
      </p:sp>
    </p:spTree>
    <p:extLst>
      <p:ext uri="{BB962C8B-B14F-4D97-AF65-F5344CB8AC3E}">
        <p14:creationId xmlns:p14="http://schemas.microsoft.com/office/powerpoint/2010/main" val="323246255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b="1" dirty="0"/>
              <a:t>Subcategories of dementia based on causes </a:t>
            </a:r>
            <a:endParaRPr lang="en-US" dirty="0"/>
          </a:p>
        </p:txBody>
      </p:sp>
      <p:sp>
        <p:nvSpPr>
          <p:cNvPr id="3" name="Content Placeholder 2"/>
          <p:cNvSpPr>
            <a:spLocks noGrp="1"/>
          </p:cNvSpPr>
          <p:nvPr>
            <p:ph idx="1"/>
          </p:nvPr>
        </p:nvSpPr>
        <p:spPr>
          <a:xfrm>
            <a:off x="457200" y="1295400"/>
            <a:ext cx="8229600" cy="5410200"/>
          </a:xfrm>
        </p:spPr>
        <p:txBody>
          <a:bodyPr>
            <a:normAutofit fontScale="85000" lnSpcReduction="20000"/>
          </a:bodyPr>
          <a:lstStyle/>
          <a:p>
            <a:endParaRPr lang="en-US" dirty="0"/>
          </a:p>
          <a:p>
            <a:pPr marL="0" indent="0">
              <a:buNone/>
            </a:pPr>
            <a:r>
              <a:rPr lang="en-US" dirty="0" smtClean="0"/>
              <a:t>1. Dementia </a:t>
            </a:r>
            <a:r>
              <a:rPr lang="en-US" dirty="0"/>
              <a:t>of the Alzheimer’s types </a:t>
            </a:r>
          </a:p>
          <a:p>
            <a:pPr marL="0" indent="0">
              <a:buNone/>
            </a:pPr>
            <a:r>
              <a:rPr lang="en-US" dirty="0" smtClean="0"/>
              <a:t>	Usually </a:t>
            </a:r>
            <a:r>
              <a:rPr lang="en-US" dirty="0"/>
              <a:t>in ages &gt;65years, degenerative dementia </a:t>
            </a:r>
          </a:p>
          <a:p>
            <a:pPr marL="0" indent="0">
              <a:buNone/>
            </a:pPr>
            <a:r>
              <a:rPr lang="en-US" dirty="0" smtClean="0"/>
              <a:t>	Manifested </a:t>
            </a:r>
            <a:r>
              <a:rPr lang="en-US" dirty="0"/>
              <a:t>by progressive intellectual disorientation, delusion </a:t>
            </a:r>
            <a:r>
              <a:rPr lang="en-US" dirty="0" smtClean="0"/>
              <a:t>	and </a:t>
            </a:r>
            <a:r>
              <a:rPr lang="en-US" dirty="0"/>
              <a:t>depression. </a:t>
            </a:r>
          </a:p>
          <a:p>
            <a:pPr marL="0" indent="0">
              <a:buNone/>
            </a:pPr>
            <a:r>
              <a:rPr lang="en-US" dirty="0"/>
              <a:t>2. Vascular dementia →caused by vessel thrombosis or hemorrhage ( </a:t>
            </a:r>
            <a:r>
              <a:rPr lang="en-US" dirty="0" err="1"/>
              <a:t>multifarct</a:t>
            </a:r>
            <a:r>
              <a:rPr lang="en-US" dirty="0"/>
              <a:t> dementia) </a:t>
            </a:r>
          </a:p>
          <a:p>
            <a:pPr marL="0" indent="0">
              <a:buNone/>
            </a:pPr>
            <a:r>
              <a:rPr lang="en-US" dirty="0"/>
              <a:t>	</a:t>
            </a:r>
            <a:r>
              <a:rPr lang="en-US" dirty="0" smtClean="0"/>
              <a:t>Other </a:t>
            </a:r>
            <a:r>
              <a:rPr lang="en-US" dirty="0"/>
              <a:t>medical condition; HIV, head trauma, pick’s decease, </a:t>
            </a:r>
            <a:r>
              <a:rPr lang="en-US" dirty="0" smtClean="0"/>
              <a:t>	</a:t>
            </a:r>
            <a:r>
              <a:rPr lang="en-US" dirty="0" err="1" smtClean="0"/>
              <a:t>creutzfeldt</a:t>
            </a:r>
            <a:r>
              <a:rPr lang="en-US" dirty="0" smtClean="0"/>
              <a:t> </a:t>
            </a:r>
            <a:r>
              <a:rPr lang="en-US" dirty="0"/>
              <a:t>-</a:t>
            </a:r>
            <a:r>
              <a:rPr lang="en-US" dirty="0" err="1"/>
              <a:t>jakob</a:t>
            </a:r>
            <a:r>
              <a:rPr lang="en-US" dirty="0"/>
              <a:t> disease (caused by slow growing </a:t>
            </a:r>
            <a:r>
              <a:rPr lang="en-US" dirty="0" smtClean="0"/>
              <a:t>	transmittable </a:t>
            </a:r>
            <a:r>
              <a:rPr lang="en-US" dirty="0"/>
              <a:t>virus) </a:t>
            </a:r>
            <a:endParaRPr lang="en-US" dirty="0" smtClean="0"/>
          </a:p>
          <a:p>
            <a:pPr marL="0" indent="0">
              <a:buNone/>
            </a:pPr>
            <a:r>
              <a:rPr lang="en-US" dirty="0" smtClean="0"/>
              <a:t>3</a:t>
            </a:r>
            <a:r>
              <a:rPr lang="en-US" dirty="0"/>
              <a:t>. Substance induced dementia </a:t>
            </a:r>
            <a:endParaRPr lang="en-US" dirty="0" smtClean="0"/>
          </a:p>
          <a:p>
            <a:pPr marL="0" indent="0">
              <a:buNone/>
            </a:pPr>
            <a:r>
              <a:rPr lang="en-US" dirty="0" smtClean="0"/>
              <a:t>4</a:t>
            </a:r>
            <a:r>
              <a:rPr lang="en-US" dirty="0"/>
              <a:t>. Multiple etiologies dementia </a:t>
            </a:r>
          </a:p>
          <a:p>
            <a:pPr marL="0" indent="0">
              <a:buNone/>
            </a:pPr>
            <a:r>
              <a:rPr lang="en-US" dirty="0"/>
              <a:t>5. Dementia not otherwise specified </a:t>
            </a:r>
          </a:p>
          <a:p>
            <a:endParaRPr lang="en-US" dirty="0"/>
          </a:p>
        </p:txBody>
      </p:sp>
    </p:spTree>
    <p:extLst>
      <p:ext uri="{BB962C8B-B14F-4D97-AF65-F5344CB8AC3E}">
        <p14:creationId xmlns:p14="http://schemas.microsoft.com/office/powerpoint/2010/main" val="214055075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b="1" dirty="0" smtClean="0"/>
              <a:t>Causes</a:t>
            </a:r>
            <a:r>
              <a:rPr lang="en-US" b="1" dirty="0"/>
              <a:t> </a:t>
            </a:r>
            <a:r>
              <a:rPr lang="en-US" b="1" dirty="0" smtClean="0"/>
              <a:t> </a:t>
            </a:r>
            <a:r>
              <a:rPr lang="en-US" dirty="0"/>
              <a:t>(reduced Arch levels) </a:t>
            </a:r>
          </a:p>
        </p:txBody>
      </p:sp>
      <p:sp>
        <p:nvSpPr>
          <p:cNvPr id="3" name="Content Placeholder 2"/>
          <p:cNvSpPr>
            <a:spLocks noGrp="1"/>
          </p:cNvSpPr>
          <p:nvPr>
            <p:ph idx="1"/>
          </p:nvPr>
        </p:nvSpPr>
        <p:spPr>
          <a:xfrm>
            <a:off x="457200" y="914400"/>
            <a:ext cx="8229600" cy="5791200"/>
          </a:xfrm>
        </p:spPr>
        <p:txBody>
          <a:bodyPr>
            <a:normAutofit fontScale="77500" lnSpcReduction="20000"/>
          </a:bodyPr>
          <a:lstStyle/>
          <a:p>
            <a:endParaRPr lang="en-US" dirty="0"/>
          </a:p>
          <a:p>
            <a:r>
              <a:rPr lang="en-US" dirty="0"/>
              <a:t>Alzheimer’s disease →primary degenerative dementia of Alzheimer’s type (most common) </a:t>
            </a:r>
          </a:p>
          <a:p>
            <a:r>
              <a:rPr lang="en-US" dirty="0" smtClean="0"/>
              <a:t>Picks </a:t>
            </a:r>
            <a:r>
              <a:rPr lang="en-US" dirty="0"/>
              <a:t>dose (neurological disease) </a:t>
            </a:r>
          </a:p>
          <a:p>
            <a:r>
              <a:rPr lang="en-US" dirty="0" smtClean="0"/>
              <a:t>Infections </a:t>
            </a:r>
            <a:r>
              <a:rPr lang="en-US" dirty="0"/>
              <a:t>of CNS →tertiary syphilis, T.B, fungal meningitis, HIV </a:t>
            </a:r>
          </a:p>
          <a:p>
            <a:r>
              <a:rPr lang="en-US" dirty="0" smtClean="0"/>
              <a:t>Encephalopathy </a:t>
            </a:r>
            <a:endParaRPr lang="en-US" dirty="0"/>
          </a:p>
          <a:p>
            <a:r>
              <a:rPr lang="en-US" dirty="0" smtClean="0"/>
              <a:t>Vascular </a:t>
            </a:r>
            <a:r>
              <a:rPr lang="en-US" dirty="0"/>
              <a:t>dementia →(</a:t>
            </a:r>
            <a:r>
              <a:rPr lang="en-US" dirty="0" err="1"/>
              <a:t>multifarct</a:t>
            </a:r>
            <a:r>
              <a:rPr lang="en-US" dirty="0"/>
              <a:t> dementia) </a:t>
            </a:r>
          </a:p>
          <a:p>
            <a:r>
              <a:rPr lang="en-US" dirty="0" smtClean="0"/>
              <a:t>Toxic </a:t>
            </a:r>
            <a:r>
              <a:rPr lang="en-US" dirty="0"/>
              <a:t>metabolic disturbance →pernicious B12 anemia, folic acid deficiency, hypothyroidism, bromide intoxication. </a:t>
            </a:r>
          </a:p>
          <a:p>
            <a:r>
              <a:rPr lang="en-US" dirty="0" smtClean="0"/>
              <a:t>Normal </a:t>
            </a:r>
            <a:r>
              <a:rPr lang="en-US" dirty="0"/>
              <a:t>pressure hydrocephalus </a:t>
            </a:r>
          </a:p>
          <a:p>
            <a:r>
              <a:rPr lang="en-US" dirty="0" smtClean="0"/>
              <a:t>Neurological </a:t>
            </a:r>
            <a:r>
              <a:rPr lang="en-US" dirty="0"/>
              <a:t>dose (</a:t>
            </a:r>
            <a:r>
              <a:rPr lang="en-US" dirty="0" err="1"/>
              <a:t>huntington’s</a:t>
            </a:r>
            <a:r>
              <a:rPr lang="en-US" dirty="0"/>
              <a:t> chorea, multiple sclerosis picks dose </a:t>
            </a:r>
          </a:p>
          <a:p>
            <a:r>
              <a:rPr lang="es-ES" dirty="0" err="1" smtClean="0"/>
              <a:t>Vitamin</a:t>
            </a:r>
            <a:r>
              <a:rPr lang="es-ES" dirty="0" smtClean="0"/>
              <a:t> </a:t>
            </a:r>
            <a:r>
              <a:rPr lang="es-ES" dirty="0" err="1"/>
              <a:t>deficiency</a:t>
            </a:r>
            <a:r>
              <a:rPr lang="es-ES" dirty="0"/>
              <a:t> →B12, </a:t>
            </a:r>
            <a:r>
              <a:rPr lang="es-ES" dirty="0" err="1"/>
              <a:t>folate</a:t>
            </a:r>
            <a:r>
              <a:rPr lang="es-ES" dirty="0"/>
              <a:t> </a:t>
            </a:r>
            <a:r>
              <a:rPr lang="es-ES" dirty="0" err="1"/>
              <a:t>deficiencies</a:t>
            </a:r>
            <a:r>
              <a:rPr lang="es-ES" dirty="0"/>
              <a:t> </a:t>
            </a:r>
          </a:p>
          <a:p>
            <a:r>
              <a:rPr lang="en-US" dirty="0" smtClean="0"/>
              <a:t>Hypertension </a:t>
            </a:r>
            <a:endParaRPr lang="en-US" dirty="0"/>
          </a:p>
          <a:p>
            <a:endParaRPr lang="en-US" dirty="0"/>
          </a:p>
        </p:txBody>
      </p:sp>
    </p:spTree>
    <p:extLst>
      <p:ext uri="{BB962C8B-B14F-4D97-AF65-F5344CB8AC3E}">
        <p14:creationId xmlns:p14="http://schemas.microsoft.com/office/powerpoint/2010/main" val="353764383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Investigations </a:t>
            </a:r>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endParaRPr lang="en-US" dirty="0"/>
          </a:p>
          <a:p>
            <a:r>
              <a:rPr lang="en-US" dirty="0"/>
              <a:t>Brain biopsy in postmortem to RULE OUT other causes. </a:t>
            </a:r>
          </a:p>
          <a:p>
            <a:r>
              <a:rPr lang="en-US" dirty="0" smtClean="0"/>
              <a:t>Blood </a:t>
            </a:r>
            <a:r>
              <a:rPr lang="en-US" dirty="0"/>
              <a:t>slide, total blood count, chest </a:t>
            </a:r>
            <a:r>
              <a:rPr lang="en-US" dirty="0" err="1"/>
              <a:t>characteray</a:t>
            </a:r>
            <a:r>
              <a:rPr lang="en-US" dirty="0"/>
              <a:t>, thyroid function, VDRL </a:t>
            </a:r>
          </a:p>
          <a:p>
            <a:r>
              <a:rPr lang="en-US" dirty="0" smtClean="0"/>
              <a:t>Other </a:t>
            </a:r>
            <a:r>
              <a:rPr lang="en-US" dirty="0"/>
              <a:t>metabolic disorders Rule out by physical findings. </a:t>
            </a:r>
          </a:p>
          <a:p>
            <a:r>
              <a:rPr lang="en-US" dirty="0" smtClean="0"/>
              <a:t>Obvious </a:t>
            </a:r>
            <a:r>
              <a:rPr lang="en-US" dirty="0"/>
              <a:t>neurological expression </a:t>
            </a:r>
          </a:p>
          <a:p>
            <a:r>
              <a:rPr lang="en-US" dirty="0" smtClean="0"/>
              <a:t>CT </a:t>
            </a:r>
            <a:r>
              <a:rPr lang="en-US" dirty="0"/>
              <a:t>scan (calcification) MRI scan (space occupying lesions) </a:t>
            </a:r>
          </a:p>
          <a:p>
            <a:r>
              <a:rPr lang="en-US" dirty="0" smtClean="0"/>
              <a:t>PET </a:t>
            </a:r>
            <a:r>
              <a:rPr lang="en-US" dirty="0"/>
              <a:t>scan (show brain function →hyperactivity or hypo-activity. </a:t>
            </a:r>
          </a:p>
          <a:p>
            <a:endParaRPr lang="en-US" dirty="0"/>
          </a:p>
        </p:txBody>
      </p:sp>
    </p:spTree>
    <p:extLst>
      <p:ext uri="{BB962C8B-B14F-4D97-AF65-F5344CB8AC3E}">
        <p14:creationId xmlns:p14="http://schemas.microsoft.com/office/powerpoint/2010/main" val="420395298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Management </a:t>
            </a:r>
            <a:endParaRPr lang="en-US" dirty="0"/>
          </a:p>
        </p:txBody>
      </p:sp>
      <p:sp>
        <p:nvSpPr>
          <p:cNvPr id="3" name="Content Placeholder 2"/>
          <p:cNvSpPr>
            <a:spLocks noGrp="1"/>
          </p:cNvSpPr>
          <p:nvPr>
            <p:ph idx="1"/>
          </p:nvPr>
        </p:nvSpPr>
        <p:spPr>
          <a:xfrm>
            <a:off x="457200" y="914400"/>
            <a:ext cx="8229600" cy="5715000"/>
          </a:xfrm>
        </p:spPr>
        <p:txBody>
          <a:bodyPr>
            <a:normAutofit fontScale="77500" lnSpcReduction="20000"/>
          </a:bodyPr>
          <a:lstStyle/>
          <a:p>
            <a:pPr marL="0" indent="0">
              <a:buNone/>
            </a:pPr>
            <a:r>
              <a:rPr lang="en-US" dirty="0"/>
              <a:t>The 1st step is verification of diagnosis for accuracy diagnosis. </a:t>
            </a:r>
          </a:p>
          <a:p>
            <a:r>
              <a:rPr lang="en-US" dirty="0" smtClean="0"/>
              <a:t>Preventive </a:t>
            </a:r>
            <a:r>
              <a:rPr lang="en-US" dirty="0"/>
              <a:t>measures especially in vascular dementia </a:t>
            </a:r>
            <a:r>
              <a:rPr lang="en-US" dirty="0" err="1"/>
              <a:t>e.g</a:t>
            </a:r>
            <a:r>
              <a:rPr lang="en-US" dirty="0"/>
              <a:t>; </a:t>
            </a:r>
          </a:p>
          <a:p>
            <a:r>
              <a:rPr lang="en-US" dirty="0" smtClean="0"/>
              <a:t>Diet </a:t>
            </a:r>
            <a:endParaRPr lang="en-US" dirty="0"/>
          </a:p>
          <a:p>
            <a:r>
              <a:rPr lang="en-US" dirty="0" smtClean="0"/>
              <a:t>Exercise </a:t>
            </a:r>
            <a:endParaRPr lang="en-US" dirty="0"/>
          </a:p>
          <a:p>
            <a:r>
              <a:rPr lang="en-US" dirty="0" smtClean="0"/>
              <a:t>Treat </a:t>
            </a:r>
            <a:r>
              <a:rPr lang="en-US" dirty="0"/>
              <a:t>diabetes </a:t>
            </a:r>
          </a:p>
          <a:p>
            <a:r>
              <a:rPr lang="en-US" dirty="0" smtClean="0"/>
              <a:t>Treat </a:t>
            </a:r>
            <a:r>
              <a:rPr lang="en-US" dirty="0"/>
              <a:t>hypertension. </a:t>
            </a:r>
          </a:p>
          <a:p>
            <a:r>
              <a:rPr lang="en-US" dirty="0" smtClean="0"/>
              <a:t>General </a:t>
            </a:r>
            <a:r>
              <a:rPr lang="en-US" dirty="0"/>
              <a:t>Nursing care, use of medication. </a:t>
            </a:r>
          </a:p>
          <a:p>
            <a:r>
              <a:rPr lang="en-US" dirty="0" smtClean="0"/>
              <a:t>Give </a:t>
            </a:r>
            <a:r>
              <a:rPr lang="en-US" dirty="0"/>
              <a:t>sedatives for abnormal sleep patterns </a:t>
            </a:r>
          </a:p>
          <a:p>
            <a:r>
              <a:rPr lang="en-US" dirty="0" smtClean="0"/>
              <a:t>Avoid </a:t>
            </a:r>
            <a:r>
              <a:rPr lang="en-US" dirty="0" err="1"/>
              <a:t>benzodiazepins</a:t>
            </a:r>
            <a:r>
              <a:rPr lang="en-US" dirty="0"/>
              <a:t> in elderly as they cause increased confusion. </a:t>
            </a:r>
          </a:p>
          <a:p>
            <a:r>
              <a:rPr lang="en-US" dirty="0" smtClean="0"/>
              <a:t>Admit </a:t>
            </a:r>
            <a:r>
              <a:rPr lang="en-US" dirty="0"/>
              <a:t>patient, care for relatives (care givers) psychological disturbance. </a:t>
            </a:r>
          </a:p>
          <a:p>
            <a:r>
              <a:rPr lang="en-US" dirty="0" smtClean="0"/>
              <a:t>Part-time </a:t>
            </a:r>
            <a:r>
              <a:rPr lang="en-US" dirty="0"/>
              <a:t>admission (daytime), day care nursing in the home by hiring nurses </a:t>
            </a:r>
          </a:p>
          <a:p>
            <a:endParaRPr lang="en-US" dirty="0"/>
          </a:p>
        </p:txBody>
      </p:sp>
    </p:spTree>
    <p:extLst>
      <p:ext uri="{BB962C8B-B14F-4D97-AF65-F5344CB8AC3E}">
        <p14:creationId xmlns:p14="http://schemas.microsoft.com/office/powerpoint/2010/main" val="26312719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Rx –drugs </a:t>
            </a:r>
            <a:endParaRPr lang="en-US" dirty="0"/>
          </a:p>
        </p:txBody>
      </p:sp>
      <p:sp>
        <p:nvSpPr>
          <p:cNvPr id="3" name="Content Placeholder 2"/>
          <p:cNvSpPr>
            <a:spLocks noGrp="1"/>
          </p:cNvSpPr>
          <p:nvPr>
            <p:ph idx="1"/>
          </p:nvPr>
        </p:nvSpPr>
        <p:spPr>
          <a:xfrm>
            <a:off x="457200" y="914400"/>
            <a:ext cx="8229600" cy="5562600"/>
          </a:xfrm>
        </p:spPr>
        <p:txBody>
          <a:bodyPr>
            <a:normAutofit fontScale="85000" lnSpcReduction="10000"/>
          </a:bodyPr>
          <a:lstStyle/>
          <a:p>
            <a:endParaRPr lang="en-US" dirty="0"/>
          </a:p>
          <a:p>
            <a:r>
              <a:rPr lang="en-US" dirty="0"/>
              <a:t>Treat the cause e.g. syphilis, B12 folate deficiency. </a:t>
            </a:r>
          </a:p>
          <a:p>
            <a:r>
              <a:rPr lang="en-US" dirty="0" smtClean="0"/>
              <a:t>Acetyl </a:t>
            </a:r>
            <a:r>
              <a:rPr lang="en-US" dirty="0"/>
              <a:t>cholinesterase inhibitors to increase Ach levels though it cause hepatotoxicity. </a:t>
            </a:r>
          </a:p>
          <a:p>
            <a:r>
              <a:rPr lang="en-US" dirty="0" err="1" smtClean="0"/>
              <a:t>Antihypertensives</a:t>
            </a:r>
            <a:r>
              <a:rPr lang="en-US" dirty="0" smtClean="0"/>
              <a:t> </a:t>
            </a:r>
            <a:r>
              <a:rPr lang="en-US" dirty="0"/>
              <a:t>(use antidiuretics), anticoagulants, antiplatelet agents depending on cause. </a:t>
            </a:r>
          </a:p>
          <a:p>
            <a:r>
              <a:rPr lang="en-US" dirty="0" smtClean="0"/>
              <a:t>BP </a:t>
            </a:r>
            <a:r>
              <a:rPr lang="en-US" dirty="0"/>
              <a:t>control improves cognitive function in patients with vascular dementia. </a:t>
            </a:r>
            <a:endParaRPr lang="en-US" dirty="0" smtClean="0"/>
          </a:p>
          <a:p>
            <a:r>
              <a:rPr lang="en-US" dirty="0"/>
              <a:t>NB:</a:t>
            </a:r>
          </a:p>
          <a:p>
            <a:r>
              <a:rPr lang="en-US" dirty="0" smtClean="0"/>
              <a:t>β- </a:t>
            </a:r>
            <a:r>
              <a:rPr lang="en-US" dirty="0"/>
              <a:t>Blockers increase cognitive impairment</a:t>
            </a:r>
            <a:r>
              <a:rPr lang="en-US" dirty="0" smtClean="0"/>
              <a:t>.</a:t>
            </a:r>
            <a:endParaRPr lang="en-US" dirty="0"/>
          </a:p>
          <a:p>
            <a:r>
              <a:rPr lang="en-US" dirty="0"/>
              <a:t>Provide supportive medical care, emotional support for patients and families, pharmacological treatment for specific s/s including disruptive behavior </a:t>
            </a:r>
          </a:p>
          <a:p>
            <a:endParaRPr lang="en-US" dirty="0"/>
          </a:p>
          <a:p>
            <a:endParaRPr lang="en-US" dirty="0"/>
          </a:p>
        </p:txBody>
      </p:sp>
    </p:spTree>
    <p:extLst>
      <p:ext uri="{BB962C8B-B14F-4D97-AF65-F5344CB8AC3E}">
        <p14:creationId xmlns:p14="http://schemas.microsoft.com/office/powerpoint/2010/main" val="89003864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err="1" smtClean="0"/>
              <a:t>Mx</a:t>
            </a:r>
            <a:r>
              <a:rPr lang="en-US" dirty="0" smtClean="0"/>
              <a:t> </a:t>
            </a:r>
            <a:endParaRPr lang="en-US" dirty="0"/>
          </a:p>
        </p:txBody>
      </p:sp>
      <p:sp>
        <p:nvSpPr>
          <p:cNvPr id="3" name="Content Placeholder 2"/>
          <p:cNvSpPr>
            <a:spLocks noGrp="1"/>
          </p:cNvSpPr>
          <p:nvPr>
            <p:ph idx="1"/>
          </p:nvPr>
        </p:nvSpPr>
        <p:spPr>
          <a:xfrm>
            <a:off x="457200" y="838200"/>
            <a:ext cx="8229600" cy="5287963"/>
          </a:xfrm>
        </p:spPr>
        <p:txBody>
          <a:bodyPr>
            <a:normAutofit/>
          </a:bodyPr>
          <a:lstStyle/>
          <a:p>
            <a:r>
              <a:rPr lang="en-US" b="1" dirty="0"/>
              <a:t>Psychological therapies </a:t>
            </a:r>
            <a:endParaRPr lang="en-US" dirty="0"/>
          </a:p>
          <a:p>
            <a:r>
              <a:rPr lang="en-US" dirty="0" smtClean="0"/>
              <a:t>Recent </a:t>
            </a:r>
            <a:r>
              <a:rPr lang="en-US" dirty="0"/>
              <a:t>memory is lost before remote hence distress, hence give supportive and educational psycho therapy and explaining the nature and course of the illness. Assist them to accept the extent of their disability. </a:t>
            </a:r>
          </a:p>
          <a:p>
            <a:r>
              <a:rPr lang="en-US" dirty="0" smtClean="0"/>
              <a:t>Give </a:t>
            </a:r>
            <a:r>
              <a:rPr lang="en-US" dirty="0"/>
              <a:t>calendars for orientation; give note book for taking notes for memory </a:t>
            </a:r>
            <a:r>
              <a:rPr lang="en-US" dirty="0" smtClean="0"/>
              <a:t>problems.</a:t>
            </a:r>
          </a:p>
          <a:p>
            <a:r>
              <a:rPr lang="en-US" dirty="0" smtClean="0"/>
              <a:t>psychotherapy </a:t>
            </a:r>
            <a:r>
              <a:rPr lang="en-US" dirty="0"/>
              <a:t>(psychodynamic Interventions) explains the progress and course of the dose. </a:t>
            </a:r>
          </a:p>
        </p:txBody>
      </p:sp>
    </p:spTree>
    <p:extLst>
      <p:ext uri="{BB962C8B-B14F-4D97-AF65-F5344CB8AC3E}">
        <p14:creationId xmlns:p14="http://schemas.microsoft.com/office/powerpoint/2010/main" val="424216149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err="1" smtClean="0"/>
              <a:t>Mx</a:t>
            </a:r>
            <a:r>
              <a:rPr lang="en-US" dirty="0" smtClean="0"/>
              <a:t> </a:t>
            </a:r>
            <a:endParaRPr lang="en-US" dirty="0"/>
          </a:p>
        </p:txBody>
      </p:sp>
      <p:sp>
        <p:nvSpPr>
          <p:cNvPr id="3" name="Content Placeholder 2"/>
          <p:cNvSpPr>
            <a:spLocks noGrp="1"/>
          </p:cNvSpPr>
          <p:nvPr>
            <p:ph idx="1"/>
          </p:nvPr>
        </p:nvSpPr>
        <p:spPr>
          <a:xfrm>
            <a:off x="457200" y="914400"/>
            <a:ext cx="8229600" cy="5943600"/>
          </a:xfrm>
        </p:spPr>
        <p:txBody>
          <a:bodyPr>
            <a:normAutofit fontScale="92500" lnSpcReduction="10000"/>
          </a:bodyPr>
          <a:lstStyle/>
          <a:p>
            <a:endParaRPr lang="en-US" dirty="0"/>
          </a:p>
          <a:p>
            <a:r>
              <a:rPr lang="en-US" dirty="0"/>
              <a:t>Insomnia →benzo </a:t>
            </a:r>
            <a:r>
              <a:rPr lang="en-US" dirty="0" err="1"/>
              <a:t>diazepines</a:t>
            </a:r>
            <a:r>
              <a:rPr lang="en-US" dirty="0"/>
              <a:t> </a:t>
            </a:r>
            <a:r>
              <a:rPr lang="en-US" dirty="0" smtClean="0"/>
              <a:t>benzodiazepines  </a:t>
            </a:r>
            <a:endParaRPr lang="en-US" dirty="0"/>
          </a:p>
          <a:p>
            <a:r>
              <a:rPr lang="en-US" dirty="0" smtClean="0"/>
              <a:t>Anxiety </a:t>
            </a:r>
            <a:r>
              <a:rPr lang="en-US" dirty="0"/>
              <a:t>→</a:t>
            </a:r>
            <a:r>
              <a:rPr lang="en-US" dirty="0" smtClean="0"/>
              <a:t>benzodiazepines</a:t>
            </a:r>
          </a:p>
          <a:p>
            <a:r>
              <a:rPr lang="en-US" dirty="0" smtClean="0">
                <a:solidFill>
                  <a:srgbClr val="FF0000"/>
                </a:solidFill>
              </a:rPr>
              <a:t>Note : avoid benzodiazepines in elderly  </a:t>
            </a:r>
            <a:endParaRPr lang="en-US" dirty="0">
              <a:solidFill>
                <a:srgbClr val="FF0000"/>
              </a:solidFill>
            </a:endParaRPr>
          </a:p>
          <a:p>
            <a:r>
              <a:rPr lang="en-US" dirty="0" smtClean="0"/>
              <a:t>Psychosis </a:t>
            </a:r>
            <a:r>
              <a:rPr lang="en-US" dirty="0"/>
              <a:t>(delusions and hallucinations especially visual) →haloperidol </a:t>
            </a:r>
          </a:p>
          <a:p>
            <a:r>
              <a:rPr lang="en-US" dirty="0" smtClean="0"/>
              <a:t>Avoid </a:t>
            </a:r>
            <a:r>
              <a:rPr lang="en-US" dirty="0"/>
              <a:t>anticholinergics as increased Ach increases memory </a:t>
            </a:r>
          </a:p>
          <a:p>
            <a:r>
              <a:rPr lang="en-US" dirty="0" smtClean="0"/>
              <a:t>Give </a:t>
            </a:r>
            <a:r>
              <a:rPr lang="en-US" dirty="0"/>
              <a:t>Cholinesterase inhibitors (donepezil, </a:t>
            </a:r>
            <a:r>
              <a:rPr lang="en-US" dirty="0" err="1"/>
              <a:t>galantamine</a:t>
            </a:r>
            <a:r>
              <a:rPr lang="en-US" dirty="0"/>
              <a:t> to increase Ach) to Treat mild to moderate cognitive impairment in Alzheimer’s disease. </a:t>
            </a:r>
          </a:p>
          <a:p>
            <a:endParaRPr lang="en-US" dirty="0"/>
          </a:p>
        </p:txBody>
      </p:sp>
    </p:spTree>
    <p:extLst>
      <p:ext uri="{BB962C8B-B14F-4D97-AF65-F5344CB8AC3E}">
        <p14:creationId xmlns:p14="http://schemas.microsoft.com/office/powerpoint/2010/main" val="310667703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Alzheimers</a:t>
            </a:r>
            <a:r>
              <a:rPr lang="en-US" dirty="0" smtClean="0"/>
              <a:t> dx </a:t>
            </a:r>
            <a:endParaRPr lang="en-US" dirty="0"/>
          </a:p>
        </p:txBody>
      </p:sp>
      <p:sp>
        <p:nvSpPr>
          <p:cNvPr id="3" name="Content Placeholder 2"/>
          <p:cNvSpPr>
            <a:spLocks noGrp="1"/>
          </p:cNvSpPr>
          <p:nvPr>
            <p:ph idx="1"/>
          </p:nvPr>
        </p:nvSpPr>
        <p:spPr/>
        <p:txBody>
          <a:bodyPr>
            <a:normAutofit/>
          </a:bodyPr>
          <a:lstStyle/>
          <a:p>
            <a:r>
              <a:rPr lang="pt-BR" b="1" dirty="0" smtClean="0"/>
              <a:t>Read on alzheimers dx </a:t>
            </a:r>
            <a:endParaRPr lang="pt-BR" b="1" dirty="0"/>
          </a:p>
          <a:p>
            <a:r>
              <a:rPr lang="pt-BR" b="1" dirty="0" smtClean="0"/>
              <a:t>Alzheimer’s </a:t>
            </a:r>
            <a:r>
              <a:rPr lang="pt-BR" b="1" dirty="0"/>
              <a:t>dementia (a degenerative dementia) </a:t>
            </a:r>
            <a:endParaRPr lang="pt-BR" dirty="0"/>
          </a:p>
          <a:p>
            <a:r>
              <a:rPr lang="en-US" dirty="0"/>
              <a:t>diagnosed by </a:t>
            </a:r>
            <a:r>
              <a:rPr lang="en-US" dirty="0" err="1"/>
              <a:t>Alois</a:t>
            </a:r>
            <a:r>
              <a:rPr lang="en-US" dirty="0"/>
              <a:t> Alzheimer. </a:t>
            </a:r>
          </a:p>
          <a:p>
            <a:r>
              <a:rPr lang="en-US" dirty="0" smtClean="0"/>
              <a:t>Diagnosis </a:t>
            </a:r>
            <a:r>
              <a:rPr lang="en-US" dirty="0"/>
              <a:t>→based on a neuropathological examination of the brain</a:t>
            </a:r>
            <a:r>
              <a:rPr lang="en-US" dirty="0" smtClean="0"/>
              <a:t>.</a:t>
            </a:r>
            <a:endParaRPr lang="en-US" dirty="0"/>
          </a:p>
        </p:txBody>
      </p:sp>
    </p:spTree>
    <p:extLst>
      <p:ext uri="{BB962C8B-B14F-4D97-AF65-F5344CB8AC3E}">
        <p14:creationId xmlns:p14="http://schemas.microsoft.com/office/powerpoint/2010/main" val="50900057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Etiology </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endParaRPr lang="en-US" dirty="0"/>
          </a:p>
          <a:p>
            <a:pPr marL="0" indent="0">
              <a:buNone/>
            </a:pPr>
            <a:r>
              <a:rPr lang="en-US" dirty="0"/>
              <a:t>Genetic factors </a:t>
            </a:r>
          </a:p>
          <a:p>
            <a:pPr marL="800100" lvl="2" indent="0">
              <a:buNone/>
            </a:pPr>
            <a:r>
              <a:rPr lang="en-US" dirty="0" smtClean="0"/>
              <a:t>43</a:t>
            </a:r>
            <a:r>
              <a:rPr lang="en-US" dirty="0"/>
              <a:t>% chance in monozygotic twin, </a:t>
            </a:r>
          </a:p>
          <a:p>
            <a:pPr marL="800100" lvl="2" indent="0">
              <a:buNone/>
            </a:pPr>
            <a:r>
              <a:rPr lang="en-US" dirty="0" smtClean="0"/>
              <a:t>8% </a:t>
            </a:r>
            <a:r>
              <a:rPr lang="en-US" dirty="0"/>
              <a:t>in </a:t>
            </a:r>
            <a:r>
              <a:rPr lang="en-US" dirty="0" err="1"/>
              <a:t>dizygotics</a:t>
            </a:r>
            <a:r>
              <a:rPr lang="en-US" dirty="0"/>
              <a:t> </a:t>
            </a:r>
          </a:p>
          <a:p>
            <a:pPr marL="800100" lvl="2" indent="0">
              <a:buNone/>
            </a:pPr>
            <a:r>
              <a:rPr lang="en-US" dirty="0" smtClean="0"/>
              <a:t>40</a:t>
            </a:r>
            <a:r>
              <a:rPr lang="en-US" dirty="0"/>
              <a:t>% of patients with dementia have family history of dementia. Dementia has linkage to chromosomes 1, 14, 21. </a:t>
            </a:r>
          </a:p>
          <a:p>
            <a:pPr marL="0" indent="0">
              <a:buNone/>
            </a:pPr>
            <a:r>
              <a:rPr lang="en-US" dirty="0" smtClean="0"/>
              <a:t>Amyloid </a:t>
            </a:r>
            <a:r>
              <a:rPr lang="en-US" dirty="0" err="1"/>
              <a:t>precussor</a:t>
            </a:r>
            <a:r>
              <a:rPr lang="en-US" dirty="0"/>
              <a:t> protein gene →in chromosome 21. </a:t>
            </a:r>
          </a:p>
          <a:p>
            <a:pPr marL="0" indent="0">
              <a:buNone/>
            </a:pPr>
            <a:r>
              <a:rPr lang="en-US" dirty="0" smtClean="0"/>
              <a:t>Multiple </a:t>
            </a:r>
            <a:r>
              <a:rPr lang="en-US" dirty="0"/>
              <a:t>E4 genes </a:t>
            </a:r>
          </a:p>
          <a:p>
            <a:pPr marL="0" indent="0">
              <a:buNone/>
            </a:pPr>
            <a:r>
              <a:rPr lang="en-US" dirty="0" smtClean="0"/>
              <a:t>Neuropathy </a:t>
            </a:r>
          </a:p>
          <a:p>
            <a:pPr marL="0" indent="0">
              <a:buNone/>
            </a:pPr>
            <a:r>
              <a:rPr lang="en-US" dirty="0" smtClean="0"/>
              <a:t>Diffuse atrophy with flattened cortical </a:t>
            </a:r>
            <a:r>
              <a:rPr lang="en-US" dirty="0" err="1" smtClean="0"/>
              <a:t>suici</a:t>
            </a:r>
            <a:r>
              <a:rPr lang="en-US" dirty="0" smtClean="0"/>
              <a:t> and enlarged cerebral ventricles. </a:t>
            </a:r>
            <a:endParaRPr lang="en-US" dirty="0"/>
          </a:p>
        </p:txBody>
      </p:sp>
    </p:spTree>
    <p:extLst>
      <p:ext uri="{BB962C8B-B14F-4D97-AF65-F5344CB8AC3E}">
        <p14:creationId xmlns:p14="http://schemas.microsoft.com/office/powerpoint/2010/main" val="129324161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AMNESTIC SY</a:t>
            </a:r>
            <a:r>
              <a:rPr lang="en-US" dirty="0"/>
              <a:t>NDROME</a:t>
            </a:r>
          </a:p>
        </p:txBody>
      </p:sp>
      <p:sp>
        <p:nvSpPr>
          <p:cNvPr id="3" name="Content Placeholder 2"/>
          <p:cNvSpPr>
            <a:spLocks noGrp="1"/>
          </p:cNvSpPr>
          <p:nvPr>
            <p:ph idx="1"/>
          </p:nvPr>
        </p:nvSpPr>
        <p:spPr/>
        <p:txBody>
          <a:bodyPr/>
          <a:lstStyle/>
          <a:p>
            <a:r>
              <a:rPr lang="en-US" dirty="0" smtClean="0"/>
              <a:t>Read on amnestic syndrome </a:t>
            </a:r>
          </a:p>
          <a:p>
            <a:pPr lvl="1"/>
            <a:r>
              <a:rPr lang="en-US" dirty="0" smtClean="0"/>
              <a:t>Causes</a:t>
            </a:r>
          </a:p>
          <a:p>
            <a:pPr lvl="1"/>
            <a:r>
              <a:rPr lang="en-US" dirty="0" smtClean="0"/>
              <a:t>Subtypes </a:t>
            </a:r>
          </a:p>
          <a:p>
            <a:pPr lvl="1"/>
            <a:r>
              <a:rPr lang="en-US" dirty="0" smtClean="0"/>
              <a:t>s/s </a:t>
            </a:r>
          </a:p>
          <a:p>
            <a:pPr lvl="1"/>
            <a:r>
              <a:rPr lang="en-US" dirty="0" err="1" smtClean="0"/>
              <a:t>Mx</a:t>
            </a:r>
            <a:r>
              <a:rPr lang="en-US" dirty="0" smtClean="0"/>
              <a:t> </a:t>
            </a:r>
          </a:p>
        </p:txBody>
      </p:sp>
    </p:spTree>
    <p:extLst>
      <p:ext uri="{BB962C8B-B14F-4D97-AF65-F5344CB8AC3E}">
        <p14:creationId xmlns:p14="http://schemas.microsoft.com/office/powerpoint/2010/main" val="165421356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PSYCHOACTIVE SUBSTANCE USE DISORDER </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dirty="0"/>
              <a:t>Drug- any substance that, when taken into the living organism, may modify one or more of its functions. </a:t>
            </a:r>
          </a:p>
          <a:p>
            <a:r>
              <a:rPr lang="en-US" dirty="0"/>
              <a:t>Substance related disorders- are disorders caused by the use of psychoactive substances in connection with traditional drugs of abuse e.g. alcohol, cocaine and heroin</a:t>
            </a:r>
            <a:r>
              <a:rPr lang="en-US" dirty="0" smtClean="0"/>
              <a:t>.</a:t>
            </a:r>
          </a:p>
          <a:p>
            <a:r>
              <a:rPr lang="en-US" dirty="0" smtClean="0"/>
              <a:t> </a:t>
            </a:r>
            <a:r>
              <a:rPr lang="en-US" dirty="0"/>
              <a:t>Psychiatric disorders can be caused by other substances like medication, environmental toxins [lead- delirium, carbon monoxide- delirium and amnesia] </a:t>
            </a:r>
          </a:p>
        </p:txBody>
      </p:sp>
    </p:spTree>
    <p:extLst>
      <p:ext uri="{BB962C8B-B14F-4D97-AF65-F5344CB8AC3E}">
        <p14:creationId xmlns:p14="http://schemas.microsoft.com/office/powerpoint/2010/main" val="325751255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substance use disorder </a:t>
            </a:r>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endParaRPr lang="en-US" dirty="0"/>
          </a:p>
          <a:p>
            <a:pPr>
              <a:buFont typeface="Wingdings" panose="05000000000000000000" pitchFamily="2" charset="2"/>
              <a:buChar char="ü"/>
            </a:pPr>
            <a:r>
              <a:rPr lang="en-US" dirty="0"/>
              <a:t>Substance abuse </a:t>
            </a:r>
          </a:p>
          <a:p>
            <a:pPr>
              <a:buFont typeface="Wingdings" panose="05000000000000000000" pitchFamily="2" charset="2"/>
              <a:buChar char="ü"/>
            </a:pPr>
            <a:r>
              <a:rPr lang="en-US" dirty="0" smtClean="0"/>
              <a:t>Tolerance </a:t>
            </a:r>
            <a:endParaRPr lang="en-US" dirty="0"/>
          </a:p>
          <a:p>
            <a:pPr>
              <a:buFont typeface="Wingdings" panose="05000000000000000000" pitchFamily="2" charset="2"/>
              <a:buChar char="ü"/>
            </a:pPr>
            <a:r>
              <a:rPr lang="en-US" dirty="0" smtClean="0"/>
              <a:t>Acute </a:t>
            </a:r>
            <a:r>
              <a:rPr lang="en-US" dirty="0"/>
              <a:t>intoxication </a:t>
            </a:r>
          </a:p>
          <a:p>
            <a:pPr>
              <a:buFont typeface="Wingdings" panose="05000000000000000000" pitchFamily="2" charset="2"/>
              <a:buChar char="ü"/>
            </a:pPr>
            <a:r>
              <a:rPr lang="en-US" dirty="0" smtClean="0"/>
              <a:t>Withdrawal </a:t>
            </a:r>
            <a:r>
              <a:rPr lang="en-US" dirty="0"/>
              <a:t>state </a:t>
            </a:r>
          </a:p>
          <a:p>
            <a:pPr>
              <a:buFont typeface="Wingdings" panose="05000000000000000000" pitchFamily="2" charset="2"/>
              <a:buChar char="ü"/>
            </a:pPr>
            <a:r>
              <a:rPr lang="en-US" dirty="0" smtClean="0"/>
              <a:t>Dependence </a:t>
            </a:r>
            <a:r>
              <a:rPr lang="en-US" dirty="0"/>
              <a:t>Syndrome </a:t>
            </a:r>
          </a:p>
          <a:p>
            <a:pPr marL="400050" lvl="1" indent="0">
              <a:buNone/>
            </a:pPr>
            <a:r>
              <a:rPr lang="en-US" dirty="0" smtClean="0"/>
              <a:t>NOTE : Substance </a:t>
            </a:r>
            <a:r>
              <a:rPr lang="en-US" dirty="0"/>
              <a:t>related disorders are: </a:t>
            </a:r>
          </a:p>
          <a:p>
            <a:pPr marL="857250" lvl="1" indent="-457200">
              <a:buFont typeface="Wingdings" panose="05000000000000000000" pitchFamily="2" charset="2"/>
              <a:buChar char="q"/>
            </a:pPr>
            <a:r>
              <a:rPr lang="en-US" dirty="0" smtClean="0"/>
              <a:t>	dependence</a:t>
            </a:r>
            <a:r>
              <a:rPr lang="en-US" dirty="0"/>
              <a:t>, </a:t>
            </a:r>
            <a:endParaRPr lang="en-US" dirty="0" smtClean="0"/>
          </a:p>
          <a:p>
            <a:pPr marL="857250" lvl="1" indent="-457200">
              <a:buFont typeface="Wingdings" panose="05000000000000000000" pitchFamily="2" charset="2"/>
              <a:buChar char="q"/>
            </a:pPr>
            <a:r>
              <a:rPr lang="en-US" dirty="0"/>
              <a:t>	</a:t>
            </a:r>
            <a:r>
              <a:rPr lang="en-US" dirty="0" smtClean="0"/>
              <a:t>abuse</a:t>
            </a:r>
            <a:r>
              <a:rPr lang="en-US" dirty="0"/>
              <a:t>, </a:t>
            </a:r>
            <a:endParaRPr lang="en-US" dirty="0" smtClean="0"/>
          </a:p>
          <a:p>
            <a:pPr marL="857250" lvl="1" indent="-457200">
              <a:buFont typeface="Wingdings" panose="05000000000000000000" pitchFamily="2" charset="2"/>
              <a:buChar char="q"/>
            </a:pPr>
            <a:r>
              <a:rPr lang="en-US" dirty="0"/>
              <a:t>	</a:t>
            </a:r>
            <a:r>
              <a:rPr lang="en-US" dirty="0" smtClean="0"/>
              <a:t>intoxication </a:t>
            </a:r>
          </a:p>
          <a:p>
            <a:pPr marL="857250" lvl="1" indent="-457200">
              <a:buFont typeface="Wingdings" panose="05000000000000000000" pitchFamily="2" charset="2"/>
              <a:buChar char="q"/>
            </a:pPr>
            <a:r>
              <a:rPr lang="en-US" dirty="0"/>
              <a:t>	</a:t>
            </a:r>
            <a:r>
              <a:rPr lang="en-US" dirty="0" smtClean="0"/>
              <a:t>withdrawal </a:t>
            </a:r>
            <a:endParaRPr lang="en-US" dirty="0"/>
          </a:p>
        </p:txBody>
      </p:sp>
    </p:spTree>
    <p:extLst>
      <p:ext uri="{BB962C8B-B14F-4D97-AF65-F5344CB8AC3E}">
        <p14:creationId xmlns:p14="http://schemas.microsoft.com/office/powerpoint/2010/main" val="375278770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SUBSTANCE ABUSE </a:t>
            </a:r>
            <a:endParaRPr lang="en-US" dirty="0"/>
          </a:p>
        </p:txBody>
      </p:sp>
      <p:sp>
        <p:nvSpPr>
          <p:cNvPr id="3" name="Content Placeholder 2"/>
          <p:cNvSpPr>
            <a:spLocks noGrp="1"/>
          </p:cNvSpPr>
          <p:nvPr>
            <p:ph idx="1"/>
          </p:nvPr>
        </p:nvSpPr>
        <p:spPr>
          <a:xfrm>
            <a:off x="457200" y="1143000"/>
            <a:ext cx="8229600" cy="5410200"/>
          </a:xfrm>
        </p:spPr>
        <p:txBody>
          <a:bodyPr>
            <a:normAutofit fontScale="85000" lnSpcReduction="10000"/>
          </a:bodyPr>
          <a:lstStyle/>
          <a:p>
            <a:pPr marL="0" indent="0">
              <a:buNone/>
            </a:pPr>
            <a:r>
              <a:rPr lang="en-US" b="1" dirty="0"/>
              <a:t>Substance abuse- </a:t>
            </a:r>
            <a:r>
              <a:rPr lang="en-US" dirty="0"/>
              <a:t>Ingestion of any substance for any other reason other than its nutritional or medical value </a:t>
            </a:r>
          </a:p>
          <a:p>
            <a:pPr marL="0" indent="0">
              <a:buNone/>
            </a:pPr>
            <a:r>
              <a:rPr lang="en-US" dirty="0"/>
              <a:t>A maladaptive pattern of substance use, with one or more symptoms occurring within a 12 month period </a:t>
            </a:r>
          </a:p>
          <a:p>
            <a:r>
              <a:rPr lang="en-US" dirty="0"/>
              <a:t>The symptoms are: </a:t>
            </a:r>
          </a:p>
          <a:p>
            <a:pPr marL="514350" indent="-514350">
              <a:buFont typeface="+mj-lt"/>
              <a:buAutoNum type="arabicPeriod"/>
            </a:pPr>
            <a:r>
              <a:rPr lang="en-US" dirty="0" smtClean="0"/>
              <a:t>continued </a:t>
            </a:r>
            <a:r>
              <a:rPr lang="en-US" dirty="0"/>
              <a:t>use of the substance even when aware of adverse consequences </a:t>
            </a:r>
          </a:p>
          <a:p>
            <a:pPr marL="514350" indent="-514350">
              <a:buFont typeface="+mj-lt"/>
              <a:buAutoNum type="arabicPeriod"/>
            </a:pPr>
            <a:r>
              <a:rPr lang="en-US" dirty="0" smtClean="0"/>
              <a:t>Recurrent </a:t>
            </a:r>
            <a:r>
              <a:rPr lang="en-US" dirty="0"/>
              <a:t>use despite physically hazardous situations e.g. driving while intoxicated. </a:t>
            </a:r>
          </a:p>
          <a:p>
            <a:pPr marL="514350" indent="-514350">
              <a:buFont typeface="+mj-lt"/>
              <a:buAutoNum type="arabicPeriod"/>
            </a:pPr>
            <a:r>
              <a:rPr lang="en-US" dirty="0" smtClean="0"/>
              <a:t>failure </a:t>
            </a:r>
            <a:r>
              <a:rPr lang="en-US" dirty="0"/>
              <a:t>to fulfill or role obligations e.g. child neglect </a:t>
            </a:r>
          </a:p>
          <a:p>
            <a:pPr marL="514350" indent="-514350">
              <a:buFont typeface="+mj-lt"/>
              <a:buAutoNum type="arabicPeriod"/>
            </a:pPr>
            <a:r>
              <a:rPr lang="en-US" dirty="0" smtClean="0"/>
              <a:t>Legal </a:t>
            </a:r>
            <a:r>
              <a:rPr lang="en-US" dirty="0"/>
              <a:t>problem e.g. arrest for substance related disorderly conduct. </a:t>
            </a:r>
          </a:p>
          <a:p>
            <a:endParaRPr lang="en-US" dirty="0"/>
          </a:p>
        </p:txBody>
      </p:sp>
    </p:spTree>
    <p:extLst>
      <p:ext uri="{BB962C8B-B14F-4D97-AF65-F5344CB8AC3E}">
        <p14:creationId xmlns:p14="http://schemas.microsoft.com/office/powerpoint/2010/main" val="147250008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lstStyle/>
          <a:p>
            <a:r>
              <a:rPr lang="en-US" dirty="0" smtClean="0"/>
              <a:t>SUBSTANCE ABUSE </a:t>
            </a:r>
            <a:endParaRPr lang="en-US" dirty="0"/>
          </a:p>
        </p:txBody>
      </p:sp>
      <p:sp>
        <p:nvSpPr>
          <p:cNvPr id="3" name="Content Placeholder 2"/>
          <p:cNvSpPr>
            <a:spLocks noGrp="1"/>
          </p:cNvSpPr>
          <p:nvPr>
            <p:ph idx="1"/>
          </p:nvPr>
        </p:nvSpPr>
        <p:spPr/>
        <p:txBody>
          <a:bodyPr/>
          <a:lstStyle/>
          <a:p>
            <a:endParaRPr lang="en-US" dirty="0"/>
          </a:p>
          <a:p>
            <a:r>
              <a:rPr lang="en-US" b="1" dirty="0"/>
              <a:t>Tolerance </a:t>
            </a:r>
            <a:endParaRPr lang="en-US" dirty="0"/>
          </a:p>
          <a:p>
            <a:r>
              <a:rPr lang="en-US" dirty="0"/>
              <a:t>Altered physiological state caused by continued use of a drug, resulting in a diminished response to the same dose of the drug over time </a:t>
            </a:r>
          </a:p>
        </p:txBody>
      </p:sp>
    </p:spTree>
    <p:extLst>
      <p:ext uri="{BB962C8B-B14F-4D97-AF65-F5344CB8AC3E}">
        <p14:creationId xmlns:p14="http://schemas.microsoft.com/office/powerpoint/2010/main" val="170295306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SUBSTANCE ABUSE </a:t>
            </a:r>
            <a:endParaRPr lang="en-US" dirty="0"/>
          </a:p>
        </p:txBody>
      </p:sp>
      <p:sp>
        <p:nvSpPr>
          <p:cNvPr id="3" name="Content Placeholder 2"/>
          <p:cNvSpPr>
            <a:spLocks noGrp="1"/>
          </p:cNvSpPr>
          <p:nvPr>
            <p:ph idx="1"/>
          </p:nvPr>
        </p:nvSpPr>
        <p:spPr>
          <a:xfrm>
            <a:off x="457200" y="1066800"/>
            <a:ext cx="8229600" cy="5410200"/>
          </a:xfrm>
        </p:spPr>
        <p:txBody>
          <a:bodyPr>
            <a:normAutofit fontScale="92500" lnSpcReduction="10000"/>
          </a:bodyPr>
          <a:lstStyle/>
          <a:p>
            <a:endParaRPr lang="en-US" dirty="0"/>
          </a:p>
          <a:p>
            <a:pPr marL="0" indent="0">
              <a:buNone/>
            </a:pPr>
            <a:r>
              <a:rPr lang="en-US" b="1" dirty="0"/>
              <a:t>Acute Intoxication </a:t>
            </a:r>
            <a:endParaRPr lang="en-US" dirty="0"/>
          </a:p>
          <a:p>
            <a:r>
              <a:rPr lang="en-US" dirty="0"/>
              <a:t>It is a transient condition following administration of substances of abuse resulting in disturbance in </a:t>
            </a:r>
            <a:r>
              <a:rPr lang="en-US" dirty="0" smtClean="0"/>
              <a:t>LOC , </a:t>
            </a:r>
            <a:r>
              <a:rPr lang="en-US" dirty="0"/>
              <a:t>cognition, perception, affect, or </a:t>
            </a:r>
            <a:r>
              <a:rPr lang="en-US" dirty="0" err="1"/>
              <a:t>behaviour</a:t>
            </a:r>
            <a:r>
              <a:rPr lang="en-US" dirty="0"/>
              <a:t> and </a:t>
            </a:r>
            <a:r>
              <a:rPr lang="en-US" dirty="0" smtClean="0"/>
              <a:t>other psychophysiological </a:t>
            </a:r>
            <a:r>
              <a:rPr lang="en-US" dirty="0"/>
              <a:t>functions and responses. </a:t>
            </a:r>
          </a:p>
          <a:p>
            <a:r>
              <a:rPr lang="en-US" dirty="0"/>
              <a:t>There is high blood levels of the psychoactive substance though in renal failure or idiosyncratic reaction, even a low dose may lead to intoxication. </a:t>
            </a:r>
          </a:p>
          <a:p>
            <a:r>
              <a:rPr lang="en-US" dirty="0"/>
              <a:t>The intensity of intoxication lessens with time. </a:t>
            </a:r>
          </a:p>
        </p:txBody>
      </p:sp>
    </p:spTree>
    <p:extLst>
      <p:ext uri="{BB962C8B-B14F-4D97-AF65-F5344CB8AC3E}">
        <p14:creationId xmlns:p14="http://schemas.microsoft.com/office/powerpoint/2010/main" val="57952305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SUBSTANCE ABUSE </a:t>
            </a: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dirty="0"/>
              <a:t>Acute intoxication can lead to</a:t>
            </a:r>
            <a:r>
              <a:rPr lang="en-US" dirty="0" smtClean="0"/>
              <a:t>:</a:t>
            </a:r>
          </a:p>
          <a:p>
            <a:endParaRPr lang="en-US" dirty="0"/>
          </a:p>
          <a:p>
            <a:pPr marL="514350" indent="-514350">
              <a:buFont typeface="+mj-lt"/>
              <a:buAutoNum type="alphaLcParenR"/>
            </a:pPr>
            <a:r>
              <a:rPr lang="en-US" dirty="0"/>
              <a:t>Trauma </a:t>
            </a:r>
          </a:p>
          <a:p>
            <a:pPr marL="514350" indent="-514350">
              <a:buFont typeface="+mj-lt"/>
              <a:buAutoNum type="alphaLcParenR"/>
            </a:pPr>
            <a:r>
              <a:rPr lang="en-US" dirty="0" smtClean="0"/>
              <a:t>Medical </a:t>
            </a:r>
            <a:r>
              <a:rPr lang="en-US" dirty="0"/>
              <a:t>complications-hematemesis. </a:t>
            </a:r>
          </a:p>
          <a:p>
            <a:pPr marL="514350" indent="-514350">
              <a:buFont typeface="+mj-lt"/>
              <a:buAutoNum type="alphaLcParenR"/>
            </a:pPr>
            <a:r>
              <a:rPr lang="en-US" dirty="0" smtClean="0"/>
              <a:t>Delirium </a:t>
            </a:r>
            <a:endParaRPr lang="en-US" dirty="0"/>
          </a:p>
          <a:p>
            <a:pPr marL="514350" indent="-514350">
              <a:buFont typeface="+mj-lt"/>
              <a:buAutoNum type="alphaLcParenR"/>
            </a:pPr>
            <a:r>
              <a:rPr lang="en-US" dirty="0" smtClean="0"/>
              <a:t>Perception </a:t>
            </a:r>
            <a:r>
              <a:rPr lang="en-US" dirty="0"/>
              <a:t>distortion </a:t>
            </a:r>
          </a:p>
          <a:p>
            <a:pPr marL="514350" indent="-514350">
              <a:buFont typeface="+mj-lt"/>
              <a:buAutoNum type="alphaLcParenR"/>
            </a:pPr>
            <a:r>
              <a:rPr lang="en-US" dirty="0" smtClean="0"/>
              <a:t>Coma </a:t>
            </a:r>
            <a:endParaRPr lang="en-US" dirty="0"/>
          </a:p>
          <a:p>
            <a:pPr marL="514350" indent="-514350">
              <a:buFont typeface="+mj-lt"/>
              <a:buAutoNum type="alphaLcParenR"/>
            </a:pPr>
            <a:r>
              <a:rPr lang="en-US" dirty="0" smtClean="0"/>
              <a:t>Convulsion </a:t>
            </a:r>
            <a:endParaRPr lang="en-US" dirty="0"/>
          </a:p>
          <a:p>
            <a:pPr marL="514350" indent="-514350">
              <a:buFont typeface="+mj-lt"/>
              <a:buAutoNum type="alphaLcParenR"/>
            </a:pPr>
            <a:r>
              <a:rPr lang="en-US" dirty="0" smtClean="0"/>
              <a:t>Pathological </a:t>
            </a:r>
            <a:r>
              <a:rPr lang="en-US" dirty="0"/>
              <a:t>intoxication (only for alcohol) </a:t>
            </a:r>
          </a:p>
        </p:txBody>
      </p:sp>
    </p:spTree>
    <p:extLst>
      <p:ext uri="{BB962C8B-B14F-4D97-AF65-F5344CB8AC3E}">
        <p14:creationId xmlns:p14="http://schemas.microsoft.com/office/powerpoint/2010/main" val="43079039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307"/>
          </a:xfrm>
        </p:spPr>
        <p:txBody>
          <a:bodyPr>
            <a:normAutofit fontScale="90000"/>
          </a:bodyPr>
          <a:lstStyle/>
          <a:p>
            <a:r>
              <a:rPr lang="en-US" dirty="0"/>
              <a:t/>
            </a:r>
            <a:br>
              <a:rPr lang="en-US" dirty="0"/>
            </a:br>
            <a:r>
              <a:rPr lang="en-US" b="1" dirty="0"/>
              <a:t>Dependence Syndrome </a:t>
            </a:r>
            <a:r>
              <a:rPr lang="en-US" dirty="0"/>
              <a:t/>
            </a:r>
            <a:br>
              <a:rPr lang="en-US" dirty="0"/>
            </a:br>
            <a:endParaRPr lang="en-US" dirty="0"/>
          </a:p>
        </p:txBody>
      </p:sp>
      <p:sp>
        <p:nvSpPr>
          <p:cNvPr id="3" name="Content Placeholder 2"/>
          <p:cNvSpPr>
            <a:spLocks noGrp="1"/>
          </p:cNvSpPr>
          <p:nvPr>
            <p:ph idx="1"/>
          </p:nvPr>
        </p:nvSpPr>
        <p:spPr>
          <a:xfrm>
            <a:off x="457200" y="990600"/>
            <a:ext cx="8229600" cy="5867400"/>
          </a:xfrm>
        </p:spPr>
        <p:txBody>
          <a:bodyPr>
            <a:normAutofit fontScale="77500" lnSpcReduction="20000"/>
          </a:bodyPr>
          <a:lstStyle/>
          <a:p>
            <a:pPr marL="0" indent="0">
              <a:buNone/>
            </a:pPr>
            <a:r>
              <a:rPr lang="en-US" dirty="0"/>
              <a:t>A cluster of behavioral, psychological and physical symptoms that the person has inadequate control over the use of the substance </a:t>
            </a:r>
            <a:endParaRPr lang="en-US" dirty="0" smtClean="0"/>
          </a:p>
          <a:p>
            <a:pPr marL="0" indent="0">
              <a:buNone/>
            </a:pPr>
            <a:r>
              <a:rPr lang="en-US" dirty="0"/>
              <a:t>	</a:t>
            </a:r>
            <a:r>
              <a:rPr lang="en-US" dirty="0" smtClean="0"/>
              <a:t>There </a:t>
            </a:r>
            <a:r>
              <a:rPr lang="en-US" dirty="0"/>
              <a:t>is: </a:t>
            </a:r>
          </a:p>
          <a:p>
            <a:pPr>
              <a:buFont typeface="Wingdings" panose="05000000000000000000" pitchFamily="2" charset="2"/>
              <a:buChar char="ü"/>
            </a:pPr>
            <a:r>
              <a:rPr lang="en-US" dirty="0" smtClean="0"/>
              <a:t>use </a:t>
            </a:r>
            <a:r>
              <a:rPr lang="en-US" dirty="0"/>
              <a:t>of a substance is given first priority to other essential factors </a:t>
            </a:r>
          </a:p>
          <a:p>
            <a:pPr>
              <a:buFont typeface="Wingdings" panose="05000000000000000000" pitchFamily="2" charset="2"/>
              <a:buChar char="ü"/>
            </a:pPr>
            <a:r>
              <a:rPr lang="en-US" dirty="0" smtClean="0"/>
              <a:t>A </a:t>
            </a:r>
            <a:r>
              <a:rPr lang="en-US" dirty="0"/>
              <a:t>strong desire/compulsion to take the substance. </a:t>
            </a:r>
          </a:p>
          <a:p>
            <a:pPr>
              <a:buFont typeface="Wingdings" panose="05000000000000000000" pitchFamily="2" charset="2"/>
              <a:buChar char="ü"/>
            </a:pPr>
            <a:r>
              <a:rPr lang="en-US" dirty="0" smtClean="0"/>
              <a:t>Difficulty </a:t>
            </a:r>
            <a:r>
              <a:rPr lang="en-US" dirty="0"/>
              <a:t>in controlling substance taking behavior. </a:t>
            </a:r>
          </a:p>
          <a:p>
            <a:pPr>
              <a:buFont typeface="Wingdings" panose="05000000000000000000" pitchFamily="2" charset="2"/>
              <a:buChar char="ü"/>
            </a:pPr>
            <a:r>
              <a:rPr lang="en-US" dirty="0" smtClean="0"/>
              <a:t>Use </a:t>
            </a:r>
            <a:r>
              <a:rPr lang="en-US" dirty="0"/>
              <a:t>of substance with intention of relieving withdrawal symptoms </a:t>
            </a:r>
          </a:p>
          <a:p>
            <a:pPr>
              <a:buFont typeface="Wingdings" panose="05000000000000000000" pitchFamily="2" charset="2"/>
              <a:buChar char="ü"/>
            </a:pPr>
            <a:r>
              <a:rPr lang="en-US" dirty="0" smtClean="0"/>
              <a:t>Progressive </a:t>
            </a:r>
            <a:r>
              <a:rPr lang="en-US" dirty="0"/>
              <a:t>neglect of alternative pleasures due to psychoactive substance use. </a:t>
            </a:r>
          </a:p>
          <a:p>
            <a:pPr>
              <a:buFont typeface="Wingdings" panose="05000000000000000000" pitchFamily="2" charset="2"/>
              <a:buChar char="ü"/>
            </a:pPr>
            <a:r>
              <a:rPr lang="en-US" dirty="0" smtClean="0"/>
              <a:t>Persistent </a:t>
            </a:r>
            <a:r>
              <a:rPr lang="en-US" dirty="0"/>
              <a:t>substance use despite clear evidence of harmful consequence. </a:t>
            </a:r>
          </a:p>
          <a:p>
            <a:pPr>
              <a:buFont typeface="Wingdings" panose="05000000000000000000" pitchFamily="2" charset="2"/>
              <a:buChar char="ü"/>
            </a:pPr>
            <a:r>
              <a:rPr lang="en-US" dirty="0" smtClean="0"/>
              <a:t>The </a:t>
            </a:r>
            <a:r>
              <a:rPr lang="en-US" dirty="0"/>
              <a:t>substance is taken in larger amounts and over a longer period than the person intended. </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291397471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dirty="0" smtClean="0"/>
              <a:t>SUBSTANCE ABUSE </a:t>
            </a:r>
            <a:br>
              <a:rPr lang="en-US" dirty="0" smtClean="0"/>
            </a:br>
            <a:r>
              <a:rPr lang="en-US" dirty="0" smtClean="0"/>
              <a:t>dependence </a:t>
            </a:r>
            <a:endParaRPr lang="en-US" dirty="0"/>
          </a:p>
        </p:txBody>
      </p:sp>
      <p:sp>
        <p:nvSpPr>
          <p:cNvPr id="3" name="Content Placeholder 2"/>
          <p:cNvSpPr>
            <a:spLocks noGrp="1"/>
          </p:cNvSpPr>
          <p:nvPr>
            <p:ph idx="1"/>
          </p:nvPr>
        </p:nvSpPr>
        <p:spPr>
          <a:xfrm>
            <a:off x="457200" y="1752600"/>
            <a:ext cx="8229600" cy="4953000"/>
          </a:xfrm>
        </p:spPr>
        <p:txBody>
          <a:bodyPr>
            <a:normAutofit fontScale="85000" lnSpcReduction="20000"/>
          </a:bodyPr>
          <a:lstStyle/>
          <a:p>
            <a:pPr marL="0" indent="0">
              <a:buNone/>
            </a:pPr>
            <a:r>
              <a:rPr lang="en-US" dirty="0" smtClean="0"/>
              <a:t>CT’D</a:t>
            </a:r>
            <a:endParaRPr lang="en-US" dirty="0"/>
          </a:p>
          <a:p>
            <a:pPr>
              <a:buFont typeface="Wingdings" panose="05000000000000000000" pitchFamily="2" charset="2"/>
              <a:buChar char="ü"/>
            </a:pPr>
            <a:r>
              <a:rPr lang="en-US" dirty="0"/>
              <a:t>The person has desired to control substance use </a:t>
            </a:r>
          </a:p>
          <a:p>
            <a:pPr>
              <a:buFont typeface="Wingdings" panose="05000000000000000000" pitchFamily="2" charset="2"/>
              <a:buChar char="ü"/>
            </a:pPr>
            <a:r>
              <a:rPr lang="en-US" dirty="0" smtClean="0"/>
              <a:t>The </a:t>
            </a:r>
            <a:r>
              <a:rPr lang="en-US" dirty="0"/>
              <a:t>person spends a lot of time trying to procure the substance, taking it. </a:t>
            </a:r>
          </a:p>
          <a:p>
            <a:pPr>
              <a:buFont typeface="Wingdings" panose="05000000000000000000" pitchFamily="2" charset="2"/>
              <a:buChar char="ü"/>
            </a:pPr>
            <a:r>
              <a:rPr lang="en-US" dirty="0" smtClean="0"/>
              <a:t>The </a:t>
            </a:r>
            <a:r>
              <a:rPr lang="en-US" dirty="0"/>
              <a:t>person reduces important social or occupational activities coz of the substance use. </a:t>
            </a:r>
            <a:endParaRPr lang="en-US" dirty="0" smtClean="0"/>
          </a:p>
          <a:p>
            <a:pPr>
              <a:buFont typeface="Wingdings" panose="05000000000000000000" pitchFamily="2" charset="2"/>
              <a:buChar char="ü"/>
            </a:pPr>
            <a:r>
              <a:rPr lang="en-US" dirty="0" smtClean="0"/>
              <a:t>The </a:t>
            </a:r>
            <a:r>
              <a:rPr lang="en-US" dirty="0"/>
              <a:t>person continues using the substance even when aware of its negative consequences </a:t>
            </a:r>
          </a:p>
          <a:p>
            <a:pPr>
              <a:buFont typeface="Wingdings" panose="05000000000000000000" pitchFamily="2" charset="2"/>
              <a:buChar char="ü"/>
            </a:pPr>
            <a:r>
              <a:rPr lang="en-US" dirty="0" smtClean="0"/>
              <a:t>The </a:t>
            </a:r>
            <a:r>
              <a:rPr lang="en-US" dirty="0"/>
              <a:t>person experiences characteristic withdrawal symptoms </a:t>
            </a:r>
            <a:endParaRPr lang="en-US" dirty="0" smtClean="0"/>
          </a:p>
          <a:p>
            <a:pPr marL="0" indent="0">
              <a:buNone/>
            </a:pPr>
            <a:r>
              <a:rPr lang="en-US" dirty="0" smtClean="0"/>
              <a:t>NOTE : </a:t>
            </a:r>
            <a:r>
              <a:rPr lang="en-US" dirty="0"/>
              <a:t>Marked tolerance, need substance increase in </a:t>
            </a:r>
            <a:r>
              <a:rPr lang="en-US" dirty="0" err="1"/>
              <a:t>amt</a:t>
            </a:r>
            <a:r>
              <a:rPr lang="en-US" dirty="0"/>
              <a:t> of substance to achieve the desired effect </a:t>
            </a:r>
          </a:p>
          <a:p>
            <a:pPr marL="0" indent="0">
              <a:buNone/>
            </a:pPr>
            <a:endParaRPr lang="en-US" dirty="0"/>
          </a:p>
          <a:p>
            <a:endParaRPr lang="en-US" dirty="0"/>
          </a:p>
        </p:txBody>
      </p:sp>
    </p:spTree>
    <p:extLst>
      <p:ext uri="{BB962C8B-B14F-4D97-AF65-F5344CB8AC3E}">
        <p14:creationId xmlns:p14="http://schemas.microsoft.com/office/powerpoint/2010/main" val="99679580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Substance abuse </a:t>
            </a:r>
            <a:endParaRPr lang="en-US" dirty="0"/>
          </a:p>
        </p:txBody>
      </p:sp>
      <p:sp>
        <p:nvSpPr>
          <p:cNvPr id="3" name="Content Placeholder 2"/>
          <p:cNvSpPr>
            <a:spLocks noGrp="1"/>
          </p:cNvSpPr>
          <p:nvPr>
            <p:ph idx="1"/>
          </p:nvPr>
        </p:nvSpPr>
        <p:spPr>
          <a:xfrm>
            <a:off x="457200" y="990600"/>
            <a:ext cx="8229600" cy="5867400"/>
          </a:xfrm>
        </p:spPr>
        <p:txBody>
          <a:bodyPr>
            <a:normAutofit fontScale="92500" lnSpcReduction="20000"/>
          </a:bodyPr>
          <a:lstStyle/>
          <a:p>
            <a:pPr marL="0" indent="0">
              <a:buNone/>
            </a:pPr>
            <a:r>
              <a:rPr lang="en-US" dirty="0" smtClean="0"/>
              <a:t>Withdrawal </a:t>
            </a:r>
          </a:p>
          <a:p>
            <a:r>
              <a:rPr lang="en-US" dirty="0"/>
              <a:t>Characterized by a cluster of symptoms depending on the substance used </a:t>
            </a:r>
          </a:p>
          <a:p>
            <a:r>
              <a:rPr lang="en-US" dirty="0"/>
              <a:t>Withdrawal state develops after total or partial stopping of drug use following repeated or high dose of drug use. </a:t>
            </a:r>
          </a:p>
          <a:p>
            <a:r>
              <a:rPr lang="en-US" dirty="0"/>
              <a:t>The withdrawal symptoms are relieved by further use of the substance. </a:t>
            </a:r>
          </a:p>
          <a:p>
            <a:r>
              <a:rPr lang="en-US" dirty="0"/>
              <a:t>Withdrawal state can be accompanied by convulsion or delirium. </a:t>
            </a:r>
          </a:p>
          <a:p>
            <a:r>
              <a:rPr lang="en-US" dirty="0"/>
              <a:t>Drug use is pathological when it in any way impairs/ threatens to impair individual’s family and social r/ships, health, job efficiency or ability to avoid legal difficulties. </a:t>
            </a:r>
          </a:p>
        </p:txBody>
      </p:sp>
    </p:spTree>
    <p:extLst>
      <p:ext uri="{BB962C8B-B14F-4D97-AF65-F5344CB8AC3E}">
        <p14:creationId xmlns:p14="http://schemas.microsoft.com/office/powerpoint/2010/main" val="231839233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Substance Abuse </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pPr marL="514350" indent="-514350">
              <a:buFont typeface="+mj-lt"/>
              <a:buAutoNum type="arabicPeriod"/>
            </a:pPr>
            <a:r>
              <a:rPr lang="en-US" dirty="0"/>
              <a:t>Alcohol, amphetamine, cocaine, </a:t>
            </a:r>
            <a:r>
              <a:rPr lang="en-US" dirty="0" err="1"/>
              <a:t>opiods</a:t>
            </a:r>
            <a:r>
              <a:rPr lang="en-US" dirty="0"/>
              <a:t>, sedatives / hypnotics, and anxiolytics causes </a:t>
            </a:r>
            <a:r>
              <a:rPr lang="en-US" dirty="0" smtClean="0"/>
              <a:t>dependence, </a:t>
            </a:r>
            <a:r>
              <a:rPr lang="en-US" dirty="0"/>
              <a:t>abuse, intoxication and withdrawal disorders. </a:t>
            </a:r>
          </a:p>
          <a:p>
            <a:pPr marL="514350" indent="-514350">
              <a:buFont typeface="+mj-lt"/>
              <a:buAutoNum type="arabicPeriod"/>
            </a:pPr>
            <a:r>
              <a:rPr lang="en-US" dirty="0" smtClean="0"/>
              <a:t>Cannabis </a:t>
            </a:r>
            <a:r>
              <a:rPr lang="en-US" dirty="0"/>
              <a:t>and inhalants cause dependence, abuse and intoxication but no withdrawal disorders </a:t>
            </a:r>
          </a:p>
          <a:p>
            <a:pPr marL="514350" indent="-514350">
              <a:buFont typeface="+mj-lt"/>
              <a:buAutoNum type="arabicPeriod"/>
            </a:pPr>
            <a:r>
              <a:rPr lang="en-US" dirty="0" smtClean="0"/>
              <a:t>Nicotine </a:t>
            </a:r>
            <a:r>
              <a:rPr lang="en-US" dirty="0"/>
              <a:t>causes dependence and withdrawal disorders </a:t>
            </a:r>
            <a:endParaRPr lang="en-US" dirty="0" smtClean="0"/>
          </a:p>
          <a:p>
            <a:pPr marL="514350" indent="-514350">
              <a:buFont typeface="+mj-lt"/>
              <a:buAutoNum type="arabicPeriod"/>
            </a:pPr>
            <a:r>
              <a:rPr lang="en-US" dirty="0" smtClean="0"/>
              <a:t>Poly-substances </a:t>
            </a:r>
            <a:r>
              <a:rPr lang="en-US" dirty="0"/>
              <a:t>cause dependence only</a:t>
            </a:r>
            <a:r>
              <a:rPr lang="en-US" dirty="0" smtClean="0"/>
              <a:t>.</a:t>
            </a:r>
            <a:endParaRPr lang="en-US" dirty="0"/>
          </a:p>
        </p:txBody>
      </p:sp>
    </p:spTree>
    <p:extLst>
      <p:ext uri="{BB962C8B-B14F-4D97-AF65-F5344CB8AC3E}">
        <p14:creationId xmlns:p14="http://schemas.microsoft.com/office/powerpoint/2010/main" val="72240286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Etiological factors in substance use disorders </a:t>
            </a:r>
            <a:endParaRPr lang="en-US" dirty="0"/>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r>
              <a:rPr lang="en-US" b="1" dirty="0" smtClean="0"/>
              <a:t>Biological </a:t>
            </a:r>
            <a:r>
              <a:rPr lang="en-US" b="1" dirty="0"/>
              <a:t>factors </a:t>
            </a:r>
            <a:endParaRPr lang="en-US" dirty="0"/>
          </a:p>
          <a:p>
            <a:r>
              <a:rPr lang="en-US" dirty="0"/>
              <a:t>genetic vulnerability [ family history of substance use disorder e.g. type II alcoholism </a:t>
            </a:r>
          </a:p>
          <a:p>
            <a:r>
              <a:rPr lang="en-US" dirty="0" smtClean="0"/>
              <a:t> </a:t>
            </a:r>
            <a:r>
              <a:rPr lang="en-US" dirty="0"/>
              <a:t>co-morbid medical disorders </a:t>
            </a:r>
          </a:p>
          <a:p>
            <a:r>
              <a:rPr lang="en-US" dirty="0" smtClean="0"/>
              <a:t>co-morbid </a:t>
            </a:r>
            <a:r>
              <a:rPr lang="en-US" dirty="0"/>
              <a:t>psychiatric disorder or personality disorder </a:t>
            </a:r>
          </a:p>
          <a:p>
            <a:r>
              <a:rPr lang="en-US" dirty="0" smtClean="0"/>
              <a:t>reinforcing </a:t>
            </a:r>
            <a:r>
              <a:rPr lang="en-US" dirty="0"/>
              <a:t>effects of drugs [ explains continuation of drug use] </a:t>
            </a:r>
          </a:p>
          <a:p>
            <a:r>
              <a:rPr lang="en-US" dirty="0" smtClean="0"/>
              <a:t>withdrawal </a:t>
            </a:r>
            <a:r>
              <a:rPr lang="en-US" dirty="0"/>
              <a:t>effects and craving [ explains continuation of drug use] </a:t>
            </a:r>
          </a:p>
          <a:p>
            <a:r>
              <a:rPr lang="en-US" dirty="0" smtClean="0"/>
              <a:t>biochemical </a:t>
            </a:r>
            <a:r>
              <a:rPr lang="en-US" dirty="0"/>
              <a:t>factors [ e.g. role of dopamine and nor epinephrine in cocaine, ethanol, and </a:t>
            </a:r>
            <a:r>
              <a:rPr lang="en-US" dirty="0" err="1"/>
              <a:t>opiod</a:t>
            </a:r>
            <a:r>
              <a:rPr lang="en-US" dirty="0"/>
              <a:t> dependence] </a:t>
            </a:r>
          </a:p>
          <a:p>
            <a:endParaRPr lang="en-US" dirty="0"/>
          </a:p>
          <a:p>
            <a:endParaRPr lang="en-US" dirty="0"/>
          </a:p>
        </p:txBody>
      </p:sp>
    </p:spTree>
    <p:extLst>
      <p:ext uri="{BB962C8B-B14F-4D97-AF65-F5344CB8AC3E}">
        <p14:creationId xmlns:p14="http://schemas.microsoft.com/office/powerpoint/2010/main" val="200183230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Etiology </a:t>
            </a:r>
            <a:r>
              <a:rPr lang="en-US" dirty="0" err="1" smtClean="0"/>
              <a:t>ct’d</a:t>
            </a:r>
            <a:r>
              <a:rPr lang="en-US" dirty="0" smtClean="0"/>
              <a:t> </a:t>
            </a:r>
            <a:endParaRPr lang="en-US" dirty="0"/>
          </a:p>
        </p:txBody>
      </p:sp>
      <p:sp>
        <p:nvSpPr>
          <p:cNvPr id="3" name="Content Placeholder 2"/>
          <p:cNvSpPr>
            <a:spLocks noGrp="1"/>
          </p:cNvSpPr>
          <p:nvPr>
            <p:ph idx="1"/>
          </p:nvPr>
        </p:nvSpPr>
        <p:spPr>
          <a:xfrm>
            <a:off x="457200" y="914400"/>
            <a:ext cx="8229600" cy="5638800"/>
          </a:xfrm>
        </p:spPr>
        <p:txBody>
          <a:bodyPr>
            <a:normAutofit fontScale="92500" lnSpcReduction="20000"/>
          </a:bodyPr>
          <a:lstStyle/>
          <a:p>
            <a:pPr marL="0" indent="0">
              <a:buNone/>
            </a:pPr>
            <a:r>
              <a:rPr lang="en-US" b="1" dirty="0" smtClean="0"/>
              <a:t>Psychosocial </a:t>
            </a:r>
            <a:r>
              <a:rPr lang="en-US" b="1" dirty="0"/>
              <a:t>Factors </a:t>
            </a:r>
            <a:endParaRPr lang="en-US" dirty="0"/>
          </a:p>
          <a:p>
            <a:pPr>
              <a:buFont typeface="Wingdings" panose="05000000000000000000" pitchFamily="2" charset="2"/>
              <a:buChar char="q"/>
            </a:pPr>
            <a:r>
              <a:rPr lang="en-US" dirty="0" smtClean="0"/>
              <a:t>general </a:t>
            </a:r>
            <a:r>
              <a:rPr lang="en-US" dirty="0"/>
              <a:t>rebelliousness and social non-conformity </a:t>
            </a:r>
            <a:endParaRPr lang="en-US" dirty="0" smtClean="0"/>
          </a:p>
          <a:p>
            <a:pPr>
              <a:buFont typeface="Wingdings" panose="05000000000000000000" pitchFamily="2" charset="2"/>
              <a:buChar char="q"/>
            </a:pPr>
            <a:r>
              <a:rPr lang="en-US" dirty="0" smtClean="0"/>
              <a:t>Easy </a:t>
            </a:r>
            <a:r>
              <a:rPr lang="en-US" dirty="0"/>
              <a:t>availability of substances </a:t>
            </a:r>
          </a:p>
          <a:p>
            <a:pPr>
              <a:buFont typeface="Wingdings" panose="05000000000000000000" pitchFamily="2" charset="2"/>
              <a:buChar char="q"/>
            </a:pPr>
            <a:r>
              <a:rPr lang="en-US" dirty="0" smtClean="0"/>
              <a:t>early </a:t>
            </a:r>
            <a:r>
              <a:rPr lang="en-US" dirty="0"/>
              <a:t>initiation of alcohol and tobacco </a:t>
            </a:r>
          </a:p>
          <a:p>
            <a:pPr>
              <a:buFont typeface="Wingdings" panose="05000000000000000000" pitchFamily="2" charset="2"/>
              <a:buChar char="q"/>
            </a:pPr>
            <a:r>
              <a:rPr lang="en-US" dirty="0" smtClean="0"/>
              <a:t>low </a:t>
            </a:r>
            <a:r>
              <a:rPr lang="en-US" dirty="0"/>
              <a:t>self esteem </a:t>
            </a:r>
          </a:p>
          <a:p>
            <a:pPr>
              <a:buFont typeface="Wingdings" panose="05000000000000000000" pitchFamily="2" charset="2"/>
              <a:buChar char="q"/>
            </a:pPr>
            <a:r>
              <a:rPr lang="en-US" dirty="0" smtClean="0"/>
              <a:t>sensation </a:t>
            </a:r>
            <a:r>
              <a:rPr lang="en-US" dirty="0"/>
              <a:t>seeking [high feeling] </a:t>
            </a:r>
          </a:p>
          <a:p>
            <a:pPr>
              <a:buFont typeface="Wingdings" panose="05000000000000000000" pitchFamily="2" charset="2"/>
              <a:buChar char="q"/>
            </a:pPr>
            <a:r>
              <a:rPr lang="en-US" dirty="0" smtClean="0"/>
              <a:t>poor </a:t>
            </a:r>
            <a:r>
              <a:rPr lang="en-US" dirty="0"/>
              <a:t>impulse control/ poor stress management skills </a:t>
            </a:r>
          </a:p>
          <a:p>
            <a:pPr>
              <a:buFont typeface="Wingdings" panose="05000000000000000000" pitchFamily="2" charset="2"/>
              <a:buChar char="q"/>
            </a:pPr>
            <a:r>
              <a:rPr lang="en-US" dirty="0" smtClean="0"/>
              <a:t>curiosity</a:t>
            </a:r>
            <a:r>
              <a:rPr lang="en-US" dirty="0"/>
              <a:t>/ Peer Pressure </a:t>
            </a:r>
            <a:endParaRPr lang="en-US" dirty="0" smtClean="0"/>
          </a:p>
          <a:p>
            <a:pPr>
              <a:buFont typeface="Wingdings" panose="05000000000000000000" pitchFamily="2" charset="2"/>
              <a:buChar char="q"/>
            </a:pPr>
            <a:r>
              <a:rPr lang="en-US" dirty="0" smtClean="0"/>
              <a:t>Commercial </a:t>
            </a:r>
            <a:r>
              <a:rPr lang="en-US" dirty="0"/>
              <a:t>advertisement </a:t>
            </a:r>
            <a:endParaRPr lang="en-US" dirty="0" smtClean="0"/>
          </a:p>
          <a:p>
            <a:pPr>
              <a:buFont typeface="Wingdings" panose="05000000000000000000" pitchFamily="2" charset="2"/>
              <a:buChar char="q"/>
            </a:pPr>
            <a:r>
              <a:rPr lang="en-US" dirty="0" smtClean="0"/>
              <a:t>Poor </a:t>
            </a:r>
            <a:r>
              <a:rPr lang="en-US" dirty="0"/>
              <a:t>social support </a:t>
            </a:r>
            <a:endParaRPr lang="en-US" dirty="0" smtClean="0"/>
          </a:p>
          <a:p>
            <a:pPr>
              <a:buFont typeface="Wingdings" panose="05000000000000000000" pitchFamily="2" charset="2"/>
              <a:buChar char="q"/>
            </a:pPr>
            <a:r>
              <a:rPr lang="en-US" dirty="0" smtClean="0"/>
              <a:t>Occupation </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8686041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Types of Drugs of </a:t>
            </a:r>
            <a:r>
              <a:rPr lang="en-US" b="1" dirty="0" smtClean="0"/>
              <a:t>Abuse</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pPr marL="0" indent="0">
              <a:buNone/>
            </a:pPr>
            <a:r>
              <a:rPr lang="en-US" dirty="0" smtClean="0"/>
              <a:t>1. </a:t>
            </a:r>
            <a:r>
              <a:rPr lang="en-US" b="1" dirty="0" smtClean="0"/>
              <a:t>Depressants </a:t>
            </a:r>
            <a:r>
              <a:rPr lang="en-US" b="1" dirty="0"/>
              <a:t>sedatives/hypnotics </a:t>
            </a:r>
            <a:r>
              <a:rPr lang="en-US" dirty="0" smtClean="0"/>
              <a:t>; Alcohol-in </a:t>
            </a:r>
            <a:r>
              <a:rPr lang="en-US" dirty="0"/>
              <a:t>small amounts </a:t>
            </a:r>
            <a:r>
              <a:rPr lang="en-US" dirty="0" smtClean="0"/>
              <a:t>stimulate, </a:t>
            </a:r>
            <a:r>
              <a:rPr lang="en-US" dirty="0" err="1" smtClean="0"/>
              <a:t>Barbitrates</a:t>
            </a:r>
            <a:r>
              <a:rPr lang="en-US" dirty="0"/>
              <a:t>, </a:t>
            </a:r>
            <a:r>
              <a:rPr lang="en-US" dirty="0" smtClean="0"/>
              <a:t>valium, </a:t>
            </a:r>
            <a:r>
              <a:rPr lang="en-US" dirty="0" err="1" smtClean="0"/>
              <a:t>phemobarbitone</a:t>
            </a:r>
            <a:r>
              <a:rPr lang="en-US" dirty="0" smtClean="0"/>
              <a:t> </a:t>
            </a:r>
            <a:endParaRPr lang="en-US" dirty="0"/>
          </a:p>
          <a:p>
            <a:pPr marL="0" indent="0">
              <a:buNone/>
            </a:pPr>
            <a:r>
              <a:rPr lang="en-US" dirty="0" smtClean="0"/>
              <a:t>2. </a:t>
            </a:r>
            <a:r>
              <a:rPr lang="en-US" b="1" dirty="0" smtClean="0"/>
              <a:t>Opiates/Narcotic</a:t>
            </a:r>
            <a:r>
              <a:rPr lang="en-US" dirty="0" smtClean="0"/>
              <a:t>s;  Morphine, Codeine , Heroine, Methadone </a:t>
            </a:r>
            <a:endParaRPr lang="en-US" dirty="0"/>
          </a:p>
          <a:p>
            <a:pPr marL="0" indent="0">
              <a:buNone/>
            </a:pPr>
            <a:r>
              <a:rPr lang="en-US" dirty="0"/>
              <a:t>3. </a:t>
            </a:r>
            <a:r>
              <a:rPr lang="en-US" b="1" dirty="0"/>
              <a:t>Stimulants </a:t>
            </a:r>
            <a:r>
              <a:rPr lang="en-US" dirty="0" smtClean="0"/>
              <a:t>; Amphetamine, Cocaine , Nicotine, Caffeine</a:t>
            </a:r>
            <a:endParaRPr lang="en-US" dirty="0"/>
          </a:p>
          <a:p>
            <a:pPr marL="0" indent="0">
              <a:buNone/>
            </a:pPr>
            <a:r>
              <a:rPr lang="en-US" dirty="0"/>
              <a:t>4. </a:t>
            </a:r>
            <a:r>
              <a:rPr lang="en-US" b="1" dirty="0" smtClean="0"/>
              <a:t>Hallucinogens</a:t>
            </a:r>
            <a:r>
              <a:rPr lang="en-US" dirty="0" smtClean="0"/>
              <a:t>; </a:t>
            </a:r>
            <a:r>
              <a:rPr lang="en-US" dirty="0" err="1" smtClean="0"/>
              <a:t>Canabis</a:t>
            </a:r>
            <a:r>
              <a:rPr lang="en-US" dirty="0" smtClean="0"/>
              <a:t> </a:t>
            </a:r>
            <a:r>
              <a:rPr lang="en-US" dirty="0"/>
              <a:t>Sativa [</a:t>
            </a:r>
            <a:r>
              <a:rPr lang="en-US" dirty="0" smtClean="0"/>
              <a:t>Marijuana</a:t>
            </a:r>
          </a:p>
          <a:p>
            <a:pPr marL="0" indent="0">
              <a:buNone/>
            </a:pPr>
            <a:r>
              <a:rPr lang="en-US" dirty="0" smtClean="0"/>
              <a:t>5.</a:t>
            </a:r>
            <a:r>
              <a:rPr lang="en-US" b="1" dirty="0"/>
              <a:t> Solvents</a:t>
            </a:r>
            <a:r>
              <a:rPr lang="en-US" dirty="0"/>
              <a:t>: Petrol, glue, cleaning fluids </a:t>
            </a:r>
            <a:r>
              <a:rPr lang="en-US" dirty="0" smtClean="0"/>
              <a:t> </a:t>
            </a:r>
            <a:endParaRPr lang="en-US" dirty="0"/>
          </a:p>
        </p:txBody>
      </p:sp>
    </p:spTree>
    <p:extLst>
      <p:ext uri="{BB962C8B-B14F-4D97-AF65-F5344CB8AC3E}">
        <p14:creationId xmlns:p14="http://schemas.microsoft.com/office/powerpoint/2010/main" val="184357579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Consequences of Drug Abuse </a:t>
            </a:r>
            <a:endParaRPr lang="en-US" dirty="0"/>
          </a:p>
        </p:txBody>
      </p:sp>
      <p:sp>
        <p:nvSpPr>
          <p:cNvPr id="3" name="Content Placeholder 2"/>
          <p:cNvSpPr>
            <a:spLocks noGrp="1"/>
          </p:cNvSpPr>
          <p:nvPr>
            <p:ph idx="1"/>
          </p:nvPr>
        </p:nvSpPr>
        <p:spPr>
          <a:xfrm>
            <a:off x="457200" y="990600"/>
            <a:ext cx="8229600" cy="5638800"/>
          </a:xfrm>
        </p:spPr>
        <p:txBody>
          <a:bodyPr>
            <a:normAutofit fontScale="85000" lnSpcReduction="20000"/>
          </a:bodyPr>
          <a:lstStyle/>
          <a:p>
            <a:pPr marL="0" indent="0">
              <a:buNone/>
            </a:pPr>
            <a:r>
              <a:rPr lang="en-US" dirty="0" smtClean="0"/>
              <a:t>Accidental </a:t>
            </a:r>
            <a:r>
              <a:rPr lang="en-US" dirty="0"/>
              <a:t>poisoning leading to death. </a:t>
            </a:r>
          </a:p>
          <a:p>
            <a:pPr marL="0" indent="0">
              <a:buNone/>
            </a:pPr>
            <a:r>
              <a:rPr lang="en-US" dirty="0" smtClean="0"/>
              <a:t>Infections </a:t>
            </a:r>
            <a:r>
              <a:rPr lang="en-US" dirty="0"/>
              <a:t>from contamination on sharing sharps e.g. HIV/AIDS, Hepatitis B. </a:t>
            </a:r>
          </a:p>
          <a:p>
            <a:pPr marL="0" indent="0">
              <a:buNone/>
            </a:pPr>
            <a:r>
              <a:rPr lang="en-US" dirty="0" smtClean="0"/>
              <a:t>Malnutrition </a:t>
            </a:r>
            <a:endParaRPr lang="en-US" dirty="0"/>
          </a:p>
          <a:p>
            <a:pPr marL="0" indent="0">
              <a:buNone/>
            </a:pPr>
            <a:r>
              <a:rPr lang="en-US" dirty="0" smtClean="0"/>
              <a:t>Organ </a:t>
            </a:r>
            <a:r>
              <a:rPr lang="en-US" dirty="0"/>
              <a:t>failure e.g. liver cirrhosis, kidney failure. </a:t>
            </a:r>
          </a:p>
          <a:p>
            <a:pPr marL="0" indent="0">
              <a:buNone/>
            </a:pPr>
            <a:r>
              <a:rPr lang="en-US" dirty="0" smtClean="0"/>
              <a:t>Psychiatric </a:t>
            </a:r>
            <a:r>
              <a:rPr lang="en-US" dirty="0"/>
              <a:t>disorders e.g. depression, anxiety. </a:t>
            </a:r>
          </a:p>
          <a:p>
            <a:pPr marL="0" indent="0">
              <a:buNone/>
            </a:pPr>
            <a:r>
              <a:rPr lang="en-US" dirty="0"/>
              <a:t>Social problems →Family relation breakdown, sexual abuse </a:t>
            </a:r>
          </a:p>
          <a:p>
            <a:pPr marL="0" indent="0">
              <a:buNone/>
            </a:pPr>
            <a:r>
              <a:rPr lang="en-US" dirty="0" smtClean="0"/>
              <a:t>Loss </a:t>
            </a:r>
            <a:r>
              <a:rPr lang="en-US" dirty="0"/>
              <a:t>of jobs, motor accidents. </a:t>
            </a:r>
            <a:endParaRPr lang="en-US" dirty="0" smtClean="0"/>
          </a:p>
          <a:p>
            <a:pPr marL="0" indent="0">
              <a:buNone/>
            </a:pPr>
            <a:r>
              <a:rPr lang="en-US" dirty="0" smtClean="0"/>
              <a:t>Increase </a:t>
            </a:r>
            <a:r>
              <a:rPr lang="en-US" dirty="0"/>
              <a:t>in crime in search for the drugs. </a:t>
            </a:r>
          </a:p>
          <a:p>
            <a:pPr marL="0" indent="0">
              <a:buNone/>
            </a:pPr>
            <a:r>
              <a:rPr lang="en-US" dirty="0" smtClean="0"/>
              <a:t>For </a:t>
            </a:r>
            <a:r>
              <a:rPr lang="en-US" dirty="0"/>
              <a:t>pregnant mothers: Retarded intrauterine growth, premature births, low birth weight, addicted fetus who may later abuse drugs, heroine withdrawal symptoms immediately after birth. </a:t>
            </a:r>
          </a:p>
          <a:p>
            <a:pPr marL="0" indent="0">
              <a:buNone/>
            </a:pPr>
            <a:endParaRPr lang="en-US" dirty="0"/>
          </a:p>
          <a:p>
            <a:endParaRPr lang="en-US" dirty="0"/>
          </a:p>
        </p:txBody>
      </p:sp>
    </p:spTree>
    <p:extLst>
      <p:ext uri="{BB962C8B-B14F-4D97-AF65-F5344CB8AC3E}">
        <p14:creationId xmlns:p14="http://schemas.microsoft.com/office/powerpoint/2010/main" val="232819833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Diagnosis of substance use </a:t>
            </a:r>
            <a:endParaRPr lang="en-US" dirty="0"/>
          </a:p>
        </p:txBody>
      </p:sp>
      <p:sp>
        <p:nvSpPr>
          <p:cNvPr id="3" name="Content Placeholder 2"/>
          <p:cNvSpPr>
            <a:spLocks noGrp="1"/>
          </p:cNvSpPr>
          <p:nvPr>
            <p:ph idx="1"/>
          </p:nvPr>
        </p:nvSpPr>
        <p:spPr>
          <a:xfrm>
            <a:off x="457200" y="838200"/>
            <a:ext cx="8229600" cy="5943600"/>
          </a:xfrm>
        </p:spPr>
        <p:txBody>
          <a:bodyPr>
            <a:normAutofit fontScale="92500" lnSpcReduction="20000"/>
          </a:bodyPr>
          <a:lstStyle/>
          <a:p>
            <a:r>
              <a:rPr lang="en-US" dirty="0" smtClean="0"/>
              <a:t>Behavioral changes</a:t>
            </a:r>
          </a:p>
          <a:p>
            <a:r>
              <a:rPr lang="en-US" dirty="0" smtClean="0"/>
              <a:t>Absence </a:t>
            </a:r>
            <a:r>
              <a:rPr lang="en-US" dirty="0"/>
              <a:t>from school or work </a:t>
            </a:r>
          </a:p>
          <a:p>
            <a:r>
              <a:rPr lang="en-US" dirty="0" smtClean="0"/>
              <a:t>Occupational </a:t>
            </a:r>
            <a:r>
              <a:rPr lang="en-US" dirty="0"/>
              <a:t>decline </a:t>
            </a:r>
          </a:p>
          <a:p>
            <a:r>
              <a:rPr lang="en-US" dirty="0" smtClean="0"/>
              <a:t>Self </a:t>
            </a:r>
            <a:r>
              <a:rPr lang="en-US" dirty="0"/>
              <a:t>neglect, isolation </a:t>
            </a:r>
          </a:p>
          <a:p>
            <a:r>
              <a:rPr lang="en-US" dirty="0" smtClean="0"/>
              <a:t>Minor </a:t>
            </a:r>
            <a:r>
              <a:rPr lang="en-US" dirty="0"/>
              <a:t>criminal offenses e.g. prostitution </a:t>
            </a:r>
          </a:p>
          <a:p>
            <a:r>
              <a:rPr lang="en-US" dirty="0" smtClean="0"/>
              <a:t>Appearance </a:t>
            </a:r>
            <a:r>
              <a:rPr lang="en-US" dirty="0"/>
              <a:t>of drunkenness </a:t>
            </a:r>
          </a:p>
          <a:p>
            <a:r>
              <a:rPr lang="en-US" dirty="0" smtClean="0"/>
              <a:t>Slurred </a:t>
            </a:r>
            <a:r>
              <a:rPr lang="en-US" dirty="0"/>
              <a:t>speech which is in coherent. </a:t>
            </a:r>
          </a:p>
          <a:p>
            <a:r>
              <a:rPr lang="en-US" dirty="0" smtClean="0"/>
              <a:t>Dullness </a:t>
            </a:r>
            <a:r>
              <a:rPr lang="en-US" dirty="0"/>
              <a:t>and drowsiness </a:t>
            </a:r>
          </a:p>
          <a:p>
            <a:r>
              <a:rPr lang="en-US" dirty="0" smtClean="0"/>
              <a:t>Depression </a:t>
            </a:r>
            <a:r>
              <a:rPr lang="en-US" dirty="0"/>
              <a:t>and mood swings. Barbiturates </a:t>
            </a:r>
          </a:p>
          <a:p>
            <a:r>
              <a:rPr lang="en-US" dirty="0" smtClean="0"/>
              <a:t>Distortion </a:t>
            </a:r>
            <a:r>
              <a:rPr lang="en-US" dirty="0"/>
              <a:t>of time and space </a:t>
            </a:r>
          </a:p>
          <a:p>
            <a:r>
              <a:rPr lang="en-US" dirty="0" smtClean="0"/>
              <a:t>Red </a:t>
            </a:r>
            <a:r>
              <a:rPr lang="en-US" dirty="0"/>
              <a:t>eyes </a:t>
            </a:r>
          </a:p>
          <a:p>
            <a:r>
              <a:rPr lang="en-US" dirty="0" smtClean="0"/>
              <a:t>Dry </a:t>
            </a:r>
            <a:r>
              <a:rPr lang="en-US" dirty="0"/>
              <a:t>mouth Cannabis </a:t>
            </a:r>
          </a:p>
          <a:p>
            <a:r>
              <a:rPr lang="en-US" dirty="0" smtClean="0"/>
              <a:t>Tachycardia </a:t>
            </a:r>
            <a:endParaRPr lang="en-US" dirty="0"/>
          </a:p>
          <a:p>
            <a:endParaRPr lang="en-US" dirty="0"/>
          </a:p>
          <a:p>
            <a:endParaRPr lang="en-US" dirty="0"/>
          </a:p>
        </p:txBody>
      </p:sp>
    </p:spTree>
    <p:extLst>
      <p:ext uri="{BB962C8B-B14F-4D97-AF65-F5344CB8AC3E}">
        <p14:creationId xmlns:p14="http://schemas.microsoft.com/office/powerpoint/2010/main" val="385758869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err="1" smtClean="0"/>
              <a:t>Mx</a:t>
            </a:r>
            <a:r>
              <a:rPr lang="en-US" dirty="0" smtClean="0"/>
              <a:t> of substance abuse </a:t>
            </a:r>
            <a:endParaRPr lang="en-US" dirty="0"/>
          </a:p>
        </p:txBody>
      </p:sp>
      <p:sp>
        <p:nvSpPr>
          <p:cNvPr id="3" name="Content Placeholder 2"/>
          <p:cNvSpPr>
            <a:spLocks noGrp="1"/>
          </p:cNvSpPr>
          <p:nvPr>
            <p:ph idx="1"/>
          </p:nvPr>
        </p:nvSpPr>
        <p:spPr>
          <a:xfrm>
            <a:off x="457200" y="990600"/>
            <a:ext cx="8229600" cy="5715000"/>
          </a:xfrm>
        </p:spPr>
        <p:txBody>
          <a:bodyPr>
            <a:normAutofit fontScale="85000" lnSpcReduction="20000"/>
          </a:bodyPr>
          <a:lstStyle/>
          <a:p>
            <a:r>
              <a:rPr lang="en-US" dirty="0"/>
              <a:t>A calm environment</a:t>
            </a:r>
          </a:p>
          <a:p>
            <a:r>
              <a:rPr lang="en-US" dirty="0"/>
              <a:t>Often a benzodiazepine or antipsychotic</a:t>
            </a:r>
          </a:p>
          <a:p>
            <a:r>
              <a:rPr lang="en-US" dirty="0"/>
              <a:t>In most substance-induced psychoses, stopping the substance and giving an anxiolytic or antipsychotic drug is effective.</a:t>
            </a:r>
          </a:p>
          <a:p>
            <a:r>
              <a:rPr lang="en-US" dirty="0"/>
              <a:t>For psychosis due to dopamine-stimulating drugs such as amphetamine, an antipsychotic drug is most effective.</a:t>
            </a:r>
          </a:p>
          <a:p>
            <a:r>
              <a:rPr lang="en-US" dirty="0"/>
              <a:t>For psychosis due to </a:t>
            </a:r>
            <a:r>
              <a:rPr lang="en-US" dirty="0" smtClean="0"/>
              <a:t>drugs, </a:t>
            </a:r>
            <a:r>
              <a:rPr lang="en-US" dirty="0"/>
              <a:t>quiet observation may be all that is </a:t>
            </a:r>
            <a:r>
              <a:rPr lang="en-US" dirty="0" smtClean="0"/>
              <a:t>needed.</a:t>
            </a:r>
          </a:p>
          <a:p>
            <a:r>
              <a:rPr lang="en-US" dirty="0" smtClean="0"/>
              <a:t>For substances </a:t>
            </a:r>
            <a:r>
              <a:rPr lang="en-US" dirty="0"/>
              <a:t>with actions that do not involve dopamine, observation may be all that is needed, or an anxiolytic may help</a:t>
            </a:r>
            <a:r>
              <a:rPr lang="en-US" dirty="0" smtClean="0"/>
              <a:t>.</a:t>
            </a:r>
          </a:p>
          <a:p>
            <a:r>
              <a:rPr lang="en-US" dirty="0" smtClean="0"/>
              <a:t>Psychotherapy –group/individual </a:t>
            </a:r>
          </a:p>
          <a:p>
            <a:r>
              <a:rPr lang="en-US" dirty="0" smtClean="0"/>
              <a:t>OT</a:t>
            </a:r>
            <a:endParaRPr lang="en-US" dirty="0"/>
          </a:p>
          <a:p>
            <a:endParaRPr lang="en-US" dirty="0"/>
          </a:p>
        </p:txBody>
      </p:sp>
    </p:spTree>
    <p:extLst>
      <p:ext uri="{BB962C8B-B14F-4D97-AF65-F5344CB8AC3E}">
        <p14:creationId xmlns:p14="http://schemas.microsoft.com/office/powerpoint/2010/main" val="3070570245"/>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62000"/>
          </a:xfrm>
        </p:spPr>
        <p:txBody>
          <a:bodyPr>
            <a:normAutofit/>
          </a:bodyPr>
          <a:lstStyle/>
          <a:p>
            <a:r>
              <a:rPr lang="en-US" b="1" dirty="0" smtClean="0"/>
              <a:t>PSYCHIATRIC EMERGENCIES </a:t>
            </a:r>
            <a:endParaRPr lang="en-US" dirty="0"/>
          </a:p>
        </p:txBody>
      </p:sp>
      <p:sp>
        <p:nvSpPr>
          <p:cNvPr id="3" name="Content Placeholder 2"/>
          <p:cNvSpPr>
            <a:spLocks noGrp="1"/>
          </p:cNvSpPr>
          <p:nvPr>
            <p:ph idx="1"/>
          </p:nvPr>
        </p:nvSpPr>
        <p:spPr>
          <a:xfrm>
            <a:off x="457200" y="838200"/>
            <a:ext cx="8229600" cy="5638800"/>
          </a:xfrm>
        </p:spPr>
        <p:txBody>
          <a:bodyPr>
            <a:normAutofit fontScale="92500" lnSpcReduction="20000"/>
          </a:bodyPr>
          <a:lstStyle/>
          <a:p>
            <a:r>
              <a:rPr lang="en-US" dirty="0" smtClean="0"/>
              <a:t> </a:t>
            </a:r>
            <a:r>
              <a:rPr lang="en-US" dirty="0"/>
              <a:t>A psychiatric emergency is any unusual </a:t>
            </a:r>
            <a:r>
              <a:rPr lang="en-US" dirty="0" err="1"/>
              <a:t>behaviour</a:t>
            </a:r>
            <a:r>
              <a:rPr lang="en-US" dirty="0"/>
              <a:t>, mood, or thought, which if not rapidly attended to may result in harm to a </a:t>
            </a:r>
            <a:r>
              <a:rPr lang="en-US" dirty="0" smtClean="0"/>
              <a:t>patient </a:t>
            </a:r>
            <a:r>
              <a:rPr lang="en-US" dirty="0"/>
              <a:t>or others</a:t>
            </a:r>
            <a:r>
              <a:rPr lang="en-US" dirty="0" smtClean="0"/>
              <a:t>.</a:t>
            </a:r>
            <a:endParaRPr lang="en-US" dirty="0"/>
          </a:p>
          <a:p>
            <a:pPr marL="0" indent="0">
              <a:buNone/>
            </a:pPr>
            <a:r>
              <a:rPr lang="en-US" dirty="0"/>
              <a:t> </a:t>
            </a:r>
            <a:r>
              <a:rPr lang="en-US" b="1" dirty="0"/>
              <a:t>Common Psychiatric Emergencies </a:t>
            </a:r>
            <a:endParaRPr lang="en-US" dirty="0"/>
          </a:p>
          <a:p>
            <a:pPr marL="0" indent="0">
              <a:buNone/>
            </a:pPr>
            <a:r>
              <a:rPr lang="en-US" dirty="0"/>
              <a:t>• Suicide </a:t>
            </a:r>
          </a:p>
          <a:p>
            <a:pPr marL="0" indent="0">
              <a:buNone/>
            </a:pPr>
            <a:r>
              <a:rPr lang="en-US" dirty="0"/>
              <a:t>• Violence </a:t>
            </a:r>
          </a:p>
          <a:p>
            <a:pPr marL="0" indent="0">
              <a:buNone/>
            </a:pPr>
            <a:r>
              <a:rPr lang="en-US" dirty="0"/>
              <a:t>• Abuse of child or adult </a:t>
            </a:r>
          </a:p>
          <a:p>
            <a:pPr marL="0" indent="0">
              <a:buNone/>
            </a:pPr>
            <a:r>
              <a:rPr lang="en-US" dirty="0"/>
              <a:t>• Adjustment disorder </a:t>
            </a:r>
          </a:p>
          <a:p>
            <a:pPr marL="0" indent="0">
              <a:buNone/>
            </a:pPr>
            <a:r>
              <a:rPr lang="en-US" dirty="0"/>
              <a:t>• Adolescent crises </a:t>
            </a:r>
          </a:p>
          <a:p>
            <a:pPr marL="0" indent="0">
              <a:buNone/>
            </a:pPr>
            <a:r>
              <a:rPr lang="en-US" dirty="0"/>
              <a:t>• </a:t>
            </a:r>
            <a:r>
              <a:rPr lang="en-US" dirty="0" smtClean="0"/>
              <a:t>Akathisia </a:t>
            </a:r>
          </a:p>
          <a:p>
            <a:pPr marL="0" indent="0">
              <a:buNone/>
            </a:pPr>
            <a:r>
              <a:rPr lang="en-US" dirty="0" smtClean="0"/>
              <a:t>Alcohol intoxication or withdrawal </a:t>
            </a:r>
          </a:p>
          <a:p>
            <a:pPr marL="0" indent="0">
              <a:buNone/>
            </a:pPr>
            <a:endParaRPr lang="en-US" dirty="0"/>
          </a:p>
        </p:txBody>
      </p:sp>
    </p:spTree>
    <p:extLst>
      <p:ext uri="{BB962C8B-B14F-4D97-AF65-F5344CB8AC3E}">
        <p14:creationId xmlns:p14="http://schemas.microsoft.com/office/powerpoint/2010/main" val="1732550248"/>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Psychiatric Emergencies</a:t>
            </a:r>
            <a:endParaRPr lang="en-US" dirty="0"/>
          </a:p>
        </p:txBody>
      </p:sp>
      <p:sp>
        <p:nvSpPr>
          <p:cNvPr id="3" name="Content Placeholder 2"/>
          <p:cNvSpPr>
            <a:spLocks noGrp="1"/>
          </p:cNvSpPr>
          <p:nvPr>
            <p:ph idx="1"/>
          </p:nvPr>
        </p:nvSpPr>
        <p:spPr/>
        <p:txBody>
          <a:bodyPr>
            <a:normAutofit lnSpcReduction="10000"/>
          </a:bodyPr>
          <a:lstStyle/>
          <a:p>
            <a:r>
              <a:rPr lang="en-US" dirty="0"/>
              <a:t>Catatonia </a:t>
            </a:r>
          </a:p>
          <a:p>
            <a:pPr marL="0" indent="0">
              <a:buNone/>
            </a:pPr>
            <a:r>
              <a:rPr lang="en-US" dirty="0"/>
              <a:t>• Delirium, dementia </a:t>
            </a:r>
          </a:p>
          <a:p>
            <a:pPr marL="0" indent="0">
              <a:buNone/>
            </a:pPr>
            <a:r>
              <a:rPr lang="en-US" dirty="0"/>
              <a:t>• Grief and bereavement </a:t>
            </a:r>
          </a:p>
          <a:p>
            <a:pPr marL="0" indent="0">
              <a:buNone/>
            </a:pPr>
            <a:r>
              <a:rPr lang="en-US" dirty="0"/>
              <a:t>• Mania </a:t>
            </a:r>
          </a:p>
          <a:p>
            <a:pPr marL="0" indent="0">
              <a:buNone/>
            </a:pPr>
            <a:r>
              <a:rPr lang="en-US" dirty="0"/>
              <a:t>• Panic attacks </a:t>
            </a:r>
          </a:p>
          <a:p>
            <a:pPr marL="0" indent="0">
              <a:buNone/>
            </a:pPr>
            <a:r>
              <a:rPr lang="en-US" dirty="0"/>
              <a:t>• Psychosis </a:t>
            </a:r>
          </a:p>
          <a:p>
            <a:pPr marL="0" indent="0">
              <a:buNone/>
            </a:pPr>
            <a:r>
              <a:rPr lang="en-US" dirty="0"/>
              <a:t>• Rape </a:t>
            </a:r>
          </a:p>
          <a:p>
            <a:pPr marL="0" indent="0">
              <a:buNone/>
            </a:pPr>
            <a:r>
              <a:rPr lang="en-US" dirty="0"/>
              <a:t>• Seizures </a:t>
            </a:r>
          </a:p>
          <a:p>
            <a:endParaRPr lang="en-US" dirty="0"/>
          </a:p>
        </p:txBody>
      </p:sp>
    </p:spTree>
    <p:extLst>
      <p:ext uri="{BB962C8B-B14F-4D97-AF65-F5344CB8AC3E}">
        <p14:creationId xmlns:p14="http://schemas.microsoft.com/office/powerpoint/2010/main" val="1037879128"/>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b="1" dirty="0" smtClean="0"/>
              <a:t>SUICIDE</a:t>
            </a:r>
            <a:endParaRPr lang="en-US" dirty="0"/>
          </a:p>
        </p:txBody>
      </p:sp>
      <p:sp>
        <p:nvSpPr>
          <p:cNvPr id="3" name="Content Placeholder 2"/>
          <p:cNvSpPr>
            <a:spLocks noGrp="1"/>
          </p:cNvSpPr>
          <p:nvPr>
            <p:ph idx="1"/>
          </p:nvPr>
        </p:nvSpPr>
        <p:spPr>
          <a:xfrm>
            <a:off x="457200" y="762000"/>
            <a:ext cx="8229600" cy="5867400"/>
          </a:xfrm>
        </p:spPr>
        <p:txBody>
          <a:bodyPr>
            <a:normAutofit fontScale="92500" lnSpcReduction="20000"/>
          </a:bodyPr>
          <a:lstStyle/>
          <a:p>
            <a:endParaRPr lang="en-US" dirty="0"/>
          </a:p>
          <a:p>
            <a:r>
              <a:rPr lang="en-US" dirty="0"/>
              <a:t> Suicide means deliberate self harm </a:t>
            </a:r>
          </a:p>
          <a:p>
            <a:r>
              <a:rPr lang="en-US" dirty="0"/>
              <a:t>It is the commonest cause of death among psychiatric patients. </a:t>
            </a:r>
          </a:p>
          <a:p>
            <a:r>
              <a:rPr lang="en-US" dirty="0"/>
              <a:t>Attempted suicide: unsuccessful suicidal act with a non-fatal outcome, </a:t>
            </a:r>
          </a:p>
          <a:p>
            <a:r>
              <a:rPr lang="en-US" dirty="0"/>
              <a:t>2-10% of attempted suicide eventually succeeds within 5 years. </a:t>
            </a:r>
          </a:p>
          <a:p>
            <a:r>
              <a:rPr lang="en-US" dirty="0"/>
              <a:t>Suicidal gesture: An attempted suicide where the person never intends to die by suicide sometime some of these persons may accidentally die during the act. </a:t>
            </a:r>
          </a:p>
          <a:p>
            <a:r>
              <a:rPr lang="en-US" dirty="0"/>
              <a:t>Attempted suicide in women while completed suicide is 2-4 times common in men</a:t>
            </a:r>
          </a:p>
        </p:txBody>
      </p:sp>
    </p:spTree>
    <p:extLst>
      <p:ext uri="{BB962C8B-B14F-4D97-AF65-F5344CB8AC3E}">
        <p14:creationId xmlns:p14="http://schemas.microsoft.com/office/powerpoint/2010/main" val="3822580259"/>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Causes of suicide</a:t>
            </a:r>
            <a:endParaRPr lang="en-US"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marL="0" indent="0">
              <a:buNone/>
            </a:pPr>
            <a:r>
              <a:rPr lang="en-US" dirty="0" smtClean="0"/>
              <a:t>1. Psychiatric </a:t>
            </a:r>
            <a:r>
              <a:rPr lang="en-US" dirty="0"/>
              <a:t>disorders-are a major cause of suicide i.e. </a:t>
            </a:r>
          </a:p>
          <a:p>
            <a:pPr>
              <a:buFont typeface="Wingdings" panose="05000000000000000000" pitchFamily="2" charset="2"/>
              <a:buChar char="ü"/>
            </a:pPr>
            <a:r>
              <a:rPr lang="en-US" dirty="0" smtClean="0"/>
              <a:t>Depression </a:t>
            </a:r>
            <a:endParaRPr lang="en-US" dirty="0"/>
          </a:p>
          <a:p>
            <a:pPr>
              <a:buFont typeface="Wingdings" panose="05000000000000000000" pitchFamily="2" charset="2"/>
              <a:buChar char="ü"/>
            </a:pPr>
            <a:r>
              <a:rPr lang="en-US" dirty="0" smtClean="0"/>
              <a:t>Alcoholism </a:t>
            </a:r>
            <a:r>
              <a:rPr lang="en-US" dirty="0"/>
              <a:t>and drug dependence </a:t>
            </a:r>
          </a:p>
          <a:p>
            <a:pPr>
              <a:buFont typeface="Wingdings" panose="05000000000000000000" pitchFamily="2" charset="2"/>
              <a:buChar char="ü"/>
            </a:pPr>
            <a:r>
              <a:rPr lang="en-US" dirty="0" smtClean="0"/>
              <a:t>Schizophrenia </a:t>
            </a:r>
            <a:endParaRPr lang="en-US" dirty="0"/>
          </a:p>
          <a:p>
            <a:pPr marL="0" indent="0">
              <a:buNone/>
            </a:pPr>
            <a:r>
              <a:rPr lang="en-US" dirty="0" smtClean="0"/>
              <a:t>2.  </a:t>
            </a:r>
            <a:r>
              <a:rPr lang="en-US" dirty="0"/>
              <a:t>Physical disorder - Patients with incurable or painful physical disorder like cancer and AIDS often commit suicide. </a:t>
            </a:r>
          </a:p>
          <a:p>
            <a:pPr marL="0" indent="0">
              <a:buNone/>
            </a:pPr>
            <a:r>
              <a:rPr lang="en-US" dirty="0" smtClean="0"/>
              <a:t>3. Psychosocial </a:t>
            </a:r>
            <a:r>
              <a:rPr lang="en-US" dirty="0"/>
              <a:t>Factors e.g. marital difficulties, Loss of loved ones by death etc., financial difficulties. </a:t>
            </a:r>
          </a:p>
          <a:p>
            <a:endParaRPr lang="en-US" dirty="0"/>
          </a:p>
          <a:p>
            <a:pPr marL="0" indent="0">
              <a:buNone/>
            </a:pPr>
            <a:endParaRPr lang="en-US" dirty="0"/>
          </a:p>
        </p:txBody>
      </p:sp>
    </p:spTree>
    <p:extLst>
      <p:ext uri="{BB962C8B-B14F-4D97-AF65-F5344CB8AC3E}">
        <p14:creationId xmlns:p14="http://schemas.microsoft.com/office/powerpoint/2010/main" val="575048257"/>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RISK FACTORS FOR SUICIDE</a:t>
            </a:r>
            <a:endParaRPr lang="en-US" dirty="0"/>
          </a:p>
        </p:txBody>
      </p:sp>
      <p:sp>
        <p:nvSpPr>
          <p:cNvPr id="3" name="Content Placeholder 2"/>
          <p:cNvSpPr>
            <a:spLocks noGrp="1"/>
          </p:cNvSpPr>
          <p:nvPr>
            <p:ph idx="1"/>
          </p:nvPr>
        </p:nvSpPr>
        <p:spPr>
          <a:xfrm>
            <a:off x="457200" y="914400"/>
            <a:ext cx="8229600" cy="5943600"/>
          </a:xfrm>
        </p:spPr>
        <p:txBody>
          <a:bodyPr>
            <a:normAutofit fontScale="85000" lnSpcReduction="20000"/>
          </a:bodyPr>
          <a:lstStyle/>
          <a:p>
            <a:pPr>
              <a:buFont typeface="Wingdings" panose="05000000000000000000" pitchFamily="2" charset="2"/>
              <a:buChar char="q"/>
            </a:pPr>
            <a:r>
              <a:rPr lang="en-US" dirty="0" smtClean="0"/>
              <a:t>Age </a:t>
            </a:r>
            <a:r>
              <a:rPr lang="en-US" dirty="0"/>
              <a:t>&gt;40 years </a:t>
            </a:r>
          </a:p>
          <a:p>
            <a:pPr>
              <a:buFont typeface="Wingdings" panose="05000000000000000000" pitchFamily="2" charset="2"/>
              <a:buChar char="q"/>
            </a:pPr>
            <a:r>
              <a:rPr lang="en-US" dirty="0" smtClean="0"/>
              <a:t>Male </a:t>
            </a:r>
            <a:r>
              <a:rPr lang="en-US" dirty="0"/>
              <a:t>sex </a:t>
            </a:r>
          </a:p>
          <a:p>
            <a:pPr>
              <a:buFont typeface="Wingdings" panose="05000000000000000000" pitchFamily="2" charset="2"/>
              <a:buChar char="q"/>
            </a:pPr>
            <a:r>
              <a:rPr lang="en-US" dirty="0" smtClean="0"/>
              <a:t>Staying </a:t>
            </a:r>
            <a:r>
              <a:rPr lang="en-US" dirty="0"/>
              <a:t>single </a:t>
            </a:r>
            <a:endParaRPr lang="en-US" dirty="0" smtClean="0"/>
          </a:p>
          <a:p>
            <a:pPr>
              <a:buFont typeface="Wingdings" panose="05000000000000000000" pitchFamily="2" charset="2"/>
              <a:buChar char="q"/>
            </a:pPr>
            <a:r>
              <a:rPr lang="en-US" dirty="0" smtClean="0"/>
              <a:t>Previous suicidal attempt. </a:t>
            </a:r>
          </a:p>
          <a:p>
            <a:pPr>
              <a:buFont typeface="Wingdings" panose="05000000000000000000" pitchFamily="2" charset="2"/>
              <a:buChar char="q"/>
            </a:pPr>
            <a:r>
              <a:rPr lang="en-US" dirty="0" smtClean="0"/>
              <a:t>Depression </a:t>
            </a:r>
            <a:r>
              <a:rPr lang="en-US" dirty="0"/>
              <a:t>(Risk about 25 times more than normal) Presence of guilt, self-accusation, Agitation, nihilistic ideation, worthlessness, </a:t>
            </a:r>
            <a:r>
              <a:rPr lang="en-US" dirty="0" err="1"/>
              <a:t>Hypochondriacal</a:t>
            </a:r>
            <a:r>
              <a:rPr lang="en-US" dirty="0"/>
              <a:t> delusions and severe insomnia </a:t>
            </a:r>
          </a:p>
          <a:p>
            <a:pPr marL="0" indent="0">
              <a:buNone/>
            </a:pPr>
            <a:r>
              <a:rPr lang="en-US" dirty="0" smtClean="0"/>
              <a:t>	More </a:t>
            </a:r>
            <a:r>
              <a:rPr lang="en-US" dirty="0"/>
              <a:t>at the beginning or towards the end of a </a:t>
            </a:r>
            <a:r>
              <a:rPr lang="en-US" dirty="0" smtClean="0"/>
              <a:t>	depression </a:t>
            </a:r>
            <a:r>
              <a:rPr lang="en-US" dirty="0"/>
              <a:t>episode </a:t>
            </a:r>
          </a:p>
          <a:p>
            <a:pPr>
              <a:buFont typeface="Wingdings" panose="05000000000000000000" pitchFamily="2" charset="2"/>
              <a:buChar char="q"/>
            </a:pPr>
            <a:r>
              <a:rPr lang="en-US" dirty="0" smtClean="0"/>
              <a:t> </a:t>
            </a:r>
            <a:r>
              <a:rPr lang="en-US" dirty="0"/>
              <a:t>Suicidal pre-occupation </a:t>
            </a:r>
          </a:p>
          <a:p>
            <a:pPr>
              <a:buFont typeface="Wingdings" panose="05000000000000000000" pitchFamily="2" charset="2"/>
              <a:buChar char="q"/>
            </a:pPr>
            <a:r>
              <a:rPr lang="en-US" dirty="0" smtClean="0"/>
              <a:t>Alcohol </a:t>
            </a:r>
            <a:r>
              <a:rPr lang="en-US" dirty="0"/>
              <a:t>or drug dependence </a:t>
            </a:r>
          </a:p>
          <a:p>
            <a:pPr>
              <a:buFont typeface="Wingdings" panose="05000000000000000000" pitchFamily="2" charset="2"/>
              <a:buChar char="q"/>
            </a:pPr>
            <a:r>
              <a:rPr lang="en-US" dirty="0" smtClean="0"/>
              <a:t>Recent </a:t>
            </a:r>
            <a:r>
              <a:rPr lang="en-US" dirty="0"/>
              <a:t>serious loss or major stressful life event </a:t>
            </a:r>
          </a:p>
          <a:p>
            <a:pPr>
              <a:buFont typeface="Wingdings" panose="05000000000000000000" pitchFamily="2" charset="2"/>
              <a:buChar char="q"/>
            </a:pPr>
            <a:r>
              <a:rPr lang="en-US" dirty="0" smtClean="0"/>
              <a:t>Severe</a:t>
            </a:r>
            <a:r>
              <a:rPr lang="en-US" dirty="0"/>
              <a:t>, disability, painful or untreatable physical illness </a:t>
            </a:r>
          </a:p>
          <a:p>
            <a:pPr>
              <a:buFont typeface="Wingdings" panose="05000000000000000000" pitchFamily="2" charset="2"/>
              <a:buChar char="q"/>
            </a:pPr>
            <a:r>
              <a:rPr lang="en-US" dirty="0" smtClean="0"/>
              <a:t>Social </a:t>
            </a:r>
            <a:r>
              <a:rPr lang="en-US" dirty="0"/>
              <a:t>isolation </a:t>
            </a:r>
          </a:p>
          <a:p>
            <a:endParaRPr lang="en-US" dirty="0"/>
          </a:p>
        </p:txBody>
      </p:sp>
    </p:spTree>
    <p:extLst>
      <p:ext uri="{BB962C8B-B14F-4D97-AF65-F5344CB8AC3E}">
        <p14:creationId xmlns:p14="http://schemas.microsoft.com/office/powerpoint/2010/main" val="576194715"/>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Clues to Suicide</a:t>
            </a:r>
            <a:endParaRPr lang="en-US" dirty="0"/>
          </a:p>
        </p:txBody>
      </p:sp>
      <p:sp>
        <p:nvSpPr>
          <p:cNvPr id="3" name="Content Placeholder 2"/>
          <p:cNvSpPr>
            <a:spLocks noGrp="1"/>
          </p:cNvSpPr>
          <p:nvPr>
            <p:ph idx="1"/>
          </p:nvPr>
        </p:nvSpPr>
        <p:spPr>
          <a:xfrm>
            <a:off x="457200" y="914400"/>
            <a:ext cx="8229600" cy="5867400"/>
          </a:xfrm>
        </p:spPr>
        <p:txBody>
          <a:bodyPr>
            <a:normAutofit fontScale="77500" lnSpcReduction="20000"/>
          </a:bodyPr>
          <a:lstStyle/>
          <a:p>
            <a:pPr marL="0" indent="0">
              <a:buNone/>
            </a:pPr>
            <a:r>
              <a:rPr lang="en-US" dirty="0"/>
              <a:t>People who are contemplating suicide often provide clues that must be carefully assessed; </a:t>
            </a:r>
          </a:p>
          <a:p>
            <a:r>
              <a:rPr lang="en-US" b="1" dirty="0" smtClean="0"/>
              <a:t>Verbal </a:t>
            </a:r>
            <a:r>
              <a:rPr lang="en-US" b="1" dirty="0"/>
              <a:t>Clues: </a:t>
            </a:r>
            <a:r>
              <a:rPr lang="en-US" dirty="0"/>
              <a:t>The individual may sometimes make direct or indirect statements about wanting to die or "end it all." </a:t>
            </a:r>
          </a:p>
          <a:p>
            <a:r>
              <a:rPr lang="en-US" b="1" dirty="0" smtClean="0"/>
              <a:t>Behavioral </a:t>
            </a:r>
            <a:r>
              <a:rPr lang="en-US" b="1" dirty="0"/>
              <a:t>Clues: </a:t>
            </a:r>
            <a:r>
              <a:rPr lang="en-US" dirty="0"/>
              <a:t>A direct </a:t>
            </a:r>
            <a:r>
              <a:rPr lang="en-US" dirty="0" smtClean="0"/>
              <a:t>behavioral </a:t>
            </a:r>
            <a:r>
              <a:rPr lang="en-US" dirty="0"/>
              <a:t>clue is ingestion of a small amount of some potentially lethal drug. Prematurely or inappropriately "putting one's affairs in order," arranging for a casket, and giving away prized possessions are indirect clues. </a:t>
            </a:r>
          </a:p>
          <a:p>
            <a:r>
              <a:rPr lang="en-US" b="1" dirty="0" smtClean="0"/>
              <a:t>Situational </a:t>
            </a:r>
            <a:r>
              <a:rPr lang="en-US" b="1" dirty="0"/>
              <a:t>Clues: </a:t>
            </a:r>
            <a:r>
              <a:rPr lang="en-US" dirty="0"/>
              <a:t>Situational clues are inherent in life experiences associated with major stress, e.g., an impending surgical procedure, a diagnosis of chronic fatal illness, or a recent loss--the death of a loved one, loss of a job, eviction, retirement, etc. </a:t>
            </a:r>
          </a:p>
          <a:p>
            <a:r>
              <a:rPr lang="en-US" b="1" dirty="0" smtClean="0"/>
              <a:t>Syndromic </a:t>
            </a:r>
            <a:r>
              <a:rPr lang="en-US" b="1" dirty="0"/>
              <a:t>Clues: </a:t>
            </a:r>
            <a:r>
              <a:rPr lang="en-US" dirty="0"/>
              <a:t>Syndromic clues are certain constellations of emotions that are commonly associated with suicide. </a:t>
            </a:r>
          </a:p>
          <a:p>
            <a:endParaRPr lang="en-US" dirty="0"/>
          </a:p>
          <a:p>
            <a:endParaRPr lang="en-US" dirty="0"/>
          </a:p>
        </p:txBody>
      </p:sp>
    </p:spTree>
    <p:extLst>
      <p:ext uri="{BB962C8B-B14F-4D97-AF65-F5344CB8AC3E}">
        <p14:creationId xmlns:p14="http://schemas.microsoft.com/office/powerpoint/2010/main" val="2394224429"/>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lstStyle/>
          <a:p>
            <a:r>
              <a:rPr lang="en-US" dirty="0" smtClean="0"/>
              <a:t>Clues </a:t>
            </a:r>
            <a:endParaRPr lang="en-US" dirty="0"/>
          </a:p>
        </p:txBody>
      </p:sp>
      <p:sp>
        <p:nvSpPr>
          <p:cNvPr id="3" name="Content Placeholder 2"/>
          <p:cNvSpPr>
            <a:spLocks noGrp="1"/>
          </p:cNvSpPr>
          <p:nvPr>
            <p:ph idx="1"/>
          </p:nvPr>
        </p:nvSpPr>
        <p:spPr>
          <a:xfrm>
            <a:off x="457200" y="1524000"/>
            <a:ext cx="8229600" cy="4525963"/>
          </a:xfrm>
        </p:spPr>
        <p:txBody>
          <a:bodyPr>
            <a:normAutofit fontScale="85000" lnSpcReduction="10000"/>
          </a:bodyPr>
          <a:lstStyle/>
          <a:p>
            <a:pPr lvl="1"/>
            <a:r>
              <a:rPr lang="en-US" dirty="0" smtClean="0"/>
              <a:t>Syndromic clues </a:t>
            </a:r>
            <a:endParaRPr lang="en-US" dirty="0"/>
          </a:p>
          <a:p>
            <a:pPr marL="0" indent="0">
              <a:buNone/>
            </a:pPr>
            <a:r>
              <a:rPr lang="en-US" b="1" dirty="0"/>
              <a:t>Depression </a:t>
            </a:r>
            <a:r>
              <a:rPr lang="en-US" dirty="0"/>
              <a:t>is the most common one, but there are others. </a:t>
            </a:r>
          </a:p>
          <a:p>
            <a:pPr marL="0" indent="0">
              <a:buNone/>
            </a:pPr>
            <a:r>
              <a:rPr lang="en-US" dirty="0"/>
              <a:t>- </a:t>
            </a:r>
            <a:r>
              <a:rPr lang="en-US" b="1" dirty="0"/>
              <a:t>disoriented</a:t>
            </a:r>
            <a:r>
              <a:rPr lang="en-US" dirty="0"/>
              <a:t>--e.g., in </a:t>
            </a:r>
            <a:r>
              <a:rPr lang="en-US" b="1" dirty="0"/>
              <a:t>acute delirium</a:t>
            </a:r>
            <a:r>
              <a:rPr lang="en-US" dirty="0"/>
              <a:t>, suicidal </a:t>
            </a:r>
            <a:r>
              <a:rPr lang="en-US" dirty="0" err="1"/>
              <a:t>behaviour</a:t>
            </a:r>
            <a:r>
              <a:rPr lang="en-US" dirty="0"/>
              <a:t> may be an attempt to flee some imagined threat </a:t>
            </a:r>
          </a:p>
          <a:p>
            <a:pPr marL="0" indent="0">
              <a:buNone/>
            </a:pPr>
            <a:r>
              <a:rPr lang="en-US" dirty="0"/>
              <a:t>- </a:t>
            </a:r>
            <a:r>
              <a:rPr lang="en-US" b="1" dirty="0"/>
              <a:t>psychotic disorders </a:t>
            </a:r>
            <a:r>
              <a:rPr lang="en-US" dirty="0"/>
              <a:t>associated with impaired impulse control may attempt suicide in response to hallucinations commanding them to do so. </a:t>
            </a:r>
          </a:p>
          <a:p>
            <a:pPr marL="0" indent="0">
              <a:buNone/>
            </a:pPr>
            <a:r>
              <a:rPr lang="en-US" dirty="0"/>
              <a:t>- </a:t>
            </a:r>
            <a:r>
              <a:rPr lang="en-US" b="1" dirty="0"/>
              <a:t>defiant people</a:t>
            </a:r>
            <a:r>
              <a:rPr lang="en-US" dirty="0"/>
              <a:t>, who may view suicide as a means of taking an active, resistive stance in the face of some real or imagined threat to their self-esteem. </a:t>
            </a:r>
          </a:p>
          <a:p>
            <a:pPr marL="0" indent="0">
              <a:buNone/>
            </a:pPr>
            <a:endParaRPr lang="en-US" dirty="0"/>
          </a:p>
        </p:txBody>
      </p:sp>
    </p:spTree>
    <p:extLst>
      <p:ext uri="{BB962C8B-B14F-4D97-AF65-F5344CB8AC3E}">
        <p14:creationId xmlns:p14="http://schemas.microsoft.com/office/powerpoint/2010/main" val="3103577172"/>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Steps of preventing suicide</a:t>
            </a:r>
            <a:endParaRPr lang="en-US" dirty="0"/>
          </a:p>
        </p:txBody>
      </p:sp>
      <p:sp>
        <p:nvSpPr>
          <p:cNvPr id="3" name="Content Placeholder 2"/>
          <p:cNvSpPr>
            <a:spLocks noGrp="1"/>
          </p:cNvSpPr>
          <p:nvPr>
            <p:ph idx="1"/>
          </p:nvPr>
        </p:nvSpPr>
        <p:spPr>
          <a:xfrm>
            <a:off x="457200" y="1371600"/>
            <a:ext cx="8229600" cy="5181600"/>
          </a:xfrm>
        </p:spPr>
        <p:txBody>
          <a:bodyPr>
            <a:normAutofit fontScale="85000" lnSpcReduction="20000"/>
          </a:bodyPr>
          <a:lstStyle/>
          <a:p>
            <a:endParaRPr lang="en-US" dirty="0"/>
          </a:p>
          <a:p>
            <a:pPr marL="0" indent="0">
              <a:buNone/>
            </a:pPr>
            <a:r>
              <a:rPr lang="en-US" dirty="0" smtClean="0"/>
              <a:t>Take </a:t>
            </a:r>
            <a:r>
              <a:rPr lang="en-US" dirty="0"/>
              <a:t>all suicidal threats, gestures or attempts seriously and notify a psychiatrist. </a:t>
            </a:r>
          </a:p>
          <a:p>
            <a:pPr marL="0" indent="0">
              <a:buNone/>
            </a:pPr>
            <a:r>
              <a:rPr lang="en-US" dirty="0" smtClean="0"/>
              <a:t>Close </a:t>
            </a:r>
            <a:r>
              <a:rPr lang="en-US" dirty="0"/>
              <a:t>monitoring of such patients using suicide caution cards </a:t>
            </a:r>
          </a:p>
          <a:p>
            <a:pPr marL="0" indent="0">
              <a:buNone/>
            </a:pPr>
            <a:r>
              <a:rPr lang="en-US" dirty="0" smtClean="0"/>
              <a:t>Continuous </a:t>
            </a:r>
            <a:r>
              <a:rPr lang="en-US" dirty="0"/>
              <a:t>nursing observation on one-to-one basis </a:t>
            </a:r>
          </a:p>
          <a:p>
            <a:pPr marL="0" indent="0">
              <a:buNone/>
            </a:pPr>
            <a:r>
              <a:rPr lang="en-US" dirty="0" smtClean="0"/>
              <a:t>Restrain</a:t>
            </a:r>
            <a:r>
              <a:rPr lang="en-US" dirty="0"/>
              <a:t>, if warranted </a:t>
            </a:r>
          </a:p>
          <a:p>
            <a:pPr marL="0" indent="0">
              <a:buNone/>
            </a:pPr>
            <a:r>
              <a:rPr lang="en-US" dirty="0" smtClean="0"/>
              <a:t>Continuous </a:t>
            </a:r>
            <a:r>
              <a:rPr lang="en-US" dirty="0"/>
              <a:t>assessment of risk </a:t>
            </a:r>
            <a:endParaRPr lang="en-US" dirty="0" smtClean="0"/>
          </a:p>
          <a:p>
            <a:pPr marL="0" indent="0">
              <a:buNone/>
            </a:pPr>
            <a:r>
              <a:rPr lang="en-US" dirty="0" smtClean="0"/>
              <a:t>Ensure </a:t>
            </a:r>
            <a:r>
              <a:rPr lang="en-US" dirty="0"/>
              <a:t>hazard-free environment </a:t>
            </a:r>
          </a:p>
          <a:p>
            <a:pPr marL="0" indent="0">
              <a:buNone/>
            </a:pPr>
            <a:r>
              <a:rPr lang="en-US" dirty="0" smtClean="0"/>
              <a:t>Recording </a:t>
            </a:r>
            <a:r>
              <a:rPr lang="en-US" dirty="0"/>
              <a:t>of mood, thoughts and </a:t>
            </a:r>
            <a:r>
              <a:rPr lang="en-US" dirty="0" err="1"/>
              <a:t>behaviour</a:t>
            </a:r>
            <a:r>
              <a:rPr lang="en-US" dirty="0"/>
              <a:t> every 15–30 minutes </a:t>
            </a:r>
          </a:p>
          <a:p>
            <a:pPr marL="0" indent="0">
              <a:buNone/>
            </a:pPr>
            <a:r>
              <a:rPr lang="en-US" dirty="0" smtClean="0"/>
              <a:t>Supervise </a:t>
            </a:r>
            <a:r>
              <a:rPr lang="en-US" dirty="0"/>
              <a:t>medication intake to ensure that patient swallows tablets </a:t>
            </a:r>
          </a:p>
          <a:p>
            <a:endParaRPr lang="en-US" dirty="0"/>
          </a:p>
        </p:txBody>
      </p:sp>
    </p:spTree>
    <p:extLst>
      <p:ext uri="{BB962C8B-B14F-4D97-AF65-F5344CB8AC3E}">
        <p14:creationId xmlns:p14="http://schemas.microsoft.com/office/powerpoint/2010/main" val="700137564"/>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b="1" dirty="0" smtClean="0"/>
              <a:t/>
            </a:r>
            <a:br>
              <a:rPr lang="en-US" b="1" dirty="0" smtClean="0"/>
            </a:br>
            <a:r>
              <a:rPr lang="en-US" b="1" dirty="0" smtClean="0"/>
              <a:t>Psychobiological </a:t>
            </a:r>
            <a:r>
              <a:rPr lang="en-US" b="1" dirty="0"/>
              <a:t>Interventions </a:t>
            </a:r>
            <a:r>
              <a:rPr lang="en-US" dirty="0"/>
              <a:t/>
            </a:r>
            <a:br>
              <a:rPr lang="en-US" dirty="0"/>
            </a:br>
            <a:endParaRPr lang="en-US" dirty="0"/>
          </a:p>
        </p:txBody>
      </p:sp>
      <p:sp>
        <p:nvSpPr>
          <p:cNvPr id="3" name="Content Placeholder 2"/>
          <p:cNvSpPr>
            <a:spLocks noGrp="1"/>
          </p:cNvSpPr>
          <p:nvPr>
            <p:ph idx="1"/>
          </p:nvPr>
        </p:nvSpPr>
        <p:spPr>
          <a:xfrm>
            <a:off x="457200" y="1295400"/>
            <a:ext cx="8229600" cy="5105400"/>
          </a:xfrm>
        </p:spPr>
        <p:txBody>
          <a:bodyPr>
            <a:normAutofit lnSpcReduction="10000"/>
          </a:bodyPr>
          <a:lstStyle/>
          <a:p>
            <a:r>
              <a:rPr lang="en-US" dirty="0" smtClean="0"/>
              <a:t>Electroconvulsive </a:t>
            </a:r>
            <a:r>
              <a:rPr lang="en-US" dirty="0"/>
              <a:t>therapy (ECT) </a:t>
            </a:r>
            <a:endParaRPr lang="en-US" dirty="0" smtClean="0"/>
          </a:p>
          <a:p>
            <a:r>
              <a:rPr lang="en-US" dirty="0" smtClean="0"/>
              <a:t>Antidepressants </a:t>
            </a:r>
            <a:r>
              <a:rPr lang="en-US" dirty="0"/>
              <a:t>(SSRIs are preferred to tricyclic antidepressants considering their safety profile even when overdosed) </a:t>
            </a:r>
          </a:p>
          <a:p>
            <a:r>
              <a:rPr lang="en-US" dirty="0" smtClean="0"/>
              <a:t>Antipsychotics </a:t>
            </a:r>
            <a:r>
              <a:rPr lang="en-US" dirty="0"/>
              <a:t>(atypical antipsychotics are preferred to the typical ones because these have fewer adverse effects) </a:t>
            </a:r>
          </a:p>
          <a:p>
            <a:r>
              <a:rPr lang="en-US" dirty="0" smtClean="0"/>
              <a:t>Anti-anxiety </a:t>
            </a:r>
            <a:r>
              <a:rPr lang="en-US" dirty="0"/>
              <a:t>agents to control anxiety and insomnia. </a:t>
            </a:r>
          </a:p>
          <a:p>
            <a:r>
              <a:rPr lang="en-US" dirty="0" smtClean="0"/>
              <a:t>Counselling </a:t>
            </a:r>
            <a:endParaRPr lang="en-US" dirty="0"/>
          </a:p>
          <a:p>
            <a:endParaRPr lang="en-US" dirty="0"/>
          </a:p>
        </p:txBody>
      </p:sp>
    </p:spTree>
    <p:extLst>
      <p:ext uri="{BB962C8B-B14F-4D97-AF65-F5344CB8AC3E}">
        <p14:creationId xmlns:p14="http://schemas.microsoft.com/office/powerpoint/2010/main" val="2072741963"/>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868362"/>
          </a:xfrm>
        </p:spPr>
        <p:txBody>
          <a:bodyPr>
            <a:normAutofit fontScale="90000"/>
          </a:bodyPr>
          <a:lstStyle/>
          <a:p>
            <a:r>
              <a:rPr lang="en-US" b="1" dirty="0" smtClean="0"/>
              <a:t>ANGER, AGGRESSION AND VIOLENCE </a:t>
            </a: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r>
              <a:rPr lang="en-US" b="1" dirty="0"/>
              <a:t>Anger </a:t>
            </a:r>
            <a:r>
              <a:rPr lang="en-US" dirty="0"/>
              <a:t>is an emotional response to frustration of desires or needs. </a:t>
            </a:r>
          </a:p>
          <a:p>
            <a:r>
              <a:rPr lang="en-US" b="1" dirty="0"/>
              <a:t>Aggression </a:t>
            </a:r>
            <a:r>
              <a:rPr lang="en-US" dirty="0"/>
              <a:t>is a harsh verbal or physical action that reflects rage, hostility and a potential destruction or intent to cause harm. This may be directed towards objects, others or self. </a:t>
            </a:r>
          </a:p>
          <a:p>
            <a:r>
              <a:rPr lang="en-US" b="1" dirty="0"/>
              <a:t>Violence </a:t>
            </a:r>
            <a:r>
              <a:rPr lang="en-US" dirty="0"/>
              <a:t>is a destructive human </a:t>
            </a:r>
            <a:r>
              <a:rPr lang="en-US" dirty="0" err="1"/>
              <a:t>behaviours</a:t>
            </a:r>
            <a:r>
              <a:rPr lang="en-US" dirty="0"/>
              <a:t> and responses directed towards others. It is marked by physical aggression by one person against another </a:t>
            </a:r>
          </a:p>
        </p:txBody>
      </p:sp>
    </p:spTree>
    <p:extLst>
      <p:ext uri="{BB962C8B-B14F-4D97-AF65-F5344CB8AC3E}">
        <p14:creationId xmlns:p14="http://schemas.microsoft.com/office/powerpoint/2010/main" val="1084856973"/>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Anger, Aggression and violence </a:t>
            </a:r>
            <a:endParaRPr lang="en-US" dirty="0"/>
          </a:p>
        </p:txBody>
      </p:sp>
      <p:sp>
        <p:nvSpPr>
          <p:cNvPr id="3" name="Content Placeholder 2"/>
          <p:cNvSpPr>
            <a:spLocks noGrp="1"/>
          </p:cNvSpPr>
          <p:nvPr>
            <p:ph idx="1"/>
          </p:nvPr>
        </p:nvSpPr>
        <p:spPr>
          <a:xfrm>
            <a:off x="457200" y="1066800"/>
            <a:ext cx="8229600" cy="5334000"/>
          </a:xfrm>
        </p:spPr>
        <p:txBody>
          <a:bodyPr>
            <a:normAutofit/>
          </a:bodyPr>
          <a:lstStyle/>
          <a:p>
            <a:pPr marL="0" indent="0">
              <a:buNone/>
            </a:pPr>
            <a:r>
              <a:rPr lang="en-US" b="1" dirty="0" smtClean="0"/>
              <a:t>		Stages </a:t>
            </a:r>
            <a:r>
              <a:rPr lang="en-US" b="1" dirty="0"/>
              <a:t>of Violence Cycle </a:t>
            </a:r>
            <a:endParaRPr lang="en-US" b="1" dirty="0" smtClean="0"/>
          </a:p>
          <a:p>
            <a:r>
              <a:rPr lang="en-US" b="1" dirty="0"/>
              <a:t>Pre-assaultive stage </a:t>
            </a:r>
            <a:r>
              <a:rPr lang="en-US" dirty="0"/>
              <a:t>During this stage the patient is restless, agitated and may report increasing tension and irritability. </a:t>
            </a:r>
          </a:p>
          <a:p>
            <a:r>
              <a:rPr lang="en-US" b="1" dirty="0"/>
              <a:t>Assaultive state </a:t>
            </a:r>
            <a:r>
              <a:rPr lang="en-US" dirty="0"/>
              <a:t>The patient is physically and/or verbally aggressive and may be destructive. </a:t>
            </a:r>
          </a:p>
          <a:p>
            <a:r>
              <a:rPr lang="en-US" b="1" dirty="0"/>
              <a:t>Post-assaultive stage </a:t>
            </a:r>
            <a:r>
              <a:rPr lang="en-US" dirty="0"/>
              <a:t>After the aggressive outburst is over and the patient returns to his baseline </a:t>
            </a:r>
            <a:r>
              <a:rPr lang="en-US" dirty="0" err="1"/>
              <a:t>behaviour</a:t>
            </a:r>
            <a:r>
              <a:rPr lang="en-US" dirty="0"/>
              <a:t> </a:t>
            </a:r>
          </a:p>
        </p:txBody>
      </p:sp>
    </p:spTree>
    <p:extLst>
      <p:ext uri="{BB962C8B-B14F-4D97-AF65-F5344CB8AC3E}">
        <p14:creationId xmlns:p14="http://schemas.microsoft.com/office/powerpoint/2010/main" val="3621584794"/>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Comorbidity </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psychiatric </a:t>
            </a:r>
            <a:r>
              <a:rPr lang="en-US" dirty="0"/>
              <a:t>disorders associated with aggression: </a:t>
            </a:r>
          </a:p>
          <a:p>
            <a:pPr>
              <a:buFont typeface="Wingdings" panose="05000000000000000000" pitchFamily="2" charset="2"/>
              <a:buChar char="Ø"/>
            </a:pPr>
            <a:r>
              <a:rPr lang="en-US" dirty="0" smtClean="0"/>
              <a:t>Psychosis </a:t>
            </a:r>
            <a:r>
              <a:rPr lang="en-US" dirty="0"/>
              <a:t>with positive symptoms </a:t>
            </a:r>
          </a:p>
          <a:p>
            <a:pPr>
              <a:buFont typeface="Wingdings" panose="05000000000000000000" pitchFamily="2" charset="2"/>
              <a:buChar char="Ø"/>
            </a:pPr>
            <a:r>
              <a:rPr lang="en-US" dirty="0" smtClean="0"/>
              <a:t>Mania </a:t>
            </a:r>
            <a:endParaRPr lang="en-US" dirty="0"/>
          </a:p>
          <a:p>
            <a:pPr>
              <a:buFont typeface="Wingdings" panose="05000000000000000000" pitchFamily="2" charset="2"/>
              <a:buChar char="Ø"/>
            </a:pPr>
            <a:r>
              <a:rPr lang="en-US" dirty="0" smtClean="0"/>
              <a:t>Depression </a:t>
            </a:r>
            <a:endParaRPr lang="en-US" dirty="0"/>
          </a:p>
          <a:p>
            <a:pPr>
              <a:buFont typeface="Wingdings" panose="05000000000000000000" pitchFamily="2" charset="2"/>
              <a:buChar char="Ø"/>
            </a:pPr>
            <a:r>
              <a:rPr lang="en-US" dirty="0" smtClean="0"/>
              <a:t>Post-traumatic </a:t>
            </a:r>
            <a:r>
              <a:rPr lang="en-US" dirty="0"/>
              <a:t>stress disorder </a:t>
            </a:r>
          </a:p>
          <a:p>
            <a:pPr>
              <a:buFont typeface="Wingdings" panose="05000000000000000000" pitchFamily="2" charset="2"/>
              <a:buChar char="Ø"/>
            </a:pPr>
            <a:r>
              <a:rPr lang="en-US" dirty="0" smtClean="0"/>
              <a:t>Antisocial </a:t>
            </a:r>
            <a:r>
              <a:rPr lang="en-US" dirty="0"/>
              <a:t>and borderline personality disorders </a:t>
            </a:r>
            <a:endParaRPr lang="en-US" dirty="0" smtClean="0"/>
          </a:p>
          <a:p>
            <a:pPr>
              <a:buFont typeface="Wingdings" panose="05000000000000000000" pitchFamily="2" charset="2"/>
              <a:buChar char="Ø"/>
            </a:pPr>
            <a:r>
              <a:rPr lang="en-US" dirty="0" smtClean="0"/>
              <a:t>Substance-use </a:t>
            </a:r>
            <a:r>
              <a:rPr lang="en-US" dirty="0"/>
              <a:t>related disorders </a:t>
            </a:r>
          </a:p>
          <a:p>
            <a:endParaRPr lang="en-US" dirty="0"/>
          </a:p>
        </p:txBody>
      </p:sp>
    </p:spTree>
    <p:extLst>
      <p:ext uri="{BB962C8B-B14F-4D97-AF65-F5344CB8AC3E}">
        <p14:creationId xmlns:p14="http://schemas.microsoft.com/office/powerpoint/2010/main" val="340065982"/>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Indicators of Impending Violence </a:t>
            </a:r>
            <a:endParaRPr lang="en-US" dirty="0"/>
          </a:p>
        </p:txBody>
      </p:sp>
      <p:sp>
        <p:nvSpPr>
          <p:cNvPr id="3" name="Content Placeholder 2"/>
          <p:cNvSpPr>
            <a:spLocks noGrp="1"/>
          </p:cNvSpPr>
          <p:nvPr>
            <p:ph idx="1"/>
          </p:nvPr>
        </p:nvSpPr>
        <p:spPr>
          <a:xfrm>
            <a:off x="457200" y="1371600"/>
            <a:ext cx="8229600" cy="5410200"/>
          </a:xfrm>
        </p:spPr>
        <p:txBody>
          <a:bodyPr>
            <a:normAutofit lnSpcReduction="10000"/>
          </a:bodyPr>
          <a:lstStyle/>
          <a:p>
            <a:pPr marL="0" indent="0">
              <a:buNone/>
            </a:pPr>
            <a:r>
              <a:rPr lang="en-US" dirty="0" smtClean="0"/>
              <a:t>1. Recent </a:t>
            </a:r>
            <a:r>
              <a:rPr lang="en-US" dirty="0"/>
              <a:t>aggressive outbursts </a:t>
            </a:r>
          </a:p>
          <a:p>
            <a:pPr marL="0" indent="0">
              <a:buNone/>
            </a:pPr>
            <a:r>
              <a:rPr lang="en-US" dirty="0" smtClean="0"/>
              <a:t>2. Alcohol </a:t>
            </a:r>
            <a:r>
              <a:rPr lang="en-US" dirty="0"/>
              <a:t>or drug intoxication </a:t>
            </a:r>
          </a:p>
          <a:p>
            <a:pPr marL="0" indent="0">
              <a:buNone/>
            </a:pPr>
            <a:r>
              <a:rPr lang="en-US" dirty="0" smtClean="0"/>
              <a:t>3. Signs </a:t>
            </a:r>
            <a:r>
              <a:rPr lang="en-US" dirty="0"/>
              <a:t>preceding violence: Hyperactivity, Argumentativeness, verbal abuses and profanities, Loud voice , Increasing anxiety and tension, rigid posture, clenched fists and jaw and tense facial muscles, Staring into others’ eyes or avoidance of eye contact and Absolute silence and unwillingness to talk </a:t>
            </a:r>
            <a:endParaRPr lang="en-US" dirty="0" smtClean="0"/>
          </a:p>
          <a:p>
            <a:pPr marL="0" indent="0">
              <a:buNone/>
            </a:pPr>
            <a:r>
              <a:rPr lang="en-US" dirty="0"/>
              <a:t>4</a:t>
            </a:r>
            <a:r>
              <a:rPr lang="en-US" dirty="0" smtClean="0"/>
              <a:t>. Carrying </a:t>
            </a:r>
            <a:r>
              <a:rPr lang="en-US" dirty="0"/>
              <a:t>a weapon or an object such as knife, fork or rock </a:t>
            </a:r>
          </a:p>
        </p:txBody>
      </p:sp>
    </p:spTree>
    <p:extLst>
      <p:ext uri="{BB962C8B-B14F-4D97-AF65-F5344CB8AC3E}">
        <p14:creationId xmlns:p14="http://schemas.microsoft.com/office/powerpoint/2010/main" val="1400486629"/>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Management </a:t>
            </a:r>
            <a:endParaRPr lang="en-US" dirty="0"/>
          </a:p>
        </p:txBody>
      </p:sp>
      <p:sp>
        <p:nvSpPr>
          <p:cNvPr id="3" name="Content Placeholder 2"/>
          <p:cNvSpPr>
            <a:spLocks noGrp="1"/>
          </p:cNvSpPr>
          <p:nvPr>
            <p:ph idx="1"/>
          </p:nvPr>
        </p:nvSpPr>
        <p:spPr>
          <a:xfrm>
            <a:off x="457200" y="990600"/>
            <a:ext cx="8229600" cy="5562600"/>
          </a:xfrm>
        </p:spPr>
        <p:txBody>
          <a:bodyPr>
            <a:normAutofit fontScale="85000" lnSpcReduction="20000"/>
          </a:bodyPr>
          <a:lstStyle/>
          <a:p>
            <a:pPr marL="0" indent="0">
              <a:buNone/>
            </a:pPr>
            <a:r>
              <a:rPr lang="en-US" b="1" dirty="0"/>
              <a:t>Pre-assaultive stage </a:t>
            </a:r>
            <a:endParaRPr lang="en-US" b="1" dirty="0" smtClean="0"/>
          </a:p>
          <a:p>
            <a:pPr marL="0" indent="0">
              <a:buNone/>
            </a:pPr>
            <a:r>
              <a:rPr lang="en-US" dirty="0"/>
              <a:t>Some of the de-escalation/intervention techniques: </a:t>
            </a:r>
          </a:p>
          <a:p>
            <a:r>
              <a:rPr lang="en-US" dirty="0"/>
              <a:t>Move the patient to a quiet and safe place. Be with the patient and encourage him to stay in control. </a:t>
            </a:r>
          </a:p>
          <a:p>
            <a:r>
              <a:rPr lang="en-US" dirty="0"/>
              <a:t>Medication (e.g. benzodiazepines) may be used at this stage </a:t>
            </a:r>
          </a:p>
          <a:p>
            <a:pPr marL="0" indent="0">
              <a:buNone/>
            </a:pPr>
            <a:r>
              <a:rPr lang="en-US" dirty="0" smtClean="0"/>
              <a:t>	- </a:t>
            </a:r>
            <a:r>
              <a:rPr lang="en-US" dirty="0"/>
              <a:t>Listen carefully and actively about the patient’s </a:t>
            </a:r>
            <a:r>
              <a:rPr lang="en-US" dirty="0" smtClean="0"/>
              <a:t>	feelings </a:t>
            </a:r>
            <a:r>
              <a:rPr lang="en-US" dirty="0"/>
              <a:t>as well as his perception of the situation </a:t>
            </a:r>
            <a:r>
              <a:rPr lang="en-US" dirty="0" smtClean="0"/>
              <a:t>	and 	expectations</a:t>
            </a:r>
            <a:r>
              <a:rPr lang="en-US" dirty="0"/>
              <a:t>. </a:t>
            </a:r>
          </a:p>
          <a:p>
            <a:pPr marL="0" indent="0">
              <a:buNone/>
            </a:pPr>
            <a:r>
              <a:rPr lang="en-US" dirty="0" smtClean="0"/>
              <a:t>	- </a:t>
            </a:r>
            <a:r>
              <a:rPr lang="en-US" dirty="0"/>
              <a:t>Maintain the personal space so that the patient </a:t>
            </a:r>
            <a:r>
              <a:rPr lang="en-US" dirty="0" smtClean="0"/>
              <a:t>	does not </a:t>
            </a:r>
            <a:r>
              <a:rPr lang="en-US" dirty="0"/>
              <a:t>perceive you as intrusive. </a:t>
            </a:r>
          </a:p>
          <a:p>
            <a:pPr marL="0" indent="0">
              <a:buNone/>
            </a:pPr>
            <a:r>
              <a:rPr lang="en-US" dirty="0" smtClean="0"/>
              <a:t>	- </a:t>
            </a:r>
            <a:r>
              <a:rPr lang="en-US" dirty="0"/>
              <a:t>Do not rush the patient. </a:t>
            </a:r>
          </a:p>
          <a:p>
            <a:pPr marL="0" indent="0">
              <a:buNone/>
            </a:pPr>
            <a:r>
              <a:rPr lang="en-US" dirty="0" smtClean="0"/>
              <a:t>	- </a:t>
            </a:r>
            <a:r>
              <a:rPr lang="en-US" dirty="0"/>
              <a:t>Use verbal techniques of de-escalation. </a:t>
            </a:r>
          </a:p>
          <a:p>
            <a:pPr marL="0" indent="0">
              <a:buNone/>
            </a:pPr>
            <a:r>
              <a:rPr lang="en-US" dirty="0" smtClean="0"/>
              <a:t>	- </a:t>
            </a:r>
            <a:r>
              <a:rPr lang="en-US" dirty="0"/>
              <a:t>Assure your own safety </a:t>
            </a:r>
          </a:p>
          <a:p>
            <a:endParaRPr lang="en-US" dirty="0"/>
          </a:p>
        </p:txBody>
      </p:sp>
    </p:spTree>
    <p:extLst>
      <p:ext uri="{BB962C8B-B14F-4D97-AF65-F5344CB8AC3E}">
        <p14:creationId xmlns:p14="http://schemas.microsoft.com/office/powerpoint/2010/main" val="1905558096"/>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MX </a:t>
            </a:r>
            <a:endParaRPr lang="en-US" dirty="0"/>
          </a:p>
        </p:txBody>
      </p:sp>
      <p:sp>
        <p:nvSpPr>
          <p:cNvPr id="3" name="Content Placeholder 2"/>
          <p:cNvSpPr>
            <a:spLocks noGrp="1"/>
          </p:cNvSpPr>
          <p:nvPr>
            <p:ph idx="1"/>
          </p:nvPr>
        </p:nvSpPr>
        <p:spPr>
          <a:xfrm>
            <a:off x="457200" y="990600"/>
            <a:ext cx="8229600" cy="5562600"/>
          </a:xfrm>
        </p:spPr>
        <p:txBody>
          <a:bodyPr>
            <a:normAutofit/>
          </a:bodyPr>
          <a:lstStyle/>
          <a:p>
            <a:pPr marL="0" indent="0">
              <a:buNone/>
            </a:pPr>
            <a:r>
              <a:rPr lang="en-US" b="1" dirty="0"/>
              <a:t>Assaultive stage </a:t>
            </a:r>
            <a:endParaRPr lang="en-US" b="1" dirty="0" smtClean="0"/>
          </a:p>
          <a:p>
            <a:pPr marL="0" indent="0">
              <a:buNone/>
            </a:pPr>
            <a:r>
              <a:rPr lang="en-US" dirty="0" smtClean="0"/>
              <a:t>If </a:t>
            </a:r>
            <a:r>
              <a:rPr lang="en-US" dirty="0"/>
              <a:t>the patient’s anger progresses to the assaultive stage, the staff must respond quickly. </a:t>
            </a:r>
          </a:p>
          <a:p>
            <a:pPr marL="0" indent="0">
              <a:buNone/>
            </a:pPr>
            <a:r>
              <a:rPr lang="en-US" dirty="0"/>
              <a:t>- A team approach is advisable. </a:t>
            </a:r>
          </a:p>
          <a:p>
            <a:pPr marL="0" indent="0">
              <a:buNone/>
            </a:pPr>
            <a:r>
              <a:rPr lang="en-US" dirty="0"/>
              <a:t>- One leader speaks to the patient and instructs members of the team. </a:t>
            </a:r>
          </a:p>
          <a:p>
            <a:pPr marL="0" indent="0">
              <a:buNone/>
            </a:pPr>
            <a:r>
              <a:rPr lang="en-US" dirty="0"/>
              <a:t>Interventions include use of pharmacological agents, physical restraints and seclusion of the patient </a:t>
            </a:r>
          </a:p>
        </p:txBody>
      </p:sp>
    </p:spTree>
    <p:extLst>
      <p:ext uri="{BB962C8B-B14F-4D97-AF65-F5344CB8AC3E}">
        <p14:creationId xmlns:p14="http://schemas.microsoft.com/office/powerpoint/2010/main" val="2150242041"/>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5"/>
            <a:ext cx="8229600" cy="671945"/>
          </a:xfrm>
        </p:spPr>
        <p:txBody>
          <a:bodyPr>
            <a:normAutofit fontScale="90000"/>
          </a:bodyPr>
          <a:lstStyle/>
          <a:p>
            <a:r>
              <a:rPr lang="en-US" b="1" dirty="0" smtClean="0"/>
              <a:t>SECLUSION AND RESTRAINT </a:t>
            </a:r>
            <a:endParaRPr lang="en-US" dirty="0"/>
          </a:p>
        </p:txBody>
      </p:sp>
      <p:sp>
        <p:nvSpPr>
          <p:cNvPr id="3" name="Content Placeholder 2"/>
          <p:cNvSpPr>
            <a:spLocks noGrp="1"/>
          </p:cNvSpPr>
          <p:nvPr>
            <p:ph idx="1"/>
          </p:nvPr>
        </p:nvSpPr>
        <p:spPr>
          <a:xfrm>
            <a:off x="457200" y="685801"/>
            <a:ext cx="8229600" cy="6019800"/>
          </a:xfrm>
        </p:spPr>
        <p:txBody>
          <a:bodyPr>
            <a:normAutofit fontScale="77500" lnSpcReduction="20000"/>
          </a:bodyPr>
          <a:lstStyle/>
          <a:p>
            <a:pPr marL="0" indent="0">
              <a:buNone/>
            </a:pPr>
            <a:r>
              <a:rPr lang="en-US" dirty="0"/>
              <a:t>Seclusion is the involuntary confinement of a patient to a room or an area, which the patient is not allowed to leave. </a:t>
            </a:r>
            <a:endParaRPr lang="en-US" dirty="0" smtClean="0"/>
          </a:p>
          <a:p>
            <a:pPr marL="0" indent="0">
              <a:buNone/>
            </a:pPr>
            <a:r>
              <a:rPr lang="en-US" dirty="0"/>
              <a:t>	</a:t>
            </a:r>
            <a:r>
              <a:rPr lang="en-US" dirty="0" smtClean="0"/>
              <a:t>	It </a:t>
            </a:r>
            <a:r>
              <a:rPr lang="en-US" dirty="0"/>
              <a:t>can be: </a:t>
            </a:r>
          </a:p>
          <a:p>
            <a:pPr marL="0" indent="0">
              <a:buNone/>
            </a:pPr>
            <a:r>
              <a:rPr lang="en-US" dirty="0"/>
              <a:t>– open seclusion, e.g. quiet time alone in an unlocked room or in a partitioned area; </a:t>
            </a:r>
          </a:p>
          <a:p>
            <a:pPr marL="0" indent="0">
              <a:buNone/>
            </a:pPr>
            <a:r>
              <a:rPr lang="en-US" dirty="0"/>
              <a:t>– Locked seclusion, e.g. in a locked room designed specifically for this purpose. </a:t>
            </a:r>
          </a:p>
          <a:p>
            <a:pPr marL="0" indent="0">
              <a:buNone/>
            </a:pPr>
            <a:r>
              <a:rPr lang="en-US" dirty="0"/>
              <a:t>Restraint is a human or mechanical action that restricts freedom of movement or normal access to one’s body </a:t>
            </a:r>
          </a:p>
          <a:p>
            <a:pPr marL="0" indent="0">
              <a:buNone/>
            </a:pPr>
            <a:r>
              <a:rPr lang="en-US" dirty="0"/>
              <a:t>Restraints can be: </a:t>
            </a:r>
          </a:p>
          <a:p>
            <a:pPr marL="0" indent="0">
              <a:buNone/>
            </a:pPr>
            <a:r>
              <a:rPr lang="en-US" dirty="0"/>
              <a:t>– Mechanical (physical) : This is when a device, material or equipment, is attached to the patient’s body to restrict freedom of movement. </a:t>
            </a:r>
          </a:p>
          <a:p>
            <a:pPr marL="0" indent="0">
              <a:buNone/>
            </a:pPr>
            <a:r>
              <a:rPr lang="en-US" dirty="0"/>
              <a:t>– Chemical : In this form of restraint, drugs are used to control and restrict the patient’s freedom of movement </a:t>
            </a:r>
          </a:p>
          <a:p>
            <a:pPr marL="0" indent="0">
              <a:buNone/>
            </a:pPr>
            <a:r>
              <a:rPr lang="en-US" dirty="0"/>
              <a:t>Restraint or seclusion can be used individually or together. </a:t>
            </a:r>
          </a:p>
        </p:txBody>
      </p:sp>
    </p:spTree>
    <p:extLst>
      <p:ext uri="{BB962C8B-B14F-4D97-AF65-F5344CB8AC3E}">
        <p14:creationId xmlns:p14="http://schemas.microsoft.com/office/powerpoint/2010/main" val="1672829738"/>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Indications for seclusion and restraint </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pPr marL="0" indent="0">
              <a:buNone/>
            </a:pPr>
            <a:r>
              <a:rPr lang="en-US" dirty="0" smtClean="0"/>
              <a:t>Prevention </a:t>
            </a:r>
            <a:r>
              <a:rPr lang="en-US" dirty="0"/>
              <a:t>of imminent harm to self or others </a:t>
            </a:r>
          </a:p>
          <a:p>
            <a:pPr marL="0" indent="0">
              <a:buNone/>
            </a:pPr>
            <a:r>
              <a:rPr lang="en-US" dirty="0"/>
              <a:t>- Failure of alternative or other less restrictive measures to ensure the safety </a:t>
            </a:r>
          </a:p>
          <a:p>
            <a:pPr marL="0" indent="0">
              <a:buNone/>
            </a:pPr>
            <a:r>
              <a:rPr lang="en-US" dirty="0"/>
              <a:t>- Prevention of substantial damage to the physical environment </a:t>
            </a:r>
          </a:p>
          <a:p>
            <a:pPr marL="0" indent="0">
              <a:buNone/>
            </a:pPr>
            <a:r>
              <a:rPr lang="en-US" dirty="0"/>
              <a:t>- Decrease overstimulation in agitated or violent patients </a:t>
            </a:r>
          </a:p>
          <a:p>
            <a:pPr marL="0" indent="0">
              <a:buNone/>
            </a:pPr>
            <a:r>
              <a:rPr lang="en-US" dirty="0"/>
              <a:t>- At the patient’s request </a:t>
            </a:r>
          </a:p>
          <a:p>
            <a:endParaRPr lang="en-US" dirty="0"/>
          </a:p>
        </p:txBody>
      </p:sp>
    </p:spTree>
    <p:extLst>
      <p:ext uri="{BB962C8B-B14F-4D97-AF65-F5344CB8AC3E}">
        <p14:creationId xmlns:p14="http://schemas.microsoft.com/office/powerpoint/2010/main" val="2095815434"/>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458200" cy="1219200"/>
          </a:xfrm>
        </p:spPr>
        <p:txBody>
          <a:bodyPr>
            <a:normAutofit fontScale="90000"/>
          </a:bodyPr>
          <a:lstStyle/>
          <a:p>
            <a:r>
              <a:rPr lang="en-US" b="1" dirty="0"/>
              <a:t>Contraindications to Seclusion &amp;</a:t>
            </a:r>
            <a:r>
              <a:rPr lang="en-US" b="1" dirty="0" smtClean="0"/>
              <a:t> </a:t>
            </a:r>
            <a:r>
              <a:rPr lang="en-US" b="1" dirty="0"/>
              <a:t>Restraint </a:t>
            </a:r>
            <a:endParaRPr lang="en-US" dirty="0"/>
          </a:p>
        </p:txBody>
      </p:sp>
      <p:sp>
        <p:nvSpPr>
          <p:cNvPr id="3" name="Content Placeholder 2"/>
          <p:cNvSpPr>
            <a:spLocks noGrp="1"/>
          </p:cNvSpPr>
          <p:nvPr>
            <p:ph idx="1"/>
          </p:nvPr>
        </p:nvSpPr>
        <p:spPr>
          <a:xfrm>
            <a:off x="457200" y="1219200"/>
            <a:ext cx="8229600" cy="5486400"/>
          </a:xfrm>
        </p:spPr>
        <p:txBody>
          <a:bodyPr>
            <a:normAutofit/>
          </a:bodyPr>
          <a:lstStyle/>
          <a:p>
            <a:pPr>
              <a:buFont typeface="Wingdings" panose="05000000000000000000" pitchFamily="2" charset="2"/>
              <a:buChar char="q"/>
            </a:pPr>
            <a:r>
              <a:rPr lang="en-US" dirty="0" smtClean="0"/>
              <a:t>Suicidal </a:t>
            </a:r>
            <a:r>
              <a:rPr lang="en-US" dirty="0"/>
              <a:t>and self-mutilating tendencies </a:t>
            </a:r>
          </a:p>
          <a:p>
            <a:pPr>
              <a:buFont typeface="Wingdings" panose="05000000000000000000" pitchFamily="2" charset="2"/>
              <a:buChar char="q"/>
            </a:pPr>
            <a:r>
              <a:rPr lang="en-US" dirty="0" smtClean="0"/>
              <a:t>Medical </a:t>
            </a:r>
            <a:r>
              <a:rPr lang="en-US" dirty="0"/>
              <a:t>problems needing constant and close supervision </a:t>
            </a:r>
          </a:p>
          <a:p>
            <a:pPr>
              <a:buFont typeface="Wingdings" panose="05000000000000000000" pitchFamily="2" charset="2"/>
              <a:buChar char="q"/>
            </a:pPr>
            <a:r>
              <a:rPr lang="en-US" dirty="0" smtClean="0"/>
              <a:t>Delirium </a:t>
            </a:r>
            <a:r>
              <a:rPr lang="en-US" dirty="0"/>
              <a:t>or dementia (under </a:t>
            </a:r>
            <a:r>
              <a:rPr lang="en-US" dirty="0" smtClean="0"/>
              <a:t>stimulation may </a:t>
            </a:r>
            <a:r>
              <a:rPr lang="en-US" dirty="0"/>
              <a:t>worsen the condition) </a:t>
            </a:r>
          </a:p>
          <a:p>
            <a:pPr>
              <a:buFont typeface="Wingdings" panose="05000000000000000000" pitchFamily="2" charset="2"/>
              <a:buChar char="q"/>
            </a:pPr>
            <a:r>
              <a:rPr lang="en-US" dirty="0" smtClean="0"/>
              <a:t>For </a:t>
            </a:r>
            <a:r>
              <a:rPr lang="en-US" dirty="0"/>
              <a:t>the convenience of staff </a:t>
            </a:r>
          </a:p>
          <a:p>
            <a:pPr>
              <a:buFont typeface="Wingdings" panose="05000000000000000000" pitchFamily="2" charset="2"/>
              <a:buChar char="q"/>
            </a:pPr>
            <a:r>
              <a:rPr lang="en-US" dirty="0" smtClean="0"/>
              <a:t>To </a:t>
            </a:r>
            <a:r>
              <a:rPr lang="en-US" dirty="0"/>
              <a:t>punish a patient or as a coercion </a:t>
            </a:r>
          </a:p>
          <a:p>
            <a:pPr>
              <a:buFont typeface="Wingdings" panose="05000000000000000000" pitchFamily="2" charset="2"/>
              <a:buChar char="q"/>
            </a:pPr>
            <a:r>
              <a:rPr lang="en-US" dirty="0" smtClean="0"/>
              <a:t>Patient </a:t>
            </a:r>
            <a:r>
              <a:rPr lang="en-US" dirty="0"/>
              <a:t>with epilepsy </a:t>
            </a:r>
            <a:endParaRPr lang="en-US" dirty="0" smtClean="0"/>
          </a:p>
          <a:p>
            <a:pPr>
              <a:buFont typeface="Wingdings" panose="05000000000000000000" pitchFamily="2" charset="2"/>
              <a:buChar char="q"/>
            </a:pPr>
            <a:r>
              <a:rPr lang="en-US" dirty="0" smtClean="0"/>
              <a:t>Patient </a:t>
            </a:r>
            <a:r>
              <a:rPr lang="en-US" dirty="0"/>
              <a:t>with mental retardation </a:t>
            </a:r>
          </a:p>
          <a:p>
            <a:endParaRPr lang="en-US" dirty="0"/>
          </a:p>
        </p:txBody>
      </p:sp>
    </p:spTree>
    <p:extLst>
      <p:ext uri="{BB962C8B-B14F-4D97-AF65-F5344CB8AC3E}">
        <p14:creationId xmlns:p14="http://schemas.microsoft.com/office/powerpoint/2010/main" val="3335660755"/>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altLang="en-US" smtClean="0"/>
              <a:t>Community Mental</a:t>
            </a:r>
            <a:br>
              <a:rPr lang="en-US" altLang="en-US" smtClean="0"/>
            </a:br>
            <a:r>
              <a:rPr lang="en-US" altLang="en-US" smtClean="0"/>
              <a:t>Health Nursing</a:t>
            </a:r>
          </a:p>
        </p:txBody>
      </p:sp>
    </p:spTree>
    <p:extLst>
      <p:ext uri="{BB962C8B-B14F-4D97-AF65-F5344CB8AC3E}">
        <p14:creationId xmlns:p14="http://schemas.microsoft.com/office/powerpoint/2010/main" val="3144302857"/>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b="1" smtClean="0"/>
              <a:t>THE PUBLIC HEALTH MODEL</a:t>
            </a:r>
            <a:endParaRPr lang="en-US" altLang="en-US" smtClean="0"/>
          </a:p>
        </p:txBody>
      </p:sp>
      <p:sp>
        <p:nvSpPr>
          <p:cNvPr id="3075" name="Content Placeholder 2"/>
          <p:cNvSpPr>
            <a:spLocks noGrp="1"/>
          </p:cNvSpPr>
          <p:nvPr>
            <p:ph idx="1"/>
          </p:nvPr>
        </p:nvSpPr>
        <p:spPr>
          <a:xfrm>
            <a:off x="457200" y="1600200"/>
            <a:ext cx="8229600" cy="4876800"/>
          </a:xfrm>
        </p:spPr>
        <p:txBody>
          <a:bodyPr/>
          <a:lstStyle/>
          <a:p>
            <a:pPr eaLnBrk="1" hangingPunct="1"/>
            <a:r>
              <a:rPr lang="en-US" altLang="en-US" smtClean="0"/>
              <a:t>The premise of the model of public health include </a:t>
            </a:r>
          </a:p>
          <a:p>
            <a:pPr lvl="1" eaLnBrk="1" hangingPunct="1"/>
            <a:r>
              <a:rPr lang="en-US" altLang="en-US" smtClean="0"/>
              <a:t>primary prevention</a:t>
            </a:r>
          </a:p>
          <a:p>
            <a:pPr lvl="1" eaLnBrk="1" hangingPunct="1"/>
            <a:r>
              <a:rPr lang="en-US" altLang="en-US" smtClean="0"/>
              <a:t>secondary prevention</a:t>
            </a:r>
          </a:p>
          <a:p>
            <a:pPr lvl="1" eaLnBrk="1" hangingPunct="1"/>
            <a:r>
              <a:rPr lang="en-US" altLang="en-US" smtClean="0"/>
              <a:t>tertiary prevention. </a:t>
            </a:r>
          </a:p>
          <a:p>
            <a:pPr eaLnBrk="1" hangingPunct="1"/>
            <a:r>
              <a:rPr lang="en-US" altLang="en-US" smtClean="0"/>
              <a:t>The concepts also been widely adapted as guiding principles in many clinical and community settings over a range of medical and nursing specialties.</a:t>
            </a:r>
          </a:p>
        </p:txBody>
      </p:sp>
    </p:spTree>
    <p:extLst>
      <p:ext uri="{BB962C8B-B14F-4D97-AF65-F5344CB8AC3E}">
        <p14:creationId xmlns:p14="http://schemas.microsoft.com/office/powerpoint/2010/main" val="429105856"/>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b="1" smtClean="0"/>
              <a:t>Primary prevention</a:t>
            </a:r>
            <a:endParaRPr lang="en-US" altLang="en-US" smtClean="0"/>
          </a:p>
        </p:txBody>
      </p:sp>
      <p:sp>
        <p:nvSpPr>
          <p:cNvPr id="4099" name="Content Placeholder 2"/>
          <p:cNvSpPr>
            <a:spLocks noGrp="1"/>
          </p:cNvSpPr>
          <p:nvPr>
            <p:ph idx="1"/>
          </p:nvPr>
        </p:nvSpPr>
        <p:spPr>
          <a:xfrm>
            <a:off x="381000" y="1295400"/>
            <a:ext cx="8305800" cy="5029200"/>
          </a:xfrm>
        </p:spPr>
        <p:txBody>
          <a:bodyPr/>
          <a:lstStyle/>
          <a:p>
            <a:pPr eaLnBrk="1" hangingPunct="1"/>
            <a:r>
              <a:rPr lang="en-US" altLang="en-US" smtClean="0"/>
              <a:t>Services aimed at reducing the incidence of mental disorders within the population. </a:t>
            </a:r>
          </a:p>
          <a:p>
            <a:pPr eaLnBrk="1" hangingPunct="1"/>
            <a:r>
              <a:rPr lang="en-US" altLang="en-US" smtClean="0"/>
              <a:t>Primary prevention targets both individuals and the environment. </a:t>
            </a:r>
          </a:p>
          <a:p>
            <a:pPr eaLnBrk="1" hangingPunct="1">
              <a:buFont typeface="Arial" charset="0"/>
              <a:buNone/>
            </a:pPr>
            <a:r>
              <a:rPr lang="en-US" altLang="en-US" smtClean="0"/>
              <a:t>    </a:t>
            </a:r>
            <a:r>
              <a:rPr lang="en-US" altLang="en-US" b="1" smtClean="0"/>
              <a:t>Emphasis  two fold:</a:t>
            </a:r>
          </a:p>
          <a:p>
            <a:pPr eaLnBrk="1" hangingPunct="1">
              <a:buFont typeface="Wingdings" pitchFamily="2" charset="2"/>
              <a:buChar char="ü"/>
            </a:pPr>
            <a:r>
              <a:rPr lang="en-US" altLang="en-US" smtClean="0"/>
              <a:t>Assisting individuals to increase their ability to cope effectively with stress.</a:t>
            </a:r>
          </a:p>
          <a:p>
            <a:pPr eaLnBrk="1" hangingPunct="1">
              <a:buFont typeface="Wingdings" pitchFamily="2" charset="2"/>
              <a:buChar char="ü"/>
            </a:pPr>
            <a:r>
              <a:rPr lang="en-US" altLang="en-US" smtClean="0"/>
              <a:t>Targeting and diminishing harmful forces (stressors) within the environment.</a:t>
            </a:r>
          </a:p>
          <a:p>
            <a:pPr eaLnBrk="1" hangingPunct="1"/>
            <a:endParaRPr lang="en-US" altLang="en-US" smtClean="0"/>
          </a:p>
        </p:txBody>
      </p:sp>
    </p:spTree>
    <p:extLst>
      <p:ext uri="{BB962C8B-B14F-4D97-AF65-F5344CB8AC3E}">
        <p14:creationId xmlns:p14="http://schemas.microsoft.com/office/powerpoint/2010/main" val="3315448832"/>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868362"/>
          </a:xfrm>
        </p:spPr>
        <p:txBody>
          <a:bodyPr/>
          <a:lstStyle/>
          <a:p>
            <a:r>
              <a:rPr lang="en-US" altLang="en-US" smtClean="0"/>
              <a:t>Primary prevention </a:t>
            </a:r>
          </a:p>
        </p:txBody>
      </p:sp>
      <p:sp>
        <p:nvSpPr>
          <p:cNvPr id="5123" name="Content Placeholder 2"/>
          <p:cNvSpPr>
            <a:spLocks noGrp="1"/>
          </p:cNvSpPr>
          <p:nvPr>
            <p:ph idx="1"/>
          </p:nvPr>
        </p:nvSpPr>
        <p:spPr>
          <a:xfrm>
            <a:off x="457200" y="990600"/>
            <a:ext cx="8229600" cy="5486400"/>
          </a:xfrm>
        </p:spPr>
        <p:txBody>
          <a:bodyPr/>
          <a:lstStyle/>
          <a:p>
            <a:pPr eaLnBrk="1" hangingPunct="1">
              <a:buFont typeface="Arial" charset="0"/>
              <a:buNone/>
            </a:pPr>
            <a:r>
              <a:rPr lang="en-US" altLang="en-US" smtClean="0"/>
              <a:t>Nursing in primary prevention focused on the targeting of groups at risk and the provision of educational programs.</a:t>
            </a:r>
          </a:p>
          <a:p>
            <a:pPr eaLnBrk="1" hangingPunct="1">
              <a:buFont typeface="Arial" charset="0"/>
              <a:buNone/>
            </a:pPr>
            <a:r>
              <a:rPr lang="en-US" altLang="en-US" b="1" smtClean="0"/>
              <a:t> Examples include:</a:t>
            </a:r>
          </a:p>
          <a:p>
            <a:pPr eaLnBrk="1" hangingPunct="1"/>
            <a:r>
              <a:rPr lang="en-US" altLang="en-US" smtClean="0"/>
              <a:t>Teaching parenting skills and child development to prospective new parents</a:t>
            </a:r>
          </a:p>
          <a:p>
            <a:pPr eaLnBrk="1" hangingPunct="1"/>
            <a:r>
              <a:rPr lang="en-US" altLang="en-US" smtClean="0"/>
              <a:t>Teaching physical and psychosocial effects of alcohol/ drugs to elementary school students</a:t>
            </a:r>
          </a:p>
          <a:p>
            <a:pPr eaLnBrk="1" hangingPunct="1"/>
            <a:r>
              <a:rPr lang="en-US" altLang="en-US" smtClean="0"/>
              <a:t>Teaching techniques of stress management to virtually anyone who desires to learn</a:t>
            </a:r>
          </a:p>
        </p:txBody>
      </p:sp>
    </p:spTree>
    <p:extLst>
      <p:ext uri="{BB962C8B-B14F-4D97-AF65-F5344CB8AC3E}">
        <p14:creationId xmlns:p14="http://schemas.microsoft.com/office/powerpoint/2010/main" val="2736187547"/>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0"/>
            <a:ext cx="8229600" cy="1143000"/>
          </a:xfrm>
        </p:spPr>
        <p:txBody>
          <a:bodyPr/>
          <a:lstStyle/>
          <a:p>
            <a:r>
              <a:rPr lang="en-US" altLang="en-US" smtClean="0"/>
              <a:t>Primary prevention </a:t>
            </a:r>
          </a:p>
        </p:txBody>
      </p:sp>
      <p:sp>
        <p:nvSpPr>
          <p:cNvPr id="6147" name="Content Placeholder 2"/>
          <p:cNvSpPr>
            <a:spLocks noGrp="1"/>
          </p:cNvSpPr>
          <p:nvPr>
            <p:ph idx="1"/>
          </p:nvPr>
        </p:nvSpPr>
        <p:spPr>
          <a:xfrm>
            <a:off x="457200" y="1143000"/>
            <a:ext cx="8229600" cy="5791200"/>
          </a:xfrm>
        </p:spPr>
        <p:txBody>
          <a:bodyPr/>
          <a:lstStyle/>
          <a:p>
            <a:pPr eaLnBrk="1" hangingPunct="1"/>
            <a:r>
              <a:rPr lang="en-US" altLang="en-US" smtClean="0"/>
              <a:t>Teaching groups of individuals ways to cope with the changes associated with various maturational stages</a:t>
            </a:r>
          </a:p>
          <a:p>
            <a:pPr eaLnBrk="1" hangingPunct="1"/>
            <a:r>
              <a:rPr lang="en-US" altLang="en-US" smtClean="0"/>
              <a:t>Teaching concepts of mental health to various groups within the community</a:t>
            </a:r>
          </a:p>
          <a:p>
            <a:pPr eaLnBrk="1" hangingPunct="1"/>
            <a:r>
              <a:rPr lang="en-US" altLang="en-US" smtClean="0"/>
              <a:t>Providing education and support to unemployed or homeless individuals</a:t>
            </a:r>
          </a:p>
          <a:p>
            <a:pPr eaLnBrk="1" hangingPunct="1"/>
            <a:r>
              <a:rPr lang="en-US" altLang="en-US" smtClean="0"/>
              <a:t>Providing education and support to other individuals in various transitional periods (e.g., widows and widowers, new retirees, and women entering the work force in middle life)</a:t>
            </a:r>
          </a:p>
          <a:p>
            <a:pPr eaLnBrk="1" hangingPunct="1">
              <a:buFont typeface="Arial" charset="0"/>
              <a:buNone/>
            </a:pPr>
            <a:endParaRPr lang="en-US" altLang="en-US" smtClean="0"/>
          </a:p>
          <a:p>
            <a:pPr eaLnBrk="1" hangingPunct="1">
              <a:buFont typeface="Arial" charset="0"/>
              <a:buNone/>
            </a:pPr>
            <a:endParaRPr lang="en-US" altLang="en-US" smtClean="0"/>
          </a:p>
          <a:p>
            <a:endParaRPr lang="en-US" altLang="en-US" smtClean="0"/>
          </a:p>
          <a:p>
            <a:endParaRPr lang="en-US" altLang="en-US" smtClean="0"/>
          </a:p>
        </p:txBody>
      </p:sp>
    </p:spTree>
    <p:extLst>
      <p:ext uri="{BB962C8B-B14F-4D97-AF65-F5344CB8AC3E}">
        <p14:creationId xmlns:p14="http://schemas.microsoft.com/office/powerpoint/2010/main" val="2942076423"/>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smtClean="0"/>
              <a:t>Primary prevention </a:t>
            </a:r>
          </a:p>
        </p:txBody>
      </p:sp>
      <p:sp>
        <p:nvSpPr>
          <p:cNvPr id="7171" name="Content Placeholder 2"/>
          <p:cNvSpPr>
            <a:spLocks noGrp="1"/>
          </p:cNvSpPr>
          <p:nvPr>
            <p:ph idx="1"/>
          </p:nvPr>
        </p:nvSpPr>
        <p:spPr/>
        <p:txBody>
          <a:bodyPr/>
          <a:lstStyle/>
          <a:p>
            <a:pPr eaLnBrk="1" hangingPunct="1"/>
            <a:r>
              <a:rPr lang="en-US" altLang="en-US" smtClean="0"/>
              <a:t>These services can be offered in a variety of settings that are convenient for the public (e.g., churches, schools, colleges, community centers, YMCAs and YWCAs, workplace of employee organizations, meetings of women’s groups, or civic or social organizations such as PTAs, health fairs, and community shelters).</a:t>
            </a:r>
          </a:p>
          <a:p>
            <a:pPr eaLnBrk="1" hangingPunct="1"/>
            <a:endParaRPr lang="en-US" altLang="en-US" smtClean="0"/>
          </a:p>
          <a:p>
            <a:endParaRPr lang="en-US" altLang="en-US" smtClean="0"/>
          </a:p>
        </p:txBody>
      </p:sp>
    </p:spTree>
    <p:extLst>
      <p:ext uri="{BB962C8B-B14F-4D97-AF65-F5344CB8AC3E}">
        <p14:creationId xmlns:p14="http://schemas.microsoft.com/office/powerpoint/2010/main" val="3607470238"/>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b="1" smtClean="0"/>
              <a:t>Secondary prevention</a:t>
            </a:r>
            <a:endParaRPr lang="en-US" altLang="en-US" smtClean="0"/>
          </a:p>
        </p:txBody>
      </p:sp>
      <p:sp>
        <p:nvSpPr>
          <p:cNvPr id="8195" name="Content Placeholder 2"/>
          <p:cNvSpPr>
            <a:spLocks noGrp="1"/>
          </p:cNvSpPr>
          <p:nvPr>
            <p:ph idx="1"/>
          </p:nvPr>
        </p:nvSpPr>
        <p:spPr>
          <a:xfrm>
            <a:off x="381000" y="1066800"/>
            <a:ext cx="8305800" cy="5486400"/>
          </a:xfrm>
        </p:spPr>
        <p:txBody>
          <a:bodyPr/>
          <a:lstStyle/>
          <a:p>
            <a:pPr eaLnBrk="1" hangingPunct="1"/>
            <a:r>
              <a:rPr lang="en-US" altLang="en-US" b="1" smtClean="0"/>
              <a:t>Secondary Prevention: </a:t>
            </a:r>
            <a:r>
              <a:rPr lang="en-US" altLang="en-US" smtClean="0"/>
              <a:t>Services aimed at reducing the prevalence of psychiatric illness by shortening the course (duration) of the illness (Sadock &amp; Sadock, 2003). </a:t>
            </a:r>
          </a:p>
          <a:p>
            <a:pPr eaLnBrk="1" hangingPunct="1"/>
            <a:r>
              <a:rPr lang="en-US" altLang="en-US" smtClean="0"/>
              <a:t>Secondary prevention is accomplished through early identification of problems and prompt initiation of effective treatment. </a:t>
            </a:r>
          </a:p>
          <a:p>
            <a:pPr eaLnBrk="1" hangingPunct="1"/>
            <a:r>
              <a:rPr lang="en-US" altLang="en-US" smtClean="0"/>
              <a:t>Nursing in secondary prevention focuses on recognition of symptoms and provision of, or referral for, treatment. </a:t>
            </a:r>
          </a:p>
        </p:txBody>
      </p:sp>
    </p:spTree>
    <p:extLst>
      <p:ext uri="{BB962C8B-B14F-4D97-AF65-F5344CB8AC3E}">
        <p14:creationId xmlns:p14="http://schemas.microsoft.com/office/powerpoint/2010/main" val="2033552715"/>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274638"/>
            <a:ext cx="8229600" cy="944562"/>
          </a:xfrm>
        </p:spPr>
        <p:txBody>
          <a:bodyPr/>
          <a:lstStyle/>
          <a:p>
            <a:r>
              <a:rPr lang="en-US" altLang="en-US" smtClean="0"/>
              <a:t>Secondary prevention </a:t>
            </a:r>
          </a:p>
        </p:txBody>
      </p:sp>
      <p:sp>
        <p:nvSpPr>
          <p:cNvPr id="9219" name="Content Placeholder 2"/>
          <p:cNvSpPr>
            <a:spLocks noGrp="1"/>
          </p:cNvSpPr>
          <p:nvPr>
            <p:ph idx="1"/>
          </p:nvPr>
        </p:nvSpPr>
        <p:spPr>
          <a:xfrm>
            <a:off x="457200" y="1066800"/>
            <a:ext cx="8229600" cy="5638800"/>
          </a:xfrm>
        </p:spPr>
        <p:txBody>
          <a:bodyPr/>
          <a:lstStyle/>
          <a:p>
            <a:pPr eaLnBrk="1" hangingPunct="1"/>
            <a:r>
              <a:rPr lang="en-US" altLang="en-US" smtClean="0"/>
              <a:t>Ongoing assessment of individuals at high risk for illness exacerbation (e.g., during home visits, day care, community health centers, or in any setting where screening of high-risk individuals might occur)</a:t>
            </a:r>
          </a:p>
          <a:p>
            <a:pPr eaLnBrk="1" hangingPunct="1"/>
            <a:r>
              <a:rPr lang="en-US" altLang="en-US" smtClean="0"/>
              <a:t>Provision of care for individuals in whom illness symptoms have been assessed (e.g., individual or group counseling, medication administration, mobile mental health units)</a:t>
            </a:r>
          </a:p>
          <a:p>
            <a:pPr eaLnBrk="1" hangingPunct="1"/>
            <a:r>
              <a:rPr lang="en-US" altLang="en-US" smtClean="0"/>
              <a:t>Referral for treatment of individuals in whom illness symptoms have been assessed. </a:t>
            </a:r>
          </a:p>
          <a:p>
            <a:endParaRPr lang="en-US" altLang="en-US" smtClean="0"/>
          </a:p>
        </p:txBody>
      </p:sp>
    </p:spTree>
    <p:extLst>
      <p:ext uri="{BB962C8B-B14F-4D97-AF65-F5344CB8AC3E}">
        <p14:creationId xmlns:p14="http://schemas.microsoft.com/office/powerpoint/2010/main" val="97281998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74638"/>
            <a:ext cx="8229600" cy="792162"/>
          </a:xfrm>
        </p:spPr>
        <p:txBody>
          <a:bodyPr/>
          <a:lstStyle/>
          <a:p>
            <a:pPr eaLnBrk="1" hangingPunct="1"/>
            <a:r>
              <a:rPr lang="en-US" altLang="en-US" b="1" smtClean="0"/>
              <a:t>Tertiary prevention</a:t>
            </a:r>
            <a:endParaRPr lang="en-US" altLang="en-US" smtClean="0"/>
          </a:p>
        </p:txBody>
      </p:sp>
      <p:sp>
        <p:nvSpPr>
          <p:cNvPr id="3" name="Content Placeholder 2"/>
          <p:cNvSpPr>
            <a:spLocks noGrp="1"/>
          </p:cNvSpPr>
          <p:nvPr>
            <p:ph idx="1"/>
          </p:nvPr>
        </p:nvSpPr>
        <p:spPr>
          <a:xfrm>
            <a:off x="304800" y="990600"/>
            <a:ext cx="8458200" cy="5562600"/>
          </a:xfrm>
        </p:spPr>
        <p:txBody>
          <a:bodyPr rtlCol="0">
            <a:normAutofit fontScale="92500" lnSpcReduction="10000"/>
          </a:bodyPr>
          <a:lstStyle/>
          <a:p>
            <a:pPr eaLnBrk="1" fontAlgn="auto" hangingPunct="1">
              <a:spcAft>
                <a:spcPts val="0"/>
              </a:spcAft>
              <a:buFont typeface="Arial" pitchFamily="34" charset="0"/>
              <a:buChar char="•"/>
              <a:defRPr/>
            </a:pPr>
            <a:r>
              <a:rPr lang="en-US" b="1" dirty="0" smtClean="0"/>
              <a:t>Tertiary Prevention: </a:t>
            </a:r>
            <a:r>
              <a:rPr lang="en-US" dirty="0" smtClean="0"/>
              <a:t>Services aimed at reducing the residual defects that are associated with severe and persistent mental illness. </a:t>
            </a:r>
          </a:p>
          <a:p>
            <a:pPr eaLnBrk="1" fontAlgn="auto" hangingPunct="1">
              <a:spcAft>
                <a:spcPts val="0"/>
              </a:spcAft>
              <a:buFont typeface="Arial" pitchFamily="34" charset="0"/>
              <a:buChar char="•"/>
              <a:defRPr/>
            </a:pPr>
            <a:r>
              <a:rPr lang="en-US" dirty="0" smtClean="0"/>
              <a:t>Tertiary prevention is accomplished in two ways</a:t>
            </a:r>
            <a:r>
              <a:rPr lang="en-US" b="1" dirty="0" smtClean="0"/>
              <a:t>:</a:t>
            </a:r>
          </a:p>
          <a:p>
            <a:pPr lvl="1" eaLnBrk="1" fontAlgn="auto" hangingPunct="1">
              <a:spcAft>
                <a:spcPts val="0"/>
              </a:spcAft>
              <a:buFont typeface="Arial" pitchFamily="34" charset="0"/>
              <a:buNone/>
              <a:defRPr/>
            </a:pPr>
            <a:r>
              <a:rPr lang="en-US" dirty="0" smtClean="0"/>
              <a:t>1. Preventing complications of the illness.</a:t>
            </a:r>
          </a:p>
          <a:p>
            <a:pPr lvl="1" eaLnBrk="1" fontAlgn="auto" hangingPunct="1">
              <a:spcAft>
                <a:spcPts val="0"/>
              </a:spcAft>
              <a:buFont typeface="Arial" pitchFamily="34" charset="0"/>
              <a:buNone/>
              <a:defRPr/>
            </a:pPr>
            <a:r>
              <a:rPr lang="en-US" dirty="0" smtClean="0"/>
              <a:t>2. Promoting rehabilitation that is directed toward achievement of each individual’s maximum level of functioning.</a:t>
            </a:r>
          </a:p>
          <a:p>
            <a:pPr eaLnBrk="1" fontAlgn="auto" hangingPunct="1">
              <a:spcAft>
                <a:spcPts val="0"/>
              </a:spcAft>
              <a:buFont typeface="Arial" pitchFamily="34" charset="0"/>
              <a:buNone/>
              <a:defRPr/>
            </a:pPr>
            <a:r>
              <a:rPr lang="en-US" dirty="0" smtClean="0"/>
              <a:t>Nursing in tertiary prevention focuses on helping</a:t>
            </a:r>
          </a:p>
          <a:p>
            <a:pPr eaLnBrk="1" fontAlgn="auto" hangingPunct="1">
              <a:spcAft>
                <a:spcPts val="0"/>
              </a:spcAft>
              <a:buFont typeface="Arial" pitchFamily="34" charset="0"/>
              <a:buNone/>
              <a:defRPr/>
            </a:pPr>
            <a:r>
              <a:rPr lang="en-US" dirty="0" smtClean="0"/>
              <a:t>clients learn or relearn socially appropriate behaviors so that they may achieve a satisfying role within the community. </a:t>
            </a:r>
          </a:p>
        </p:txBody>
      </p:sp>
    </p:spTree>
    <p:extLst>
      <p:ext uri="{BB962C8B-B14F-4D97-AF65-F5344CB8AC3E}">
        <p14:creationId xmlns:p14="http://schemas.microsoft.com/office/powerpoint/2010/main" val="671266037"/>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3400" y="152400"/>
            <a:ext cx="8229600" cy="792163"/>
          </a:xfrm>
        </p:spPr>
        <p:txBody>
          <a:bodyPr/>
          <a:lstStyle/>
          <a:p>
            <a:r>
              <a:rPr lang="en-US" altLang="en-US" smtClean="0"/>
              <a:t>Tertiary prevention</a:t>
            </a:r>
          </a:p>
        </p:txBody>
      </p:sp>
      <p:sp>
        <p:nvSpPr>
          <p:cNvPr id="11267" name="Content Placeholder 2"/>
          <p:cNvSpPr>
            <a:spLocks noGrp="1"/>
          </p:cNvSpPr>
          <p:nvPr>
            <p:ph idx="1"/>
          </p:nvPr>
        </p:nvSpPr>
        <p:spPr>
          <a:xfrm>
            <a:off x="457200" y="838200"/>
            <a:ext cx="8229600" cy="5486400"/>
          </a:xfrm>
        </p:spPr>
        <p:txBody>
          <a:bodyPr/>
          <a:lstStyle/>
          <a:p>
            <a:pPr eaLnBrk="1" hangingPunct="1"/>
            <a:r>
              <a:rPr lang="en-US" altLang="en-US" smtClean="0"/>
              <a:t>Teaching the client daily living skills and encouraging independence to his or her maximum ability</a:t>
            </a:r>
          </a:p>
          <a:p>
            <a:pPr eaLnBrk="1" hangingPunct="1"/>
            <a:r>
              <a:rPr lang="en-US" altLang="en-US" smtClean="0"/>
              <a:t>Referring clients for various aftercare services (e.g., support groups, day treatment programs, group home or other transitional housing)</a:t>
            </a:r>
          </a:p>
          <a:p>
            <a:pPr eaLnBrk="1" hangingPunct="1"/>
            <a:r>
              <a:rPr lang="en-US" altLang="en-US" smtClean="0"/>
              <a:t>Monitoring effectiveness of aftercare (e.g., through home health visits or follow-up appointments in community mental health centers)</a:t>
            </a:r>
          </a:p>
          <a:p>
            <a:endParaRPr lang="en-US" altLang="en-US" smtClean="0"/>
          </a:p>
        </p:txBody>
      </p:sp>
    </p:spTree>
    <p:extLst>
      <p:ext uri="{BB962C8B-B14F-4D97-AF65-F5344CB8AC3E}">
        <p14:creationId xmlns:p14="http://schemas.microsoft.com/office/powerpoint/2010/main" val="1876401478"/>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8"/>
            <a:ext cx="8229600" cy="639762"/>
          </a:xfrm>
        </p:spPr>
        <p:txBody>
          <a:bodyPr/>
          <a:lstStyle/>
          <a:p>
            <a:r>
              <a:rPr lang="en-US" altLang="en-US" smtClean="0"/>
              <a:t>Tertiary prevention </a:t>
            </a:r>
          </a:p>
        </p:txBody>
      </p:sp>
      <p:sp>
        <p:nvSpPr>
          <p:cNvPr id="12291" name="Content Placeholder 2"/>
          <p:cNvSpPr>
            <a:spLocks noGrp="1"/>
          </p:cNvSpPr>
          <p:nvPr>
            <p:ph idx="1"/>
          </p:nvPr>
        </p:nvSpPr>
        <p:spPr>
          <a:xfrm>
            <a:off x="457200" y="914400"/>
            <a:ext cx="8229600" cy="5211763"/>
          </a:xfrm>
        </p:spPr>
        <p:txBody>
          <a:bodyPr/>
          <a:lstStyle/>
          <a:p>
            <a:pPr eaLnBrk="1" hangingPunct="1"/>
            <a:r>
              <a:rPr lang="en-US" altLang="en-US" smtClean="0"/>
              <a:t>Making referrals for support services when required (e.g., some communities have programs linking individuals with serious mental disorders to volunteers who serve to develop friendships with the individuals and who may assist with household chores, shopping, and other activities of daily living with which the individual is having difficulty,  participating in social activities with the individual)</a:t>
            </a:r>
          </a:p>
        </p:txBody>
      </p:sp>
    </p:spTree>
    <p:extLst>
      <p:ext uri="{BB962C8B-B14F-4D97-AF65-F5344CB8AC3E}">
        <p14:creationId xmlns:p14="http://schemas.microsoft.com/office/powerpoint/2010/main" val="50699389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mtClean="0"/>
              <a:t>Tertiary prevention </a:t>
            </a:r>
          </a:p>
        </p:txBody>
      </p:sp>
      <p:sp>
        <p:nvSpPr>
          <p:cNvPr id="13315" name="Content Placeholder 2"/>
          <p:cNvSpPr>
            <a:spLocks noGrp="1"/>
          </p:cNvSpPr>
          <p:nvPr>
            <p:ph idx="1"/>
          </p:nvPr>
        </p:nvSpPr>
        <p:spPr/>
        <p:txBody>
          <a:bodyPr/>
          <a:lstStyle/>
          <a:p>
            <a:r>
              <a:rPr lang="en-US" altLang="en-US" smtClean="0"/>
              <a:t>Nursing care at the tertiary level of prevention can be administered on an individual or group basis and in a variety of settings, such as inpatient hospitalization, day or partial hospitalization, group home or halfway house, shelters, home health care, nursing homes, and community mental health centers.</a:t>
            </a:r>
          </a:p>
          <a:p>
            <a:endParaRPr lang="en-US" altLang="en-US" smtClean="0"/>
          </a:p>
        </p:txBody>
      </p:sp>
    </p:spTree>
    <p:extLst>
      <p:ext uri="{BB962C8B-B14F-4D97-AF65-F5344CB8AC3E}">
        <p14:creationId xmlns:p14="http://schemas.microsoft.com/office/powerpoint/2010/main" val="335357876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THE COMMUNITY AS CLIENT</a:t>
            </a:r>
            <a:br>
              <a:rPr lang="en-US" b="1" dirty="0" smtClean="0"/>
            </a:br>
            <a:endParaRPr lang="en-US" dirty="0" smtClean="0"/>
          </a:p>
        </p:txBody>
      </p:sp>
      <p:sp>
        <p:nvSpPr>
          <p:cNvPr id="3" name="Content Placeholder 2"/>
          <p:cNvSpPr>
            <a:spLocks noGrp="1"/>
          </p:cNvSpPr>
          <p:nvPr>
            <p:ph idx="1"/>
          </p:nvPr>
        </p:nvSpPr>
        <p:spPr>
          <a:xfrm>
            <a:off x="381000" y="914400"/>
            <a:ext cx="8305800" cy="5211763"/>
          </a:xfrm>
        </p:spPr>
        <p:txBody>
          <a:bodyPr rtlCol="0">
            <a:normAutofit fontScale="92500" lnSpcReduction="10000"/>
          </a:bodyPr>
          <a:lstStyle/>
          <a:p>
            <a:pPr eaLnBrk="1" fontAlgn="auto" hangingPunct="1">
              <a:spcAft>
                <a:spcPts val="0"/>
              </a:spcAft>
              <a:buFont typeface="Arial" pitchFamily="34" charset="0"/>
              <a:buChar char="•"/>
              <a:defRPr/>
            </a:pPr>
            <a:r>
              <a:rPr lang="en-US" b="1" dirty="0" smtClean="0"/>
              <a:t>Primary Prevention</a:t>
            </a:r>
          </a:p>
          <a:p>
            <a:pPr eaLnBrk="1" fontAlgn="auto" hangingPunct="1">
              <a:spcAft>
                <a:spcPts val="0"/>
              </a:spcAft>
              <a:buFont typeface="Arial" pitchFamily="34" charset="0"/>
              <a:buNone/>
              <a:defRPr/>
            </a:pPr>
            <a:r>
              <a:rPr lang="en-US" dirty="0" smtClean="0"/>
              <a:t>	1. Identifying stressful life events that precipitate crises and targeting the relevant populations at high risk</a:t>
            </a:r>
          </a:p>
          <a:p>
            <a:pPr eaLnBrk="1" fontAlgn="auto" hangingPunct="1">
              <a:spcAft>
                <a:spcPts val="0"/>
              </a:spcAft>
              <a:buFont typeface="Arial" pitchFamily="34" charset="0"/>
              <a:buNone/>
              <a:defRPr/>
            </a:pPr>
            <a:r>
              <a:rPr lang="en-US" dirty="0" smtClean="0"/>
              <a:t>	2. Intervening with these high-risk populations to prevent or minimize harmful consequences</a:t>
            </a:r>
          </a:p>
          <a:p>
            <a:pPr eaLnBrk="1" fontAlgn="auto" hangingPunct="1">
              <a:spcAft>
                <a:spcPts val="0"/>
              </a:spcAft>
              <a:buFont typeface="Arial" pitchFamily="34" charset="0"/>
              <a:buChar char="•"/>
              <a:defRPr/>
            </a:pPr>
            <a:r>
              <a:rPr lang="en-US" b="1" dirty="0" smtClean="0"/>
              <a:t>Populations at Risk</a:t>
            </a:r>
          </a:p>
          <a:p>
            <a:pPr eaLnBrk="1" fontAlgn="auto" hangingPunct="1">
              <a:spcAft>
                <a:spcPts val="0"/>
              </a:spcAft>
              <a:buFont typeface="Arial" pitchFamily="34" charset="0"/>
              <a:buNone/>
              <a:defRPr/>
            </a:pPr>
            <a:r>
              <a:rPr lang="en-US" dirty="0" smtClean="0"/>
              <a:t>Populations at risk= types of crises that individuals experience in their lives. </a:t>
            </a:r>
          </a:p>
          <a:p>
            <a:pPr eaLnBrk="1" fontAlgn="auto" hangingPunct="1">
              <a:spcAft>
                <a:spcPts val="0"/>
              </a:spcAft>
              <a:buFont typeface="Arial" pitchFamily="34" charset="0"/>
              <a:buNone/>
              <a:defRPr/>
            </a:pPr>
            <a:r>
              <a:rPr lang="en-US" dirty="0" smtClean="0"/>
              <a:t>Two broad categories = maturational crises and situational crises.</a:t>
            </a:r>
            <a:endParaRPr lang="en-US" b="1" dirty="0" smtClean="0"/>
          </a:p>
        </p:txBody>
      </p:sp>
    </p:spTree>
    <p:extLst>
      <p:ext uri="{BB962C8B-B14F-4D97-AF65-F5344CB8AC3E}">
        <p14:creationId xmlns:p14="http://schemas.microsoft.com/office/powerpoint/2010/main" val="266029219"/>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Secondary Prevention</a:t>
            </a:r>
            <a:br>
              <a:rPr lang="en-US" b="1" dirty="0" smtClean="0"/>
            </a:br>
            <a:endParaRPr lang="en-US" dirty="0" smtClean="0"/>
          </a:p>
        </p:txBody>
      </p:sp>
      <p:sp>
        <p:nvSpPr>
          <p:cNvPr id="25603" name="Content Placeholder 2"/>
          <p:cNvSpPr>
            <a:spLocks noGrp="1"/>
          </p:cNvSpPr>
          <p:nvPr>
            <p:ph idx="1"/>
          </p:nvPr>
        </p:nvSpPr>
        <p:spPr/>
        <p:txBody>
          <a:bodyPr/>
          <a:lstStyle/>
          <a:p>
            <a:pPr eaLnBrk="1" hangingPunct="1">
              <a:buFont typeface="Arial" charset="0"/>
              <a:buNone/>
            </a:pPr>
            <a:r>
              <a:rPr lang="en-US" altLang="en-US" b="1" smtClean="0"/>
              <a:t>Populations At Risk</a:t>
            </a:r>
          </a:p>
          <a:p>
            <a:pPr eaLnBrk="1" hangingPunct="1"/>
            <a:r>
              <a:rPr lang="en-US" altLang="en-US" smtClean="0"/>
              <a:t>Secondary prevention within communities relates to using early detection and prompt intervention with individuals experiencing mental illness symptoms.</a:t>
            </a:r>
          </a:p>
        </p:txBody>
      </p:sp>
    </p:spTree>
    <p:extLst>
      <p:ext uri="{BB962C8B-B14F-4D97-AF65-F5344CB8AC3E}">
        <p14:creationId xmlns:p14="http://schemas.microsoft.com/office/powerpoint/2010/main" val="870437555"/>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274638"/>
            <a:ext cx="8229600" cy="639762"/>
          </a:xfrm>
        </p:spPr>
        <p:txBody>
          <a:bodyPr/>
          <a:lstStyle/>
          <a:p>
            <a:r>
              <a:rPr lang="en-US" altLang="en-US" smtClean="0"/>
              <a:t>Secondary prevention </a:t>
            </a:r>
          </a:p>
        </p:txBody>
      </p:sp>
      <p:sp>
        <p:nvSpPr>
          <p:cNvPr id="26627" name="Content Placeholder 2"/>
          <p:cNvSpPr>
            <a:spLocks noGrp="1"/>
          </p:cNvSpPr>
          <p:nvPr>
            <p:ph idx="1"/>
          </p:nvPr>
        </p:nvSpPr>
        <p:spPr>
          <a:xfrm>
            <a:off x="381000" y="914400"/>
            <a:ext cx="8229600" cy="5867400"/>
          </a:xfrm>
        </p:spPr>
        <p:txBody>
          <a:bodyPr/>
          <a:lstStyle/>
          <a:p>
            <a:pPr eaLnBrk="1" hangingPunct="1"/>
            <a:r>
              <a:rPr lang="en-US" altLang="en-US" sz="2400" smtClean="0"/>
              <a:t>Nursing intervention with the adolescent at the secondary level of prevention may occur in the community setting at community mental health centers, physician’s offices, schools, public health departments, and crisis intervention centers. </a:t>
            </a:r>
          </a:p>
          <a:p>
            <a:pPr eaLnBrk="1" hangingPunct="1"/>
            <a:r>
              <a:rPr lang="en-US" altLang="en-US" sz="2400" smtClean="0"/>
              <a:t>Nurses may work with families to problem solve and improve coping and communication skills, or they may work on a one-to-one basis with the adolescent in an attempt to modify behavior  patterns. </a:t>
            </a:r>
          </a:p>
          <a:p>
            <a:pPr eaLnBrk="1" hangingPunct="1"/>
            <a:r>
              <a:rPr lang="en-US" altLang="en-US" sz="2400" smtClean="0"/>
              <a:t>Nursing care of adolescents in the hospital setting focuses on problem identification and stabilizing a crisis situation.</a:t>
            </a:r>
          </a:p>
          <a:p>
            <a:pPr eaLnBrk="1" hangingPunct="1"/>
            <a:r>
              <a:rPr lang="en-US" altLang="en-US" sz="2400" smtClean="0"/>
              <a:t>Once stability has been achieved, clients are commonly discharged to outpatient care. </a:t>
            </a:r>
          </a:p>
          <a:p>
            <a:pPr eaLnBrk="1" hangingPunct="1"/>
            <a:r>
              <a:rPr lang="en-US" altLang="en-US" sz="2400" smtClean="0"/>
              <a:t>If an adolescent’s home situation has been deemed unsatisfactory, the state may take custody and the child is then discharged to a group or foster home.</a:t>
            </a:r>
          </a:p>
          <a:p>
            <a:endParaRPr lang="en-US" altLang="en-US" smtClean="0"/>
          </a:p>
        </p:txBody>
      </p:sp>
    </p:spTree>
    <p:extLst>
      <p:ext uri="{BB962C8B-B14F-4D97-AF65-F5344CB8AC3E}">
        <p14:creationId xmlns:p14="http://schemas.microsoft.com/office/powerpoint/2010/main" val="423011368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Tertiary Prevention</a:t>
            </a:r>
            <a:br>
              <a:rPr lang="en-US" b="1" dirty="0" smtClean="0"/>
            </a:br>
            <a:endParaRPr lang="en-US" dirty="0" smtClean="0"/>
          </a:p>
        </p:txBody>
      </p:sp>
      <p:sp>
        <p:nvSpPr>
          <p:cNvPr id="27651" name="Content Placeholder 2"/>
          <p:cNvSpPr>
            <a:spLocks noGrp="1"/>
          </p:cNvSpPr>
          <p:nvPr>
            <p:ph idx="1"/>
          </p:nvPr>
        </p:nvSpPr>
        <p:spPr/>
        <p:txBody>
          <a:bodyPr/>
          <a:lstStyle/>
          <a:p>
            <a:pPr eaLnBrk="1" hangingPunct="1"/>
            <a:r>
              <a:rPr lang="en-US" altLang="en-US" smtClean="0"/>
              <a:t>Individuals with Severe and Persistent Mental Illness </a:t>
            </a:r>
          </a:p>
          <a:p>
            <a:pPr eaLnBrk="1" hangingPunct="1"/>
            <a:r>
              <a:rPr lang="en-US" altLang="en-US" smtClean="0"/>
              <a:t>Severe and persistent mental illness is characterized by a functional impairment that interferes with vocational capacity, creates serious interpersonal difficulties, or is associated with a suicide plan or attempt</a:t>
            </a:r>
          </a:p>
        </p:txBody>
      </p:sp>
    </p:spTree>
    <p:extLst>
      <p:ext uri="{BB962C8B-B14F-4D97-AF65-F5344CB8AC3E}">
        <p14:creationId xmlns:p14="http://schemas.microsoft.com/office/powerpoint/2010/main" val="1545566683"/>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b="1" smtClean="0"/>
              <a:t>Tertiary Prevention</a:t>
            </a:r>
            <a:br>
              <a:rPr lang="en-US" altLang="en-US" b="1" smtClean="0"/>
            </a:br>
            <a:endParaRPr lang="en-US" altLang="en-US" smtClean="0"/>
          </a:p>
        </p:txBody>
      </p:sp>
      <p:sp>
        <p:nvSpPr>
          <p:cNvPr id="28675" name="Content Placeholder 2"/>
          <p:cNvSpPr>
            <a:spLocks noGrp="1"/>
          </p:cNvSpPr>
          <p:nvPr>
            <p:ph idx="1"/>
          </p:nvPr>
        </p:nvSpPr>
        <p:spPr/>
        <p:txBody>
          <a:bodyPr/>
          <a:lstStyle/>
          <a:p>
            <a:pPr eaLnBrk="1" hangingPunct="1"/>
            <a:r>
              <a:rPr lang="en-US" altLang="en-US" smtClean="0"/>
              <a:t>The trend in psychiatric care is shifting from that of inpatient hospitalization to a focus of outpatient care within the community. </a:t>
            </a:r>
          </a:p>
          <a:p>
            <a:pPr eaLnBrk="1" hangingPunct="1"/>
            <a:r>
              <a:rPr lang="en-US" altLang="en-US" smtClean="0"/>
              <a:t>This trend is largely due to the need for greater cost-effectiveness in the provision of medical care to the masses.</a:t>
            </a:r>
          </a:p>
          <a:p>
            <a:endParaRPr lang="en-US" altLang="en-US" smtClean="0"/>
          </a:p>
        </p:txBody>
      </p:sp>
    </p:spTree>
    <p:extLst>
      <p:ext uri="{BB962C8B-B14F-4D97-AF65-F5344CB8AC3E}">
        <p14:creationId xmlns:p14="http://schemas.microsoft.com/office/powerpoint/2010/main" val="21428942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smtClean="0"/>
              <a:t>Summary </a:t>
            </a:r>
          </a:p>
        </p:txBody>
      </p:sp>
      <p:sp>
        <p:nvSpPr>
          <p:cNvPr id="29699" name="Content Placeholder 2"/>
          <p:cNvSpPr>
            <a:spLocks noGrp="1"/>
          </p:cNvSpPr>
          <p:nvPr>
            <p:ph idx="1"/>
          </p:nvPr>
        </p:nvSpPr>
        <p:spPr/>
        <p:txBody>
          <a:bodyPr/>
          <a:lstStyle/>
          <a:p>
            <a:pPr eaLnBrk="1" hangingPunct="1"/>
            <a:r>
              <a:rPr lang="en-US" altLang="en-US" smtClean="0"/>
              <a:t>Mental health care within the community targets primary prevention (reducing the incidence of mental disorders within the population), secondary prevention (reducing the prevalence of psychiatric illness by shortening the course of the illness), and tertiary prevention (reducing the residual defects that are associated with severe and persistent mental illness).</a:t>
            </a:r>
          </a:p>
        </p:txBody>
      </p:sp>
    </p:spTree>
    <p:extLst>
      <p:ext uri="{BB962C8B-B14F-4D97-AF65-F5344CB8AC3E}">
        <p14:creationId xmlns:p14="http://schemas.microsoft.com/office/powerpoint/2010/main" val="813017278"/>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305800" cy="5516563"/>
          </a:xfrm>
        </p:spPr>
        <p:txBody>
          <a:bodyPr rtlCol="0">
            <a:normAutofit fontScale="92500" lnSpcReduction="20000"/>
          </a:bodyPr>
          <a:lstStyle/>
          <a:p>
            <a:pPr eaLnBrk="1" fontAlgn="auto" hangingPunct="1">
              <a:spcAft>
                <a:spcPts val="0"/>
              </a:spcAft>
              <a:buFont typeface="Arial" pitchFamily="34" charset="0"/>
              <a:buChar char="•"/>
              <a:defRPr/>
            </a:pPr>
            <a:r>
              <a:rPr lang="en-US" dirty="0" smtClean="0"/>
              <a:t>Primary prevention focuses on identification of populations at risk for mental illness, increasing their ability to cope with stress, and targeting and diminishing harmful forces within the environment. </a:t>
            </a:r>
          </a:p>
          <a:p>
            <a:pPr eaLnBrk="1" fontAlgn="auto" hangingPunct="1">
              <a:spcAft>
                <a:spcPts val="0"/>
              </a:spcAft>
              <a:buFont typeface="Arial" pitchFamily="34" charset="0"/>
              <a:buChar char="•"/>
              <a:defRPr/>
            </a:pPr>
            <a:r>
              <a:rPr lang="en-US" dirty="0" smtClean="0"/>
              <a:t>The focus of secondary prevention is accomplished through early identification of problems and prompt initiation of effective treatment.</a:t>
            </a:r>
          </a:p>
          <a:p>
            <a:pPr eaLnBrk="1" fontAlgn="auto" hangingPunct="1">
              <a:spcAft>
                <a:spcPts val="0"/>
              </a:spcAft>
              <a:buFont typeface="Arial" pitchFamily="34" charset="0"/>
              <a:buChar char="•"/>
              <a:defRPr/>
            </a:pPr>
            <a:r>
              <a:rPr lang="en-US" dirty="0" smtClean="0"/>
              <a:t>Tertiary prevention focuses on preventing complications of the illness and promoting rehabilitation that is directed toward achievement of the individual’s maximum level of functioning.</a:t>
            </a:r>
          </a:p>
        </p:txBody>
      </p:sp>
    </p:spTree>
    <p:extLst>
      <p:ext uri="{BB962C8B-B14F-4D97-AF65-F5344CB8AC3E}">
        <p14:creationId xmlns:p14="http://schemas.microsoft.com/office/powerpoint/2010/main" val="3124710388"/>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533400" y="381000"/>
            <a:ext cx="8153400" cy="5745163"/>
          </a:xfrm>
        </p:spPr>
        <p:txBody>
          <a:bodyPr/>
          <a:lstStyle/>
          <a:p>
            <a:pPr eaLnBrk="1" hangingPunct="1"/>
            <a:r>
              <a:rPr lang="en-US" altLang="en-US" smtClean="0"/>
              <a:t>Registered nurses serve as providers of psychiatric/ mental health care in the community setting.</a:t>
            </a:r>
          </a:p>
          <a:p>
            <a:pPr eaLnBrk="1" hangingPunct="1"/>
            <a:r>
              <a:rPr lang="en-US" altLang="en-US" smtClean="0"/>
              <a:t>Nurses provide outpatient care for individuals with severe and persistent mental illness in community mental health centers, in day and evening treatment programs, in partial hospitalization programs, in community residential facilities, and with psychiatric home health care.</a:t>
            </a:r>
          </a:p>
        </p:txBody>
      </p:sp>
    </p:spTree>
    <p:extLst>
      <p:ext uri="{BB962C8B-B14F-4D97-AF65-F5344CB8AC3E}">
        <p14:creationId xmlns:p14="http://schemas.microsoft.com/office/powerpoint/2010/main" val="1140459595"/>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62585090"/>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Crisis </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A crisis is an acute, time limited </a:t>
            </a:r>
            <a:r>
              <a:rPr lang="en-US" dirty="0" err="1" smtClean="0"/>
              <a:t>phemenon</a:t>
            </a:r>
            <a:r>
              <a:rPr lang="en-US" dirty="0" smtClean="0"/>
              <a:t> experienced as an overwhelming emotional reaction to a; </a:t>
            </a:r>
          </a:p>
          <a:p>
            <a:pPr lvl="1"/>
            <a:r>
              <a:rPr lang="en-US" dirty="0" smtClean="0"/>
              <a:t>Stressful situational event </a:t>
            </a:r>
          </a:p>
          <a:p>
            <a:pPr lvl="1"/>
            <a:r>
              <a:rPr lang="en-US" dirty="0" smtClean="0"/>
              <a:t>Developmental event </a:t>
            </a:r>
          </a:p>
          <a:p>
            <a:pPr lvl="1"/>
            <a:r>
              <a:rPr lang="en-US" dirty="0" smtClean="0"/>
              <a:t>Societal event </a:t>
            </a:r>
          </a:p>
          <a:p>
            <a:pPr lvl="1"/>
            <a:r>
              <a:rPr lang="en-US" dirty="0" smtClean="0"/>
              <a:t>Cultural event</a:t>
            </a:r>
          </a:p>
          <a:p>
            <a:pPr marL="457200" lvl="1" indent="0">
              <a:buNone/>
            </a:pPr>
            <a:r>
              <a:rPr lang="en-US" dirty="0" smtClean="0"/>
              <a:t>Crisis /being in crisis is not </a:t>
            </a:r>
            <a:r>
              <a:rPr lang="en-US" dirty="0"/>
              <a:t>Pathological </a:t>
            </a:r>
            <a:r>
              <a:rPr lang="en-US" dirty="0" smtClean="0"/>
              <a:t>; it is a struggle for equilibrium and adjustment when problems are perceived as insolvable </a:t>
            </a:r>
          </a:p>
        </p:txBody>
      </p:sp>
    </p:spTree>
    <p:extLst>
      <p:ext uri="{BB962C8B-B14F-4D97-AF65-F5344CB8AC3E}">
        <p14:creationId xmlns:p14="http://schemas.microsoft.com/office/powerpoint/2010/main" val="385370754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Crisis </a:t>
            </a:r>
            <a:endParaRPr lang="en-US" dirty="0"/>
          </a:p>
        </p:txBody>
      </p:sp>
      <p:sp>
        <p:nvSpPr>
          <p:cNvPr id="3" name="Content Placeholder 2"/>
          <p:cNvSpPr>
            <a:spLocks noGrp="1"/>
          </p:cNvSpPr>
          <p:nvPr>
            <p:ph idx="1"/>
          </p:nvPr>
        </p:nvSpPr>
        <p:spPr>
          <a:xfrm>
            <a:off x="457200" y="1219200"/>
            <a:ext cx="8229600" cy="5486400"/>
          </a:xfrm>
        </p:spPr>
        <p:txBody>
          <a:bodyPr/>
          <a:lstStyle/>
          <a:p>
            <a:r>
              <a:rPr lang="en-US" dirty="0" smtClean="0"/>
              <a:t>Crisis may occur to </a:t>
            </a:r>
          </a:p>
          <a:p>
            <a:pPr lvl="1"/>
            <a:r>
              <a:rPr lang="en-US" dirty="0" smtClean="0"/>
              <a:t>Individual (physical abuse)</a:t>
            </a:r>
          </a:p>
          <a:p>
            <a:pPr lvl="1"/>
            <a:r>
              <a:rPr lang="en-US" dirty="0" smtClean="0"/>
              <a:t>Group (students </a:t>
            </a:r>
            <a:r>
              <a:rPr lang="en-US" dirty="0" err="1" smtClean="0"/>
              <a:t>e.g</a:t>
            </a:r>
            <a:r>
              <a:rPr lang="en-US" dirty="0" smtClean="0"/>
              <a:t> in a classmates suicide event )</a:t>
            </a:r>
          </a:p>
          <a:p>
            <a:pPr lvl="1"/>
            <a:r>
              <a:rPr lang="en-US" dirty="0" smtClean="0"/>
              <a:t>Community (hurricanes , tornadoes, plane crash)</a:t>
            </a:r>
          </a:p>
          <a:p>
            <a:pPr marL="457200" lvl="1" indent="0">
              <a:buNone/>
            </a:pPr>
            <a:r>
              <a:rPr lang="en-US" dirty="0" smtClean="0"/>
              <a:t>NOTE : its difficult to predict what one will perceive as disastrous event constituting a crisis</a:t>
            </a:r>
          </a:p>
          <a:p>
            <a:pPr marL="457200" lvl="1" indent="0">
              <a:buNone/>
            </a:pPr>
            <a:r>
              <a:rPr lang="en-US" dirty="0" smtClean="0"/>
              <a:t>Crisis is self-limiting and is resolved within 4-6/52</a:t>
            </a:r>
          </a:p>
          <a:p>
            <a:pPr marL="457200" lvl="1" indent="0">
              <a:buNone/>
            </a:pPr>
            <a:r>
              <a:rPr lang="en-US" dirty="0" smtClean="0"/>
              <a:t>Goal of crisis intervention is to maintain pre-crisis level of </a:t>
            </a:r>
            <a:r>
              <a:rPr lang="en-US" dirty="0" err="1" smtClean="0"/>
              <a:t>fxning</a:t>
            </a:r>
            <a:r>
              <a:rPr lang="en-US" dirty="0" smtClean="0"/>
              <a:t> </a:t>
            </a:r>
          </a:p>
          <a:p>
            <a:pPr marL="457200" lvl="1" indent="0">
              <a:buNone/>
            </a:pPr>
            <a:r>
              <a:rPr lang="en-US" dirty="0" smtClean="0"/>
              <a:t>Crisis intervention deals with present (here and now)</a:t>
            </a:r>
          </a:p>
        </p:txBody>
      </p:sp>
    </p:spTree>
    <p:extLst>
      <p:ext uri="{BB962C8B-B14F-4D97-AF65-F5344CB8AC3E}">
        <p14:creationId xmlns:p14="http://schemas.microsoft.com/office/powerpoint/2010/main" val="757726088"/>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rtlCol="0">
            <a:noAutofit/>
          </a:bodyPr>
          <a:lstStyle/>
          <a:p>
            <a:pPr eaLnBrk="1" fontAlgn="auto" hangingPunct="1">
              <a:spcAft>
                <a:spcPts val="0"/>
              </a:spcAft>
              <a:defRPr/>
            </a:pPr>
            <a:r>
              <a:rPr lang="en-US" sz="3200" b="1" dirty="0" smtClean="0"/>
              <a:t/>
            </a:r>
            <a:br>
              <a:rPr lang="en-US" sz="3200" b="1" dirty="0" smtClean="0"/>
            </a:br>
            <a:r>
              <a:rPr lang="en-US" sz="3200" b="1" dirty="0" smtClean="0"/>
              <a:t>Types </a:t>
            </a:r>
            <a:br>
              <a:rPr lang="en-US" sz="3200" b="1" dirty="0" smtClean="0"/>
            </a:br>
            <a:r>
              <a:rPr lang="en-US" sz="3200" b="1" dirty="0" smtClean="0"/>
              <a:t>Maturational</a:t>
            </a:r>
            <a:r>
              <a:rPr lang="en-US" sz="3200" b="1" i="1" dirty="0" smtClean="0"/>
              <a:t> </a:t>
            </a:r>
            <a:r>
              <a:rPr lang="en-US" sz="3200" b="1" dirty="0" smtClean="0"/>
              <a:t>Crises</a:t>
            </a:r>
            <a:r>
              <a:rPr lang="en-US" sz="3200" b="1" i="1" dirty="0" smtClean="0"/>
              <a:t/>
            </a:r>
            <a:br>
              <a:rPr lang="en-US" sz="3200" b="1" i="1" dirty="0" smtClean="0"/>
            </a:br>
            <a:endParaRPr lang="en-US" sz="3200" dirty="0" smtClean="0"/>
          </a:p>
        </p:txBody>
      </p:sp>
      <p:sp>
        <p:nvSpPr>
          <p:cNvPr id="3" name="Content Placeholder 2"/>
          <p:cNvSpPr>
            <a:spLocks noGrp="1"/>
          </p:cNvSpPr>
          <p:nvPr>
            <p:ph idx="1"/>
          </p:nvPr>
        </p:nvSpPr>
        <p:spPr>
          <a:xfrm>
            <a:off x="304800" y="1295400"/>
            <a:ext cx="8610600" cy="5211763"/>
          </a:xfrm>
        </p:spPr>
        <p:txBody>
          <a:bodyPr rtlCol="0">
            <a:normAutofit fontScale="92500" lnSpcReduction="10000"/>
          </a:bodyPr>
          <a:lstStyle/>
          <a:p>
            <a:pPr eaLnBrk="1" fontAlgn="auto" hangingPunct="1">
              <a:spcAft>
                <a:spcPts val="0"/>
              </a:spcAft>
              <a:buFont typeface="Arial" pitchFamily="34" charset="0"/>
              <a:buChar char="•"/>
              <a:defRPr/>
            </a:pPr>
            <a:r>
              <a:rPr lang="en-US" dirty="0" smtClean="0"/>
              <a:t>Maturational crises = crucial experiences  associated with various stages of growth and development.</a:t>
            </a:r>
          </a:p>
          <a:p>
            <a:pPr eaLnBrk="1" fontAlgn="auto" hangingPunct="1">
              <a:spcAft>
                <a:spcPts val="0"/>
              </a:spcAft>
              <a:buFont typeface="Arial" pitchFamily="34" charset="0"/>
              <a:buChar char="•"/>
              <a:defRPr/>
            </a:pPr>
            <a:r>
              <a:rPr lang="en-US" dirty="0" smtClean="0"/>
              <a:t>Eight stages of the life cycle described during which individuals struggle with developmental “tasks.” (Erikson 1963) .</a:t>
            </a:r>
          </a:p>
          <a:p>
            <a:pPr eaLnBrk="1" fontAlgn="auto" hangingPunct="1">
              <a:spcAft>
                <a:spcPts val="0"/>
              </a:spcAft>
              <a:buFont typeface="Arial" pitchFamily="34" charset="0"/>
              <a:buChar char="•"/>
              <a:defRPr/>
            </a:pPr>
            <a:r>
              <a:rPr lang="en-US" dirty="0" smtClean="0"/>
              <a:t>Crises can occur during any of these stages (if psychological disequilibrium) , although several developmental periods and life-cycle events have been recognized as having increased crisis potential: adolescence, marriage, parenthood, midlife, and retirement.</a:t>
            </a:r>
          </a:p>
        </p:txBody>
      </p:sp>
    </p:spTree>
    <p:extLst>
      <p:ext uri="{BB962C8B-B14F-4D97-AF65-F5344CB8AC3E}">
        <p14:creationId xmlns:p14="http://schemas.microsoft.com/office/powerpoint/2010/main" val="2585175490"/>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b="1" smtClean="0"/>
              <a:t>ADOLESCENCE.</a:t>
            </a:r>
            <a:endParaRPr lang="en-US" altLang="en-US" smtClean="0"/>
          </a:p>
        </p:txBody>
      </p:sp>
      <p:sp>
        <p:nvSpPr>
          <p:cNvPr id="3" name="Content Placeholder 2"/>
          <p:cNvSpPr>
            <a:spLocks noGrp="1"/>
          </p:cNvSpPr>
          <p:nvPr>
            <p:ph idx="1"/>
          </p:nvPr>
        </p:nvSpPr>
        <p:spPr>
          <a:xfrm>
            <a:off x="381000" y="1143000"/>
            <a:ext cx="8382000" cy="5334000"/>
          </a:xfrm>
        </p:spPr>
        <p:txBody>
          <a:bodyPr rtlCol="0">
            <a:normAutofit fontScale="92500"/>
          </a:bodyPr>
          <a:lstStyle/>
          <a:p>
            <a:pPr eaLnBrk="1" fontAlgn="auto" hangingPunct="1">
              <a:spcAft>
                <a:spcPts val="0"/>
              </a:spcAft>
              <a:buFont typeface="Arial" pitchFamily="34" charset="0"/>
              <a:buChar char="•"/>
              <a:defRPr/>
            </a:pPr>
            <a:r>
              <a:rPr lang="en-US" dirty="0" smtClean="0"/>
              <a:t>The task for adolescence according to Erikson (1963) is identity versus role confusion.</a:t>
            </a:r>
          </a:p>
          <a:p>
            <a:pPr eaLnBrk="1" fontAlgn="auto" hangingPunct="1">
              <a:spcAft>
                <a:spcPts val="0"/>
              </a:spcAft>
              <a:buFont typeface="Arial" pitchFamily="34" charset="0"/>
              <a:buChar char="•"/>
              <a:defRPr/>
            </a:pPr>
            <a:r>
              <a:rPr lang="en-US" dirty="0" smtClean="0"/>
              <a:t>Adolescence is a transition into young adulthood. </a:t>
            </a:r>
          </a:p>
          <a:p>
            <a:pPr eaLnBrk="1" fontAlgn="auto" hangingPunct="1">
              <a:spcAft>
                <a:spcPts val="0"/>
              </a:spcAft>
              <a:buFont typeface="Arial" pitchFamily="34" charset="0"/>
              <a:buChar char="•"/>
              <a:defRPr/>
            </a:pPr>
            <a:r>
              <a:rPr lang="en-US" dirty="0" smtClean="0"/>
              <a:t>Very volatile time in most families.</a:t>
            </a:r>
          </a:p>
          <a:p>
            <a:pPr eaLnBrk="1" fontAlgn="auto" hangingPunct="1">
              <a:spcAft>
                <a:spcPts val="0"/>
              </a:spcAft>
              <a:buFont typeface="Arial" pitchFamily="34" charset="0"/>
              <a:buChar char="•"/>
              <a:defRPr/>
            </a:pPr>
            <a:r>
              <a:rPr lang="en-US" dirty="0" smtClean="0"/>
              <a:t>Commonly, there is conflict over issues of control.</a:t>
            </a:r>
          </a:p>
          <a:p>
            <a:pPr eaLnBrk="1" fontAlgn="auto" hangingPunct="1">
              <a:spcAft>
                <a:spcPts val="0"/>
              </a:spcAft>
              <a:buFont typeface="Arial" pitchFamily="34" charset="0"/>
              <a:buChar char="•"/>
              <a:defRPr/>
            </a:pPr>
            <a:r>
              <a:rPr lang="en-US" dirty="0" smtClean="0"/>
              <a:t>Parents sometimes have difficulty relinquishing even a minimal amount of the control they have had throughout their child’s infancy, toddler, and school-age years, at this time when the adolescent is seeking increased independence.</a:t>
            </a:r>
          </a:p>
        </p:txBody>
      </p:sp>
    </p:spTree>
    <p:extLst>
      <p:ext uri="{BB962C8B-B14F-4D97-AF65-F5344CB8AC3E}">
        <p14:creationId xmlns:p14="http://schemas.microsoft.com/office/powerpoint/2010/main" val="4076436560"/>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smtClean="0"/>
              <a:t>Problems of adolescents</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Adolescents have many issues to deal with and many choices to make. </a:t>
            </a:r>
          </a:p>
          <a:p>
            <a:pPr eaLnBrk="1" fontAlgn="auto" hangingPunct="1">
              <a:spcAft>
                <a:spcPts val="0"/>
              </a:spcAft>
              <a:buFont typeface="Arial" pitchFamily="34" charset="0"/>
              <a:buChar char="•"/>
              <a:defRPr/>
            </a:pPr>
            <a:r>
              <a:rPr lang="en-US" dirty="0" smtClean="0"/>
              <a:t>Some of these include issues that relate to self-esteem and body image</a:t>
            </a:r>
          </a:p>
          <a:p>
            <a:pPr eaLnBrk="1" fontAlgn="auto" hangingPunct="1">
              <a:spcAft>
                <a:spcPts val="0"/>
              </a:spcAft>
              <a:buFont typeface="Arial" pitchFamily="34" charset="0"/>
              <a:buChar char="•"/>
              <a:defRPr/>
            </a:pPr>
            <a:r>
              <a:rPr lang="en-US" dirty="0" smtClean="0"/>
              <a:t>Peer relationships (with both genders), education and career selection, establishing a set of values and ideals, sexuality and sexual experimentation (including issues of birth control and prevention of sexually transmitted diseases), drug and alcohol abuse, and physical appearance.</a:t>
            </a:r>
          </a:p>
        </p:txBody>
      </p:sp>
    </p:spTree>
    <p:extLst>
      <p:ext uri="{BB962C8B-B14F-4D97-AF65-F5344CB8AC3E}">
        <p14:creationId xmlns:p14="http://schemas.microsoft.com/office/powerpoint/2010/main" val="42444481"/>
      </p:ext>
    </p:extLst>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Mx-adolescents </a:t>
            </a:r>
          </a:p>
        </p:txBody>
      </p:sp>
      <p:sp>
        <p:nvSpPr>
          <p:cNvPr id="18435" name="Content Placeholder 2"/>
          <p:cNvSpPr>
            <a:spLocks noGrp="1"/>
          </p:cNvSpPr>
          <p:nvPr>
            <p:ph idx="1"/>
          </p:nvPr>
        </p:nvSpPr>
        <p:spPr/>
        <p:txBody>
          <a:bodyPr/>
          <a:lstStyle/>
          <a:p>
            <a:pPr eaLnBrk="1" hangingPunct="1"/>
            <a:r>
              <a:rPr lang="en-US" altLang="en-US" smtClean="0"/>
              <a:t>Nursing interventions with adolescents at the primary level of prevention focus on providing support and accurate information to ease the difficult transition they are undergoing.</a:t>
            </a:r>
          </a:p>
          <a:p>
            <a:pPr eaLnBrk="1" hangingPunct="1"/>
            <a:r>
              <a:rPr lang="en-US" altLang="en-US" smtClean="0"/>
              <a:t>Educational offerings can be presented in schools, churches, youth centers, or any location in which groups of teenagers gather.</a:t>
            </a:r>
          </a:p>
          <a:p>
            <a:endParaRPr lang="en-US" altLang="en-US" smtClean="0"/>
          </a:p>
        </p:txBody>
      </p:sp>
    </p:spTree>
    <p:extLst>
      <p:ext uri="{BB962C8B-B14F-4D97-AF65-F5344CB8AC3E}">
        <p14:creationId xmlns:p14="http://schemas.microsoft.com/office/powerpoint/2010/main" val="632267209"/>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Support groups –adolescents </a:t>
            </a:r>
          </a:p>
        </p:txBody>
      </p:sp>
      <p:sp>
        <p:nvSpPr>
          <p:cNvPr id="19459" name="Content Placeholder 2"/>
          <p:cNvSpPr>
            <a:spLocks noGrp="1"/>
          </p:cNvSpPr>
          <p:nvPr>
            <p:ph idx="1"/>
          </p:nvPr>
        </p:nvSpPr>
        <p:spPr>
          <a:xfrm>
            <a:off x="457200" y="1143000"/>
            <a:ext cx="8229600" cy="5308600"/>
          </a:xfrm>
        </p:spPr>
        <p:txBody>
          <a:bodyPr/>
          <a:lstStyle/>
          <a:p>
            <a:pPr eaLnBrk="1" hangingPunct="1">
              <a:buFont typeface="Arial" charset="0"/>
              <a:buNone/>
            </a:pPr>
            <a:r>
              <a:rPr lang="en-US" altLang="en-US" smtClean="0"/>
              <a:t>Types of programs (but are not limited to):</a:t>
            </a:r>
          </a:p>
          <a:p>
            <a:pPr eaLnBrk="1" hangingPunct="1"/>
            <a:r>
              <a:rPr lang="en-US" altLang="en-US" smtClean="0"/>
              <a:t>Support groups for adolescents with alcoholic parent(s)</a:t>
            </a:r>
          </a:p>
          <a:p>
            <a:pPr eaLnBrk="1" hangingPunct="1"/>
            <a:r>
              <a:rPr lang="en-US" altLang="en-US" smtClean="0"/>
              <a:t>Support groups for teenagers who are in need of assistance to cope with stressful situations</a:t>
            </a:r>
          </a:p>
          <a:p>
            <a:pPr eaLnBrk="1" hangingPunct="1"/>
            <a:r>
              <a:rPr lang="en-US" altLang="en-US" smtClean="0"/>
              <a:t>Educational programs that inform about and validate bodily changes and emotions about which there may be some concerns</a:t>
            </a:r>
          </a:p>
          <a:p>
            <a:pPr eaLnBrk="1" hangingPunct="1"/>
            <a:r>
              <a:rPr lang="en-US" altLang="en-US" smtClean="0"/>
              <a:t>Educational programs that inform about nutritional needs specific for this age group</a:t>
            </a:r>
          </a:p>
        </p:txBody>
      </p:sp>
    </p:spTree>
    <p:extLst>
      <p:ext uri="{BB962C8B-B14F-4D97-AF65-F5344CB8AC3E}">
        <p14:creationId xmlns:p14="http://schemas.microsoft.com/office/powerpoint/2010/main" val="69996643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smtClean="0"/>
              <a:t>Support groups –adolescents </a:t>
            </a:r>
          </a:p>
        </p:txBody>
      </p:sp>
      <p:sp>
        <p:nvSpPr>
          <p:cNvPr id="20483" name="Content Placeholder 2"/>
          <p:cNvSpPr>
            <a:spLocks noGrp="1"/>
          </p:cNvSpPr>
          <p:nvPr>
            <p:ph idx="1"/>
          </p:nvPr>
        </p:nvSpPr>
        <p:spPr/>
        <p:txBody>
          <a:bodyPr/>
          <a:lstStyle/>
          <a:p>
            <a:pPr eaLnBrk="1" hangingPunct="1"/>
            <a:r>
              <a:rPr lang="en-US" altLang="en-US" smtClean="0"/>
              <a:t>Educational programs that inform about sexuality, pregnancy, contraception, and sexually transmitted diseases</a:t>
            </a:r>
          </a:p>
          <a:p>
            <a:pPr eaLnBrk="1" hangingPunct="1"/>
            <a:r>
              <a:rPr lang="en-US" altLang="en-US" smtClean="0"/>
              <a:t>Educational programs that inform about the use and abuse of alcohol and other drugs</a:t>
            </a:r>
          </a:p>
          <a:p>
            <a:endParaRPr lang="en-US" altLang="en-US" smtClean="0"/>
          </a:p>
        </p:txBody>
      </p:sp>
    </p:spTree>
    <p:extLst>
      <p:ext uri="{BB962C8B-B14F-4D97-AF65-F5344CB8AC3E}">
        <p14:creationId xmlns:p14="http://schemas.microsoft.com/office/powerpoint/2010/main" val="85679184"/>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smtClean="0"/>
              <a:t>Situational Crises</a:t>
            </a:r>
            <a:r>
              <a:rPr lang="en-US" b="1" i="1" dirty="0" smtClean="0"/>
              <a:t/>
            </a:r>
            <a:br>
              <a:rPr lang="en-US" b="1" i="1" dirty="0" smtClean="0"/>
            </a:br>
            <a:endParaRPr lang="en-US" dirty="0" smtClean="0"/>
          </a:p>
        </p:txBody>
      </p:sp>
      <p:sp>
        <p:nvSpPr>
          <p:cNvPr id="3" name="Content Placeholder 2"/>
          <p:cNvSpPr>
            <a:spLocks noGrp="1"/>
          </p:cNvSpPr>
          <p:nvPr>
            <p:ph idx="1"/>
          </p:nvPr>
        </p:nvSpPr>
        <p:spPr>
          <a:xfrm>
            <a:off x="228600" y="914400"/>
            <a:ext cx="8686800" cy="5715000"/>
          </a:xfrm>
        </p:spPr>
        <p:txBody>
          <a:bodyPr rtlCol="0">
            <a:normAutofit fontScale="77500" lnSpcReduction="20000"/>
          </a:bodyPr>
          <a:lstStyle/>
          <a:p>
            <a:pPr eaLnBrk="1" fontAlgn="auto" hangingPunct="1">
              <a:spcAft>
                <a:spcPts val="0"/>
              </a:spcAft>
              <a:buFont typeface="Arial" pitchFamily="34" charset="0"/>
              <a:buChar char="•"/>
              <a:defRPr/>
            </a:pPr>
            <a:r>
              <a:rPr lang="en-US" dirty="0" smtClean="0">
                <a:latin typeface="Times New Roman" panose="02020603050405020304" pitchFamily="18" charset="0"/>
                <a:cs typeface="Times New Roman" panose="02020603050405020304" pitchFamily="18" charset="0"/>
              </a:rPr>
              <a:t>These are acute responses that occur as a result of an external (rather than internal) circumstantial stressor. </a:t>
            </a:r>
          </a:p>
          <a:p>
            <a:pPr eaLnBrk="1" fontAlgn="auto" hangingPunct="1">
              <a:spcAft>
                <a:spcPts val="0"/>
              </a:spcAft>
              <a:buFont typeface="Arial" pitchFamily="34" charset="0"/>
              <a:buChar char="•"/>
              <a:defRPr/>
            </a:pPr>
            <a:r>
              <a:rPr lang="en-US" b="1" dirty="0" smtClean="0">
                <a:latin typeface="Times New Roman" panose="02020603050405020304" pitchFamily="18" charset="0"/>
                <a:cs typeface="Times New Roman" panose="02020603050405020304" pitchFamily="18" charset="0"/>
              </a:rPr>
              <a:t>POVERTY. </a:t>
            </a:r>
          </a:p>
          <a:p>
            <a:pPr eaLnBrk="1" fontAlgn="auto" hangingPunct="1">
              <a:spcAft>
                <a:spcPts val="0"/>
              </a:spcAft>
              <a:buFont typeface="Arial" pitchFamily="34" charset="0"/>
              <a:buNone/>
              <a:defRPr/>
            </a:pP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Poverty identified as a direct correlation to emotional illness. </a:t>
            </a:r>
          </a:p>
          <a:p>
            <a:pPr eaLnBrk="1" fontAlgn="auto" hangingPunct="1">
              <a:spcAft>
                <a:spcPts val="0"/>
              </a:spcAft>
              <a:buFont typeface="Arial" pitchFamily="34" charset="0"/>
              <a:buNone/>
              <a:defRPr/>
            </a:pPr>
            <a:r>
              <a:rPr lang="en-US" dirty="0" smtClean="0">
                <a:latin typeface="Times New Roman" panose="02020603050405020304" pitchFamily="18" charset="0"/>
                <a:cs typeface="Times New Roman" panose="02020603050405020304" pitchFamily="18" charset="0"/>
              </a:rPr>
              <a:t>	Due to the direct consequences of poverty, inadequate and crowded living conditions, nutritional deficiencies, medical neglect, unemployment, or being homeless.</a:t>
            </a:r>
          </a:p>
          <a:p>
            <a:pPr eaLnBrk="1" fontAlgn="auto" hangingPunct="1">
              <a:spcAft>
                <a:spcPts val="0"/>
              </a:spcAft>
              <a:buFont typeface="Arial" pitchFamily="34" charset="0"/>
              <a:buChar char="•"/>
              <a:defRPr/>
            </a:pPr>
            <a:r>
              <a:rPr lang="en-US" b="1" dirty="0" smtClean="0">
                <a:latin typeface="Times New Roman" panose="02020603050405020304" pitchFamily="18" charset="0"/>
                <a:cs typeface="Times New Roman" panose="02020603050405020304" pitchFamily="18" charset="0"/>
              </a:rPr>
              <a:t>HIGH RATE OF LIFE CHANGE EVENTS. </a:t>
            </a:r>
          </a:p>
          <a:p>
            <a:pPr eaLnBrk="1" fontAlgn="auto" hangingPunct="1">
              <a:spcAft>
                <a:spcPts val="0"/>
              </a:spcAft>
              <a:buFont typeface="Arial" pitchFamily="34" charset="0"/>
              <a:buNone/>
              <a:defRPr/>
            </a:pP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Frequent changes in life patterns due to a large number of significant events occurring in close proximity tend to decrease a person’s ability to deal with stress, and physical or emotional illness may be the result. </a:t>
            </a:r>
          </a:p>
          <a:p>
            <a:pPr eaLnBrk="1" fontAlgn="auto" hangingPunct="1">
              <a:spcAft>
                <a:spcPts val="0"/>
              </a:spcAft>
              <a:buFont typeface="Arial" pitchFamily="34" charset="0"/>
              <a:buNone/>
              <a:defRPr/>
            </a:pPr>
            <a:r>
              <a:rPr lang="en-US" dirty="0" smtClean="0">
                <a:latin typeface="Times New Roman" panose="02020603050405020304" pitchFamily="18" charset="0"/>
                <a:cs typeface="Times New Roman" panose="02020603050405020304" pitchFamily="18" charset="0"/>
              </a:rPr>
              <a:t>	Life change events such as death of a loved one, divorce, being fired from a job, a change in living conditions, a change in place of employment or residence, physical illness, or a change in body image caused by the loss of a body part or function.</a:t>
            </a:r>
          </a:p>
        </p:txBody>
      </p:sp>
    </p:spTree>
    <p:extLst>
      <p:ext uri="{BB962C8B-B14F-4D97-AF65-F5344CB8AC3E}">
        <p14:creationId xmlns:p14="http://schemas.microsoft.com/office/powerpoint/2010/main" val="2505030232"/>
      </p:ext>
    </p:extLst>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8229600" cy="792162"/>
          </a:xfrm>
        </p:spPr>
        <p:txBody>
          <a:bodyPr/>
          <a:lstStyle/>
          <a:p>
            <a:r>
              <a:rPr lang="en-US" altLang="en-US" smtClean="0"/>
              <a:t>Situational crises </a:t>
            </a:r>
          </a:p>
        </p:txBody>
      </p:sp>
      <p:sp>
        <p:nvSpPr>
          <p:cNvPr id="22531" name="Content Placeholder 2"/>
          <p:cNvSpPr>
            <a:spLocks noGrp="1"/>
          </p:cNvSpPr>
          <p:nvPr>
            <p:ph idx="1"/>
          </p:nvPr>
        </p:nvSpPr>
        <p:spPr>
          <a:xfrm>
            <a:off x="457200" y="914400"/>
            <a:ext cx="8229600" cy="5715000"/>
          </a:xfrm>
        </p:spPr>
        <p:txBody>
          <a:bodyPr/>
          <a:lstStyle/>
          <a:p>
            <a:endParaRPr lang="en-US" altLang="en-US" sz="2400" b="1" smtClean="0"/>
          </a:p>
          <a:p>
            <a:r>
              <a:rPr lang="en-US" altLang="en-US" sz="2400" b="1" smtClean="0"/>
              <a:t>Environmental </a:t>
            </a:r>
            <a:r>
              <a:rPr lang="en-US" altLang="en-US" sz="2400" smtClean="0"/>
              <a:t>conditions can create situational crises. Tornados, floods, civil wars, drought, hurricanes, and earthquakes wreak devastation on thousands of individuals and families each year.</a:t>
            </a:r>
          </a:p>
          <a:p>
            <a:pPr eaLnBrk="1" hangingPunct="1"/>
            <a:r>
              <a:rPr lang="en-US" altLang="en-US" sz="2400" b="1" smtClean="0"/>
              <a:t>TRAUMA. </a:t>
            </a:r>
          </a:p>
          <a:p>
            <a:pPr eaLnBrk="1" hangingPunct="1">
              <a:buFont typeface="Arial" charset="0"/>
              <a:buNone/>
            </a:pPr>
            <a:r>
              <a:rPr lang="en-US" altLang="en-US" sz="2400" b="1" smtClean="0"/>
              <a:t>	</a:t>
            </a:r>
            <a:r>
              <a:rPr lang="en-US" altLang="en-US" sz="2400" smtClean="0"/>
              <a:t>Individuals who have encountered traumatic experiences must be considered at risk for emotional illness. </a:t>
            </a:r>
          </a:p>
          <a:p>
            <a:pPr eaLnBrk="1" hangingPunct="1">
              <a:buFont typeface="Arial" charset="0"/>
              <a:buNone/>
            </a:pPr>
            <a:r>
              <a:rPr lang="en-US" altLang="en-US" sz="2400" smtClean="0"/>
              <a:t>	These include traumatic experiences usually considered outside the range of usual human experience,such as;-military combat, being a victim of violent personal assault, undergoing torture, being taken hostage or kidnapped, or being the victim of a natural or manmade disaster (APA, 2000).</a:t>
            </a:r>
          </a:p>
          <a:p>
            <a:endParaRPr lang="en-US" altLang="en-US" smtClean="0"/>
          </a:p>
          <a:p>
            <a:endParaRPr lang="en-US" altLang="en-US" smtClean="0"/>
          </a:p>
        </p:txBody>
      </p:sp>
    </p:spTree>
    <p:extLst>
      <p:ext uri="{BB962C8B-B14F-4D97-AF65-F5344CB8AC3E}">
        <p14:creationId xmlns:p14="http://schemas.microsoft.com/office/powerpoint/2010/main" val="127458028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smtClean="0"/>
              <a:t>Situational crises </a:t>
            </a:r>
          </a:p>
        </p:txBody>
      </p:sp>
      <p:sp>
        <p:nvSpPr>
          <p:cNvPr id="23555" name="Content Placeholder 2"/>
          <p:cNvSpPr>
            <a:spLocks noGrp="1"/>
          </p:cNvSpPr>
          <p:nvPr>
            <p:ph idx="1"/>
          </p:nvPr>
        </p:nvSpPr>
        <p:spPr>
          <a:xfrm>
            <a:off x="457200" y="1066800"/>
            <a:ext cx="8229600" cy="5257800"/>
          </a:xfrm>
        </p:spPr>
        <p:txBody>
          <a:bodyPr/>
          <a:lstStyle/>
          <a:p>
            <a:pPr eaLnBrk="1" hangingPunct="1"/>
            <a:r>
              <a:rPr lang="en-US" altLang="en-US" sz="2400" smtClean="0"/>
              <a:t>Nursing intervention at the primary level of prevention in situational crises is aimed at maintaining the highest possible level of functioning while offering support and assistance with problem-solving during the crisis period. </a:t>
            </a:r>
          </a:p>
          <a:p>
            <a:pPr eaLnBrk="1" hangingPunct="1"/>
            <a:r>
              <a:rPr lang="en-US" altLang="en-US" sz="2400" smtClean="0"/>
              <a:t>Interventions for nursing of clients in crisis include: </a:t>
            </a:r>
          </a:p>
          <a:p>
            <a:pPr lvl="1" eaLnBrk="1" hangingPunct="1"/>
            <a:r>
              <a:rPr lang="en-US" altLang="en-US" sz="2400" smtClean="0"/>
              <a:t>Remain with the individual who is experiencing panic anxiety.</a:t>
            </a:r>
          </a:p>
          <a:p>
            <a:pPr lvl="1" eaLnBrk="1" hangingPunct="1"/>
            <a:r>
              <a:rPr lang="en-US" altLang="en-US" sz="2400" smtClean="0"/>
              <a:t>Establish a rapid working relationship by showing unconditional acceptance, by active listening, and by attending to immediate needs.</a:t>
            </a:r>
          </a:p>
          <a:p>
            <a:pPr lvl="1" eaLnBrk="1" hangingPunct="1"/>
            <a:r>
              <a:rPr lang="en-US" altLang="en-US" sz="2400" smtClean="0"/>
              <a:t>Discourage lengthy explanations or rationalizations of the situation; promote an atmosphere for verbalization of true feelings.</a:t>
            </a:r>
          </a:p>
          <a:p>
            <a:endParaRPr lang="en-US" altLang="en-US" sz="2400" smtClean="0"/>
          </a:p>
        </p:txBody>
      </p:sp>
    </p:spTree>
    <p:extLst>
      <p:ext uri="{BB962C8B-B14F-4D97-AF65-F5344CB8AC3E}">
        <p14:creationId xmlns:p14="http://schemas.microsoft.com/office/powerpoint/2010/main" val="2810315700"/>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t>Interventions </a:t>
            </a:r>
          </a:p>
        </p:txBody>
      </p:sp>
      <p:sp>
        <p:nvSpPr>
          <p:cNvPr id="24579" name="Content Placeholder 2"/>
          <p:cNvSpPr>
            <a:spLocks noGrp="1"/>
          </p:cNvSpPr>
          <p:nvPr>
            <p:ph idx="1"/>
          </p:nvPr>
        </p:nvSpPr>
        <p:spPr>
          <a:xfrm>
            <a:off x="457200" y="1600200"/>
            <a:ext cx="8229600" cy="5105400"/>
          </a:xfrm>
        </p:spPr>
        <p:txBody>
          <a:bodyPr/>
          <a:lstStyle/>
          <a:p>
            <a:pPr lvl="1" eaLnBrk="1" hangingPunct="1"/>
            <a:r>
              <a:rPr lang="en-US" altLang="en-US" smtClean="0"/>
              <a:t>Set firm limits on aggressive, destructive behaviors. At high levels of anxiety, behavior is likely to be impulsive and regressive. Establish at the outset what is acceptable and what is not, and maintain consistency.</a:t>
            </a:r>
          </a:p>
          <a:p>
            <a:pPr lvl="1" eaLnBrk="1" hangingPunct="1"/>
            <a:r>
              <a:rPr lang="en-US" altLang="en-US" smtClean="0"/>
              <a:t>Help the individual determine what he or she believes precipitated the crisis.</a:t>
            </a:r>
          </a:p>
          <a:p>
            <a:pPr lvl="1" eaLnBrk="1" hangingPunct="1"/>
            <a:r>
              <a:rPr lang="en-US" altLang="en-US" smtClean="0"/>
              <a:t>Acknowledge feelings of anger, guilt, helplessness, and powerlessness, while taking care not to provide positive feedback for these feelings.</a:t>
            </a:r>
          </a:p>
          <a:p>
            <a:endParaRPr lang="en-US" altLang="en-US" smtClean="0"/>
          </a:p>
        </p:txBody>
      </p:sp>
    </p:spTree>
    <p:extLst>
      <p:ext uri="{BB962C8B-B14F-4D97-AF65-F5344CB8AC3E}">
        <p14:creationId xmlns:p14="http://schemas.microsoft.com/office/powerpoint/2010/main" val="428410992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Adventitious </a:t>
            </a:r>
            <a:endParaRPr lang="en-US" dirty="0"/>
          </a:p>
        </p:txBody>
      </p:sp>
      <p:sp>
        <p:nvSpPr>
          <p:cNvPr id="3" name="Content Placeholder 2"/>
          <p:cNvSpPr>
            <a:spLocks noGrp="1"/>
          </p:cNvSpPr>
          <p:nvPr>
            <p:ph idx="1"/>
          </p:nvPr>
        </p:nvSpPr>
        <p:spPr>
          <a:xfrm>
            <a:off x="457200" y="1219200"/>
            <a:ext cx="8229600" cy="4906963"/>
          </a:xfrm>
        </p:spPr>
        <p:txBody>
          <a:bodyPr/>
          <a:lstStyle/>
          <a:p>
            <a:r>
              <a:rPr lang="en-US" dirty="0" smtClean="0"/>
              <a:t>Crisis of disaster, and is not part f everyday life; its unplanned or accidental</a:t>
            </a:r>
          </a:p>
          <a:p>
            <a:r>
              <a:rPr lang="en-US" dirty="0" smtClean="0"/>
              <a:t>In 3 categories</a:t>
            </a:r>
          </a:p>
          <a:p>
            <a:pPr lvl="1"/>
            <a:r>
              <a:rPr lang="en-US" dirty="0" smtClean="0"/>
              <a:t>Natural disaster (floods, earthquakes, fires, tornadoes)</a:t>
            </a:r>
          </a:p>
          <a:p>
            <a:pPr lvl="1"/>
            <a:r>
              <a:rPr lang="en-US" dirty="0" smtClean="0"/>
              <a:t>National disasters (wars, riots, plane crash, terror )</a:t>
            </a:r>
          </a:p>
          <a:p>
            <a:pPr lvl="1"/>
            <a:r>
              <a:rPr lang="en-US" dirty="0" smtClean="0"/>
              <a:t>Crimes of violence ( assault/murder at work place, spouse or child abuse)</a:t>
            </a:r>
            <a:endParaRPr lang="en-US" dirty="0"/>
          </a:p>
        </p:txBody>
      </p:sp>
    </p:spTree>
    <p:extLst>
      <p:ext uri="{BB962C8B-B14F-4D97-AF65-F5344CB8AC3E}">
        <p14:creationId xmlns:p14="http://schemas.microsoft.com/office/powerpoint/2010/main" val="261673057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Phases of Crisis </a:t>
            </a:r>
            <a:endParaRPr lang="en-US" dirty="0"/>
          </a:p>
        </p:txBody>
      </p:sp>
      <p:sp>
        <p:nvSpPr>
          <p:cNvPr id="3" name="Content Placeholder 2"/>
          <p:cNvSpPr>
            <a:spLocks noGrp="1"/>
          </p:cNvSpPr>
          <p:nvPr>
            <p:ph idx="1"/>
          </p:nvPr>
        </p:nvSpPr>
        <p:spPr>
          <a:xfrm>
            <a:off x="457200" y="1066800"/>
            <a:ext cx="8229600" cy="5638800"/>
          </a:xfrm>
        </p:spPr>
        <p:txBody>
          <a:bodyPr/>
          <a:lstStyle/>
          <a:p>
            <a:pPr marL="514350" indent="-514350">
              <a:buFont typeface="+mj-lt"/>
              <a:buAutoNum type="arabicPeriod"/>
            </a:pPr>
            <a:r>
              <a:rPr lang="en-US" dirty="0" smtClean="0"/>
              <a:t>a problem that arise that contribute to increased anxiety. The anxiety stimulates the use of usual problem solving techniques</a:t>
            </a:r>
          </a:p>
          <a:p>
            <a:pPr marL="514350" indent="-514350">
              <a:buFont typeface="+mj-lt"/>
              <a:buAutoNum type="arabicPeriod"/>
            </a:pPr>
            <a:r>
              <a:rPr lang="en-US" dirty="0" smtClean="0"/>
              <a:t>If the usual problem solving don’t work, anxiety </a:t>
            </a:r>
            <a:r>
              <a:rPr lang="en-US" dirty="0" err="1" smtClean="0"/>
              <a:t>ct</a:t>
            </a:r>
            <a:r>
              <a:rPr lang="en-US" dirty="0" smtClean="0"/>
              <a:t> to rise and trial –error attempts to restore balance</a:t>
            </a:r>
          </a:p>
          <a:p>
            <a:pPr marL="514350" indent="-514350">
              <a:buFont typeface="+mj-lt"/>
              <a:buAutoNum type="arabicPeriod"/>
            </a:pPr>
            <a:r>
              <a:rPr lang="en-US" dirty="0" smtClean="0"/>
              <a:t>If trial-error fail anxiety escalate to severe/panic levels and person adopts automatic relief behavior </a:t>
            </a:r>
          </a:p>
          <a:p>
            <a:pPr marL="514350" indent="-514350">
              <a:buFont typeface="+mj-lt"/>
              <a:buAutoNum type="arabicPeriod"/>
            </a:pPr>
            <a:r>
              <a:rPr lang="en-US" dirty="0" smtClean="0"/>
              <a:t>If these measures don’t reduce anxiety , person overwhelmed =crisis </a:t>
            </a:r>
          </a:p>
          <a:p>
            <a:pPr marL="514350" indent="-514350">
              <a:buFont typeface="+mj-lt"/>
              <a:buAutoNum type="arabicPeriod"/>
            </a:pPr>
            <a:endParaRPr lang="en-US" dirty="0" smtClean="0"/>
          </a:p>
        </p:txBody>
      </p:sp>
    </p:spTree>
    <p:extLst>
      <p:ext uri="{BB962C8B-B14F-4D97-AF65-F5344CB8AC3E}">
        <p14:creationId xmlns:p14="http://schemas.microsoft.com/office/powerpoint/2010/main" val="822858351"/>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Levels of crisis intervention </a:t>
            </a:r>
            <a:endParaRPr lang="en-US" dirty="0"/>
          </a:p>
        </p:txBody>
      </p:sp>
      <p:sp>
        <p:nvSpPr>
          <p:cNvPr id="3" name="Content Placeholder 2"/>
          <p:cNvSpPr>
            <a:spLocks noGrp="1"/>
          </p:cNvSpPr>
          <p:nvPr>
            <p:ph idx="1"/>
          </p:nvPr>
        </p:nvSpPr>
        <p:spPr>
          <a:xfrm>
            <a:off x="533400" y="990600"/>
            <a:ext cx="8229600" cy="5867400"/>
          </a:xfrm>
        </p:spPr>
        <p:txBody>
          <a:bodyPr/>
          <a:lstStyle/>
          <a:p>
            <a:pPr marL="0" indent="0">
              <a:buNone/>
            </a:pPr>
            <a:r>
              <a:rPr lang="en-US" b="1" dirty="0" smtClean="0"/>
              <a:t>Preventive (primary care )</a:t>
            </a:r>
          </a:p>
          <a:p>
            <a:r>
              <a:rPr lang="en-US" dirty="0" smtClean="0"/>
              <a:t>Intervention that promote mental health and reduce incidence of mental illness.</a:t>
            </a:r>
          </a:p>
          <a:p>
            <a:r>
              <a:rPr lang="en-US" dirty="0" smtClean="0"/>
              <a:t>Aims at altering cause before they do any harm (prep /anticipating) event</a:t>
            </a:r>
          </a:p>
          <a:p>
            <a:r>
              <a:rPr lang="en-US" dirty="0" smtClean="0"/>
              <a:t>Environmental manipulation –providing support</a:t>
            </a:r>
          </a:p>
          <a:p>
            <a:pPr marL="0" indent="0">
              <a:buNone/>
            </a:pPr>
            <a:r>
              <a:rPr lang="en-US" b="1" dirty="0" smtClean="0"/>
              <a:t>Secondary (secondary care)</a:t>
            </a:r>
          </a:p>
          <a:p>
            <a:r>
              <a:rPr lang="en-US" dirty="0" smtClean="0"/>
              <a:t>During acute crisis aims to prevent prolonged anxiety from diminishing personal effectiveness</a:t>
            </a:r>
          </a:p>
          <a:p>
            <a:endParaRPr lang="en-US" dirty="0"/>
          </a:p>
        </p:txBody>
      </p:sp>
    </p:spTree>
    <p:extLst>
      <p:ext uri="{BB962C8B-B14F-4D97-AF65-F5344CB8AC3E}">
        <p14:creationId xmlns:p14="http://schemas.microsoft.com/office/powerpoint/2010/main" val="38053795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Levels of crisis intervention </a:t>
            </a:r>
          </a:p>
        </p:txBody>
      </p:sp>
      <p:sp>
        <p:nvSpPr>
          <p:cNvPr id="3" name="Content Placeholder 2"/>
          <p:cNvSpPr>
            <a:spLocks noGrp="1"/>
          </p:cNvSpPr>
          <p:nvPr>
            <p:ph idx="1"/>
          </p:nvPr>
        </p:nvSpPr>
        <p:spPr/>
        <p:txBody>
          <a:bodyPr/>
          <a:lstStyle/>
          <a:p>
            <a:r>
              <a:rPr lang="en-US" dirty="0" err="1" smtClean="0"/>
              <a:t>Rehabilititive</a:t>
            </a:r>
            <a:r>
              <a:rPr lang="en-US" dirty="0" smtClean="0"/>
              <a:t> /tertiary care </a:t>
            </a:r>
          </a:p>
          <a:p>
            <a:r>
              <a:rPr lang="en-US" dirty="0" smtClean="0"/>
              <a:t>Provides support for those who have experienced anxiety and are recovered</a:t>
            </a:r>
          </a:p>
          <a:p>
            <a:r>
              <a:rPr lang="en-US" dirty="0" smtClean="0"/>
              <a:t>Mentally healthy person makes good care of secondary phase</a:t>
            </a:r>
          </a:p>
          <a:p>
            <a:r>
              <a:rPr lang="en-US" dirty="0" smtClean="0"/>
              <a:t>Mentally ill /psychologically disturbed benefit with </a:t>
            </a:r>
            <a:r>
              <a:rPr lang="en-US" dirty="0" err="1" smtClean="0"/>
              <a:t>tertially</a:t>
            </a:r>
            <a:r>
              <a:rPr lang="en-US" dirty="0" smtClean="0"/>
              <a:t>  </a:t>
            </a:r>
          </a:p>
          <a:p>
            <a:endParaRPr lang="en-US" dirty="0" smtClean="0"/>
          </a:p>
          <a:p>
            <a:endParaRPr lang="en-US" dirty="0"/>
          </a:p>
        </p:txBody>
      </p:sp>
    </p:spTree>
    <p:extLst>
      <p:ext uri="{BB962C8B-B14F-4D97-AF65-F5344CB8AC3E}">
        <p14:creationId xmlns:p14="http://schemas.microsoft.com/office/powerpoint/2010/main" val="282378617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S&amp;S </a:t>
            </a: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smtClean="0"/>
              <a:t>Confusion/disorganized thinking </a:t>
            </a:r>
          </a:p>
          <a:p>
            <a:r>
              <a:rPr lang="en-US" dirty="0" smtClean="0"/>
              <a:t>Immobilization/social withdrawal</a:t>
            </a:r>
          </a:p>
          <a:p>
            <a:r>
              <a:rPr lang="en-US" dirty="0" smtClean="0"/>
              <a:t>Violence </a:t>
            </a:r>
          </a:p>
          <a:p>
            <a:r>
              <a:rPr lang="en-US" dirty="0" smtClean="0"/>
              <a:t>Suicidal thoughts </a:t>
            </a:r>
          </a:p>
          <a:p>
            <a:r>
              <a:rPr lang="en-US" dirty="0" smtClean="0"/>
              <a:t>Agitation/increased psychomotor activity </a:t>
            </a:r>
          </a:p>
          <a:p>
            <a:r>
              <a:rPr lang="en-US" dirty="0" smtClean="0"/>
              <a:t>Crying /sadness</a:t>
            </a:r>
          </a:p>
          <a:p>
            <a:r>
              <a:rPr lang="en-US" dirty="0" smtClean="0"/>
              <a:t>Flashbacks </a:t>
            </a:r>
          </a:p>
          <a:p>
            <a:r>
              <a:rPr lang="en-US" dirty="0" smtClean="0"/>
              <a:t>Forgetfulness /poor concentration </a:t>
            </a:r>
            <a:endParaRPr lang="en-US" dirty="0"/>
          </a:p>
        </p:txBody>
      </p:sp>
    </p:spTree>
    <p:extLst>
      <p:ext uri="{BB962C8B-B14F-4D97-AF65-F5344CB8AC3E}">
        <p14:creationId xmlns:p14="http://schemas.microsoft.com/office/powerpoint/2010/main" val="930694173"/>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dirty="0" smtClean="0"/>
              <a:t>Pt assessment </a:t>
            </a:r>
            <a:endParaRPr lang="en-US" dirty="0"/>
          </a:p>
        </p:txBody>
      </p:sp>
      <p:sp>
        <p:nvSpPr>
          <p:cNvPr id="3" name="Content Placeholder 2"/>
          <p:cNvSpPr>
            <a:spLocks noGrp="1"/>
          </p:cNvSpPr>
          <p:nvPr>
            <p:ph idx="1"/>
          </p:nvPr>
        </p:nvSpPr>
        <p:spPr>
          <a:xfrm>
            <a:off x="457200" y="990600"/>
            <a:ext cx="8229600" cy="5638800"/>
          </a:xfrm>
        </p:spPr>
        <p:txBody>
          <a:bodyPr/>
          <a:lstStyle/>
          <a:p>
            <a:r>
              <a:rPr lang="en-US" dirty="0" smtClean="0"/>
              <a:t>Overwhelming life event (maturational/situational/adventitious</a:t>
            </a:r>
          </a:p>
          <a:p>
            <a:r>
              <a:rPr lang="en-US" dirty="0" err="1" smtClean="0"/>
              <a:t>Hx</a:t>
            </a:r>
            <a:r>
              <a:rPr lang="en-US" dirty="0" smtClean="0"/>
              <a:t> of violence behavior/ suicidal</a:t>
            </a:r>
          </a:p>
          <a:p>
            <a:r>
              <a:rPr lang="en-US" dirty="0" err="1" smtClean="0"/>
              <a:t>Hx</a:t>
            </a:r>
            <a:r>
              <a:rPr lang="en-US" dirty="0" smtClean="0"/>
              <a:t> psychiatry dx</a:t>
            </a:r>
          </a:p>
          <a:p>
            <a:r>
              <a:rPr lang="en-US" dirty="0" err="1" smtClean="0"/>
              <a:t>Hx</a:t>
            </a:r>
            <a:r>
              <a:rPr lang="en-US" dirty="0" smtClean="0"/>
              <a:t> of concurrent med </a:t>
            </a:r>
            <a:r>
              <a:rPr lang="en-US" dirty="0" err="1" smtClean="0"/>
              <a:t>cdtn</a:t>
            </a:r>
            <a:r>
              <a:rPr lang="en-US" dirty="0" smtClean="0"/>
              <a:t> (chronic)</a:t>
            </a:r>
          </a:p>
          <a:p>
            <a:r>
              <a:rPr lang="en-US" dirty="0" smtClean="0"/>
              <a:t>Religion/</a:t>
            </a:r>
            <a:r>
              <a:rPr lang="en-US" dirty="0" err="1" smtClean="0"/>
              <a:t>culural</a:t>
            </a:r>
            <a:r>
              <a:rPr lang="en-US" dirty="0" smtClean="0"/>
              <a:t> beliefs affect way the person experiences crisis</a:t>
            </a:r>
          </a:p>
          <a:p>
            <a:r>
              <a:rPr lang="en-US" dirty="0" err="1" smtClean="0"/>
              <a:t>Asess</a:t>
            </a:r>
            <a:r>
              <a:rPr lang="en-US" dirty="0" smtClean="0"/>
              <a:t>-meaning of precipitating event/support sys /coping skills </a:t>
            </a:r>
          </a:p>
        </p:txBody>
      </p:sp>
    </p:spTree>
    <p:extLst>
      <p:ext uri="{BB962C8B-B14F-4D97-AF65-F5344CB8AC3E}">
        <p14:creationId xmlns:p14="http://schemas.microsoft.com/office/powerpoint/2010/main" val="2156561584"/>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Nrsg</a:t>
            </a:r>
            <a:r>
              <a:rPr lang="en-US" dirty="0" smtClean="0"/>
              <a:t> dx</a:t>
            </a: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smtClean="0"/>
              <a:t>Ineffective coping related inadequate level of confidence /inadequate social support/inadequate level of perception as evidenced by inability to meet basic need/</a:t>
            </a:r>
            <a:r>
              <a:rPr lang="en-US" dirty="0" err="1" smtClean="0"/>
              <a:t>inapropriate</a:t>
            </a:r>
            <a:r>
              <a:rPr lang="en-US" dirty="0" smtClean="0"/>
              <a:t> responses</a:t>
            </a:r>
          </a:p>
          <a:p>
            <a:pPr lvl="1"/>
            <a:endParaRPr lang="en-US" dirty="0" smtClean="0"/>
          </a:p>
          <a:p>
            <a:endParaRPr lang="en-US" dirty="0"/>
          </a:p>
        </p:txBody>
      </p:sp>
    </p:spTree>
    <p:extLst>
      <p:ext uri="{BB962C8B-B14F-4D97-AF65-F5344CB8AC3E}">
        <p14:creationId xmlns:p14="http://schemas.microsoft.com/office/powerpoint/2010/main" val="905689026"/>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Interventions </a:t>
            </a:r>
            <a:endParaRPr lang="en-US" dirty="0"/>
          </a:p>
        </p:txBody>
      </p:sp>
      <p:sp>
        <p:nvSpPr>
          <p:cNvPr id="3" name="Content Placeholder 2"/>
          <p:cNvSpPr>
            <a:spLocks noGrp="1"/>
          </p:cNvSpPr>
          <p:nvPr>
            <p:ph idx="1"/>
          </p:nvPr>
        </p:nvSpPr>
        <p:spPr/>
        <p:txBody>
          <a:bodyPr/>
          <a:lstStyle/>
          <a:p>
            <a:r>
              <a:rPr lang="en-US" dirty="0" smtClean="0"/>
              <a:t>Assess suicide/homicide –</a:t>
            </a:r>
            <a:r>
              <a:rPr lang="en-US" dirty="0" err="1" smtClean="0"/>
              <a:t>pt</a:t>
            </a:r>
            <a:r>
              <a:rPr lang="en-US" dirty="0" smtClean="0"/>
              <a:t> safety </a:t>
            </a:r>
          </a:p>
          <a:p>
            <a:r>
              <a:rPr lang="en-US" dirty="0" smtClean="0"/>
              <a:t>Increase feelings of safety and decrease anxiety</a:t>
            </a:r>
          </a:p>
          <a:p>
            <a:endParaRPr lang="en-US" dirty="0"/>
          </a:p>
        </p:txBody>
      </p:sp>
    </p:spTree>
    <p:extLst>
      <p:ext uri="{BB962C8B-B14F-4D97-AF65-F5344CB8AC3E}">
        <p14:creationId xmlns:p14="http://schemas.microsoft.com/office/powerpoint/2010/main" val="3999747599"/>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TREATMENT MODALITIES/THERAPIES  FOR MENTAL HEALTH</a:t>
            </a:r>
            <a:endParaRPr lang="en-US" b="1" dirty="0"/>
          </a:p>
        </p:txBody>
      </p:sp>
      <p:sp>
        <p:nvSpPr>
          <p:cNvPr id="3" name="Content Placeholder 2"/>
          <p:cNvSpPr>
            <a:spLocks noGrp="1"/>
          </p:cNvSpPr>
          <p:nvPr>
            <p:ph idx="1"/>
          </p:nvPr>
        </p:nvSpPr>
        <p:spPr/>
        <p:txBody>
          <a:bodyPr/>
          <a:lstStyle/>
          <a:p>
            <a:pPr marL="0" indent="0">
              <a:buNone/>
            </a:pPr>
            <a:r>
              <a:rPr lang="en-US" dirty="0" smtClean="0"/>
              <a:t> </a:t>
            </a:r>
            <a:r>
              <a:rPr lang="en-US" b="1" dirty="0"/>
              <a:t>THERAPIES </a:t>
            </a:r>
            <a:endParaRPr lang="en-US" dirty="0"/>
          </a:p>
          <a:p>
            <a:r>
              <a:rPr lang="en-US" dirty="0"/>
              <a:t>There are three types of therapies in psychiatry: </a:t>
            </a:r>
          </a:p>
          <a:p>
            <a:pPr marL="0" indent="0">
              <a:buNone/>
            </a:pPr>
            <a:r>
              <a:rPr lang="en-US" dirty="0" smtClean="0"/>
              <a:t>	</a:t>
            </a:r>
            <a:r>
              <a:rPr lang="en-US" dirty="0" err="1" smtClean="0"/>
              <a:t>i</a:t>
            </a:r>
            <a:r>
              <a:rPr lang="en-US" dirty="0"/>
              <a:t>. psychotherapies </a:t>
            </a:r>
          </a:p>
          <a:p>
            <a:pPr marL="0" indent="0">
              <a:buNone/>
            </a:pPr>
            <a:r>
              <a:rPr lang="en-US" dirty="0" smtClean="0"/>
              <a:t>	ii</a:t>
            </a:r>
            <a:r>
              <a:rPr lang="en-US" dirty="0"/>
              <a:t>. biological therapies </a:t>
            </a:r>
          </a:p>
          <a:p>
            <a:pPr marL="0" indent="0">
              <a:buNone/>
            </a:pPr>
            <a:r>
              <a:rPr lang="en-US" dirty="0" smtClean="0"/>
              <a:t>	iii</a:t>
            </a:r>
            <a:r>
              <a:rPr lang="en-US" dirty="0"/>
              <a:t>. Specialized psychiatric therapies. </a:t>
            </a:r>
          </a:p>
          <a:p>
            <a:endParaRPr lang="en-US" dirty="0"/>
          </a:p>
        </p:txBody>
      </p:sp>
    </p:spTree>
    <p:extLst>
      <p:ext uri="{BB962C8B-B14F-4D97-AF65-F5344CB8AC3E}">
        <p14:creationId xmlns:p14="http://schemas.microsoft.com/office/powerpoint/2010/main" val="1147470368"/>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a:bodyPr>
          <a:lstStyle/>
          <a:p>
            <a:r>
              <a:rPr lang="en-US" b="1" dirty="0" smtClean="0"/>
              <a:t>Psychotherapies </a:t>
            </a:r>
            <a:endParaRPr lang="en-US" dirty="0"/>
          </a:p>
        </p:txBody>
      </p:sp>
      <p:sp>
        <p:nvSpPr>
          <p:cNvPr id="3" name="Content Placeholder 2"/>
          <p:cNvSpPr>
            <a:spLocks noGrp="1"/>
          </p:cNvSpPr>
          <p:nvPr>
            <p:ph idx="1"/>
          </p:nvPr>
        </p:nvSpPr>
        <p:spPr>
          <a:xfrm>
            <a:off x="457200" y="990600"/>
            <a:ext cx="8229600" cy="5410200"/>
          </a:xfrm>
        </p:spPr>
        <p:txBody>
          <a:bodyPr>
            <a:normAutofit/>
          </a:bodyPr>
          <a:lstStyle/>
          <a:p>
            <a:endParaRPr lang="en-US" dirty="0"/>
          </a:p>
          <a:p>
            <a:pPr marL="514350" indent="-514350">
              <a:buFont typeface="+mj-lt"/>
              <a:buAutoNum type="alphaLcParenR"/>
            </a:pPr>
            <a:r>
              <a:rPr lang="en-US" dirty="0" smtClean="0"/>
              <a:t>Psychoanalysis </a:t>
            </a:r>
            <a:endParaRPr lang="en-US" dirty="0"/>
          </a:p>
          <a:p>
            <a:pPr marL="514350" indent="-514350">
              <a:buFont typeface="+mj-lt"/>
              <a:buAutoNum type="alphaLcParenR"/>
            </a:pPr>
            <a:r>
              <a:rPr lang="en-US" dirty="0" smtClean="0"/>
              <a:t>Brief </a:t>
            </a:r>
            <a:r>
              <a:rPr lang="en-US" dirty="0"/>
              <a:t>therapy </a:t>
            </a:r>
          </a:p>
          <a:p>
            <a:pPr marL="514350" indent="-514350">
              <a:buFont typeface="+mj-lt"/>
              <a:buAutoNum type="alphaLcParenR"/>
            </a:pPr>
            <a:r>
              <a:rPr lang="en-US" dirty="0" smtClean="0"/>
              <a:t>Group </a:t>
            </a:r>
            <a:r>
              <a:rPr lang="en-US" dirty="0"/>
              <a:t>therapy </a:t>
            </a:r>
          </a:p>
          <a:p>
            <a:pPr marL="514350" indent="-514350">
              <a:buFont typeface="+mj-lt"/>
              <a:buAutoNum type="alphaLcParenR"/>
            </a:pPr>
            <a:r>
              <a:rPr lang="en-US" dirty="0" smtClean="0"/>
              <a:t>Family </a:t>
            </a:r>
            <a:r>
              <a:rPr lang="en-US" dirty="0"/>
              <a:t>therapy </a:t>
            </a:r>
          </a:p>
          <a:p>
            <a:pPr marL="514350" indent="-514350">
              <a:buFont typeface="+mj-lt"/>
              <a:buAutoNum type="alphaLcParenR"/>
            </a:pPr>
            <a:r>
              <a:rPr lang="en-US" dirty="0" smtClean="0"/>
              <a:t>Biofeedback </a:t>
            </a:r>
            <a:endParaRPr lang="en-US" dirty="0"/>
          </a:p>
          <a:p>
            <a:pPr marL="514350" indent="-514350">
              <a:buFont typeface="+mj-lt"/>
              <a:buAutoNum type="alphaLcParenR"/>
            </a:pPr>
            <a:r>
              <a:rPr lang="en-US" dirty="0" smtClean="0"/>
              <a:t>Cognitive-behavior </a:t>
            </a:r>
            <a:r>
              <a:rPr lang="en-US" dirty="0"/>
              <a:t>therapy </a:t>
            </a:r>
          </a:p>
          <a:p>
            <a:pPr marL="514350" indent="-514350">
              <a:buFont typeface="+mj-lt"/>
              <a:buAutoNum type="alphaLcParenR"/>
            </a:pPr>
            <a:r>
              <a:rPr lang="en-US" dirty="0" smtClean="0"/>
              <a:t>Hypnotherapy </a:t>
            </a:r>
            <a:endParaRPr lang="en-US" dirty="0"/>
          </a:p>
          <a:p>
            <a:endParaRPr lang="en-US" dirty="0"/>
          </a:p>
        </p:txBody>
      </p:sp>
    </p:spTree>
    <p:extLst>
      <p:ext uri="{BB962C8B-B14F-4D97-AF65-F5344CB8AC3E}">
        <p14:creationId xmlns:p14="http://schemas.microsoft.com/office/powerpoint/2010/main" val="1180920543"/>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biological therapies</a:t>
            </a:r>
            <a:endParaRPr lang="en-US" b="1" dirty="0"/>
          </a:p>
        </p:txBody>
      </p:sp>
      <p:sp>
        <p:nvSpPr>
          <p:cNvPr id="3" name="Content Placeholder 2"/>
          <p:cNvSpPr>
            <a:spLocks noGrp="1"/>
          </p:cNvSpPr>
          <p:nvPr>
            <p:ph idx="1"/>
          </p:nvPr>
        </p:nvSpPr>
        <p:spPr>
          <a:xfrm>
            <a:off x="457200" y="990600"/>
            <a:ext cx="8229600" cy="5135563"/>
          </a:xfrm>
        </p:spPr>
        <p:txBody>
          <a:bodyPr>
            <a:normAutofit/>
          </a:bodyPr>
          <a:lstStyle/>
          <a:p>
            <a:endParaRPr lang="en-US" dirty="0"/>
          </a:p>
          <a:p>
            <a:pPr marL="0" indent="0">
              <a:buNone/>
            </a:pPr>
            <a:endParaRPr lang="en-US" dirty="0"/>
          </a:p>
          <a:p>
            <a:pPr marL="514350" indent="-514350">
              <a:buFont typeface="+mj-lt"/>
              <a:buAutoNum type="arabicPeriod"/>
            </a:pPr>
            <a:r>
              <a:rPr lang="en-US" dirty="0"/>
              <a:t>Psychopharmacology </a:t>
            </a:r>
            <a:endParaRPr lang="en-US" dirty="0" smtClean="0"/>
          </a:p>
          <a:p>
            <a:pPr marL="514350" indent="-514350">
              <a:buFont typeface="+mj-lt"/>
              <a:buAutoNum type="arabicPeriod"/>
            </a:pPr>
            <a:r>
              <a:rPr lang="en-US" dirty="0" smtClean="0"/>
              <a:t>ECT </a:t>
            </a:r>
            <a:endParaRPr lang="en-US" dirty="0"/>
          </a:p>
          <a:p>
            <a:pPr marL="514350" indent="-514350">
              <a:buFont typeface="+mj-lt"/>
              <a:buAutoNum type="arabicPeriod"/>
            </a:pPr>
            <a:r>
              <a:rPr lang="en-US" dirty="0" smtClean="0"/>
              <a:t>Placebos </a:t>
            </a:r>
            <a:endParaRPr lang="en-US" dirty="0"/>
          </a:p>
          <a:p>
            <a:r>
              <a:rPr lang="en-US" sz="3600" dirty="0"/>
              <a:t> </a:t>
            </a:r>
            <a:r>
              <a:rPr lang="en-US" b="1" dirty="0" smtClean="0"/>
              <a:t>Specialized </a:t>
            </a:r>
            <a:r>
              <a:rPr lang="en-US" b="1" dirty="0"/>
              <a:t>psychiatric therapies </a:t>
            </a:r>
            <a:endParaRPr lang="en-US" dirty="0"/>
          </a:p>
          <a:p>
            <a:pPr marL="0" indent="0">
              <a:buNone/>
            </a:pPr>
            <a:r>
              <a:rPr lang="en-US" dirty="0" smtClean="0"/>
              <a:t>1. Milieu </a:t>
            </a:r>
            <a:r>
              <a:rPr lang="en-US" dirty="0"/>
              <a:t>therapy </a:t>
            </a:r>
          </a:p>
          <a:p>
            <a:endParaRPr lang="en-US" dirty="0"/>
          </a:p>
        </p:txBody>
      </p:sp>
    </p:spTree>
    <p:extLst>
      <p:ext uri="{BB962C8B-B14F-4D97-AF65-F5344CB8AC3E}">
        <p14:creationId xmlns:p14="http://schemas.microsoft.com/office/powerpoint/2010/main" val="3143945761"/>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dirty="0" smtClean="0"/>
              <a:t/>
            </a:r>
            <a:br>
              <a:rPr lang="en-US" dirty="0" smtClean="0"/>
            </a:br>
            <a:r>
              <a:rPr lang="en-US" b="1" i="1" dirty="0" smtClean="0"/>
              <a:t>PSYCHOANALYSIS </a:t>
            </a:r>
            <a:r>
              <a:rPr lang="en-US" dirty="0"/>
              <a:t/>
            </a:r>
            <a:br>
              <a:rPr lang="en-US" dirty="0"/>
            </a:br>
            <a:endParaRPr lang="en-US" dirty="0"/>
          </a:p>
        </p:txBody>
      </p:sp>
      <p:sp>
        <p:nvSpPr>
          <p:cNvPr id="3" name="Content Placeholder 2"/>
          <p:cNvSpPr>
            <a:spLocks noGrp="1"/>
          </p:cNvSpPr>
          <p:nvPr>
            <p:ph idx="1"/>
          </p:nvPr>
        </p:nvSpPr>
        <p:spPr>
          <a:xfrm>
            <a:off x="457200" y="990600"/>
            <a:ext cx="8229600" cy="5715000"/>
          </a:xfrm>
        </p:spPr>
        <p:txBody>
          <a:bodyPr>
            <a:normAutofit/>
          </a:bodyPr>
          <a:lstStyle/>
          <a:p>
            <a:pPr marL="0" indent="0">
              <a:buNone/>
            </a:pPr>
            <a:endParaRPr lang="en-US" dirty="0"/>
          </a:p>
          <a:p>
            <a:r>
              <a:rPr lang="en-US" dirty="0"/>
              <a:t> These are approaches based on theory that there is a relationship between mental processes and all past experiences i.e. principle of psychic determinism which says: </a:t>
            </a:r>
            <a:r>
              <a:rPr lang="en-US" b="1" dirty="0"/>
              <a:t>nothing occurs by chance, each psychic activity is influenced by past episodes</a:t>
            </a:r>
            <a:r>
              <a:rPr lang="en-US" dirty="0"/>
              <a:t>. </a:t>
            </a:r>
          </a:p>
          <a:p>
            <a:r>
              <a:rPr lang="en-US" dirty="0"/>
              <a:t>These therapies are aimed at helping patient discover their </a:t>
            </a:r>
            <a:r>
              <a:rPr lang="en-US" b="1" dirty="0"/>
              <a:t>unconscious motivations </a:t>
            </a:r>
            <a:r>
              <a:rPr lang="en-US" dirty="0"/>
              <a:t>for maladaptive behavior. </a:t>
            </a:r>
          </a:p>
        </p:txBody>
      </p:sp>
    </p:spTree>
    <p:extLst>
      <p:ext uri="{BB962C8B-B14F-4D97-AF65-F5344CB8AC3E}">
        <p14:creationId xmlns:p14="http://schemas.microsoft.com/office/powerpoint/2010/main" val="220154115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PSYCHOANALYSIS </a:t>
            </a:r>
            <a:endParaRPr lang="en-US" dirty="0"/>
          </a:p>
        </p:txBody>
      </p:sp>
      <p:sp>
        <p:nvSpPr>
          <p:cNvPr id="3" name="Content Placeholder 2"/>
          <p:cNvSpPr>
            <a:spLocks noGrp="1"/>
          </p:cNvSpPr>
          <p:nvPr>
            <p:ph idx="1"/>
          </p:nvPr>
        </p:nvSpPr>
        <p:spPr>
          <a:xfrm>
            <a:off x="457200" y="1143000"/>
            <a:ext cx="8229600" cy="5334000"/>
          </a:xfrm>
        </p:spPr>
        <p:txBody>
          <a:bodyPr>
            <a:normAutofit/>
          </a:bodyPr>
          <a:lstStyle/>
          <a:p>
            <a:r>
              <a:rPr lang="en-US" dirty="0"/>
              <a:t>This </a:t>
            </a:r>
            <a:r>
              <a:rPr lang="en-US" dirty="0" smtClean="0"/>
              <a:t>↑awareness </a:t>
            </a:r>
            <a:r>
              <a:rPr lang="en-US" dirty="0"/>
              <a:t>enables the patient to control disturbing impulses and behavioral patterns. </a:t>
            </a:r>
          </a:p>
          <a:p>
            <a:r>
              <a:rPr lang="en-US" dirty="0"/>
              <a:t>The patient during therapy becomes aware of how unconscious assumptions based on earlier events continue to dictate his present unwanted behavior. </a:t>
            </a:r>
          </a:p>
          <a:p>
            <a:r>
              <a:rPr lang="en-US" dirty="0"/>
              <a:t>In psychotherapy, there is gradual integration of the previously repressed conflicts into consciousness. </a:t>
            </a:r>
          </a:p>
        </p:txBody>
      </p:sp>
    </p:spTree>
    <p:extLst>
      <p:ext uri="{BB962C8B-B14F-4D97-AF65-F5344CB8AC3E}">
        <p14:creationId xmlns:p14="http://schemas.microsoft.com/office/powerpoint/2010/main" val="3731404932"/>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PSYCHONALYSIS </a:t>
            </a:r>
            <a:endParaRPr lang="en-US" dirty="0"/>
          </a:p>
        </p:txBody>
      </p:sp>
      <p:sp>
        <p:nvSpPr>
          <p:cNvPr id="3" name="Content Placeholder 2"/>
          <p:cNvSpPr>
            <a:spLocks noGrp="1"/>
          </p:cNvSpPr>
          <p:nvPr>
            <p:ph idx="1"/>
          </p:nvPr>
        </p:nvSpPr>
        <p:spPr>
          <a:xfrm>
            <a:off x="457200" y="990600"/>
            <a:ext cx="8229600" cy="5715000"/>
          </a:xfrm>
        </p:spPr>
        <p:txBody>
          <a:bodyPr>
            <a:normAutofit fontScale="92500" lnSpcReduction="10000"/>
          </a:bodyPr>
          <a:lstStyle/>
          <a:p>
            <a:r>
              <a:rPr lang="en-US" dirty="0"/>
              <a:t>It uses </a:t>
            </a:r>
            <a:r>
              <a:rPr lang="en-US" b="1" dirty="0"/>
              <a:t>free association </a:t>
            </a:r>
            <a:r>
              <a:rPr lang="en-US" dirty="0"/>
              <a:t>where patients say whatever comes into their minds and allows repressed memories to be recovered and thus contribute to cure. Therapist interprets the repressed material. </a:t>
            </a:r>
          </a:p>
          <a:p>
            <a:r>
              <a:rPr lang="en-US" dirty="0"/>
              <a:t>Patient sits on a couch or sofa and analyst behind [out of vision] </a:t>
            </a:r>
          </a:p>
          <a:p>
            <a:r>
              <a:rPr lang="en-US" dirty="0"/>
              <a:t>The patient brings out inner thoughts, feelings, fantasies and his parent-child situation which can then become the focus of free association. </a:t>
            </a:r>
          </a:p>
          <a:p>
            <a:r>
              <a:rPr lang="en-US" dirty="0"/>
              <a:t>The process of psychotherapy can use </a:t>
            </a:r>
            <a:r>
              <a:rPr lang="en-US" b="1" dirty="0"/>
              <a:t>time limited </a:t>
            </a:r>
            <a:r>
              <a:rPr lang="en-US" dirty="0"/>
              <a:t>or </a:t>
            </a:r>
            <a:r>
              <a:rPr lang="en-US" b="1" dirty="0"/>
              <a:t>open ended </a:t>
            </a:r>
            <a:r>
              <a:rPr lang="en-US" dirty="0"/>
              <a:t>technique. </a:t>
            </a:r>
          </a:p>
        </p:txBody>
      </p:sp>
    </p:spTree>
    <p:extLst>
      <p:ext uri="{BB962C8B-B14F-4D97-AF65-F5344CB8AC3E}">
        <p14:creationId xmlns:p14="http://schemas.microsoft.com/office/powerpoint/2010/main" val="397421326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PSYCHOANALYSIS</a:t>
            </a:r>
            <a:endParaRPr lang="en-US" dirty="0"/>
          </a:p>
        </p:txBody>
      </p:sp>
      <p:sp>
        <p:nvSpPr>
          <p:cNvPr id="3" name="Content Placeholder 2"/>
          <p:cNvSpPr>
            <a:spLocks noGrp="1"/>
          </p:cNvSpPr>
          <p:nvPr>
            <p:ph idx="1"/>
          </p:nvPr>
        </p:nvSpPr>
        <p:spPr>
          <a:xfrm>
            <a:off x="457200" y="1143000"/>
            <a:ext cx="8229600" cy="5715000"/>
          </a:xfrm>
        </p:spPr>
        <p:txBody>
          <a:bodyPr>
            <a:normAutofit fontScale="77500" lnSpcReduction="20000"/>
          </a:bodyPr>
          <a:lstStyle/>
          <a:p>
            <a:pPr marL="0" indent="0">
              <a:buNone/>
            </a:pPr>
            <a:r>
              <a:rPr lang="en-US" b="1" dirty="0"/>
              <a:t>Time Limited Techniques </a:t>
            </a:r>
            <a:endParaRPr lang="en-US" dirty="0"/>
          </a:p>
          <a:p>
            <a:r>
              <a:rPr lang="en-US" dirty="0"/>
              <a:t>Used where the patient has a History of successful attachment, good cognitive abilities and psychological mindedness, and a problem that can be conceptualized as a focal conflict. </a:t>
            </a:r>
          </a:p>
          <a:p>
            <a:pPr marL="0" indent="0">
              <a:buNone/>
            </a:pPr>
            <a:r>
              <a:rPr lang="en-US" b="1" dirty="0"/>
              <a:t>Open ended techniques </a:t>
            </a:r>
            <a:endParaRPr lang="en-US" dirty="0"/>
          </a:p>
          <a:p>
            <a:r>
              <a:rPr lang="en-US" dirty="0"/>
              <a:t>Psychoanalysis focuses on alteration of pathological personality structure through long-term, intensive therapy. </a:t>
            </a:r>
          </a:p>
          <a:p>
            <a:r>
              <a:rPr lang="en-US" dirty="0"/>
              <a:t>Mostly increasingly effective in severe personality disorders </a:t>
            </a:r>
          </a:p>
          <a:p>
            <a:r>
              <a:rPr lang="en-US" dirty="0"/>
              <a:t>Then interpersonal therapy developed form psychoanalytic theory is useful in management of major depressive disorder combined with drug therapy. </a:t>
            </a:r>
          </a:p>
          <a:p>
            <a:r>
              <a:rPr lang="en-US" b="1" dirty="0"/>
              <a:t>NB</a:t>
            </a:r>
            <a:r>
              <a:rPr lang="en-US" dirty="0"/>
              <a:t>: No history taking, no drugs, no advise is given’ therapist remains passive and his approach is non-directive, no physical examination. </a:t>
            </a:r>
          </a:p>
        </p:txBody>
      </p:sp>
    </p:spTree>
    <p:extLst>
      <p:ext uri="{BB962C8B-B14F-4D97-AF65-F5344CB8AC3E}">
        <p14:creationId xmlns:p14="http://schemas.microsoft.com/office/powerpoint/2010/main" val="4214421860"/>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Indications for psychoanalysis </a:t>
            </a:r>
            <a:endParaRPr lang="en-US" dirty="0"/>
          </a:p>
        </p:txBody>
      </p:sp>
      <p:sp>
        <p:nvSpPr>
          <p:cNvPr id="3" name="Content Placeholder 2"/>
          <p:cNvSpPr>
            <a:spLocks noGrp="1"/>
          </p:cNvSpPr>
          <p:nvPr>
            <p:ph idx="1"/>
          </p:nvPr>
        </p:nvSpPr>
        <p:spPr>
          <a:xfrm>
            <a:off x="457200" y="990600"/>
            <a:ext cx="8229600" cy="5638800"/>
          </a:xfrm>
        </p:spPr>
        <p:txBody>
          <a:bodyPr>
            <a:normAutofit fontScale="92500" lnSpcReduction="10000"/>
          </a:bodyPr>
          <a:lstStyle/>
          <a:p>
            <a:endParaRPr lang="en-US" dirty="0"/>
          </a:p>
          <a:p>
            <a:pPr marL="0" indent="0">
              <a:buNone/>
            </a:pPr>
            <a:r>
              <a:rPr lang="en-US" dirty="0" smtClean="0"/>
              <a:t>1. Long </a:t>
            </a:r>
            <a:r>
              <a:rPr lang="en-US" dirty="0"/>
              <a:t>standing psychological conflicts that have produced the disorder </a:t>
            </a:r>
          </a:p>
          <a:p>
            <a:pPr marL="0" indent="0">
              <a:buNone/>
            </a:pPr>
            <a:r>
              <a:rPr lang="en-US" dirty="0" smtClean="0"/>
              <a:t>2. Anxiety </a:t>
            </a:r>
            <a:r>
              <a:rPr lang="en-US" dirty="0"/>
              <a:t>disorder [ phobias and obsessive compulsive disorder] </a:t>
            </a:r>
          </a:p>
          <a:p>
            <a:pPr marL="0" indent="0">
              <a:buNone/>
            </a:pPr>
            <a:r>
              <a:rPr lang="en-US" dirty="0" smtClean="0"/>
              <a:t>3. Dysthymic </a:t>
            </a:r>
            <a:r>
              <a:rPr lang="en-US" dirty="0"/>
              <a:t>disorder </a:t>
            </a:r>
          </a:p>
          <a:p>
            <a:pPr marL="0" indent="0">
              <a:buNone/>
            </a:pPr>
            <a:r>
              <a:rPr lang="en-US" dirty="0" smtClean="0"/>
              <a:t>4. Sexual disorder</a:t>
            </a:r>
          </a:p>
          <a:p>
            <a:pPr marL="0" indent="0">
              <a:buNone/>
            </a:pPr>
            <a:r>
              <a:rPr lang="en-US" dirty="0" smtClean="0"/>
              <a:t>5. Antisocial </a:t>
            </a:r>
            <a:r>
              <a:rPr lang="en-US" dirty="0"/>
              <a:t>personality disorder </a:t>
            </a:r>
            <a:endParaRPr lang="en-US" dirty="0" smtClean="0"/>
          </a:p>
          <a:p>
            <a:r>
              <a:rPr lang="en-US" b="1" dirty="0"/>
              <a:t>C/I for psychoanalysis </a:t>
            </a:r>
            <a:endParaRPr lang="en-US" dirty="0"/>
          </a:p>
          <a:p>
            <a:pPr marL="0" indent="0">
              <a:buNone/>
            </a:pPr>
            <a:r>
              <a:rPr lang="en-US" dirty="0"/>
              <a:t>Advanced age- avoid above 40 years as they: lack sufficient flexibility for major personality changes. </a:t>
            </a:r>
          </a:p>
          <a:p>
            <a:pPr marL="0" indent="0">
              <a:buNone/>
            </a:pPr>
            <a:endParaRPr lang="en-US" dirty="0"/>
          </a:p>
          <a:p>
            <a:endParaRPr lang="en-US" dirty="0"/>
          </a:p>
        </p:txBody>
      </p:sp>
    </p:spTree>
    <p:extLst>
      <p:ext uri="{BB962C8B-B14F-4D97-AF65-F5344CB8AC3E}">
        <p14:creationId xmlns:p14="http://schemas.microsoft.com/office/powerpoint/2010/main" val="3265236281"/>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82762"/>
          </a:xfrm>
        </p:spPr>
        <p:txBody>
          <a:bodyPr>
            <a:normAutofit fontScale="90000"/>
          </a:bodyPr>
          <a:lstStyle/>
          <a:p>
            <a:r>
              <a:rPr lang="en-US" dirty="0"/>
              <a:t/>
            </a:r>
            <a:br>
              <a:rPr lang="en-US" dirty="0"/>
            </a:br>
            <a:r>
              <a:rPr lang="en-US" b="1" i="1" dirty="0"/>
              <a:t>Brief therapy/ Strategic therapy/Solution focused brief therapy/ time limited psychotherapy </a:t>
            </a:r>
            <a:r>
              <a:rPr lang="en-US" dirty="0"/>
              <a:t/>
            </a:r>
            <a:br>
              <a:rPr lang="en-US" dirty="0"/>
            </a:br>
            <a:endParaRPr lang="en-US" dirty="0"/>
          </a:p>
        </p:txBody>
      </p:sp>
      <p:sp>
        <p:nvSpPr>
          <p:cNvPr id="3" name="Content Placeholder 2"/>
          <p:cNvSpPr>
            <a:spLocks noGrp="1"/>
          </p:cNvSpPr>
          <p:nvPr>
            <p:ph idx="1"/>
          </p:nvPr>
        </p:nvSpPr>
        <p:spPr>
          <a:xfrm>
            <a:off x="457200" y="2133600"/>
            <a:ext cx="8229600" cy="3992563"/>
          </a:xfrm>
        </p:spPr>
        <p:txBody>
          <a:bodyPr>
            <a:normAutofit lnSpcReduction="10000"/>
          </a:bodyPr>
          <a:lstStyle/>
          <a:p>
            <a:r>
              <a:rPr lang="en-US" dirty="0"/>
              <a:t>A short term treatment method that helps the patient deal with current crisis and also treat major mental disorders e.g. depression, anxiety, PTSD, etc. </a:t>
            </a:r>
          </a:p>
          <a:p>
            <a:r>
              <a:rPr lang="en-US" dirty="0"/>
              <a:t>In brief therapy, the therapist takes responsibility for working more pro-actively with the client in order to treat clinical and subjective conditions faster </a:t>
            </a:r>
          </a:p>
        </p:txBody>
      </p:sp>
    </p:spTree>
    <p:extLst>
      <p:ext uri="{BB962C8B-B14F-4D97-AF65-F5344CB8AC3E}">
        <p14:creationId xmlns:p14="http://schemas.microsoft.com/office/powerpoint/2010/main" val="247630721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Brief therapy </a:t>
            </a:r>
            <a:endParaRPr lang="en-US" b="1"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US" dirty="0"/>
              <a:t>Brief therapy is often </a:t>
            </a:r>
            <a:r>
              <a:rPr lang="en-US" b="1" dirty="0"/>
              <a:t>highly strategic, exploratory, and solution-based rather </a:t>
            </a:r>
            <a:r>
              <a:rPr lang="en-US" dirty="0"/>
              <a:t>than problem-oriented. </a:t>
            </a:r>
          </a:p>
          <a:p>
            <a:r>
              <a:rPr lang="en-US" dirty="0"/>
              <a:t>It is less concerned with how a problem arose than with the current factors sustaining it and preventing change. </a:t>
            </a:r>
          </a:p>
          <a:p>
            <a:r>
              <a:rPr lang="en-US" b="1" dirty="0"/>
              <a:t>Brief therapy emphasis is on </a:t>
            </a:r>
            <a:endParaRPr lang="en-US" dirty="0"/>
          </a:p>
          <a:p>
            <a:r>
              <a:rPr lang="en-US" dirty="0" smtClean="0"/>
              <a:t>A </a:t>
            </a:r>
            <a:r>
              <a:rPr lang="en-US" dirty="0"/>
              <a:t>focus on a specific problem </a:t>
            </a:r>
          </a:p>
          <a:p>
            <a:r>
              <a:rPr lang="en-US" dirty="0" smtClean="0"/>
              <a:t>Direct </a:t>
            </a:r>
            <a:r>
              <a:rPr lang="en-US" dirty="0"/>
              <a:t>intervention. </a:t>
            </a:r>
          </a:p>
          <a:p>
            <a:r>
              <a:rPr lang="en-US" dirty="0" smtClean="0"/>
              <a:t>observation</a:t>
            </a:r>
            <a:r>
              <a:rPr lang="en-US" dirty="0"/>
              <a:t>, utilization of natural resources, and temporary suspension of disbelief to consider new perspectives and multiple viewpoints </a:t>
            </a:r>
          </a:p>
          <a:p>
            <a:endParaRPr lang="en-US" dirty="0"/>
          </a:p>
        </p:txBody>
      </p:sp>
    </p:spTree>
    <p:extLst>
      <p:ext uri="{BB962C8B-B14F-4D97-AF65-F5344CB8AC3E}">
        <p14:creationId xmlns:p14="http://schemas.microsoft.com/office/powerpoint/2010/main" val="398512636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i="1" dirty="0"/>
              <a:t>Group therapy </a:t>
            </a:r>
            <a:r>
              <a:rPr lang="en-US" dirty="0"/>
              <a:t/>
            </a:r>
            <a:br>
              <a:rPr lang="en-US" dirty="0"/>
            </a:br>
            <a:endParaRPr lang="en-US" dirty="0"/>
          </a:p>
        </p:txBody>
      </p:sp>
      <p:sp>
        <p:nvSpPr>
          <p:cNvPr id="3" name="Content Placeholder 2"/>
          <p:cNvSpPr>
            <a:spLocks noGrp="1"/>
          </p:cNvSpPr>
          <p:nvPr>
            <p:ph idx="1"/>
          </p:nvPr>
        </p:nvSpPr>
        <p:spPr>
          <a:xfrm>
            <a:off x="457200" y="1295400"/>
            <a:ext cx="8229600" cy="5486400"/>
          </a:xfrm>
        </p:spPr>
        <p:txBody>
          <a:bodyPr>
            <a:normAutofit fontScale="92500" lnSpcReduction="10000"/>
          </a:bodyPr>
          <a:lstStyle/>
          <a:p>
            <a:r>
              <a:rPr lang="en-US" dirty="0"/>
              <a:t>The main therapeutic agent is the group itself. The group psychotherapist require training in the recognition and utilization of the following specific group events </a:t>
            </a:r>
          </a:p>
          <a:p>
            <a:pPr marL="0" indent="0">
              <a:buNone/>
            </a:pPr>
            <a:r>
              <a:rPr lang="en-US" dirty="0" err="1"/>
              <a:t>i</a:t>
            </a:r>
            <a:r>
              <a:rPr lang="en-US" dirty="0"/>
              <a:t>. Socialization- learning from others through acceptance and inclusion </a:t>
            </a:r>
          </a:p>
          <a:p>
            <a:pPr marL="0" indent="0">
              <a:buNone/>
            </a:pPr>
            <a:r>
              <a:rPr lang="en-US" dirty="0" smtClean="0"/>
              <a:t>ii</a:t>
            </a:r>
            <a:r>
              <a:rPr lang="en-US" dirty="0"/>
              <a:t>. Mirror image- the patient seeing aspects of himself in fellow patients </a:t>
            </a:r>
            <a:endParaRPr lang="en-US" dirty="0" smtClean="0"/>
          </a:p>
          <a:p>
            <a:pPr marL="0" indent="0">
              <a:buNone/>
            </a:pPr>
            <a:r>
              <a:rPr lang="en-US" dirty="0" smtClean="0"/>
              <a:t>iii</a:t>
            </a:r>
            <a:r>
              <a:rPr lang="en-US" dirty="0"/>
              <a:t>. Communality become more evident through being together with other patients </a:t>
            </a:r>
          </a:p>
          <a:p>
            <a:pPr marL="0" indent="0">
              <a:buNone/>
            </a:pPr>
            <a:r>
              <a:rPr lang="en-US" dirty="0"/>
              <a:t>iv. Sharing emotions- the patient experiences the emotions the other patients express </a:t>
            </a:r>
          </a:p>
          <a:p>
            <a:endParaRPr lang="en-US" dirty="0"/>
          </a:p>
        </p:txBody>
      </p:sp>
    </p:spTree>
    <p:extLst>
      <p:ext uri="{BB962C8B-B14F-4D97-AF65-F5344CB8AC3E}">
        <p14:creationId xmlns:p14="http://schemas.microsoft.com/office/powerpoint/2010/main" val="3424118581"/>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groups </a:t>
            </a:r>
            <a:endParaRPr lang="en-US" dirty="0"/>
          </a:p>
        </p:txBody>
      </p:sp>
      <p:sp>
        <p:nvSpPr>
          <p:cNvPr id="3" name="Content Placeholder 2"/>
          <p:cNvSpPr>
            <a:spLocks noGrp="1"/>
          </p:cNvSpPr>
          <p:nvPr>
            <p:ph idx="1"/>
          </p:nvPr>
        </p:nvSpPr>
        <p:spPr>
          <a:xfrm>
            <a:off x="457200" y="1219200"/>
            <a:ext cx="8229600" cy="5562600"/>
          </a:xfrm>
        </p:spPr>
        <p:txBody>
          <a:bodyPr>
            <a:normAutofit lnSpcReduction="10000"/>
          </a:bodyPr>
          <a:lstStyle/>
          <a:p>
            <a:pPr marL="0" indent="0">
              <a:buNone/>
            </a:pPr>
            <a:r>
              <a:rPr lang="en-US" b="1" dirty="0" smtClean="0"/>
              <a:t>Closed </a:t>
            </a:r>
            <a:r>
              <a:rPr lang="en-US" b="1" dirty="0"/>
              <a:t>groups </a:t>
            </a:r>
            <a:endParaRPr lang="en-US" dirty="0"/>
          </a:p>
          <a:p>
            <a:r>
              <a:rPr lang="en-US" dirty="0" smtClean="0"/>
              <a:t>Run for </a:t>
            </a:r>
            <a:r>
              <a:rPr lang="en-US" dirty="0"/>
              <a:t>a fixed duration of time with the same members </a:t>
            </a:r>
          </a:p>
          <a:p>
            <a:r>
              <a:rPr lang="en-US" dirty="0"/>
              <a:t>The optimal number of patients is 8-10 </a:t>
            </a:r>
          </a:p>
          <a:p>
            <a:r>
              <a:rPr lang="en-US" dirty="0"/>
              <a:t>New members don’t join during the course of the group. </a:t>
            </a:r>
            <a:endParaRPr lang="en-US" b="1" dirty="0"/>
          </a:p>
          <a:p>
            <a:pPr marL="0" indent="0">
              <a:buNone/>
            </a:pPr>
            <a:r>
              <a:rPr lang="en-US" b="1" dirty="0" smtClean="0"/>
              <a:t>Open </a:t>
            </a:r>
            <a:r>
              <a:rPr lang="en-US" b="1" dirty="0"/>
              <a:t>groups </a:t>
            </a:r>
            <a:endParaRPr lang="en-US" dirty="0"/>
          </a:p>
          <a:p>
            <a:r>
              <a:rPr lang="en-US" dirty="0"/>
              <a:t>These usually have no fixed time period </a:t>
            </a:r>
          </a:p>
          <a:p>
            <a:r>
              <a:rPr lang="en-US" dirty="0"/>
              <a:t>Normally take new members as others leave e.g. Alcoholic anonymous, narcotic anonymous </a:t>
            </a:r>
          </a:p>
        </p:txBody>
      </p:sp>
    </p:spTree>
    <p:extLst>
      <p:ext uri="{BB962C8B-B14F-4D97-AF65-F5344CB8AC3E}">
        <p14:creationId xmlns:p14="http://schemas.microsoft.com/office/powerpoint/2010/main" val="418208408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Group process </a:t>
            </a:r>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pPr marL="0" indent="0">
              <a:buNone/>
            </a:pPr>
            <a:endParaRPr lang="en-US" dirty="0"/>
          </a:p>
          <a:p>
            <a:r>
              <a:rPr lang="en-US" dirty="0"/>
              <a:t>Patients sit in a circle </a:t>
            </a:r>
          </a:p>
          <a:p>
            <a:r>
              <a:rPr lang="en-US" dirty="0" smtClean="0"/>
              <a:t>There </a:t>
            </a:r>
            <a:r>
              <a:rPr lang="en-US" dirty="0"/>
              <a:t>is no formal agenda for group discussion and therapist will not initially offer any direction, leaving the other group members to talk what they want to bring up. </a:t>
            </a:r>
          </a:p>
          <a:p>
            <a:r>
              <a:rPr lang="en-US" dirty="0" smtClean="0"/>
              <a:t>Therapist </a:t>
            </a:r>
            <a:r>
              <a:rPr lang="en-US" dirty="0"/>
              <a:t>will allow process to develop, watching and listening and contribute to the </a:t>
            </a:r>
            <a:r>
              <a:rPr lang="en-US" dirty="0" smtClean="0"/>
              <a:t>discussion </a:t>
            </a:r>
            <a:r>
              <a:rPr lang="en-US" dirty="0"/>
              <a:t>to enable the group members </a:t>
            </a:r>
            <a:r>
              <a:rPr lang="en-US" dirty="0" smtClean="0"/>
              <a:t>learn </a:t>
            </a:r>
            <a:r>
              <a:rPr lang="en-US" dirty="0"/>
              <a:t>from </a:t>
            </a:r>
            <a:r>
              <a:rPr lang="en-US" dirty="0" smtClean="0"/>
              <a:t>own </a:t>
            </a:r>
            <a:r>
              <a:rPr lang="en-US" dirty="0"/>
              <a:t>experience of participating in the group process </a:t>
            </a:r>
          </a:p>
          <a:p>
            <a:r>
              <a:rPr lang="en-US" dirty="0" smtClean="0"/>
              <a:t>Session </a:t>
            </a:r>
            <a:r>
              <a:rPr lang="en-US" dirty="0"/>
              <a:t>is held once or twice in a week and each session last 1-2 hours. </a:t>
            </a:r>
          </a:p>
          <a:p>
            <a:endParaRPr lang="en-US" dirty="0"/>
          </a:p>
        </p:txBody>
      </p:sp>
    </p:spTree>
    <p:extLst>
      <p:ext uri="{BB962C8B-B14F-4D97-AF65-F5344CB8AC3E}">
        <p14:creationId xmlns:p14="http://schemas.microsoft.com/office/powerpoint/2010/main" val="634700183"/>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19871"/>
          </a:xfrm>
        </p:spPr>
        <p:txBody>
          <a:bodyPr>
            <a:normAutofit fontScale="90000"/>
          </a:bodyPr>
          <a:lstStyle/>
          <a:p>
            <a:r>
              <a:rPr lang="en-US" b="1" dirty="0"/>
              <a:t>Therapeutic factors in group therapy </a:t>
            </a:r>
            <a:endParaRPr lang="en-US" dirty="0"/>
          </a:p>
        </p:txBody>
      </p:sp>
      <p:sp>
        <p:nvSpPr>
          <p:cNvPr id="3" name="Content Placeholder 2"/>
          <p:cNvSpPr>
            <a:spLocks noGrp="1"/>
          </p:cNvSpPr>
          <p:nvPr>
            <p:ph idx="1"/>
          </p:nvPr>
        </p:nvSpPr>
        <p:spPr>
          <a:xfrm>
            <a:off x="457200" y="838200"/>
            <a:ext cx="8229600" cy="6019800"/>
          </a:xfrm>
        </p:spPr>
        <p:txBody>
          <a:bodyPr>
            <a:normAutofit fontScale="77500" lnSpcReduction="20000"/>
          </a:bodyPr>
          <a:lstStyle/>
          <a:p>
            <a:endParaRPr lang="en-US" dirty="0"/>
          </a:p>
          <a:p>
            <a:r>
              <a:rPr lang="en-US" sz="2900" dirty="0"/>
              <a:t>Interpersonal learning- learning from one’s constructive and adaptive relationships with others </a:t>
            </a:r>
          </a:p>
          <a:p>
            <a:r>
              <a:rPr lang="en-US" sz="2900" dirty="0" smtClean="0"/>
              <a:t>Catharsis- </a:t>
            </a:r>
            <a:r>
              <a:rPr lang="en-US" sz="2900" dirty="0"/>
              <a:t>the experience of relief through expression of feelings </a:t>
            </a:r>
          </a:p>
          <a:p>
            <a:r>
              <a:rPr lang="en-US" sz="2900" dirty="0" smtClean="0"/>
              <a:t>Group </a:t>
            </a:r>
            <a:r>
              <a:rPr lang="en-US" sz="2900" dirty="0"/>
              <a:t>cohesiveness- the sense that one is valued and belongs to the group </a:t>
            </a:r>
          </a:p>
          <a:p>
            <a:r>
              <a:rPr lang="en-US" sz="2900" dirty="0" smtClean="0"/>
              <a:t>Insight</a:t>
            </a:r>
            <a:r>
              <a:rPr lang="en-US" sz="2900" dirty="0"/>
              <a:t>/ self understanding- the generation of self awareness and understanding of one’s actions and motives </a:t>
            </a:r>
          </a:p>
          <a:p>
            <a:r>
              <a:rPr lang="en-US" sz="2900" dirty="0" smtClean="0"/>
              <a:t>Development </a:t>
            </a:r>
            <a:r>
              <a:rPr lang="en-US" sz="2900" dirty="0"/>
              <a:t>of socializing techniques </a:t>
            </a:r>
          </a:p>
          <a:p>
            <a:r>
              <a:rPr lang="en-US" sz="2900" dirty="0" smtClean="0"/>
              <a:t>Universality- </a:t>
            </a:r>
            <a:r>
              <a:rPr lang="en-US" sz="2900" dirty="0"/>
              <a:t>the recognition that one’s problems are not unique </a:t>
            </a:r>
          </a:p>
          <a:p>
            <a:r>
              <a:rPr lang="en-US" sz="2900" dirty="0" smtClean="0"/>
              <a:t>Instillation </a:t>
            </a:r>
            <a:r>
              <a:rPr lang="en-US" sz="2900" dirty="0"/>
              <a:t>of hope- seeing others making positive changes can instill hope </a:t>
            </a:r>
          </a:p>
          <a:p>
            <a:r>
              <a:rPr lang="en-US" sz="2900" dirty="0" smtClean="0"/>
              <a:t>Altruism- </a:t>
            </a:r>
            <a:r>
              <a:rPr lang="en-US" sz="2900" dirty="0"/>
              <a:t>the experience of being helpful and of value to others. </a:t>
            </a:r>
          </a:p>
          <a:p>
            <a:r>
              <a:rPr lang="en-US" sz="2900" dirty="0" smtClean="0"/>
              <a:t>Vicarious </a:t>
            </a:r>
            <a:r>
              <a:rPr lang="en-US" sz="2900" dirty="0"/>
              <a:t>learning- learning </a:t>
            </a:r>
            <a:r>
              <a:rPr lang="en-US" sz="2900" dirty="0" err="1"/>
              <a:t>abt</a:t>
            </a:r>
            <a:r>
              <a:rPr lang="en-US" sz="2900" dirty="0"/>
              <a:t> oneself through observing others </a:t>
            </a:r>
          </a:p>
          <a:p>
            <a:r>
              <a:rPr lang="en-US" sz="2900" dirty="0" smtClean="0"/>
              <a:t>Guidance- </a:t>
            </a:r>
            <a:r>
              <a:rPr lang="en-US" sz="2900" dirty="0"/>
              <a:t>receipt of advice or information. </a:t>
            </a:r>
          </a:p>
          <a:p>
            <a:endParaRPr lang="en-US" dirty="0"/>
          </a:p>
        </p:txBody>
      </p:sp>
    </p:spTree>
    <p:extLst>
      <p:ext uri="{BB962C8B-B14F-4D97-AF65-F5344CB8AC3E}">
        <p14:creationId xmlns:p14="http://schemas.microsoft.com/office/powerpoint/2010/main" val="2059189315"/>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Indications for group therapy </a:t>
            </a:r>
            <a:endParaRPr lang="en-US" dirty="0"/>
          </a:p>
        </p:txBody>
      </p:sp>
      <p:sp>
        <p:nvSpPr>
          <p:cNvPr id="3" name="Content Placeholder 2"/>
          <p:cNvSpPr>
            <a:spLocks noGrp="1"/>
          </p:cNvSpPr>
          <p:nvPr>
            <p:ph idx="1"/>
          </p:nvPr>
        </p:nvSpPr>
        <p:spPr>
          <a:xfrm>
            <a:off x="457200" y="990600"/>
            <a:ext cx="8229600" cy="5105400"/>
          </a:xfrm>
        </p:spPr>
        <p:txBody>
          <a:bodyPr>
            <a:normAutofit/>
          </a:bodyPr>
          <a:lstStyle/>
          <a:p>
            <a:endParaRPr lang="en-US" dirty="0"/>
          </a:p>
          <a:p>
            <a:r>
              <a:rPr lang="en-US" dirty="0" smtClean="0"/>
              <a:t>Willing </a:t>
            </a:r>
            <a:r>
              <a:rPr lang="en-US" dirty="0"/>
              <a:t>to participate </a:t>
            </a:r>
          </a:p>
          <a:p>
            <a:r>
              <a:rPr lang="en-US" dirty="0" smtClean="0"/>
              <a:t>With </a:t>
            </a:r>
            <a:r>
              <a:rPr lang="en-US" dirty="0"/>
              <a:t>impulse control [ are safe to work with others </a:t>
            </a:r>
          </a:p>
          <a:p>
            <a:r>
              <a:rPr lang="en-US" dirty="0" smtClean="0"/>
              <a:t>Ready </a:t>
            </a:r>
            <a:r>
              <a:rPr lang="en-US" dirty="0"/>
              <a:t>alcohol and other drug dependence- </a:t>
            </a:r>
          </a:p>
          <a:p>
            <a:r>
              <a:rPr lang="en-US" dirty="0" smtClean="0"/>
              <a:t>Victims </a:t>
            </a:r>
            <a:r>
              <a:rPr lang="en-US" dirty="0"/>
              <a:t>of childhood sexual abuse </a:t>
            </a:r>
          </a:p>
          <a:p>
            <a:r>
              <a:rPr lang="en-US" dirty="0" smtClean="0"/>
              <a:t>People </a:t>
            </a:r>
            <a:r>
              <a:rPr lang="en-US" dirty="0"/>
              <a:t>with difficulties in socializing. </a:t>
            </a:r>
          </a:p>
          <a:p>
            <a:endParaRPr lang="en-US" dirty="0"/>
          </a:p>
        </p:txBody>
      </p:sp>
    </p:spTree>
    <p:extLst>
      <p:ext uri="{BB962C8B-B14F-4D97-AF65-F5344CB8AC3E}">
        <p14:creationId xmlns:p14="http://schemas.microsoft.com/office/powerpoint/2010/main" val="403834539"/>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Psychodrama </a:t>
            </a:r>
            <a:r>
              <a:rPr lang="en-US" dirty="0"/>
              <a:t/>
            </a:r>
            <a:br>
              <a:rPr lang="en-US" dirty="0"/>
            </a:b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b="1" i="1" dirty="0" smtClean="0"/>
              <a:t>Psychodrama </a:t>
            </a:r>
            <a:endParaRPr lang="en-US" dirty="0" smtClean="0"/>
          </a:p>
          <a:p>
            <a:r>
              <a:rPr lang="en-US" dirty="0" smtClean="0"/>
              <a:t>A </a:t>
            </a:r>
            <a:r>
              <a:rPr lang="en-US" dirty="0"/>
              <a:t>method of therapy in which personality make up, interpersonal relationships, conflict and emotional problems are explored by means of special dramatic method e.g. dance </a:t>
            </a:r>
          </a:p>
        </p:txBody>
      </p:sp>
    </p:spTree>
    <p:extLst>
      <p:ext uri="{BB962C8B-B14F-4D97-AF65-F5344CB8AC3E}">
        <p14:creationId xmlns:p14="http://schemas.microsoft.com/office/powerpoint/2010/main" val="2412771313"/>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i="1" dirty="0" smtClean="0"/>
              <a:t>Family </a:t>
            </a:r>
            <a:r>
              <a:rPr lang="en-US" b="1" i="1" dirty="0"/>
              <a:t>therapy and Couple therapy </a:t>
            </a:r>
            <a:r>
              <a:rPr lang="en-US" dirty="0"/>
              <a:t/>
            </a:r>
            <a:br>
              <a:rPr lang="en-US" dirty="0"/>
            </a:br>
            <a:endParaRPr lang="en-US" dirty="0"/>
          </a:p>
        </p:txBody>
      </p:sp>
      <p:sp>
        <p:nvSpPr>
          <p:cNvPr id="3" name="Content Placeholder 2"/>
          <p:cNvSpPr>
            <a:spLocks noGrp="1"/>
          </p:cNvSpPr>
          <p:nvPr>
            <p:ph idx="1"/>
          </p:nvPr>
        </p:nvSpPr>
        <p:spPr>
          <a:xfrm>
            <a:off x="457200" y="1295400"/>
            <a:ext cx="8229600" cy="5334000"/>
          </a:xfrm>
        </p:spPr>
        <p:txBody>
          <a:bodyPr>
            <a:normAutofit fontScale="77500" lnSpcReduction="20000"/>
          </a:bodyPr>
          <a:lstStyle/>
          <a:p>
            <a:pPr marL="0" indent="0">
              <a:buNone/>
            </a:pPr>
            <a:endParaRPr lang="en-US" b="1" dirty="0" smtClean="0"/>
          </a:p>
          <a:p>
            <a:pPr marL="0" indent="0">
              <a:buNone/>
            </a:pPr>
            <a:r>
              <a:rPr lang="en-US" b="1" dirty="0" smtClean="0"/>
              <a:t>Family </a:t>
            </a:r>
            <a:r>
              <a:rPr lang="en-US" b="1" dirty="0"/>
              <a:t>therapy </a:t>
            </a:r>
            <a:endParaRPr lang="en-US" dirty="0"/>
          </a:p>
          <a:p>
            <a:r>
              <a:rPr lang="en-US" dirty="0"/>
              <a:t>Focuses on altering the interaction among family members to modify stressful habits among the members </a:t>
            </a:r>
          </a:p>
          <a:p>
            <a:pPr marL="0" indent="0">
              <a:buNone/>
            </a:pPr>
            <a:r>
              <a:rPr lang="en-US" b="1" dirty="0"/>
              <a:t>Techniques </a:t>
            </a:r>
            <a:endParaRPr lang="en-US" dirty="0"/>
          </a:p>
          <a:p>
            <a:pPr marL="0" indent="0">
              <a:buNone/>
            </a:pPr>
            <a:r>
              <a:rPr lang="en-US" dirty="0"/>
              <a:t>1. Family group therapy- combines several families with a certain x-</a:t>
            </a:r>
            <a:r>
              <a:rPr lang="en-US" dirty="0" err="1"/>
              <a:t>cs</a:t>
            </a:r>
            <a:r>
              <a:rPr lang="en-US" dirty="0"/>
              <a:t> into a single group e.g. treatment of schizophrenia has been effective in multiple family groups. </a:t>
            </a:r>
          </a:p>
          <a:p>
            <a:pPr marL="0" indent="0">
              <a:buNone/>
            </a:pPr>
            <a:r>
              <a:rPr lang="en-US" dirty="0"/>
              <a:t>2. Social network therapy- social community of a disturbed patient meets in group session with the patient. Includes relatives, friends, and coworkers. </a:t>
            </a:r>
          </a:p>
          <a:p>
            <a:pPr marL="0" indent="0">
              <a:buNone/>
            </a:pPr>
            <a:r>
              <a:rPr lang="en-US" dirty="0"/>
              <a:t>3. Paradoxical therapy- patient intentionally engage in the unwanted behavior to create new insight for some patients. </a:t>
            </a:r>
          </a:p>
          <a:p>
            <a:pPr marL="0" indent="0">
              <a:buNone/>
            </a:pPr>
            <a:r>
              <a:rPr lang="en-US" dirty="0"/>
              <a:t>4. Reframing/ positive connotation- relabeling of all negative feelings as positive in ways that can bring change. </a:t>
            </a:r>
          </a:p>
          <a:p>
            <a:endParaRPr lang="en-US" dirty="0"/>
          </a:p>
        </p:txBody>
      </p:sp>
    </p:spTree>
    <p:extLst>
      <p:ext uri="{BB962C8B-B14F-4D97-AF65-F5344CB8AC3E}">
        <p14:creationId xmlns:p14="http://schemas.microsoft.com/office/powerpoint/2010/main" val="18149856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Family therapy and Couple therapy</a:t>
            </a:r>
            <a:endParaRPr lang="en-US" dirty="0"/>
          </a:p>
        </p:txBody>
      </p:sp>
      <p:sp>
        <p:nvSpPr>
          <p:cNvPr id="3" name="Content Placeholder 2"/>
          <p:cNvSpPr>
            <a:spLocks noGrp="1"/>
          </p:cNvSpPr>
          <p:nvPr>
            <p:ph idx="1"/>
          </p:nvPr>
        </p:nvSpPr>
        <p:spPr/>
        <p:txBody>
          <a:bodyPr/>
          <a:lstStyle/>
          <a:p>
            <a:r>
              <a:rPr lang="en-US" b="1" dirty="0"/>
              <a:t>Couple therapy </a:t>
            </a:r>
            <a:endParaRPr lang="en-US" dirty="0"/>
          </a:p>
          <a:p>
            <a:r>
              <a:rPr lang="en-US" dirty="0"/>
              <a:t>It is designed to psychologically modify the interaction of two people in conflict over one parameter e.g. social, sexual, emotional, or economic. </a:t>
            </a:r>
          </a:p>
        </p:txBody>
      </p:sp>
    </p:spTree>
    <p:extLst>
      <p:ext uri="{BB962C8B-B14F-4D97-AF65-F5344CB8AC3E}">
        <p14:creationId xmlns:p14="http://schemas.microsoft.com/office/powerpoint/2010/main" val="80295729"/>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Biofeedback </a:t>
            </a:r>
            <a:r>
              <a:rPr lang="en-US" dirty="0"/>
              <a:t/>
            </a:r>
            <a:br>
              <a:rPr lang="en-US" dirty="0"/>
            </a:b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10000"/>
          </a:bodyPr>
          <a:lstStyle/>
          <a:p>
            <a:endParaRPr lang="en-US" dirty="0"/>
          </a:p>
          <a:p>
            <a:pPr marL="0" indent="0">
              <a:buNone/>
            </a:pPr>
            <a:r>
              <a:rPr lang="en-US" dirty="0" smtClean="0"/>
              <a:t>Uses </a:t>
            </a:r>
            <a:r>
              <a:rPr lang="en-US" dirty="0"/>
              <a:t>instruments to measure moment to moment physiological process. It is based on the idea that autonomic nervous system [temperature, palpitation] can be voluntarily controlled through operant conditioning </a:t>
            </a:r>
          </a:p>
          <a:p>
            <a:pPr marL="0" indent="0">
              <a:buNone/>
            </a:pPr>
            <a:r>
              <a:rPr lang="en-US" dirty="0"/>
              <a:t>Patients are trained to facilitate relaxation </a:t>
            </a:r>
          </a:p>
          <a:p>
            <a:pPr marL="0" indent="0">
              <a:buNone/>
            </a:pPr>
            <a:r>
              <a:rPr lang="en-US" dirty="0" smtClean="0"/>
              <a:t>			</a:t>
            </a:r>
            <a:r>
              <a:rPr lang="en-US" b="1" dirty="0" smtClean="0"/>
              <a:t>Methods </a:t>
            </a:r>
            <a:endParaRPr lang="en-US" b="1" dirty="0"/>
          </a:p>
          <a:p>
            <a:pPr marL="0" indent="0">
              <a:buNone/>
            </a:pPr>
            <a:r>
              <a:rPr lang="en-US" dirty="0"/>
              <a:t>a. Instruments-galvanic skin response, pulse rate, BP machine </a:t>
            </a:r>
          </a:p>
          <a:p>
            <a:pPr marL="0" indent="0">
              <a:buNone/>
            </a:pPr>
            <a:r>
              <a:rPr lang="en-US" dirty="0"/>
              <a:t>b. Relaxation therapy- measures relaxation of muscles. </a:t>
            </a:r>
          </a:p>
          <a:p>
            <a:r>
              <a:rPr lang="en-US" b="1" dirty="0"/>
              <a:t>Treat- </a:t>
            </a:r>
            <a:r>
              <a:rPr lang="en-US" dirty="0"/>
              <a:t>enuresis, migraine head ache,</a:t>
            </a:r>
          </a:p>
        </p:txBody>
      </p:sp>
    </p:spTree>
    <p:extLst>
      <p:ext uri="{BB962C8B-B14F-4D97-AF65-F5344CB8AC3E}">
        <p14:creationId xmlns:p14="http://schemas.microsoft.com/office/powerpoint/2010/main" val="34250324"/>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a:t/>
            </a:r>
            <a:br>
              <a:rPr lang="en-US" dirty="0"/>
            </a:br>
            <a:r>
              <a:rPr lang="en-US" b="1" i="1" dirty="0"/>
              <a:t>Cognitive-Behavioral therapy </a:t>
            </a:r>
            <a:r>
              <a:rPr lang="en-US" dirty="0"/>
              <a:t/>
            </a:r>
            <a:br>
              <a:rPr lang="en-US" dirty="0"/>
            </a:br>
            <a:endParaRPr lang="en-US" dirty="0"/>
          </a:p>
        </p:txBody>
      </p:sp>
      <p:sp>
        <p:nvSpPr>
          <p:cNvPr id="3" name="Content Placeholder 2"/>
          <p:cNvSpPr>
            <a:spLocks noGrp="1"/>
          </p:cNvSpPr>
          <p:nvPr>
            <p:ph idx="1"/>
          </p:nvPr>
        </p:nvSpPr>
        <p:spPr>
          <a:xfrm>
            <a:off x="457200" y="1143000"/>
            <a:ext cx="8229600" cy="5410200"/>
          </a:xfrm>
        </p:spPr>
        <p:txBody>
          <a:bodyPr>
            <a:normAutofit lnSpcReduction="10000"/>
          </a:bodyPr>
          <a:lstStyle/>
          <a:p>
            <a:r>
              <a:rPr lang="en-US" b="1" dirty="0" smtClean="0"/>
              <a:t>CBT</a:t>
            </a:r>
            <a:r>
              <a:rPr lang="en-US" dirty="0"/>
              <a:t> </a:t>
            </a:r>
            <a:r>
              <a:rPr lang="en-US" dirty="0" smtClean="0"/>
              <a:t>is </a:t>
            </a:r>
            <a:r>
              <a:rPr lang="en-US" dirty="0"/>
              <a:t>a psychotherapy based on cognitions, assumptions, beliefs, and behaviors, with the aim of influencing negative emotions that relate to inaccurate appraisal of events. </a:t>
            </a:r>
          </a:p>
          <a:p>
            <a:r>
              <a:rPr lang="en-US" dirty="0"/>
              <a:t>Cognitive behavioral therapy focuses on modifying </a:t>
            </a:r>
            <a:r>
              <a:rPr lang="en-US" b="1" dirty="0"/>
              <a:t>everyday </a:t>
            </a:r>
            <a:r>
              <a:rPr lang="en-US" dirty="0"/>
              <a:t>thoughts and behaviors, with the aim of positively influencing emotions. </a:t>
            </a:r>
            <a:endParaRPr lang="en-US" dirty="0" smtClean="0"/>
          </a:p>
          <a:p>
            <a:r>
              <a:rPr lang="en-US" dirty="0" smtClean="0"/>
              <a:t>The </a:t>
            </a:r>
            <a:r>
              <a:rPr lang="en-US" dirty="0"/>
              <a:t>therapist helps clients recognize distorted thinking and learn to replace unhealthy thoughts with more realistic substitute ideas. </a:t>
            </a:r>
          </a:p>
        </p:txBody>
      </p:sp>
    </p:spTree>
    <p:extLst>
      <p:ext uri="{BB962C8B-B14F-4D97-AF65-F5344CB8AC3E}">
        <p14:creationId xmlns:p14="http://schemas.microsoft.com/office/powerpoint/2010/main" val="260755249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20762"/>
          </a:xfrm>
        </p:spPr>
        <p:txBody>
          <a:bodyPr/>
          <a:lstStyle/>
          <a:p>
            <a:r>
              <a:rPr lang="en-US" dirty="0" smtClean="0"/>
              <a:t>CBT </a:t>
            </a:r>
            <a:endParaRPr lang="en-US" dirty="0"/>
          </a:p>
        </p:txBody>
      </p:sp>
      <p:sp>
        <p:nvSpPr>
          <p:cNvPr id="3" name="Content Placeholder 2"/>
          <p:cNvSpPr>
            <a:spLocks noGrp="1"/>
          </p:cNvSpPr>
          <p:nvPr>
            <p:ph idx="1"/>
          </p:nvPr>
        </p:nvSpPr>
        <p:spPr>
          <a:xfrm>
            <a:off x="457200" y="990600"/>
            <a:ext cx="8229600" cy="5715000"/>
          </a:xfrm>
        </p:spPr>
        <p:txBody>
          <a:bodyPr>
            <a:normAutofit fontScale="85000" lnSpcReduction="10000"/>
          </a:bodyPr>
          <a:lstStyle/>
          <a:p>
            <a:r>
              <a:rPr lang="en-US" b="1" dirty="0"/>
              <a:t>Particular therapeutic </a:t>
            </a:r>
            <a:r>
              <a:rPr lang="en-US" b="1" dirty="0" smtClean="0"/>
              <a:t>techniques</a:t>
            </a:r>
            <a:endParaRPr lang="en-US" dirty="0"/>
          </a:p>
          <a:p>
            <a:r>
              <a:rPr lang="en-US" dirty="0"/>
              <a:t>keeping a diary of significant events and associated feelings, thoughts and behaviors; </a:t>
            </a:r>
          </a:p>
          <a:p>
            <a:r>
              <a:rPr lang="en-US" dirty="0" smtClean="0"/>
              <a:t>questioning </a:t>
            </a:r>
            <a:r>
              <a:rPr lang="en-US" dirty="0"/>
              <a:t>and testing cognitions, assumptions, evaluations and beliefs that might be unhelpful and unrealistic; </a:t>
            </a:r>
          </a:p>
          <a:p>
            <a:r>
              <a:rPr lang="en-US" dirty="0" smtClean="0"/>
              <a:t>Gradually </a:t>
            </a:r>
            <a:r>
              <a:rPr lang="en-US" dirty="0"/>
              <a:t>facing activities which may have been avoided; and trying out new ways of behaving and reacting. </a:t>
            </a:r>
          </a:p>
          <a:p>
            <a:r>
              <a:rPr lang="en-US" dirty="0" smtClean="0"/>
              <a:t>Relaxation </a:t>
            </a:r>
            <a:r>
              <a:rPr lang="en-US" dirty="0"/>
              <a:t>and distraction techniques. </a:t>
            </a:r>
            <a:endParaRPr lang="en-US" dirty="0" smtClean="0"/>
          </a:p>
          <a:p>
            <a:pPr marL="0" indent="0">
              <a:buNone/>
            </a:pPr>
            <a:r>
              <a:rPr lang="en-US" b="1" dirty="0" smtClean="0"/>
              <a:t>NB: </a:t>
            </a:r>
            <a:r>
              <a:rPr lang="en-US" dirty="0" smtClean="0"/>
              <a:t>CBT </a:t>
            </a:r>
            <a:r>
              <a:rPr lang="en-US" dirty="0"/>
              <a:t>typically are to identify irrational or maladaptive thoughts, assumptions and beliefs that are related to debilitating negative emotions and to identify how they are dysfunctional, inaccurate, or simply not helpful. </a:t>
            </a:r>
          </a:p>
        </p:txBody>
      </p:sp>
    </p:spTree>
    <p:extLst>
      <p:ext uri="{BB962C8B-B14F-4D97-AF65-F5344CB8AC3E}">
        <p14:creationId xmlns:p14="http://schemas.microsoft.com/office/powerpoint/2010/main" val="1992137649"/>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b="1" dirty="0" smtClean="0"/>
              <a:t>CBT used </a:t>
            </a:r>
            <a:r>
              <a:rPr lang="en-US" b="1" dirty="0"/>
              <a:t>to </a:t>
            </a:r>
            <a:r>
              <a:rPr lang="en-US" b="1" dirty="0" smtClean="0"/>
              <a:t>RX: </a:t>
            </a:r>
            <a:endParaRPr lang="en-US" dirty="0"/>
          </a:p>
        </p:txBody>
      </p:sp>
      <p:sp>
        <p:nvSpPr>
          <p:cNvPr id="3" name="Content Placeholder 2"/>
          <p:cNvSpPr>
            <a:spLocks noGrp="1"/>
          </p:cNvSpPr>
          <p:nvPr>
            <p:ph idx="1"/>
          </p:nvPr>
        </p:nvSpPr>
        <p:spPr>
          <a:xfrm>
            <a:off x="457200" y="914400"/>
            <a:ext cx="8229600" cy="5562600"/>
          </a:xfrm>
        </p:spPr>
        <p:txBody>
          <a:bodyPr>
            <a:normAutofit fontScale="55000" lnSpcReduction="20000"/>
          </a:bodyPr>
          <a:lstStyle/>
          <a:p>
            <a:pPr marL="0" indent="0">
              <a:buNone/>
            </a:pPr>
            <a:endParaRPr lang="en-US" dirty="0"/>
          </a:p>
          <a:p>
            <a:pPr algn="just"/>
            <a:r>
              <a:rPr lang="en-US" sz="4400" dirty="0"/>
              <a:t>Various kinds of neuroses (mood disorders and anxiety disorders) - Behavioral Therapy that focuses on positive thoughts are useful in Treatment depression as depression occur due to self criticism and low self esteem. </a:t>
            </a:r>
          </a:p>
          <a:p>
            <a:pPr algn="just"/>
            <a:r>
              <a:rPr lang="en-US" sz="4400" dirty="0" smtClean="0"/>
              <a:t>Nocturnal </a:t>
            </a:r>
            <a:r>
              <a:rPr lang="en-US" sz="4400" dirty="0"/>
              <a:t>enuresis (bed wetting) characterized with classical conditioning using a bell and a pad with a sensor to ring the bell. This helps the child become aware of full bladder. </a:t>
            </a:r>
          </a:p>
          <a:p>
            <a:pPr algn="just"/>
            <a:r>
              <a:rPr lang="en-US" sz="4400" dirty="0" smtClean="0"/>
              <a:t>Phobic </a:t>
            </a:r>
            <a:r>
              <a:rPr lang="en-US" sz="4400" dirty="0"/>
              <a:t>avoidance behaviors associated with depression, panic and phobic disorders are characterized with behavioral. Repeated exposure to fear or phobic situations help individual to tolerate the situation/non associative habituation learning) </a:t>
            </a:r>
            <a:endParaRPr lang="en-US" sz="4400" dirty="0" smtClean="0"/>
          </a:p>
          <a:p>
            <a:pPr marL="0" indent="0" algn="just">
              <a:buNone/>
            </a:pPr>
            <a:r>
              <a:rPr lang="en-US" sz="4400" dirty="0" smtClean="0"/>
              <a:t>CBT interrupts </a:t>
            </a:r>
            <a:r>
              <a:rPr lang="en-US" sz="4400" dirty="0"/>
              <a:t>the illogical thinking to self criticism and low self esteem. As a </a:t>
            </a:r>
            <a:r>
              <a:rPr lang="en-US" sz="4400" dirty="0" smtClean="0"/>
              <a:t>pts </a:t>
            </a:r>
            <a:r>
              <a:rPr lang="en-US" sz="4400" dirty="0"/>
              <a:t>thinking become more positive, he is able to resume activities for which he will receive social reinforcement. </a:t>
            </a:r>
            <a:endParaRPr lang="en-US" sz="4400" dirty="0" smtClean="0"/>
          </a:p>
          <a:p>
            <a:endParaRPr lang="en-US" dirty="0"/>
          </a:p>
          <a:p>
            <a:endParaRPr lang="en-US" dirty="0"/>
          </a:p>
        </p:txBody>
      </p:sp>
    </p:spTree>
    <p:extLst>
      <p:ext uri="{BB962C8B-B14F-4D97-AF65-F5344CB8AC3E}">
        <p14:creationId xmlns:p14="http://schemas.microsoft.com/office/powerpoint/2010/main" val="806452627"/>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CBT </a:t>
            </a:r>
            <a:endParaRPr lang="en-US" dirty="0"/>
          </a:p>
        </p:txBody>
      </p:sp>
      <p:sp>
        <p:nvSpPr>
          <p:cNvPr id="3" name="Content Placeholder 2"/>
          <p:cNvSpPr>
            <a:spLocks noGrp="1"/>
          </p:cNvSpPr>
          <p:nvPr>
            <p:ph idx="1"/>
          </p:nvPr>
        </p:nvSpPr>
        <p:spPr>
          <a:xfrm>
            <a:off x="457200" y="990600"/>
            <a:ext cx="8229600" cy="5562600"/>
          </a:xfrm>
        </p:spPr>
        <p:txBody>
          <a:bodyPr>
            <a:normAutofit fontScale="85000" lnSpcReduction="10000"/>
          </a:bodyPr>
          <a:lstStyle/>
          <a:p>
            <a:r>
              <a:rPr lang="en-US" dirty="0"/>
              <a:t>it is done through </a:t>
            </a:r>
            <a:endParaRPr lang="en-US" dirty="0" smtClean="0"/>
          </a:p>
          <a:p>
            <a:pPr marL="0" indent="0">
              <a:buNone/>
            </a:pPr>
            <a:r>
              <a:rPr lang="en-US" dirty="0" smtClean="0"/>
              <a:t>1. </a:t>
            </a:r>
            <a:r>
              <a:rPr lang="en-US" b="1" dirty="0" smtClean="0"/>
              <a:t>Systematic </a:t>
            </a:r>
            <a:r>
              <a:rPr lang="en-US" b="1" dirty="0"/>
              <a:t>desensitization/ graduated exposure therapy </a:t>
            </a:r>
            <a:endParaRPr lang="en-US" dirty="0"/>
          </a:p>
          <a:p>
            <a:pPr marL="0" indent="0">
              <a:buNone/>
            </a:pPr>
            <a:r>
              <a:rPr lang="en-US" dirty="0" smtClean="0"/>
              <a:t>Systematic </a:t>
            </a:r>
            <a:r>
              <a:rPr lang="en-US" dirty="0"/>
              <a:t>desensitization/ graduated exposure </a:t>
            </a:r>
            <a:r>
              <a:rPr lang="en-US" dirty="0" smtClean="0"/>
              <a:t>therapy</a:t>
            </a:r>
          </a:p>
          <a:p>
            <a:r>
              <a:rPr lang="en-US" dirty="0" smtClean="0"/>
              <a:t>first  </a:t>
            </a:r>
            <a:r>
              <a:rPr lang="en-US" dirty="0"/>
              <a:t>taught relaxation skills in order to control fear and anxiety responses to specific phobias. </a:t>
            </a:r>
            <a:endParaRPr lang="en-US" dirty="0" smtClean="0"/>
          </a:p>
          <a:p>
            <a:r>
              <a:rPr lang="en-US" dirty="0"/>
              <a:t>he or she must use them to react towards and overcome situations in an established hierarchy of fears. </a:t>
            </a:r>
            <a:endParaRPr lang="en-US" dirty="0" smtClean="0"/>
          </a:p>
          <a:p>
            <a:r>
              <a:rPr lang="en-US" dirty="0" smtClean="0"/>
              <a:t>The </a:t>
            </a:r>
            <a:r>
              <a:rPr lang="en-US" dirty="0"/>
              <a:t>goal of this process is that an individual will learn to cope and overcome the fear in each step of the hierarchy, which will lead to overcoming the last step of the fear in the hierarchy. </a:t>
            </a:r>
            <a:r>
              <a:rPr lang="en-US" dirty="0" smtClean="0"/>
              <a:t> </a:t>
            </a:r>
            <a:endParaRPr lang="en-US" dirty="0"/>
          </a:p>
          <a:p>
            <a:pPr marL="0" indent="0">
              <a:buNone/>
            </a:pPr>
            <a:endParaRPr lang="en-US" dirty="0"/>
          </a:p>
        </p:txBody>
      </p:sp>
    </p:spTree>
    <p:extLst>
      <p:ext uri="{BB962C8B-B14F-4D97-AF65-F5344CB8AC3E}">
        <p14:creationId xmlns:p14="http://schemas.microsoft.com/office/powerpoint/2010/main" val="339211289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dirty="0" smtClean="0"/>
              <a:t>CBT </a:t>
            </a:r>
            <a:br>
              <a:rPr lang="en-US" dirty="0" smtClean="0"/>
            </a:br>
            <a:r>
              <a:rPr lang="en-US" dirty="0" smtClean="0"/>
              <a:t>Systematic desensitization </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20000"/>
          </a:bodyPr>
          <a:lstStyle/>
          <a:p>
            <a:r>
              <a:rPr lang="en-US" dirty="0"/>
              <a:t>When individuals possess irrational fears of an object, such as height, dogs, snakes, and close spaces, they tend to avoid it</a:t>
            </a:r>
            <a:r>
              <a:rPr lang="en-US" dirty="0" smtClean="0"/>
              <a:t>.</a:t>
            </a:r>
          </a:p>
          <a:p>
            <a:r>
              <a:rPr lang="en-US" dirty="0" smtClean="0"/>
              <a:t> </a:t>
            </a:r>
            <a:r>
              <a:rPr lang="en-US" dirty="0"/>
              <a:t>Since escaping from the phobic object reduces their anxiety, patients’ behavior to reduce fear is reinforced through negative reinforcement. </a:t>
            </a:r>
          </a:p>
          <a:p>
            <a:r>
              <a:rPr lang="en-US" dirty="0"/>
              <a:t>The goal of Systematic Desensitization is to overcome this avoidance pattern by gradually exposing patients to the phobic object until it can be tolerated. </a:t>
            </a:r>
          </a:p>
          <a:p>
            <a:r>
              <a:rPr lang="en-US" dirty="0"/>
              <a:t>This will be challenging for the patient at first to deal with the fear, but gradually, most will overcome this fear. </a:t>
            </a:r>
          </a:p>
        </p:txBody>
      </p:sp>
    </p:spTree>
    <p:extLst>
      <p:ext uri="{BB962C8B-B14F-4D97-AF65-F5344CB8AC3E}">
        <p14:creationId xmlns:p14="http://schemas.microsoft.com/office/powerpoint/2010/main" val="3145755419"/>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CBT </a:t>
            </a:r>
            <a:endParaRPr lang="en-US" dirty="0"/>
          </a:p>
        </p:txBody>
      </p:sp>
      <p:sp>
        <p:nvSpPr>
          <p:cNvPr id="3" name="Content Placeholder 2"/>
          <p:cNvSpPr>
            <a:spLocks noGrp="1"/>
          </p:cNvSpPr>
          <p:nvPr>
            <p:ph idx="1"/>
          </p:nvPr>
        </p:nvSpPr>
        <p:spPr>
          <a:xfrm>
            <a:off x="457200" y="990600"/>
            <a:ext cx="8229600" cy="5715000"/>
          </a:xfrm>
        </p:spPr>
        <p:txBody>
          <a:bodyPr>
            <a:normAutofit lnSpcReduction="10000"/>
          </a:bodyPr>
          <a:lstStyle/>
          <a:p>
            <a:pPr marL="0" indent="0">
              <a:buNone/>
            </a:pPr>
            <a:r>
              <a:rPr lang="en-US" dirty="0" smtClean="0"/>
              <a:t>2. </a:t>
            </a:r>
            <a:r>
              <a:rPr lang="en-US" b="1" dirty="0" smtClean="0"/>
              <a:t>Flooding</a:t>
            </a:r>
            <a:r>
              <a:rPr lang="en-US" b="1" dirty="0"/>
              <a:t>/ implosion </a:t>
            </a:r>
            <a:endParaRPr lang="en-US" dirty="0"/>
          </a:p>
          <a:p>
            <a:r>
              <a:rPr lang="en-US" b="1" dirty="0"/>
              <a:t>Flooding </a:t>
            </a:r>
            <a:r>
              <a:rPr lang="en-US" dirty="0"/>
              <a:t>is a psychotherapeutic technique used to help patients heal their traumatic memories. </a:t>
            </a:r>
            <a:endParaRPr lang="en-US" dirty="0" smtClean="0"/>
          </a:p>
          <a:p>
            <a:r>
              <a:rPr lang="en-US" dirty="0" smtClean="0"/>
              <a:t>It </a:t>
            </a:r>
            <a:r>
              <a:rPr lang="en-US" dirty="0"/>
              <a:t>works by exposing the patient to their painful memories, with the goal of reintegrating their repressed emotions with their current awareness. </a:t>
            </a:r>
          </a:p>
          <a:p>
            <a:r>
              <a:rPr lang="en-US" dirty="0"/>
              <a:t>It works on the principles of operant conditioning - (a form of Skinner's classical conditioning) where patients change their behaviors to avoid negative stimuli. </a:t>
            </a:r>
          </a:p>
        </p:txBody>
      </p:sp>
    </p:spTree>
    <p:extLst>
      <p:ext uri="{BB962C8B-B14F-4D97-AF65-F5344CB8AC3E}">
        <p14:creationId xmlns:p14="http://schemas.microsoft.com/office/powerpoint/2010/main" val="26455067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dirty="0" smtClean="0"/>
              <a:t>CBT </a:t>
            </a:r>
            <a:br>
              <a:rPr lang="en-US" dirty="0" smtClean="0"/>
            </a:br>
            <a:r>
              <a:rPr lang="en-US" b="1" dirty="0" smtClean="0"/>
              <a:t>flooding </a:t>
            </a:r>
            <a:endParaRPr lang="en-US" b="1" dirty="0"/>
          </a:p>
        </p:txBody>
      </p:sp>
      <p:sp>
        <p:nvSpPr>
          <p:cNvPr id="3" name="Content Placeholder 2"/>
          <p:cNvSpPr>
            <a:spLocks noGrp="1"/>
          </p:cNvSpPr>
          <p:nvPr>
            <p:ph idx="1"/>
          </p:nvPr>
        </p:nvSpPr>
        <p:spPr>
          <a:xfrm>
            <a:off x="457200" y="1447800"/>
            <a:ext cx="8229600" cy="5181600"/>
          </a:xfrm>
        </p:spPr>
        <p:txBody>
          <a:bodyPr>
            <a:normAutofit fontScale="77500" lnSpcReduction="20000"/>
          </a:bodyPr>
          <a:lstStyle/>
          <a:p>
            <a:r>
              <a:rPr lang="en-US" dirty="0"/>
              <a:t>The person is expose to vast amounts of the feared stimulus. E.g. if a person was scared of spiders we might lock them in a room full of spiders. </a:t>
            </a:r>
          </a:p>
          <a:p>
            <a:r>
              <a:rPr lang="en-US" dirty="0"/>
              <a:t>The idea is that whilst a person will be initially very anxious, the body cannot stay anxious forever</a:t>
            </a:r>
            <a:r>
              <a:rPr lang="en-US" dirty="0" smtClean="0"/>
              <a:t>.</a:t>
            </a:r>
          </a:p>
          <a:p>
            <a:r>
              <a:rPr lang="en-US" dirty="0" smtClean="0"/>
              <a:t> </a:t>
            </a:r>
            <a:r>
              <a:rPr lang="en-US" dirty="0"/>
              <a:t>When nothing bad happens the person will begin to calm down and so from that moment on associate a feeling of calm with the previously feared object. </a:t>
            </a:r>
            <a:endParaRPr lang="en-US" dirty="0" smtClean="0"/>
          </a:p>
          <a:p>
            <a:r>
              <a:rPr lang="en-US" dirty="0"/>
              <a:t>Psychiatrist Joseph </a:t>
            </a:r>
            <a:r>
              <a:rPr lang="en-US" dirty="0" err="1"/>
              <a:t>Wolpe</a:t>
            </a:r>
            <a:r>
              <a:rPr lang="en-US" dirty="0"/>
              <a:t> carried out an experiment which demonstrated flooding. </a:t>
            </a:r>
            <a:endParaRPr lang="en-US" dirty="0" smtClean="0"/>
          </a:p>
          <a:p>
            <a:r>
              <a:rPr lang="en-US" dirty="0" smtClean="0"/>
              <a:t>He </a:t>
            </a:r>
            <a:r>
              <a:rPr lang="en-US" dirty="0"/>
              <a:t>took a girl who was scared of cars, locked her in a car and drove her around for hours</a:t>
            </a:r>
            <a:r>
              <a:rPr lang="en-US" dirty="0" smtClean="0"/>
              <a:t>.</a:t>
            </a:r>
          </a:p>
          <a:p>
            <a:r>
              <a:rPr lang="en-US" dirty="0" smtClean="0"/>
              <a:t> </a:t>
            </a:r>
            <a:r>
              <a:rPr lang="en-US" dirty="0"/>
              <a:t>Initially the girl was hysterical but she eventually calmed down when she </a:t>
            </a:r>
            <a:r>
              <a:rPr lang="en-US" dirty="0" err="1"/>
              <a:t>realised</a:t>
            </a:r>
            <a:r>
              <a:rPr lang="en-US" dirty="0"/>
              <a:t> that nothing bad was happening to her. </a:t>
            </a:r>
            <a:r>
              <a:rPr lang="en-US" b="1" dirty="0"/>
              <a:t>From then on she associated a sense of ease with cars </a:t>
            </a:r>
          </a:p>
        </p:txBody>
      </p:sp>
    </p:spTree>
    <p:extLst>
      <p:ext uri="{BB962C8B-B14F-4D97-AF65-F5344CB8AC3E}">
        <p14:creationId xmlns:p14="http://schemas.microsoft.com/office/powerpoint/2010/main" val="125236815"/>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CBT </a:t>
            </a:r>
            <a:endParaRPr lang="en-US" dirty="0"/>
          </a:p>
        </p:txBody>
      </p:sp>
      <p:sp>
        <p:nvSpPr>
          <p:cNvPr id="3" name="Content Placeholder 2"/>
          <p:cNvSpPr>
            <a:spLocks noGrp="1"/>
          </p:cNvSpPr>
          <p:nvPr>
            <p:ph idx="1"/>
          </p:nvPr>
        </p:nvSpPr>
        <p:spPr>
          <a:xfrm>
            <a:off x="457200" y="990600"/>
            <a:ext cx="8229600" cy="5486400"/>
          </a:xfrm>
        </p:spPr>
        <p:txBody>
          <a:bodyPr>
            <a:normAutofit fontScale="92500" lnSpcReduction="10000"/>
          </a:bodyPr>
          <a:lstStyle/>
          <a:p>
            <a:r>
              <a:rPr lang="en-US" dirty="0" smtClean="0"/>
              <a:t>3. </a:t>
            </a:r>
            <a:r>
              <a:rPr lang="en-US" b="1" dirty="0" smtClean="0"/>
              <a:t>Aversion </a:t>
            </a:r>
            <a:r>
              <a:rPr lang="en-US" b="1" dirty="0"/>
              <a:t>therapy </a:t>
            </a:r>
            <a:endParaRPr lang="en-US" dirty="0"/>
          </a:p>
          <a:p>
            <a:r>
              <a:rPr lang="en-US" dirty="0"/>
              <a:t>Use of noxious stimuli e.g. electric shock, body punishment, </a:t>
            </a:r>
          </a:p>
          <a:p>
            <a:r>
              <a:rPr lang="en-US" dirty="0"/>
              <a:t>The noxious is presented immediately after a behavior; the response is eventually inhibited and extinguished. </a:t>
            </a:r>
            <a:endParaRPr lang="en-US" dirty="0" smtClean="0"/>
          </a:p>
          <a:p>
            <a:r>
              <a:rPr lang="en-US" dirty="0" smtClean="0"/>
              <a:t>The </a:t>
            </a:r>
            <a:r>
              <a:rPr lang="en-US" dirty="0"/>
              <a:t>negative stimulus is paired with the behavior to be suppressed. </a:t>
            </a:r>
          </a:p>
          <a:p>
            <a:pPr marL="0" indent="0">
              <a:buNone/>
            </a:pPr>
            <a:r>
              <a:rPr lang="en-US" b="1" dirty="0"/>
              <a:t>Indications </a:t>
            </a:r>
            <a:endParaRPr lang="en-US" dirty="0"/>
          </a:p>
          <a:p>
            <a:r>
              <a:rPr lang="en-US" dirty="0"/>
              <a:t>Alcohol abuse, </a:t>
            </a:r>
            <a:r>
              <a:rPr lang="en-US" dirty="0" err="1"/>
              <a:t>paraphilias</a:t>
            </a:r>
            <a:r>
              <a:rPr lang="en-US" dirty="0"/>
              <a:t>, obsessive compulsive behaviors. </a:t>
            </a:r>
            <a:endParaRPr lang="en-US" dirty="0" smtClean="0"/>
          </a:p>
          <a:p>
            <a:endParaRPr lang="en-US" dirty="0"/>
          </a:p>
        </p:txBody>
      </p:sp>
    </p:spTree>
    <p:extLst>
      <p:ext uri="{BB962C8B-B14F-4D97-AF65-F5344CB8AC3E}">
        <p14:creationId xmlns:p14="http://schemas.microsoft.com/office/powerpoint/2010/main" val="725954501"/>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
            </a:r>
            <a:br>
              <a:rPr lang="en-US" dirty="0"/>
            </a:br>
            <a:r>
              <a:rPr lang="en-US" b="1" dirty="0"/>
              <a:t>BIOLOGICAL THERAPIES </a:t>
            </a:r>
            <a:r>
              <a:rPr lang="en-US" dirty="0"/>
              <a:t/>
            </a:r>
            <a:br>
              <a:rPr lang="en-US" dirty="0"/>
            </a:br>
            <a:endParaRPr lang="en-US" dirty="0"/>
          </a:p>
        </p:txBody>
      </p:sp>
      <p:sp>
        <p:nvSpPr>
          <p:cNvPr id="3" name="Content Placeholder 2"/>
          <p:cNvSpPr>
            <a:spLocks noGrp="1"/>
          </p:cNvSpPr>
          <p:nvPr>
            <p:ph idx="1"/>
          </p:nvPr>
        </p:nvSpPr>
        <p:spPr>
          <a:xfrm>
            <a:off x="457200" y="914400"/>
            <a:ext cx="8229600" cy="5638800"/>
          </a:xfrm>
        </p:spPr>
        <p:txBody>
          <a:bodyPr>
            <a:normAutofit fontScale="85000" lnSpcReduction="10000"/>
          </a:bodyPr>
          <a:lstStyle/>
          <a:p>
            <a:endParaRPr lang="en-US" dirty="0"/>
          </a:p>
          <a:p>
            <a:r>
              <a:rPr lang="en-US" dirty="0"/>
              <a:t>Biological theory belief that </a:t>
            </a:r>
            <a:r>
              <a:rPr lang="en-US" dirty="0" smtClean="0"/>
              <a:t>behavior </a:t>
            </a:r>
            <a:r>
              <a:rPr lang="en-US" dirty="0"/>
              <a:t>is determined by biochemical events in the brain </a:t>
            </a:r>
          </a:p>
          <a:p>
            <a:r>
              <a:rPr lang="en-US" dirty="0" smtClean="0"/>
              <a:t>Certain behavioral </a:t>
            </a:r>
            <a:r>
              <a:rPr lang="en-US" dirty="0"/>
              <a:t>abnormalities could be linked to damage in specific brain region. </a:t>
            </a:r>
          </a:p>
          <a:p>
            <a:r>
              <a:rPr lang="en-US" dirty="0" smtClean="0"/>
              <a:t>Infections </a:t>
            </a:r>
            <a:r>
              <a:rPr lang="en-US" dirty="0"/>
              <a:t>or toxins into the brain could cause </a:t>
            </a:r>
            <a:r>
              <a:rPr lang="en-US" dirty="0" smtClean="0"/>
              <a:t>behavioral </a:t>
            </a:r>
            <a:r>
              <a:rPr lang="en-US" dirty="0"/>
              <a:t>changes e.g. </a:t>
            </a:r>
            <a:r>
              <a:rPr lang="en-US" dirty="0" smtClean="0"/>
              <a:t>neuro-syphilis </a:t>
            </a:r>
            <a:r>
              <a:rPr lang="en-US" dirty="0"/>
              <a:t>causes insanity. </a:t>
            </a:r>
          </a:p>
          <a:p>
            <a:r>
              <a:rPr lang="en-US" dirty="0" smtClean="0"/>
              <a:t>Inheritance </a:t>
            </a:r>
            <a:r>
              <a:rPr lang="en-US" dirty="0"/>
              <a:t>studies support biological theory. </a:t>
            </a:r>
          </a:p>
          <a:p>
            <a:r>
              <a:rPr lang="en-US" dirty="0" smtClean="0"/>
              <a:t>Alcoholism</a:t>
            </a:r>
            <a:r>
              <a:rPr lang="en-US" dirty="0"/>
              <a:t>, antisocial personality disorder, anxiety, mood disorder and schizophrenia, tent to run in the families. </a:t>
            </a:r>
            <a:endParaRPr lang="en-US" dirty="0" smtClean="0"/>
          </a:p>
          <a:p>
            <a:r>
              <a:rPr lang="en-US" dirty="0" smtClean="0"/>
              <a:t>Abnormal </a:t>
            </a:r>
            <a:r>
              <a:rPr lang="en-US" dirty="0"/>
              <a:t>sleep patterns are associated with mood disorders, schizophrenia and Alcoholism. </a:t>
            </a:r>
          </a:p>
          <a:p>
            <a:endParaRPr lang="en-US" dirty="0"/>
          </a:p>
        </p:txBody>
      </p:sp>
    </p:spTree>
    <p:extLst>
      <p:ext uri="{BB962C8B-B14F-4D97-AF65-F5344CB8AC3E}">
        <p14:creationId xmlns:p14="http://schemas.microsoft.com/office/powerpoint/2010/main" val="1586146729"/>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BIOLOGICAL THERAPIES </a:t>
            </a:r>
            <a:endParaRPr lang="en-US" dirty="0"/>
          </a:p>
        </p:txBody>
      </p:sp>
      <p:sp>
        <p:nvSpPr>
          <p:cNvPr id="3" name="Content Placeholder 2"/>
          <p:cNvSpPr>
            <a:spLocks noGrp="1"/>
          </p:cNvSpPr>
          <p:nvPr>
            <p:ph idx="1"/>
          </p:nvPr>
        </p:nvSpPr>
        <p:spPr>
          <a:xfrm>
            <a:off x="457200" y="1143000"/>
            <a:ext cx="8229600" cy="5486400"/>
          </a:xfrm>
        </p:spPr>
        <p:txBody>
          <a:bodyPr>
            <a:normAutofit fontScale="92500" lnSpcReduction="20000"/>
          </a:bodyPr>
          <a:lstStyle/>
          <a:p>
            <a:pPr lvl="1"/>
            <a:r>
              <a:rPr lang="en-US" dirty="0" smtClean="0"/>
              <a:t>FACTS </a:t>
            </a:r>
            <a:endParaRPr lang="en-US" dirty="0"/>
          </a:p>
          <a:p>
            <a:r>
              <a:rPr lang="en-US" dirty="0"/>
              <a:t>Chlorpromazine reduces hallucinations and delusions. </a:t>
            </a:r>
          </a:p>
          <a:p>
            <a:r>
              <a:rPr lang="en-US" dirty="0" smtClean="0"/>
              <a:t>Antidepressants </a:t>
            </a:r>
            <a:r>
              <a:rPr lang="en-US" dirty="0"/>
              <a:t>(similar structure to chlorpromazine and </a:t>
            </a:r>
            <a:r>
              <a:rPr lang="en-US" dirty="0" err="1" smtClean="0"/>
              <a:t>Isomazid</a:t>
            </a:r>
            <a:r>
              <a:rPr lang="en-US" dirty="0" smtClean="0"/>
              <a:t>) </a:t>
            </a:r>
            <a:r>
              <a:rPr lang="en-US" dirty="0"/>
              <a:t>Treatment depression as </a:t>
            </a:r>
            <a:r>
              <a:rPr lang="en-US" dirty="0" smtClean="0"/>
              <a:t>isoniazid </a:t>
            </a:r>
            <a:r>
              <a:rPr lang="en-US" dirty="0"/>
              <a:t>increases dopamine and Nor Epinephrine in the brain </a:t>
            </a:r>
          </a:p>
          <a:p>
            <a:r>
              <a:rPr lang="en-US" dirty="0" smtClean="0"/>
              <a:t>Lithium </a:t>
            </a:r>
            <a:r>
              <a:rPr lang="en-US" dirty="0"/>
              <a:t>salts control hyperactivity and euphoria associated with manic and depressive episodes (bipolar depression) </a:t>
            </a:r>
          </a:p>
          <a:p>
            <a:r>
              <a:rPr lang="en-US" dirty="0" smtClean="0"/>
              <a:t>Norepinephrine </a:t>
            </a:r>
            <a:r>
              <a:rPr lang="en-US" dirty="0"/>
              <a:t>and </a:t>
            </a:r>
            <a:r>
              <a:rPr lang="en-US" dirty="0" smtClean="0"/>
              <a:t>serotonin </a:t>
            </a:r>
            <a:r>
              <a:rPr lang="en-US" dirty="0"/>
              <a:t>systems are less active in depression thus Treatment with TCA together with psycho Therapy </a:t>
            </a:r>
          </a:p>
          <a:p>
            <a:endParaRPr lang="en-US" dirty="0"/>
          </a:p>
        </p:txBody>
      </p:sp>
    </p:spTree>
    <p:extLst>
      <p:ext uri="{BB962C8B-B14F-4D97-AF65-F5344CB8AC3E}">
        <p14:creationId xmlns:p14="http://schemas.microsoft.com/office/powerpoint/2010/main" val="250882329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smtClean="0"/>
              <a:t>Antipsychotics/ </a:t>
            </a:r>
            <a:r>
              <a:rPr lang="en-US" b="1" dirty="0"/>
              <a:t>neuroleptics/ major tranquilizers </a:t>
            </a:r>
            <a:r>
              <a:rPr lang="en-US" dirty="0"/>
              <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smtClean="0"/>
              <a:t>Mainly Rx of </a:t>
            </a:r>
            <a:r>
              <a:rPr lang="en-US" dirty="0"/>
              <a:t>schizophrenia though also treats </a:t>
            </a:r>
            <a:r>
              <a:rPr lang="en-US" dirty="0" smtClean="0"/>
              <a:t>psychosis </a:t>
            </a:r>
            <a:r>
              <a:rPr lang="en-US" dirty="0"/>
              <a:t>and </a:t>
            </a:r>
            <a:r>
              <a:rPr lang="en-US" dirty="0" smtClean="0"/>
              <a:t>agitation</a:t>
            </a:r>
            <a:endParaRPr lang="en-US" dirty="0"/>
          </a:p>
          <a:p>
            <a:pPr marL="0" indent="0">
              <a:buNone/>
            </a:pPr>
            <a:r>
              <a:rPr lang="en-US" b="1" dirty="0"/>
              <a:t>Schizophrenia </a:t>
            </a:r>
            <a:endParaRPr lang="en-US" b="1" dirty="0" smtClean="0"/>
          </a:p>
          <a:p>
            <a:r>
              <a:rPr lang="en-US" dirty="0"/>
              <a:t>The basis for schizophrenic drug therapy lies in dopamine hypothesis for schizophrenia. </a:t>
            </a:r>
          </a:p>
          <a:p>
            <a:r>
              <a:rPr lang="en-US" dirty="0"/>
              <a:t>Dopamine systems are overactive in </a:t>
            </a:r>
            <a:r>
              <a:rPr lang="en-US" dirty="0" smtClean="0"/>
              <a:t>schizophrenia</a:t>
            </a:r>
          </a:p>
          <a:p>
            <a:r>
              <a:rPr lang="en-US" dirty="0" smtClean="0"/>
              <a:t>Treatment </a:t>
            </a:r>
            <a:r>
              <a:rPr lang="en-US" dirty="0"/>
              <a:t>aims at reducing Dopamine. </a:t>
            </a:r>
          </a:p>
        </p:txBody>
      </p:sp>
    </p:spTree>
    <p:extLst>
      <p:ext uri="{BB962C8B-B14F-4D97-AF65-F5344CB8AC3E}">
        <p14:creationId xmlns:p14="http://schemas.microsoft.com/office/powerpoint/2010/main" val="387991591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r>
              <a:rPr lang="en-US" b="1" dirty="0" smtClean="0"/>
              <a:t/>
            </a:r>
            <a:br>
              <a:rPr lang="en-US" b="1" dirty="0" smtClean="0"/>
            </a:br>
            <a:r>
              <a:rPr lang="en-US" b="1" dirty="0" smtClean="0"/>
              <a:t>Antipsychotics</a:t>
            </a:r>
            <a:r>
              <a:rPr lang="en-US" b="1" dirty="0"/>
              <a:t>/ neuroleptics/ major tranquilizers </a:t>
            </a:r>
            <a:r>
              <a:rPr lang="en-US" dirty="0"/>
              <a:t/>
            </a:r>
            <a:br>
              <a:rPr lang="en-US" dirty="0"/>
            </a:br>
            <a:endParaRPr lang="en-US" dirty="0"/>
          </a:p>
        </p:txBody>
      </p:sp>
      <p:sp>
        <p:nvSpPr>
          <p:cNvPr id="3" name="Content Placeholder 2"/>
          <p:cNvSpPr>
            <a:spLocks noGrp="1"/>
          </p:cNvSpPr>
          <p:nvPr>
            <p:ph idx="1"/>
          </p:nvPr>
        </p:nvSpPr>
        <p:spPr>
          <a:xfrm>
            <a:off x="457200" y="1676400"/>
            <a:ext cx="8229600" cy="5029200"/>
          </a:xfrm>
        </p:spPr>
        <p:txBody>
          <a:bodyPr>
            <a:normAutofit fontScale="92500" lnSpcReduction="20000"/>
          </a:bodyPr>
          <a:lstStyle/>
          <a:p>
            <a:r>
              <a:rPr lang="en-US" dirty="0"/>
              <a:t>Excessive dopaminergic activity plays a role in </a:t>
            </a:r>
            <a:r>
              <a:rPr lang="en-US" dirty="0" smtClean="0"/>
              <a:t>schizophrenia;-</a:t>
            </a:r>
          </a:p>
          <a:p>
            <a:pPr marL="0" indent="0">
              <a:buNone/>
            </a:pPr>
            <a:r>
              <a:rPr lang="en-US" dirty="0" smtClean="0"/>
              <a:t>1. most </a:t>
            </a:r>
            <a:r>
              <a:rPr lang="en-US" dirty="0"/>
              <a:t>antipsychotic drugs strongly block post synaptic D2 receptors in CNS, especially in the mesolimbic frontal system</a:t>
            </a:r>
          </a:p>
          <a:p>
            <a:pPr marL="0" indent="0">
              <a:buNone/>
            </a:pPr>
            <a:r>
              <a:rPr lang="en-US" dirty="0"/>
              <a:t>2. drugs that increase dopaminergic activity e.g. levodopa, amphetamine</a:t>
            </a:r>
          </a:p>
          <a:p>
            <a:pPr marL="0" indent="0">
              <a:buNone/>
            </a:pPr>
            <a:r>
              <a:rPr lang="en-US" dirty="0"/>
              <a:t>[Increases dopamine activity], </a:t>
            </a:r>
            <a:r>
              <a:rPr lang="en-US" dirty="0" err="1"/>
              <a:t>apomorphine</a:t>
            </a:r>
            <a:r>
              <a:rPr lang="en-US" dirty="0"/>
              <a:t> [dopamine receptor agonist] either aggravate schizophrenia or produce psychosis.</a:t>
            </a:r>
          </a:p>
          <a:p>
            <a:pPr marL="0" indent="0">
              <a:buNone/>
            </a:pPr>
            <a:r>
              <a:rPr lang="en-US" dirty="0"/>
              <a:t>3. Dopamine receptors are raised in brain of schizophrenic patient </a:t>
            </a:r>
          </a:p>
          <a:p>
            <a:endParaRPr lang="en-US" dirty="0"/>
          </a:p>
        </p:txBody>
      </p:sp>
    </p:spTree>
    <p:extLst>
      <p:ext uri="{BB962C8B-B14F-4D97-AF65-F5344CB8AC3E}">
        <p14:creationId xmlns:p14="http://schemas.microsoft.com/office/powerpoint/2010/main" val="833953779"/>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ANTIPSYCHOTICS </a:t>
            </a:r>
            <a:endParaRPr lang="en-US" dirty="0"/>
          </a:p>
        </p:txBody>
      </p:sp>
      <p:sp>
        <p:nvSpPr>
          <p:cNvPr id="3" name="Content Placeholder 2"/>
          <p:cNvSpPr>
            <a:spLocks noGrp="1"/>
          </p:cNvSpPr>
          <p:nvPr>
            <p:ph idx="1"/>
          </p:nvPr>
        </p:nvSpPr>
        <p:spPr>
          <a:xfrm>
            <a:off x="457200" y="990600"/>
            <a:ext cx="8229600" cy="5867400"/>
          </a:xfrm>
        </p:spPr>
        <p:txBody>
          <a:bodyPr/>
          <a:lstStyle/>
          <a:p>
            <a:r>
              <a:rPr lang="en-US" b="1" dirty="0" smtClean="0"/>
              <a:t>Are either typical </a:t>
            </a:r>
            <a:r>
              <a:rPr lang="en-US" b="1" dirty="0"/>
              <a:t>or atypical</a:t>
            </a:r>
            <a:r>
              <a:rPr lang="en-US" b="1" dirty="0" smtClean="0"/>
              <a:t>.</a:t>
            </a:r>
          </a:p>
          <a:p>
            <a:pPr marL="0" indent="0">
              <a:buNone/>
            </a:pPr>
            <a:r>
              <a:rPr lang="en-US" b="1" dirty="0" smtClean="0"/>
              <a:t>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2252531"/>
              </p:ext>
            </p:extLst>
          </p:nvPr>
        </p:nvGraphicFramePr>
        <p:xfrm>
          <a:off x="1524000" y="1828800"/>
          <a:ext cx="6096000" cy="4114800"/>
        </p:xfrm>
        <a:graphic>
          <a:graphicData uri="http://schemas.openxmlformats.org/drawingml/2006/table">
            <a:tbl>
              <a:tblPr firstRow="1" bandRow="1">
                <a:tableStyleId>{5C22544A-7EE6-4342-B048-85BDC9FD1C3A}</a:tableStyleId>
              </a:tblPr>
              <a:tblGrid>
                <a:gridCol w="3048000"/>
                <a:gridCol w="3048000"/>
              </a:tblGrid>
              <a:tr h="771432">
                <a:tc>
                  <a:txBody>
                    <a:bodyPr/>
                    <a:lstStyle/>
                    <a:p>
                      <a:r>
                        <a:rPr lang="en-US" dirty="0" smtClean="0"/>
                        <a:t>Typical /classic</a:t>
                      </a:r>
                      <a:endParaRPr lang="en-US" dirty="0"/>
                    </a:p>
                  </a:txBody>
                  <a:tcPr/>
                </a:tc>
                <a:tc>
                  <a:txBody>
                    <a:bodyPr/>
                    <a:lstStyle/>
                    <a:p>
                      <a:r>
                        <a:rPr lang="en-US" dirty="0" smtClean="0"/>
                        <a:t>Atypical </a:t>
                      </a:r>
                      <a:endParaRPr lang="en-US" dirty="0"/>
                    </a:p>
                  </a:txBody>
                  <a:tcPr/>
                </a:tc>
              </a:tr>
              <a:tr h="3343368">
                <a:tc>
                  <a:txBody>
                    <a:bodyPr/>
                    <a:lstStyle/>
                    <a:p>
                      <a:pPr>
                        <a:buFont typeface="Arial"/>
                        <a:buChar char="•"/>
                      </a:pPr>
                      <a:r>
                        <a:rPr lang="en-US" smtClean="0">
                          <a:hlinkClick r:id="rId2"/>
                        </a:rPr>
                        <a:t>Haldol</a:t>
                      </a:r>
                      <a:r>
                        <a:rPr lang="en-US" smtClean="0"/>
                        <a:t> (haloperidol)</a:t>
                      </a:r>
                    </a:p>
                    <a:p>
                      <a:pPr>
                        <a:buFont typeface="Arial"/>
                        <a:buChar char="•"/>
                      </a:pPr>
                      <a:r>
                        <a:rPr lang="en-US" smtClean="0">
                          <a:hlinkClick r:id="rId3"/>
                        </a:rPr>
                        <a:t>Loxitane</a:t>
                      </a:r>
                      <a:r>
                        <a:rPr lang="en-US" smtClean="0"/>
                        <a:t> (loxapine)</a:t>
                      </a:r>
                    </a:p>
                    <a:p>
                      <a:pPr>
                        <a:buFont typeface="Arial"/>
                        <a:buChar char="•"/>
                      </a:pPr>
                      <a:r>
                        <a:rPr lang="en-US" smtClean="0">
                          <a:hlinkClick r:id="rId4"/>
                        </a:rPr>
                        <a:t>Mellaril</a:t>
                      </a:r>
                      <a:r>
                        <a:rPr lang="en-US" smtClean="0"/>
                        <a:t> (thioridazine)</a:t>
                      </a:r>
                    </a:p>
                    <a:p>
                      <a:pPr>
                        <a:buFont typeface="Arial"/>
                        <a:buChar char="•"/>
                      </a:pPr>
                      <a:r>
                        <a:rPr lang="en-US" smtClean="0">
                          <a:hlinkClick r:id="rId5"/>
                        </a:rPr>
                        <a:t>Moban</a:t>
                      </a:r>
                      <a:r>
                        <a:rPr lang="en-US" smtClean="0"/>
                        <a:t> (molindone)</a:t>
                      </a:r>
                    </a:p>
                    <a:p>
                      <a:pPr>
                        <a:buFont typeface="Arial"/>
                        <a:buChar char="•"/>
                      </a:pPr>
                      <a:r>
                        <a:rPr lang="en-US" smtClean="0">
                          <a:hlinkClick r:id="rId6"/>
                        </a:rPr>
                        <a:t>Navane</a:t>
                      </a:r>
                      <a:r>
                        <a:rPr lang="en-US" smtClean="0"/>
                        <a:t> (thiothixene)</a:t>
                      </a:r>
                    </a:p>
                    <a:p>
                      <a:pPr>
                        <a:buFont typeface="Arial"/>
                        <a:buChar char="•"/>
                      </a:pPr>
                      <a:r>
                        <a:rPr lang="en-US" smtClean="0">
                          <a:hlinkClick r:id="rId7"/>
                        </a:rPr>
                        <a:t>Prolixin</a:t>
                      </a:r>
                      <a:r>
                        <a:rPr lang="en-US" smtClean="0"/>
                        <a:t> (fluphenazine)</a:t>
                      </a:r>
                    </a:p>
                    <a:p>
                      <a:pPr>
                        <a:buFont typeface="Arial"/>
                        <a:buChar char="•"/>
                      </a:pPr>
                      <a:r>
                        <a:rPr lang="en-US" smtClean="0">
                          <a:hlinkClick r:id="rId8"/>
                        </a:rPr>
                        <a:t>Serentil</a:t>
                      </a:r>
                      <a:r>
                        <a:rPr lang="en-US" smtClean="0"/>
                        <a:t> (mesoridazine)</a:t>
                      </a:r>
                    </a:p>
                    <a:p>
                      <a:pPr>
                        <a:buFont typeface="Arial"/>
                        <a:buChar char="•"/>
                      </a:pPr>
                      <a:r>
                        <a:rPr lang="en-US" smtClean="0">
                          <a:hlinkClick r:id="rId9"/>
                        </a:rPr>
                        <a:t>Stelazine</a:t>
                      </a:r>
                      <a:r>
                        <a:rPr lang="en-US" smtClean="0"/>
                        <a:t> (trifluoperazine)</a:t>
                      </a:r>
                    </a:p>
                    <a:p>
                      <a:pPr>
                        <a:buFont typeface="Arial"/>
                        <a:buChar char="•"/>
                      </a:pPr>
                      <a:r>
                        <a:rPr lang="en-US" smtClean="0">
                          <a:hlinkClick r:id="rId10"/>
                        </a:rPr>
                        <a:t>Trilafon</a:t>
                      </a:r>
                      <a:r>
                        <a:rPr lang="en-US" smtClean="0"/>
                        <a:t> (perphenazine)</a:t>
                      </a:r>
                    </a:p>
                    <a:p>
                      <a:pPr>
                        <a:buFont typeface="Arial"/>
                        <a:buChar char="•"/>
                      </a:pPr>
                      <a:r>
                        <a:rPr lang="en-US" smtClean="0">
                          <a:hlinkClick r:id="rId11"/>
                        </a:rPr>
                        <a:t>Thorazine</a:t>
                      </a:r>
                      <a:r>
                        <a:rPr lang="en-US" smtClean="0"/>
                        <a:t> (chlorpromazine)</a:t>
                      </a:r>
                      <a:endParaRPr lang="en-US"/>
                    </a:p>
                  </a:txBody>
                  <a:tcPr/>
                </a:tc>
                <a:tc>
                  <a:txBody>
                    <a:bodyPr/>
                    <a:lstStyle/>
                    <a:p>
                      <a:r>
                        <a:rPr lang="en-US" dirty="0" err="1" smtClean="0">
                          <a:hlinkClick r:id="rId12"/>
                        </a:rPr>
                        <a:t>Abilify</a:t>
                      </a:r>
                      <a:r>
                        <a:rPr lang="en-US" dirty="0" smtClean="0"/>
                        <a:t> (aripiprazole) (clozapine)</a:t>
                      </a:r>
                      <a:r>
                        <a:rPr lang="en-US" dirty="0" smtClean="0">
                          <a:hlinkClick r:id="rId13"/>
                        </a:rPr>
                        <a:t> </a:t>
                      </a:r>
                      <a:r>
                        <a:rPr lang="en-US" dirty="0" err="1" smtClean="0">
                          <a:hlinkClick r:id="rId13"/>
                        </a:rPr>
                        <a:t>Clozaril</a:t>
                      </a:r>
                      <a:r>
                        <a:rPr lang="en-US" dirty="0" smtClean="0"/>
                        <a:t> (ziprasidone) </a:t>
                      </a:r>
                      <a:r>
                        <a:rPr lang="en-US" dirty="0" smtClean="0">
                          <a:hlinkClick r:id="rId14"/>
                        </a:rPr>
                        <a:t>Geodon</a:t>
                      </a:r>
                      <a:r>
                        <a:rPr lang="en-US" dirty="0" smtClean="0"/>
                        <a:t> (risperidone) </a:t>
                      </a:r>
                      <a:r>
                        <a:rPr lang="en-US" dirty="0" smtClean="0">
                          <a:hlinkClick r:id="rId15"/>
                        </a:rPr>
                        <a:t>Risperdal</a:t>
                      </a:r>
                      <a:r>
                        <a:rPr lang="en-US" dirty="0" smtClean="0"/>
                        <a:t> (quetiapine) </a:t>
                      </a:r>
                      <a:r>
                        <a:rPr lang="en-US" dirty="0" smtClean="0">
                          <a:hlinkClick r:id="rId16"/>
                        </a:rPr>
                        <a:t>Seroquel</a:t>
                      </a:r>
                      <a:r>
                        <a:rPr lang="en-US" dirty="0" smtClean="0"/>
                        <a:t> (olanzapine ) </a:t>
                      </a:r>
                      <a:r>
                        <a:rPr lang="en-US" dirty="0" smtClean="0">
                          <a:hlinkClick r:id="rId17"/>
                        </a:rPr>
                        <a:t>Zyprexa</a:t>
                      </a:r>
                      <a:r>
                        <a:rPr lang="en-US" dirty="0" smtClean="0"/>
                        <a:t> </a:t>
                      </a:r>
                      <a:endParaRPr lang="en-US" dirty="0"/>
                    </a:p>
                  </a:txBody>
                  <a:tcPr/>
                </a:tc>
              </a:tr>
            </a:tbl>
          </a:graphicData>
        </a:graphic>
      </p:graphicFrame>
    </p:spTree>
    <p:extLst>
      <p:ext uri="{BB962C8B-B14F-4D97-AF65-F5344CB8AC3E}">
        <p14:creationId xmlns:p14="http://schemas.microsoft.com/office/powerpoint/2010/main" val="3959798030"/>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Atypical antipsychotics </a:t>
            </a:r>
            <a:endParaRPr lang="en-US" dirty="0"/>
          </a:p>
        </p:txBody>
      </p:sp>
      <p:sp>
        <p:nvSpPr>
          <p:cNvPr id="3" name="Content Placeholder 2"/>
          <p:cNvSpPr>
            <a:spLocks noGrp="1"/>
          </p:cNvSpPr>
          <p:nvPr>
            <p:ph idx="1"/>
          </p:nvPr>
        </p:nvSpPr>
        <p:spPr>
          <a:xfrm>
            <a:off x="457200" y="1143000"/>
            <a:ext cx="8229600" cy="5486400"/>
          </a:xfrm>
        </p:spPr>
        <p:txBody>
          <a:bodyPr>
            <a:normAutofit fontScale="77500" lnSpcReduction="20000"/>
          </a:bodyPr>
          <a:lstStyle/>
          <a:p>
            <a:pPr marL="0" indent="0">
              <a:buNone/>
            </a:pPr>
            <a:r>
              <a:rPr lang="en-US" b="1" dirty="0" smtClean="0"/>
              <a:t>Phenothiazine </a:t>
            </a:r>
            <a:r>
              <a:rPr lang="en-US" b="1" dirty="0"/>
              <a:t>derivatives; </a:t>
            </a:r>
          </a:p>
          <a:p>
            <a:r>
              <a:rPr lang="en-US" sz="3100" b="1" dirty="0"/>
              <a:t>Group </a:t>
            </a:r>
            <a:r>
              <a:rPr lang="en-US" sz="3100" b="1" dirty="0" smtClean="0"/>
              <a:t>1</a:t>
            </a:r>
          </a:p>
          <a:p>
            <a:pPr marL="400050" lvl="1" indent="0">
              <a:buNone/>
            </a:pPr>
            <a:r>
              <a:rPr lang="en-US" sz="3100" dirty="0" smtClean="0"/>
              <a:t>Chlorpromazine</a:t>
            </a:r>
            <a:r>
              <a:rPr lang="en-US" sz="3100" dirty="0"/>
              <a:t>, </a:t>
            </a:r>
            <a:r>
              <a:rPr lang="en-US" sz="3100" dirty="0" err="1"/>
              <a:t>Levomepromazine</a:t>
            </a:r>
            <a:r>
              <a:rPr lang="en-US" sz="3100" dirty="0"/>
              <a:t> (</a:t>
            </a:r>
            <a:r>
              <a:rPr lang="en-US" sz="3100" dirty="0" err="1"/>
              <a:t>methotrimeprazine</a:t>
            </a:r>
            <a:r>
              <a:rPr lang="en-US" sz="3100" dirty="0"/>
              <a:t>), </a:t>
            </a:r>
            <a:r>
              <a:rPr lang="en-US" sz="3100" dirty="0" err="1"/>
              <a:t>Promazine</a:t>
            </a:r>
            <a:r>
              <a:rPr lang="en-US" sz="3100" dirty="0"/>
              <a:t> </a:t>
            </a:r>
            <a:endParaRPr lang="en-US" sz="3100" dirty="0" smtClean="0"/>
          </a:p>
          <a:p>
            <a:pPr marL="400050" lvl="1" indent="0">
              <a:buNone/>
            </a:pPr>
            <a:r>
              <a:rPr lang="en-US" sz="3100" dirty="0" smtClean="0"/>
              <a:t>[</a:t>
            </a:r>
            <a:r>
              <a:rPr lang="en-US" sz="3100" dirty="0"/>
              <a:t>Have pronounced sedative effects and moderate </a:t>
            </a:r>
            <a:r>
              <a:rPr lang="en-US" sz="3100" dirty="0" err="1"/>
              <a:t>antimuscarinic</a:t>
            </a:r>
            <a:r>
              <a:rPr lang="en-US" sz="3100" dirty="0"/>
              <a:t> and extrapyramidal side effects] </a:t>
            </a:r>
          </a:p>
          <a:p>
            <a:r>
              <a:rPr lang="en-US" sz="3100" b="1" dirty="0" smtClean="0"/>
              <a:t>Group </a:t>
            </a:r>
            <a:r>
              <a:rPr lang="en-US" sz="3100" b="1" dirty="0"/>
              <a:t>2 </a:t>
            </a:r>
            <a:endParaRPr lang="en-US" sz="3100" b="1" dirty="0" smtClean="0"/>
          </a:p>
          <a:p>
            <a:pPr marL="400050" lvl="1" indent="0">
              <a:buNone/>
            </a:pPr>
            <a:r>
              <a:rPr lang="en-US" sz="3100" dirty="0" err="1" smtClean="0"/>
              <a:t>Pericyazine</a:t>
            </a:r>
            <a:r>
              <a:rPr lang="en-US" sz="3100" dirty="0"/>
              <a:t>, </a:t>
            </a:r>
            <a:r>
              <a:rPr lang="en-US" sz="3100" dirty="0" err="1"/>
              <a:t>Pipotiazine</a:t>
            </a:r>
            <a:r>
              <a:rPr lang="en-US" sz="3100" dirty="0"/>
              <a:t>, </a:t>
            </a:r>
            <a:r>
              <a:rPr lang="en-US" sz="3100" dirty="0" err="1"/>
              <a:t>Thioridazine</a:t>
            </a:r>
            <a:r>
              <a:rPr lang="en-US" sz="3100" dirty="0"/>
              <a:t> </a:t>
            </a:r>
            <a:endParaRPr lang="en-US" sz="3100" dirty="0" smtClean="0"/>
          </a:p>
          <a:p>
            <a:pPr marL="400050" lvl="1" indent="0">
              <a:buNone/>
            </a:pPr>
            <a:r>
              <a:rPr lang="en-US" sz="3100" dirty="0" smtClean="0"/>
              <a:t>[</a:t>
            </a:r>
            <a:r>
              <a:rPr lang="en-US" sz="3100" dirty="0"/>
              <a:t>Moderate sedative effects, marked </a:t>
            </a:r>
            <a:r>
              <a:rPr lang="en-US" sz="3100" dirty="0" err="1"/>
              <a:t>antimuscarinic</a:t>
            </a:r>
            <a:r>
              <a:rPr lang="en-US" sz="3100" dirty="0"/>
              <a:t> effects but fewer extrapyramidal side-effects than Groups 1and3] </a:t>
            </a:r>
          </a:p>
          <a:p>
            <a:r>
              <a:rPr lang="en-US" sz="3100" b="1" dirty="0" smtClean="0"/>
              <a:t>Group 3</a:t>
            </a:r>
          </a:p>
          <a:p>
            <a:pPr marL="400050" lvl="1" indent="0">
              <a:buNone/>
            </a:pPr>
            <a:r>
              <a:rPr lang="en-US" sz="3100" dirty="0" err="1" smtClean="0"/>
              <a:t>Piperazine</a:t>
            </a:r>
            <a:r>
              <a:rPr lang="en-US" sz="3100" dirty="0" smtClean="0"/>
              <a:t> </a:t>
            </a:r>
            <a:r>
              <a:rPr lang="en-US" sz="3100" dirty="0" err="1"/>
              <a:t>phenothiazines</a:t>
            </a:r>
            <a:r>
              <a:rPr lang="en-US" sz="3100" dirty="0"/>
              <a:t> - </a:t>
            </a:r>
            <a:r>
              <a:rPr lang="en-US" sz="3100" dirty="0" err="1"/>
              <a:t>Fluphenazine</a:t>
            </a:r>
            <a:r>
              <a:rPr lang="en-US" sz="3100" dirty="0"/>
              <a:t>, </a:t>
            </a:r>
            <a:r>
              <a:rPr lang="en-US" sz="3100" dirty="0" err="1"/>
              <a:t>perphenazine</a:t>
            </a:r>
            <a:r>
              <a:rPr lang="en-US" sz="3100" dirty="0"/>
              <a:t>, </a:t>
            </a:r>
            <a:r>
              <a:rPr lang="en-US" sz="3100" dirty="0" err="1"/>
              <a:t>prochlorperazine</a:t>
            </a:r>
            <a:r>
              <a:rPr lang="en-US" sz="3100" dirty="0"/>
              <a:t>, and </a:t>
            </a:r>
            <a:r>
              <a:rPr lang="en-US" sz="3100" dirty="0" err="1"/>
              <a:t>trifluoperazine</a:t>
            </a:r>
            <a:r>
              <a:rPr lang="en-US" sz="3100" dirty="0"/>
              <a:t> </a:t>
            </a:r>
            <a:endParaRPr lang="en-US" sz="3100" dirty="0" smtClean="0"/>
          </a:p>
          <a:p>
            <a:pPr marL="400050" lvl="1" indent="0">
              <a:buNone/>
            </a:pPr>
            <a:r>
              <a:rPr lang="en-US" sz="3100" dirty="0" smtClean="0"/>
              <a:t>[</a:t>
            </a:r>
            <a:r>
              <a:rPr lang="en-US" sz="3100" dirty="0"/>
              <a:t>Fewer sedative effects, fewer </a:t>
            </a:r>
            <a:r>
              <a:rPr lang="en-US" sz="3100" dirty="0" err="1"/>
              <a:t>antimuscarinic</a:t>
            </a:r>
            <a:r>
              <a:rPr lang="en-US" sz="3100" dirty="0"/>
              <a:t> effects but more pronounced extrapyramidal side-effects than Groups 1and2] </a:t>
            </a:r>
          </a:p>
          <a:p>
            <a:endParaRPr lang="en-US" dirty="0"/>
          </a:p>
        </p:txBody>
      </p:sp>
    </p:spTree>
    <p:extLst>
      <p:ext uri="{BB962C8B-B14F-4D97-AF65-F5344CB8AC3E}">
        <p14:creationId xmlns:p14="http://schemas.microsoft.com/office/powerpoint/2010/main" val="2562432253"/>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Antipsychotics </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pPr marL="0" indent="0">
              <a:buNone/>
            </a:pPr>
            <a:r>
              <a:rPr lang="en-US" dirty="0" smtClean="0"/>
              <a:t>The </a:t>
            </a:r>
            <a:r>
              <a:rPr lang="en-US" dirty="0"/>
              <a:t>following drugs resemble </a:t>
            </a:r>
            <a:r>
              <a:rPr lang="en-US" dirty="0" err="1"/>
              <a:t>phenothiazines</a:t>
            </a:r>
            <a:r>
              <a:rPr lang="en-US" dirty="0"/>
              <a:t> of Group 3 </a:t>
            </a:r>
            <a:r>
              <a:rPr lang="en-US" dirty="0" smtClean="0"/>
              <a:t>;-</a:t>
            </a:r>
            <a:endParaRPr lang="en-US" dirty="0"/>
          </a:p>
          <a:p>
            <a:pPr>
              <a:buFont typeface="Wingdings" panose="05000000000000000000" pitchFamily="2" charset="2"/>
              <a:buChar char="ü"/>
            </a:pPr>
            <a:r>
              <a:rPr lang="en-US" dirty="0" err="1" smtClean="0"/>
              <a:t>Butyrophenones</a:t>
            </a:r>
            <a:r>
              <a:rPr lang="en-US" dirty="0" smtClean="0"/>
              <a:t> </a:t>
            </a:r>
            <a:r>
              <a:rPr lang="en-US" dirty="0"/>
              <a:t>- </a:t>
            </a:r>
            <a:r>
              <a:rPr lang="en-US" dirty="0" err="1"/>
              <a:t>Benperidol</a:t>
            </a:r>
            <a:r>
              <a:rPr lang="en-US" dirty="0"/>
              <a:t> and Haloperidol </a:t>
            </a:r>
          </a:p>
          <a:p>
            <a:pPr>
              <a:buFont typeface="Wingdings" panose="05000000000000000000" pitchFamily="2" charset="2"/>
              <a:buChar char="ü"/>
            </a:pPr>
            <a:r>
              <a:rPr lang="en-US" dirty="0" err="1" smtClean="0"/>
              <a:t>Pimozide</a:t>
            </a:r>
            <a:r>
              <a:rPr lang="en-US" dirty="0" smtClean="0"/>
              <a:t> </a:t>
            </a:r>
            <a:endParaRPr lang="en-US" dirty="0"/>
          </a:p>
          <a:p>
            <a:pPr>
              <a:buFont typeface="Wingdings" panose="05000000000000000000" pitchFamily="2" charset="2"/>
              <a:buChar char="ü"/>
            </a:pPr>
            <a:r>
              <a:rPr lang="en-US" dirty="0" err="1" smtClean="0"/>
              <a:t>Thioxanthenes</a:t>
            </a:r>
            <a:r>
              <a:rPr lang="en-US" dirty="0" smtClean="0"/>
              <a:t> </a:t>
            </a:r>
            <a:r>
              <a:rPr lang="en-US" dirty="0"/>
              <a:t>- </a:t>
            </a:r>
            <a:r>
              <a:rPr lang="en-US" dirty="0" err="1"/>
              <a:t>thiothixene</a:t>
            </a:r>
            <a:r>
              <a:rPr lang="en-US" dirty="0"/>
              <a:t> [ are more potent than </a:t>
            </a:r>
            <a:r>
              <a:rPr lang="en-US" dirty="0" err="1" smtClean="0"/>
              <a:t>phenothiazides</a:t>
            </a:r>
            <a:r>
              <a:rPr lang="en-US" dirty="0" smtClean="0"/>
              <a:t>]</a:t>
            </a:r>
          </a:p>
          <a:p>
            <a:pPr>
              <a:buFont typeface="Wingdings" panose="05000000000000000000" pitchFamily="2" charset="2"/>
              <a:buChar char="ü"/>
            </a:pPr>
            <a:r>
              <a:rPr lang="en-US" dirty="0" err="1" smtClean="0"/>
              <a:t>Benzamines</a:t>
            </a:r>
            <a:r>
              <a:rPr lang="en-US" dirty="0" smtClean="0"/>
              <a:t> </a:t>
            </a:r>
            <a:endParaRPr lang="en-US" dirty="0"/>
          </a:p>
          <a:p>
            <a:endParaRPr lang="en-US" dirty="0"/>
          </a:p>
        </p:txBody>
      </p:sp>
    </p:spTree>
    <p:extLst>
      <p:ext uri="{BB962C8B-B14F-4D97-AF65-F5344CB8AC3E}">
        <p14:creationId xmlns:p14="http://schemas.microsoft.com/office/powerpoint/2010/main" val="389781497"/>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Atypical Antipsychotics </a:t>
            </a:r>
            <a:endParaRPr lang="en-US" dirty="0"/>
          </a:p>
        </p:txBody>
      </p:sp>
      <p:sp>
        <p:nvSpPr>
          <p:cNvPr id="3" name="Content Placeholder 2"/>
          <p:cNvSpPr>
            <a:spLocks noGrp="1"/>
          </p:cNvSpPr>
          <p:nvPr>
            <p:ph idx="1"/>
          </p:nvPr>
        </p:nvSpPr>
        <p:spPr>
          <a:xfrm>
            <a:off x="457200" y="1600201"/>
            <a:ext cx="8229600" cy="4419600"/>
          </a:xfrm>
        </p:spPr>
        <p:txBody>
          <a:bodyPr>
            <a:normAutofit/>
          </a:bodyPr>
          <a:lstStyle/>
          <a:p>
            <a:pPr marL="0" indent="0">
              <a:buNone/>
            </a:pPr>
            <a:r>
              <a:rPr lang="en-US" dirty="0"/>
              <a:t>Have less extrapyramidal side effects </a:t>
            </a:r>
          </a:p>
          <a:p>
            <a:pPr marL="0" indent="0">
              <a:buNone/>
            </a:pPr>
            <a:r>
              <a:rPr lang="en-US" dirty="0" err="1" smtClean="0"/>
              <a:t>Amisulpiride</a:t>
            </a:r>
            <a:r>
              <a:rPr lang="en-US" dirty="0"/>
              <a:t>, Clozapine, Olanzapine, Quetiapine, Risperidone and </a:t>
            </a:r>
            <a:r>
              <a:rPr lang="en-US" dirty="0" err="1"/>
              <a:t>Zotepine</a:t>
            </a:r>
            <a:r>
              <a:rPr lang="en-US" dirty="0"/>
              <a:t> </a:t>
            </a:r>
          </a:p>
          <a:p>
            <a:pPr marL="0" indent="0">
              <a:buNone/>
            </a:pPr>
            <a:r>
              <a:rPr lang="en-US" b="1" dirty="0" smtClean="0"/>
              <a:t>NB</a:t>
            </a:r>
            <a:r>
              <a:rPr lang="en-US" b="1" dirty="0"/>
              <a:t>: </a:t>
            </a:r>
            <a:r>
              <a:rPr lang="en-US" dirty="0"/>
              <a:t>antipsychotic drugs both typical and atypical are used to treat and prevent psychotic illnesses including schizophrenia and psychosis associated with depression and mania </a:t>
            </a:r>
          </a:p>
        </p:txBody>
      </p:sp>
    </p:spTree>
    <p:extLst>
      <p:ext uri="{BB962C8B-B14F-4D97-AF65-F5344CB8AC3E}">
        <p14:creationId xmlns:p14="http://schemas.microsoft.com/office/powerpoint/2010/main" val="120768615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M.O.A</a:t>
            </a:r>
            <a:endParaRPr lang="en-US" dirty="0"/>
          </a:p>
        </p:txBody>
      </p:sp>
      <p:sp>
        <p:nvSpPr>
          <p:cNvPr id="3" name="Content Placeholder 2"/>
          <p:cNvSpPr>
            <a:spLocks noGrp="1"/>
          </p:cNvSpPr>
          <p:nvPr>
            <p:ph idx="1"/>
          </p:nvPr>
        </p:nvSpPr>
        <p:spPr>
          <a:xfrm>
            <a:off x="457200" y="1600200"/>
            <a:ext cx="8229600" cy="5181600"/>
          </a:xfrm>
        </p:spPr>
        <p:txBody>
          <a:bodyPr>
            <a:normAutofit fontScale="85000" lnSpcReduction="20000"/>
          </a:bodyPr>
          <a:lstStyle/>
          <a:p>
            <a:r>
              <a:rPr lang="en-US" dirty="0"/>
              <a:t> </a:t>
            </a:r>
            <a:r>
              <a:rPr lang="en-US" dirty="0" err="1"/>
              <a:t>Dopaminagic</a:t>
            </a:r>
            <a:r>
              <a:rPr lang="en-US" dirty="0"/>
              <a:t> pathways affect thinking, cognitive behavior, learning, sexual and pleasure feelings, and the coordination of voluntary movement. </a:t>
            </a:r>
            <a:endParaRPr lang="en-US" dirty="0" smtClean="0"/>
          </a:p>
          <a:p>
            <a:r>
              <a:rPr lang="en-US" dirty="0" smtClean="0"/>
              <a:t>Extra </a:t>
            </a:r>
            <a:r>
              <a:rPr lang="en-US" dirty="0"/>
              <a:t>firing (production of this neurotransmitter) of dopamine in these pathways produces many of the symptoms of schizophrenia</a:t>
            </a:r>
            <a:r>
              <a:rPr lang="en-US" dirty="0" smtClean="0"/>
              <a:t>.</a:t>
            </a:r>
          </a:p>
          <a:p>
            <a:r>
              <a:rPr lang="en-US" dirty="0"/>
              <a:t/>
            </a:r>
            <a:br>
              <a:rPr lang="en-US" dirty="0"/>
            </a:br>
            <a:r>
              <a:rPr lang="en-US" dirty="0"/>
              <a:t>Many atypical or second generation antipsychotics block serotonin (5-HT) receptors in the brain, particularly 5-HT2A receptors—the vital players in schizophrenia. </a:t>
            </a:r>
            <a:endParaRPr lang="en-US" dirty="0" smtClean="0"/>
          </a:p>
          <a:p>
            <a:r>
              <a:rPr lang="en-US" dirty="0" smtClean="0"/>
              <a:t>In </a:t>
            </a:r>
            <a:r>
              <a:rPr lang="en-US" dirty="0"/>
              <a:t>addition, atypical antipsychotics also act on adrenergic, cholinergic (muscarinic), and histamine receptors.</a:t>
            </a:r>
          </a:p>
          <a:p>
            <a:endParaRPr lang="en-US" dirty="0"/>
          </a:p>
        </p:txBody>
      </p:sp>
    </p:spTree>
    <p:extLst>
      <p:ext uri="{BB962C8B-B14F-4D97-AF65-F5344CB8AC3E}">
        <p14:creationId xmlns:p14="http://schemas.microsoft.com/office/powerpoint/2010/main" val="211966494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normAutofit fontScale="90000"/>
          </a:bodyPr>
          <a:lstStyle/>
          <a:p>
            <a:r>
              <a:rPr lang="en-US" b="1" dirty="0"/>
              <a:t>General Indications of antipsychotics </a:t>
            </a:r>
            <a:endParaRPr lang="en-US" dirty="0"/>
          </a:p>
        </p:txBody>
      </p:sp>
      <p:sp>
        <p:nvSpPr>
          <p:cNvPr id="3" name="Content Placeholder 2"/>
          <p:cNvSpPr>
            <a:spLocks noGrp="1"/>
          </p:cNvSpPr>
          <p:nvPr>
            <p:ph idx="1"/>
          </p:nvPr>
        </p:nvSpPr>
        <p:spPr>
          <a:xfrm>
            <a:off x="457200" y="914400"/>
            <a:ext cx="8229600" cy="5867400"/>
          </a:xfrm>
        </p:spPr>
        <p:txBody>
          <a:bodyPr>
            <a:normAutofit fontScale="77500" lnSpcReduction="20000"/>
          </a:bodyPr>
          <a:lstStyle/>
          <a:p>
            <a:r>
              <a:rPr lang="en-US" sz="3800" dirty="0" smtClean="0"/>
              <a:t>In </a:t>
            </a:r>
            <a:r>
              <a:rPr lang="en-US" sz="3800" dirty="0"/>
              <a:t>the short term they are used to quieten disturbed patients whatever the underlying </a:t>
            </a:r>
            <a:r>
              <a:rPr lang="en-US" sz="3800" dirty="0" smtClean="0"/>
              <a:t>psychopathology e.g. schizophrenia</a:t>
            </a:r>
            <a:r>
              <a:rPr lang="en-US" sz="3800" dirty="0"/>
              <a:t>, brain damage, mania, toxic delirium, or agitated depression. </a:t>
            </a:r>
          </a:p>
          <a:p>
            <a:r>
              <a:rPr lang="en-US" sz="3800" dirty="0" smtClean="0"/>
              <a:t>alleviate </a:t>
            </a:r>
            <a:r>
              <a:rPr lang="en-US" sz="3800" dirty="0"/>
              <a:t>severe anxiety on a short term measure. </a:t>
            </a:r>
          </a:p>
          <a:p>
            <a:r>
              <a:rPr lang="en-US" sz="3800" dirty="0" smtClean="0"/>
              <a:t>CPZ is </a:t>
            </a:r>
            <a:r>
              <a:rPr lang="en-US" sz="3800" dirty="0"/>
              <a:t>useful as an antiemetic in palliative care, in </a:t>
            </a:r>
            <a:r>
              <a:rPr lang="en-US" sz="3800" dirty="0" smtClean="0"/>
              <a:t>chore as</a:t>
            </a:r>
            <a:r>
              <a:rPr lang="en-US" sz="3800" dirty="0"/>
              <a:t>, motor tics and intractable hiccup </a:t>
            </a:r>
            <a:endParaRPr lang="en-US" sz="3800" dirty="0" smtClean="0"/>
          </a:p>
          <a:p>
            <a:r>
              <a:rPr lang="en-US" sz="3800" dirty="0"/>
              <a:t>D</a:t>
            </a:r>
            <a:r>
              <a:rPr lang="en-US" sz="3800" dirty="0" smtClean="0"/>
              <a:t>eviant </a:t>
            </a:r>
            <a:r>
              <a:rPr lang="en-US" sz="3800" dirty="0"/>
              <a:t>antisocial sexual behavior but its. </a:t>
            </a:r>
          </a:p>
          <a:p>
            <a:r>
              <a:rPr lang="en-US" sz="3800" dirty="0" smtClean="0"/>
              <a:t>Olanzapine </a:t>
            </a:r>
            <a:r>
              <a:rPr lang="en-US" sz="3800" dirty="0"/>
              <a:t>is used in the treatment of moderate to severe episodes of mania </a:t>
            </a:r>
          </a:p>
          <a:p>
            <a:r>
              <a:rPr lang="en-US" sz="3800" dirty="0" smtClean="0"/>
              <a:t>Long </a:t>
            </a:r>
            <a:r>
              <a:rPr lang="en-US" sz="3800" dirty="0"/>
              <a:t>acting depot injections </a:t>
            </a:r>
            <a:r>
              <a:rPr lang="en-US" sz="3800" dirty="0" smtClean="0"/>
              <a:t>e.g. </a:t>
            </a:r>
            <a:r>
              <a:rPr lang="en-US" sz="3800" dirty="0" err="1" smtClean="0"/>
              <a:t>Flupentixol</a:t>
            </a:r>
            <a:r>
              <a:rPr lang="en-US" sz="3800" dirty="0" smtClean="0"/>
              <a:t>, </a:t>
            </a:r>
            <a:r>
              <a:rPr lang="en-US" sz="3800" dirty="0" err="1" smtClean="0"/>
              <a:t>Fluphenazine</a:t>
            </a:r>
            <a:r>
              <a:rPr lang="en-US" sz="3800" dirty="0"/>
              <a:t>, Haloperidol, and </a:t>
            </a:r>
            <a:r>
              <a:rPr lang="en-US" sz="3800" dirty="0" err="1" smtClean="0"/>
              <a:t>Zulcopenthixol</a:t>
            </a:r>
            <a:r>
              <a:rPr lang="en-US" sz="3800" dirty="0"/>
              <a:t> </a:t>
            </a:r>
            <a:r>
              <a:rPr lang="en-US" sz="3800" dirty="0" err="1" smtClean="0"/>
              <a:t>decanoates</a:t>
            </a:r>
            <a:r>
              <a:rPr lang="en-US" sz="3800" dirty="0"/>
              <a:t>; </a:t>
            </a:r>
            <a:r>
              <a:rPr lang="en-US" sz="3800" dirty="0" err="1"/>
              <a:t>Pipotiazine</a:t>
            </a:r>
            <a:r>
              <a:rPr lang="en-US" sz="3800" dirty="0"/>
              <a:t> palmitate, and Risperidone are used for maintenance therapy especially when compliance with oral treatment is unreliable </a:t>
            </a:r>
          </a:p>
          <a:p>
            <a:endParaRPr lang="en-US" dirty="0"/>
          </a:p>
        </p:txBody>
      </p:sp>
    </p:spTree>
    <p:extLst>
      <p:ext uri="{BB962C8B-B14F-4D97-AF65-F5344CB8AC3E}">
        <p14:creationId xmlns:p14="http://schemas.microsoft.com/office/powerpoint/2010/main" val="4071473428"/>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Antipsychotics </a:t>
            </a:r>
            <a:endParaRPr lang="en-US" dirty="0"/>
          </a:p>
        </p:txBody>
      </p:sp>
      <p:sp>
        <p:nvSpPr>
          <p:cNvPr id="3" name="Content Placeholder 2"/>
          <p:cNvSpPr>
            <a:spLocks noGrp="1"/>
          </p:cNvSpPr>
          <p:nvPr>
            <p:ph idx="1"/>
          </p:nvPr>
        </p:nvSpPr>
        <p:spPr>
          <a:xfrm>
            <a:off x="457200" y="990600"/>
            <a:ext cx="8229600" cy="5715000"/>
          </a:xfrm>
        </p:spPr>
        <p:txBody>
          <a:bodyPr>
            <a:normAutofit fontScale="92500" lnSpcReduction="10000"/>
          </a:bodyPr>
          <a:lstStyle/>
          <a:p>
            <a:r>
              <a:rPr lang="en-US" dirty="0" smtClean="0"/>
              <a:t>The </a:t>
            </a:r>
            <a:r>
              <a:rPr lang="en-US" dirty="0" err="1"/>
              <a:t>psychotropics</a:t>
            </a:r>
            <a:r>
              <a:rPr lang="en-US" dirty="0"/>
              <a:t> block all 5 dopamine receptors [ D1-D5] </a:t>
            </a:r>
          </a:p>
          <a:p>
            <a:r>
              <a:rPr lang="en-US" b="1" dirty="0" smtClean="0"/>
              <a:t>Typical/ classic antipsychotics </a:t>
            </a:r>
            <a:r>
              <a:rPr lang="en-US" dirty="0" smtClean="0"/>
              <a:t>adequately </a:t>
            </a:r>
            <a:r>
              <a:rPr lang="en-US" dirty="0"/>
              <a:t>treat positive </a:t>
            </a:r>
            <a:r>
              <a:rPr lang="en-US" dirty="0" smtClean="0"/>
              <a:t>symptoms </a:t>
            </a:r>
            <a:r>
              <a:rPr lang="en-US" dirty="0"/>
              <a:t>of schizophrenia [hallucinations, delusion, and thought </a:t>
            </a:r>
            <a:r>
              <a:rPr lang="en-US" dirty="0" smtClean="0"/>
              <a:t>disorders]</a:t>
            </a:r>
          </a:p>
          <a:p>
            <a:r>
              <a:rPr lang="en-US" dirty="0" smtClean="0">
                <a:solidFill>
                  <a:srgbClr val="FF0000"/>
                </a:solidFill>
              </a:rPr>
              <a:t>Negative </a:t>
            </a:r>
            <a:r>
              <a:rPr lang="en-US" dirty="0">
                <a:solidFill>
                  <a:srgbClr val="FF0000"/>
                </a:solidFill>
              </a:rPr>
              <a:t>symptoms [apathy, flat affect and poverty of speech] are left with the pt. </a:t>
            </a:r>
          </a:p>
          <a:p>
            <a:r>
              <a:rPr lang="en-US" b="1" dirty="0" smtClean="0"/>
              <a:t>Atypical </a:t>
            </a:r>
            <a:r>
              <a:rPr lang="en-US" b="1" dirty="0"/>
              <a:t>antipsychotics</a:t>
            </a:r>
            <a:r>
              <a:rPr lang="en-US" dirty="0"/>
              <a:t> treat both positive and negative </a:t>
            </a:r>
            <a:r>
              <a:rPr lang="en-US" dirty="0" smtClean="0"/>
              <a:t>symptoms</a:t>
            </a:r>
          </a:p>
          <a:p>
            <a:r>
              <a:rPr lang="en-US" dirty="0"/>
              <a:t> NB : Prescribing of more than one antipsychotic at the same time has no advantage and it is not recommended</a:t>
            </a:r>
            <a:endParaRPr lang="en-US" dirty="0" smtClean="0"/>
          </a:p>
          <a:p>
            <a:endParaRPr lang="en-US" dirty="0"/>
          </a:p>
          <a:p>
            <a:endParaRPr lang="en-US" dirty="0"/>
          </a:p>
        </p:txBody>
      </p:sp>
    </p:spTree>
    <p:extLst>
      <p:ext uri="{BB962C8B-B14F-4D97-AF65-F5344CB8AC3E}">
        <p14:creationId xmlns:p14="http://schemas.microsoft.com/office/powerpoint/2010/main" val="1785569799"/>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S/E [General for antipsychotics] </a:t>
            </a:r>
            <a:endParaRPr lang="en-US" dirty="0"/>
          </a:p>
        </p:txBody>
      </p:sp>
      <p:sp>
        <p:nvSpPr>
          <p:cNvPr id="3" name="Content Placeholder 2"/>
          <p:cNvSpPr>
            <a:spLocks noGrp="1"/>
          </p:cNvSpPr>
          <p:nvPr>
            <p:ph idx="1"/>
          </p:nvPr>
        </p:nvSpPr>
        <p:spPr>
          <a:xfrm>
            <a:off x="457200" y="990600"/>
            <a:ext cx="8229600" cy="5791200"/>
          </a:xfrm>
        </p:spPr>
        <p:txBody>
          <a:bodyPr>
            <a:normAutofit fontScale="77500" lnSpcReduction="20000"/>
          </a:bodyPr>
          <a:lstStyle/>
          <a:p>
            <a:pPr marL="514350" indent="-514350">
              <a:buAutoNum type="arabicPeriod"/>
            </a:pPr>
            <a:r>
              <a:rPr lang="en-US" b="1" dirty="0" smtClean="0"/>
              <a:t>Extrapyramidal </a:t>
            </a:r>
            <a:r>
              <a:rPr lang="en-US" b="1" dirty="0"/>
              <a:t>symptoms </a:t>
            </a:r>
            <a:endParaRPr lang="en-US" b="1" dirty="0" smtClean="0"/>
          </a:p>
          <a:p>
            <a:pPr>
              <a:buFont typeface="Wingdings" panose="05000000000000000000" pitchFamily="2" charset="2"/>
              <a:buChar char="ü"/>
            </a:pPr>
            <a:r>
              <a:rPr lang="en-US" dirty="0" smtClean="0"/>
              <a:t>Dystonia- </a:t>
            </a:r>
            <a:r>
              <a:rPr lang="en-US" dirty="0"/>
              <a:t>prolonged persistent, firm tonic contraction of muscle groups of the </a:t>
            </a:r>
            <a:r>
              <a:rPr lang="en-US" b="1" dirty="0"/>
              <a:t>head, neck, and jaw </a:t>
            </a:r>
            <a:r>
              <a:rPr lang="en-US" dirty="0"/>
              <a:t>including spasms of lips, tongue, face or throat. </a:t>
            </a:r>
          </a:p>
          <a:p>
            <a:pPr>
              <a:buFont typeface="Wingdings" panose="05000000000000000000" pitchFamily="2" charset="2"/>
              <a:buChar char="ü"/>
            </a:pPr>
            <a:r>
              <a:rPr lang="en-US" dirty="0" smtClean="0"/>
              <a:t>dyskinesia </a:t>
            </a:r>
            <a:r>
              <a:rPr lang="en-US" dirty="0"/>
              <a:t>– </a:t>
            </a:r>
            <a:r>
              <a:rPr lang="en-US" dirty="0" err="1"/>
              <a:t>clonic</a:t>
            </a:r>
            <a:r>
              <a:rPr lang="en-US" dirty="0"/>
              <a:t>, uncoordinated, involuntary contraction and relaxation of muscle groups [abnormal face and body movements] commonly in children or young adults </a:t>
            </a:r>
            <a:endParaRPr lang="en-US" dirty="0" smtClean="0"/>
          </a:p>
          <a:p>
            <a:pPr>
              <a:buFont typeface="Wingdings" panose="05000000000000000000" pitchFamily="2" charset="2"/>
              <a:buChar char="ü"/>
            </a:pPr>
            <a:r>
              <a:rPr lang="en-US" dirty="0" smtClean="0"/>
              <a:t>Tardive </a:t>
            </a:r>
            <a:r>
              <a:rPr lang="en-US" dirty="0"/>
              <a:t>dyskinesia (</a:t>
            </a:r>
            <a:r>
              <a:rPr lang="en-US" dirty="0" err="1"/>
              <a:t>rythmic</a:t>
            </a:r>
            <a:r>
              <a:rPr lang="en-US" dirty="0"/>
              <a:t> involuntary movements of tongue, face and jaw) - It may be irreversible on withdrawing therapy and treatment is usually ineffective; Drug withdrawal at the earliest signs of tardive dyskinesia (fine vermicular movements of the tongue) may halt its full development </a:t>
            </a:r>
          </a:p>
          <a:p>
            <a:pPr>
              <a:buFont typeface="Wingdings" panose="05000000000000000000" pitchFamily="2" charset="2"/>
              <a:buChar char="ü"/>
            </a:pPr>
            <a:r>
              <a:rPr lang="en-US" dirty="0" smtClean="0"/>
              <a:t>Akathisia </a:t>
            </a:r>
            <a:r>
              <a:rPr lang="en-US" dirty="0"/>
              <a:t>(restlessness)- involuntary motor restlessness of lower extremities. </a:t>
            </a:r>
          </a:p>
          <a:p>
            <a:pPr>
              <a:buFont typeface="Wingdings" panose="05000000000000000000" pitchFamily="2" charset="2"/>
              <a:buChar char="ü"/>
            </a:pPr>
            <a:r>
              <a:rPr lang="en-US" dirty="0" smtClean="0"/>
              <a:t>Akinesia- </a:t>
            </a:r>
            <a:r>
              <a:rPr lang="en-US" dirty="0"/>
              <a:t>rigidity, stiffness, and slowness of involuntary movements. </a:t>
            </a:r>
          </a:p>
          <a:p>
            <a:pPr marL="514350" indent="-514350">
              <a:buAutoNum type="arabicPeriod"/>
            </a:pPr>
            <a:endParaRPr lang="en-US" dirty="0"/>
          </a:p>
          <a:p>
            <a:endParaRPr lang="en-US" dirty="0"/>
          </a:p>
        </p:txBody>
      </p:sp>
    </p:spTree>
    <p:extLst>
      <p:ext uri="{BB962C8B-B14F-4D97-AF65-F5344CB8AC3E}">
        <p14:creationId xmlns:p14="http://schemas.microsoft.com/office/powerpoint/2010/main" val="215591225"/>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S/E </a:t>
            </a: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10000"/>
          </a:bodyPr>
          <a:lstStyle/>
          <a:p>
            <a:pPr marL="0" indent="0">
              <a:buNone/>
            </a:pPr>
            <a:r>
              <a:rPr lang="en-US" dirty="0" smtClean="0"/>
              <a:t>2. </a:t>
            </a:r>
            <a:r>
              <a:rPr lang="en-US" b="1" dirty="0" smtClean="0"/>
              <a:t>Autonomic </a:t>
            </a:r>
            <a:r>
              <a:rPr lang="en-US" b="1" dirty="0"/>
              <a:t>nervous system S.E </a:t>
            </a:r>
          </a:p>
          <a:p>
            <a:pPr marL="0" indent="0">
              <a:buNone/>
            </a:pPr>
            <a:endParaRPr lang="en-US" dirty="0"/>
          </a:p>
          <a:p>
            <a:pPr marL="0" indent="0">
              <a:buNone/>
            </a:pPr>
            <a:r>
              <a:rPr lang="en-US" dirty="0"/>
              <a:t>Symptoms due to interference with Ach[anticholinergic/ </a:t>
            </a:r>
            <a:r>
              <a:rPr lang="en-US" dirty="0" err="1"/>
              <a:t>antimuscarinic</a:t>
            </a:r>
            <a:r>
              <a:rPr lang="en-US" dirty="0"/>
              <a:t> effect] : dry mouth, blurred vision, constipation, urinary retention, reduced GIT motility. </a:t>
            </a:r>
          </a:p>
          <a:p>
            <a:pPr marL="0" indent="0">
              <a:buNone/>
            </a:pPr>
            <a:r>
              <a:rPr lang="en-US" dirty="0" smtClean="0"/>
              <a:t>Symptoms </a:t>
            </a:r>
            <a:r>
              <a:rPr lang="en-US" dirty="0"/>
              <a:t>due to interference with epinephrine [anti-adrenergic effect] : orthostatic hypotension, ejaculation inhibition </a:t>
            </a:r>
          </a:p>
          <a:p>
            <a:pPr marL="0" indent="0">
              <a:buNone/>
            </a:pPr>
            <a:r>
              <a:rPr lang="en-US" dirty="0" smtClean="0"/>
              <a:t>Hypotension </a:t>
            </a:r>
            <a:r>
              <a:rPr lang="en-US" dirty="0"/>
              <a:t>and interference with temperature regulation </a:t>
            </a:r>
          </a:p>
          <a:p>
            <a:pPr marL="0" indent="0">
              <a:buNone/>
            </a:pPr>
            <a:r>
              <a:rPr lang="en-US" dirty="0" smtClean="0"/>
              <a:t>Drowsiness</a:t>
            </a:r>
            <a:r>
              <a:rPr lang="en-US" dirty="0"/>
              <a:t>, Apathy, and Insomnia, Convulsions, dizziness, headache, confusion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17318173"/>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 </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3. </a:t>
            </a:r>
            <a:r>
              <a:rPr lang="en-US" b="1" dirty="0" smtClean="0"/>
              <a:t>Endocrine </a:t>
            </a:r>
            <a:r>
              <a:rPr lang="en-US" b="1" dirty="0"/>
              <a:t>disruption </a:t>
            </a:r>
            <a:endParaRPr lang="en-US" dirty="0"/>
          </a:p>
          <a:p>
            <a:pPr marL="0" indent="0">
              <a:buNone/>
            </a:pPr>
            <a:r>
              <a:rPr lang="en-US" dirty="0"/>
              <a:t>Menstrual </a:t>
            </a:r>
            <a:r>
              <a:rPr lang="en-US" dirty="0" smtClean="0"/>
              <a:t>irregularities</a:t>
            </a:r>
          </a:p>
          <a:p>
            <a:pPr marL="0" indent="0">
              <a:buNone/>
            </a:pPr>
            <a:r>
              <a:rPr lang="en-US" dirty="0" smtClean="0"/>
              <a:t>- </a:t>
            </a:r>
            <a:r>
              <a:rPr lang="en-US" dirty="0"/>
              <a:t>amenorrhea menstrual disturbances </a:t>
            </a:r>
          </a:p>
          <a:p>
            <a:pPr marL="0" indent="0">
              <a:buNone/>
            </a:pPr>
            <a:r>
              <a:rPr lang="en-US" dirty="0"/>
              <a:t>- </a:t>
            </a:r>
            <a:r>
              <a:rPr lang="en-US" dirty="0" err="1"/>
              <a:t>Galactorrhoea</a:t>
            </a:r>
            <a:r>
              <a:rPr lang="en-US" dirty="0"/>
              <a:t>, </a:t>
            </a:r>
            <a:endParaRPr lang="en-US" dirty="0" smtClean="0"/>
          </a:p>
          <a:p>
            <a:pPr marL="0" indent="0">
              <a:buNone/>
            </a:pPr>
            <a:r>
              <a:rPr lang="en-US" dirty="0" smtClean="0"/>
              <a:t>- </a:t>
            </a:r>
            <a:r>
              <a:rPr lang="en-US" dirty="0"/>
              <a:t>Impotence </a:t>
            </a:r>
          </a:p>
          <a:p>
            <a:pPr marL="0" indent="0">
              <a:buNone/>
            </a:pPr>
            <a:r>
              <a:rPr lang="en-US" dirty="0"/>
              <a:t>- Breast enlargement </a:t>
            </a:r>
          </a:p>
          <a:p>
            <a:pPr marL="0" indent="0">
              <a:buNone/>
            </a:pPr>
            <a:r>
              <a:rPr lang="en-US" dirty="0"/>
              <a:t>- Weight gain </a:t>
            </a:r>
          </a:p>
          <a:p>
            <a:endParaRPr lang="en-US" dirty="0"/>
          </a:p>
        </p:txBody>
      </p:sp>
    </p:spTree>
    <p:extLst>
      <p:ext uri="{BB962C8B-B14F-4D97-AF65-F5344CB8AC3E}">
        <p14:creationId xmlns:p14="http://schemas.microsoft.com/office/powerpoint/2010/main" val="3135924019"/>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 </a:t>
            </a:r>
            <a:endParaRPr lang="en-US" dirty="0"/>
          </a:p>
        </p:txBody>
      </p:sp>
      <p:sp>
        <p:nvSpPr>
          <p:cNvPr id="3" name="Content Placeholder 2"/>
          <p:cNvSpPr>
            <a:spLocks noGrp="1"/>
          </p:cNvSpPr>
          <p:nvPr>
            <p:ph idx="1"/>
          </p:nvPr>
        </p:nvSpPr>
        <p:spPr/>
        <p:txBody>
          <a:bodyPr/>
          <a:lstStyle/>
          <a:p>
            <a:pPr marL="0" indent="0">
              <a:buNone/>
            </a:pPr>
            <a:r>
              <a:rPr lang="en-US" dirty="0" smtClean="0"/>
              <a:t>4. </a:t>
            </a:r>
            <a:r>
              <a:rPr lang="en-US" b="1" dirty="0" smtClean="0"/>
              <a:t>Skin </a:t>
            </a:r>
            <a:endParaRPr lang="en-US" dirty="0"/>
          </a:p>
          <a:p>
            <a:endParaRPr lang="en-US" dirty="0"/>
          </a:p>
          <a:p>
            <a:pPr marL="0" indent="0">
              <a:buNone/>
            </a:pPr>
            <a:r>
              <a:rPr lang="en-US" dirty="0"/>
              <a:t>Photosensitivity </a:t>
            </a:r>
          </a:p>
          <a:p>
            <a:pPr marL="0" indent="0">
              <a:buNone/>
            </a:pPr>
            <a:r>
              <a:rPr lang="en-US" dirty="0" smtClean="0"/>
              <a:t>Pigment deposits </a:t>
            </a:r>
          </a:p>
          <a:p>
            <a:pPr marL="0" indent="0">
              <a:buNone/>
            </a:pPr>
            <a:r>
              <a:rPr lang="en-US" dirty="0" smtClean="0"/>
              <a:t> Contact reaction and rashes </a:t>
            </a:r>
          </a:p>
          <a:p>
            <a:pPr marL="0" indent="0">
              <a:buNone/>
            </a:pPr>
            <a:endParaRPr lang="en-US" dirty="0"/>
          </a:p>
        </p:txBody>
      </p:sp>
    </p:spTree>
    <p:extLst>
      <p:ext uri="{BB962C8B-B14F-4D97-AF65-F5344CB8AC3E}">
        <p14:creationId xmlns:p14="http://schemas.microsoft.com/office/powerpoint/2010/main" val="3783720266"/>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smtClean="0"/>
              <a:t>ANTIDEPRESSANT DRUGS </a:t>
            </a:r>
            <a:r>
              <a:rPr lang="en-US" dirty="0"/>
              <a:t/>
            </a:r>
            <a:br>
              <a:rPr lang="en-US" dirty="0"/>
            </a:br>
            <a:endParaRPr lang="en-US" dirty="0"/>
          </a:p>
        </p:txBody>
      </p:sp>
      <p:sp>
        <p:nvSpPr>
          <p:cNvPr id="3" name="Content Placeholder 2"/>
          <p:cNvSpPr>
            <a:spLocks noGrp="1"/>
          </p:cNvSpPr>
          <p:nvPr>
            <p:ph idx="1"/>
          </p:nvPr>
        </p:nvSpPr>
        <p:spPr>
          <a:xfrm>
            <a:off x="457200" y="1447800"/>
            <a:ext cx="8229600" cy="5181600"/>
          </a:xfrm>
        </p:spPr>
        <p:txBody>
          <a:bodyPr>
            <a:normAutofit/>
          </a:bodyPr>
          <a:lstStyle/>
          <a:p>
            <a:r>
              <a:rPr lang="en-US" dirty="0"/>
              <a:t>Depression is the reduction of </a:t>
            </a:r>
            <a:r>
              <a:rPr lang="en-US" dirty="0" smtClean="0"/>
              <a:t>5HT </a:t>
            </a:r>
            <a:r>
              <a:rPr lang="en-US" dirty="0"/>
              <a:t>and </a:t>
            </a:r>
            <a:r>
              <a:rPr lang="en-US" dirty="0" smtClean="0"/>
              <a:t>N-E </a:t>
            </a:r>
            <a:r>
              <a:rPr lang="en-US" dirty="0"/>
              <a:t>neurotransmitters in the brain. </a:t>
            </a:r>
          </a:p>
          <a:p>
            <a:r>
              <a:rPr lang="en-US" dirty="0"/>
              <a:t>Pharmacological approach is emphasized though ECT is used for delusional or severe form of life threatening depression. </a:t>
            </a:r>
          </a:p>
          <a:p>
            <a:r>
              <a:rPr lang="en-US" dirty="0"/>
              <a:t>The aim of treating depression is to increase neurotransmitters: serotonin and norepinephrine effect in post synapses. </a:t>
            </a:r>
          </a:p>
        </p:txBody>
      </p:sp>
    </p:spTree>
    <p:extLst>
      <p:ext uri="{BB962C8B-B14F-4D97-AF65-F5344CB8AC3E}">
        <p14:creationId xmlns:p14="http://schemas.microsoft.com/office/powerpoint/2010/main" val="447310459"/>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a:t/>
            </a:r>
            <a:br>
              <a:rPr lang="en-US" dirty="0"/>
            </a:br>
            <a:r>
              <a:rPr lang="en-US" b="1" dirty="0"/>
              <a:t>TCA [ tricyclic antidepressants] </a:t>
            </a:r>
            <a:r>
              <a:rPr lang="en-US" dirty="0"/>
              <a:t/>
            </a:r>
            <a:br>
              <a:rPr lang="en-US" dirty="0"/>
            </a:br>
            <a:endParaRPr lang="en-US" dirty="0"/>
          </a:p>
        </p:txBody>
      </p:sp>
      <p:sp>
        <p:nvSpPr>
          <p:cNvPr id="3" name="Content Placeholder 2"/>
          <p:cNvSpPr>
            <a:spLocks noGrp="1"/>
          </p:cNvSpPr>
          <p:nvPr>
            <p:ph idx="1"/>
          </p:nvPr>
        </p:nvSpPr>
        <p:spPr>
          <a:xfrm>
            <a:off x="457200" y="990600"/>
            <a:ext cx="8229600" cy="5486400"/>
          </a:xfrm>
        </p:spPr>
        <p:txBody>
          <a:bodyPr>
            <a:normAutofit fontScale="92500"/>
          </a:bodyPr>
          <a:lstStyle/>
          <a:p>
            <a:r>
              <a:rPr lang="en-US" dirty="0"/>
              <a:t>Chemically resembles </a:t>
            </a:r>
            <a:r>
              <a:rPr lang="en-US" dirty="0" err="1" smtClean="0"/>
              <a:t>phenothiazines</a:t>
            </a:r>
            <a:r>
              <a:rPr lang="en-US" dirty="0" smtClean="0"/>
              <a:t>:</a:t>
            </a:r>
          </a:p>
          <a:p>
            <a:r>
              <a:rPr lang="en-US" dirty="0" err="1" smtClean="0"/>
              <a:t>Eg’s</a:t>
            </a:r>
            <a:r>
              <a:rPr lang="en-US" dirty="0" smtClean="0"/>
              <a:t> Imipramine</a:t>
            </a:r>
            <a:r>
              <a:rPr lang="en-US" dirty="0"/>
              <a:t>, </a:t>
            </a:r>
            <a:r>
              <a:rPr lang="en-US" dirty="0" smtClean="0"/>
              <a:t>Amitriptyline, </a:t>
            </a:r>
            <a:r>
              <a:rPr lang="en-US" dirty="0" err="1" smtClean="0"/>
              <a:t>Trimipramine</a:t>
            </a:r>
            <a:r>
              <a:rPr lang="en-US" dirty="0" smtClean="0"/>
              <a:t>, </a:t>
            </a:r>
            <a:r>
              <a:rPr lang="en-US" dirty="0" err="1" smtClean="0"/>
              <a:t>Nortriptylin</a:t>
            </a:r>
            <a:r>
              <a:rPr lang="en-US" dirty="0" smtClean="0"/>
              <a:t>, </a:t>
            </a:r>
            <a:r>
              <a:rPr lang="en-US" dirty="0" err="1" smtClean="0"/>
              <a:t>Despramine</a:t>
            </a:r>
            <a:r>
              <a:rPr lang="en-US" dirty="0" smtClean="0"/>
              <a:t>, </a:t>
            </a:r>
            <a:r>
              <a:rPr lang="en-US" dirty="0" err="1" smtClean="0"/>
              <a:t>Protriptylin</a:t>
            </a:r>
            <a:r>
              <a:rPr lang="en-US" dirty="0" smtClean="0"/>
              <a:t>, Clomipramine, </a:t>
            </a:r>
            <a:r>
              <a:rPr lang="en-US" dirty="0" err="1" smtClean="0"/>
              <a:t>Doxepine</a:t>
            </a:r>
            <a:r>
              <a:rPr lang="en-US" dirty="0" smtClean="0"/>
              <a:t> </a:t>
            </a:r>
          </a:p>
          <a:p>
            <a:r>
              <a:rPr lang="en-US" dirty="0"/>
              <a:t>TCA inhibits uptake of </a:t>
            </a:r>
            <a:r>
              <a:rPr lang="en-US" dirty="0" err="1"/>
              <a:t>norepineprine</a:t>
            </a:r>
            <a:r>
              <a:rPr lang="en-US" dirty="0"/>
              <a:t> and serotonin. </a:t>
            </a:r>
            <a:endParaRPr lang="en-US" dirty="0" smtClean="0"/>
          </a:p>
          <a:p>
            <a:r>
              <a:rPr lang="en-US" dirty="0"/>
              <a:t>Advantages: They have faster onset of action, less sedating, less autonomic effects, less toxic in overdose. </a:t>
            </a:r>
          </a:p>
          <a:p>
            <a:r>
              <a:rPr lang="en-US" dirty="0"/>
              <a:t>Have a lower incidence of anti-muscarinic side-effects, such as dry mouth and constipation </a:t>
            </a:r>
          </a:p>
          <a:p>
            <a:endParaRPr lang="en-US" dirty="0"/>
          </a:p>
        </p:txBody>
      </p:sp>
    </p:spTree>
    <p:extLst>
      <p:ext uri="{BB962C8B-B14F-4D97-AF65-F5344CB8AC3E}">
        <p14:creationId xmlns:p14="http://schemas.microsoft.com/office/powerpoint/2010/main" val="1723002534"/>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TCA INDICATIONS </a:t>
            </a:r>
            <a:endParaRPr lang="en-US" dirty="0"/>
          </a:p>
        </p:txBody>
      </p:sp>
      <p:sp>
        <p:nvSpPr>
          <p:cNvPr id="3" name="Content Placeholder 2"/>
          <p:cNvSpPr>
            <a:spLocks noGrp="1"/>
          </p:cNvSpPr>
          <p:nvPr>
            <p:ph idx="1"/>
          </p:nvPr>
        </p:nvSpPr>
        <p:spPr>
          <a:xfrm>
            <a:off x="457200" y="990600"/>
            <a:ext cx="8229600" cy="5562600"/>
          </a:xfrm>
        </p:spPr>
        <p:txBody>
          <a:bodyPr>
            <a:normAutofit fontScale="92500" lnSpcReduction="10000"/>
          </a:bodyPr>
          <a:lstStyle/>
          <a:p>
            <a:endParaRPr lang="en-US" dirty="0"/>
          </a:p>
          <a:p>
            <a:r>
              <a:rPr lang="en-US" dirty="0"/>
              <a:t>Moderate to severe endogenous depression associated with psychomotor and physiological changes such as loss of appetite and sleep disturbances. </a:t>
            </a:r>
          </a:p>
          <a:p>
            <a:r>
              <a:rPr lang="en-US" dirty="0" smtClean="0"/>
              <a:t>Amitriptyline </a:t>
            </a:r>
            <a:r>
              <a:rPr lang="en-US" dirty="0"/>
              <a:t>and Nortriptyline are used in the treatment of neuropathic pain e.g. post herpetic neuralgia </a:t>
            </a:r>
          </a:p>
          <a:p>
            <a:r>
              <a:rPr lang="en-US" dirty="0" smtClean="0"/>
              <a:t>Amitriptyline</a:t>
            </a:r>
            <a:r>
              <a:rPr lang="en-US" dirty="0"/>
              <a:t>, and imipramine are indicated for nocturnal enuresis </a:t>
            </a:r>
          </a:p>
          <a:p>
            <a:r>
              <a:rPr lang="en-US" dirty="0" err="1" smtClean="0"/>
              <a:t>Doxepine</a:t>
            </a:r>
            <a:r>
              <a:rPr lang="en-US" dirty="0" smtClean="0"/>
              <a:t> </a:t>
            </a:r>
            <a:r>
              <a:rPr lang="en-US" dirty="0"/>
              <a:t>5% - A topical preparation containing is used to relief pruritus in eczema </a:t>
            </a:r>
          </a:p>
          <a:p>
            <a:endParaRPr lang="en-US" dirty="0"/>
          </a:p>
        </p:txBody>
      </p:sp>
    </p:spTree>
    <p:extLst>
      <p:ext uri="{BB962C8B-B14F-4D97-AF65-F5344CB8AC3E}">
        <p14:creationId xmlns:p14="http://schemas.microsoft.com/office/powerpoint/2010/main" val="2773564116"/>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a:t>SSRIs [ selective serotonin reuptake inhibitors] </a:t>
            </a:r>
            <a:r>
              <a:rPr lang="en-US" dirty="0"/>
              <a:t/>
            </a:r>
            <a:br>
              <a:rPr lang="en-US" dirty="0"/>
            </a:br>
            <a:endParaRPr lang="en-US" dirty="0"/>
          </a:p>
        </p:txBody>
      </p:sp>
      <p:sp>
        <p:nvSpPr>
          <p:cNvPr id="3" name="Content Placeholder 2"/>
          <p:cNvSpPr>
            <a:spLocks noGrp="1"/>
          </p:cNvSpPr>
          <p:nvPr>
            <p:ph idx="1"/>
          </p:nvPr>
        </p:nvSpPr>
        <p:spPr>
          <a:xfrm>
            <a:off x="457200" y="1371600"/>
            <a:ext cx="8229600" cy="4754563"/>
          </a:xfrm>
        </p:spPr>
        <p:txBody>
          <a:bodyPr>
            <a:normAutofit lnSpcReduction="10000"/>
          </a:bodyPr>
          <a:lstStyle/>
          <a:p>
            <a:pPr marL="0" indent="0">
              <a:buNone/>
            </a:pPr>
            <a:endParaRPr lang="en-US" dirty="0"/>
          </a:p>
          <a:p>
            <a:r>
              <a:rPr lang="en-US" dirty="0"/>
              <a:t>SSRIs have fewer </a:t>
            </a:r>
            <a:r>
              <a:rPr lang="en-US" dirty="0" err="1"/>
              <a:t>antimuscarinic</a:t>
            </a:r>
            <a:r>
              <a:rPr lang="en-US" dirty="0"/>
              <a:t> side-effects than the older tricyclics, are less sedating, and are safe in overdose thus are widely used. </a:t>
            </a:r>
          </a:p>
          <a:p>
            <a:r>
              <a:rPr lang="en-US" dirty="0"/>
              <a:t>- They are also preferred to tricyclic antidepressants for depression in patients with diabetes. </a:t>
            </a:r>
          </a:p>
          <a:p>
            <a:r>
              <a:rPr lang="en-US" dirty="0"/>
              <a:t>- SSRIs should not be used if a patient enters a manic phase </a:t>
            </a:r>
          </a:p>
          <a:p>
            <a:endParaRPr lang="en-US" dirty="0"/>
          </a:p>
        </p:txBody>
      </p:sp>
    </p:spTree>
    <p:extLst>
      <p:ext uri="{BB962C8B-B14F-4D97-AF65-F5344CB8AC3E}">
        <p14:creationId xmlns:p14="http://schemas.microsoft.com/office/powerpoint/2010/main" val="1533500212"/>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SSRI </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endParaRPr lang="en-US" dirty="0"/>
          </a:p>
          <a:p>
            <a:r>
              <a:rPr lang="en-US" dirty="0"/>
              <a:t>Fluoxetine </a:t>
            </a:r>
          </a:p>
          <a:p>
            <a:r>
              <a:rPr lang="en-US" dirty="0" smtClean="0"/>
              <a:t>Fluvoxamine </a:t>
            </a:r>
            <a:r>
              <a:rPr lang="en-US" dirty="0"/>
              <a:t>- depressive illness, </a:t>
            </a:r>
            <a:r>
              <a:rPr lang="en-US" dirty="0" err="1"/>
              <a:t>obssesive</a:t>
            </a:r>
            <a:r>
              <a:rPr lang="en-US" dirty="0"/>
              <a:t>-compulsive disorder </a:t>
            </a:r>
          </a:p>
          <a:p>
            <a:r>
              <a:rPr lang="en-US" dirty="0" smtClean="0"/>
              <a:t>Paroxetine- </a:t>
            </a:r>
            <a:r>
              <a:rPr lang="en-US" dirty="0"/>
              <a:t>depressive illness, </a:t>
            </a:r>
            <a:r>
              <a:rPr lang="en-US" dirty="0" err="1"/>
              <a:t>obssesive</a:t>
            </a:r>
            <a:r>
              <a:rPr lang="en-US" dirty="0"/>
              <a:t>-compulsive disorder, panic disorder, social phobia, post-traumatic stress disorder, </a:t>
            </a:r>
            <a:r>
              <a:rPr lang="en-US" dirty="0" err="1"/>
              <a:t>generalised</a:t>
            </a:r>
            <a:r>
              <a:rPr lang="en-US" dirty="0"/>
              <a:t> anxiety disorder </a:t>
            </a:r>
          </a:p>
          <a:p>
            <a:r>
              <a:rPr lang="en-US" dirty="0" smtClean="0"/>
              <a:t>Sertraline </a:t>
            </a:r>
            <a:r>
              <a:rPr lang="en-US" dirty="0"/>
              <a:t>- depressive illness, </a:t>
            </a:r>
            <a:r>
              <a:rPr lang="en-US" dirty="0" err="1"/>
              <a:t>obssesive</a:t>
            </a:r>
            <a:r>
              <a:rPr lang="en-US" dirty="0"/>
              <a:t>-compulsive disorder, post-traumatic stress disorder </a:t>
            </a:r>
          </a:p>
          <a:p>
            <a:endParaRPr lang="en-US" dirty="0"/>
          </a:p>
        </p:txBody>
      </p:sp>
    </p:spTree>
    <p:extLst>
      <p:ext uri="{BB962C8B-B14F-4D97-AF65-F5344CB8AC3E}">
        <p14:creationId xmlns:p14="http://schemas.microsoft.com/office/powerpoint/2010/main" val="4034856618"/>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MOA </a:t>
            </a:r>
            <a:endParaRPr lang="en-US" dirty="0"/>
          </a:p>
        </p:txBody>
      </p:sp>
      <p:sp>
        <p:nvSpPr>
          <p:cNvPr id="3" name="Content Placeholder 2"/>
          <p:cNvSpPr>
            <a:spLocks noGrp="1"/>
          </p:cNvSpPr>
          <p:nvPr>
            <p:ph idx="1"/>
          </p:nvPr>
        </p:nvSpPr>
        <p:spPr>
          <a:xfrm>
            <a:off x="457200" y="1143000"/>
            <a:ext cx="8229600" cy="5562600"/>
          </a:xfrm>
        </p:spPr>
        <p:txBody>
          <a:bodyPr>
            <a:normAutofit fontScale="85000" lnSpcReduction="20000"/>
          </a:bodyPr>
          <a:lstStyle/>
          <a:p>
            <a:pPr marL="0" indent="0">
              <a:buNone/>
            </a:pPr>
            <a:endParaRPr lang="en-US" dirty="0" smtClean="0"/>
          </a:p>
          <a:p>
            <a:r>
              <a:rPr lang="en-US" dirty="0" smtClean="0"/>
              <a:t>SSRIs </a:t>
            </a:r>
            <a:r>
              <a:rPr lang="en-US" dirty="0"/>
              <a:t>ease depression by increasing levels of </a:t>
            </a:r>
            <a:r>
              <a:rPr lang="en-US" b="1" dirty="0"/>
              <a:t>serotonin</a:t>
            </a:r>
            <a:r>
              <a:rPr lang="en-US" dirty="0"/>
              <a:t> in the brain. </a:t>
            </a:r>
            <a:r>
              <a:rPr lang="en-US" b="1" dirty="0"/>
              <a:t>Serotonin</a:t>
            </a:r>
            <a:r>
              <a:rPr lang="en-US" dirty="0"/>
              <a:t> is one of the chemical messengers (neurotransmitters) that carry signals between brain cells. SSRIs block the reabsorption (</a:t>
            </a:r>
            <a:r>
              <a:rPr lang="en-US" b="1" dirty="0"/>
              <a:t>reuptake</a:t>
            </a:r>
            <a:r>
              <a:rPr lang="en-US" dirty="0"/>
              <a:t>) of </a:t>
            </a:r>
            <a:r>
              <a:rPr lang="en-US" b="1" dirty="0"/>
              <a:t>serotonin</a:t>
            </a:r>
            <a:r>
              <a:rPr lang="en-US" dirty="0"/>
              <a:t> in the brain, making more </a:t>
            </a:r>
            <a:r>
              <a:rPr lang="en-US" b="1" dirty="0"/>
              <a:t>serotonin</a:t>
            </a:r>
            <a:r>
              <a:rPr lang="en-US" dirty="0"/>
              <a:t> </a:t>
            </a:r>
            <a:r>
              <a:rPr lang="en-US" dirty="0" smtClean="0"/>
              <a:t>available</a:t>
            </a:r>
          </a:p>
          <a:p>
            <a:r>
              <a:rPr lang="en-US" b="1" dirty="0"/>
              <a:t>S/E </a:t>
            </a:r>
            <a:endParaRPr lang="en-US" dirty="0"/>
          </a:p>
          <a:p>
            <a:r>
              <a:rPr lang="en-US" dirty="0" smtClean="0"/>
              <a:t>Gastrointestinal </a:t>
            </a:r>
            <a:r>
              <a:rPr lang="en-US" dirty="0"/>
              <a:t>such as nausea and vomiting </a:t>
            </a:r>
          </a:p>
          <a:p>
            <a:r>
              <a:rPr lang="en-US" dirty="0" smtClean="0"/>
              <a:t>Fluoxetine </a:t>
            </a:r>
            <a:r>
              <a:rPr lang="en-US" dirty="0"/>
              <a:t>- changes in blood sugar, fever, neuroleptic malignant syndrome-like event </a:t>
            </a:r>
          </a:p>
          <a:p>
            <a:r>
              <a:rPr lang="en-US" dirty="0" smtClean="0"/>
              <a:t>Sertraline </a:t>
            </a:r>
            <a:r>
              <a:rPr lang="en-US" dirty="0"/>
              <a:t>- tachycardia, confusion, amnesia, aggressive </a:t>
            </a:r>
            <a:r>
              <a:rPr lang="en-US" dirty="0" err="1"/>
              <a:t>behaviour</a:t>
            </a:r>
            <a:r>
              <a:rPr lang="en-US" dirty="0"/>
              <a:t>, psychosis, pancreatitis, hepatitis, jaundice, liver failure, menstrual irregularities, </a:t>
            </a:r>
            <a:r>
              <a:rPr lang="en-US" dirty="0" err="1"/>
              <a:t>paraesthesia</a:t>
            </a:r>
            <a:r>
              <a:rPr lang="en-US" dirty="0"/>
              <a:t>, </a:t>
            </a:r>
            <a:r>
              <a:rPr lang="en-US" dirty="0" err="1"/>
              <a:t>thrombocytopaenia</a:t>
            </a:r>
            <a:r>
              <a:rPr lang="en-US" dirty="0"/>
              <a:t> </a:t>
            </a:r>
          </a:p>
          <a:p>
            <a:endParaRPr lang="en-US" dirty="0"/>
          </a:p>
        </p:txBody>
      </p:sp>
    </p:spTree>
    <p:extLst>
      <p:ext uri="{BB962C8B-B14F-4D97-AF65-F5344CB8AC3E}">
        <p14:creationId xmlns:p14="http://schemas.microsoft.com/office/powerpoint/2010/main" val="3753295350"/>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b="1" dirty="0" smtClean="0"/>
              <a:t>MAOIs</a:t>
            </a:r>
            <a:br>
              <a:rPr lang="en-US" b="1" dirty="0" smtClean="0"/>
            </a:br>
            <a:r>
              <a:rPr lang="en-US" b="1" dirty="0" smtClean="0"/>
              <a:t>MONO AMINE OXIDASE INHIBITORS </a:t>
            </a:r>
            <a:r>
              <a:rPr lang="en-US" dirty="0"/>
              <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fontScale="77500" lnSpcReduction="20000"/>
          </a:bodyPr>
          <a:lstStyle/>
          <a:p>
            <a:r>
              <a:rPr lang="en-US" dirty="0"/>
              <a:t>They inhibit monoamine oxidase thereby causing an accumulation of amine neurotransmitters. </a:t>
            </a:r>
          </a:p>
          <a:p>
            <a:r>
              <a:rPr lang="en-US" dirty="0"/>
              <a:t>MAOIs are rarely used because of the dangers of dietary and drug interactions. </a:t>
            </a:r>
            <a:r>
              <a:rPr lang="en-US" b="1" dirty="0"/>
              <a:t>Classification </a:t>
            </a:r>
            <a:endParaRPr lang="en-US" dirty="0"/>
          </a:p>
          <a:p>
            <a:r>
              <a:rPr lang="en-US" dirty="0" smtClean="0"/>
              <a:t>Irreversible </a:t>
            </a:r>
            <a:r>
              <a:rPr lang="en-US" dirty="0"/>
              <a:t>MAOIs:- </a:t>
            </a:r>
            <a:r>
              <a:rPr lang="en-US" dirty="0" err="1"/>
              <a:t>Phenelzine</a:t>
            </a:r>
            <a:r>
              <a:rPr lang="en-US" dirty="0"/>
              <a:t>, </a:t>
            </a:r>
            <a:r>
              <a:rPr lang="en-US" dirty="0" err="1"/>
              <a:t>Isocarboxazid</a:t>
            </a:r>
            <a:r>
              <a:rPr lang="en-US" dirty="0"/>
              <a:t>, Tranylcypromine </a:t>
            </a:r>
          </a:p>
          <a:p>
            <a:r>
              <a:rPr lang="en-US" dirty="0" smtClean="0"/>
              <a:t>Reversible </a:t>
            </a:r>
            <a:r>
              <a:rPr lang="en-US" dirty="0"/>
              <a:t>MAOIs:- </a:t>
            </a:r>
            <a:r>
              <a:rPr lang="en-US" dirty="0" err="1"/>
              <a:t>Moclobemide</a:t>
            </a:r>
            <a:r>
              <a:rPr lang="en-US" dirty="0"/>
              <a:t> </a:t>
            </a:r>
          </a:p>
          <a:p>
            <a:pPr marL="0" indent="0">
              <a:buNone/>
            </a:pPr>
            <a:r>
              <a:rPr lang="en-US" b="1" dirty="0" smtClean="0"/>
              <a:t>			S/E </a:t>
            </a:r>
            <a:endParaRPr lang="en-US" dirty="0"/>
          </a:p>
          <a:p>
            <a:r>
              <a:rPr lang="en-US" dirty="0"/>
              <a:t>Sleep disturbances, dizziness, gastrointestinal disorders, headache, restlessness, agitation, </a:t>
            </a:r>
            <a:r>
              <a:rPr lang="en-US" dirty="0" err="1"/>
              <a:t>Antimuscarinic</a:t>
            </a:r>
            <a:r>
              <a:rPr lang="en-US" dirty="0"/>
              <a:t> effects </a:t>
            </a:r>
          </a:p>
          <a:p>
            <a:r>
              <a:rPr lang="en-US" b="1" dirty="0"/>
              <a:t>Indications </a:t>
            </a:r>
            <a:endParaRPr lang="en-US" dirty="0"/>
          </a:p>
          <a:p>
            <a:r>
              <a:rPr lang="en-US" dirty="0" smtClean="0"/>
              <a:t>Phobic </a:t>
            </a:r>
            <a:r>
              <a:rPr lang="en-US" dirty="0"/>
              <a:t>patients </a:t>
            </a:r>
          </a:p>
          <a:p>
            <a:r>
              <a:rPr lang="en-US" dirty="0" smtClean="0"/>
              <a:t>Depressed </a:t>
            </a:r>
            <a:r>
              <a:rPr lang="en-US" dirty="0"/>
              <a:t>patients with hysterical features </a:t>
            </a:r>
          </a:p>
          <a:p>
            <a:endParaRPr lang="en-US" dirty="0"/>
          </a:p>
        </p:txBody>
      </p:sp>
    </p:spTree>
    <p:extLst>
      <p:ext uri="{BB962C8B-B14F-4D97-AF65-F5344CB8AC3E}">
        <p14:creationId xmlns:p14="http://schemas.microsoft.com/office/powerpoint/2010/main" val="93599883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MAOI Indications </a:t>
            </a:r>
            <a:endParaRPr lang="en-US" dirty="0"/>
          </a:p>
        </p:txBody>
      </p:sp>
      <p:sp>
        <p:nvSpPr>
          <p:cNvPr id="3" name="Content Placeholder 2"/>
          <p:cNvSpPr>
            <a:spLocks noGrp="1"/>
          </p:cNvSpPr>
          <p:nvPr>
            <p:ph idx="1"/>
          </p:nvPr>
        </p:nvSpPr>
        <p:spPr>
          <a:xfrm>
            <a:off x="457200" y="1066800"/>
            <a:ext cx="8229600" cy="5486400"/>
          </a:xfrm>
        </p:spPr>
        <p:txBody>
          <a:bodyPr>
            <a:normAutofit fontScale="92500"/>
          </a:bodyPr>
          <a:lstStyle/>
          <a:p>
            <a:endParaRPr lang="en-US" dirty="0"/>
          </a:p>
          <a:p>
            <a:r>
              <a:rPr lang="en-US" dirty="0"/>
              <a:t>Major depression of moderate and severe degree </a:t>
            </a:r>
          </a:p>
          <a:p>
            <a:r>
              <a:rPr lang="en-US" dirty="0" smtClean="0"/>
              <a:t>Major </a:t>
            </a:r>
            <a:r>
              <a:rPr lang="en-US" dirty="0"/>
              <a:t>depression associated with a general medical condition </a:t>
            </a:r>
          </a:p>
          <a:p>
            <a:r>
              <a:rPr lang="en-US" dirty="0" smtClean="0"/>
              <a:t>Major </a:t>
            </a:r>
            <a:r>
              <a:rPr lang="en-US" dirty="0"/>
              <a:t>depression with postpartum onset </a:t>
            </a:r>
          </a:p>
          <a:p>
            <a:r>
              <a:rPr lang="en-US" dirty="0" smtClean="0"/>
              <a:t>Dysthymia </a:t>
            </a:r>
            <a:r>
              <a:rPr lang="en-US" dirty="0"/>
              <a:t>(low grade chronic depression) </a:t>
            </a:r>
          </a:p>
          <a:p>
            <a:r>
              <a:rPr lang="en-US" dirty="0" smtClean="0"/>
              <a:t>Chronic </a:t>
            </a:r>
            <a:r>
              <a:rPr lang="en-US" dirty="0"/>
              <a:t>anxiety (of longer than 4wks duration) before using a benzodiazepine. </a:t>
            </a:r>
          </a:p>
          <a:p>
            <a:r>
              <a:rPr lang="en-US" dirty="0" smtClean="0"/>
              <a:t>Generalized </a:t>
            </a:r>
            <a:r>
              <a:rPr lang="en-US" dirty="0"/>
              <a:t>anxiety disorder </a:t>
            </a:r>
          </a:p>
          <a:p>
            <a:r>
              <a:rPr lang="en-US" dirty="0" smtClean="0"/>
              <a:t>Panic </a:t>
            </a:r>
            <a:r>
              <a:rPr lang="en-US" dirty="0"/>
              <a:t>disorders and Phobias </a:t>
            </a:r>
          </a:p>
          <a:p>
            <a:endParaRPr lang="en-US" dirty="0"/>
          </a:p>
        </p:txBody>
      </p:sp>
    </p:spTree>
    <p:extLst>
      <p:ext uri="{BB962C8B-B14F-4D97-AF65-F5344CB8AC3E}">
        <p14:creationId xmlns:p14="http://schemas.microsoft.com/office/powerpoint/2010/main" val="3434807429"/>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MX OF DEPRESSION –PT </a:t>
            </a:r>
            <a:endParaRPr lang="en-US" dirty="0"/>
          </a:p>
        </p:txBody>
      </p:sp>
      <p:sp>
        <p:nvSpPr>
          <p:cNvPr id="3" name="Content Placeholder 2"/>
          <p:cNvSpPr>
            <a:spLocks noGrp="1"/>
          </p:cNvSpPr>
          <p:nvPr>
            <p:ph idx="1"/>
          </p:nvPr>
        </p:nvSpPr>
        <p:spPr>
          <a:xfrm>
            <a:off x="457200" y="1447800"/>
            <a:ext cx="8229600" cy="5410200"/>
          </a:xfrm>
        </p:spPr>
        <p:txBody>
          <a:bodyPr>
            <a:normAutofit fontScale="70000" lnSpcReduction="20000"/>
          </a:bodyPr>
          <a:lstStyle/>
          <a:p>
            <a:endParaRPr lang="en-US" dirty="0"/>
          </a:p>
          <a:p>
            <a:r>
              <a:rPr lang="en-US" sz="3400" dirty="0"/>
              <a:t>Patients should be reviewed every 1-2wks at the start of antidepressant treatment. </a:t>
            </a:r>
            <a:endParaRPr lang="en-US" sz="3400" dirty="0" smtClean="0"/>
          </a:p>
          <a:p>
            <a:r>
              <a:rPr lang="en-US" sz="3400" dirty="0" smtClean="0"/>
              <a:t>Treatment </a:t>
            </a:r>
            <a:r>
              <a:rPr lang="en-US" sz="3400" dirty="0"/>
              <a:t>should be continued for at least 4wks (6wks in the elderly) before considering whether to increase dose or switch to a different antidepressant class due to lack of efficacy. </a:t>
            </a:r>
          </a:p>
          <a:p>
            <a:r>
              <a:rPr lang="en-US" sz="3400" dirty="0" smtClean="0"/>
              <a:t>In </a:t>
            </a:r>
            <a:r>
              <a:rPr lang="en-US" sz="3400" dirty="0"/>
              <a:t>cases of partial response, continue for a further 2wks (elderly patients may take longer to respond) </a:t>
            </a:r>
          </a:p>
          <a:p>
            <a:r>
              <a:rPr lang="en-US" sz="3400" dirty="0" smtClean="0"/>
              <a:t>Following </a:t>
            </a:r>
            <a:r>
              <a:rPr lang="en-US" sz="3400" dirty="0"/>
              <a:t>remission, </a:t>
            </a:r>
            <a:r>
              <a:rPr lang="en-US" sz="3400" dirty="0" smtClean="0"/>
              <a:t>Rx should </a:t>
            </a:r>
            <a:r>
              <a:rPr lang="en-US" sz="3400" dirty="0"/>
              <a:t>be </a:t>
            </a:r>
            <a:r>
              <a:rPr lang="en-US" sz="3400" dirty="0" err="1" smtClean="0"/>
              <a:t>ct</a:t>
            </a:r>
            <a:r>
              <a:rPr lang="en-US" sz="3400" dirty="0" smtClean="0"/>
              <a:t> at </a:t>
            </a:r>
            <a:r>
              <a:rPr lang="en-US" sz="3400" dirty="0"/>
              <a:t>the same dose for at least 4-6 months (about 12 months in the elderly) </a:t>
            </a:r>
          </a:p>
          <a:p>
            <a:r>
              <a:rPr lang="en-US" sz="3400" dirty="0" smtClean="0"/>
              <a:t>Patients </a:t>
            </a:r>
            <a:r>
              <a:rPr lang="en-US" sz="3400" dirty="0"/>
              <a:t>with a history of recurrent depression should continue to receive maintenance treatment (for at least 5 years and possibly indefinitely) </a:t>
            </a:r>
          </a:p>
          <a:p>
            <a:pPr marL="0" indent="0">
              <a:buNone/>
            </a:pPr>
            <a:r>
              <a:rPr lang="en-US" sz="3400" b="1" dirty="0" smtClean="0"/>
              <a:t>NOTE : Combination </a:t>
            </a:r>
            <a:r>
              <a:rPr lang="en-US" sz="3400" b="1" dirty="0"/>
              <a:t>of two antidepressants can be dangerous and is rarely </a:t>
            </a:r>
            <a:r>
              <a:rPr lang="en-US" sz="3400" b="1" dirty="0" smtClean="0"/>
              <a:t>justified</a:t>
            </a:r>
          </a:p>
          <a:p>
            <a:pPr marL="0" indent="0">
              <a:buNone/>
            </a:pPr>
            <a:endParaRPr lang="en-US" sz="3400" dirty="0"/>
          </a:p>
        </p:txBody>
      </p:sp>
    </p:spTree>
    <p:extLst>
      <p:ext uri="{BB962C8B-B14F-4D97-AF65-F5344CB8AC3E}">
        <p14:creationId xmlns:p14="http://schemas.microsoft.com/office/powerpoint/2010/main" val="3128796682"/>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Antidepressants- </a:t>
            </a:r>
            <a:r>
              <a:rPr lang="en-US" b="1" dirty="0"/>
              <a:t>Withdrawal </a:t>
            </a:r>
            <a:r>
              <a:rPr lang="en-US" b="1" dirty="0" smtClean="0"/>
              <a:t>Signs</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US" dirty="0" smtClean="0"/>
              <a:t>GIT </a:t>
            </a:r>
            <a:r>
              <a:rPr lang="en-US" dirty="0"/>
              <a:t>symptoms of </a:t>
            </a:r>
            <a:r>
              <a:rPr lang="en-US" dirty="0" smtClean="0"/>
              <a:t>N&amp;V, </a:t>
            </a:r>
            <a:r>
              <a:rPr lang="en-US" dirty="0"/>
              <a:t>and anorexia, accompanied by headache and insomnia, and sometimes by hypomania, panic-anxiety, and extreme motor restlessness may occur if an antidepressant (particularly an MAOI) is stopped suddenly after regular administration for 8wks or more. </a:t>
            </a:r>
          </a:p>
          <a:p>
            <a:r>
              <a:rPr lang="en-US" dirty="0"/>
              <a:t>The dose should preferably be reduced gradually over about 4wks, or longer if withdrawal symptoms emerge (6 months in patients who have been on long-term maintenance treatment) </a:t>
            </a:r>
          </a:p>
        </p:txBody>
      </p:sp>
    </p:spTree>
    <p:extLst>
      <p:ext uri="{BB962C8B-B14F-4D97-AF65-F5344CB8AC3E}">
        <p14:creationId xmlns:p14="http://schemas.microsoft.com/office/powerpoint/2010/main" val="1064473976"/>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r>
              <a:rPr lang="en-US" b="1" dirty="0" smtClean="0"/>
              <a:t/>
            </a:r>
            <a:br>
              <a:rPr lang="en-US" b="1" dirty="0" smtClean="0"/>
            </a:br>
            <a:r>
              <a:rPr lang="en-US" b="1" dirty="0" smtClean="0"/>
              <a:t>Antidepressants </a:t>
            </a:r>
            <a:r>
              <a:rPr lang="en-US" b="1" dirty="0"/>
              <a:t>Common Interactions </a:t>
            </a:r>
            <a:r>
              <a:rPr lang="en-US" dirty="0"/>
              <a:t/>
            </a:r>
            <a:br>
              <a:rPr lang="en-US" dirty="0"/>
            </a:br>
            <a:endParaRPr lang="en-US" dirty="0"/>
          </a:p>
        </p:txBody>
      </p:sp>
      <p:sp>
        <p:nvSpPr>
          <p:cNvPr id="3" name="Content Placeholder 2"/>
          <p:cNvSpPr>
            <a:spLocks noGrp="1"/>
          </p:cNvSpPr>
          <p:nvPr>
            <p:ph idx="1"/>
          </p:nvPr>
        </p:nvSpPr>
        <p:spPr>
          <a:xfrm>
            <a:off x="457200" y="1600200"/>
            <a:ext cx="8229600" cy="5105400"/>
          </a:xfrm>
        </p:spPr>
        <p:txBody>
          <a:bodyPr/>
          <a:lstStyle/>
          <a:p>
            <a:r>
              <a:rPr lang="en-US" dirty="0" smtClean="0"/>
              <a:t>A </a:t>
            </a:r>
            <a:r>
              <a:rPr lang="en-US" dirty="0"/>
              <a:t>tricyclic or an SSRI should not be started until 1-2wks after stopping an MAOI (3wks if starting clomipramine or imipramine) </a:t>
            </a:r>
          </a:p>
          <a:p>
            <a:r>
              <a:rPr lang="en-US" dirty="0" smtClean="0"/>
              <a:t>Conversely</a:t>
            </a:r>
            <a:r>
              <a:rPr lang="en-US" dirty="0"/>
              <a:t>, an MAOI should not be started until at least 1-2wks after a Tricyclic (3wks in case of clomipramine or imipramine) has been stopped </a:t>
            </a:r>
          </a:p>
          <a:p>
            <a:r>
              <a:rPr lang="en-US" b="1" dirty="0" smtClean="0"/>
              <a:t>READ ON OTHER INTERACTIONS </a:t>
            </a:r>
          </a:p>
          <a:p>
            <a:pPr lvl="1"/>
            <a:r>
              <a:rPr lang="en-US" dirty="0" smtClean="0"/>
              <a:t>Food drug interactions </a:t>
            </a:r>
            <a:endParaRPr lang="en-US" dirty="0"/>
          </a:p>
        </p:txBody>
      </p:sp>
    </p:spTree>
    <p:extLst>
      <p:ext uri="{BB962C8B-B14F-4D97-AF65-F5344CB8AC3E}">
        <p14:creationId xmlns:p14="http://schemas.microsoft.com/office/powerpoint/2010/main" val="726149051"/>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Electroconvulsive Therapy </a:t>
            </a:r>
            <a:endParaRPr lang="en-US" dirty="0"/>
          </a:p>
        </p:txBody>
      </p:sp>
      <p:sp>
        <p:nvSpPr>
          <p:cNvPr id="3" name="Content Placeholder 2"/>
          <p:cNvSpPr>
            <a:spLocks noGrp="1"/>
          </p:cNvSpPr>
          <p:nvPr>
            <p:ph idx="1"/>
          </p:nvPr>
        </p:nvSpPr>
        <p:spPr>
          <a:xfrm>
            <a:off x="457200" y="1600201"/>
            <a:ext cx="8229600" cy="990600"/>
          </a:xfrm>
        </p:spPr>
        <p:txBody>
          <a:bodyPr>
            <a:normAutofit lnSpcReduction="10000"/>
          </a:bodyPr>
          <a:lstStyle/>
          <a:p>
            <a:r>
              <a:rPr lang="en-US" smtClean="0"/>
              <a:t>ECT </a:t>
            </a:r>
            <a:r>
              <a:rPr lang="en-US" dirty="0" smtClean="0"/>
              <a:t>is </a:t>
            </a:r>
            <a:r>
              <a:rPr lang="en-US" dirty="0"/>
              <a:t>the use of electrically induced seizures for therapeutic purposes.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19400"/>
            <a:ext cx="7924799"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878613"/>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M.O.A </a:t>
            </a:r>
            <a:endParaRPr lang="en-US" dirty="0"/>
          </a:p>
        </p:txBody>
      </p:sp>
      <p:sp>
        <p:nvSpPr>
          <p:cNvPr id="3" name="Content Placeholder 2"/>
          <p:cNvSpPr>
            <a:spLocks noGrp="1"/>
          </p:cNvSpPr>
          <p:nvPr>
            <p:ph idx="1"/>
          </p:nvPr>
        </p:nvSpPr>
        <p:spPr/>
        <p:txBody>
          <a:bodyPr>
            <a:normAutofit fontScale="92500" lnSpcReduction="10000"/>
          </a:bodyPr>
          <a:lstStyle/>
          <a:p>
            <a:r>
              <a:rPr lang="en-US" dirty="0"/>
              <a:t>Electroconvulsive therapy has many central nervous system effects on; </a:t>
            </a:r>
          </a:p>
          <a:p>
            <a:r>
              <a:rPr lang="en-US" dirty="0" smtClean="0"/>
              <a:t>Changes </a:t>
            </a:r>
            <a:r>
              <a:rPr lang="en-US" dirty="0"/>
              <a:t>in the EEG </a:t>
            </a:r>
          </a:p>
          <a:p>
            <a:r>
              <a:rPr lang="en-US" dirty="0" smtClean="0"/>
              <a:t>Hypothalamic </a:t>
            </a:r>
            <a:r>
              <a:rPr lang="en-US" dirty="0"/>
              <a:t>hormone secretion </a:t>
            </a:r>
          </a:p>
          <a:p>
            <a:r>
              <a:rPr lang="en-US" dirty="0" smtClean="0"/>
              <a:t>Calcium </a:t>
            </a:r>
            <a:r>
              <a:rPr lang="en-US" dirty="0"/>
              <a:t>metabolism </a:t>
            </a:r>
          </a:p>
          <a:p>
            <a:r>
              <a:rPr lang="en-US" dirty="0" smtClean="0"/>
              <a:t>increases </a:t>
            </a:r>
            <a:r>
              <a:rPr lang="en-US" dirty="0"/>
              <a:t>Biogenic amine levels </a:t>
            </a:r>
          </a:p>
          <a:p>
            <a:r>
              <a:rPr lang="en-US" dirty="0" smtClean="0"/>
              <a:t>Receptor </a:t>
            </a:r>
            <a:r>
              <a:rPr lang="en-US" dirty="0"/>
              <a:t>sensitivity </a:t>
            </a:r>
          </a:p>
          <a:p>
            <a:r>
              <a:rPr lang="en-US" dirty="0"/>
              <a:t>The </a:t>
            </a:r>
            <a:r>
              <a:rPr lang="en-US" b="1" dirty="0"/>
              <a:t>amnesia </a:t>
            </a:r>
            <a:r>
              <a:rPr lang="en-US" dirty="0"/>
              <a:t>precipitated by ECT may itself contribute to the improvement. </a:t>
            </a:r>
          </a:p>
        </p:txBody>
      </p:sp>
    </p:spTree>
    <p:extLst>
      <p:ext uri="{BB962C8B-B14F-4D97-AF65-F5344CB8AC3E}">
        <p14:creationId xmlns:p14="http://schemas.microsoft.com/office/powerpoint/2010/main" val="1208559077"/>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Technique </a:t>
            </a:r>
            <a:r>
              <a:rPr lang="en-US" b="1" dirty="0" smtClean="0"/>
              <a:t>Of ECT </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pPr marL="0" indent="0">
              <a:buNone/>
            </a:pPr>
            <a:r>
              <a:rPr lang="en-US" b="1" dirty="0" smtClean="0"/>
              <a:t>1. Pre-ECT </a:t>
            </a:r>
            <a:r>
              <a:rPr lang="en-US" b="1" dirty="0"/>
              <a:t>psychiatric history and examination </a:t>
            </a:r>
            <a:r>
              <a:rPr lang="en-US" dirty="0"/>
              <a:t>should be done </a:t>
            </a:r>
          </a:p>
          <a:p>
            <a:pPr marL="0" indent="0">
              <a:buNone/>
            </a:pPr>
            <a:r>
              <a:rPr lang="en-US" b="1" dirty="0" smtClean="0"/>
              <a:t>2. Management </a:t>
            </a:r>
            <a:r>
              <a:rPr lang="en-US" b="1" dirty="0"/>
              <a:t>Before and During the ECT Course – </a:t>
            </a:r>
            <a:endParaRPr lang="en-US" dirty="0"/>
          </a:p>
          <a:p>
            <a:pPr>
              <a:buFont typeface="Wingdings" panose="05000000000000000000" pitchFamily="2" charset="2"/>
              <a:buChar char="v"/>
            </a:pPr>
            <a:r>
              <a:rPr lang="en-US" dirty="0" smtClean="0"/>
              <a:t> </a:t>
            </a:r>
            <a:r>
              <a:rPr lang="en-US" dirty="0"/>
              <a:t>most psychotropic agents should be discontinued prior to administration of ECT, with the exception of </a:t>
            </a:r>
            <a:r>
              <a:rPr lang="en-US" b="1" dirty="0"/>
              <a:t>antipsychotic medication </a:t>
            </a:r>
            <a:r>
              <a:rPr lang="en-US" dirty="0"/>
              <a:t>in patients who have </a:t>
            </a:r>
            <a:r>
              <a:rPr lang="en-US" b="1" dirty="0"/>
              <a:t>psychotic ideation, </a:t>
            </a:r>
            <a:r>
              <a:rPr lang="en-US" dirty="0"/>
              <a:t>particularly </a:t>
            </a:r>
            <a:r>
              <a:rPr lang="en-US" b="1" dirty="0"/>
              <a:t>schizophrenia. </a:t>
            </a:r>
            <a:endParaRPr lang="en-US" dirty="0"/>
          </a:p>
          <a:p>
            <a:pPr>
              <a:buFont typeface="Wingdings" panose="05000000000000000000" pitchFamily="2" charset="2"/>
              <a:buChar char="v"/>
            </a:pPr>
            <a:r>
              <a:rPr lang="en-US" dirty="0" smtClean="0"/>
              <a:t> </a:t>
            </a:r>
            <a:r>
              <a:rPr lang="en-US" b="1" dirty="0"/>
              <a:t>Informed consent </a:t>
            </a:r>
            <a:endParaRPr lang="en-US" dirty="0"/>
          </a:p>
          <a:p>
            <a:pPr>
              <a:buFont typeface="Wingdings" panose="05000000000000000000" pitchFamily="2" charset="2"/>
              <a:buChar char="v"/>
            </a:pPr>
            <a:r>
              <a:rPr lang="en-US" dirty="0" smtClean="0"/>
              <a:t> </a:t>
            </a:r>
            <a:r>
              <a:rPr lang="en-US" dirty="0"/>
              <a:t>Pre-</a:t>
            </a:r>
            <a:r>
              <a:rPr lang="en-US" dirty="0" err="1"/>
              <a:t>anaesthetic</a:t>
            </a:r>
            <a:r>
              <a:rPr lang="en-US" dirty="0"/>
              <a:t> fast (</a:t>
            </a:r>
            <a:r>
              <a:rPr lang="en-US" dirty="0" err="1"/>
              <a:t>nill</a:t>
            </a:r>
            <a:r>
              <a:rPr lang="en-US" dirty="0"/>
              <a:t> per oral) for 6-8 </a:t>
            </a:r>
            <a:r>
              <a:rPr lang="en-US" dirty="0" err="1"/>
              <a:t>hrs</a:t>
            </a:r>
            <a:r>
              <a:rPr lang="en-US" dirty="0"/>
              <a:t> before ECT </a:t>
            </a:r>
          </a:p>
          <a:p>
            <a:pPr>
              <a:buFont typeface="Wingdings" panose="05000000000000000000" pitchFamily="2" charset="2"/>
              <a:buChar char="v"/>
            </a:pPr>
            <a:r>
              <a:rPr lang="en-US" b="1" dirty="0" smtClean="0"/>
              <a:t>Atropine </a:t>
            </a:r>
            <a:r>
              <a:rPr lang="en-US" dirty="0"/>
              <a:t>is given to </a:t>
            </a:r>
            <a:r>
              <a:rPr lang="en-US" b="1" dirty="0"/>
              <a:t>minimize oropharyngeal secretions </a:t>
            </a:r>
            <a:endParaRPr lang="en-US" dirty="0"/>
          </a:p>
          <a:p>
            <a:pPr>
              <a:buFont typeface="Wingdings" panose="05000000000000000000" pitchFamily="2" charset="2"/>
              <a:buChar char="v"/>
            </a:pPr>
            <a:r>
              <a:rPr lang="en-US" dirty="0" smtClean="0"/>
              <a:t>The </a:t>
            </a:r>
            <a:r>
              <a:rPr lang="en-US" dirty="0"/>
              <a:t>electrode sites are carefully cleaned. </a:t>
            </a:r>
          </a:p>
        </p:txBody>
      </p:sp>
    </p:spTree>
    <p:extLst>
      <p:ext uri="{BB962C8B-B14F-4D97-AF65-F5344CB8AC3E}">
        <p14:creationId xmlns:p14="http://schemas.microsoft.com/office/powerpoint/2010/main" val="329549801"/>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Technique –ECT </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pPr marL="0" indent="0">
              <a:buNone/>
            </a:pPr>
            <a:r>
              <a:rPr lang="en-US" dirty="0" smtClean="0"/>
              <a:t>3. The </a:t>
            </a:r>
            <a:r>
              <a:rPr lang="en-US" dirty="0"/>
              <a:t>patient is then </a:t>
            </a:r>
            <a:r>
              <a:rPr lang="en-US" b="1" dirty="0"/>
              <a:t>oxygenated </a:t>
            </a:r>
            <a:r>
              <a:rPr lang="en-US" dirty="0"/>
              <a:t>with an </a:t>
            </a:r>
            <a:r>
              <a:rPr lang="en-US" dirty="0" err="1"/>
              <a:t>Ambu</a:t>
            </a:r>
            <a:r>
              <a:rPr lang="en-US" dirty="0"/>
              <a:t> bag; Patients should receive 100% oxygen by mask using positive pressure ventilation at a respiratory rate of approximately 15 per minute. </a:t>
            </a:r>
          </a:p>
          <a:p>
            <a:pPr marL="0" indent="0">
              <a:buNone/>
            </a:pPr>
            <a:r>
              <a:rPr lang="en-US" dirty="0" smtClean="0"/>
              <a:t>4. </a:t>
            </a:r>
            <a:r>
              <a:rPr lang="en-US" dirty="0" err="1" smtClean="0"/>
              <a:t>Anaesthesia</a:t>
            </a:r>
            <a:r>
              <a:rPr lang="en-US" dirty="0" smtClean="0"/>
              <a:t> </a:t>
            </a:r>
            <a:r>
              <a:rPr lang="en-US" dirty="0"/>
              <a:t>is induced using a </a:t>
            </a:r>
            <a:r>
              <a:rPr lang="en-US" b="1" dirty="0"/>
              <a:t>short-acting barbiturate intravenously e.g. </a:t>
            </a:r>
            <a:r>
              <a:rPr lang="en-US" b="1" dirty="0" err="1"/>
              <a:t>methohexital</a:t>
            </a:r>
            <a:r>
              <a:rPr lang="en-US" b="1" dirty="0"/>
              <a:t>, </a:t>
            </a:r>
            <a:r>
              <a:rPr lang="en-US" dirty="0"/>
              <a:t>to provide amnesia for the effects of the muscular paralysis and the electrical stimulus. </a:t>
            </a:r>
          </a:p>
          <a:p>
            <a:pPr>
              <a:buFont typeface="Wingdings" panose="05000000000000000000" pitchFamily="2" charset="2"/>
              <a:buChar char="q"/>
            </a:pPr>
            <a:r>
              <a:rPr lang="en-US" b="1" dirty="0" smtClean="0"/>
              <a:t>Ketamine</a:t>
            </a:r>
            <a:r>
              <a:rPr lang="en-US" dirty="0" smtClean="0"/>
              <a:t>; does </a:t>
            </a:r>
            <a:r>
              <a:rPr lang="en-US" dirty="0"/>
              <a:t>not raise seizure threshold, is an alternative </a:t>
            </a:r>
            <a:r>
              <a:rPr lang="en-US" dirty="0" err="1"/>
              <a:t>anaesthetic</a:t>
            </a:r>
            <a:r>
              <a:rPr lang="en-US" dirty="0"/>
              <a:t> agent for patients with very </a:t>
            </a:r>
            <a:r>
              <a:rPr lang="en-US" b="1" dirty="0"/>
              <a:t>high seizure thresholds. </a:t>
            </a:r>
            <a:endParaRPr lang="en-US" dirty="0"/>
          </a:p>
        </p:txBody>
      </p:sp>
    </p:spTree>
    <p:extLst>
      <p:ext uri="{BB962C8B-B14F-4D97-AF65-F5344CB8AC3E}">
        <p14:creationId xmlns:p14="http://schemas.microsoft.com/office/powerpoint/2010/main" val="3327916765"/>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Technique-ECT </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5. Insertion </a:t>
            </a:r>
            <a:r>
              <a:rPr lang="en-US" dirty="0"/>
              <a:t>of mouth gag to prevent tongue biting during the electrical stimulus. </a:t>
            </a:r>
          </a:p>
          <a:p>
            <a:pPr marL="0" indent="0">
              <a:buNone/>
            </a:pPr>
            <a:r>
              <a:rPr lang="en-US" dirty="0" smtClean="0"/>
              <a:t>6. Muscle </a:t>
            </a:r>
            <a:r>
              <a:rPr lang="en-US" dirty="0"/>
              <a:t>relaxant: </a:t>
            </a:r>
            <a:r>
              <a:rPr lang="en-US" b="1" dirty="0"/>
              <a:t>Succinylcholine </a:t>
            </a:r>
            <a:r>
              <a:rPr lang="en-US" dirty="0"/>
              <a:t>because of its rapid action and extremely short half-life, is administered to </a:t>
            </a:r>
            <a:r>
              <a:rPr lang="en-US" b="1" dirty="0"/>
              <a:t>induce muscle relaxation </a:t>
            </a:r>
            <a:r>
              <a:rPr lang="en-US" dirty="0"/>
              <a:t>which is confirmed by e.g., testing with a nerve stimulator, looking for termination of </a:t>
            </a:r>
            <a:r>
              <a:rPr lang="en-US" dirty="0" err="1"/>
              <a:t>fasciculations</a:t>
            </a:r>
            <a:r>
              <a:rPr lang="en-US" dirty="0"/>
              <a:t>, or testing plantar response. </a:t>
            </a:r>
          </a:p>
          <a:p>
            <a:pPr marL="0" indent="0">
              <a:buNone/>
            </a:pPr>
            <a:r>
              <a:rPr lang="en-US" dirty="0" smtClean="0"/>
              <a:t>7. During </a:t>
            </a:r>
            <a:r>
              <a:rPr lang="en-US" dirty="0" err="1"/>
              <a:t>anaesthetic</a:t>
            </a:r>
            <a:r>
              <a:rPr lang="en-US" dirty="0"/>
              <a:t> monitor </a:t>
            </a:r>
            <a:r>
              <a:rPr lang="en-US" b="1" dirty="0" smtClean="0"/>
              <a:t>RR, SPO2</a:t>
            </a:r>
            <a:r>
              <a:rPr lang="en-US" dirty="0" smtClean="0"/>
              <a:t>, </a:t>
            </a:r>
            <a:r>
              <a:rPr lang="en-US" b="1" dirty="0" smtClean="0"/>
              <a:t>BP, </a:t>
            </a:r>
            <a:r>
              <a:rPr lang="en-US" b="1" dirty="0"/>
              <a:t>and </a:t>
            </a:r>
            <a:r>
              <a:rPr lang="en-US" b="1" dirty="0" smtClean="0"/>
              <a:t>HR </a:t>
            </a:r>
            <a:r>
              <a:rPr lang="en-US" dirty="0" smtClean="0"/>
              <a:t>from </a:t>
            </a:r>
            <a:r>
              <a:rPr lang="en-US" dirty="0"/>
              <a:t>prior to </a:t>
            </a:r>
            <a:r>
              <a:rPr lang="en-US" dirty="0" err="1"/>
              <a:t>anaesthesia</a:t>
            </a:r>
            <a:r>
              <a:rPr lang="en-US" dirty="0"/>
              <a:t> induction up to the time the patient recovers </a:t>
            </a:r>
            <a:endParaRPr lang="en-US" dirty="0" smtClean="0"/>
          </a:p>
          <a:p>
            <a:pPr marL="0" indent="0">
              <a:buNone/>
            </a:pPr>
            <a:endParaRPr lang="en-US" dirty="0"/>
          </a:p>
        </p:txBody>
      </p:sp>
    </p:spTree>
    <p:extLst>
      <p:ext uri="{BB962C8B-B14F-4D97-AF65-F5344CB8AC3E}">
        <p14:creationId xmlns:p14="http://schemas.microsoft.com/office/powerpoint/2010/main" val="4168531580"/>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Technique –ECT </a:t>
            </a:r>
            <a:endParaRPr lang="en-US" dirty="0"/>
          </a:p>
        </p:txBody>
      </p:sp>
      <p:sp>
        <p:nvSpPr>
          <p:cNvPr id="3" name="Content Placeholder 2"/>
          <p:cNvSpPr>
            <a:spLocks noGrp="1"/>
          </p:cNvSpPr>
          <p:nvPr>
            <p:ph idx="1"/>
          </p:nvPr>
        </p:nvSpPr>
        <p:spPr>
          <a:xfrm>
            <a:off x="457200" y="1143000"/>
            <a:ext cx="8229600" cy="5562600"/>
          </a:xfrm>
        </p:spPr>
        <p:txBody>
          <a:bodyPr>
            <a:normAutofit fontScale="70000" lnSpcReduction="20000"/>
          </a:bodyPr>
          <a:lstStyle/>
          <a:p>
            <a:pPr marL="0" indent="0">
              <a:buNone/>
            </a:pPr>
            <a:r>
              <a:rPr lang="en-US" dirty="0" smtClean="0"/>
              <a:t>8. Electrode </a:t>
            </a:r>
            <a:r>
              <a:rPr lang="en-US" dirty="0"/>
              <a:t>Placement </a:t>
            </a:r>
          </a:p>
          <a:p>
            <a:r>
              <a:rPr lang="en-US" b="1" dirty="0" smtClean="0"/>
              <a:t>Right </a:t>
            </a:r>
            <a:r>
              <a:rPr lang="en-US" b="1" dirty="0"/>
              <a:t>unilateral (RUL) ECT </a:t>
            </a:r>
            <a:r>
              <a:rPr lang="en-US" dirty="0"/>
              <a:t>- the electrodes placed over </a:t>
            </a:r>
            <a:r>
              <a:rPr lang="en-US" b="1" dirty="0"/>
              <a:t>the cerebral hemisphere opposite the dominant for speech</a:t>
            </a:r>
            <a:r>
              <a:rPr lang="en-US" dirty="0"/>
              <a:t>, thereby relatively sparing verbal memory function </a:t>
            </a:r>
          </a:p>
          <a:p>
            <a:r>
              <a:rPr lang="en-US" b="1" dirty="0" smtClean="0"/>
              <a:t>Bilateral </a:t>
            </a:r>
            <a:r>
              <a:rPr lang="en-US" b="1" dirty="0"/>
              <a:t>(BL) ECT - E</a:t>
            </a:r>
            <a:r>
              <a:rPr lang="en-US" dirty="0"/>
              <a:t>lectrodes are applied </a:t>
            </a:r>
            <a:r>
              <a:rPr lang="en-US" b="1" dirty="0" err="1"/>
              <a:t>bitemporally</a:t>
            </a:r>
            <a:r>
              <a:rPr lang="en-US" b="1" dirty="0"/>
              <a:t> </a:t>
            </a:r>
            <a:endParaRPr lang="en-US" dirty="0"/>
          </a:p>
          <a:p>
            <a:r>
              <a:rPr lang="en-US" dirty="0" smtClean="0"/>
              <a:t>The </a:t>
            </a:r>
            <a:r>
              <a:rPr lang="en-US" b="1" dirty="0"/>
              <a:t>electrical stimulus is applied. </a:t>
            </a:r>
            <a:endParaRPr lang="en-US" dirty="0"/>
          </a:p>
          <a:p>
            <a:r>
              <a:rPr lang="en-US" b="1" dirty="0" smtClean="0"/>
              <a:t>Seizure </a:t>
            </a:r>
            <a:r>
              <a:rPr lang="en-US" b="1" dirty="0"/>
              <a:t>monitoring </a:t>
            </a:r>
            <a:endParaRPr lang="en-US" dirty="0"/>
          </a:p>
          <a:p>
            <a:pPr marL="0" indent="0">
              <a:buNone/>
            </a:pPr>
            <a:r>
              <a:rPr lang="en-US" dirty="0" smtClean="0"/>
              <a:t>	- </a:t>
            </a:r>
            <a:r>
              <a:rPr lang="en-US" dirty="0"/>
              <a:t>Since many ECT machines have a built-in EEG monitor, </a:t>
            </a:r>
            <a:r>
              <a:rPr lang="en-US" dirty="0" smtClean="0"/>
              <a:t>	the 	seizure </a:t>
            </a:r>
            <a:r>
              <a:rPr lang="en-US" dirty="0"/>
              <a:t>itself may be directly monitored. </a:t>
            </a:r>
          </a:p>
          <a:p>
            <a:pPr marL="0" indent="0">
              <a:buNone/>
            </a:pPr>
            <a:r>
              <a:rPr lang="en-US" dirty="0"/>
              <a:t>	</a:t>
            </a:r>
            <a:r>
              <a:rPr lang="en-US" b="1" dirty="0" smtClean="0"/>
              <a:t>Seizure </a:t>
            </a:r>
            <a:r>
              <a:rPr lang="en-US" b="1" dirty="0"/>
              <a:t>duration is monitored </a:t>
            </a:r>
            <a:r>
              <a:rPr lang="en-US" dirty="0"/>
              <a:t>by the detection of the </a:t>
            </a:r>
            <a:r>
              <a:rPr lang="en-US" dirty="0" smtClean="0"/>
              <a:t>	presence </a:t>
            </a:r>
            <a:r>
              <a:rPr lang="en-US" dirty="0"/>
              <a:t>and duration of the motor convulsive </a:t>
            </a:r>
            <a:r>
              <a:rPr lang="en-US" dirty="0" smtClean="0"/>
              <a:t>	response</a:t>
            </a:r>
            <a:r>
              <a:rPr lang="en-US" dirty="0"/>
              <a:t>. </a:t>
            </a:r>
            <a:endParaRPr lang="en-US" dirty="0" smtClean="0"/>
          </a:p>
          <a:p>
            <a:r>
              <a:rPr lang="en-US" dirty="0"/>
              <a:t>If no EEG is available, </a:t>
            </a:r>
            <a:r>
              <a:rPr lang="en-US" dirty="0" smtClean="0"/>
              <a:t>BP cuff </a:t>
            </a:r>
            <a:r>
              <a:rPr lang="en-US" dirty="0"/>
              <a:t>inflated to above systolic pressure is fastened on the ankle before administration of muscle relaxant to prevent the effects of muscle relaxation. </a:t>
            </a:r>
          </a:p>
          <a:p>
            <a:r>
              <a:rPr lang="en-US" b="1" dirty="0" smtClean="0"/>
              <a:t>PT is </a:t>
            </a:r>
            <a:r>
              <a:rPr lang="en-US" b="1" dirty="0"/>
              <a:t>monitored carefully until alert. </a:t>
            </a:r>
            <a:endParaRPr lang="en-US" dirty="0"/>
          </a:p>
          <a:p>
            <a:r>
              <a:rPr lang="en-US" dirty="0" smtClean="0"/>
              <a:t>After </a:t>
            </a:r>
            <a:r>
              <a:rPr lang="en-US" dirty="0"/>
              <a:t>initial recovery, </a:t>
            </a:r>
            <a:r>
              <a:rPr lang="en-US" b="1" dirty="0"/>
              <a:t>vital signs and cognitive status </a:t>
            </a:r>
            <a:r>
              <a:rPr lang="en-US" dirty="0"/>
              <a:t>are monitored in the ward for 6 hours </a:t>
            </a:r>
          </a:p>
        </p:txBody>
      </p:sp>
    </p:spTree>
    <p:extLst>
      <p:ext uri="{BB962C8B-B14F-4D97-AF65-F5344CB8AC3E}">
        <p14:creationId xmlns:p14="http://schemas.microsoft.com/office/powerpoint/2010/main" val="3802515201"/>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ECT </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20000"/>
          </a:bodyPr>
          <a:lstStyle/>
          <a:p>
            <a:r>
              <a:rPr lang="en-US" dirty="0"/>
              <a:t>Electroconvulsive therapy is administered </a:t>
            </a:r>
            <a:r>
              <a:rPr lang="en-US" b="1" dirty="0"/>
              <a:t>two to three times a week </a:t>
            </a:r>
            <a:r>
              <a:rPr lang="en-US" dirty="0"/>
              <a:t>until a maximum therapeutic response is achieved. </a:t>
            </a:r>
          </a:p>
          <a:p>
            <a:r>
              <a:rPr lang="en-US" dirty="0"/>
              <a:t>Typically, this requires </a:t>
            </a:r>
            <a:r>
              <a:rPr lang="en-US" b="1" dirty="0"/>
              <a:t>3-20 treatments</a:t>
            </a:r>
            <a:r>
              <a:rPr lang="en-US" dirty="0"/>
              <a:t>, are given. </a:t>
            </a:r>
            <a:endParaRPr lang="en-US" dirty="0" smtClean="0"/>
          </a:p>
          <a:p>
            <a:pPr marL="0" indent="0">
              <a:buNone/>
            </a:pPr>
            <a:r>
              <a:rPr lang="en-US" b="1" dirty="0" smtClean="0"/>
              <a:t>			Indications </a:t>
            </a:r>
            <a:endParaRPr lang="en-US" dirty="0"/>
          </a:p>
          <a:p>
            <a:r>
              <a:rPr lang="en-US" dirty="0" smtClean="0"/>
              <a:t>All </a:t>
            </a:r>
            <a:r>
              <a:rPr lang="en-US" dirty="0"/>
              <a:t>mood disorders </a:t>
            </a:r>
          </a:p>
          <a:p>
            <a:r>
              <a:rPr lang="en-US" dirty="0" smtClean="0"/>
              <a:t>Acute </a:t>
            </a:r>
            <a:r>
              <a:rPr lang="en-US" dirty="0"/>
              <a:t>schizophrenic presentations; Catatonic schizophrenia; in cases of schizophrenia with strong affective symptoms. </a:t>
            </a:r>
          </a:p>
          <a:p>
            <a:r>
              <a:rPr lang="en-US" dirty="0" smtClean="0"/>
              <a:t>Schizophreniform </a:t>
            </a:r>
            <a:r>
              <a:rPr lang="en-US" dirty="0"/>
              <a:t>disorder or Schizoaffective disorder </a:t>
            </a:r>
          </a:p>
          <a:p>
            <a:r>
              <a:rPr lang="en-US" dirty="0" smtClean="0"/>
              <a:t>Catatonic </a:t>
            </a:r>
            <a:r>
              <a:rPr lang="en-US" dirty="0"/>
              <a:t>excitement </a:t>
            </a:r>
          </a:p>
        </p:txBody>
      </p:sp>
    </p:spTree>
    <p:extLst>
      <p:ext uri="{BB962C8B-B14F-4D97-AF65-F5344CB8AC3E}">
        <p14:creationId xmlns:p14="http://schemas.microsoft.com/office/powerpoint/2010/main" val="879155952"/>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Contraindications-ECT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Increased </a:t>
            </a:r>
            <a:r>
              <a:rPr lang="en-US" dirty="0"/>
              <a:t>intracranial pressure </a:t>
            </a:r>
          </a:p>
          <a:p>
            <a:r>
              <a:rPr lang="en-US" dirty="0" smtClean="0"/>
              <a:t>Intracranial </a:t>
            </a:r>
            <a:r>
              <a:rPr lang="en-US" dirty="0"/>
              <a:t>hemorrhage </a:t>
            </a:r>
          </a:p>
          <a:p>
            <a:r>
              <a:rPr lang="en-US" dirty="0" smtClean="0"/>
              <a:t>Recent </a:t>
            </a:r>
            <a:r>
              <a:rPr lang="en-US" dirty="0"/>
              <a:t>history of myocardial infarction </a:t>
            </a:r>
          </a:p>
          <a:p>
            <a:r>
              <a:rPr lang="en-US" dirty="0" smtClean="0"/>
              <a:t>Vascular </a:t>
            </a:r>
            <a:r>
              <a:rPr lang="en-US" dirty="0"/>
              <a:t>aneurysm </a:t>
            </a:r>
          </a:p>
          <a:p>
            <a:r>
              <a:rPr lang="en-US" dirty="0" smtClean="0"/>
              <a:t>Retinal </a:t>
            </a:r>
            <a:r>
              <a:rPr lang="en-US" dirty="0"/>
              <a:t>detachment </a:t>
            </a:r>
          </a:p>
        </p:txBody>
      </p:sp>
    </p:spTree>
    <p:extLst>
      <p:ext uri="{BB962C8B-B14F-4D97-AF65-F5344CB8AC3E}">
        <p14:creationId xmlns:p14="http://schemas.microsoft.com/office/powerpoint/2010/main" val="4035416424"/>
      </p:ext>
    </p:extLst>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US" b="1" dirty="0"/>
              <a:t>Adverse </a:t>
            </a:r>
            <a:r>
              <a:rPr lang="en-US" b="1" dirty="0" smtClean="0"/>
              <a:t>Effects-ECT </a:t>
            </a:r>
            <a:endParaRPr lang="en-US" dirty="0"/>
          </a:p>
        </p:txBody>
      </p:sp>
      <p:sp>
        <p:nvSpPr>
          <p:cNvPr id="3" name="Content Placeholder 2"/>
          <p:cNvSpPr>
            <a:spLocks noGrp="1"/>
          </p:cNvSpPr>
          <p:nvPr>
            <p:ph idx="1"/>
          </p:nvPr>
        </p:nvSpPr>
        <p:spPr>
          <a:xfrm>
            <a:off x="228600" y="609600"/>
            <a:ext cx="8458200" cy="6019800"/>
          </a:xfrm>
        </p:spPr>
        <p:txBody>
          <a:bodyPr>
            <a:noAutofit/>
          </a:bodyPr>
          <a:lstStyle/>
          <a:p>
            <a:pPr marL="0" indent="0">
              <a:buNone/>
            </a:pPr>
            <a:r>
              <a:rPr lang="en-US" sz="2000" b="1" dirty="0"/>
              <a:t>Risks associated with ECT increase with age </a:t>
            </a:r>
          </a:p>
          <a:p>
            <a:r>
              <a:rPr lang="en-US" sz="2000" b="1" dirty="0" smtClean="0"/>
              <a:t>Anxiety </a:t>
            </a:r>
            <a:r>
              <a:rPr lang="en-US" sz="2000" b="1" dirty="0"/>
              <a:t>and apprehension</a:t>
            </a:r>
            <a:r>
              <a:rPr lang="en-US" sz="2000" dirty="0"/>
              <a:t>, especially early in the course of treatment. </a:t>
            </a:r>
          </a:p>
          <a:p>
            <a:r>
              <a:rPr lang="en-US" sz="2000" b="1" dirty="0" smtClean="0"/>
              <a:t>Confusion Long-term </a:t>
            </a:r>
            <a:r>
              <a:rPr lang="en-US" sz="2000" b="1" dirty="0"/>
              <a:t>memory </a:t>
            </a:r>
            <a:r>
              <a:rPr lang="en-US" sz="2000" b="1" dirty="0" smtClean="0"/>
              <a:t>deficits</a:t>
            </a:r>
            <a:r>
              <a:rPr lang="en-US" sz="2000" dirty="0" smtClean="0"/>
              <a:t>,; X-</a:t>
            </a:r>
            <a:r>
              <a:rPr lang="en-US" sz="2000" dirty="0" err="1" smtClean="0"/>
              <a:t>terized</a:t>
            </a:r>
            <a:r>
              <a:rPr lang="en-US" sz="2000" dirty="0" smtClean="0"/>
              <a:t> by </a:t>
            </a:r>
            <a:r>
              <a:rPr lang="en-US" sz="2000" b="1" dirty="0" smtClean="0"/>
              <a:t>retrograde </a:t>
            </a:r>
            <a:r>
              <a:rPr lang="en-US" sz="2000" b="1" dirty="0"/>
              <a:t>amnesia</a:t>
            </a:r>
            <a:r>
              <a:rPr lang="en-US" sz="2000" dirty="0"/>
              <a:t>, that is little or no memory of the period of hospitalization and, in some cases, events just before and just after hospitalization. </a:t>
            </a:r>
            <a:endParaRPr lang="en-US" sz="2000" dirty="0" smtClean="0"/>
          </a:p>
          <a:p>
            <a:pPr marL="400050" lvl="1" indent="0">
              <a:buNone/>
            </a:pPr>
            <a:r>
              <a:rPr lang="en-US" sz="2000" b="1" dirty="0" smtClean="0"/>
              <a:t>Note: Bilateral </a:t>
            </a:r>
            <a:r>
              <a:rPr lang="en-US" sz="2000" b="1" dirty="0"/>
              <a:t>ECT </a:t>
            </a:r>
            <a:r>
              <a:rPr lang="en-US" sz="2000" dirty="0"/>
              <a:t>imposes a higher risk of memory impairment, and thus is commonly reserved for patients who have failed unilateral ECT or for those in whom rapid resolution of symptoms is of paramount importance. </a:t>
            </a:r>
          </a:p>
          <a:p>
            <a:r>
              <a:rPr lang="en-US" sz="2000" b="1" dirty="0" smtClean="0"/>
              <a:t>Prolonged </a:t>
            </a:r>
            <a:r>
              <a:rPr lang="en-US" sz="2000" dirty="0"/>
              <a:t>(</a:t>
            </a:r>
            <a:r>
              <a:rPr lang="en-US" sz="2000" b="1" dirty="0"/>
              <a:t>&gt;3 minutes</a:t>
            </a:r>
            <a:r>
              <a:rPr lang="en-US" sz="2000" dirty="0"/>
              <a:t>) </a:t>
            </a:r>
            <a:r>
              <a:rPr lang="en-US" sz="2000" b="1" dirty="0"/>
              <a:t>seizure or </a:t>
            </a:r>
            <a:r>
              <a:rPr lang="en-US" sz="2000" dirty="0"/>
              <a:t>a </a:t>
            </a:r>
            <a:r>
              <a:rPr lang="en-US" sz="2000" b="1" dirty="0"/>
              <a:t>"late" seizure </a:t>
            </a:r>
            <a:endParaRPr lang="en-US" sz="2000" dirty="0"/>
          </a:p>
          <a:p>
            <a:r>
              <a:rPr lang="en-US" sz="2000" b="1" dirty="0" smtClean="0"/>
              <a:t>Prolonged </a:t>
            </a:r>
            <a:r>
              <a:rPr lang="en-US" sz="2000" b="1" dirty="0"/>
              <a:t>apnea or laryngospasm </a:t>
            </a:r>
            <a:endParaRPr lang="en-US" sz="2000" dirty="0"/>
          </a:p>
          <a:p>
            <a:r>
              <a:rPr lang="en-US" sz="2000" b="1" dirty="0" smtClean="0"/>
              <a:t>Burns </a:t>
            </a:r>
            <a:r>
              <a:rPr lang="en-US" sz="2000" b="1" dirty="0"/>
              <a:t>from poor contact with the electrode </a:t>
            </a:r>
            <a:endParaRPr lang="en-US" sz="2000" dirty="0"/>
          </a:p>
          <a:p>
            <a:r>
              <a:rPr lang="en-US" sz="2000" b="1" dirty="0" smtClean="0"/>
              <a:t>Loose </a:t>
            </a:r>
            <a:r>
              <a:rPr lang="en-US" sz="2000" b="1" dirty="0"/>
              <a:t>or broken teeth </a:t>
            </a:r>
            <a:endParaRPr lang="en-US" sz="2000" dirty="0"/>
          </a:p>
          <a:p>
            <a:r>
              <a:rPr lang="en-US" sz="2000" b="1" dirty="0" smtClean="0"/>
              <a:t>Peripheral </a:t>
            </a:r>
            <a:r>
              <a:rPr lang="en-US" sz="2000" b="1" dirty="0"/>
              <a:t>nerve palsy </a:t>
            </a:r>
            <a:endParaRPr lang="en-US" sz="2000" dirty="0"/>
          </a:p>
          <a:p>
            <a:r>
              <a:rPr lang="en-US" sz="2000" b="1" dirty="0" smtClean="0"/>
              <a:t>Headache</a:t>
            </a:r>
            <a:r>
              <a:rPr lang="en-US" sz="2000" b="1" dirty="0"/>
              <a:t>, muscle aches, and a vague sense of confusion </a:t>
            </a:r>
            <a:r>
              <a:rPr lang="en-US" sz="2000" dirty="0"/>
              <a:t>-</a:t>
            </a:r>
            <a:r>
              <a:rPr lang="en-US" sz="2000" dirty="0" smtClean="0"/>
              <a:t> </a:t>
            </a:r>
            <a:r>
              <a:rPr lang="en-US" sz="2000" dirty="0"/>
              <a:t>few hours </a:t>
            </a:r>
            <a:r>
              <a:rPr lang="en-US" sz="2000" dirty="0" smtClean="0"/>
              <a:t>post </a:t>
            </a:r>
            <a:r>
              <a:rPr lang="en-US" sz="2000" dirty="0" err="1" smtClean="0"/>
              <a:t>rx</a:t>
            </a:r>
            <a:r>
              <a:rPr lang="en-US" sz="2000" dirty="0" smtClean="0"/>
              <a:t> </a:t>
            </a:r>
            <a:endParaRPr lang="en-US" sz="2000" dirty="0"/>
          </a:p>
          <a:p>
            <a:r>
              <a:rPr lang="en-US" sz="2000" b="1" dirty="0" smtClean="0"/>
              <a:t>Mortality </a:t>
            </a:r>
            <a:r>
              <a:rPr lang="en-US" sz="2000" b="1" dirty="0"/>
              <a:t>– </a:t>
            </a:r>
            <a:r>
              <a:rPr lang="en-US" sz="2000" dirty="0"/>
              <a:t>very low, Most deaths occur in high-risk </a:t>
            </a:r>
            <a:r>
              <a:rPr lang="en-US" sz="2000" dirty="0" smtClean="0"/>
              <a:t>cases;-</a:t>
            </a:r>
            <a:r>
              <a:rPr lang="en-US" sz="2000" dirty="0" err="1" smtClean="0"/>
              <a:t>cvs</a:t>
            </a:r>
            <a:r>
              <a:rPr lang="en-US" sz="2000" dirty="0" smtClean="0"/>
              <a:t> problem</a:t>
            </a:r>
            <a:r>
              <a:rPr lang="en-US" sz="2000" dirty="0"/>
              <a:t>, prolonged apnea, status epilepticus, or brain </a:t>
            </a:r>
            <a:r>
              <a:rPr lang="en-US" sz="2000" dirty="0" smtClean="0"/>
              <a:t>tumor. </a:t>
            </a:r>
            <a:endParaRPr lang="en-US" sz="2000" dirty="0"/>
          </a:p>
        </p:txBody>
      </p:sp>
    </p:spTree>
    <p:extLst>
      <p:ext uri="{BB962C8B-B14F-4D97-AF65-F5344CB8AC3E}">
        <p14:creationId xmlns:p14="http://schemas.microsoft.com/office/powerpoint/2010/main" val="1119077010"/>
      </p:ext>
    </p:extLst>
  </p:cSld>
  <p:clrMapOvr>
    <a:masterClrMapping/>
  </p:clrMapOvr>
  <p:timing>
    <p:tnLst>
      <p:par>
        <p:cTn id="1" dur="indefinite" restart="never" nodeType="tmRoot"/>
      </p:par>
    </p:tn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Specialized psychiatric therapies </a:t>
            </a:r>
            <a:endParaRPr lang="en-US" dirty="0"/>
          </a:p>
        </p:txBody>
      </p:sp>
      <p:sp>
        <p:nvSpPr>
          <p:cNvPr id="3" name="Content Placeholder 2"/>
          <p:cNvSpPr>
            <a:spLocks noGrp="1"/>
          </p:cNvSpPr>
          <p:nvPr>
            <p:ph idx="1"/>
          </p:nvPr>
        </p:nvSpPr>
        <p:spPr>
          <a:xfrm>
            <a:off x="457200" y="1295400"/>
            <a:ext cx="8229600" cy="5410200"/>
          </a:xfrm>
        </p:spPr>
        <p:txBody>
          <a:bodyPr>
            <a:normAutofit fontScale="85000" lnSpcReduction="20000"/>
          </a:bodyPr>
          <a:lstStyle/>
          <a:p>
            <a:r>
              <a:rPr lang="en-US" b="1" dirty="0"/>
              <a:t>Milieu therapy </a:t>
            </a:r>
            <a:endParaRPr lang="en-US" b="1" dirty="0" smtClean="0"/>
          </a:p>
          <a:p>
            <a:r>
              <a:rPr lang="en-US" b="1" dirty="0" smtClean="0"/>
              <a:t>Therapeutic community </a:t>
            </a:r>
            <a:endParaRPr lang="en-US" dirty="0"/>
          </a:p>
          <a:p>
            <a:pPr marL="0" indent="0">
              <a:buNone/>
            </a:pPr>
            <a:r>
              <a:rPr lang="en-US" b="1" dirty="0"/>
              <a:t>Milieu Therapy </a:t>
            </a:r>
            <a:r>
              <a:rPr lang="en-US" dirty="0"/>
              <a:t>is a form of psychotherapy that involves the use of therapeutic communities in which patients stay at a residence where they lead a highly structured life. Patients join a group of around 30, for between 9 and 18 months. </a:t>
            </a:r>
          </a:p>
          <a:p>
            <a:pPr marL="0" indent="0">
              <a:buNone/>
            </a:pPr>
            <a:r>
              <a:rPr lang="en-US" dirty="0"/>
              <a:t>During their stay, patients are encouraged to take responsibility for themselves and the others within the unit. </a:t>
            </a:r>
          </a:p>
          <a:p>
            <a:pPr marL="0" indent="0">
              <a:buNone/>
            </a:pPr>
            <a:r>
              <a:rPr lang="en-US" dirty="0" smtClean="0"/>
              <a:t>Milieu </a:t>
            </a:r>
            <a:r>
              <a:rPr lang="en-US" dirty="0"/>
              <a:t>therapy is thought to be of value in treating </a:t>
            </a:r>
          </a:p>
          <a:p>
            <a:pPr lvl="1"/>
            <a:r>
              <a:rPr lang="en-US" dirty="0" smtClean="0"/>
              <a:t>personality </a:t>
            </a:r>
            <a:r>
              <a:rPr lang="en-US" dirty="0"/>
              <a:t>disorders </a:t>
            </a:r>
          </a:p>
          <a:p>
            <a:pPr lvl="1"/>
            <a:r>
              <a:rPr lang="en-US" dirty="0" smtClean="0"/>
              <a:t>Behavioral </a:t>
            </a:r>
            <a:r>
              <a:rPr lang="en-US" dirty="0"/>
              <a:t>problems e.g. autistic child </a:t>
            </a:r>
          </a:p>
          <a:p>
            <a:pPr lvl="1"/>
            <a:r>
              <a:rPr lang="en-US" dirty="0" smtClean="0"/>
              <a:t>substance </a:t>
            </a:r>
            <a:r>
              <a:rPr lang="en-US" dirty="0"/>
              <a:t>abusers </a:t>
            </a:r>
          </a:p>
          <a:p>
            <a:endParaRPr lang="en-US" dirty="0"/>
          </a:p>
        </p:txBody>
      </p:sp>
    </p:spTree>
    <p:extLst>
      <p:ext uri="{BB962C8B-B14F-4D97-AF65-F5344CB8AC3E}">
        <p14:creationId xmlns:p14="http://schemas.microsoft.com/office/powerpoint/2010/main" val="1318977480"/>
      </p:ext>
    </p:extLst>
  </p:cSld>
  <p:clrMapOvr>
    <a:masterClrMapping/>
  </p:clrMapOvr>
  <p:timing>
    <p:tnLst>
      <p:par>
        <p:cTn id="1" dur="indefinite" restart="never" nodeType="tmRoot"/>
      </p:par>
    </p:tn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Artane</a:t>
            </a:r>
            <a:r>
              <a:rPr lang="en-US" dirty="0" smtClean="0"/>
              <a:t> </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a:t>Artane</a:t>
            </a:r>
            <a:r>
              <a:rPr lang="en-US" dirty="0"/>
              <a:t> is a selective M1 muscarinic acetylcholine receptor antagonist. </a:t>
            </a:r>
            <a:endParaRPr lang="en-US" dirty="0" smtClean="0"/>
          </a:p>
          <a:p>
            <a:r>
              <a:rPr lang="en-US" dirty="0" smtClean="0"/>
              <a:t>It </a:t>
            </a:r>
            <a:r>
              <a:rPr lang="en-US" dirty="0"/>
              <a:t>is able to discriminate between the M1 (cortical or neuronal) and the peripheral muscarinic subtypes (cardiac and glandular). </a:t>
            </a:r>
            <a:endParaRPr lang="en-US" dirty="0" smtClean="0"/>
          </a:p>
          <a:p>
            <a:r>
              <a:rPr lang="en-US" dirty="0" err="1" smtClean="0"/>
              <a:t>Artane</a:t>
            </a:r>
            <a:r>
              <a:rPr lang="en-US" dirty="0" smtClean="0"/>
              <a:t> </a:t>
            </a:r>
            <a:r>
              <a:rPr lang="en-US" dirty="0"/>
              <a:t>partially blocks cholinergic activity in the CNS, which is responsible for the symptoms of Parkinson's disease. </a:t>
            </a:r>
            <a:endParaRPr lang="en-US" dirty="0" smtClean="0"/>
          </a:p>
          <a:p>
            <a:r>
              <a:rPr lang="en-US" dirty="0" smtClean="0"/>
              <a:t>It </a:t>
            </a:r>
            <a:r>
              <a:rPr lang="en-US" dirty="0"/>
              <a:t>is also thought to increase the availability of dopamine, a brain chemical that is critical in the initiation and smooth control of voluntary muscle movement.</a:t>
            </a:r>
            <a:br>
              <a:rPr lang="en-US" dirty="0"/>
            </a:br>
            <a:endParaRPr lang="en-US" dirty="0"/>
          </a:p>
        </p:txBody>
      </p:sp>
    </p:spTree>
    <p:extLst>
      <p:ext uri="{BB962C8B-B14F-4D97-AF65-F5344CB8AC3E}">
        <p14:creationId xmlns:p14="http://schemas.microsoft.com/office/powerpoint/2010/main" val="2310520644"/>
      </p:ext>
    </p:extLst>
  </p:cSld>
  <p:clrMapOvr>
    <a:masterClrMapping/>
  </p:clrMapOvr>
  <p:timing>
    <p:tnLst>
      <p:par>
        <p:cTn id="1" dur="indefinite" restart="never" nodeType="tmRoot"/>
      </p:par>
    </p:tnLst>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 </a:t>
            </a:r>
            <a:endParaRPr lang="en-US" dirty="0"/>
          </a:p>
        </p:txBody>
      </p:sp>
      <p:sp>
        <p:nvSpPr>
          <p:cNvPr id="3" name="Content Placeholder 2"/>
          <p:cNvSpPr>
            <a:spLocks noGrp="1"/>
          </p:cNvSpPr>
          <p:nvPr>
            <p:ph idx="1"/>
          </p:nvPr>
        </p:nvSpPr>
        <p:spPr>
          <a:xfrm>
            <a:off x="457200" y="1600200"/>
            <a:ext cx="8229600" cy="5105400"/>
          </a:xfrm>
        </p:spPr>
        <p:txBody>
          <a:bodyPr>
            <a:normAutofit lnSpcReduction="10000"/>
          </a:bodyPr>
          <a:lstStyle/>
          <a:p>
            <a:r>
              <a:rPr lang="en-US" dirty="0" smtClean="0"/>
              <a:t>all </a:t>
            </a:r>
            <a:r>
              <a:rPr lang="en-US" dirty="0"/>
              <a:t>forms of </a:t>
            </a:r>
            <a:r>
              <a:rPr lang="en-US" dirty="0">
                <a:hlinkClick r:id="rId2"/>
              </a:rPr>
              <a:t>parkinsonism</a:t>
            </a:r>
            <a:r>
              <a:rPr lang="en-US" dirty="0"/>
              <a:t> (</a:t>
            </a:r>
            <a:r>
              <a:rPr lang="en-US" dirty="0" err="1"/>
              <a:t>postencephalitic</a:t>
            </a:r>
            <a:r>
              <a:rPr lang="en-US" dirty="0"/>
              <a:t>, arteriosclerotic, and </a:t>
            </a:r>
            <a:r>
              <a:rPr lang="en-US" dirty="0">
                <a:hlinkClick r:id="rId3"/>
              </a:rPr>
              <a:t>idiopathic</a:t>
            </a:r>
            <a:r>
              <a:rPr lang="en-US" dirty="0"/>
              <a:t>). </a:t>
            </a:r>
            <a:endParaRPr lang="en-US" dirty="0" smtClean="0"/>
          </a:p>
          <a:p>
            <a:r>
              <a:rPr lang="en-US" dirty="0" smtClean="0"/>
              <a:t>It </a:t>
            </a:r>
            <a:r>
              <a:rPr lang="en-US" dirty="0"/>
              <a:t>is often useful as </a:t>
            </a:r>
            <a:r>
              <a:rPr lang="en-US" dirty="0">
                <a:hlinkClick r:id="rId4"/>
              </a:rPr>
              <a:t>adjuvant therapy</a:t>
            </a:r>
            <a:r>
              <a:rPr lang="en-US" dirty="0"/>
              <a:t> when treating these forms of parkinsonism with levodopa. </a:t>
            </a:r>
          </a:p>
          <a:p>
            <a:r>
              <a:rPr lang="en-US" dirty="0" smtClean="0"/>
              <a:t>it </a:t>
            </a:r>
            <a:r>
              <a:rPr lang="en-US" dirty="0"/>
              <a:t>is indicated for the control of extrapyramidal disorders caused by </a:t>
            </a:r>
            <a:r>
              <a:rPr lang="en-US" dirty="0">
                <a:hlinkClick r:id="rId5"/>
              </a:rPr>
              <a:t>central nervous system</a:t>
            </a:r>
            <a:r>
              <a:rPr lang="en-US" dirty="0"/>
              <a:t> drugs such as the </a:t>
            </a:r>
            <a:r>
              <a:rPr lang="en-US" dirty="0" err="1"/>
              <a:t>dibenzoxazepines</a:t>
            </a:r>
            <a:r>
              <a:rPr lang="en-US" dirty="0"/>
              <a:t>, </a:t>
            </a:r>
            <a:r>
              <a:rPr lang="en-US" dirty="0" err="1"/>
              <a:t>phenothiazines</a:t>
            </a:r>
            <a:r>
              <a:rPr lang="en-US" dirty="0"/>
              <a:t>, </a:t>
            </a:r>
            <a:r>
              <a:rPr lang="en-US" dirty="0" err="1"/>
              <a:t>thioxanthenes</a:t>
            </a:r>
            <a:r>
              <a:rPr lang="en-US" dirty="0"/>
              <a:t>, and </a:t>
            </a:r>
            <a:r>
              <a:rPr lang="en-US" dirty="0" err="1"/>
              <a:t>butyrophenones</a:t>
            </a:r>
            <a:r>
              <a:rPr lang="en-US" dirty="0"/>
              <a:t>.</a:t>
            </a:r>
          </a:p>
        </p:txBody>
      </p:sp>
    </p:spTree>
    <p:extLst>
      <p:ext uri="{BB962C8B-B14F-4D97-AF65-F5344CB8AC3E}">
        <p14:creationId xmlns:p14="http://schemas.microsoft.com/office/powerpoint/2010/main" val="1168601811"/>
      </p:ext>
    </p:extLst>
  </p:cSld>
  <p:clrMapOvr>
    <a:masterClrMapping/>
  </p:clrMapOvr>
  <p:timing>
    <p:tnLst>
      <p:par>
        <p:cTn id="1" dur="indefinite" restart="never" nodeType="tmRoot"/>
      </p:par>
    </p:tn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 </a:t>
            </a:r>
            <a:endParaRPr lang="en-US" dirty="0"/>
          </a:p>
        </p:txBody>
      </p:sp>
      <p:sp>
        <p:nvSpPr>
          <p:cNvPr id="3" name="Content Placeholder 2"/>
          <p:cNvSpPr>
            <a:spLocks noGrp="1"/>
          </p:cNvSpPr>
          <p:nvPr>
            <p:ph idx="1"/>
          </p:nvPr>
        </p:nvSpPr>
        <p:spPr/>
        <p:txBody>
          <a:bodyPr/>
          <a:lstStyle/>
          <a:p>
            <a:r>
              <a:rPr lang="en-US" dirty="0"/>
              <a:t>Minor side </a:t>
            </a:r>
            <a:r>
              <a:rPr lang="en-US" dirty="0" smtClean="0"/>
              <a:t>effects</a:t>
            </a:r>
          </a:p>
          <a:p>
            <a:r>
              <a:rPr lang="en-US" dirty="0" smtClean="0"/>
              <a:t>dryness </a:t>
            </a:r>
            <a:r>
              <a:rPr lang="en-US" dirty="0"/>
              <a:t>of the </a:t>
            </a:r>
            <a:r>
              <a:rPr lang="en-US" dirty="0">
                <a:hlinkClick r:id="rId2"/>
              </a:rPr>
              <a:t>mouth</a:t>
            </a:r>
            <a:r>
              <a:rPr lang="en-US" dirty="0"/>
              <a:t>, </a:t>
            </a:r>
            <a:endParaRPr lang="en-US" dirty="0" smtClean="0"/>
          </a:p>
          <a:p>
            <a:r>
              <a:rPr lang="en-US" dirty="0" smtClean="0">
                <a:hlinkClick r:id="rId3"/>
              </a:rPr>
              <a:t>blurred </a:t>
            </a:r>
            <a:r>
              <a:rPr lang="en-US" dirty="0">
                <a:hlinkClick r:id="rId3"/>
              </a:rPr>
              <a:t>vision</a:t>
            </a:r>
            <a:r>
              <a:rPr lang="en-US" dirty="0"/>
              <a:t>, </a:t>
            </a:r>
            <a:endParaRPr lang="en-US" dirty="0" smtClean="0"/>
          </a:p>
          <a:p>
            <a:r>
              <a:rPr lang="en-US" dirty="0" smtClean="0"/>
              <a:t>dizziness</a:t>
            </a:r>
            <a:r>
              <a:rPr lang="en-US" dirty="0"/>
              <a:t>, </a:t>
            </a:r>
            <a:endParaRPr lang="en-US" dirty="0" smtClean="0"/>
          </a:p>
          <a:p>
            <a:r>
              <a:rPr lang="en-US" dirty="0" smtClean="0"/>
              <a:t>mild </a:t>
            </a:r>
            <a:r>
              <a:rPr lang="en-US" dirty="0" smtClean="0">
                <a:hlinkClick r:id="rId4"/>
              </a:rPr>
              <a:t>nausea</a:t>
            </a:r>
            <a:endParaRPr lang="en-US" dirty="0" smtClean="0"/>
          </a:p>
          <a:p>
            <a:r>
              <a:rPr lang="en-US" dirty="0" smtClean="0"/>
              <a:t>nervousness</a:t>
            </a:r>
            <a:endParaRPr lang="en-US" dirty="0"/>
          </a:p>
        </p:txBody>
      </p:sp>
    </p:spTree>
    <p:extLst>
      <p:ext uri="{BB962C8B-B14F-4D97-AF65-F5344CB8AC3E}">
        <p14:creationId xmlns:p14="http://schemas.microsoft.com/office/powerpoint/2010/main" val="622265575"/>
      </p:ext>
    </p:extLst>
  </p:cSld>
  <p:clrMapOvr>
    <a:masterClrMapping/>
  </p:clrMapOvr>
  <p:timing>
    <p:tnLst>
      <p:par>
        <p:cTn id="1" dur="indefinite" restart="never" nodeType="tmRoot"/>
      </p:par>
    </p:tnLst>
  </p:timing>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PTSD </a:t>
            </a:r>
            <a:endParaRPr lang="en-US" dirty="0"/>
          </a:p>
        </p:txBody>
      </p:sp>
      <p:sp>
        <p:nvSpPr>
          <p:cNvPr id="3" name="Content Placeholder 2"/>
          <p:cNvSpPr>
            <a:spLocks noGrp="1"/>
          </p:cNvSpPr>
          <p:nvPr>
            <p:ph idx="1"/>
          </p:nvPr>
        </p:nvSpPr>
        <p:spPr/>
        <p:txBody>
          <a:bodyPr/>
          <a:lstStyle/>
          <a:p>
            <a:r>
              <a:rPr lang="en-US" dirty="0"/>
              <a:t>a condition of persistent mental and emotional stress occurring as a result of injury or severe psychological shock, typically involving disturbance of sleep and constant vivid recall of the experience, with dulled responses to others and to the outside world.</a:t>
            </a:r>
          </a:p>
        </p:txBody>
      </p:sp>
    </p:spTree>
    <p:extLst>
      <p:ext uri="{BB962C8B-B14F-4D97-AF65-F5344CB8AC3E}">
        <p14:creationId xmlns:p14="http://schemas.microsoft.com/office/powerpoint/2010/main" val="2910617796"/>
      </p:ext>
    </p:extLst>
  </p:cSld>
  <p:clrMapOvr>
    <a:masterClrMapping/>
  </p:clrMapOvr>
  <p:timing>
    <p:tnLst>
      <p:par>
        <p:cTn id="1" dur="indefinite" restart="never" nodeType="tmRoot"/>
      </p:par>
    </p:tnLst>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lstStyle/>
          <a:p>
            <a:r>
              <a:rPr lang="en-US" dirty="0" smtClean="0"/>
              <a:t>PTSD </a:t>
            </a:r>
            <a:endParaRPr lang="en-US" dirty="0"/>
          </a:p>
        </p:txBody>
      </p:sp>
      <p:sp>
        <p:nvSpPr>
          <p:cNvPr id="3" name="Content Placeholder 2"/>
          <p:cNvSpPr>
            <a:spLocks noGrp="1"/>
          </p:cNvSpPr>
          <p:nvPr>
            <p:ph idx="1"/>
          </p:nvPr>
        </p:nvSpPr>
        <p:spPr>
          <a:xfrm>
            <a:off x="457200" y="1143000"/>
            <a:ext cx="8229600" cy="5486400"/>
          </a:xfrm>
        </p:spPr>
        <p:txBody>
          <a:bodyPr>
            <a:normAutofit/>
          </a:bodyPr>
          <a:lstStyle/>
          <a:p>
            <a:r>
              <a:rPr lang="en-US" sz="3600" dirty="0"/>
              <a:t>symptoms may start within one month of a traumatic event, </a:t>
            </a:r>
            <a:r>
              <a:rPr lang="en-US" sz="3600" dirty="0" smtClean="0"/>
              <a:t>sometimes may </a:t>
            </a:r>
            <a:r>
              <a:rPr lang="en-US" sz="3600" dirty="0"/>
              <a:t>not appear until years after the </a:t>
            </a:r>
            <a:r>
              <a:rPr lang="en-US" sz="3600" dirty="0" smtClean="0"/>
              <a:t>event</a:t>
            </a:r>
          </a:p>
          <a:p>
            <a:r>
              <a:rPr lang="en-US" sz="3600" dirty="0"/>
              <a:t>These symptoms cause significant problems in social or work situations and in </a:t>
            </a:r>
            <a:r>
              <a:rPr lang="en-US" sz="3600" dirty="0" smtClean="0"/>
              <a:t>relationships.</a:t>
            </a:r>
          </a:p>
          <a:p>
            <a:r>
              <a:rPr lang="en-US" sz="3600" dirty="0" smtClean="0"/>
              <a:t>They </a:t>
            </a:r>
            <a:r>
              <a:rPr lang="en-US" sz="3600" dirty="0"/>
              <a:t>can also interfere with your ability to go about your normal daily tasks.</a:t>
            </a:r>
          </a:p>
        </p:txBody>
      </p:sp>
    </p:spTree>
    <p:extLst>
      <p:ext uri="{BB962C8B-B14F-4D97-AF65-F5344CB8AC3E}">
        <p14:creationId xmlns:p14="http://schemas.microsoft.com/office/powerpoint/2010/main" val="3619297942"/>
      </p:ext>
    </p:extLst>
  </p:cSld>
  <p:clrMapOvr>
    <a:masterClrMapping/>
  </p:clrMapOvr>
  <p:timing>
    <p:tnLst>
      <p:par>
        <p:cTn id="1" dur="indefinite" restart="never" nodeType="tmRoot"/>
      </p:par>
    </p:tn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PTSD </a:t>
            </a:r>
            <a:endParaRPr lang="en-US" dirty="0"/>
          </a:p>
        </p:txBody>
      </p:sp>
      <p:sp>
        <p:nvSpPr>
          <p:cNvPr id="3" name="Content Placeholder 2"/>
          <p:cNvSpPr>
            <a:spLocks noGrp="1"/>
          </p:cNvSpPr>
          <p:nvPr>
            <p:ph idx="1"/>
          </p:nvPr>
        </p:nvSpPr>
        <p:spPr/>
        <p:txBody>
          <a:bodyPr/>
          <a:lstStyle/>
          <a:p>
            <a:r>
              <a:rPr lang="en-US" dirty="0"/>
              <a:t>PTSD symptoms are generally grouped into four types: </a:t>
            </a:r>
            <a:endParaRPr lang="en-US" dirty="0" smtClean="0"/>
          </a:p>
          <a:p>
            <a:pPr lvl="1"/>
            <a:r>
              <a:rPr lang="en-US" dirty="0" smtClean="0"/>
              <a:t>intrusive memories; flashback, nightmares</a:t>
            </a:r>
          </a:p>
          <a:p>
            <a:pPr lvl="1"/>
            <a:r>
              <a:rPr lang="en-US" dirty="0" smtClean="0"/>
              <a:t>avoidance,</a:t>
            </a:r>
          </a:p>
          <a:p>
            <a:pPr lvl="1"/>
            <a:r>
              <a:rPr lang="en-US" dirty="0" smtClean="0"/>
              <a:t> </a:t>
            </a:r>
            <a:r>
              <a:rPr lang="en-US" dirty="0"/>
              <a:t>negative changes in thinking and mood, </a:t>
            </a:r>
            <a:r>
              <a:rPr lang="en-US" dirty="0" smtClean="0"/>
              <a:t>and</a:t>
            </a:r>
          </a:p>
          <a:p>
            <a:pPr lvl="1"/>
            <a:r>
              <a:rPr lang="en-US" dirty="0" smtClean="0"/>
              <a:t>changes </a:t>
            </a:r>
            <a:r>
              <a:rPr lang="en-US" dirty="0"/>
              <a:t>in physical and emotional reactions. </a:t>
            </a:r>
            <a:endParaRPr lang="en-US" dirty="0" smtClean="0"/>
          </a:p>
          <a:p>
            <a:pPr marL="0" indent="0">
              <a:buNone/>
            </a:pPr>
            <a:r>
              <a:rPr lang="en-US" dirty="0" smtClean="0"/>
              <a:t>Symptoms </a:t>
            </a:r>
            <a:r>
              <a:rPr lang="en-US" dirty="0"/>
              <a:t>can vary over time or vary from person to person.</a:t>
            </a:r>
          </a:p>
        </p:txBody>
      </p:sp>
    </p:spTree>
    <p:extLst>
      <p:ext uri="{BB962C8B-B14F-4D97-AF65-F5344CB8AC3E}">
        <p14:creationId xmlns:p14="http://schemas.microsoft.com/office/powerpoint/2010/main" val="2000451342"/>
      </p:ext>
    </p:extLst>
  </p:cSld>
  <p:clrMapOvr>
    <a:masterClrMapping/>
  </p:clrMapOvr>
  <p:timing>
    <p:tnLst>
      <p:par>
        <p:cTn id="1" dur="indefinite" restart="never" nodeType="tmRoot"/>
      </p:par>
    </p:tnLst>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PTSD </a:t>
            </a:r>
            <a:endParaRPr lang="en-US" dirty="0"/>
          </a:p>
        </p:txBody>
      </p:sp>
      <p:sp>
        <p:nvSpPr>
          <p:cNvPr id="3" name="Content Placeholder 2"/>
          <p:cNvSpPr>
            <a:spLocks noGrp="1"/>
          </p:cNvSpPr>
          <p:nvPr>
            <p:ph idx="1"/>
          </p:nvPr>
        </p:nvSpPr>
        <p:spPr>
          <a:xfrm>
            <a:off x="457200" y="1219200"/>
            <a:ext cx="8229600" cy="5486400"/>
          </a:xfrm>
        </p:spPr>
        <p:txBody>
          <a:bodyPr>
            <a:normAutofit fontScale="92500" lnSpcReduction="10000"/>
          </a:bodyPr>
          <a:lstStyle/>
          <a:p>
            <a:pPr marL="0" indent="0">
              <a:buNone/>
            </a:pPr>
            <a:r>
              <a:rPr lang="en-US" b="1" dirty="0" smtClean="0"/>
              <a:t>Intrusive </a:t>
            </a:r>
            <a:r>
              <a:rPr lang="en-US" b="1" dirty="0"/>
              <a:t>memories</a:t>
            </a:r>
            <a:endParaRPr lang="en-US" dirty="0"/>
          </a:p>
          <a:p>
            <a:pPr marL="0" indent="0">
              <a:buNone/>
            </a:pPr>
            <a:r>
              <a:rPr lang="en-US" dirty="0"/>
              <a:t>Symptoms of intrusive memories may include:</a:t>
            </a:r>
          </a:p>
          <a:p>
            <a:r>
              <a:rPr lang="en-US" dirty="0"/>
              <a:t>Recurrent, unwanted distressing memories of the traumatic event</a:t>
            </a:r>
          </a:p>
          <a:p>
            <a:r>
              <a:rPr lang="en-US" dirty="0"/>
              <a:t>Reliving the traumatic event as if it were happening again (flashbacks)</a:t>
            </a:r>
          </a:p>
          <a:p>
            <a:r>
              <a:rPr lang="en-US" dirty="0"/>
              <a:t>Upsetting dreams or nightmares about the traumatic event</a:t>
            </a:r>
          </a:p>
          <a:p>
            <a:r>
              <a:rPr lang="en-US" dirty="0"/>
              <a:t>Severe emotional distress or physical reactions to something that reminds you of the traumatic event</a:t>
            </a:r>
          </a:p>
          <a:p>
            <a:endParaRPr lang="en-US" dirty="0"/>
          </a:p>
        </p:txBody>
      </p:sp>
    </p:spTree>
    <p:extLst>
      <p:ext uri="{BB962C8B-B14F-4D97-AF65-F5344CB8AC3E}">
        <p14:creationId xmlns:p14="http://schemas.microsoft.com/office/powerpoint/2010/main" val="110538004"/>
      </p:ext>
    </p:extLst>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PTSD</a:t>
            </a:r>
            <a:endParaRPr lang="en-US" dirty="0"/>
          </a:p>
        </p:txBody>
      </p:sp>
      <p:sp>
        <p:nvSpPr>
          <p:cNvPr id="3" name="Content Placeholder 2"/>
          <p:cNvSpPr>
            <a:spLocks noGrp="1"/>
          </p:cNvSpPr>
          <p:nvPr>
            <p:ph idx="1"/>
          </p:nvPr>
        </p:nvSpPr>
        <p:spPr/>
        <p:txBody>
          <a:bodyPr/>
          <a:lstStyle/>
          <a:p>
            <a:pPr marL="0" indent="0">
              <a:buNone/>
            </a:pPr>
            <a:r>
              <a:rPr lang="en-US" b="1" dirty="0"/>
              <a:t>Avoidance</a:t>
            </a:r>
            <a:endParaRPr lang="en-US" dirty="0"/>
          </a:p>
          <a:p>
            <a:pPr marL="0" indent="0">
              <a:buNone/>
            </a:pPr>
            <a:r>
              <a:rPr lang="en-US" dirty="0"/>
              <a:t>Symptoms of avoidance may include:</a:t>
            </a:r>
          </a:p>
          <a:p>
            <a:r>
              <a:rPr lang="en-US" dirty="0"/>
              <a:t>Trying to avoid thinking or talking about the traumatic event</a:t>
            </a:r>
          </a:p>
          <a:p>
            <a:r>
              <a:rPr lang="en-US" dirty="0"/>
              <a:t>Avoiding places, activities or people that remind you of the traumatic event</a:t>
            </a:r>
          </a:p>
          <a:p>
            <a:endParaRPr lang="en-US" dirty="0"/>
          </a:p>
        </p:txBody>
      </p:sp>
    </p:spTree>
    <p:extLst>
      <p:ext uri="{BB962C8B-B14F-4D97-AF65-F5344CB8AC3E}">
        <p14:creationId xmlns:p14="http://schemas.microsoft.com/office/powerpoint/2010/main" val="2616613996"/>
      </p:ext>
    </p:extLst>
  </p:cSld>
  <p:clrMapOvr>
    <a:masterClrMapping/>
  </p:clrMapOvr>
  <p:timing>
    <p:tnLst>
      <p:par>
        <p:cTn id="1" dur="indefinite" restart="never" nodeType="tmRoot"/>
      </p:par>
    </p:tnLst>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PTSD</a:t>
            </a:r>
            <a:endParaRPr lang="en-US" dirty="0"/>
          </a:p>
        </p:txBody>
      </p:sp>
      <p:sp>
        <p:nvSpPr>
          <p:cNvPr id="3" name="Content Placeholder 2"/>
          <p:cNvSpPr>
            <a:spLocks noGrp="1"/>
          </p:cNvSpPr>
          <p:nvPr>
            <p:ph idx="1"/>
          </p:nvPr>
        </p:nvSpPr>
        <p:spPr>
          <a:xfrm>
            <a:off x="457200" y="1219200"/>
            <a:ext cx="8229600" cy="5486400"/>
          </a:xfrm>
        </p:spPr>
        <p:txBody>
          <a:bodyPr>
            <a:normAutofit fontScale="85000" lnSpcReduction="20000"/>
          </a:bodyPr>
          <a:lstStyle/>
          <a:p>
            <a:pPr marL="0" indent="0">
              <a:buNone/>
            </a:pPr>
            <a:r>
              <a:rPr lang="en-US" b="1" dirty="0"/>
              <a:t>Negative changes in thinking and mood</a:t>
            </a:r>
            <a:endParaRPr lang="en-US" dirty="0"/>
          </a:p>
          <a:p>
            <a:pPr marL="0" indent="0">
              <a:buNone/>
            </a:pPr>
            <a:r>
              <a:rPr lang="en-US" dirty="0"/>
              <a:t>Symptoms of negative changes in thinking and mood may include:</a:t>
            </a:r>
          </a:p>
          <a:p>
            <a:r>
              <a:rPr lang="en-US" dirty="0"/>
              <a:t>Negative thoughts about yourself, other people or the world</a:t>
            </a:r>
          </a:p>
          <a:p>
            <a:r>
              <a:rPr lang="en-US" dirty="0"/>
              <a:t>Hopelessness about the future</a:t>
            </a:r>
          </a:p>
          <a:p>
            <a:r>
              <a:rPr lang="en-US" dirty="0"/>
              <a:t>Memory problems, including not remembering important aspects of the traumatic event</a:t>
            </a:r>
          </a:p>
          <a:p>
            <a:r>
              <a:rPr lang="en-US" dirty="0"/>
              <a:t>Difficulty maintaining close relationships</a:t>
            </a:r>
          </a:p>
          <a:p>
            <a:r>
              <a:rPr lang="en-US" dirty="0"/>
              <a:t>Feeling detached from family and friends</a:t>
            </a:r>
          </a:p>
          <a:p>
            <a:r>
              <a:rPr lang="en-US" dirty="0"/>
              <a:t>Lack of interest in activities you once enjoyed</a:t>
            </a:r>
          </a:p>
          <a:p>
            <a:r>
              <a:rPr lang="en-US" dirty="0"/>
              <a:t>Difficulty experiencing positive emotions</a:t>
            </a:r>
          </a:p>
          <a:p>
            <a:r>
              <a:rPr lang="en-US" dirty="0"/>
              <a:t>Feeling emotionally numb</a:t>
            </a:r>
          </a:p>
          <a:p>
            <a:endParaRPr lang="en-US" dirty="0"/>
          </a:p>
        </p:txBody>
      </p:sp>
    </p:spTree>
    <p:extLst>
      <p:ext uri="{BB962C8B-B14F-4D97-AF65-F5344CB8AC3E}">
        <p14:creationId xmlns:p14="http://schemas.microsoft.com/office/powerpoint/2010/main" val="1659596650"/>
      </p:ext>
    </p:extLst>
  </p:cSld>
  <p:clrMapOvr>
    <a:masterClrMapping/>
  </p:clrMapOvr>
  <p:timing>
    <p:tnLst>
      <p:par>
        <p:cTn id="1" dur="indefinite" restart="never" nodeType="tmRoot"/>
      </p:par>
    </p:tnLst>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dirty="0" smtClean="0"/>
              <a:t>PTSD</a:t>
            </a:r>
            <a:endParaRPr lang="en-US" dirty="0"/>
          </a:p>
        </p:txBody>
      </p:sp>
      <p:sp>
        <p:nvSpPr>
          <p:cNvPr id="3" name="Content Placeholder 2"/>
          <p:cNvSpPr>
            <a:spLocks noGrp="1"/>
          </p:cNvSpPr>
          <p:nvPr>
            <p:ph idx="1"/>
          </p:nvPr>
        </p:nvSpPr>
        <p:spPr>
          <a:xfrm>
            <a:off x="457200" y="609600"/>
            <a:ext cx="8229600" cy="6172200"/>
          </a:xfrm>
        </p:spPr>
        <p:txBody>
          <a:bodyPr>
            <a:normAutofit fontScale="70000" lnSpcReduction="20000"/>
          </a:bodyPr>
          <a:lstStyle/>
          <a:p>
            <a:pPr marL="0" indent="0">
              <a:buNone/>
            </a:pPr>
            <a:r>
              <a:rPr lang="en-US" sz="3400" b="1" dirty="0"/>
              <a:t>Changes in physical and emotional reactions</a:t>
            </a:r>
            <a:endParaRPr lang="en-US" sz="3400" dirty="0"/>
          </a:p>
          <a:p>
            <a:pPr marL="0" indent="0">
              <a:buNone/>
            </a:pPr>
            <a:r>
              <a:rPr lang="en-US" sz="3400" dirty="0"/>
              <a:t>Symptoms of changes in physical and emotional reactions (also called arousal symptoms) may include:</a:t>
            </a:r>
          </a:p>
          <a:p>
            <a:r>
              <a:rPr lang="en-US" sz="3400" dirty="0"/>
              <a:t>Being easily startled or frightened</a:t>
            </a:r>
          </a:p>
          <a:p>
            <a:r>
              <a:rPr lang="en-US" sz="3400" dirty="0"/>
              <a:t>Always being on guard for danger</a:t>
            </a:r>
          </a:p>
          <a:p>
            <a:r>
              <a:rPr lang="en-US" sz="3400" dirty="0"/>
              <a:t>Self-destructive behavior, such as drinking too much or driving too fast</a:t>
            </a:r>
          </a:p>
          <a:p>
            <a:r>
              <a:rPr lang="en-US" sz="3400" dirty="0"/>
              <a:t>Trouble sleeping</a:t>
            </a:r>
          </a:p>
          <a:p>
            <a:r>
              <a:rPr lang="en-US" sz="3400" dirty="0"/>
              <a:t>Trouble concentrating</a:t>
            </a:r>
          </a:p>
          <a:p>
            <a:r>
              <a:rPr lang="en-US" sz="3400" dirty="0"/>
              <a:t>Irritability, angry outbursts or aggressive behavior</a:t>
            </a:r>
          </a:p>
          <a:p>
            <a:r>
              <a:rPr lang="en-US" sz="3400" dirty="0"/>
              <a:t>Overwhelming guilt or shame</a:t>
            </a:r>
          </a:p>
          <a:p>
            <a:pPr marL="0" indent="0">
              <a:buNone/>
            </a:pPr>
            <a:r>
              <a:rPr lang="en-US" sz="3400" b="1" dirty="0"/>
              <a:t>For children 6 years old and younger, </a:t>
            </a:r>
            <a:endParaRPr lang="en-US" sz="3400" b="1" dirty="0" smtClean="0"/>
          </a:p>
          <a:p>
            <a:pPr marL="0" indent="0">
              <a:buNone/>
            </a:pPr>
            <a:r>
              <a:rPr lang="en-US" sz="3400" dirty="0" smtClean="0"/>
              <a:t>signs </a:t>
            </a:r>
            <a:r>
              <a:rPr lang="en-US" sz="3400" dirty="0"/>
              <a:t>and symptoms may also include:</a:t>
            </a:r>
          </a:p>
          <a:p>
            <a:r>
              <a:rPr lang="en-US" sz="3400" dirty="0"/>
              <a:t>Re-enacting the traumatic event or aspects of the traumatic event through play</a:t>
            </a:r>
          </a:p>
          <a:p>
            <a:r>
              <a:rPr lang="en-US" sz="3400" dirty="0"/>
              <a:t>Frightening dreams that may or may not include aspects of the traumatic event</a:t>
            </a:r>
          </a:p>
          <a:p>
            <a:endParaRPr lang="en-US" dirty="0"/>
          </a:p>
        </p:txBody>
      </p:sp>
    </p:spTree>
    <p:extLst>
      <p:ext uri="{BB962C8B-B14F-4D97-AF65-F5344CB8AC3E}">
        <p14:creationId xmlns:p14="http://schemas.microsoft.com/office/powerpoint/2010/main" val="1306529385"/>
      </p:ext>
    </p:extLst>
  </p:cSld>
  <p:clrMapOvr>
    <a:masterClrMapping/>
  </p:clrMapOvr>
  <p:timing>
    <p:tnLst>
      <p:par>
        <p:cTn id="1" dur="indefinite" restart="never" nodeType="tmRoot"/>
      </p:par>
    </p:tnLst>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
            </a:r>
            <a:br>
              <a:rPr lang="en-US" b="1" dirty="0" smtClean="0"/>
            </a:br>
            <a:r>
              <a:rPr lang="en-US" b="1" dirty="0" smtClean="0"/>
              <a:t>Causes</a:t>
            </a:r>
            <a:r>
              <a:rPr lang="en-US" b="1" dirty="0"/>
              <a:t/>
            </a:r>
            <a:br>
              <a:rPr lang="en-US" b="1" dirty="0"/>
            </a:b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r>
              <a:rPr lang="en-US" dirty="0"/>
              <a:t>You can develop post-traumatic stress disorder when you go through, see or learn about an event involving actual or threatened death, serious injury or sexual violation.</a:t>
            </a:r>
          </a:p>
          <a:p>
            <a:r>
              <a:rPr lang="en-US" dirty="0" smtClean="0"/>
              <a:t>PTSD </a:t>
            </a:r>
            <a:r>
              <a:rPr lang="en-US" dirty="0"/>
              <a:t>is probably caused by a complex mix of:</a:t>
            </a:r>
          </a:p>
          <a:p>
            <a:pPr lvl="1"/>
            <a:r>
              <a:rPr lang="en-US" dirty="0"/>
              <a:t>Stressful experiences, including the amount and severity of trauma you've gone through in your life</a:t>
            </a:r>
          </a:p>
          <a:p>
            <a:pPr lvl="1"/>
            <a:r>
              <a:rPr lang="en-US" dirty="0"/>
              <a:t>Inherited mental health risks, such as a family history of anxiety and depression</a:t>
            </a:r>
          </a:p>
          <a:p>
            <a:pPr lvl="1"/>
            <a:r>
              <a:rPr lang="en-US" dirty="0"/>
              <a:t>Inherited features of your personality — often called your temperament</a:t>
            </a:r>
          </a:p>
          <a:p>
            <a:pPr lvl="1"/>
            <a:r>
              <a:rPr lang="en-US" dirty="0"/>
              <a:t>The way your brain regulates the chemicals and hormones your body releases in response to stress</a:t>
            </a:r>
          </a:p>
          <a:p>
            <a:endParaRPr lang="en-US" dirty="0"/>
          </a:p>
        </p:txBody>
      </p:sp>
    </p:spTree>
    <p:extLst>
      <p:ext uri="{BB962C8B-B14F-4D97-AF65-F5344CB8AC3E}">
        <p14:creationId xmlns:p14="http://schemas.microsoft.com/office/powerpoint/2010/main" val="197729481"/>
      </p:ext>
    </p:extLst>
  </p:cSld>
  <p:clrMapOvr>
    <a:masterClrMapping/>
  </p:clrMapOvr>
  <p:timing>
    <p:tnLst>
      <p:par>
        <p:cTn id="1" dur="indefinite" restart="never" nodeType="tmRoot"/>
      </p:par>
    </p:tnLst>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US" b="1" dirty="0" smtClean="0"/>
              <a:t/>
            </a:r>
            <a:br>
              <a:rPr lang="en-US" b="1" dirty="0" smtClean="0"/>
            </a:br>
            <a:r>
              <a:rPr lang="en-US" b="1" dirty="0" smtClean="0"/>
              <a:t>Risk </a:t>
            </a:r>
            <a:r>
              <a:rPr lang="en-US" b="1" dirty="0"/>
              <a:t>factors</a:t>
            </a:r>
            <a:br>
              <a:rPr lang="en-US" b="1" dirty="0"/>
            </a:br>
            <a:endParaRPr lang="en-US" dirty="0"/>
          </a:p>
        </p:txBody>
      </p:sp>
      <p:sp>
        <p:nvSpPr>
          <p:cNvPr id="3" name="Content Placeholder 2"/>
          <p:cNvSpPr>
            <a:spLocks noGrp="1"/>
          </p:cNvSpPr>
          <p:nvPr>
            <p:ph idx="1"/>
          </p:nvPr>
        </p:nvSpPr>
        <p:spPr>
          <a:xfrm>
            <a:off x="457200" y="1066800"/>
            <a:ext cx="8229600" cy="5638800"/>
          </a:xfrm>
        </p:spPr>
        <p:txBody>
          <a:bodyPr>
            <a:normAutofit fontScale="92500" lnSpcReduction="20000"/>
          </a:bodyPr>
          <a:lstStyle/>
          <a:p>
            <a:r>
              <a:rPr lang="en-US" dirty="0"/>
              <a:t>some factors may make you more likely to develop PTSD after a traumatic event, such as</a:t>
            </a:r>
            <a:r>
              <a:rPr lang="en-US" dirty="0" smtClean="0"/>
              <a:t>:</a:t>
            </a:r>
          </a:p>
          <a:p>
            <a:pPr lvl="1"/>
            <a:r>
              <a:rPr lang="en-US" dirty="0"/>
              <a:t>Experiencing intense or long-lasting trauma</a:t>
            </a:r>
          </a:p>
          <a:p>
            <a:pPr lvl="1"/>
            <a:r>
              <a:rPr lang="en-US" dirty="0"/>
              <a:t>Having experienced other trauma earlier in life, such as childhood abuse</a:t>
            </a:r>
          </a:p>
          <a:p>
            <a:pPr lvl="1"/>
            <a:r>
              <a:rPr lang="en-US" dirty="0"/>
              <a:t>Having a job that increases your risk of being exposed to traumatic events, such as military personnel and first responders</a:t>
            </a:r>
          </a:p>
          <a:p>
            <a:pPr lvl="1"/>
            <a:r>
              <a:rPr lang="en-US" dirty="0"/>
              <a:t>Having other mental health problems, such as anxiety or depression</a:t>
            </a:r>
          </a:p>
          <a:p>
            <a:pPr lvl="1"/>
            <a:r>
              <a:rPr lang="en-US" dirty="0"/>
              <a:t>Having problems with substance misuse, such as excess drinking or drug use</a:t>
            </a:r>
          </a:p>
          <a:p>
            <a:pPr lvl="1"/>
            <a:r>
              <a:rPr lang="en-US" dirty="0"/>
              <a:t>Lacking a good support system of family and friends</a:t>
            </a:r>
          </a:p>
          <a:p>
            <a:pPr lvl="1"/>
            <a:r>
              <a:rPr lang="en-US" dirty="0"/>
              <a:t>Having blood relatives with mental health problems, including anxiety or depression</a:t>
            </a:r>
          </a:p>
          <a:p>
            <a:endParaRPr lang="en-US" dirty="0"/>
          </a:p>
        </p:txBody>
      </p:sp>
    </p:spTree>
    <p:extLst>
      <p:ext uri="{BB962C8B-B14F-4D97-AF65-F5344CB8AC3E}">
        <p14:creationId xmlns:p14="http://schemas.microsoft.com/office/powerpoint/2010/main" val="2015765323"/>
      </p:ext>
    </p:extLst>
  </p:cSld>
  <p:clrMapOvr>
    <a:masterClrMapping/>
  </p:clrMapOvr>
  <p:timing>
    <p:tnLst>
      <p:par>
        <p:cTn id="1" dur="indefinite" restart="never" nodeType="tmRoot"/>
      </p:par>
    </p:tnLst>
  </p:timing>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TRAUMATIC EVENTS </a:t>
            </a:r>
            <a:endParaRPr lang="en-US" dirty="0"/>
          </a:p>
        </p:txBody>
      </p:sp>
      <p:sp>
        <p:nvSpPr>
          <p:cNvPr id="3" name="Content Placeholder 2"/>
          <p:cNvSpPr>
            <a:spLocks noGrp="1"/>
          </p:cNvSpPr>
          <p:nvPr>
            <p:ph idx="1"/>
          </p:nvPr>
        </p:nvSpPr>
        <p:spPr>
          <a:xfrm>
            <a:off x="457200" y="1295400"/>
            <a:ext cx="8229600" cy="5410200"/>
          </a:xfrm>
        </p:spPr>
        <p:txBody>
          <a:bodyPr>
            <a:normAutofit fontScale="92500" lnSpcReduction="10000"/>
          </a:bodyPr>
          <a:lstStyle/>
          <a:p>
            <a:pPr marL="0" indent="0">
              <a:buNone/>
            </a:pPr>
            <a:r>
              <a:rPr lang="en-US" dirty="0" smtClean="0"/>
              <a:t>Common </a:t>
            </a:r>
            <a:r>
              <a:rPr lang="en-US" dirty="0"/>
              <a:t>events leading to the development of PTSD include:</a:t>
            </a:r>
          </a:p>
          <a:p>
            <a:pPr lvl="1"/>
            <a:r>
              <a:rPr lang="en-US" dirty="0"/>
              <a:t>Combat exposure</a:t>
            </a:r>
          </a:p>
          <a:p>
            <a:pPr lvl="1"/>
            <a:r>
              <a:rPr lang="en-US" dirty="0"/>
              <a:t>Childhood physical abuse</a:t>
            </a:r>
          </a:p>
          <a:p>
            <a:pPr lvl="1"/>
            <a:r>
              <a:rPr lang="en-US" dirty="0"/>
              <a:t>Sexual violence</a:t>
            </a:r>
          </a:p>
          <a:p>
            <a:pPr lvl="1"/>
            <a:r>
              <a:rPr lang="en-US" dirty="0"/>
              <a:t>Physical assault</a:t>
            </a:r>
          </a:p>
          <a:p>
            <a:pPr lvl="1"/>
            <a:r>
              <a:rPr lang="en-US" dirty="0"/>
              <a:t>Being threatened with a weapon</a:t>
            </a:r>
          </a:p>
          <a:p>
            <a:pPr lvl="1"/>
            <a:r>
              <a:rPr lang="en-US" dirty="0"/>
              <a:t>An accident</a:t>
            </a:r>
          </a:p>
          <a:p>
            <a:r>
              <a:rPr lang="en-US" dirty="0"/>
              <a:t>Others: fire, natural disaster, mugging, robbery, plane crash, torture, kidnapping, life-threatening medical diagnosis, terrorist attack, and other extreme or life-threatening events</a:t>
            </a:r>
          </a:p>
        </p:txBody>
      </p:sp>
    </p:spTree>
    <p:extLst>
      <p:ext uri="{BB962C8B-B14F-4D97-AF65-F5344CB8AC3E}">
        <p14:creationId xmlns:p14="http://schemas.microsoft.com/office/powerpoint/2010/main" val="3898829812"/>
      </p:ext>
    </p:extLst>
  </p:cSld>
  <p:clrMapOvr>
    <a:masterClrMapping/>
  </p:clrMapOvr>
  <p:timing>
    <p:tnLst>
      <p:par>
        <p:cTn id="1" dur="indefinite" restart="never" nodeType="tmRoot"/>
      </p:par>
    </p:tnLst>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MX </a:t>
            </a:r>
            <a:endParaRPr lang="en-US" dirty="0"/>
          </a:p>
        </p:txBody>
      </p:sp>
      <p:sp>
        <p:nvSpPr>
          <p:cNvPr id="3" name="Content Placeholder 2"/>
          <p:cNvSpPr>
            <a:spLocks noGrp="1"/>
          </p:cNvSpPr>
          <p:nvPr>
            <p:ph idx="1"/>
          </p:nvPr>
        </p:nvSpPr>
        <p:spPr>
          <a:xfrm>
            <a:off x="457200" y="1143000"/>
            <a:ext cx="8229600" cy="5562600"/>
          </a:xfrm>
        </p:spPr>
        <p:txBody>
          <a:bodyPr>
            <a:normAutofit fontScale="77500" lnSpcReduction="20000"/>
          </a:bodyPr>
          <a:lstStyle/>
          <a:p>
            <a:r>
              <a:rPr lang="en-US" dirty="0" smtClean="0"/>
              <a:t>Rx combination </a:t>
            </a:r>
            <a:r>
              <a:rPr lang="en-US" dirty="0"/>
              <a:t>of pharmacologic and </a:t>
            </a:r>
            <a:r>
              <a:rPr lang="en-US" dirty="0" smtClean="0"/>
              <a:t>non-pharmacologic </a:t>
            </a:r>
            <a:r>
              <a:rPr lang="en-US" dirty="0"/>
              <a:t>therapies</a:t>
            </a:r>
            <a:r>
              <a:rPr lang="en-US" dirty="0" smtClean="0"/>
              <a:t>.</a:t>
            </a:r>
          </a:p>
          <a:p>
            <a:r>
              <a:rPr lang="en-US" dirty="0" smtClean="0"/>
              <a:t>meds </a:t>
            </a:r>
            <a:r>
              <a:rPr lang="en-US" dirty="0"/>
              <a:t>may be required to control the physiological symptoms, which can enable the patient to tolerate and work through the highly emotional material in </a:t>
            </a:r>
            <a:r>
              <a:rPr lang="en-US" dirty="0" smtClean="0"/>
              <a:t>psychotherapy</a:t>
            </a:r>
          </a:p>
          <a:p>
            <a:r>
              <a:rPr lang="en-US" dirty="0" smtClean="0"/>
              <a:t>Rx consists </a:t>
            </a:r>
            <a:r>
              <a:rPr lang="en-US" dirty="0"/>
              <a:t>of </a:t>
            </a:r>
            <a:endParaRPr lang="en-US" dirty="0" smtClean="0"/>
          </a:p>
          <a:p>
            <a:pPr lvl="1"/>
            <a:r>
              <a:rPr lang="en-US" dirty="0" smtClean="0"/>
              <a:t>group </a:t>
            </a:r>
            <a:r>
              <a:rPr lang="en-US" dirty="0"/>
              <a:t>therapy, </a:t>
            </a:r>
            <a:endParaRPr lang="en-US" dirty="0" smtClean="0"/>
          </a:p>
          <a:p>
            <a:pPr lvl="1"/>
            <a:r>
              <a:rPr lang="en-US" dirty="0" smtClean="0"/>
              <a:t>individual </a:t>
            </a:r>
            <a:r>
              <a:rPr lang="en-US" dirty="0"/>
              <a:t>and family therapy, </a:t>
            </a:r>
            <a:endParaRPr lang="en-US" dirty="0" smtClean="0"/>
          </a:p>
          <a:p>
            <a:pPr lvl="1"/>
            <a:r>
              <a:rPr lang="en-US" dirty="0" smtClean="0"/>
              <a:t>cognitive </a:t>
            </a:r>
            <a:r>
              <a:rPr lang="en-US" dirty="0"/>
              <a:t>behavioral therapy, </a:t>
            </a:r>
            <a:endParaRPr lang="en-US" dirty="0" smtClean="0"/>
          </a:p>
          <a:p>
            <a:pPr lvl="1"/>
            <a:r>
              <a:rPr lang="en-US" dirty="0" smtClean="0"/>
              <a:t>play </a:t>
            </a:r>
            <a:r>
              <a:rPr lang="en-US" dirty="0"/>
              <a:t>therapy</a:t>
            </a:r>
            <a:r>
              <a:rPr lang="en-US" dirty="0" smtClean="0"/>
              <a:t>,</a:t>
            </a:r>
          </a:p>
          <a:p>
            <a:pPr lvl="1"/>
            <a:r>
              <a:rPr lang="en-US" dirty="0" smtClean="0"/>
              <a:t> </a:t>
            </a:r>
            <a:r>
              <a:rPr lang="en-US" dirty="0"/>
              <a:t>art therapy</a:t>
            </a:r>
            <a:r>
              <a:rPr lang="en-US" dirty="0" smtClean="0"/>
              <a:t>,</a:t>
            </a:r>
          </a:p>
          <a:p>
            <a:pPr lvl="1"/>
            <a:r>
              <a:rPr lang="en-US" dirty="0" smtClean="0"/>
              <a:t> </a:t>
            </a:r>
            <a:r>
              <a:rPr lang="en-US" dirty="0"/>
              <a:t>anxiety management, </a:t>
            </a:r>
            <a:endParaRPr lang="en-US" dirty="0" smtClean="0"/>
          </a:p>
          <a:p>
            <a:pPr lvl="1"/>
            <a:r>
              <a:rPr lang="en-US" dirty="0" smtClean="0"/>
              <a:t>eye </a:t>
            </a:r>
            <a:r>
              <a:rPr lang="en-US" dirty="0"/>
              <a:t>movement desensitization and reprocessing (EMDR), </a:t>
            </a:r>
            <a:endParaRPr lang="en-US" dirty="0" smtClean="0"/>
          </a:p>
          <a:p>
            <a:pPr lvl="1"/>
            <a:r>
              <a:rPr lang="en-US" dirty="0" smtClean="0"/>
              <a:t>hypnosis</a:t>
            </a:r>
            <a:r>
              <a:rPr lang="en-US" dirty="0"/>
              <a:t>, </a:t>
            </a:r>
            <a:endParaRPr lang="en-US" dirty="0" smtClean="0"/>
          </a:p>
          <a:p>
            <a:pPr lvl="1"/>
            <a:r>
              <a:rPr lang="en-US" dirty="0" smtClean="0"/>
              <a:t>relaxation </a:t>
            </a:r>
            <a:r>
              <a:rPr lang="en-US" dirty="0"/>
              <a:t>techniques</a:t>
            </a:r>
          </a:p>
        </p:txBody>
      </p:sp>
    </p:spTree>
    <p:extLst>
      <p:ext uri="{BB962C8B-B14F-4D97-AF65-F5344CB8AC3E}">
        <p14:creationId xmlns:p14="http://schemas.microsoft.com/office/powerpoint/2010/main" val="52893208"/>
      </p:ext>
    </p:extLst>
  </p:cSld>
  <p:clrMapOvr>
    <a:masterClrMapping/>
  </p:clrMapOvr>
  <p:timing>
    <p:tnLst>
      <p:par>
        <p:cTn id="1" dur="indefinite" restart="never" nodeType="tmRoot"/>
      </p:par>
    </p:tnLst>
  </p:timing>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a:t>
            </a:r>
            <a:endParaRPr lang="en-US" dirty="0"/>
          </a:p>
        </p:txBody>
      </p:sp>
      <p:sp>
        <p:nvSpPr>
          <p:cNvPr id="3" name="Content Placeholder 2"/>
          <p:cNvSpPr>
            <a:spLocks noGrp="1"/>
          </p:cNvSpPr>
          <p:nvPr>
            <p:ph idx="1"/>
          </p:nvPr>
        </p:nvSpPr>
        <p:spPr>
          <a:xfrm>
            <a:off x="457200" y="1143000"/>
            <a:ext cx="8229600" cy="5715000"/>
          </a:xfrm>
        </p:spPr>
        <p:txBody>
          <a:bodyPr>
            <a:normAutofit fontScale="85000" lnSpcReduction="10000"/>
          </a:bodyPr>
          <a:lstStyle/>
          <a:p>
            <a:r>
              <a:rPr lang="en-US" dirty="0" smtClean="0"/>
              <a:t>EMDR is to </a:t>
            </a:r>
            <a:r>
              <a:rPr lang="en-US" dirty="0"/>
              <a:t>stimulate the brain's information-processing mechanisms</a:t>
            </a:r>
            <a:r>
              <a:rPr lang="en-US" dirty="0" smtClean="0"/>
              <a:t>.</a:t>
            </a:r>
          </a:p>
          <a:p>
            <a:r>
              <a:rPr lang="en-US" dirty="0"/>
              <a:t>Flooding, a technique involving prolonged exposure to the adverse stimuli</a:t>
            </a:r>
            <a:r>
              <a:rPr lang="en-US" dirty="0" smtClean="0"/>
              <a:t>,</a:t>
            </a:r>
          </a:p>
          <a:p>
            <a:r>
              <a:rPr lang="en-US" dirty="0"/>
              <a:t>Benzodiazepine </a:t>
            </a:r>
            <a:r>
              <a:rPr lang="en-US" dirty="0" smtClean="0"/>
              <a:t>for reduction </a:t>
            </a:r>
            <a:r>
              <a:rPr lang="en-US" dirty="0"/>
              <a:t>of acute </a:t>
            </a:r>
            <a:r>
              <a:rPr lang="en-US" dirty="0" smtClean="0"/>
              <a:t>stress symptoms/sleep </a:t>
            </a:r>
            <a:r>
              <a:rPr lang="en-US" dirty="0"/>
              <a:t>problems in the first month after a potentially traumatic event is not </a:t>
            </a:r>
            <a:r>
              <a:rPr lang="en-US" dirty="0" smtClean="0"/>
              <a:t>recommended</a:t>
            </a:r>
          </a:p>
          <a:p>
            <a:r>
              <a:rPr lang="en-US" dirty="0"/>
              <a:t>Antidepressants such as paroxetine, sertraline, mirtazapine, amitriptyline or </a:t>
            </a:r>
            <a:r>
              <a:rPr lang="en-US" dirty="0" err="1"/>
              <a:t>phenelzine</a:t>
            </a:r>
            <a:r>
              <a:rPr lang="en-US" dirty="0"/>
              <a:t> are sometimes used to treat PTSD in adults</a:t>
            </a:r>
            <a:endParaRPr lang="en-US" dirty="0" smtClean="0"/>
          </a:p>
          <a:p>
            <a:r>
              <a:rPr lang="en-US" dirty="0"/>
              <a:t>if the patient becomes suicidal or homicidal or if complicating comorbid conditions requiring inpatient treatment (</a:t>
            </a:r>
            <a:r>
              <a:rPr lang="en-US" dirty="0" err="1"/>
              <a:t>eg</a:t>
            </a:r>
            <a:r>
              <a:rPr lang="en-US" dirty="0"/>
              <a:t>, depression, substance abuse) are </a:t>
            </a:r>
            <a:r>
              <a:rPr lang="en-US" dirty="0" smtClean="0"/>
              <a:t>present-</a:t>
            </a:r>
            <a:r>
              <a:rPr lang="en-US" dirty="0" err="1" smtClean="0"/>
              <a:t>rx</a:t>
            </a:r>
            <a:r>
              <a:rPr lang="en-US" dirty="0" smtClean="0"/>
              <a:t> as inpatient </a:t>
            </a:r>
          </a:p>
          <a:p>
            <a:endParaRPr lang="en-US" dirty="0"/>
          </a:p>
        </p:txBody>
      </p:sp>
    </p:spTree>
    <p:extLst>
      <p:ext uri="{BB962C8B-B14F-4D97-AF65-F5344CB8AC3E}">
        <p14:creationId xmlns:p14="http://schemas.microsoft.com/office/powerpoint/2010/main" val="778458092"/>
      </p:ext>
    </p:extLst>
  </p:cSld>
  <p:clrMapOvr>
    <a:masterClrMapping/>
  </p:clrMapOvr>
  <p:timing>
    <p:tnLst>
      <p:par>
        <p:cTn id="1" dur="indefinite" restart="never" nodeType="tmRoot"/>
      </p:par>
    </p:tnLst>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err="1" smtClean="0"/>
              <a:t>Nrsg</a:t>
            </a:r>
            <a:r>
              <a:rPr lang="en-US" dirty="0" smtClean="0"/>
              <a:t> interventions </a:t>
            </a:r>
            <a:endParaRPr lang="en-US" dirty="0"/>
          </a:p>
        </p:txBody>
      </p:sp>
      <p:sp>
        <p:nvSpPr>
          <p:cNvPr id="3" name="Content Placeholder 2"/>
          <p:cNvSpPr>
            <a:spLocks noGrp="1"/>
          </p:cNvSpPr>
          <p:nvPr>
            <p:ph idx="1"/>
          </p:nvPr>
        </p:nvSpPr>
        <p:spPr>
          <a:xfrm>
            <a:off x="457200" y="838200"/>
            <a:ext cx="8229600" cy="5867400"/>
          </a:xfrm>
        </p:spPr>
        <p:txBody>
          <a:bodyPr>
            <a:normAutofit fontScale="85000" lnSpcReduction="20000"/>
          </a:bodyPr>
          <a:lstStyle/>
          <a:p>
            <a:endParaRPr lang="en-US" dirty="0"/>
          </a:p>
          <a:p>
            <a:pPr lvl="1" fontAlgn="base"/>
            <a:r>
              <a:rPr lang="en-US" b="1" dirty="0"/>
              <a:t>Establish rapport with client to gain his trust. It is important that the nurse should accept client’s current level of functioning. She should also be consistent, positive, and honest as well as adapt a nonjudgmental attitude when working with the client.</a:t>
            </a:r>
            <a:endParaRPr lang="en-US" sz="3200" dirty="0"/>
          </a:p>
          <a:p>
            <a:pPr lvl="1" fontAlgn="base"/>
            <a:r>
              <a:rPr lang="en-US" b="1" dirty="0"/>
              <a:t>Provide time and opportunity for client to express his feelings. It is essential that nurse should detect an ongoing grieving process and help client to find conclusion.</a:t>
            </a:r>
            <a:endParaRPr lang="en-US" sz="3200" dirty="0"/>
          </a:p>
          <a:p>
            <a:pPr lvl="1" fontAlgn="base"/>
            <a:r>
              <a:rPr lang="en-US" b="1" dirty="0"/>
              <a:t>To manage outbursts of anger, assist client to identify sources of emotions. Assist client in regaining control.</a:t>
            </a:r>
            <a:endParaRPr lang="en-US" sz="3200" dirty="0"/>
          </a:p>
          <a:p>
            <a:pPr lvl="1" fontAlgn="base"/>
            <a:r>
              <a:rPr lang="en-US" b="1" dirty="0"/>
              <a:t>Assist client in using displacement whenever he is angry by providing things he can manipulate or destroy such as clay.</a:t>
            </a:r>
            <a:endParaRPr lang="en-US" sz="3200" dirty="0"/>
          </a:p>
          <a:p>
            <a:pPr lvl="1" fontAlgn="base"/>
            <a:r>
              <a:rPr lang="en-US" b="1" dirty="0"/>
              <a:t>After every outburst, discuss with the client how his anger escalates.</a:t>
            </a:r>
            <a:endParaRPr lang="en-US" sz="3200" dirty="0"/>
          </a:p>
          <a:p>
            <a:pPr lvl="1" fontAlgn="base"/>
            <a:r>
              <a:rPr lang="en-US" b="1" dirty="0"/>
              <a:t>Desensitize client to his memories of traumatic event</a:t>
            </a:r>
            <a:r>
              <a:rPr lang="en-US" b="1" dirty="0" smtClean="0"/>
              <a:t>.</a:t>
            </a:r>
            <a:endParaRPr lang="en-US" sz="3200" dirty="0"/>
          </a:p>
        </p:txBody>
      </p:sp>
    </p:spTree>
    <p:extLst>
      <p:ext uri="{BB962C8B-B14F-4D97-AF65-F5344CB8AC3E}">
        <p14:creationId xmlns:p14="http://schemas.microsoft.com/office/powerpoint/2010/main" val="562073572"/>
      </p:ext>
    </p:extLst>
  </p:cSld>
  <p:clrMapOvr>
    <a:masterClrMapping/>
  </p:clrMapOvr>
  <p:timing>
    <p:tnLst>
      <p:par>
        <p:cTn id="1" dur="indefinite" restart="never" nodeType="tmRoot"/>
      </p:par>
    </p:tnLst>
  </p:timing>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Nrsg</a:t>
            </a:r>
            <a:r>
              <a:rPr lang="en-US" dirty="0" smtClean="0"/>
              <a:t> interventions </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lvl="1" fontAlgn="base"/>
            <a:r>
              <a:rPr lang="en-US" b="1" dirty="0"/>
              <a:t>Administer prescribed medications as needed. Evaluate his responses to the medications and if client is taking and not hoarding them.</a:t>
            </a:r>
            <a:endParaRPr lang="en-US" sz="3200" dirty="0"/>
          </a:p>
          <a:p>
            <a:pPr lvl="1" fontAlgn="base"/>
            <a:r>
              <a:rPr lang="en-US" b="1" dirty="0"/>
              <a:t>Remind patient that setbacks on the process of treatment are not failures but an expected part of the therapy.</a:t>
            </a:r>
            <a:endParaRPr lang="en-US" sz="3200" dirty="0"/>
          </a:p>
          <a:p>
            <a:pPr lvl="1" fontAlgn="base"/>
            <a:r>
              <a:rPr lang="en-US" b="1" dirty="0"/>
              <a:t>Encourage client to accept forgiveness from self and others.</a:t>
            </a:r>
            <a:endParaRPr lang="en-US" sz="3200" dirty="0"/>
          </a:p>
          <a:p>
            <a:pPr lvl="1" fontAlgn="base"/>
            <a:r>
              <a:rPr lang="en-US" b="1" dirty="0"/>
              <a:t>Emphasize with the client the importance of strict adherence to his medications.</a:t>
            </a:r>
            <a:endParaRPr lang="en-US" sz="3200" dirty="0"/>
          </a:p>
          <a:p>
            <a:pPr lvl="1" fontAlgn="base"/>
            <a:r>
              <a:rPr lang="en-US" b="1" dirty="0"/>
              <a:t>Refer client to other sources of support such as community organizations and support groups.</a:t>
            </a:r>
            <a:endParaRPr lang="en-US" sz="3200" dirty="0"/>
          </a:p>
          <a:p>
            <a:pPr lvl="1" fontAlgn="base"/>
            <a:r>
              <a:rPr lang="en-US" b="1" dirty="0"/>
              <a:t>Encourage client to express his anger verbally rather than physically.</a:t>
            </a:r>
            <a:endParaRPr lang="en-US" sz="3200" dirty="0"/>
          </a:p>
          <a:p>
            <a:endParaRPr lang="en-US" dirty="0"/>
          </a:p>
          <a:p>
            <a:endParaRPr lang="en-US" dirty="0"/>
          </a:p>
        </p:txBody>
      </p:sp>
    </p:spTree>
    <p:extLst>
      <p:ext uri="{BB962C8B-B14F-4D97-AF65-F5344CB8AC3E}">
        <p14:creationId xmlns:p14="http://schemas.microsoft.com/office/powerpoint/2010/main" val="4152659617"/>
      </p:ext>
    </p:extLst>
  </p:cSld>
  <p:clrMapOvr>
    <a:masterClrMapping/>
  </p:clrMapOvr>
  <p:timing>
    <p:tnLst>
      <p:par>
        <p:cTn id="1" dur="indefinite" restart="never" nodeType="tmRoot"/>
      </p:par>
    </p:tnLst>
  </p:timing>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Complications</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smtClean="0"/>
              <a:t>PTSD can </a:t>
            </a:r>
            <a:r>
              <a:rPr lang="en-US" dirty="0"/>
              <a:t>disrupt your whole life ― your job, your relationships, your health and your enjoyment of everyday activities.</a:t>
            </a:r>
          </a:p>
          <a:p>
            <a:r>
              <a:rPr lang="en-US" dirty="0"/>
              <a:t>Having PTSD may also increase your risk of other mental health problems, such as:</a:t>
            </a:r>
          </a:p>
          <a:p>
            <a:pPr lvl="1"/>
            <a:r>
              <a:rPr lang="en-US" dirty="0"/>
              <a:t>Depression and anxiety</a:t>
            </a:r>
          </a:p>
          <a:p>
            <a:pPr lvl="1"/>
            <a:r>
              <a:rPr lang="en-US" dirty="0"/>
              <a:t>Issues with drugs or alcohol use</a:t>
            </a:r>
          </a:p>
          <a:p>
            <a:pPr lvl="1"/>
            <a:r>
              <a:rPr lang="en-US" dirty="0"/>
              <a:t>Eating disorders</a:t>
            </a:r>
          </a:p>
          <a:p>
            <a:pPr lvl="1"/>
            <a:r>
              <a:rPr lang="en-US" dirty="0"/>
              <a:t>Suicidal thoughts and actions</a:t>
            </a:r>
          </a:p>
          <a:p>
            <a:pPr lvl="1"/>
            <a:endParaRPr lang="en-US" dirty="0"/>
          </a:p>
        </p:txBody>
      </p:sp>
    </p:spTree>
    <p:extLst>
      <p:ext uri="{BB962C8B-B14F-4D97-AF65-F5344CB8AC3E}">
        <p14:creationId xmlns:p14="http://schemas.microsoft.com/office/powerpoint/2010/main" val="2378463872"/>
      </p:ext>
    </p:extLst>
  </p:cSld>
  <p:clrMapOvr>
    <a:masterClrMapping/>
  </p:clrMapOvr>
  <p:timing>
    <p:tnLst>
      <p:par>
        <p:cTn id="1" dur="indefinite" restart="never" nodeType="tmRoot"/>
      </p:par>
    </p:tnLst>
  </p:timing>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Eating disorders </a:t>
            </a:r>
            <a:endParaRPr lang="en-US" dirty="0"/>
          </a:p>
        </p:txBody>
      </p:sp>
      <p:sp>
        <p:nvSpPr>
          <p:cNvPr id="3" name="Content Placeholder 2"/>
          <p:cNvSpPr>
            <a:spLocks noGrp="1"/>
          </p:cNvSpPr>
          <p:nvPr>
            <p:ph idx="1"/>
          </p:nvPr>
        </p:nvSpPr>
        <p:spPr/>
        <p:txBody>
          <a:bodyPr/>
          <a:lstStyle/>
          <a:p>
            <a:r>
              <a:rPr lang="en-US" dirty="0"/>
              <a:t>Eating disorders are mental health problems where someone experiences issues with their body weight and shape, and engages in </a:t>
            </a:r>
            <a:r>
              <a:rPr lang="en-US" dirty="0" smtClean="0"/>
              <a:t>behavior </a:t>
            </a:r>
            <a:r>
              <a:rPr lang="en-US" dirty="0"/>
              <a:t>which will disturb their everyday diet and attitude towards food, for example controlling the amount of food they eat</a:t>
            </a:r>
            <a:r>
              <a:rPr lang="en-US" dirty="0" smtClean="0"/>
              <a:t>.</a:t>
            </a:r>
            <a:endParaRPr lang="en-US" dirty="0"/>
          </a:p>
        </p:txBody>
      </p:sp>
    </p:spTree>
    <p:extLst>
      <p:ext uri="{BB962C8B-B14F-4D97-AF65-F5344CB8AC3E}">
        <p14:creationId xmlns:p14="http://schemas.microsoft.com/office/powerpoint/2010/main" val="3251439580"/>
      </p:ext>
    </p:extLst>
  </p:cSld>
  <p:clrMapOvr>
    <a:masterClrMapping/>
  </p:clrMapOvr>
  <p:timing>
    <p:tnLst>
      <p:par>
        <p:cTn id="1" dur="indefinite" restart="never" nodeType="tmRoot"/>
      </p:par>
    </p:tnLst>
  </p:timing>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Causes </a:t>
            </a:r>
            <a:endParaRPr lang="en-US" dirty="0"/>
          </a:p>
        </p:txBody>
      </p:sp>
      <p:sp>
        <p:nvSpPr>
          <p:cNvPr id="3" name="Content Placeholder 2"/>
          <p:cNvSpPr>
            <a:spLocks noGrp="1"/>
          </p:cNvSpPr>
          <p:nvPr>
            <p:ph idx="1"/>
          </p:nvPr>
        </p:nvSpPr>
        <p:spPr>
          <a:xfrm>
            <a:off x="457200" y="838200"/>
            <a:ext cx="8229600" cy="5715000"/>
          </a:xfrm>
        </p:spPr>
        <p:txBody>
          <a:bodyPr>
            <a:normAutofit/>
          </a:bodyPr>
          <a:lstStyle/>
          <a:p>
            <a:r>
              <a:rPr lang="en-US" dirty="0"/>
              <a:t>neurochemical </a:t>
            </a:r>
            <a:r>
              <a:rPr lang="en-US" dirty="0" smtClean="0"/>
              <a:t>changes,</a:t>
            </a:r>
          </a:p>
          <a:p>
            <a:r>
              <a:rPr lang="en-US" dirty="0" smtClean="0"/>
              <a:t>genetics</a:t>
            </a:r>
            <a:r>
              <a:rPr lang="en-US" dirty="0"/>
              <a:t>, </a:t>
            </a:r>
            <a:endParaRPr lang="en-US" dirty="0" smtClean="0"/>
          </a:p>
          <a:p>
            <a:r>
              <a:rPr lang="en-US" dirty="0" smtClean="0"/>
              <a:t>lack </a:t>
            </a:r>
            <a:r>
              <a:rPr lang="en-US" dirty="0"/>
              <a:t>of confidence or </a:t>
            </a:r>
            <a:r>
              <a:rPr lang="en-US" dirty="0" smtClean="0"/>
              <a:t>self-esteem,</a:t>
            </a:r>
          </a:p>
          <a:p>
            <a:r>
              <a:rPr lang="en-US" dirty="0" smtClean="0"/>
              <a:t>perfectionist </a:t>
            </a:r>
            <a:r>
              <a:rPr lang="en-US" dirty="0"/>
              <a:t>personality trait, </a:t>
            </a:r>
            <a:endParaRPr lang="en-US" dirty="0" smtClean="0"/>
          </a:p>
          <a:p>
            <a:r>
              <a:rPr lang="en-US" dirty="0" smtClean="0"/>
              <a:t>problems </a:t>
            </a:r>
            <a:r>
              <a:rPr lang="en-US" dirty="0"/>
              <a:t>such as bullying, or difficulties with school </a:t>
            </a:r>
            <a:r>
              <a:rPr lang="en-US" dirty="0" smtClean="0"/>
              <a:t>work</a:t>
            </a:r>
          </a:p>
          <a:p>
            <a:r>
              <a:rPr lang="en-US" dirty="0" smtClean="0"/>
              <a:t>Can be attributed to eating </a:t>
            </a:r>
            <a:r>
              <a:rPr lang="en-US" dirty="0"/>
              <a:t>disorders to media and the increased important that is placed on wanting o ‘needing’ to have a certain body shape or </a:t>
            </a:r>
            <a:r>
              <a:rPr lang="en-US" dirty="0" smtClean="0"/>
              <a:t>type</a:t>
            </a:r>
          </a:p>
          <a:p>
            <a:endParaRPr lang="en-US" dirty="0" smtClean="0"/>
          </a:p>
          <a:p>
            <a:endParaRPr lang="en-US" dirty="0"/>
          </a:p>
        </p:txBody>
      </p:sp>
    </p:spTree>
    <p:extLst>
      <p:ext uri="{BB962C8B-B14F-4D97-AF65-F5344CB8AC3E}">
        <p14:creationId xmlns:p14="http://schemas.microsoft.com/office/powerpoint/2010/main" val="1111033559"/>
      </p:ext>
    </p:extLst>
  </p:cSld>
  <p:clrMapOvr>
    <a:masterClrMapping/>
  </p:clrMapOvr>
  <p:timing>
    <p:tnLst>
      <p:par>
        <p:cTn id="1" dur="indefinite" restart="never" nodeType="tmRoot"/>
      </p:par>
    </p:tnLst>
  </p:timing>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Eating disorders </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10000"/>
          </a:bodyPr>
          <a:lstStyle/>
          <a:p>
            <a:r>
              <a:rPr lang="en-US" b="1" dirty="0"/>
              <a:t>anorexia nervosa </a:t>
            </a:r>
            <a:r>
              <a:rPr lang="en-US" dirty="0"/>
              <a:t>– where an individual tries to keep their body weight as low as possible (for example, not eating enough and/or exercising excessively) because of a belief that their personal problems are caused by their physical </a:t>
            </a:r>
            <a:r>
              <a:rPr lang="en-US" dirty="0" smtClean="0"/>
              <a:t>appearance</a:t>
            </a:r>
          </a:p>
          <a:p>
            <a:r>
              <a:rPr lang="en-US" b="1" dirty="0" smtClean="0"/>
              <a:t>bulimia </a:t>
            </a:r>
            <a:r>
              <a:rPr lang="en-US" b="1" dirty="0"/>
              <a:t>nervosa </a:t>
            </a:r>
            <a:r>
              <a:rPr lang="en-US" dirty="0"/>
              <a:t>– often just called bulimia, is an unhealthy eating pattern where an individual binge eats then purges, either by vomiting or taking laxatives, in order to control and keep their body weight as low as </a:t>
            </a:r>
            <a:r>
              <a:rPr lang="en-US" dirty="0" smtClean="0"/>
              <a:t>possible.</a:t>
            </a:r>
          </a:p>
          <a:p>
            <a:r>
              <a:rPr lang="en-US" b="1" dirty="0" smtClean="0"/>
              <a:t>binge </a:t>
            </a:r>
            <a:r>
              <a:rPr lang="en-US" b="1" dirty="0"/>
              <a:t>eating </a:t>
            </a:r>
            <a:r>
              <a:rPr lang="en-US" dirty="0"/>
              <a:t>– where an individual eats excessively and feels compelled to do so on a regular basis.</a:t>
            </a:r>
          </a:p>
          <a:p>
            <a:endParaRPr lang="en-US" dirty="0"/>
          </a:p>
          <a:p>
            <a:endParaRPr lang="en-US" dirty="0"/>
          </a:p>
        </p:txBody>
      </p:sp>
    </p:spTree>
    <p:extLst>
      <p:ext uri="{BB962C8B-B14F-4D97-AF65-F5344CB8AC3E}">
        <p14:creationId xmlns:p14="http://schemas.microsoft.com/office/powerpoint/2010/main" val="4154583882"/>
      </p:ext>
    </p:extLst>
  </p:cSld>
  <p:clrMapOvr>
    <a:masterClrMapping/>
  </p:clrMapOvr>
  <p:timing>
    <p:tnLst>
      <p:par>
        <p:cTn id="1" dur="indefinite" restart="never" nodeType="tmRoot"/>
      </p:par>
    </p:tnLst>
  </p:timing>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smtClean="0"/>
              <a:t/>
            </a:r>
            <a:br>
              <a:rPr lang="en-US" b="1" dirty="0" smtClean="0"/>
            </a:br>
            <a:r>
              <a:rPr lang="en-US" b="1" dirty="0" smtClean="0"/>
              <a:t>substance abuse &amp; eating </a:t>
            </a:r>
            <a:r>
              <a:rPr lang="en-US" b="1" dirty="0"/>
              <a:t>disorders</a:t>
            </a:r>
            <a:br>
              <a:rPr lang="en-US" b="1" dirty="0"/>
            </a:br>
            <a:endParaRPr lang="en-US" dirty="0"/>
          </a:p>
        </p:txBody>
      </p:sp>
      <p:sp>
        <p:nvSpPr>
          <p:cNvPr id="3" name="Content Placeholder 2"/>
          <p:cNvSpPr>
            <a:spLocks noGrp="1"/>
          </p:cNvSpPr>
          <p:nvPr>
            <p:ph idx="1"/>
          </p:nvPr>
        </p:nvSpPr>
        <p:spPr>
          <a:xfrm>
            <a:off x="457200" y="1143000"/>
            <a:ext cx="8229600" cy="5562600"/>
          </a:xfrm>
        </p:spPr>
        <p:txBody>
          <a:bodyPr>
            <a:normAutofit/>
          </a:bodyPr>
          <a:lstStyle/>
          <a:p>
            <a:r>
              <a:rPr lang="en-US" dirty="0"/>
              <a:t>Many drugs affect appetite – some, including marijuana and other </a:t>
            </a:r>
            <a:r>
              <a:rPr lang="en-US" dirty="0" smtClean="0"/>
              <a:t>cannabinoids, ↑ in </a:t>
            </a:r>
            <a:r>
              <a:rPr lang="en-US" dirty="0"/>
              <a:t>appetite and subsequent eating behavior. </a:t>
            </a:r>
            <a:endParaRPr lang="en-US" dirty="0" smtClean="0"/>
          </a:p>
          <a:p>
            <a:r>
              <a:rPr lang="en-US" b="1" dirty="0"/>
              <a:t>Alcohol is another drug that is related to eating disorders</a:t>
            </a:r>
            <a:r>
              <a:rPr lang="en-US" dirty="0"/>
              <a:t> – specifically </a:t>
            </a:r>
            <a:r>
              <a:rPr lang="en-US" b="1" dirty="0" smtClean="0"/>
              <a:t>bulimia</a:t>
            </a:r>
          </a:p>
          <a:p>
            <a:r>
              <a:rPr lang="en-US" b="1" dirty="0" smtClean="0"/>
              <a:t>food </a:t>
            </a:r>
            <a:r>
              <a:rPr lang="en-US" b="1" dirty="0"/>
              <a:t>deprivation may affect the brain’s reward system pathways</a:t>
            </a:r>
            <a:r>
              <a:rPr lang="en-US" dirty="0"/>
              <a:t>, making a person more likely to abuse substances that provide a rush of the brain’s reward chemicals</a:t>
            </a:r>
          </a:p>
        </p:txBody>
      </p:sp>
    </p:spTree>
    <p:extLst>
      <p:ext uri="{BB962C8B-B14F-4D97-AF65-F5344CB8AC3E}">
        <p14:creationId xmlns:p14="http://schemas.microsoft.com/office/powerpoint/2010/main" val="1837226530"/>
      </p:ext>
    </p:extLst>
  </p:cSld>
  <p:clrMapOvr>
    <a:masterClrMapping/>
  </p:clrMapOvr>
  <p:timing>
    <p:tnLst>
      <p:par>
        <p:cTn id="1" dur="indefinite" restart="never" nodeType="tmRoot"/>
      </p:par>
    </p:tnLst>
  </p:timing>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17493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1530</TotalTime>
  <Words>23006</Words>
  <Application>Microsoft Office PowerPoint</Application>
  <PresentationFormat>On-screen Show (4:3)</PresentationFormat>
  <Paragraphs>2484</Paragraphs>
  <Slides>385</Slides>
  <Notes>22</Notes>
  <HiddenSlides>0</HiddenSlides>
  <MMClips>0</MMClips>
  <ScaleCrop>false</ScaleCrop>
  <HeadingPairs>
    <vt:vector size="4" baseType="variant">
      <vt:variant>
        <vt:lpstr>Theme</vt:lpstr>
      </vt:variant>
      <vt:variant>
        <vt:i4>3</vt:i4>
      </vt:variant>
      <vt:variant>
        <vt:lpstr>Slide Titles</vt:lpstr>
      </vt:variant>
      <vt:variant>
        <vt:i4>385</vt:i4>
      </vt:variant>
    </vt:vector>
  </HeadingPairs>
  <TitlesOfParts>
    <vt:vector size="388" baseType="lpstr">
      <vt:lpstr>Office Theme</vt:lpstr>
      <vt:lpstr>1_Office Theme</vt:lpstr>
      <vt:lpstr>2_Office Theme</vt:lpstr>
      <vt:lpstr>PSYCHIATRIC /MENTAL HEALTH </vt:lpstr>
      <vt:lpstr>OBJECTIVES </vt:lpstr>
      <vt:lpstr>DEFINITIONS </vt:lpstr>
      <vt:lpstr>DEFINITIONS </vt:lpstr>
      <vt:lpstr>Hx of psychiatry </vt:lpstr>
      <vt:lpstr>Hx of psychiatry </vt:lpstr>
      <vt:lpstr>Hx of psychiatry </vt:lpstr>
      <vt:lpstr>Hx of psychiatry </vt:lpstr>
      <vt:lpstr>HX</vt:lpstr>
      <vt:lpstr>HX</vt:lpstr>
      <vt:lpstr>HX</vt:lpstr>
      <vt:lpstr>HX </vt:lpstr>
      <vt:lpstr>CLASSIFYING MENTAL DISORDERS </vt:lpstr>
      <vt:lpstr>ICD – 10 </vt:lpstr>
      <vt:lpstr>ICD - 10</vt:lpstr>
      <vt:lpstr>DSM IV Mental disorders classification </vt:lpstr>
      <vt:lpstr>DSM IV Mental disorders classification </vt:lpstr>
      <vt:lpstr>DSM – IV </vt:lpstr>
      <vt:lpstr>DSM V </vt:lpstr>
      <vt:lpstr>Principles and qualities of psychiatric nursing</vt:lpstr>
      <vt:lpstr>Ctd </vt:lpstr>
      <vt:lpstr>Ctd..</vt:lpstr>
      <vt:lpstr>Ctd </vt:lpstr>
      <vt:lpstr>Ctd </vt:lpstr>
      <vt:lpstr>Ctd </vt:lpstr>
      <vt:lpstr>Legal aspects in mental health </vt:lpstr>
      <vt:lpstr>Legal aspects </vt:lpstr>
      <vt:lpstr>Legal aspects </vt:lpstr>
      <vt:lpstr>Legal aspects </vt:lpstr>
      <vt:lpstr>Legal aspects </vt:lpstr>
      <vt:lpstr>Legal aspects </vt:lpstr>
      <vt:lpstr> Kenyan Board of Mental Health  </vt:lpstr>
      <vt:lpstr>Cont..</vt:lpstr>
      <vt:lpstr>Functions of the board</vt:lpstr>
      <vt:lpstr>Ctied </vt:lpstr>
      <vt:lpstr>Cont..</vt:lpstr>
      <vt:lpstr>Sections of the act part v voluntary patients section </vt:lpstr>
      <vt:lpstr> Part VI - Involuntary Patients  Section 14  </vt:lpstr>
      <vt:lpstr> Part VII - Emergency Admissions Section 1b   </vt:lpstr>
      <vt:lpstr> Part VIII - Admission and Discharge of Members of the Armed Forces Section 17  </vt:lpstr>
      <vt:lpstr> Part XIV – Offences under MHA  </vt:lpstr>
      <vt:lpstr>Ctied </vt:lpstr>
      <vt:lpstr>Role of mental health nurse </vt:lpstr>
      <vt:lpstr>  GENERAL SYMPTOMS OF MENTAL DISORDERS </vt:lpstr>
      <vt:lpstr>General symptomatology </vt:lpstr>
      <vt:lpstr>THOUGHT PROCESS </vt:lpstr>
      <vt:lpstr>THOUGHT PROCESS</vt:lpstr>
      <vt:lpstr>THOUGHT PROCESS </vt:lpstr>
      <vt:lpstr>MOOD </vt:lpstr>
      <vt:lpstr>MOOD TYPES </vt:lpstr>
      <vt:lpstr>AFFECT </vt:lpstr>
      <vt:lpstr>AFFECT </vt:lpstr>
      <vt:lpstr>AFFECT </vt:lpstr>
      <vt:lpstr>Abnormalities of Speech </vt:lpstr>
      <vt:lpstr>Abnormalities of Speech </vt:lpstr>
      <vt:lpstr>Abnormalities of Speech </vt:lpstr>
      <vt:lpstr>Disorders of Perception </vt:lpstr>
      <vt:lpstr>Disorders of Perception </vt:lpstr>
      <vt:lpstr>Disorders of Perception </vt:lpstr>
      <vt:lpstr>Disorders of Memory </vt:lpstr>
      <vt:lpstr>History Taking  </vt:lpstr>
      <vt:lpstr> HX Ctd </vt:lpstr>
      <vt:lpstr>HX  </vt:lpstr>
      <vt:lpstr>MENTAL STATUS ASSESSMENT </vt:lpstr>
      <vt:lpstr>MENTAL STATUS ASSESSMENT </vt:lpstr>
      <vt:lpstr>MSE </vt:lpstr>
      <vt:lpstr>MSE</vt:lpstr>
      <vt:lpstr>MSE </vt:lpstr>
      <vt:lpstr>MSE </vt:lpstr>
      <vt:lpstr>MOOD DISORDERS </vt:lpstr>
      <vt:lpstr>MOOD DX</vt:lpstr>
      <vt:lpstr>MOOD DX</vt:lpstr>
      <vt:lpstr>MOOD DX  Types of mood disorders </vt:lpstr>
      <vt:lpstr> MOOD DX Depressive disorders:  </vt:lpstr>
      <vt:lpstr> Unipolar/ major depressive disorder  </vt:lpstr>
      <vt:lpstr>Unipolar/ major depressive disorder</vt:lpstr>
      <vt:lpstr>Unipolar/ major depressive disorder</vt:lpstr>
      <vt:lpstr>Unipolar/ major depressive disorder S&amp;S</vt:lpstr>
      <vt:lpstr>Unipolar/ major depressive disorder S&amp;S</vt:lpstr>
      <vt:lpstr>Unipolar/ major depressive disorder S&amp;S</vt:lpstr>
      <vt:lpstr>Unipolar/ major depressive disorder causes </vt:lpstr>
      <vt:lpstr>Unipolar/ major depressive disorder causes </vt:lpstr>
      <vt:lpstr>Unipolar/ major depressive disorder causes </vt:lpstr>
      <vt:lpstr>Unipolar/ major depressive disorder causes </vt:lpstr>
      <vt:lpstr>Unipolar/ major depressive disorder SUBTYPES </vt:lpstr>
      <vt:lpstr>Unipolar/ major depressive disorder SUBTYPES </vt:lpstr>
      <vt:lpstr>Unipolar/ major depressive disorder SUBTYPES </vt:lpstr>
      <vt:lpstr>Unipolar/ major depressive disorder SUBTYPES </vt:lpstr>
      <vt:lpstr>2. Dysthymia</vt:lpstr>
      <vt:lpstr>Rx MDD</vt:lpstr>
      <vt:lpstr>MDD-NRSG DX</vt:lpstr>
      <vt:lpstr>Bipolar disorders  manic-depressive disorder</vt:lpstr>
      <vt:lpstr> stages of mania  </vt:lpstr>
      <vt:lpstr>Clinical features –mania</vt:lpstr>
      <vt:lpstr> Clinical features of Hypomania episode  </vt:lpstr>
      <vt:lpstr>Types of bipolar disorder </vt:lpstr>
      <vt:lpstr>Types –bipolar disorder </vt:lpstr>
      <vt:lpstr>Types- bipolar disorder  </vt:lpstr>
      <vt:lpstr>Management of bipolar disorder </vt:lpstr>
      <vt:lpstr>Mx –Bipolar </vt:lpstr>
      <vt:lpstr>SCHIZOPHRENIA </vt:lpstr>
      <vt:lpstr>SCHIZOPHRENIA </vt:lpstr>
      <vt:lpstr>Schizophrenia </vt:lpstr>
      <vt:lpstr>SCHIZOPHRENIA </vt:lpstr>
      <vt:lpstr>General symptoms of schizophrenia</vt:lpstr>
      <vt:lpstr>General symptoms of schizophrenia</vt:lpstr>
      <vt:lpstr>PowerPoint Presentation</vt:lpstr>
      <vt:lpstr>General symptoms of schizophrenia</vt:lpstr>
      <vt:lpstr>General symptoms of schizophrenia</vt:lpstr>
      <vt:lpstr>Schizophrenia – types </vt:lpstr>
      <vt:lpstr>Phases </vt:lpstr>
      <vt:lpstr>Schizophrenia- types </vt:lpstr>
      <vt:lpstr>Schizophrenia- types </vt:lpstr>
      <vt:lpstr>Schizophrenia types </vt:lpstr>
      <vt:lpstr>Schizophrenia-types </vt:lpstr>
      <vt:lpstr>Schizophrenia types </vt:lpstr>
      <vt:lpstr>CAUSES </vt:lpstr>
      <vt:lpstr>Dx-DSM V </vt:lpstr>
      <vt:lpstr>Nrsg -Mx</vt:lpstr>
      <vt:lpstr>Mx </vt:lpstr>
      <vt:lpstr>Personality disorders </vt:lpstr>
      <vt:lpstr>Personality disorders </vt:lpstr>
      <vt:lpstr>Personality disorders </vt:lpstr>
      <vt:lpstr>Personality disorders</vt:lpstr>
      <vt:lpstr>  Cluster A - Odd, Eccentric Group (Psychotics) </vt:lpstr>
      <vt:lpstr>Paranoid Personality Disorder </vt:lpstr>
      <vt:lpstr>Paranoid personality dx </vt:lpstr>
      <vt:lpstr>Mx </vt:lpstr>
      <vt:lpstr>   Schizoid personality disorder  </vt:lpstr>
      <vt:lpstr> Schizoid personality disorder  </vt:lpstr>
      <vt:lpstr>Schizotypal personality disorder </vt:lpstr>
      <vt:lpstr>Schizotypal personality disorder </vt:lpstr>
      <vt:lpstr>Cluster B: Dramatic, Erratic/Unpredictable (Extraverts) </vt:lpstr>
      <vt:lpstr>Antisocial personality disorder </vt:lpstr>
      <vt:lpstr>Anti social PD</vt:lpstr>
      <vt:lpstr>Histrionic personality disorder: </vt:lpstr>
      <vt:lpstr>Histrionic personality disorder: </vt:lpstr>
      <vt:lpstr>Histrionic PD</vt:lpstr>
      <vt:lpstr> Narcissistic personality disorder:  </vt:lpstr>
      <vt:lpstr> Narcissistic personality disorder:  </vt:lpstr>
      <vt:lpstr>Narcissistic PD </vt:lpstr>
      <vt:lpstr>Borderline personality disorder </vt:lpstr>
      <vt:lpstr>Borderline personality disorder </vt:lpstr>
      <vt:lpstr>Borderline PD </vt:lpstr>
      <vt:lpstr>Cluster C: Anxious, Fearful Group (Neurotics) </vt:lpstr>
      <vt:lpstr>Avoidant PD </vt:lpstr>
      <vt:lpstr>Dependent personality disorder </vt:lpstr>
      <vt:lpstr>Dependent PD </vt:lpstr>
      <vt:lpstr>Obsessive-compulsive personality disorder: </vt:lpstr>
      <vt:lpstr>OCPD </vt:lpstr>
      <vt:lpstr>Sexual disorders </vt:lpstr>
      <vt:lpstr>Gender identity disorders</vt:lpstr>
      <vt:lpstr>Gender identity disorders</vt:lpstr>
      <vt:lpstr>Gender identity disorders</vt:lpstr>
      <vt:lpstr>Gender identity disorders</vt:lpstr>
      <vt:lpstr>Paraphilias – sexual deviation perversion </vt:lpstr>
      <vt:lpstr>Paraphilia - Types </vt:lpstr>
      <vt:lpstr>Paraphilia-types </vt:lpstr>
      <vt:lpstr>SEXUAL DYSFUNCTION </vt:lpstr>
      <vt:lpstr>Sexual desire disorders/ decreased libido </vt:lpstr>
      <vt:lpstr>Sexual excitement disorders </vt:lpstr>
      <vt:lpstr>Erectile dysfunction/ impotence  </vt:lpstr>
      <vt:lpstr> Causes  </vt:lpstr>
      <vt:lpstr>Treatment </vt:lpstr>
      <vt:lpstr>Sexual disorders </vt:lpstr>
      <vt:lpstr>Treatment of sexual disorders </vt:lpstr>
      <vt:lpstr>PowerPoint Presentation</vt:lpstr>
      <vt:lpstr>1. MENTAL RETARDATION </vt:lpstr>
      <vt:lpstr> Mild Mental retardation (IQ70 -50) </vt:lpstr>
      <vt:lpstr>Moderate MR (1Q 50 -35) </vt:lpstr>
      <vt:lpstr>Severe mental retardation (IQ 35-20) </vt:lpstr>
      <vt:lpstr>Profound MR(IQ below 20) </vt:lpstr>
      <vt:lpstr>Etiology-MR</vt:lpstr>
      <vt:lpstr>Treatment </vt:lpstr>
      <vt:lpstr>2. Learning Skills Disorder </vt:lpstr>
      <vt:lpstr> PERVASIVE DEVELOPMENTAL DISORDERS (DSM IV)  </vt:lpstr>
      <vt:lpstr>AUTISTIC DISORDER </vt:lpstr>
      <vt:lpstr>AUTISTIC DX-RX </vt:lpstr>
      <vt:lpstr>RETT’S DISORDER </vt:lpstr>
      <vt:lpstr>DSM IV DX criteria for Rett’s Disorder </vt:lpstr>
      <vt:lpstr>RETTS DX –RX </vt:lpstr>
      <vt:lpstr>ADHD </vt:lpstr>
      <vt:lpstr>ADHD – ETIOLOGY </vt:lpstr>
      <vt:lpstr>DX </vt:lpstr>
      <vt:lpstr>Clinical Features on Order of Fx </vt:lpstr>
      <vt:lpstr>Rx </vt:lpstr>
      <vt:lpstr>DISRUPTIVE BEHAVIOUR DISORDER </vt:lpstr>
      <vt:lpstr> OPPOSITIONAL DEFIANT DISORDER.  </vt:lpstr>
      <vt:lpstr>Diagnosis and clinical features </vt:lpstr>
      <vt:lpstr>Rx</vt:lpstr>
      <vt:lpstr>CONDUCT DISORDER </vt:lpstr>
      <vt:lpstr>SYMPTOMS </vt:lpstr>
      <vt:lpstr>ORGANIC DISORDERS/ COGNITIVE DISORDERS </vt:lpstr>
      <vt:lpstr>Delirium / Confusional State </vt:lpstr>
      <vt:lpstr>Presentation and essential features </vt:lpstr>
      <vt:lpstr>FEATURES CTD </vt:lpstr>
      <vt:lpstr>RISK FACTORS- DELIRIUM </vt:lpstr>
      <vt:lpstr>ETIOLOGY </vt:lpstr>
      <vt:lpstr>ETIOLOGY </vt:lpstr>
      <vt:lpstr>Pathology</vt:lpstr>
      <vt:lpstr>Test/Investigations/DX </vt:lpstr>
      <vt:lpstr>Nursing care </vt:lpstr>
      <vt:lpstr>MX/RX </vt:lpstr>
      <vt:lpstr>MX /RX </vt:lpstr>
      <vt:lpstr>MX /RX</vt:lpstr>
      <vt:lpstr>Types of Delirium </vt:lpstr>
      <vt:lpstr>TYPES </vt:lpstr>
      <vt:lpstr>TYPES </vt:lpstr>
      <vt:lpstr>PROGNOSIS </vt:lpstr>
      <vt:lpstr>DEMENTIA </vt:lpstr>
      <vt:lpstr>dementia affects </vt:lpstr>
      <vt:lpstr>dementia</vt:lpstr>
      <vt:lpstr>Presentation (s/s) </vt:lpstr>
      <vt:lpstr>Differential diagnosis </vt:lpstr>
      <vt:lpstr>Subcategories of dementia based on causes </vt:lpstr>
      <vt:lpstr>Causes  (reduced Arch levels) </vt:lpstr>
      <vt:lpstr>Investigations </vt:lpstr>
      <vt:lpstr>Management </vt:lpstr>
      <vt:lpstr>Rx –drugs </vt:lpstr>
      <vt:lpstr>Mx </vt:lpstr>
      <vt:lpstr>Mx </vt:lpstr>
      <vt:lpstr>Alzheimers dx </vt:lpstr>
      <vt:lpstr>Etiology </vt:lpstr>
      <vt:lpstr>AMNESTIC SYNDROME</vt:lpstr>
      <vt:lpstr>PSYCHOACTIVE SUBSTANCE USE DISORDER </vt:lpstr>
      <vt:lpstr>Types of substance use disorder </vt:lpstr>
      <vt:lpstr>SUBSTANCE ABUSE </vt:lpstr>
      <vt:lpstr>SUBSTANCE ABUSE </vt:lpstr>
      <vt:lpstr>SUBSTANCE ABUSE </vt:lpstr>
      <vt:lpstr>SUBSTANCE ABUSE </vt:lpstr>
      <vt:lpstr> Dependence Syndrome  </vt:lpstr>
      <vt:lpstr>SUBSTANCE ABUSE  dependence </vt:lpstr>
      <vt:lpstr>Substance abuse </vt:lpstr>
      <vt:lpstr>Substance Abuse </vt:lpstr>
      <vt:lpstr>Etiological factors in substance use disorders </vt:lpstr>
      <vt:lpstr>Etiology ct’d </vt:lpstr>
      <vt:lpstr>Types of Drugs of Abuse</vt:lpstr>
      <vt:lpstr>Consequences of Drug Abuse </vt:lpstr>
      <vt:lpstr>Diagnosis of substance use </vt:lpstr>
      <vt:lpstr>Mx of substance abuse </vt:lpstr>
      <vt:lpstr>PSYCHIATRIC EMERGENCIES </vt:lpstr>
      <vt:lpstr>Common Psychiatric Emergencies</vt:lpstr>
      <vt:lpstr>SUICIDE</vt:lpstr>
      <vt:lpstr>Causes of suicide</vt:lpstr>
      <vt:lpstr>RISK FACTORS FOR SUICIDE</vt:lpstr>
      <vt:lpstr>Clues to Suicide</vt:lpstr>
      <vt:lpstr>Clues </vt:lpstr>
      <vt:lpstr>Steps of preventing suicide</vt:lpstr>
      <vt:lpstr> Psychobiological Interventions  </vt:lpstr>
      <vt:lpstr>ANGER, AGGRESSION AND VIOLENCE </vt:lpstr>
      <vt:lpstr>Anger, Aggression and violence </vt:lpstr>
      <vt:lpstr>Comorbidity </vt:lpstr>
      <vt:lpstr>Indicators of Impending Violence </vt:lpstr>
      <vt:lpstr>Management </vt:lpstr>
      <vt:lpstr>MX </vt:lpstr>
      <vt:lpstr>SECLUSION AND RESTRAINT </vt:lpstr>
      <vt:lpstr>Indications for seclusion and restraint </vt:lpstr>
      <vt:lpstr>Contraindications to Seclusion &amp; Restraint </vt:lpstr>
      <vt:lpstr>Community Mental Health Nursing</vt:lpstr>
      <vt:lpstr>THE PUBLIC HEALTH MODEL</vt:lpstr>
      <vt:lpstr>Primary prevention</vt:lpstr>
      <vt:lpstr>Primary prevention </vt:lpstr>
      <vt:lpstr>Primary prevention </vt:lpstr>
      <vt:lpstr>Primary prevention </vt:lpstr>
      <vt:lpstr>Secondary prevention</vt:lpstr>
      <vt:lpstr>Secondary prevention </vt:lpstr>
      <vt:lpstr>Tertiary prevention</vt:lpstr>
      <vt:lpstr>Tertiary prevention</vt:lpstr>
      <vt:lpstr>Tertiary prevention </vt:lpstr>
      <vt:lpstr>Tertiary prevention </vt:lpstr>
      <vt:lpstr>THE COMMUNITY AS CLIENT </vt:lpstr>
      <vt:lpstr>Secondary Prevention </vt:lpstr>
      <vt:lpstr>Secondary prevention </vt:lpstr>
      <vt:lpstr>Tertiary Prevention </vt:lpstr>
      <vt:lpstr>Tertiary Prevention </vt:lpstr>
      <vt:lpstr>Summary </vt:lpstr>
      <vt:lpstr>PowerPoint Presentation</vt:lpstr>
      <vt:lpstr>PowerPoint Presentation</vt:lpstr>
      <vt:lpstr>PowerPoint Presentation</vt:lpstr>
      <vt:lpstr>Crisis </vt:lpstr>
      <vt:lpstr>Crisis </vt:lpstr>
      <vt:lpstr> Types  Maturational Crises </vt:lpstr>
      <vt:lpstr>ADOLESCENCE.</vt:lpstr>
      <vt:lpstr>Problems of adolescents</vt:lpstr>
      <vt:lpstr>Mx-adolescents </vt:lpstr>
      <vt:lpstr>Support groups –adolescents </vt:lpstr>
      <vt:lpstr>Support groups –adolescents </vt:lpstr>
      <vt:lpstr>Situational Crises </vt:lpstr>
      <vt:lpstr>Situational crises </vt:lpstr>
      <vt:lpstr>Situational crises </vt:lpstr>
      <vt:lpstr>Interventions </vt:lpstr>
      <vt:lpstr>Adventitious </vt:lpstr>
      <vt:lpstr>Phases of Crisis </vt:lpstr>
      <vt:lpstr>Levels of crisis intervention </vt:lpstr>
      <vt:lpstr>Levels of crisis intervention </vt:lpstr>
      <vt:lpstr>S&amp;S </vt:lpstr>
      <vt:lpstr>Pt assessment </vt:lpstr>
      <vt:lpstr>Nrsg dx</vt:lpstr>
      <vt:lpstr>Interventions </vt:lpstr>
      <vt:lpstr>TREATMENT MODALITIES/THERAPIES  FOR MENTAL HEALTH</vt:lpstr>
      <vt:lpstr>Psychotherapies </vt:lpstr>
      <vt:lpstr>biological therapies</vt:lpstr>
      <vt:lpstr> PSYCHOANALYSIS  </vt:lpstr>
      <vt:lpstr>PSYCHOANALYSIS </vt:lpstr>
      <vt:lpstr>PSYCHONALYSIS </vt:lpstr>
      <vt:lpstr>PSYCHOANALYSIS</vt:lpstr>
      <vt:lpstr>Indications for psychoanalysis </vt:lpstr>
      <vt:lpstr> Brief therapy/ Strategic therapy/Solution focused brief therapy/ time limited psychotherapy  </vt:lpstr>
      <vt:lpstr>Brief therapy </vt:lpstr>
      <vt:lpstr> Group therapy  </vt:lpstr>
      <vt:lpstr>Types of groups </vt:lpstr>
      <vt:lpstr>Group process </vt:lpstr>
      <vt:lpstr>Therapeutic factors in group therapy </vt:lpstr>
      <vt:lpstr>Indications for group therapy </vt:lpstr>
      <vt:lpstr> Psychodrama  </vt:lpstr>
      <vt:lpstr> Family therapy and Couple therapy  </vt:lpstr>
      <vt:lpstr>Family therapy and Couple therapy</vt:lpstr>
      <vt:lpstr>Biofeedback  </vt:lpstr>
      <vt:lpstr> Cognitive-Behavioral therapy  </vt:lpstr>
      <vt:lpstr>CBT </vt:lpstr>
      <vt:lpstr>CBT used to RX: </vt:lpstr>
      <vt:lpstr>CBT </vt:lpstr>
      <vt:lpstr>CBT  Systematic desensitization </vt:lpstr>
      <vt:lpstr>CBT </vt:lpstr>
      <vt:lpstr>CBT  flooding </vt:lpstr>
      <vt:lpstr>CBT </vt:lpstr>
      <vt:lpstr> BIOLOGICAL THERAPIES  </vt:lpstr>
      <vt:lpstr>BIOLOGICAL THERAPIES </vt:lpstr>
      <vt:lpstr> Antipsychotics/ neuroleptics/ major tranquilizers  </vt:lpstr>
      <vt:lpstr> Antipsychotics/ neuroleptics/ major tranquilizers  </vt:lpstr>
      <vt:lpstr>ANTIPSYCHOTICS </vt:lpstr>
      <vt:lpstr>Atypical antipsychotics </vt:lpstr>
      <vt:lpstr>Antipsychotics </vt:lpstr>
      <vt:lpstr>Atypical Antipsychotics </vt:lpstr>
      <vt:lpstr>M.O.A</vt:lpstr>
      <vt:lpstr>General Indications of antipsychotics </vt:lpstr>
      <vt:lpstr>Antipsychotics </vt:lpstr>
      <vt:lpstr>S/E [General for antipsychotics] </vt:lpstr>
      <vt:lpstr>S/E </vt:lpstr>
      <vt:lpstr>S/E </vt:lpstr>
      <vt:lpstr>S/S </vt:lpstr>
      <vt:lpstr> ANTIDEPRESSANT DRUGS  </vt:lpstr>
      <vt:lpstr> TCA [ tricyclic antidepressants]  </vt:lpstr>
      <vt:lpstr>TCA INDICATIONS </vt:lpstr>
      <vt:lpstr> SSRIs [ selective serotonin reuptake inhibitors]  </vt:lpstr>
      <vt:lpstr>SSRI </vt:lpstr>
      <vt:lpstr>MOA </vt:lpstr>
      <vt:lpstr> MAOIs MONO AMINE OXIDASE INHIBITORS  </vt:lpstr>
      <vt:lpstr>MAOI Indications </vt:lpstr>
      <vt:lpstr>MX OF DEPRESSION –PT </vt:lpstr>
      <vt:lpstr>Antidepressants- Withdrawal Signs</vt:lpstr>
      <vt:lpstr> Antidepressants Common Interactions  </vt:lpstr>
      <vt:lpstr>Electroconvulsive Therapy </vt:lpstr>
      <vt:lpstr>M.O.A </vt:lpstr>
      <vt:lpstr>Technique Of ECT </vt:lpstr>
      <vt:lpstr>Technique –ECT </vt:lpstr>
      <vt:lpstr>Technique-ECT </vt:lpstr>
      <vt:lpstr>Technique –ECT </vt:lpstr>
      <vt:lpstr>ECT </vt:lpstr>
      <vt:lpstr>Contraindications-ECT  </vt:lpstr>
      <vt:lpstr>Adverse Effects-ECT </vt:lpstr>
      <vt:lpstr>Specialized psychiatric therapies </vt:lpstr>
      <vt:lpstr>Artane </vt:lpstr>
      <vt:lpstr>Indications </vt:lpstr>
      <vt:lpstr>s/e </vt:lpstr>
      <vt:lpstr>PTSD </vt:lpstr>
      <vt:lpstr>PTSD </vt:lpstr>
      <vt:lpstr>PTSD </vt:lpstr>
      <vt:lpstr>PTSD </vt:lpstr>
      <vt:lpstr>PTSD</vt:lpstr>
      <vt:lpstr>PTSD</vt:lpstr>
      <vt:lpstr>PTSD</vt:lpstr>
      <vt:lpstr> Causes </vt:lpstr>
      <vt:lpstr> Risk factors </vt:lpstr>
      <vt:lpstr>TRAUMATIC EVENTS </vt:lpstr>
      <vt:lpstr>MX </vt:lpstr>
      <vt:lpstr>Mx </vt:lpstr>
      <vt:lpstr>Nrsg interventions </vt:lpstr>
      <vt:lpstr>Nrsg interventions </vt:lpstr>
      <vt:lpstr>Complications </vt:lpstr>
      <vt:lpstr>Eating disorders </vt:lpstr>
      <vt:lpstr>Causes </vt:lpstr>
      <vt:lpstr>Eating disorders </vt:lpstr>
      <vt:lpstr> substance abuse &amp; eating disorders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PSYCHIATRIC /MENTAL HEALTH</dc:title>
  <dc:creator>user</dc:creator>
  <cp:lastModifiedBy>Njenga</cp:lastModifiedBy>
  <cp:revision>34</cp:revision>
  <dcterms:created xsi:type="dcterms:W3CDTF">2017-04-24T05:26:45Z</dcterms:created>
  <dcterms:modified xsi:type="dcterms:W3CDTF">2018-05-14T09:36:41Z</dcterms:modified>
</cp:coreProperties>
</file>