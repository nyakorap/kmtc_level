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7" r:id="rId9"/>
    <p:sldId id="263" r:id="rId10"/>
    <p:sldId id="264" r:id="rId11"/>
    <p:sldId id="265" r:id="rId12"/>
    <p:sldId id="316" r:id="rId13"/>
    <p:sldId id="317" r:id="rId14"/>
    <p:sldId id="347" r:id="rId15"/>
    <p:sldId id="318" r:id="rId16"/>
    <p:sldId id="319" r:id="rId17"/>
    <p:sldId id="320" r:id="rId18"/>
    <p:sldId id="321" r:id="rId19"/>
    <p:sldId id="279" r:id="rId20"/>
    <p:sldId id="281" r:id="rId21"/>
    <p:sldId id="339" r:id="rId22"/>
    <p:sldId id="267" r:id="rId23"/>
    <p:sldId id="268" r:id="rId24"/>
    <p:sldId id="269" r:id="rId25"/>
    <p:sldId id="270" r:id="rId26"/>
    <p:sldId id="271" r:id="rId27"/>
    <p:sldId id="272" r:id="rId28"/>
    <p:sldId id="348" r:id="rId29"/>
    <p:sldId id="273" r:id="rId30"/>
    <p:sldId id="274" r:id="rId31"/>
    <p:sldId id="349" r:id="rId32"/>
    <p:sldId id="275" r:id="rId33"/>
    <p:sldId id="350" r:id="rId34"/>
    <p:sldId id="276" r:id="rId35"/>
    <p:sldId id="351" r:id="rId36"/>
    <p:sldId id="277" r:id="rId37"/>
    <p:sldId id="352" r:id="rId38"/>
    <p:sldId id="323" r:id="rId39"/>
    <p:sldId id="282" r:id="rId40"/>
    <p:sldId id="283" r:id="rId41"/>
    <p:sldId id="353" r:id="rId42"/>
    <p:sldId id="354" r:id="rId43"/>
    <p:sldId id="355" r:id="rId44"/>
    <p:sldId id="356" r:id="rId45"/>
    <p:sldId id="357" r:id="rId46"/>
    <p:sldId id="358" r:id="rId47"/>
    <p:sldId id="363" r:id="rId48"/>
    <p:sldId id="359" r:id="rId49"/>
    <p:sldId id="360" r:id="rId50"/>
    <p:sldId id="364" r:id="rId51"/>
    <p:sldId id="361" r:id="rId52"/>
    <p:sldId id="36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>
        <p:scale>
          <a:sx n="68" d="100"/>
          <a:sy n="68" d="100"/>
        </p:scale>
        <p:origin x="14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74688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58047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008896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17219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2925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6231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5386"/>
      </p:ext>
    </p:extLst>
  </p:cSld>
  <p:clrMapOvr>
    <a:masterClrMapping/>
  </p:clrMapOvr>
  <p:transition spd="slow">
    <p:cover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39672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899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5309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37688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AB5463A-6F8F-430D-83EF-338CD405ABF2}" type="datetimeFigureOut">
              <a:rPr lang="en-US" smtClean="0"/>
              <a:pPr/>
              <a:t>6/6/2021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04C543-C9E9-48CF-938C-050C7B85A48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60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ransition spd="slow">
    <p:cover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289864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Sexual Disorders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endParaRPr lang="en-US" sz="3200" b="1" cap="none" dirty="0"/>
          </a:p>
          <a:p>
            <a:pPr algn="ctr"/>
            <a:r>
              <a:rPr lang="en-US" sz="32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Francis </a:t>
            </a:r>
            <a:r>
              <a:rPr lang="en-US" sz="3200" b="1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Muvea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Topic Outline</a:t>
            </a:r>
            <a:br>
              <a:rPr lang="en-US" b="1" i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92441" cy="4326466"/>
          </a:xfrm>
        </p:spPr>
        <p:txBody>
          <a:bodyPr>
            <a:normAutofit/>
          </a:bodyPr>
          <a:lstStyle/>
          <a:p>
            <a:r>
              <a:rPr lang="en-US" sz="3600" dirty="0"/>
              <a:t>Sexual Disorders</a:t>
            </a:r>
            <a:br>
              <a:rPr lang="en-US" sz="3600" dirty="0"/>
            </a:br>
            <a:r>
              <a:rPr lang="en-US" sz="3600" dirty="0"/>
              <a:t>	</a:t>
            </a:r>
          </a:p>
          <a:p>
            <a:pPr marL="0" indent="0">
              <a:buNone/>
            </a:pPr>
            <a:r>
              <a:rPr lang="en-US" sz="3600" dirty="0"/>
              <a:t>	 I. Sexual Norms and Behavior</a:t>
            </a:r>
          </a:p>
          <a:p>
            <a:pPr marL="0" indent="0">
              <a:buNone/>
            </a:pPr>
            <a:r>
              <a:rPr lang="en-US" sz="3600" dirty="0"/>
              <a:t>	II. Sexual Dysfunctions</a:t>
            </a:r>
          </a:p>
          <a:p>
            <a:pPr marL="0" indent="0">
              <a:buNone/>
            </a:pPr>
            <a:r>
              <a:rPr lang="en-US" sz="3600" dirty="0"/>
              <a:t>	III. The Paraphilias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DSM-5 Sexual Dysfunction</a:t>
            </a:r>
            <a:br>
              <a:rPr lang="en-US" b="1" i="1" dirty="0"/>
            </a:br>
            <a:endParaRPr lang="en-US" dirty="0"/>
          </a:p>
        </p:txBody>
      </p:sp>
      <p:pic>
        <p:nvPicPr>
          <p:cNvPr id="5" name="Content Placeholder 4" descr="ap12e_tab_12_01.jpg">
            <a:extLst>
              <a:ext uri="{FF2B5EF4-FFF2-40B4-BE49-F238E27FC236}">
                <a16:creationId xmlns:a16="http://schemas.microsoft.com/office/drawing/2014/main" id="{8398E139-C51A-4DC5-BC8C-16BE5854C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7361"/>
            <a:ext cx="9144000" cy="496823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Sexual Norms and Behavior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rmAutofit/>
          </a:bodyPr>
          <a:lstStyle/>
          <a:p>
            <a:r>
              <a:rPr lang="en-US" sz="3200" dirty="0"/>
              <a:t>Culture influences beliefs about sexuality</a:t>
            </a:r>
          </a:p>
          <a:p>
            <a:pPr lvl="1"/>
            <a:r>
              <a:rPr lang="en-US" sz="3200" dirty="0"/>
              <a:t>Pleasure vs. procreation</a:t>
            </a:r>
          </a:p>
          <a:p>
            <a:pPr lvl="1"/>
            <a:r>
              <a:rPr lang="en-US" sz="3200" dirty="0"/>
              <a:t>Acceptable sexual behaviors vary with times and culture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61196"/>
          </a:xfrm>
        </p:spPr>
        <p:txBody>
          <a:bodyPr/>
          <a:lstStyle/>
          <a:p>
            <a:r>
              <a:rPr lang="en-US" b="1" dirty="0"/>
              <a:t>Gender and Sexuality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45734"/>
            <a:ext cx="8610599" cy="447886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 dirty="0"/>
              <a:t>Men</a:t>
            </a:r>
            <a:r>
              <a:rPr lang="en-US" sz="3200" dirty="0"/>
              <a:t> </a:t>
            </a:r>
          </a:p>
          <a:p>
            <a:pPr lvl="1">
              <a:defRPr/>
            </a:pPr>
            <a:r>
              <a:rPr lang="en-US" sz="3200" dirty="0"/>
              <a:t>Think more about sex and want more sex </a:t>
            </a:r>
          </a:p>
          <a:p>
            <a:pPr lvl="1">
              <a:defRPr/>
            </a:pPr>
            <a:r>
              <a:rPr lang="en-US" sz="3200" dirty="0"/>
              <a:t>Masturbate more</a:t>
            </a:r>
          </a:p>
          <a:p>
            <a:pPr lvl="1">
              <a:defRPr/>
            </a:pPr>
            <a:r>
              <a:rPr lang="en-US" sz="3200" dirty="0"/>
              <a:t>Want more </a:t>
            </a:r>
            <a:r>
              <a:rPr lang="en-US" sz="3200" i="1" dirty="0"/>
              <a:t>and</a:t>
            </a:r>
            <a:r>
              <a:rPr lang="en-US" sz="3200" dirty="0"/>
              <a:t> have more partners</a:t>
            </a:r>
          </a:p>
          <a:p>
            <a:pPr lvl="2">
              <a:defRPr/>
            </a:pPr>
            <a:r>
              <a:rPr lang="en-US" sz="2800" dirty="0"/>
              <a:t>Consistency across cultures </a:t>
            </a:r>
          </a:p>
          <a:p>
            <a:pPr lvl="2">
              <a:defRPr/>
            </a:pPr>
            <a:endParaRPr lang="en-US" sz="2800" dirty="0"/>
          </a:p>
          <a:p>
            <a:pPr lvl="1">
              <a:defRPr/>
            </a:pPr>
            <a:r>
              <a:rPr lang="en-US" sz="3600" dirty="0"/>
              <a:t>Have more sexual dysfunction as they age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b="1" dirty="0"/>
              <a:t>Gender and Sexuality Cont’d…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5734"/>
            <a:ext cx="8595359" cy="447886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b="1" dirty="0"/>
              <a:t>Women</a:t>
            </a:r>
          </a:p>
          <a:p>
            <a:pPr lvl="1">
              <a:defRPr/>
            </a:pPr>
            <a:r>
              <a:rPr lang="en-US" sz="3200" dirty="0"/>
              <a:t>Desire for sex more often linked to relationship status and social norms</a:t>
            </a:r>
          </a:p>
          <a:p>
            <a:pPr lvl="1">
              <a:defRPr/>
            </a:pPr>
            <a:r>
              <a:rPr lang="en-US" sz="3200" dirty="0"/>
              <a:t>Tend to be more ashamed of  appearance flaws </a:t>
            </a:r>
          </a:p>
          <a:p>
            <a:pPr lvl="2">
              <a:defRPr/>
            </a:pPr>
            <a:r>
              <a:rPr lang="en-US" sz="2800" dirty="0"/>
              <a:t>May interfere with sexual satisfaction</a:t>
            </a:r>
          </a:p>
          <a:p>
            <a:pPr lvl="2">
              <a:defRPr/>
            </a:pPr>
            <a:endParaRPr lang="en-US" sz="2800" dirty="0"/>
          </a:p>
          <a:p>
            <a:pPr>
              <a:defRPr/>
            </a:pPr>
            <a:r>
              <a:rPr lang="en-US" sz="3600" dirty="0"/>
              <a:t>At all ages, women more likely than men to report sexual dysfunction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6605"/>
            <a:ext cx="8061960" cy="108499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The Sexual Response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915399" cy="4648200"/>
          </a:xfrm>
        </p:spPr>
        <p:txBody>
          <a:bodyPr>
            <a:normAutofit/>
          </a:bodyPr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sz="3200" dirty="0"/>
              <a:t>Desire phase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sz="3200" dirty="0"/>
              <a:t>Excitement phase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sz="3200" dirty="0"/>
              <a:t>Orgasm phase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sz="3200" dirty="0"/>
              <a:t>Resolution phase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63527"/>
            <a:ext cx="8138160" cy="10318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Male and Female Sexual Anatomy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" name="Picture 4" descr="Fig13-02">
            <a:extLst>
              <a:ext uri="{FF2B5EF4-FFF2-40B4-BE49-F238E27FC236}">
                <a16:creationId xmlns:a16="http://schemas.microsoft.com/office/drawing/2014/main" id="{B5705BD4-5DFA-4C48-B66D-FC3E76279C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1600200"/>
            <a:ext cx="9144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Sexual Dysfunctions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45734"/>
            <a:ext cx="8991599" cy="4555066"/>
          </a:xfrm>
        </p:spPr>
        <p:txBody>
          <a:bodyPr>
            <a:normAutofit/>
          </a:bodyPr>
          <a:lstStyle/>
          <a:p>
            <a:pPr marL="609600" indent="-609600"/>
            <a:r>
              <a:rPr lang="en-US" sz="3200" b="1" dirty="0"/>
              <a:t>DSM-5 has three categories of sexual dysfunction:</a:t>
            </a:r>
          </a:p>
          <a:p>
            <a:pPr marL="609600" indent="-609600"/>
            <a:endParaRPr lang="en-US" sz="3200" b="1" dirty="0"/>
          </a:p>
          <a:p>
            <a:pPr marL="1009650" lvl="1" indent="-609600">
              <a:buFont typeface="+mj-lt"/>
              <a:buAutoNum type="arabicPeriod"/>
            </a:pPr>
            <a:r>
              <a:rPr lang="en-US" sz="3200" dirty="0">
                <a:solidFill>
                  <a:srgbClr val="00B0F0"/>
                </a:solidFill>
              </a:rPr>
              <a:t>Sexual desire, arousal, and interest disorders</a:t>
            </a:r>
          </a:p>
          <a:p>
            <a:pPr marL="1192530" lvl="2" indent="-609600"/>
            <a:r>
              <a:rPr lang="en-US" sz="2800" dirty="0"/>
              <a:t>In women: Sexual interest/arousal disorder</a:t>
            </a:r>
          </a:p>
          <a:p>
            <a:pPr marL="1192530" lvl="2" indent="-609600"/>
            <a:r>
              <a:rPr lang="en-US" sz="2800" dirty="0"/>
              <a:t>In men: Male hyposexual disorder and Erectile disorder 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6605"/>
            <a:ext cx="8138160" cy="1084996"/>
          </a:xfrm>
        </p:spPr>
        <p:txBody>
          <a:bodyPr>
            <a:normAutofit/>
          </a:bodyPr>
          <a:lstStyle/>
          <a:p>
            <a:r>
              <a:rPr lang="en-US" b="1" dirty="0"/>
              <a:t>Sexual Dysfunctions Cont’d…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6758"/>
            <a:ext cx="8534401" cy="4023360"/>
          </a:xfrm>
        </p:spPr>
        <p:txBody>
          <a:bodyPr>
            <a:noAutofit/>
          </a:bodyPr>
          <a:lstStyle/>
          <a:p>
            <a:pPr marL="1009650" lvl="1" indent="-609600">
              <a:buFont typeface="+mj-lt"/>
              <a:buAutoNum type="arabicPeriod" startAt="2"/>
            </a:pPr>
            <a:r>
              <a:rPr lang="en-US" sz="3600" dirty="0">
                <a:solidFill>
                  <a:srgbClr val="00B0F0"/>
                </a:solidFill>
              </a:rPr>
              <a:t>Orgasmic disorders</a:t>
            </a:r>
          </a:p>
          <a:p>
            <a:pPr marL="1192530" lvl="2" indent="-609600"/>
            <a:r>
              <a:rPr lang="en-US" sz="3200" dirty="0"/>
              <a:t>In women: Female orgasmic disorder </a:t>
            </a:r>
          </a:p>
          <a:p>
            <a:pPr marL="1192530" lvl="2" indent="-609600"/>
            <a:r>
              <a:rPr lang="en-US" sz="3200" dirty="0"/>
              <a:t>In men: Premature ejaculation and delayed ejaculation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6605"/>
            <a:ext cx="7985760" cy="1008796"/>
          </a:xfrm>
        </p:spPr>
        <p:txBody>
          <a:bodyPr>
            <a:normAutofit/>
          </a:bodyPr>
          <a:lstStyle/>
          <a:p>
            <a:r>
              <a:rPr lang="en-US" b="1" dirty="0"/>
              <a:t>Sexual Dysfunctions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845734"/>
            <a:ext cx="8138160" cy="4023360"/>
          </a:xfrm>
        </p:spPr>
        <p:txBody>
          <a:bodyPr>
            <a:normAutofit/>
          </a:bodyPr>
          <a:lstStyle/>
          <a:p>
            <a:pPr marL="1009650" lvl="1" indent="-609600">
              <a:buFont typeface="+mj-lt"/>
              <a:buAutoNum type="arabicPeriod" startAt="3"/>
            </a:pPr>
            <a:r>
              <a:rPr lang="en-US" sz="3600" dirty="0">
                <a:solidFill>
                  <a:srgbClr val="00B0F0"/>
                </a:solidFill>
              </a:rPr>
              <a:t>Sexual pain disorders</a:t>
            </a:r>
          </a:p>
          <a:p>
            <a:pPr marL="1192530" lvl="2" indent="-609600"/>
            <a:r>
              <a:rPr lang="en-US" sz="3200" dirty="0"/>
              <a:t>In women: Genito-pelvic pain/penetration disorder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93470"/>
            <a:ext cx="8214360" cy="1559130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Disorders Involving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Sexual Interest, Desire, and Arousal </a:t>
            </a:r>
            <a:br>
              <a:rPr lang="en-US" b="1" dirty="0">
                <a:solidFill>
                  <a:srgbClr val="00B0F0"/>
                </a:solidFill>
              </a:rPr>
            </a:b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991600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Sexual interest/arousal disorder in women</a:t>
            </a:r>
          </a:p>
          <a:p>
            <a:pPr lvl="1"/>
            <a:r>
              <a:rPr lang="en-US" sz="2800" dirty="0"/>
              <a:t>Persistent deficits in sexual interest (fantasies or urges), biological arousal, or subjective arousal</a:t>
            </a:r>
          </a:p>
          <a:p>
            <a:pPr lvl="1"/>
            <a:endParaRPr lang="en-US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Hypoactive sexual desire disorder in men</a:t>
            </a:r>
          </a:p>
          <a:p>
            <a:pPr lvl="1"/>
            <a:r>
              <a:rPr lang="en-US" sz="2800" dirty="0"/>
              <a:t>Deficient or absent sexual fantasies and urges</a:t>
            </a:r>
          </a:p>
          <a:p>
            <a:pPr lvl="1"/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Male erectile disorder</a:t>
            </a:r>
          </a:p>
          <a:p>
            <a:pPr lvl="1"/>
            <a:r>
              <a:rPr lang="en-US" sz="2800" dirty="0"/>
              <a:t>Failure to attain or maintain an erection of penis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86604"/>
            <a:ext cx="9143999" cy="1618396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Sexual Interest/Arousal Disorder in </a:t>
            </a:r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Women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1"/>
            <a:ext cx="8686799" cy="4131733"/>
          </a:xfrm>
        </p:spPr>
        <p:txBody>
          <a:bodyPr>
            <a:noAutofit/>
          </a:bodyPr>
          <a:lstStyle/>
          <a:p>
            <a:pPr fontAlgn="t"/>
            <a:r>
              <a:rPr lang="en-US" sz="3200" b="1" dirty="0"/>
              <a:t>DSM-5 Criteria for </a:t>
            </a:r>
            <a:r>
              <a:rPr lang="en-US" sz="3200" b="1" i="1" dirty="0"/>
              <a:t>Sexual Interes</a:t>
            </a:r>
            <a:r>
              <a:rPr lang="en-US" sz="3200" b="1" dirty="0"/>
              <a:t>t/Arousal Disorder in Women:</a:t>
            </a:r>
            <a:endParaRPr lang="en-US" sz="3200" dirty="0"/>
          </a:p>
          <a:p>
            <a:pPr fontAlgn="t">
              <a:buFont typeface="Wingdings" panose="05000000000000000000" pitchFamily="2" charset="2"/>
              <a:buChar char="q"/>
            </a:pPr>
            <a:r>
              <a:rPr lang="en-US" sz="3200" u="sng" dirty="0"/>
              <a:t>Diminished, absent, or reduced frequency </a:t>
            </a:r>
            <a:r>
              <a:rPr lang="en-US" sz="3200" dirty="0"/>
              <a:t>of at least three of the following for 6 months or more: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 Interest in sexual activity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 Sexual/erotic thoughts or fantasies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 Initiation of sexual activity and responsiveness to partner’s attempts to initiate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2928-B4C4-41FC-A3B4-1BAF67DF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Cont’d…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1D43-1BE3-4F2C-9681-81C6A9BB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1"/>
            <a:ext cx="8686799" cy="4724400"/>
          </a:xfrm>
        </p:spPr>
        <p:txBody>
          <a:bodyPr>
            <a:noAutofit/>
          </a:bodyPr>
          <a:lstStyle/>
          <a:p>
            <a:pPr fontAlgn="t">
              <a:buFont typeface="Wingdings" panose="05000000000000000000" pitchFamily="2" charset="2"/>
              <a:buChar char="§"/>
            </a:pPr>
            <a:r>
              <a:rPr lang="en-US" sz="2800" dirty="0"/>
              <a:t>Sexual excitement/pleasure during 75% sexual encounters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800" dirty="0"/>
              <a:t>Sexual interest/arousal elicited by any internal or external erotic cues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800" dirty="0"/>
              <a:t>Genital or non-genital sensations during 75% sexual encounters</a:t>
            </a:r>
          </a:p>
          <a:p>
            <a:pPr fontAlgn="t">
              <a:buFont typeface="Wingdings" panose="05000000000000000000" pitchFamily="2" charset="2"/>
              <a:buChar char="§"/>
            </a:pPr>
            <a:endParaRPr lang="en-US" sz="2800" dirty="0"/>
          </a:p>
          <a:p>
            <a:pPr fontAlgn="t">
              <a:buFont typeface="Wingdings" panose="05000000000000000000" pitchFamily="2" charset="2"/>
              <a:buChar char="q"/>
            </a:pPr>
            <a:r>
              <a:rPr lang="en-US" sz="2800" dirty="0"/>
              <a:t>Causes marked distress or interpersonal problems</a:t>
            </a:r>
          </a:p>
          <a:p>
            <a:pPr fontAlgn="t">
              <a:buFont typeface="Wingdings" panose="05000000000000000000" pitchFamily="2" charset="2"/>
              <a:buChar char="q"/>
            </a:pPr>
            <a:r>
              <a:rPr lang="en-US" sz="2800" dirty="0"/>
              <a:t>Not due to a medical illness, another psychological disorder (except another sexual dysfunction), or the effects of a drug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3289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86604"/>
            <a:ext cx="8290560" cy="1450757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</a:t>
            </a:r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Male  Disorders</a:t>
            </a:r>
            <a:br>
              <a:rPr lang="en-US" b="1" dirty="0">
                <a:solidFill>
                  <a:srgbClr val="00B0F0"/>
                </a:solidFill>
              </a:rPr>
            </a:b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8BFDC8-A10E-4D4D-8F5C-2B130434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845734"/>
            <a:ext cx="8915399" cy="4478866"/>
          </a:xfrm>
        </p:spPr>
        <p:txBody>
          <a:bodyPr>
            <a:noAutofit/>
          </a:bodyPr>
          <a:lstStyle/>
          <a:p>
            <a:pPr marL="91440" marR="0">
              <a:lnSpc>
                <a:spcPct val="120000"/>
              </a:lnSpc>
              <a:spcBef>
                <a:spcPts val="240"/>
              </a:spcBef>
              <a:spcAft>
                <a:spcPts val="240"/>
              </a:spcAft>
            </a:pPr>
            <a:r>
              <a:rPr lang="en-US" sz="2800" b="1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DSM-5 Criteria for Hypoactive Sexual Desire Disorder </a:t>
            </a:r>
            <a:r>
              <a:rPr lang="en-US" sz="2800" b="1" i="1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in Men: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377190" marR="0" indent="-285750" algn="l" rtl="0" eaLnBrk="1" fontAlgn="t" latinLnBrk="0" hangingPunct="1">
              <a:lnSpc>
                <a:spcPct val="12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IN" sz="2800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Sexual fantasies and desires, as judged by the clinician, are deficient or absent 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  <a:p>
            <a:pPr marL="377190" marR="0" indent="-285750" algn="l" rtl="0" eaLnBrk="1" fontAlgn="t" latinLnBrk="0" hangingPunct="1">
              <a:lnSpc>
                <a:spcPct val="12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US" sz="2800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Causes marked distress or interpersonal problems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  <a:p>
            <a:pPr marL="377190" marR="0" indent="-285750" algn="l" rtl="0" eaLnBrk="1" fontAlgn="t" latinLnBrk="0" hangingPunct="1">
              <a:lnSpc>
                <a:spcPct val="12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US" sz="2800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Not due to a medical illness, another psychological disorder (except another sexual dysfunction), or the effects of a drug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" y="286605"/>
            <a:ext cx="8945879" cy="627795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Male  Disorders Cont’d…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2" y="1295401"/>
            <a:ext cx="9098278" cy="5105400"/>
          </a:xfrm>
        </p:spPr>
        <p:txBody>
          <a:bodyPr>
            <a:noAutofit/>
          </a:bodyPr>
          <a:lstStyle/>
          <a:p>
            <a:pPr marL="0" marR="0" algn="l" rtl="0" eaLnBrk="1" fontAlgn="t" latinLnBrk="0" hangingPunct="1">
              <a:lnSpc>
                <a:spcPct val="110000"/>
              </a:lnSpc>
              <a:spcBef>
                <a:spcPts val="240"/>
              </a:spcBef>
              <a:spcAft>
                <a:spcPts val="240"/>
              </a:spcAft>
            </a:pPr>
            <a:r>
              <a:rPr lang="en-US" sz="2800" b="1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DSM-5 Criteria for Male Erectile Disorder: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201168" marR="0" indent="-109728" algn="l" rtl="0" eaLnBrk="1" fontAlgn="t" latinLnBrk="0" hangingPunct="1">
              <a:lnSpc>
                <a:spcPct val="110000"/>
              </a:lnSpc>
              <a:spcBef>
                <a:spcPts val="240"/>
              </a:spcBef>
              <a:spcAft>
                <a:spcPts val="240"/>
              </a:spcAft>
            </a:pPr>
            <a:r>
              <a:rPr lang="en-US" sz="2800" b="1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On at least 75 percent of sexual occasions: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548640" marR="0" indent="-457200" algn="l" rtl="0" eaLnBrk="1" fontAlgn="t" latinLnBrk="0" hangingPunct="1">
              <a:lnSpc>
                <a:spcPct val="11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US" sz="2800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Inability to attain an erection,</a:t>
            </a:r>
            <a:r>
              <a:rPr lang="en-US" sz="2800" i="0" u="none" strike="noStrike" kern="1200" baseline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 or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  <a:p>
            <a:pPr marL="548640" marR="0" indent="-457200" algn="l" rtl="0" eaLnBrk="1" fontAlgn="t" latinLnBrk="0" hangingPunct="1">
              <a:lnSpc>
                <a:spcPct val="11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US" sz="2800" i="0" u="none" strike="noStrike" kern="1200" baseline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Inability to maintain an erection for completion of sexual activity, or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  <a:p>
            <a:pPr marL="548640" marR="0" indent="-457200" algn="l" rtl="0" eaLnBrk="1" fontAlgn="t" latinLnBrk="0" hangingPunct="1">
              <a:lnSpc>
                <a:spcPct val="11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US" sz="2800" i="0" u="none" strike="noStrike" kern="1200" baseline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Marked decrease in erectile rigidity interferes with penetration or pleasures. 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  <a:p>
            <a:pPr marL="548640" marR="0" indent="-457200" algn="l" rtl="0" eaLnBrk="1" fontAlgn="auto" latinLnBrk="0" hangingPunct="1">
              <a:lnSpc>
                <a:spcPct val="110000"/>
              </a:lnSpc>
              <a:spcBef>
                <a:spcPts val="240"/>
              </a:spcBef>
              <a:spcAft>
                <a:spcPts val="240"/>
              </a:spcAft>
              <a:buFont typeface="Wingdings" panose="05000000000000000000" pitchFamily="2" charset="2"/>
              <a:buChar char="§"/>
            </a:pPr>
            <a:r>
              <a:rPr lang="en-US" sz="2800" i="0" u="none" strike="noStrike" kern="120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Not due to a medical illness, another psychological disorder (except another sexual dysfunction), or the effects of a drug</a:t>
            </a:r>
            <a:endParaRPr lang="en-US" sz="280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6605"/>
            <a:ext cx="8991600" cy="1084996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Orgasmic Disorders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8839199" cy="4648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/>
              <a:t>Female orgasmic disorder</a:t>
            </a:r>
          </a:p>
          <a:p>
            <a:pPr lvl="1"/>
            <a:r>
              <a:rPr lang="en-US" sz="3200" dirty="0"/>
              <a:t>Absence of orgasm after sexual excitement</a:t>
            </a:r>
          </a:p>
          <a:p>
            <a:pPr lvl="2"/>
            <a:r>
              <a:rPr lang="en-US" sz="2800" dirty="0"/>
              <a:t>Many women achieve arousal but not orgasm</a:t>
            </a:r>
          </a:p>
          <a:p>
            <a:pPr lvl="2"/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/>
              <a:t>Early ejaculation disorder</a:t>
            </a:r>
          </a:p>
          <a:p>
            <a:pPr lvl="1"/>
            <a:r>
              <a:rPr lang="en-US" sz="3200" dirty="0"/>
              <a:t>Ejaculation that occurs too quickly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/>
              <a:t>Delayed ejaculation disorder</a:t>
            </a:r>
          </a:p>
          <a:p>
            <a:pPr lvl="1"/>
            <a:r>
              <a:rPr lang="en-US" sz="3200" dirty="0"/>
              <a:t>Persistent difficulty ejaculating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32596"/>
          </a:xfrm>
        </p:spPr>
        <p:txBody>
          <a:bodyPr>
            <a:norm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Orgasmic Disorders Cont’d…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8839199" cy="4648200"/>
          </a:xfrm>
        </p:spPr>
        <p:txBody>
          <a:bodyPr>
            <a:noAutofit/>
          </a:bodyPr>
          <a:lstStyle/>
          <a:p>
            <a:pPr fontAlgn="t"/>
            <a:r>
              <a:rPr lang="en-US" sz="3600" b="1" dirty="0"/>
              <a:t>DSM-5 Criteria for </a:t>
            </a:r>
            <a:r>
              <a:rPr lang="en-US" sz="3600" b="1" dirty="0">
                <a:solidFill>
                  <a:srgbClr val="00B0F0"/>
                </a:solidFill>
              </a:rPr>
              <a:t>Female Orgasmic Disorder: </a:t>
            </a:r>
            <a:endParaRPr lang="en-US" sz="3600" dirty="0">
              <a:solidFill>
                <a:srgbClr val="00B0F0"/>
              </a:solidFill>
            </a:endParaRPr>
          </a:p>
          <a:p>
            <a:pPr fontAlgn="t"/>
            <a:r>
              <a:rPr lang="en-US" sz="3600" b="1" i="1" dirty="0"/>
              <a:t>On at least 75 percent of sexual occasions: </a:t>
            </a:r>
            <a:endParaRPr lang="en-US" sz="3600" dirty="0"/>
          </a:p>
          <a:p>
            <a:pPr fontAlgn="t"/>
            <a:r>
              <a:rPr lang="en-US" b="1" dirty="0"/>
              <a:t>• </a:t>
            </a:r>
            <a:r>
              <a:rPr lang="en-US" sz="3200" dirty="0"/>
              <a:t>Marked delay, infrequency, or absence of orgasm </a:t>
            </a:r>
          </a:p>
          <a:p>
            <a:pPr fontAlgn="t"/>
            <a:r>
              <a:rPr lang="en-US" sz="3200" dirty="0"/>
              <a:t>• Markedly reduced intensity of orgasmic sensation</a:t>
            </a:r>
          </a:p>
          <a:p>
            <a:pPr fontAlgn="t"/>
            <a:r>
              <a:rPr lang="en-US" sz="3200" dirty="0"/>
              <a:t>• Causes marked distress or interpersonal problems</a:t>
            </a:r>
          </a:p>
          <a:p>
            <a:pPr fontAlgn="t"/>
            <a:r>
              <a:rPr lang="en-US" sz="3200" dirty="0"/>
              <a:t>• </a:t>
            </a:r>
            <a:r>
              <a:rPr lang="en-US" sz="3200" i="1" dirty="0">
                <a:solidFill>
                  <a:srgbClr val="7030A0"/>
                </a:solidFill>
              </a:rPr>
              <a:t>Not due to a medical illness, another psychological disorder (except another sexual dysfunction), or the effects of a drug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36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"/>
            <a:ext cx="7543800" cy="1008796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Orgasmic Disorders Cont’d…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763000" cy="4648200"/>
          </a:xfrm>
        </p:spPr>
        <p:txBody>
          <a:bodyPr>
            <a:noAutofit/>
          </a:bodyPr>
          <a:lstStyle/>
          <a:p>
            <a:pPr fontAlgn="t"/>
            <a:r>
              <a:rPr lang="en-US" sz="3600" b="1" dirty="0"/>
              <a:t>DSM-5 Criteria for </a:t>
            </a:r>
            <a:r>
              <a:rPr lang="en-US" sz="3600" b="1" dirty="0">
                <a:solidFill>
                  <a:srgbClr val="00B0F0"/>
                </a:solidFill>
              </a:rPr>
              <a:t>Delayed Ejaculation:</a:t>
            </a:r>
            <a:endParaRPr lang="en-US" sz="3600" dirty="0">
              <a:solidFill>
                <a:srgbClr val="00B0F0"/>
              </a:solidFill>
            </a:endParaRP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Marked delay, infrequency or absence of orgasm on at least 75 percent of sexual occasions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Causes marked distress or interpersonal problems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i="1" dirty="0">
                <a:solidFill>
                  <a:srgbClr val="7030A0"/>
                </a:solidFill>
              </a:rPr>
              <a:t>Not due to a medical illness, another psychological disorder (except another sexual dysfunction), or the effects of a drug</a:t>
            </a:r>
          </a:p>
          <a:p>
            <a:pPr marL="0" lvl="0" indent="0">
              <a:buNone/>
            </a:pPr>
            <a:endParaRPr lang="en-US" sz="3600" b="1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19" y="286605"/>
            <a:ext cx="8016241" cy="1084996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Orgasmic Disorders Cont’d…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19" y="1845734"/>
            <a:ext cx="8488681" cy="4023360"/>
          </a:xfrm>
        </p:spPr>
        <p:txBody>
          <a:bodyPr>
            <a:noAutofit/>
          </a:bodyPr>
          <a:lstStyle/>
          <a:p>
            <a:pPr fontAlgn="t"/>
            <a:r>
              <a:rPr lang="en-US" sz="3600" b="1" dirty="0"/>
              <a:t>DSM-5 Criteria for </a:t>
            </a:r>
            <a:r>
              <a:rPr lang="en-US" sz="3600" b="1" dirty="0">
                <a:solidFill>
                  <a:srgbClr val="00B0F0"/>
                </a:solidFill>
              </a:rPr>
              <a:t>Premature Ejaculation</a:t>
            </a:r>
            <a:r>
              <a:rPr lang="en-US" sz="3600" b="1" dirty="0"/>
              <a:t>:</a:t>
            </a:r>
            <a:endParaRPr lang="en-US" sz="3600" dirty="0"/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Tendency to ejaculation during partnered sexual activity within 1 minute of penile insertion on at lest 75 percent of sexual occasions 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dirty="0"/>
              <a:t>Causes marked distress or interpersonal problems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3200" i="1" dirty="0">
                <a:solidFill>
                  <a:srgbClr val="7030A0"/>
                </a:solidFill>
              </a:rPr>
              <a:t>Not due to a medical illness, another psychological disorder (except another sexual dysfunction), or the effects of a drug</a:t>
            </a:r>
          </a:p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Sexual Pain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5734"/>
            <a:ext cx="9143999" cy="447886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DSM-5: </a:t>
            </a:r>
            <a:r>
              <a:rPr lang="en-US" sz="3600" dirty="0" err="1"/>
              <a:t>Genitopelvic</a:t>
            </a:r>
            <a:r>
              <a:rPr lang="en-US" sz="3600" dirty="0"/>
              <a:t> pain/penetration disorder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3200" dirty="0"/>
              <a:t>Persistent or recurrent pain during intercourse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3200" dirty="0"/>
              <a:t>Diagnosable in both men and women</a:t>
            </a:r>
          </a:p>
          <a:p>
            <a:pPr lvl="2">
              <a:lnSpc>
                <a:spcPct val="110000"/>
              </a:lnSpc>
              <a:defRPr/>
            </a:pPr>
            <a:r>
              <a:rPr lang="en-US" sz="3200" dirty="0"/>
              <a:t>Rare in men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3200" dirty="0"/>
              <a:t>R/O medical cause (e.g., infection), lack of vaginal lubrication, or menopausal problems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19" y="286605"/>
            <a:ext cx="8016241" cy="1161196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Sexual Pain Disorders </a:t>
            </a:r>
            <a:r>
              <a:rPr lang="en-US" b="1" dirty="0"/>
              <a:t>Cont’d…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16241" cy="4631266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  <a:defRPr/>
            </a:pPr>
            <a:r>
              <a:rPr lang="en-US" sz="3200" dirty="0"/>
              <a:t>Most women experience sexual arousal and orgasms from manual or oral stimulation that does not involve penetration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sz="3200" dirty="0"/>
              <a:t>10-30% prevalence rates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3600" dirty="0"/>
              <a:t>DSM-IV-TR: Vaginismus and Dyspareunia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86605"/>
            <a:ext cx="9144000" cy="10087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DSM-5 Criteria for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Genito-pelvic Pain/Penetration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752600"/>
            <a:ext cx="8991600" cy="4572000"/>
          </a:xfrm>
        </p:spPr>
        <p:txBody>
          <a:bodyPr>
            <a:normAutofit/>
          </a:bodyPr>
          <a:lstStyle/>
          <a:p>
            <a:pPr fontAlgn="t">
              <a:buFont typeface="Wingdings" panose="05000000000000000000" pitchFamily="2" charset="2"/>
              <a:buChar char="q"/>
            </a:pPr>
            <a:r>
              <a:rPr lang="en-US" sz="2400" b="1" dirty="0"/>
              <a:t>Persistent or recurrent difficulties with at least one of the following: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/>
              <a:t>Inability to have vaginal intercourse/penetration 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/>
              <a:t>Marked vulvar, vaginal, or pelvic pain during vaginal penetration or intercourse attempts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/>
              <a:t>Marked fear or anxiety about pain or penetration 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/>
              <a:t>Marked tensing of the pelvic floor muscles during attempted vaginal penetration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/>
              <a:t>Causes clinically significant distress or interpersonal problems</a:t>
            </a:r>
          </a:p>
          <a:p>
            <a:pPr fontAlgn="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7030A0"/>
                </a:solidFill>
              </a:rPr>
              <a:t>Not due to another psychological disorder, a medical condition, or the effects of a drug</a:t>
            </a:r>
            <a:r>
              <a:rPr lang="en-US" sz="1200" dirty="0">
                <a:solidFill>
                  <a:srgbClr val="7030A0"/>
                </a:solidFill>
              </a:rPr>
              <a:t>&gt;&gt;&gt;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19" y="286605"/>
            <a:ext cx="8092441" cy="1161196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 of Sexual Dysfunction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1" y="1752600"/>
            <a:ext cx="8839200" cy="4572000"/>
          </a:xfrm>
        </p:spPr>
        <p:txBody>
          <a:bodyPr>
            <a:normAutofit fontScale="92500" lnSpcReduction="10000"/>
          </a:bodyPr>
          <a:lstStyle/>
          <a:p>
            <a:pPr marL="533400" indent="-533400">
              <a:defRPr/>
            </a:pPr>
            <a:r>
              <a:rPr lang="en-US" sz="3600" dirty="0"/>
              <a:t>Masters &amp; Johnson (1970) two-tier model: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sz="3200" b="1" dirty="0"/>
              <a:t>Immediate causes</a:t>
            </a:r>
          </a:p>
          <a:p>
            <a:pPr marL="1097280" lvl="2" indent="-457200">
              <a:buFont typeface="Arial" pitchFamily="34" charset="0"/>
              <a:buChar char="•"/>
              <a:defRPr/>
            </a:pPr>
            <a:r>
              <a:rPr lang="en-US" sz="2800" dirty="0"/>
              <a:t>Performance fears</a:t>
            </a:r>
          </a:p>
          <a:p>
            <a:pPr marL="1097280" lvl="2" indent="-457200">
              <a:buFont typeface="Arial" pitchFamily="34" charset="0"/>
              <a:buChar char="•"/>
              <a:defRPr/>
            </a:pPr>
            <a:r>
              <a:rPr lang="en-US" sz="2800" dirty="0"/>
              <a:t>Adoption of </a:t>
            </a:r>
            <a:r>
              <a:rPr lang="en-US" sz="2800" i="1" dirty="0"/>
              <a:t>spectator role</a:t>
            </a:r>
          </a:p>
          <a:p>
            <a:pPr lvl="3">
              <a:buFont typeface="Arial" pitchFamily="34" charset="0"/>
              <a:buChar char="•"/>
              <a:defRPr/>
            </a:pPr>
            <a:r>
              <a:rPr lang="en-US" sz="2800" dirty="0"/>
              <a:t>Observer vs. participant</a:t>
            </a:r>
          </a:p>
          <a:p>
            <a:pPr lvl="3">
              <a:buFont typeface="Arial" pitchFamily="34" charset="0"/>
              <a:buChar char="•"/>
              <a:defRPr/>
            </a:pPr>
            <a:endParaRPr lang="en-US" sz="2800" b="1" dirty="0"/>
          </a:p>
          <a:p>
            <a:pPr marL="914400" lvl="1" indent="-457200">
              <a:buFontTx/>
              <a:buAutoNum type="arabicPeriod"/>
              <a:defRPr/>
            </a:pPr>
            <a:r>
              <a:rPr lang="en-US" sz="3200" b="1" dirty="0"/>
              <a:t>Distal (historical) causes</a:t>
            </a:r>
          </a:p>
          <a:p>
            <a:pPr marL="1097280" lvl="2" indent="-457200">
              <a:buFont typeface="Arial" pitchFamily="34" charset="0"/>
              <a:buChar char="•"/>
              <a:defRPr/>
            </a:pPr>
            <a:r>
              <a:rPr lang="en-US" sz="2800" dirty="0"/>
              <a:t>Sociocultural</a:t>
            </a:r>
          </a:p>
          <a:p>
            <a:pPr marL="1097280" lvl="2" indent="-457200">
              <a:buFont typeface="Arial" pitchFamily="34" charset="0"/>
              <a:buChar char="•"/>
              <a:defRPr/>
            </a:pPr>
            <a:r>
              <a:rPr lang="en-US" sz="2800" dirty="0"/>
              <a:t>Biological causes</a:t>
            </a:r>
          </a:p>
          <a:p>
            <a:pPr marL="1097280" lvl="2" indent="-457200">
              <a:buFont typeface="Arial" pitchFamily="34" charset="0"/>
              <a:buChar char="•"/>
              <a:defRPr/>
            </a:pPr>
            <a:r>
              <a:rPr lang="en-US" sz="2800" dirty="0"/>
              <a:t>Sexual traumas </a:t>
            </a:r>
          </a:p>
          <a:p>
            <a:pPr marL="1097280" lvl="2" indent="-457200">
              <a:buFont typeface="Arial" pitchFamily="34" charset="0"/>
              <a:buChar char="•"/>
              <a:defRPr/>
            </a:pPr>
            <a:r>
              <a:rPr lang="en-US" sz="2800" dirty="0"/>
              <a:t>Homosexual inclinations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6604"/>
            <a:ext cx="8214360" cy="1161195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Distal and Immediate Causes of Human Sexual Inadequacies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4" descr="Fig13-04">
            <a:extLst>
              <a:ext uri="{FF2B5EF4-FFF2-40B4-BE49-F238E27FC236}">
                <a16:creationId xmlns:a16="http://schemas.microsoft.com/office/drawing/2014/main" id="{13BFB68C-A46B-4F60-A21D-865D7B7009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2400" y="1447798"/>
            <a:ext cx="8992235" cy="5123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6605"/>
            <a:ext cx="8214360" cy="1084996"/>
          </a:xfrm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Predictors of Sexual Functioning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4" descr="Fig13-05">
            <a:extLst>
              <a:ext uri="{FF2B5EF4-FFF2-40B4-BE49-F238E27FC236}">
                <a16:creationId xmlns:a16="http://schemas.microsoft.com/office/drawing/2014/main" id="{6C652EE6-AB87-4B95-B8E0-F89F642DA5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1734405"/>
            <a:ext cx="9143999" cy="489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86605"/>
            <a:ext cx="8138160" cy="1008796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 of Sexual Dysfunction: 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Biological Factors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45734"/>
            <a:ext cx="8762999" cy="4326466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IN" sz="3200" u="sng" dirty="0"/>
              <a:t>The DSM-5 includes separate diagnoses for sexual dysfunctions that are caused by medical illnesses</a:t>
            </a:r>
          </a:p>
          <a:p>
            <a:pPr lvl="1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IN" sz="2800" dirty="0"/>
              <a:t>Somewhat controversial because many sexual dysfunctions have a biological contribution </a:t>
            </a:r>
            <a:endParaRPr lang="en-US" sz="2800" dirty="0"/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200" dirty="0"/>
              <a:t>Diseases of vascular system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200" dirty="0"/>
              <a:t>Diseases of the nervous system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200" dirty="0"/>
              <a:t>Low levels of testosterone or estrogen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9DAF-48FB-4744-AFF6-DE4067A9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86604"/>
            <a:ext cx="8138160" cy="1450757"/>
          </a:xfrm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 of Sexual Dysfunction: 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Biological Factors </a:t>
            </a:r>
            <a:r>
              <a:rPr 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Cont’d…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658A-BD65-49A1-BFB6-68A925858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45734"/>
            <a:ext cx="8686799" cy="40233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3200" dirty="0"/>
              <a:t>Heavy alcohol consumption before sex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History of chronic alcoholism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Heavy cigarette smoking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Medications</a:t>
            </a:r>
          </a:p>
          <a:p>
            <a:pPr lvl="1">
              <a:spcAft>
                <a:spcPts val="600"/>
              </a:spcAft>
            </a:pPr>
            <a:r>
              <a:rPr lang="en-US" sz="2800" dirty="0"/>
              <a:t>Antihypertensives</a:t>
            </a:r>
          </a:p>
          <a:p>
            <a:pPr lvl="1">
              <a:spcAft>
                <a:spcPts val="600"/>
              </a:spcAft>
            </a:pPr>
            <a:r>
              <a:rPr lang="en-US" sz="2800" dirty="0"/>
              <a:t>SSRIs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856106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001000" cy="1161196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 of Sexual Dysfunction: </a:t>
            </a:r>
            <a:b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Psychosocial Factors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752600"/>
            <a:ext cx="8138160" cy="4876800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500" dirty="0"/>
              <a:t>Rape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500" dirty="0"/>
              <a:t>Early childhood sexual abuse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500" dirty="0"/>
              <a:t>Relationship problems</a:t>
            </a:r>
          </a:p>
          <a:p>
            <a:pPr lvl="1">
              <a:spcAft>
                <a:spcPts val="600"/>
              </a:spcAft>
              <a:defRPr/>
            </a:pPr>
            <a:r>
              <a:rPr lang="en-US" sz="3800" dirty="0"/>
              <a:t>Anger, hostility, poor communication</a:t>
            </a:r>
          </a:p>
          <a:p>
            <a:pPr lvl="1">
              <a:spcAft>
                <a:spcPts val="600"/>
              </a:spcAft>
              <a:defRPr/>
            </a:pPr>
            <a:r>
              <a:rPr lang="en-US" sz="3800" dirty="0"/>
              <a:t>Underlying anxiety about relationship security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500" dirty="0"/>
              <a:t>Psychological disorders</a:t>
            </a:r>
          </a:p>
          <a:p>
            <a:pPr lvl="1">
              <a:spcAft>
                <a:spcPts val="600"/>
              </a:spcAft>
              <a:defRPr/>
            </a:pPr>
            <a:r>
              <a:rPr lang="en-US" sz="3600" dirty="0"/>
              <a:t>Major depression, anxiety, or panic disorder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600" dirty="0"/>
              <a:t>Low physiological arousal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600" dirty="0"/>
              <a:t>Stress and exhaustion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  <a:defRPr/>
            </a:pPr>
            <a:r>
              <a:rPr lang="en-US" sz="4600" dirty="0"/>
              <a:t>Negative cognitions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6605"/>
            <a:ext cx="8214360" cy="11611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Treatments of Sexual Dysfunction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676400"/>
            <a:ext cx="8061960" cy="46482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Anxiety reduction</a:t>
            </a:r>
          </a:p>
          <a:p>
            <a:pPr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Directed masturbation</a:t>
            </a:r>
          </a:p>
          <a:p>
            <a:pPr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Procedures to change thoughts and attitudes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800" dirty="0"/>
              <a:t>Sensory awareness procedures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800" dirty="0"/>
              <a:t>Rational-emotive therapy</a:t>
            </a:r>
          </a:p>
          <a:p>
            <a:pPr>
              <a:lnSpc>
                <a:spcPct val="8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Sexual skills and communication training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8E2D-FBC8-4C8A-BE18-0C8E0523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" y="263527"/>
            <a:ext cx="9113520" cy="1108073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Treatments of Sexual Dysfunction Cont’d…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DA882-3F02-4CF2-9109-161ABA580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168641" cy="447886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Couples therapy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Medications and physical treatments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800" dirty="0"/>
              <a:t>Squeeze technique for early ejaculation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800" dirty="0"/>
              <a:t>PDE-5 inhibitors for erectile dysfunction	</a:t>
            </a:r>
          </a:p>
          <a:p>
            <a:pPr lvl="2">
              <a:lnSpc>
                <a:spcPct val="150000"/>
              </a:lnSpc>
              <a:defRPr/>
            </a:pPr>
            <a:r>
              <a:rPr lang="en-US" sz="2800" dirty="0"/>
              <a:t>Phosphodiesterase type 5 inhibitors: sildenafil (Viagra), </a:t>
            </a:r>
            <a:r>
              <a:rPr lang="en-US" sz="2800" dirty="0" err="1"/>
              <a:t>tadafil</a:t>
            </a:r>
            <a:r>
              <a:rPr lang="en-US" sz="2800" dirty="0"/>
              <a:t> (Cialis) and vardenafil (Levitra)</a:t>
            </a:r>
            <a:endParaRPr lang="en-US" dirty="0"/>
          </a:p>
          <a:p>
            <a:pPr marL="384048" lvl="2" indent="0" algn="ctr">
              <a:lnSpc>
                <a:spcPct val="120000"/>
              </a:lnSpc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&gt;&gt;&gt;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46271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0879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Paraphilias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845734"/>
            <a:ext cx="8763000" cy="46312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Recurrent sexual attraction to unusual objects or sexual activities for at least 6 months</a:t>
            </a:r>
          </a:p>
          <a:p>
            <a:pPr lvl="1">
              <a:lnSpc>
                <a:spcPct val="100000"/>
              </a:lnSpc>
            </a:pPr>
            <a:r>
              <a:rPr lang="en-US" sz="2800" u="sng" dirty="0"/>
              <a:t>Deviation (para) </a:t>
            </a:r>
            <a:r>
              <a:rPr lang="en-US" sz="2800" dirty="0"/>
              <a:t>in what the person is </a:t>
            </a:r>
            <a:r>
              <a:rPr lang="en-US" sz="2800" u="sng" dirty="0"/>
              <a:t>attracted to (philia)</a:t>
            </a:r>
          </a:p>
          <a:p>
            <a:pPr lvl="1">
              <a:lnSpc>
                <a:spcPct val="100000"/>
              </a:lnSpc>
            </a:pP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u="sng" dirty="0"/>
              <a:t>Should only be diagnosed when they cause marked distress or are done with nonconsenting persons</a:t>
            </a:r>
          </a:p>
          <a:p>
            <a:pPr lvl="2">
              <a:lnSpc>
                <a:spcPct val="100000"/>
              </a:lnSpc>
            </a:pPr>
            <a:r>
              <a:rPr lang="en-US" sz="2800" dirty="0">
                <a:solidFill>
                  <a:srgbClr val="00B0F0"/>
                </a:solidFill>
              </a:rPr>
              <a:t>Transvestic behaviors </a:t>
            </a:r>
            <a:r>
              <a:rPr lang="en-US" sz="2800" dirty="0"/>
              <a:t>(cross-dressing for sexual gratification) rarely marked by distress or involves nonconsenting persons</a:t>
            </a:r>
          </a:p>
          <a:p>
            <a:pPr marL="0" lvl="0" indent="0">
              <a:buNone/>
            </a:pPr>
            <a:endParaRPr lang="en-US" sz="36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01975-43CD-4368-B10B-698BF612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Paraphilias Cont’d…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F985-ABFC-4A97-A51D-B6F365CCB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Divided categories based on source of arousal:</a:t>
            </a:r>
          </a:p>
          <a:p>
            <a:pPr lvl="1"/>
            <a:r>
              <a:rPr lang="en-US" sz="2800" dirty="0"/>
              <a:t>Sexual attractions based on </a:t>
            </a:r>
            <a:r>
              <a:rPr lang="en-US" sz="2800" dirty="0">
                <a:solidFill>
                  <a:srgbClr val="00B0F0"/>
                </a:solidFill>
              </a:rPr>
              <a:t>inanimate objects</a:t>
            </a:r>
          </a:p>
          <a:p>
            <a:pPr lvl="1"/>
            <a:r>
              <a:rPr lang="en-US" sz="2800" dirty="0"/>
              <a:t>Sexual attractions based on </a:t>
            </a:r>
            <a:r>
              <a:rPr lang="en-US" sz="2800" dirty="0">
                <a:solidFill>
                  <a:srgbClr val="00B0F0"/>
                </a:solidFill>
              </a:rPr>
              <a:t>children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63391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1381"/>
            <a:ext cx="8290560" cy="522019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Paraphilias Included in DSM-5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845734"/>
            <a:ext cx="86868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6A1665-7560-45B5-BD74-2B5541AFA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923513"/>
              </p:ext>
            </p:extLst>
          </p:nvPr>
        </p:nvGraphicFramePr>
        <p:xfrm>
          <a:off x="0" y="381000"/>
          <a:ext cx="9144000" cy="659079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010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u="sng" dirty="0">
                          <a:solidFill>
                            <a:srgbClr val="FF0000"/>
                          </a:solidFill>
                          <a:effectLst/>
                        </a:rPr>
                        <a:t>DSM-5 Diagnosis</a:t>
                      </a:r>
                      <a:endParaRPr lang="en-US" sz="2400" b="1" u="sng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u="sng" dirty="0">
                          <a:solidFill>
                            <a:srgbClr val="FF0000"/>
                          </a:solidFill>
                          <a:effectLst/>
                        </a:rPr>
                        <a:t>Object of Sexual Attraction</a:t>
                      </a:r>
                      <a:endParaRPr lang="en-US" sz="2400" b="1" u="sng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10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Fetishistic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An inanimate object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10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 err="1">
                          <a:solidFill>
                            <a:schemeClr val="tx1"/>
                          </a:solidFill>
                          <a:effectLst/>
                        </a:rPr>
                        <a:t>Transvestic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Cross-dressing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286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 err="1">
                          <a:solidFill>
                            <a:schemeClr val="tx1"/>
                          </a:solidFill>
                          <a:effectLst/>
                        </a:rPr>
                        <a:t>Pedohebephilic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i="0" dirty="0">
                          <a:solidFill>
                            <a:srgbClr val="202124"/>
                          </a:solidFill>
                          <a:effectLst/>
                          <a:latin typeface="+mn-lt"/>
                        </a:rPr>
                        <a:t>prepubescent and pubescent child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119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Voyeuristic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Watching unsuspecting others undress or have sex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119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Exhibitionistic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Exposing one’s genitals to an unwilling stranger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7119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 err="1">
                          <a:solidFill>
                            <a:schemeClr val="tx1"/>
                          </a:solidFill>
                          <a:effectLst/>
                        </a:rPr>
                        <a:t>Frotteuristic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Sexual touching of an unsuspecting person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010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Sexual sadism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B w="38100" cmpd="sng">
                      <a:noFill/>
                    </a:lnB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Inflicting pain on another to get sexual excitement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B w="38100" cmpd="sng">
                      <a:noFill/>
                    </a:lnB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47119"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Sexual masochism disorder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T w="38100" cmpd="sng">
                      <a:noFill/>
                    </a:lnT>
                    <a:solidFill>
                      <a:srgbClr val="F6F1B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50000"/>
                        </a:lnSpc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Getting sexual excitement by receiving pain or being humiliated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T w="38100" cmpd="sng">
                      <a:noFill/>
                    </a:lnT>
                    <a:solidFill>
                      <a:srgbClr val="F6F1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EDD6-7BFC-4FB8-95F6-1B755DA4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"/>
            <a:ext cx="75438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Fetishistic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Disorder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1AD96-3102-4A37-857C-41FD8D4AD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8800" y="914400"/>
            <a:ext cx="3276600" cy="54102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</a:pPr>
            <a:r>
              <a:rPr lang="en-US" sz="2800" b="1" dirty="0"/>
              <a:t>Prevalence</a:t>
            </a:r>
          </a:p>
          <a:p>
            <a:pPr lvl="1" fontAlgn="auto">
              <a:spcAft>
                <a:spcPts val="0"/>
              </a:spcAft>
            </a:pPr>
            <a:r>
              <a:rPr lang="en-US" sz="2800" dirty="0"/>
              <a:t>Occurs most often in men</a:t>
            </a:r>
          </a:p>
          <a:p>
            <a:pPr lvl="1" fontAlgn="auto">
              <a:spcAft>
                <a:spcPts val="0"/>
              </a:spcAft>
            </a:pPr>
            <a:r>
              <a:rPr lang="en-US" sz="2800" dirty="0"/>
              <a:t>Object often necessary for sexual arousal</a:t>
            </a:r>
          </a:p>
          <a:p>
            <a:pPr fontAlgn="auto">
              <a:spcAft>
                <a:spcPts val="0"/>
              </a:spcAft>
            </a:pPr>
            <a:r>
              <a:rPr lang="en-US" sz="2800" dirty="0"/>
              <a:t>Attraction to object irresistible and involuntary</a:t>
            </a:r>
          </a:p>
          <a:p>
            <a:pPr fontAlgn="auto">
              <a:spcAft>
                <a:spcPts val="0"/>
              </a:spcAft>
            </a:pPr>
            <a:r>
              <a:rPr lang="en-US" sz="2800" dirty="0"/>
              <a:t>Fetishes often co-occur with other paraphilias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194A2-7697-45BE-9661-606F7B119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14400"/>
            <a:ext cx="5334000" cy="5656996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Diagnostic criteria</a:t>
            </a:r>
          </a:p>
          <a:p>
            <a:pPr lvl="1"/>
            <a:r>
              <a:rPr lang="en-US" sz="2800" dirty="0"/>
              <a:t>For at least 6 months, recurrent and intense sexually arousing fantasies, urges, or behaviors involving the use of nonliving objects or </a:t>
            </a:r>
            <a:r>
              <a:rPr lang="en-US" sz="2800" dirty="0" err="1"/>
              <a:t>nongenital</a:t>
            </a:r>
            <a:r>
              <a:rPr lang="en-US" sz="2800" dirty="0"/>
              <a:t> body parts. </a:t>
            </a:r>
          </a:p>
          <a:p>
            <a:pPr lvl="2"/>
            <a:r>
              <a:rPr lang="en-US" sz="2800" dirty="0"/>
              <a:t>e.g., shoes, stockings, underwear, rubber garments, hair, feet, etc.</a:t>
            </a:r>
          </a:p>
          <a:p>
            <a:pPr lvl="1"/>
            <a:r>
              <a:rPr lang="en-US" sz="2800" dirty="0"/>
              <a:t>The sexually arousing objects are not limited to articles used in cross-dressing or to devises designed to provide tactile genital stimulations, such as a vibrator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158943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" y="286605"/>
            <a:ext cx="8945881" cy="1008796"/>
          </a:xfrm>
        </p:spPr>
        <p:txBody>
          <a:bodyPr>
            <a:normAutofit/>
          </a:bodyPr>
          <a:lstStyle/>
          <a:p>
            <a:r>
              <a:rPr lang="en-US" sz="44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Pedohebephilic</a:t>
            </a:r>
            <a:r>
              <a:rPr lang="en-US" sz="4400" b="1" dirty="0"/>
              <a:t> Disorder and Incest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1" y="1752600"/>
            <a:ext cx="8945880" cy="4648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 err="1"/>
              <a:t>Pedohebephilic</a:t>
            </a:r>
            <a:r>
              <a:rPr lang="en-US" sz="3200" dirty="0"/>
              <a:t> disorder</a:t>
            </a:r>
          </a:p>
          <a:p>
            <a:pPr lvl="1">
              <a:defRPr/>
            </a:pPr>
            <a:r>
              <a:rPr lang="en-US" sz="3200" dirty="0" err="1"/>
              <a:t>Pedos</a:t>
            </a:r>
            <a:r>
              <a:rPr lang="en-US" sz="3200" dirty="0"/>
              <a:t> = “child”, </a:t>
            </a:r>
            <a:r>
              <a:rPr lang="en-US" sz="3200" dirty="0" err="1"/>
              <a:t>hebe</a:t>
            </a:r>
            <a:r>
              <a:rPr lang="en-US" sz="3200" dirty="0"/>
              <a:t> = “pubescence”, philia = “attraction”</a:t>
            </a:r>
          </a:p>
          <a:p>
            <a:pPr lvl="1">
              <a:defRPr/>
            </a:pPr>
            <a:r>
              <a:rPr lang="en-US" sz="3200" dirty="0"/>
              <a:t>Diagnostic criteria: </a:t>
            </a:r>
          </a:p>
          <a:p>
            <a:pPr lvl="2">
              <a:defRPr/>
            </a:pPr>
            <a:r>
              <a:rPr lang="en-US" sz="2400" dirty="0"/>
              <a:t>Sexually arousing urges, fantasies or behaviors involving sexual contact with a prepubertal or pubescent child</a:t>
            </a:r>
          </a:p>
          <a:p>
            <a:pPr lvl="4">
              <a:defRPr/>
            </a:pPr>
            <a:r>
              <a:rPr lang="en-US" sz="2400" dirty="0"/>
              <a:t>Offender at least 16 years old and 5 years older than victim</a:t>
            </a:r>
          </a:p>
          <a:p>
            <a:pPr lvl="4">
              <a:defRPr/>
            </a:pPr>
            <a:r>
              <a:rPr lang="en-US" sz="2400" dirty="0"/>
              <a:t>Child pornography is widely used</a:t>
            </a:r>
          </a:p>
          <a:p>
            <a:pPr lvl="3">
              <a:defRPr/>
            </a:pPr>
            <a:r>
              <a:rPr lang="en-US" sz="2400" dirty="0"/>
              <a:t>Person has acted on urges or the urges and fantasies cause marked distress or interpersonal problems </a:t>
            </a:r>
          </a:p>
          <a:p>
            <a:pPr marL="0" lvl="0" indent="0">
              <a:buNone/>
            </a:pPr>
            <a:endParaRPr lang="en-US" sz="3600" dirty="0"/>
          </a:p>
          <a:p>
            <a:pPr lvl="0">
              <a:buFont typeface="Wingdings" panose="05000000000000000000" pitchFamily="2" charset="2"/>
              <a:buChar char="q"/>
            </a:pPr>
            <a:endParaRPr lang="en-US" sz="3600" dirty="0"/>
          </a:p>
          <a:p>
            <a:pPr marL="0" lvl="0" indent="0">
              <a:buNone/>
            </a:pPr>
            <a:endParaRPr lang="en-US" sz="3600" dirty="0"/>
          </a:p>
          <a:p>
            <a:pPr marL="0" lvl="0" indent="0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lvl="0">
              <a:buFont typeface="Wingdings" panose="05000000000000000000" pitchFamily="2" charset="2"/>
              <a:buChar char="q"/>
            </a:pPr>
            <a:endParaRPr lang="en-US" sz="3600" dirty="0"/>
          </a:p>
        </p:txBody>
      </p:sp>
    </p:spTree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0F8B-B6D4-4433-8124-969FC677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Cont’d…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F0FD-6349-46CF-B400-026945574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sz="3200" dirty="0"/>
              <a:t>Victims usually known to pedophile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800" dirty="0"/>
              <a:t>Neighbors, family members, friends, clergy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800" dirty="0"/>
              <a:t>Most pedophilia does not involve violence other than the sexual activity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80688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2373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45734"/>
            <a:ext cx="8991599" cy="4555066"/>
          </a:xfrm>
        </p:spPr>
        <p:txBody>
          <a:bodyPr>
            <a:normAutofit fontScale="92500" lnSpcReduction="20000"/>
          </a:bodyPr>
          <a:lstStyle/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sz="3200" dirty="0"/>
              <a:t>Subtype of </a:t>
            </a:r>
            <a:r>
              <a:rPr lang="en-US" sz="3200" dirty="0" err="1"/>
              <a:t>pedohebephilic</a:t>
            </a:r>
            <a:r>
              <a:rPr lang="en-US" sz="3200" dirty="0"/>
              <a:t> disorder</a:t>
            </a:r>
          </a:p>
          <a:p>
            <a:r>
              <a:rPr lang="en-US" sz="3200" dirty="0"/>
              <a:t>Most common</a:t>
            </a:r>
          </a:p>
          <a:p>
            <a:pPr lvl="1"/>
            <a:r>
              <a:rPr lang="en-US" sz="2800" dirty="0"/>
              <a:t>Brother and sister</a:t>
            </a:r>
          </a:p>
          <a:p>
            <a:r>
              <a:rPr lang="en-US" sz="3200" dirty="0"/>
              <a:t>Less common but more pathological</a:t>
            </a:r>
          </a:p>
          <a:p>
            <a:pPr lvl="1"/>
            <a:r>
              <a:rPr lang="en-US" sz="2800" dirty="0"/>
              <a:t>Father and daughter</a:t>
            </a:r>
          </a:p>
          <a:p>
            <a:pPr>
              <a:lnSpc>
                <a:spcPct val="120000"/>
              </a:lnSpc>
            </a:pPr>
            <a:r>
              <a:rPr lang="en-US" sz="3200" dirty="0"/>
              <a:t>Incest taboo almost culturally universal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Genetically adaptive</a:t>
            </a:r>
          </a:p>
          <a:p>
            <a:pPr lvl="2">
              <a:lnSpc>
                <a:spcPct val="120000"/>
              </a:lnSpc>
            </a:pPr>
            <a:r>
              <a:rPr lang="en-US" sz="2800" dirty="0"/>
              <a:t>Offspring of father-daughter or brother-sister have a greater likelihood of inheriting pairs of recessive genes with possible negative biological effects</a:t>
            </a:r>
          </a:p>
          <a:p>
            <a:pPr marL="0" lvl="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605"/>
            <a:ext cx="7909560" cy="123739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Voyeuristic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Disorder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600200"/>
            <a:ext cx="8839200" cy="472440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Sexually arousing fantasies, urges, or behaviors while observing others who are unclothed or engaging in sexual activity</a:t>
            </a:r>
          </a:p>
          <a:p>
            <a:pPr lvl="1">
              <a:defRPr/>
            </a:pPr>
            <a:r>
              <a:rPr lang="en-US" sz="2800" dirty="0"/>
              <a:t>Almost always men</a:t>
            </a:r>
          </a:p>
          <a:p>
            <a:pPr lvl="1">
              <a:defRPr/>
            </a:pPr>
            <a:r>
              <a:rPr lang="en-US" sz="2800" dirty="0"/>
              <a:t>Excitement comes from knowing the victim is unaware of the voyeur; element of risk important</a:t>
            </a:r>
          </a:p>
          <a:p>
            <a:pPr lvl="1">
              <a:defRPr/>
            </a:pPr>
            <a:r>
              <a:rPr lang="en-US" sz="2800" dirty="0"/>
              <a:t>Seldom results in physical contact</a:t>
            </a:r>
          </a:p>
          <a:p>
            <a:pPr lvl="2">
              <a:defRPr/>
            </a:pPr>
            <a:r>
              <a:rPr lang="en-US" sz="2800" dirty="0"/>
              <a:t>Orgasm achieved by masturbation</a:t>
            </a:r>
          </a:p>
          <a:p>
            <a:pPr lvl="1">
              <a:defRPr/>
            </a:pPr>
            <a:r>
              <a:rPr lang="en-US" sz="2800" dirty="0"/>
              <a:t>Victims unaware that they are being watched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" y="286604"/>
            <a:ext cx="8168641" cy="138979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Diagnostic Criteria: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Voyeuristic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" y="1676400"/>
            <a:ext cx="8793481" cy="472440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IN" sz="3600" dirty="0"/>
              <a:t>For at least 6 months, recurrent and intense sexually arousing fantasies, urges, or </a:t>
            </a:r>
            <a:r>
              <a:rPr lang="en-IN" sz="3600" dirty="0" err="1"/>
              <a:t>behaviors</a:t>
            </a:r>
            <a:r>
              <a:rPr lang="en-IN" sz="3600" dirty="0"/>
              <a:t> involving the observation of unsuspecting others who are naked, disrobing, or engaged in sexual activity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en-IN" sz="3600" dirty="0"/>
              <a:t>Person has acted on these urges </a:t>
            </a:r>
            <a:r>
              <a:rPr lang="en-IN" sz="3600" i="1" dirty="0"/>
              <a:t>with a nonconsenting person</a:t>
            </a:r>
            <a:r>
              <a:rPr lang="en-IN" sz="3600" dirty="0"/>
              <a:t>, or the urges and fantasies cause marked distress or interpersonal problems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7EEF-87DB-4631-9EA4-930DB2E9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32596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Exhibitionistic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6959-2AD7-483A-8DE2-459729821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845734"/>
            <a:ext cx="821436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Intense desire to obtain sexual gratification by exposing one’s genitals to unwilling strangers</a:t>
            </a:r>
          </a:p>
          <a:p>
            <a:pPr lvl="1"/>
            <a:r>
              <a:rPr lang="en-US" sz="3200" dirty="0"/>
              <a:t>Victims can be children</a:t>
            </a:r>
          </a:p>
          <a:p>
            <a:pPr lvl="1"/>
            <a:r>
              <a:rPr lang="en-US" sz="3200" dirty="0"/>
              <a:t>Seldom results in physical contact</a:t>
            </a:r>
          </a:p>
          <a:p>
            <a:pPr lvl="1"/>
            <a:r>
              <a:rPr lang="en-US" sz="3200" dirty="0"/>
              <a:t>Usually involves desire to shock or alarm victim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Often comorbid with voyeuristic and frotteuristic disorders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448619"/>
      </p:ext>
    </p:extLst>
  </p:cSld>
  <p:clrMapOvr>
    <a:masterClrMapping/>
  </p:clrMapOvr>
  <p:transition spd="slow">
    <p:cover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069A-16FB-456E-8B94-6FC613E1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Diagnostic Criteria: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Exhibitionistic Disorder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36B4-B6BF-49E2-B60B-17BD8BA91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45734"/>
            <a:ext cx="8839199" cy="4555066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3200" dirty="0">
                <a:effectLst/>
              </a:rPr>
              <a:t>For at least 6 months, recurrent, intense, and sexually arousing fantasies, urges, or </a:t>
            </a:r>
            <a:r>
              <a:rPr lang="en-IN" sz="3200" dirty="0" err="1">
                <a:effectLst/>
              </a:rPr>
              <a:t>behaviors</a:t>
            </a:r>
            <a:r>
              <a:rPr lang="en-IN" sz="3200" dirty="0">
                <a:effectLst/>
              </a:rPr>
              <a:t> involving showing one’s genitals to an unsuspecting person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3200" dirty="0">
              <a:effectLst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sz="3200" dirty="0">
                <a:effectLst/>
              </a:rPr>
              <a:t>Person has acted on these urges </a:t>
            </a:r>
            <a:r>
              <a:rPr lang="en-IN" sz="3200" i="1" dirty="0">
                <a:effectLst/>
              </a:rPr>
              <a:t>to a nonconsenting person</a:t>
            </a:r>
            <a:r>
              <a:rPr lang="en-IN" sz="3200" dirty="0">
                <a:effectLst/>
              </a:rPr>
              <a:t>, or the urges and fantasies cause clinically significant distress or interpersonal problems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302474"/>
      </p:ext>
    </p:extLst>
  </p:cSld>
  <p:clrMapOvr>
    <a:masterClrMapping/>
  </p:clrMapOvr>
  <p:transition spd="slow">
    <p:cover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40F3-6C25-4869-BC54-C6661A1E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08796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Frotteuristic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214F-795D-425C-8FBE-C31AA819B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45734"/>
            <a:ext cx="8458199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/>
              <a:t>Sexually oriented touching of a nonconsenting person</a:t>
            </a:r>
          </a:p>
          <a:p>
            <a:pPr lvl="1"/>
            <a:r>
              <a:rPr lang="en-US" sz="3200" dirty="0"/>
              <a:t>The individual rubs his genitals against a women’s body or fondles her breast or genitals</a:t>
            </a:r>
          </a:p>
          <a:p>
            <a:pPr lvl="1"/>
            <a:r>
              <a:rPr lang="en-US" sz="3200" dirty="0"/>
              <a:t>Often occurs in crowded subway or other public place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24822"/>
      </p:ext>
    </p:extLst>
  </p:cSld>
  <p:clrMapOvr>
    <a:masterClrMapping/>
  </p:clrMapOvr>
  <p:transition spd="slow">
    <p:cover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2494-822D-48D2-B7AB-489CE18C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Sexual Sadism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Sexual Masochism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Disorders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B042-4E47-4398-A4FA-84E310236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37361"/>
            <a:ext cx="8839199" cy="458723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b="1" u="sng" dirty="0">
                <a:solidFill>
                  <a:srgbClr val="00B0F0"/>
                </a:solidFill>
              </a:rPr>
              <a:t>Sexual sadism </a:t>
            </a:r>
            <a:r>
              <a:rPr lang="en-US" sz="3200" b="1" dirty="0"/>
              <a:t>disorder </a:t>
            </a:r>
          </a:p>
          <a:p>
            <a:pPr lvl="1">
              <a:defRPr/>
            </a:pPr>
            <a:r>
              <a:rPr lang="en-US" sz="3200" dirty="0"/>
              <a:t>Intense and recurrent desire to obtain or increase sexual gratification by inflicting pain or psychological suffering on another person</a:t>
            </a:r>
          </a:p>
          <a:p>
            <a:pPr lvl="1">
              <a:defRPr/>
            </a:pPr>
            <a:endParaRPr lang="en-US" sz="3200" dirty="0"/>
          </a:p>
          <a:p>
            <a:pPr lvl="1">
              <a:defRPr/>
            </a:pPr>
            <a:r>
              <a:rPr lang="en-US" sz="3200" dirty="0"/>
              <a:t>Must cause clinically significant distress or the person has acted on these urges with a </a:t>
            </a:r>
            <a:r>
              <a:rPr lang="en-US" sz="3200" u="sng" dirty="0"/>
              <a:t>nonconsenting </a:t>
            </a:r>
            <a:r>
              <a:rPr lang="en-US" sz="3200" dirty="0"/>
              <a:t>person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024006"/>
      </p:ext>
    </p:extLst>
  </p:cSld>
  <p:clrMapOvr>
    <a:masterClrMapping/>
  </p:clrMapOvr>
  <p:transition spd="slow">
    <p:cover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6EC0-02C3-46B1-B7C2-04673D10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Cont’d…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47C08-F503-4065-9982-8CA9BBD51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201"/>
            <a:ext cx="8686800" cy="478366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3200" b="1" dirty="0">
                <a:solidFill>
                  <a:srgbClr val="00B0F0"/>
                </a:solidFill>
              </a:rPr>
              <a:t>Sexual masochism </a:t>
            </a:r>
            <a:r>
              <a:rPr lang="en-US" sz="3200" b="1" dirty="0"/>
              <a:t>disorder </a:t>
            </a:r>
          </a:p>
          <a:p>
            <a:pPr lvl="1">
              <a:defRPr/>
            </a:pPr>
            <a:r>
              <a:rPr lang="en-US" sz="3200" dirty="0"/>
              <a:t>Intense and recurrent desire to obtain or increase sexual gratification through receiving pain or humiliation</a:t>
            </a:r>
          </a:p>
          <a:p>
            <a:pPr lvl="1">
              <a:defRPr/>
            </a:pPr>
            <a:r>
              <a:rPr lang="en-US" sz="3200" dirty="0"/>
              <a:t>Must cause marked distress or impairment in functioning </a:t>
            </a:r>
          </a:p>
          <a:p>
            <a:pPr lvl="1">
              <a:defRPr/>
            </a:pPr>
            <a:endParaRPr lang="en-US" sz="3200" dirty="0"/>
          </a:p>
          <a:p>
            <a:pPr lvl="2">
              <a:defRPr/>
            </a:pPr>
            <a:r>
              <a:rPr lang="en-US" sz="3200" i="1" dirty="0" err="1"/>
              <a:t>Asphyxiophilia</a:t>
            </a:r>
            <a:endParaRPr lang="en-US" sz="3200" i="1" dirty="0"/>
          </a:p>
          <a:p>
            <a:pPr lvl="3">
              <a:defRPr/>
            </a:pPr>
            <a:r>
              <a:rPr lang="en-US" sz="3200" dirty="0"/>
              <a:t>Sexual arousal by oxygen deprivation</a:t>
            </a:r>
          </a:p>
          <a:p>
            <a:pPr lvl="3">
              <a:defRPr/>
            </a:pPr>
            <a:r>
              <a:rPr lang="en-US" sz="3200" dirty="0"/>
              <a:t>Can result in death or serious brain damage</a:t>
            </a:r>
          </a:p>
          <a:p>
            <a:pPr>
              <a:defRPr/>
            </a:pPr>
            <a:r>
              <a:rPr lang="en-US" sz="3200" dirty="0"/>
              <a:t>Debate over inclusion in DSM-5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44764"/>
      </p:ext>
    </p:extLst>
  </p:cSld>
  <p:clrMapOvr>
    <a:masterClrMapping/>
  </p:clrMapOvr>
  <p:transition spd="slow">
    <p:cover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3FD9-DF8E-44B3-B98D-8D01E475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Paraphilias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25AF3-DB08-4686-BE62-9B494F1DE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76400"/>
            <a:ext cx="8953500" cy="4894995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b="1" dirty="0"/>
              <a:t>Neurobiological factors</a:t>
            </a:r>
          </a:p>
          <a:p>
            <a:pPr lvl="1"/>
            <a:r>
              <a:rPr lang="en-US" sz="3200" dirty="0"/>
              <a:t>Male hormones or androgens</a:t>
            </a:r>
          </a:p>
          <a:p>
            <a:pPr lvl="2"/>
            <a:r>
              <a:rPr lang="en-US" sz="3200" dirty="0"/>
              <a:t>Almost all individuals with paraphilias are men</a:t>
            </a:r>
          </a:p>
          <a:p>
            <a:pPr lvl="1"/>
            <a:r>
              <a:rPr lang="en-US" sz="3200" dirty="0"/>
              <a:t>Do not have unusual levels of testosterone</a:t>
            </a:r>
          </a:p>
          <a:p>
            <a:pPr lvl="1"/>
            <a:endParaRPr lang="en-US" sz="32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/>
              <a:t>Classical conditioning</a:t>
            </a:r>
          </a:p>
          <a:p>
            <a:pPr lvl="1"/>
            <a:r>
              <a:rPr lang="en-US" sz="3200" dirty="0"/>
              <a:t>Research has not supported orgasm conditioning hypothesis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2458"/>
      </p:ext>
    </p:extLst>
  </p:cSld>
  <p:clrMapOvr>
    <a:masterClrMapping/>
  </p:clrMapOvr>
  <p:transition spd="slow">
    <p:cover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FCCF-9CCE-4782-B8F7-4A48D2E6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6604"/>
            <a:ext cx="8214360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Etiology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Paraphilias Cont’d…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ECE7-7E43-4EE5-9ADE-A7BAA93F1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45734"/>
            <a:ext cx="8991600" cy="485986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solidFill>
                  <a:schemeClr val="tx1"/>
                </a:solidFill>
              </a:rPr>
              <a:t>Operant conditioning</a:t>
            </a:r>
          </a:p>
          <a:p>
            <a:pPr lvl="1"/>
            <a:r>
              <a:rPr lang="en-US" sz="3200" dirty="0"/>
              <a:t>Poor social skills or reinforcement of unconventionality</a:t>
            </a:r>
          </a:p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sz="3200" b="1" dirty="0">
                <a:solidFill>
                  <a:schemeClr val="tx1"/>
                </a:solidFill>
              </a:rPr>
              <a:t>History of childhood physical and sexual abuse</a:t>
            </a:r>
          </a:p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endParaRPr lang="en-US" sz="3200" b="1" dirty="0">
              <a:solidFill>
                <a:schemeClr val="tx1"/>
              </a:solidFill>
            </a:endParaRPr>
          </a:p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sz="3200" b="1" dirty="0">
                <a:solidFill>
                  <a:schemeClr val="tx1"/>
                </a:solidFill>
              </a:rPr>
              <a:t>Alcohol and negative affect are common triggers</a:t>
            </a:r>
          </a:p>
          <a:p>
            <a:pPr marL="292100" lvl="1" indent="-292100"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"/>
            </a:pPr>
            <a:r>
              <a:rPr lang="en-US" sz="3200" b="1" dirty="0">
                <a:solidFill>
                  <a:schemeClr val="tx1"/>
                </a:solidFill>
              </a:rPr>
              <a:t>Cognitive distortions</a:t>
            </a:r>
          </a:p>
          <a:p>
            <a:pPr lvl="1"/>
            <a:r>
              <a:rPr lang="en-US" dirty="0"/>
              <a:t>“</a:t>
            </a:r>
            <a:r>
              <a:rPr lang="en-US" sz="2400" dirty="0"/>
              <a:t>Because the child doesn’t run away, she must want me to fondle her”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65346"/>
      </p:ext>
    </p:extLst>
  </p:cSld>
  <p:clrMapOvr>
    <a:masterClrMapping/>
  </p:clrMapOvr>
  <p:transition spd="slow">
    <p:cover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4219-D8A0-4658-8D17-743A10C7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6605"/>
            <a:ext cx="7909560" cy="1237396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Paraphilias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25E7A-6E0D-40A0-BF66-3E677CB14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45734"/>
            <a:ext cx="8915399" cy="4402666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Incarceration and court-ordered treatment are common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200" dirty="0"/>
              <a:t>Often difficult to interpret outcome from treatment studies</a:t>
            </a:r>
          </a:p>
          <a:p>
            <a:pPr lvl="1">
              <a:defRPr/>
            </a:pPr>
            <a:r>
              <a:rPr lang="en-US" sz="2800" dirty="0"/>
              <a:t>Studies vary greatly </a:t>
            </a:r>
          </a:p>
          <a:p>
            <a:pPr lvl="1">
              <a:defRPr/>
            </a:pPr>
            <a:r>
              <a:rPr lang="en-US" sz="2800" dirty="0"/>
              <a:t>Many lack control groups</a:t>
            </a:r>
          </a:p>
          <a:p>
            <a:pPr lvl="1">
              <a:defRPr/>
            </a:pPr>
            <a:r>
              <a:rPr lang="en-US" sz="2800" dirty="0"/>
              <a:t>Dropout rates high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48758"/>
      </p:ext>
    </p:extLst>
  </p:cSld>
  <p:clrMapOvr>
    <a:masterClrMapping/>
  </p:clrMapOvr>
  <p:transition spd="slow">
    <p:cover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D96C-FF73-4783-AFAD-EA448F4A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6605"/>
            <a:ext cx="8061960" cy="11611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 of Paraphilias Cont’d…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66FB9-5FAF-490D-A824-F053D04E9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845734"/>
            <a:ext cx="8214360" cy="447886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Enhance motivation</a:t>
            </a:r>
          </a:p>
          <a:p>
            <a:pPr lvl="1">
              <a:defRPr/>
            </a:pPr>
            <a:r>
              <a:rPr lang="en-US" sz="3200" dirty="0"/>
              <a:t>Denial and minimization of problem often present</a:t>
            </a:r>
          </a:p>
          <a:p>
            <a:pPr lvl="1">
              <a:defRPr/>
            </a:pPr>
            <a:r>
              <a:rPr lang="en-US" sz="3200" dirty="0"/>
              <a:t>Some blame the victim</a:t>
            </a:r>
          </a:p>
          <a:p>
            <a:pPr lvl="1">
              <a:defRPr/>
            </a:pPr>
            <a:r>
              <a:rPr lang="en-US" sz="3200" dirty="0"/>
              <a:t>Lack of motivation for treatment</a:t>
            </a:r>
          </a:p>
          <a:p>
            <a:pPr lvl="1">
              <a:defRPr/>
            </a:pPr>
            <a:r>
              <a:rPr lang="en-US" sz="3200" dirty="0"/>
              <a:t>Drop out of treatment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71137"/>
      </p:ext>
    </p:extLst>
  </p:cSld>
  <p:clrMapOvr>
    <a:masterClrMapping/>
  </p:clrMapOvr>
  <p:transition spd="slow">
    <p:cover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CD4F-432F-4C84-BB7B-44D8A295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6604"/>
            <a:ext cx="8534400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 of Paraphilias Cont’d…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11E5C-5874-4325-BEC5-B3C93F89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5734"/>
            <a:ext cx="8305799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Cognitive behavioral treatment</a:t>
            </a:r>
          </a:p>
          <a:p>
            <a:pPr lvl="1">
              <a:defRPr/>
            </a:pPr>
            <a:r>
              <a:rPr lang="en-US" sz="3200" dirty="0"/>
              <a:t>Aversion therapy</a:t>
            </a:r>
          </a:p>
          <a:p>
            <a:pPr lvl="1">
              <a:defRPr/>
            </a:pPr>
            <a:r>
              <a:rPr lang="en-US" sz="3200" dirty="0"/>
              <a:t>Covert sensitization</a:t>
            </a:r>
          </a:p>
          <a:p>
            <a:pPr lvl="1">
              <a:defRPr/>
            </a:pPr>
            <a:r>
              <a:rPr lang="en-US" sz="3200" dirty="0"/>
              <a:t>Counter distorted thinking</a:t>
            </a:r>
          </a:p>
          <a:p>
            <a:pPr lvl="1">
              <a:defRPr/>
            </a:pPr>
            <a:r>
              <a:rPr lang="en-US" sz="3200" dirty="0"/>
              <a:t>Often combined with social skills and empathy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01017"/>
      </p:ext>
    </p:extLst>
  </p:cSld>
  <p:clrMapOvr>
    <a:masterClrMapping/>
  </p:clrMapOvr>
  <p:transition spd="slow">
    <p:cover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7604-628E-4003-A1D8-711A420E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605"/>
            <a:ext cx="8839200" cy="1161196"/>
          </a:xfrm>
        </p:spPr>
        <p:txBody>
          <a:bodyPr/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Treatment of Paraphilias Cont’d…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22175-264D-4C7F-B777-7CA50F306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n-US" sz="3600" dirty="0"/>
              <a:t>Biological treatments</a:t>
            </a:r>
          </a:p>
          <a:p>
            <a:pPr lvl="1">
              <a:defRPr/>
            </a:pPr>
            <a:r>
              <a:rPr lang="en-US" sz="3200" dirty="0"/>
              <a:t>Castration used in past</a:t>
            </a:r>
          </a:p>
          <a:p>
            <a:pPr lvl="1">
              <a:defRPr/>
            </a:pPr>
            <a:r>
              <a:rPr lang="en-US" sz="3200" dirty="0"/>
              <a:t>Medications</a:t>
            </a:r>
          </a:p>
          <a:p>
            <a:pPr lvl="2">
              <a:defRPr/>
            </a:pPr>
            <a:r>
              <a:rPr lang="en-US" sz="2800" dirty="0"/>
              <a:t>Hormonal agents to reduce androgens</a:t>
            </a:r>
          </a:p>
          <a:p>
            <a:pPr lvl="3">
              <a:defRPr/>
            </a:pPr>
            <a:r>
              <a:rPr lang="en-US" sz="2400" dirty="0"/>
              <a:t>Depo-Provera</a:t>
            </a:r>
          </a:p>
          <a:p>
            <a:pPr lvl="2">
              <a:defRPr/>
            </a:pPr>
            <a:r>
              <a:rPr lang="en-US" sz="2800" dirty="0"/>
              <a:t>SSRIs</a:t>
            </a:r>
          </a:p>
          <a:p>
            <a:pPr marL="384048" lvl="2" indent="0" algn="ctr">
              <a:buNone/>
              <a:defRPr/>
            </a:pPr>
            <a:r>
              <a:rPr lang="en-US" dirty="0"/>
              <a:t>&gt;&gt;&gt;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49617"/>
      </p:ext>
    </p:extLst>
  </p:cSld>
  <p:clrMapOvr>
    <a:masterClrMapping/>
  </p:clrMapOvr>
  <p:transition spd="slow">
    <p:cover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5DA5-6A69-4912-ACED-F36C8A7A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FAAC0-5550-418C-83DF-52E60417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2000" b="1" dirty="0"/>
          </a:p>
          <a:p>
            <a:pPr marL="0" indent="0" algn="ctr">
              <a:buNone/>
            </a:pPr>
            <a:endParaRPr lang="en-US" sz="6000" b="1" dirty="0"/>
          </a:p>
          <a:p>
            <a:pPr marL="0" indent="0" algn="ctr">
              <a:buNone/>
            </a:pPr>
            <a:r>
              <a:rPr lang="en-US" sz="6000" b="1" dirty="0"/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92477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w Cen MT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21333</TotalTime>
  <Words>2059</Words>
  <Application>Microsoft Office PowerPoint</Application>
  <PresentationFormat>On-screen Show (4:3)</PresentationFormat>
  <Paragraphs>324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Calibri</vt:lpstr>
      <vt:lpstr>Courier New</vt:lpstr>
      <vt:lpstr>Monotype Sorts</vt:lpstr>
      <vt:lpstr>Rockwell</vt:lpstr>
      <vt:lpstr>Times New Roman</vt:lpstr>
      <vt:lpstr>Tw Cen MT</vt:lpstr>
      <vt:lpstr>Wingdings</vt:lpstr>
      <vt:lpstr>Wingdings 2</vt:lpstr>
      <vt:lpstr>Retrospect</vt:lpstr>
      <vt:lpstr>Sexual Disorders</vt:lpstr>
      <vt:lpstr>Topic Outline </vt:lpstr>
      <vt:lpstr>DSM-5 Sexual Dysfunction </vt:lpstr>
      <vt:lpstr>Sexual Norms and Behavior</vt:lpstr>
      <vt:lpstr>Gender and Sexuality</vt:lpstr>
      <vt:lpstr>Gender and Sexuality Cont’d…</vt:lpstr>
      <vt:lpstr>The Sexual Response Cycle</vt:lpstr>
      <vt:lpstr>Male and Female Sexual Anatomy</vt:lpstr>
      <vt:lpstr>Sexual Dysfunctions</vt:lpstr>
      <vt:lpstr>Sexual Dysfunctions Cont’d…</vt:lpstr>
      <vt:lpstr>Sexual Dysfunctions Cont’d…</vt:lpstr>
      <vt:lpstr>Disorders Involving  Sexual Interest, Desire, and Arousal  </vt:lpstr>
      <vt:lpstr>DSM-5 Criteria for Sexual Interest/Arousal Disorder in Women </vt:lpstr>
      <vt:lpstr>Cont’d…</vt:lpstr>
      <vt:lpstr>DSM-5 Criteria for Male  Disorders </vt:lpstr>
      <vt:lpstr>DSM-5 Criteria for Male  Disorders Cont’d…</vt:lpstr>
      <vt:lpstr>Orgasmic Disorders</vt:lpstr>
      <vt:lpstr>Orgasmic Disorders Cont’d…</vt:lpstr>
      <vt:lpstr>Orgasmic Disorders Cont’d…</vt:lpstr>
      <vt:lpstr>Orgasmic Disorders Cont’d…</vt:lpstr>
      <vt:lpstr>Sexual Pain Disorders</vt:lpstr>
      <vt:lpstr>Sexual Pain Disorders Cont’d…</vt:lpstr>
      <vt:lpstr>DSM-5 Criteria for  Genito-pelvic Pain/Penetration Disorder</vt:lpstr>
      <vt:lpstr>Etiology of Sexual Dysfunction</vt:lpstr>
      <vt:lpstr>Distal and Immediate Causes of Human Sexual Inadequacies</vt:lpstr>
      <vt:lpstr>Predictors of Sexual Functioning</vt:lpstr>
      <vt:lpstr>Etiology of Sexual Dysfunction:  Biological Factors</vt:lpstr>
      <vt:lpstr>Etiology of Sexual Dysfunction:  Biological Factors Cont’d…</vt:lpstr>
      <vt:lpstr>Etiology of Sexual Dysfunction:  Psychosocial Factors</vt:lpstr>
      <vt:lpstr>Treatments of Sexual Dysfunction</vt:lpstr>
      <vt:lpstr>Treatments of Sexual Dysfunction Cont’d…</vt:lpstr>
      <vt:lpstr>The Paraphilias</vt:lpstr>
      <vt:lpstr>The Paraphilias Cont’d…</vt:lpstr>
      <vt:lpstr>Paraphilias Included in DSM-5</vt:lpstr>
      <vt:lpstr>Fetishistic Disorder</vt:lpstr>
      <vt:lpstr>Pedohebephilic Disorder and Incest</vt:lpstr>
      <vt:lpstr>Cont’d…</vt:lpstr>
      <vt:lpstr>Incest</vt:lpstr>
      <vt:lpstr> Voyeuristic Disorder </vt:lpstr>
      <vt:lpstr>Diagnostic Criteria:  Voyeuristic Disorder</vt:lpstr>
      <vt:lpstr>Exhibitionistic Disorder </vt:lpstr>
      <vt:lpstr>Diagnostic Criteria:  Exhibitionistic Disorder </vt:lpstr>
      <vt:lpstr>Frotteuristic Disorder </vt:lpstr>
      <vt:lpstr>Sexual Sadism and Sexual Masochism Disorders</vt:lpstr>
      <vt:lpstr>Cont’d…</vt:lpstr>
      <vt:lpstr>Etiology of the Paraphilias</vt:lpstr>
      <vt:lpstr>Etiology of the Paraphilias Cont’d…</vt:lpstr>
      <vt:lpstr>Treatment for Paraphilias</vt:lpstr>
      <vt:lpstr>Treatment of Paraphilias Cont’d…</vt:lpstr>
      <vt:lpstr>Treatment of Paraphilias Cont’d…</vt:lpstr>
      <vt:lpstr>Treatment of Paraphilias Cont’d…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Patients who are suicidal</dc:title>
  <dc:creator>dell</dc:creator>
  <cp:lastModifiedBy>muveaafrancis@gmail.com</cp:lastModifiedBy>
  <cp:revision>165</cp:revision>
  <dcterms:created xsi:type="dcterms:W3CDTF">2014-06-08T05:08:54Z</dcterms:created>
  <dcterms:modified xsi:type="dcterms:W3CDTF">2021-06-08T06:34:06Z</dcterms:modified>
</cp:coreProperties>
</file>